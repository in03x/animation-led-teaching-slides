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Default Extension="svg" ContentType="image/svg+xml"/>
  <Override PartName="/ppt/slideMasters/t3_slideMaster1.xml" ContentType="application/vnd.openxmlformats-officedocument.presentationml.slideMaster+xml"/>
  <Override PartName="/ppt/slideMasters/theme/t3_theme2.xml" ContentType="application/vnd.openxmlformats-officedocument.theme+xml"/>
  <Override PartName="/ppt/slideLayouts/t3_slideLayout1.xml" ContentType="application/vnd.openxmlformats-officedocument.presentationml.slideLayout+xml"/>
  <Override PartName="/ppt/slideMasters/methods_slideMaster1.xml" ContentType="application/vnd.openxmlformats-officedocument.presentationml.slideMaster+xml"/>
  <Override PartName="/ppt/slideMasters/theme/methods_theme2.xml" ContentType="application/vnd.openxmlformats-officedocument.theme+xml"/>
  <Override PartName="/ppt/slideLayouts/methods_slideLayout1.xml" ContentType="application/vnd.openxmlformats-officedocument.presentationml.slideLayout+xml"/>
  <Override PartName="/ppt/slides/methods_slide1.xml" ContentType="application/vnd.openxmlformats-officedocument.presentationml.slide+xml"/>
  <Override PartName="/ppt/notesSlides/methods_notesSlide1.xml" ContentType="application/vnd.openxmlformats-officedocument.presentationml.notesSlide+xml"/>
  <Override PartName="/ppt/slides/methods_slide2.xml" ContentType="application/vnd.openxmlformats-officedocument.presentationml.slide+xml"/>
  <Override PartName="/ppt/notesSlides/methods_notesSlide2.xml" ContentType="application/vnd.openxmlformats-officedocument.presentationml.notesSlide+xml"/>
  <Override PartName="/ppt/slides/methods_slide3.xml" ContentType="application/vnd.openxmlformats-officedocument.presentationml.slide+xml"/>
  <Override PartName="/ppt/notesSlides/methods_notesSlide3.xml" ContentType="application/vnd.openxmlformats-officedocument.presentationml.notesSlide+xml"/>
  <Override PartName="/ppt/slides/methods_slide4.xml" ContentType="application/vnd.openxmlformats-officedocument.presentationml.slide+xml"/>
  <Override PartName="/ppt/notesSlides/methods_notesSlide4.xml" ContentType="application/vnd.openxmlformats-officedocument.presentationml.notesSlide+xml"/>
  <Override PartName="/ppt/slides/methods_slide5.xml" ContentType="application/vnd.openxmlformats-officedocument.presentationml.slide+xml"/>
  <Override PartName="/ppt/notesSlides/methods_notesSlide5.xml" ContentType="application/vnd.openxmlformats-officedocument.presentationml.notesSlide+xml"/>
  <Override PartName="/ppt/slides/methods_slide6.xml" ContentType="application/vnd.openxmlformats-officedocument.presentationml.slide+xml"/>
  <Override PartName="/ppt/notesSlides/methods_notesSlide6.xml" ContentType="application/vnd.openxmlformats-officedocument.presentationml.notesSlide+xml"/>
  <Override PartName="/ppt/slides/methods_slide7.xml" ContentType="application/vnd.openxmlformats-officedocument.presentationml.slide+xml"/>
  <Override PartName="/ppt/notesSlides/methods_notesSlide7.xml" ContentType="application/vnd.openxmlformats-officedocument.presentationml.notesSlide+xml"/>
  <Override PartName="/ppt/slides/methods_slide8.xml" ContentType="application/vnd.openxmlformats-officedocument.presentationml.slide+xml"/>
  <Override PartName="/ppt/notesSlides/methods_notesSlide8.xml" ContentType="application/vnd.openxmlformats-officedocument.presentationml.notesSlide+xml"/>
  <Override PartName="/ppt/slides/methods_slide9.xml" ContentType="application/vnd.openxmlformats-officedocument.presentationml.slide+xml"/>
  <Override PartName="/ppt/notesSlides/methods_notesSlide9.xml" ContentType="application/vnd.openxmlformats-officedocument.presentationml.notesSlide+xml"/>
  <Override PartName="/ppt/slides/methods_slide10.xml" ContentType="application/vnd.openxmlformats-officedocument.presentationml.slide+xml"/>
  <Override PartName="/ppt/notesSlides/methods_notesSlide10.xml" ContentType="application/vnd.openxmlformats-officedocument.presentationml.notesSlide+xml"/>
  <Override PartName="/ppt/slides/methods_slide11.xml" ContentType="application/vnd.openxmlformats-officedocument.presentationml.slide+xml"/>
  <Override PartName="/ppt/notesSlides/methods_notesSlide11.xml" ContentType="application/vnd.openxmlformats-officedocument.presentationml.notesSlide+xml"/>
  <Override PartName="/ppt/slides/methods_slide12.xml" ContentType="application/vnd.openxmlformats-officedocument.presentationml.slide+xml"/>
  <Override PartName="/ppt/notesSlides/methods_notesSlide12.xml" ContentType="application/vnd.openxmlformats-officedocument.presentationml.notesSlide+xml"/>
  <Override PartName="/ppt/slides/methods_slide13.xml" ContentType="application/vnd.openxmlformats-officedocument.presentationml.slide+xml"/>
  <Override PartName="/ppt/notesSlides/methods_notesSlide13.xml" ContentType="application/vnd.openxmlformats-officedocument.presentationml.notesSlide+xml"/>
  <Override PartName="/ppt/slides/methods_slide14.xml" ContentType="application/vnd.openxmlformats-officedocument.presentationml.slide+xml"/>
  <Override PartName="/ppt/notesSlides/methods_notesSlide14.xml" ContentType="application/vnd.openxmlformats-officedocument.presentationml.notesSlide+xml"/>
  <Override PartName="/ppt/slides/methods_slide15.xml" ContentType="application/vnd.openxmlformats-officedocument.presentationml.slide+xml"/>
  <Override PartName="/ppt/notesSlides/methods_notesSlide15.xml" ContentType="application/vnd.openxmlformats-officedocument.presentationml.notesSlide+xml"/>
  <Override PartName="/ppt/slides/methods_slide16.xml" ContentType="application/vnd.openxmlformats-officedocument.presentationml.slide+xml"/>
  <Override PartName="/ppt/notesSlides/methods_notesSlide16.xml" ContentType="application/vnd.openxmlformats-officedocument.presentationml.notesSlide+xml"/>
  <Override PartName="/ppt/slides/methods_slide17.xml" ContentType="application/vnd.openxmlformats-officedocument.presentationml.slide+xml"/>
  <Override PartName="/ppt/notesSlides/methods_notesSlide17.xml" ContentType="application/vnd.openxmlformats-officedocument.presentationml.notesSlide+xml"/>
  <Override PartName="/ppt/slides/methods_slide18.xml" ContentType="application/vnd.openxmlformats-officedocument.presentationml.slide+xml"/>
  <Override PartName="/ppt/notesSlides/methods_notesSlide18.xml" ContentType="application/vnd.openxmlformats-officedocument.presentationml.notesSlide+xml"/>
  <Override PartName="/ppt/slides/methods_slide19.xml" ContentType="application/vnd.openxmlformats-officedocument.presentationml.slide+xml"/>
  <Override PartName="/ppt/notesSlides/methods_notesSlide19.xml" ContentType="application/vnd.openxmlformats-officedocument.presentationml.notesSlide+xml"/>
  <Override PartName="/ppt/slides/methods_slide20.xml" ContentType="application/vnd.openxmlformats-officedocument.presentationml.slide+xml"/>
  <Override PartName="/ppt/notesSlides/methods_notesSlide20.xml" ContentType="application/vnd.openxmlformats-officedocument.presentationml.notesSlide+xml"/>
  <Override PartName="/ppt/slides/methods_slide21.xml" ContentType="application/vnd.openxmlformats-officedocument.presentationml.slide+xml"/>
  <Override PartName="/ppt/notesSlides/methods_notesSlide21.xml" ContentType="application/vnd.openxmlformats-officedocument.presentationml.notesSlide+xml"/>
  <Override PartName="/ppt/slides/methods_slide22.xml" ContentType="application/vnd.openxmlformats-officedocument.presentationml.slide+xml"/>
  <Override PartName="/ppt/notesSlides/methods_notesSlide22.xml" ContentType="application/vnd.openxmlformats-officedocument.presentationml.notesSlide+xml"/>
  <Override PartName="/ppt/slides/methods_slide23.xml" ContentType="application/vnd.openxmlformats-officedocument.presentationml.slide+xml"/>
  <Override PartName="/ppt/notesSlides/methods_notesSlide23.xml" ContentType="application/vnd.openxmlformats-officedocument.presentationml.notesSlide+xml"/>
  <Override PartName="/ppt/slides/methods_slide24.xml" ContentType="application/vnd.openxmlformats-officedocument.presentationml.slide+xml"/>
  <Override PartName="/ppt/notesSlides/methods_notesSlide24.xml" ContentType="application/vnd.openxmlformats-officedocument.presentationml.notesSlide+xml"/>
  <Override PartName="/ppt/slides/methods_slide25.xml" ContentType="application/vnd.openxmlformats-officedocument.presentationml.slide+xml"/>
  <Override PartName="/ppt/notesSlides/methods_notesSlide25.xml" ContentType="application/vnd.openxmlformats-officedocument.presentationml.notesSlide+xml"/>
  <Override PartName="/ppt/slides/methods_slide26.xml" ContentType="application/vnd.openxmlformats-officedocument.presentationml.slide+xml"/>
  <Override PartName="/ppt/notesSlides/methods_notesSlide26.xml" ContentType="application/vnd.openxmlformats-officedocument.presentationml.notesSlide+xml"/>
  <Override PartName="/ppt/slides/methods_slide27.xml" ContentType="application/vnd.openxmlformats-officedocument.presentationml.slide+xml"/>
  <Override PartName="/ppt/notesSlides/methods_notesSlide27.xml" ContentType="application/vnd.openxmlformats-officedocument.presentationml.notesSlide+xml"/>
  <Override PartName="/ppt/slides/methods_slide28.xml" ContentType="application/vnd.openxmlformats-officedocument.presentationml.slide+xml"/>
  <Override PartName="/ppt/notesSlides/methods_notesSlide28.xml" ContentType="application/vnd.openxmlformats-officedocument.presentationml.notesSlide+xml"/>
  <Override PartName="/ppt/slides/methods_slide29.xml" ContentType="application/vnd.openxmlformats-officedocument.presentationml.slide+xml"/>
  <Override PartName="/ppt/notesSlides/methods_notesSlide29.xml" ContentType="application/vnd.openxmlformats-officedocument.presentationml.notesSlide+xml"/>
  <Override PartName="/ppt/slides/methods_slide30.xml" ContentType="application/vnd.openxmlformats-officedocument.presentationml.slide+xml"/>
  <Override PartName="/ppt/notesSlides/methods_notesSlide30.xml" ContentType="application/vnd.openxmlformats-officedocument.presentationml.notesSlide+xml"/>
  <Override PartName="/ppt/slides/methods_slide31.xml" ContentType="application/vnd.openxmlformats-officedocument.presentationml.slide+xml"/>
  <Override PartName="/ppt/notesSlides/methods_notesSlide31.xml" ContentType="application/vnd.openxmlformats-officedocument.presentationml.notesSlide+xml"/>
  <Override PartName="/ppt/slides/methods_slide32.xml" ContentType="application/vnd.openxmlformats-officedocument.presentationml.slide+xml"/>
  <Override PartName="/ppt/notesSlides/methods_notesSlide32.xml" ContentType="application/vnd.openxmlformats-officedocument.presentationml.notesSlide+xml"/>
  <Override PartName="/ppt/slides/methods_slide33.xml" ContentType="application/vnd.openxmlformats-officedocument.presentationml.slide+xml"/>
  <Override PartName="/ppt/notesSlides/methods_notesSlide33.xml" ContentType="application/vnd.openxmlformats-officedocument.presentationml.notesSlide+xml"/>
  <Override PartName="/ppt/slides/methods_slide34.xml" ContentType="application/vnd.openxmlformats-officedocument.presentationml.slide+xml"/>
  <Override PartName="/ppt/notesSlides/methods_notesSlide34.xml" ContentType="application/vnd.openxmlformats-officedocument.presentationml.notesSlide+xml"/>
  <Override PartName="/ppt/slides/methods_slide35.xml" ContentType="application/vnd.openxmlformats-officedocument.presentationml.slide+xml"/>
  <Override PartName="/ppt/notesSlides/methods_notesSlide35.xml" ContentType="application/vnd.openxmlformats-officedocument.presentationml.notesSlide+xml"/>
  <Override PartName="/ppt/slides/methods_slide36.xml" ContentType="application/vnd.openxmlformats-officedocument.presentationml.slide+xml"/>
  <Override PartName="/ppt/notesSlides/methods_notesSlide36.xml" ContentType="application/vnd.openxmlformats-officedocument.presentationml.notesSlide+xml"/>
  <Override PartName="/ppt/slides/methods_slide37.xml" ContentType="application/vnd.openxmlformats-officedocument.presentationml.slide+xml"/>
  <Override PartName="/ppt/notesSlides/methods_notesSlide37.xml" ContentType="application/vnd.openxmlformats-officedocument.presentationml.notesSlide+xml"/>
  <Override PartName="/ppt/slides/methods_slide38.xml" ContentType="application/vnd.openxmlformats-officedocument.presentationml.slide+xml"/>
  <Override PartName="/ppt/notesSlides/methods_notesSlide38.xml" ContentType="application/vnd.openxmlformats-officedocument.presentationml.notesSlide+xml"/>
  <Override PartName="/ppt/slides/methods_slide39.xml" ContentType="application/vnd.openxmlformats-officedocument.presentationml.slide+xml"/>
  <Override PartName="/ppt/notesSlides/methods_notesSlide39.xml" ContentType="application/vnd.openxmlformats-officedocument.presentationml.notesSlide+xml"/>
  <Override PartName="/ppt/slides/methods_slide40.xml" ContentType="application/vnd.openxmlformats-officedocument.presentationml.slide+xml"/>
  <Override PartName="/ppt/notesSlides/methods_notesSlide40.xml" ContentType="application/vnd.openxmlformats-officedocument.presentationml.notesSlide+xml"/>
  <Override PartName="/ppt/slides/methods_slide41.xml" ContentType="application/vnd.openxmlformats-officedocument.presentationml.slide+xml"/>
  <Override PartName="/ppt/notesSlides/methods_notesSlide41.xml" ContentType="application/vnd.openxmlformats-officedocument.presentationml.notesSlide+xml"/>
  <Override PartName="/ppt/slides/methods_slide42.xml" ContentType="application/vnd.openxmlformats-officedocument.presentationml.slide+xml"/>
  <Override PartName="/ppt/notesSlides/methods_notesSlide42.xml" ContentType="application/vnd.openxmlformats-officedocument.presentationml.notesSlide+xml"/>
  <Override PartName="/ppt/slides/framing_1.xml" ContentType="application/vnd.openxmlformats-officedocument.presentationml.slide+xml"/>
  <Override PartName="/ppt/notesSlides/framing_1.xml" ContentType="application/vnd.openxmlformats-officedocument.presentationml.notesSlide+xml"/>
  <Override PartName="/ppt/slides/framing_2.xml" ContentType="application/vnd.openxmlformats-officedocument.presentationml.slide+xml"/>
  <Override PartName="/ppt/notesSlides/framing_2.xml" ContentType="application/vnd.openxmlformats-officedocument.presentationml.notesSlide+xml"/>
  <Override PartName="/ppt/slides/framing_3.xml" ContentType="application/vnd.openxmlformats-officedocument.presentationml.slide+xml"/>
  <Override PartName="/ppt/notesSlides/framing_3.xml" ContentType="application/vnd.openxmlformats-officedocument.presentationml.notesSlide+xml"/>
  <Default Extension="gif" ContentType="image/gif"/>
  <Override PartName="/ppt/slides/loop_exercise_slide1.xml" ContentType="application/vnd.openxmlformats-officedocument.presentationml.slide+xml"/>
  <Override PartName="/ppt/notesSlides/loop_exercise_notesSlide1.xml" ContentType="application/vnd.openxmlformats-officedocument.presentationml.notesSlide+xml"/>
  <Override PartName="/ppt/slides/loop_exercise_slide2.xml" ContentType="application/vnd.openxmlformats-officedocument.presentationml.slide+xml"/>
  <Override PartName="/ppt/notesSlides/loop_exercise_notesSlide2.xml" ContentType="application/vnd.openxmlformats-officedocument.presentationml.notesSlide+xml"/>
  <Override PartName="/ppt/slides/loop_exercise_slide3.xml" ContentType="application/vnd.openxmlformats-officedocument.presentationml.slide+xml"/>
  <Override PartName="/ppt/notesSlides/loop_exercise_notesSlide3.xml" ContentType="application/vnd.openxmlformats-officedocument.presentationml.notesSlide+xml"/>
  <Override PartName="/ppt/slides/loop_exercise_slide4.xml" ContentType="application/vnd.openxmlformats-officedocument.presentationml.slide+xml"/>
  <Override PartName="/ppt/notesSlides/loop_exercise_notesSlide4.xml" ContentType="application/vnd.openxmlformats-officedocument.presentationml.notesSlide+xml"/>
  <Override PartName="/ppt/slides/loop_exercise_slide5.xml" ContentType="application/vnd.openxmlformats-officedocument.presentationml.slide+xml"/>
  <Override PartName="/ppt/notesSlides/loop_exercise_notesSlide5.xml" ContentType="application/vnd.openxmlformats-officedocument.presentationml.notesSlide+xml"/>
  <Override PartName="/ppt/slides/loop_exercise_slide6.xml" ContentType="application/vnd.openxmlformats-officedocument.presentationml.slide+xml"/>
  <Override PartName="/ppt/notesSlides/loop_exercise_notesSlide6.xml" ContentType="application/vnd.openxmlformats-officedocument.presentationml.notesSlide+xml"/>
  <Override PartName="/ppt/slides/loop_exercise_slide7.xml" ContentType="application/vnd.openxmlformats-officedocument.presentationml.slide+xml"/>
  <Override PartName="/ppt/notesSlides/loop_exercise_notesSlide7.xml" ContentType="application/vnd.openxmlformats-officedocument.presentationml.notesSlide+xml"/>
  <Override PartName="/ppt/slides/loop_exercise_slide8.xml" ContentType="application/vnd.openxmlformats-officedocument.presentationml.slide+xml"/>
  <Override PartName="/ppt/notesSlides/loop_exercise_notesSlide8.xml" ContentType="application/vnd.openxmlformats-officedocument.presentationml.notesSlide+xml"/>
  <Override PartName="/ppt/slides/c_positioned_slide1.xml" ContentType="application/vnd.openxmlformats-officedocument.presentationml.slide+xml"/>
  <Override PartName="/ppt/notesSlides/c_positioned_notesSlide1.xml" ContentType="application/vnd.openxmlformats-officedocument.presentationml.notesSlide+xml"/>
  <Override PartName="/ppt/slides/c_positioned_slide2.xml" ContentType="application/vnd.openxmlformats-officedocument.presentationml.slide+xml"/>
  <Override PartName="/ppt/notesSlides/c_positioned_notesSlide2.xml" ContentType="application/vnd.openxmlformats-officedocument.presentationml.notesSlide+xml"/>
  <Override PartName="/ppt/slides/c_positioned_slide3.xml" ContentType="application/vnd.openxmlformats-officedocument.presentationml.slide+xml"/>
  <Override PartName="/ppt/notesSlides/c_positioned_notesSlide3.xml" ContentType="application/vnd.openxmlformats-officedocument.presentationml.notesSlide+xml"/>
  <Override PartName="/ppt/slides/c_positioned_slide4.xml" ContentType="application/vnd.openxmlformats-officedocument.presentationml.slide+xml"/>
  <Override PartName="/ppt/notesSlides/c_positioned_notesSlide4.xml" ContentType="application/vnd.openxmlformats-officedocument.presentationml.notesSlide+xml"/>
  <Override PartName="/ppt/slides/c_positioned_slide5.xml" ContentType="application/vnd.openxmlformats-officedocument.presentationml.slide+xml"/>
  <Override PartName="/ppt/notesSlides/c_positioned_notesSlide5.xml" ContentType="application/vnd.openxmlformats-officedocument.presentationml.notesSlide+xml"/>
  <Override PartName="/ppt/slides/fdm_open_question.xml" ContentType="application/vnd.openxmlformats-officedocument.presentationml.slide+xml"/>
  <Override PartName="/ppt/notesSlides/fdm_open_0.xml" ContentType="application/vnd.openxmlformats-officedocument.presentationml.notesSlide+xml"/>
  <Override PartName="/ppt/slides/fdm_open_bandwidth.xml" ContentType="application/vnd.openxmlformats-officedocument.presentationml.slide+xml"/>
  <Override PartName="/ppt/notesSlides/fdm_open_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11c7f148dd402e" /><Relationship Type="http://schemas.openxmlformats.org/officeDocument/2006/relationships/extended-properties" Target="/docProps/app.xml" Id="Ra3c766b1930c4e96" /><Relationship Type="http://schemas.openxmlformats.org/officeDocument/2006/relationships/officeDocument" Target="/ppt/presentation.xml" Id="Rc6c2b4fafc4a4f1e" /></Relationships>
</file>

<file path=ppt/presentation.xml><?xml version="1.0" encoding="utf-8"?>
<p:presentation xmlns:p="http://schemas.openxmlformats.org/presentationml/2006/main" autoCompressPictures="0">
  <p:sldMasterIdLst>
    <p:sldMasterId xmlns:r="http://schemas.openxmlformats.org/officeDocument/2006/relationships" id="2147483648" r:id="Rbb9777e362c042cf"/>
    <p:sldMasterId xmlns:ns19="http://schemas.openxmlformats.org/officeDocument/2006/relationships" ns19:id="rIdT3slideMasterR7004645b1b0b49fa" id="2147483650"/>
    <p:sldMasterId xmlns:ns42="http://schemas.openxmlformats.org/officeDocument/2006/relationships" ns42:id="rIdT3slideMasterRc1ed79fd4e854245" id="2147483652"/>
  </p:sldMasterIdLst>
  <p:notesMasterIdLst>
    <p:notesMasterId xmlns:r="http://schemas.openxmlformats.org/officeDocument/2006/relationships" r:id="Rc12c9239b8b046b9"/>
  </p:notesMasterIdLst>
  <p:sldIdLst>
    <p:sldId xmlns:ns1="http://schemas.openxmlformats.org/officeDocument/2006/relationships" id="301" ns1:id="rIdFraming1"/>
    <p:sldId xmlns:r="http://schemas.openxmlformats.org/officeDocument/2006/relationships" id="256" r:id="Rd9ecd3a121d14ab4"/>
    <p:sldId xmlns:r="http://schemas.openxmlformats.org/officeDocument/2006/relationships" id="257" r:id="Red2879c19bad43d7"/>
    <p:sldId xmlns:r="http://schemas.openxmlformats.org/officeDocument/2006/relationships" id="258" r:id="R4bee58edb9c14d0c"/>
    <p:sldId xmlns:ns1="http://schemas.openxmlformats.org/officeDocument/2006/relationships" id="330" ns1:id="rIdFdmOverviewIntro0"/>
    <p:sldId xmlns:ns1="http://schemas.openxmlformats.org/officeDocument/2006/relationships" id="331" ns1:id="rIdFdmOverviewIntro1"/>
    <p:sldId xmlns:ns0="http://schemas.openxmlformats.org/officeDocument/2006/relationships" id="259" ns0:id="rIdTutorial3Slide1"/>
    <p:sldId xmlns:ns1="http://schemas.openxmlformats.org/officeDocument/2006/relationships" id="260" ns1:id="rIdTutorial3Slide2"/>
    <p:sldId xmlns:ns2="http://schemas.openxmlformats.org/officeDocument/2006/relationships" id="261" ns2:id="rIdTutorial3Slide3"/>
    <p:sldId xmlns:ns3="http://schemas.openxmlformats.org/officeDocument/2006/relationships" id="262" ns3:id="rIdTutorial3Slide4"/>
    <p:sldId xmlns:ns4="http://schemas.openxmlformats.org/officeDocument/2006/relationships" id="263" ns4:id="rIdTutorial3Slide5"/>
    <p:sldId xmlns:ns5="http://schemas.openxmlformats.org/officeDocument/2006/relationships" id="264" ns5:id="rIdTutorial3Slide6"/>
    <p:sldId xmlns:ns6="http://schemas.openxmlformats.org/officeDocument/2006/relationships" id="265" ns6:id="rIdTutorial3Slide7"/>
    <p:sldId xmlns:ns7="http://schemas.openxmlformats.org/officeDocument/2006/relationships" id="266" ns7:id="rIdTutorial3Slide8"/>
    <p:sldId xmlns:ns8="http://schemas.openxmlformats.org/officeDocument/2006/relationships" id="267" ns8:id="rIdTutorial3Slide9"/>
    <p:sldId xmlns:ns9="http://schemas.openxmlformats.org/officeDocument/2006/relationships" id="268" ns9:id="rIdTutorial3Slide10"/>
    <p:sldId xmlns:ns10="http://schemas.openxmlformats.org/officeDocument/2006/relationships" id="269" ns10:id="rIdTutorial3Slide11"/>
    <p:sldId xmlns:ns11="http://schemas.openxmlformats.org/officeDocument/2006/relationships" id="270" ns11:id="rIdTutorial3Slide12"/>
    <p:sldId xmlns:ns12="http://schemas.openxmlformats.org/officeDocument/2006/relationships" id="271" ns12:id="rIdTutorial3Slide13"/>
    <p:sldId xmlns:ns13="http://schemas.openxmlformats.org/officeDocument/2006/relationships" id="272" ns13:id="rIdTutorial3Slide14"/>
    <p:sldId xmlns:ns14="http://schemas.openxmlformats.org/officeDocument/2006/relationships" id="273" ns14:id="rIdTutorial3Slide15"/>
    <p:sldId xmlns:ns15="http://schemas.openxmlformats.org/officeDocument/2006/relationships" id="274" ns15:id="rIdTutorial3Slide16"/>
    <p:sldId xmlns:ns16="http://schemas.openxmlformats.org/officeDocument/2006/relationships" id="275" ns16:id="rIdTutorial3Slide17"/>
    <p:sldId xmlns:ns17="http://schemas.openxmlformats.org/officeDocument/2006/relationships" id="276" ns17:id="rIdTutorial3Slide18"/>
    <p:sldId xmlns:ns1="http://schemas.openxmlformats.org/officeDocument/2006/relationships" id="312" ns1:id="rIdloop_exercise_Slide1"/>
    <p:sldId xmlns:ns1="http://schemas.openxmlformats.org/officeDocument/2006/relationships" id="313" ns1:id="rIdloop_exercise_Slide2"/>
    <p:sldId xmlns:ns1="http://schemas.openxmlformats.org/officeDocument/2006/relationships" id="314" ns1:id="rIdloop_exercise_Slide3"/>
    <p:sldId xmlns:ns1="http://schemas.openxmlformats.org/officeDocument/2006/relationships" id="315" ns1:id="rIdloop_exercise_Slide4"/>
    <p:sldId xmlns:ns1="http://schemas.openxmlformats.org/officeDocument/2006/relationships" id="316" ns1:id="rIdloop_exercise_Slide5"/>
    <p:sldId xmlns:ns1="http://schemas.openxmlformats.org/officeDocument/2006/relationships" id="317" ns1:id="rIdloop_exercise_Slide6"/>
    <p:sldId xmlns:ns1="http://schemas.openxmlformats.org/officeDocument/2006/relationships" id="318" ns1:id="rIdloop_exercise_Slide7"/>
    <p:sldId xmlns:ns1="http://schemas.openxmlformats.org/officeDocument/2006/relationships" id="319" ns1:id="rIdloop_exercise_Slide8"/>
    <p:sldId xmlns:ns1="http://schemas.openxmlformats.org/officeDocument/2006/relationships" id="325" ns1:id="rIdc_positioned_Slide1"/>
    <p:sldId xmlns:ns1="http://schemas.openxmlformats.org/officeDocument/2006/relationships" id="326" ns1:id="rIdc_positioned_Slide2"/>
    <p:sldId xmlns:ns1="http://schemas.openxmlformats.org/officeDocument/2006/relationships" id="327" ns1:id="rIdc_positioned_Slide3"/>
    <p:sldId xmlns:ns1="http://schemas.openxmlformats.org/officeDocument/2006/relationships" id="328" ns1:id="rIdc_positioned_Slide4"/>
    <p:sldId xmlns:ns1="http://schemas.openxmlformats.org/officeDocument/2006/relationships" id="329" ns1:id="rIdc_positioned_Slide5"/>
    <p:sldId xmlns:ns18="http://schemas.openxmlformats.org/officeDocument/2006/relationships" id="277" ns18:id="rIdTutorial3Slide19"/>
    <p:sldId xmlns:ns19="http://schemas.openxmlformats.org/officeDocument/2006/relationships" id="278" ns19:id="rIdTutorial3Slide20"/>
    <p:sldId xmlns:ns1="http://schemas.openxmlformats.org/officeDocument/2006/relationships" id="302" ns1:id="rIdFraming2"/>
    <p:sldId xmlns:ns1="http://schemas.openxmlformats.org/officeDocument/2006/relationships" id="303" ns1:id="rIdFraming3"/>
    <p:sldId xmlns:ns20="http://schemas.openxmlformats.org/officeDocument/2006/relationships" id="279" ns20:id="rIdTutorial3Slide21"/>
    <p:sldId xmlns:ns21="http://schemas.openxmlformats.org/officeDocument/2006/relationships" id="280" ns21:id="rIdTutorial3Slide22"/>
    <p:sldId xmlns:ns22="http://schemas.openxmlformats.org/officeDocument/2006/relationships" id="281" ns22:id="rIdTutorial3Slide23"/>
    <p:sldId xmlns:ns23="http://schemas.openxmlformats.org/officeDocument/2006/relationships" id="282" ns23:id="rIdTutorial3Slide24"/>
    <p:sldId xmlns:ns24="http://schemas.openxmlformats.org/officeDocument/2006/relationships" id="283" ns24:id="rIdTutorial3Slide25"/>
    <p:sldId xmlns:ns25="http://schemas.openxmlformats.org/officeDocument/2006/relationships" id="284" ns25:id="rIdTutorial3Slide26"/>
    <p:sldId xmlns:ns26="http://schemas.openxmlformats.org/officeDocument/2006/relationships" id="285" ns26:id="rIdTutorial3Slide27"/>
    <p:sldId xmlns:ns27="http://schemas.openxmlformats.org/officeDocument/2006/relationships" id="286" ns27:id="rIdTutorial3Slide28"/>
    <p:sldId xmlns:ns28="http://schemas.openxmlformats.org/officeDocument/2006/relationships" id="287" ns28:id="rIdTutorial3Slide29"/>
    <p:sldId xmlns:ns29="http://schemas.openxmlformats.org/officeDocument/2006/relationships" id="288" ns29:id="rIdTutorial3Slide30"/>
    <p:sldId xmlns:ns30="http://schemas.openxmlformats.org/officeDocument/2006/relationships" id="289" ns30:id="rIdTutorial3Slide31"/>
    <p:sldId xmlns:ns31="http://schemas.openxmlformats.org/officeDocument/2006/relationships" id="290" ns31:id="rIdTutorial3Slide32"/>
    <p:sldId xmlns:ns32="http://schemas.openxmlformats.org/officeDocument/2006/relationships" id="291" ns32:id="rIdTutorial3Slide33"/>
    <p:sldId xmlns:ns33="http://schemas.openxmlformats.org/officeDocument/2006/relationships" id="292" ns33:id="rIdTutorial3Slide34"/>
    <p:sldId xmlns:ns34="http://schemas.openxmlformats.org/officeDocument/2006/relationships" id="293" ns34:id="rIdTutorial3Slide35"/>
    <p:sldId xmlns:ns35="http://schemas.openxmlformats.org/officeDocument/2006/relationships" id="294" ns35:id="rIdTutorial3Slide36"/>
    <p:sldId xmlns:ns36="http://schemas.openxmlformats.org/officeDocument/2006/relationships" id="295" ns36:id="rIdTutorial3Slide37"/>
    <p:sldId xmlns:ns37="http://schemas.openxmlformats.org/officeDocument/2006/relationships" id="296" ns37:id="rIdTutorial3Slide38"/>
    <p:sldId xmlns:ns38="http://schemas.openxmlformats.org/officeDocument/2006/relationships" id="297" ns38:id="rIdTutorial3Slide39"/>
    <p:sldId xmlns:ns39="http://schemas.openxmlformats.org/officeDocument/2006/relationships" id="298" ns39:id="rIdTutorial3Slide40"/>
    <p:sldId xmlns:ns40="http://schemas.openxmlformats.org/officeDocument/2006/relationships" id="299" ns40:id="rIdTutorial3Slide41"/>
    <p:sldId xmlns:ns41="http://schemas.openxmlformats.org/officeDocument/2006/relationships" id="300" ns41:id="rIdTutorial3Slide42"/>
  </p:sldIdLst>
  <p:sldSz cx="12192000" cy="6858000"/>
  <p:notesSz cx="6858000" cy="9144000"/>
</p:presentation>
</file>

<file path=ppt/presProps.xml><?xml version="1.0" encoding="utf-8"?>
<p:presentationPr xmlns:p="http://schemas.openxmlformats.org/presentationml/2006/main">
  <p:showPr loop="0" showAnimation="1" useTimings="0">
    <p:present/>
    <p:sldAll/>
  </p:showPr>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2cc08972a1a4ebf"/><Relationship Type="http://schemas.openxmlformats.org/officeDocument/2006/relationships/slideMaster" Target="/ppt/slideMasters/slideMaster1.xml" Id="Rbb9777e362c042cf"/><Relationship Type="http://schemas.openxmlformats.org/officeDocument/2006/relationships/notesMaster" Target="/ppt/notesMasters/notesMaster1.xml" Id="Rc12c9239b8b046b9"/><Relationship Type="http://schemas.openxmlformats.org/officeDocument/2006/relationships/presProps" Target="/ppt/presProps.xml" Id="R326af45b78a34f6d"/><Relationship Type="http://schemas.openxmlformats.org/officeDocument/2006/relationships/tableStyles" Target="/ppt/tableStyles.xml" Id="Rf7846d004d4e4346"/><Relationship Type="http://schemas.openxmlformats.org/officeDocument/2006/relationships/slide" Target="/ppt/slides/slide1.xml" Id="Rd9ecd3a121d14ab4"/><Relationship Type="http://schemas.openxmlformats.org/officeDocument/2006/relationships/slide" Target="/ppt/slides/slide2.xml" Id="Red2879c19bad43d7"/><Relationship Type="http://schemas.openxmlformats.org/officeDocument/2006/relationships/slide" Target="/ppt/slides/slide3.xml" Id="R4bee58edb9c14d0c"/><Relationship Id="rIdT3slideMasterR7004645b1b0b49fa" Type="http://schemas.openxmlformats.org/officeDocument/2006/relationships/slideMaster" Target="slideMasters/t3_slideMaster1.xml"/><Relationship Id="rIdTutorial3Slide1" Type="http://schemas.openxmlformats.org/officeDocument/2006/relationships/slide" Target="slides/methods_slide1.xml"/><Relationship Id="rIdTutorial3Slide2" Type="http://schemas.openxmlformats.org/officeDocument/2006/relationships/slide" Target="slides/methods_slide2.xml"/><Relationship Id="rIdTutorial3Slide3" Type="http://schemas.openxmlformats.org/officeDocument/2006/relationships/slide" Target="slides/methods_slide3.xml"/><Relationship Id="rIdTutorial3Slide4" Type="http://schemas.openxmlformats.org/officeDocument/2006/relationships/slide" Target="slides/methods_slide4.xml"/><Relationship Id="rIdTutorial3Slide5" Type="http://schemas.openxmlformats.org/officeDocument/2006/relationships/slide" Target="slides/methods_slide5.xml"/><Relationship Id="rIdTutorial3Slide6" Type="http://schemas.openxmlformats.org/officeDocument/2006/relationships/slide" Target="slides/methods_slide6.xml"/><Relationship Id="rIdTutorial3Slide7" Type="http://schemas.openxmlformats.org/officeDocument/2006/relationships/slide" Target="slides/methods_slide7.xml"/><Relationship Id="rIdTutorial3Slide8" Type="http://schemas.openxmlformats.org/officeDocument/2006/relationships/slide" Target="slides/methods_slide8.xml"/><Relationship Id="rIdTutorial3Slide9" Type="http://schemas.openxmlformats.org/officeDocument/2006/relationships/slide" Target="slides/methods_slide9.xml"/><Relationship Id="rIdTutorial3Slide10" Type="http://schemas.openxmlformats.org/officeDocument/2006/relationships/slide" Target="slides/methods_slide10.xml"/><Relationship Id="rIdTutorial3Slide11" Type="http://schemas.openxmlformats.org/officeDocument/2006/relationships/slide" Target="slides/methods_slide11.xml"/><Relationship Id="rIdTutorial3Slide12" Type="http://schemas.openxmlformats.org/officeDocument/2006/relationships/slide" Target="slides/methods_slide12.xml"/><Relationship Id="rIdTutorial3Slide13" Type="http://schemas.openxmlformats.org/officeDocument/2006/relationships/slide" Target="slides/methods_slide13.xml"/><Relationship Id="rIdTutorial3Slide14" Type="http://schemas.openxmlformats.org/officeDocument/2006/relationships/slide" Target="slides/methods_slide14.xml"/><Relationship Id="rIdTutorial3Slide15" Type="http://schemas.openxmlformats.org/officeDocument/2006/relationships/slide" Target="slides/methods_slide15.xml"/><Relationship Id="rIdTutorial3Slide16" Type="http://schemas.openxmlformats.org/officeDocument/2006/relationships/slide" Target="slides/methods_slide16.xml"/><Relationship Id="rIdTutorial3Slide17" Type="http://schemas.openxmlformats.org/officeDocument/2006/relationships/slide" Target="slides/methods_slide17.xml"/><Relationship Id="rIdTutorial3Slide18" Type="http://schemas.openxmlformats.org/officeDocument/2006/relationships/slide" Target="slides/methods_slide18.xml"/><Relationship Id="rIdTutorial3Slide19" Type="http://schemas.openxmlformats.org/officeDocument/2006/relationships/slide" Target="slides/methods_slide19.xml"/><Relationship Id="rIdTutorial3Slide20" Type="http://schemas.openxmlformats.org/officeDocument/2006/relationships/slide" Target="slides/methods_slide20.xml"/><Relationship Id="rIdTutorial3Slide21" Type="http://schemas.openxmlformats.org/officeDocument/2006/relationships/slide" Target="slides/methods_slide21.xml"/><Relationship Id="rIdTutorial3Slide22" Type="http://schemas.openxmlformats.org/officeDocument/2006/relationships/slide" Target="slides/methods_slide22.xml"/><Relationship Id="rIdTutorial3Slide23" Type="http://schemas.openxmlformats.org/officeDocument/2006/relationships/slide" Target="slides/methods_slide23.xml"/><Relationship Id="rIdTutorial3Slide24" Type="http://schemas.openxmlformats.org/officeDocument/2006/relationships/slide" Target="slides/methods_slide24.xml"/><Relationship Id="rIdTutorial3Slide25" Type="http://schemas.openxmlformats.org/officeDocument/2006/relationships/slide" Target="slides/methods_slide25.xml"/><Relationship Id="rIdTutorial3Slide26" Type="http://schemas.openxmlformats.org/officeDocument/2006/relationships/slide" Target="slides/methods_slide26.xml"/><Relationship Id="rIdTutorial3Slide27" Type="http://schemas.openxmlformats.org/officeDocument/2006/relationships/slide" Target="slides/methods_slide27.xml"/><Relationship Id="rIdTutorial3Slide28" Type="http://schemas.openxmlformats.org/officeDocument/2006/relationships/slide" Target="slides/methods_slide28.xml"/><Relationship Id="rIdTutorial3Slide29" Type="http://schemas.openxmlformats.org/officeDocument/2006/relationships/slide" Target="slides/methods_slide29.xml"/><Relationship Id="rIdTutorial3Slide30" Type="http://schemas.openxmlformats.org/officeDocument/2006/relationships/slide" Target="slides/methods_slide30.xml"/><Relationship Id="rIdTutorial3Slide31" Type="http://schemas.openxmlformats.org/officeDocument/2006/relationships/slide" Target="slides/methods_slide31.xml"/><Relationship Id="rIdTutorial3Slide32" Type="http://schemas.openxmlformats.org/officeDocument/2006/relationships/slide" Target="slides/methods_slide32.xml"/><Relationship Id="rIdTutorial3Slide33" Type="http://schemas.openxmlformats.org/officeDocument/2006/relationships/slide" Target="slides/methods_slide33.xml"/><Relationship Id="rIdTutorial3Slide34" Type="http://schemas.openxmlformats.org/officeDocument/2006/relationships/slide" Target="slides/methods_slide34.xml"/><Relationship Id="rIdTutorial3Slide35" Type="http://schemas.openxmlformats.org/officeDocument/2006/relationships/slide" Target="slides/methods_slide35.xml"/><Relationship Id="rIdTutorial3Slide36" Type="http://schemas.openxmlformats.org/officeDocument/2006/relationships/slide" Target="slides/methods_slide36.xml"/><Relationship Id="rIdTutorial3Slide37" Type="http://schemas.openxmlformats.org/officeDocument/2006/relationships/slide" Target="slides/methods_slide37.xml"/><Relationship Id="rIdTutorial3Slide38" Type="http://schemas.openxmlformats.org/officeDocument/2006/relationships/slide" Target="slides/methods_slide38.xml"/><Relationship Id="rIdTutorial3Slide39" Type="http://schemas.openxmlformats.org/officeDocument/2006/relationships/slide" Target="slides/methods_slide39.xml"/><Relationship Id="rIdTutorial3Slide40" Type="http://schemas.openxmlformats.org/officeDocument/2006/relationships/slide" Target="slides/methods_slide40.xml"/><Relationship Id="rIdTutorial3Slide41" Type="http://schemas.openxmlformats.org/officeDocument/2006/relationships/slide" Target="slides/methods_slide41.xml"/><Relationship Id="rIdTutorial3Slide42" Type="http://schemas.openxmlformats.org/officeDocument/2006/relationships/slide" Target="slides/methods_slide42.xml"/><Relationship Id="rIdT3slideMasterRc1ed79fd4e854245" Type="http://schemas.openxmlformats.org/officeDocument/2006/relationships/slideMaster" Target="slideMasters/methods_slideMaster1.xml"/><Relationship Id="rIdFraming1" Type="http://schemas.openxmlformats.org/officeDocument/2006/relationships/slide" Target="slides/framing_1.xml"/><Relationship Id="rIdFraming2" Type="http://schemas.openxmlformats.org/officeDocument/2006/relationships/slide" Target="slides/framing_2.xml"/><Relationship Id="rIdFraming3" Type="http://schemas.openxmlformats.org/officeDocument/2006/relationships/slide" Target="slides/framing_3.xml"/><Relationship Id="rIdloop_exercise_Slide1" Type="http://schemas.openxmlformats.org/officeDocument/2006/relationships/slide" Target="slides/loop_exercise_slide1.xml"/><Relationship Id="rIdloop_exercise_Slide2" Type="http://schemas.openxmlformats.org/officeDocument/2006/relationships/slide" Target="slides/loop_exercise_slide2.xml"/><Relationship Id="rIdloop_exercise_Slide3" Type="http://schemas.openxmlformats.org/officeDocument/2006/relationships/slide" Target="slides/loop_exercise_slide3.xml"/><Relationship Id="rIdloop_exercise_Slide4" Type="http://schemas.openxmlformats.org/officeDocument/2006/relationships/slide" Target="slides/loop_exercise_slide4.xml"/><Relationship Id="rIdloop_exercise_Slide5" Type="http://schemas.openxmlformats.org/officeDocument/2006/relationships/slide" Target="slides/loop_exercise_slide5.xml"/><Relationship Id="rIdloop_exercise_Slide6" Type="http://schemas.openxmlformats.org/officeDocument/2006/relationships/slide" Target="slides/loop_exercise_slide6.xml"/><Relationship Id="rIdloop_exercise_Slide7" Type="http://schemas.openxmlformats.org/officeDocument/2006/relationships/slide" Target="slides/loop_exercise_slide7.xml"/><Relationship Id="rIdloop_exercise_Slide8" Type="http://schemas.openxmlformats.org/officeDocument/2006/relationships/slide" Target="slides/loop_exercise_slide8.xml"/><Relationship Id="rIdc_positioned_Slide1" Type="http://schemas.openxmlformats.org/officeDocument/2006/relationships/slide" Target="slides/c_positioned_slide1.xml"/><Relationship Id="rIdc_positioned_Slide2" Type="http://schemas.openxmlformats.org/officeDocument/2006/relationships/slide" Target="slides/c_positioned_slide2.xml"/><Relationship Id="rIdc_positioned_Slide3" Type="http://schemas.openxmlformats.org/officeDocument/2006/relationships/slide" Target="slides/c_positioned_slide3.xml"/><Relationship Id="rIdc_positioned_Slide4" Type="http://schemas.openxmlformats.org/officeDocument/2006/relationships/slide" Target="slides/c_positioned_slide4.xml"/><Relationship Id="rIdc_positioned_Slide5" Type="http://schemas.openxmlformats.org/officeDocument/2006/relationships/slide" Target="slides/c_positioned_slide5.xml"/><Relationship Id="rIdFdmOverviewIntro0" Type="http://schemas.openxmlformats.org/officeDocument/2006/relationships/slide" Target="slides/fdm_open_question.xml"/><Relationship Id="rIdFdmOverviewIntro1" Type="http://schemas.openxmlformats.org/officeDocument/2006/relationships/slide" Target="slides/fdm_open_bandwidth.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2eb1e95d9e44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c_positioned_notesSlide1.xml.rels><?xml version='1.0' encoding='UTF-8' standalone='yes'?>
<Relationships xmlns="http://schemas.openxmlformats.org/package/2006/relationships"><Relationship Type="http://schemas.openxmlformats.org/officeDocument/2006/relationships/slide" Target="../slides/c_positioned_slide1.xml" Id="R6b18093a41a04482"/><Relationship Type="http://schemas.openxmlformats.org/officeDocument/2006/relationships/notesMaster" Target="../notesMasters/notesMaster1.xml" Id="R080e1111805a482f"/></Relationships>
</file>

<file path=ppt/notesSlides/_rels/c_positioned_notesSlide2.xml.rels><?xml version='1.0' encoding='UTF-8' standalone='yes'?>
<Relationships xmlns="http://schemas.openxmlformats.org/package/2006/relationships"><Relationship Type="http://schemas.openxmlformats.org/officeDocument/2006/relationships/slide" Target="../slides/c_positioned_slide2.xml" Id="Re4a785ead485414a"/><Relationship Type="http://schemas.openxmlformats.org/officeDocument/2006/relationships/notesMaster" Target="../notesMasters/notesMaster1.xml" Id="R46ae707d830b4e9d"/></Relationships>
</file>

<file path=ppt/notesSlides/_rels/c_positioned_notesSlide3.xml.rels><?xml version='1.0' encoding='UTF-8' standalone='yes'?>
<Relationships xmlns="http://schemas.openxmlformats.org/package/2006/relationships"><Relationship Type="http://schemas.openxmlformats.org/officeDocument/2006/relationships/slide" Target="../slides/c_positioned_slide3.xml" Id="R292978162d9c478f"/><Relationship Type="http://schemas.openxmlformats.org/officeDocument/2006/relationships/notesMaster" Target="../notesMasters/notesMaster1.xml" Id="Rf8506103a1234ceb"/></Relationships>
</file>

<file path=ppt/notesSlides/_rels/c_positioned_notesSlide4.xml.rels><?xml version='1.0' encoding='UTF-8' standalone='yes'?>
<Relationships xmlns="http://schemas.openxmlformats.org/package/2006/relationships"><Relationship Type="http://schemas.openxmlformats.org/officeDocument/2006/relationships/slide" Target="../slides/c_positioned_slide4.xml" Id="Rd68c7d7e4a8a45b8"/><Relationship Type="http://schemas.openxmlformats.org/officeDocument/2006/relationships/notesMaster" Target="../notesMasters/notesMaster1.xml" Id="R0ea8fc60fe5f48cf"/></Relationships>
</file>

<file path=ppt/notesSlides/_rels/c_positioned_notesSlide5.xml.rels><?xml version='1.0' encoding='UTF-8' standalone='yes'?>
<Relationships xmlns="http://schemas.openxmlformats.org/package/2006/relationships"><Relationship Type="http://schemas.openxmlformats.org/officeDocument/2006/relationships/slide" Target="../slides/c_positioned_slide5.xml" Id="R50f44b166e0549d4"/><Relationship Type="http://schemas.openxmlformats.org/officeDocument/2006/relationships/notesMaster" Target="../notesMasters/notesMaster1.xml" Id="R804b6caf65e746af"/></Relationships>
</file>

<file path=ppt/notesSlides/_rels/fdm_open_0.xml.rels><?xml version='1.0' encoding='UTF-8' standalone='yes'?>
<Relationships xmlns="http://schemas.openxmlformats.org/package/2006/relationships"><Relationship Type="http://schemas.openxmlformats.org/officeDocument/2006/relationships/slide" Target="../slides/fdm_open_question.xml" Id="R2f2487f3e7164eb0"/><Relationship Type="http://schemas.openxmlformats.org/officeDocument/2006/relationships/notesMaster" Target="../notesMasters/notesMaster1.xml" Id="R2de5087e1d324f90"/></Relationships>
</file>

<file path=ppt/notesSlides/_rels/fdm_open_1.xml.rels><?xml version='1.0' encoding='UTF-8' standalone='yes'?>
<Relationships xmlns="http://schemas.openxmlformats.org/package/2006/relationships"><Relationship Type="http://schemas.openxmlformats.org/officeDocument/2006/relationships/slide" Target="../slides/fdm_open_bandwidth.xml" Id="R2f2487f3e7164eb0"/><Relationship Type="http://schemas.openxmlformats.org/officeDocument/2006/relationships/notesMaster" Target="../notesMasters/notesMaster1.xml" Id="R2de5087e1d324f90"/></Relationships>
</file>

<file path=ppt/notesSlides/_rels/framing_1.xml.rels><?xml version='1.0' encoding='UTF-8' standalone='yes'?>
<Relationships xmlns="http://schemas.openxmlformats.org/package/2006/relationships"><Relationship Id="rIdSlide" Type="http://schemas.openxmlformats.org/officeDocument/2006/relationships/slide" Target="../slides/framing_1.xml"/><Relationship Id="rIdMaster" Type="http://schemas.openxmlformats.org/officeDocument/2006/relationships/notesMaster" Target="../notesMasters/notesMaster1.xml"/></Relationships>
</file>

<file path=ppt/notesSlides/_rels/framing_2.xml.rels><?xml version='1.0' encoding='UTF-8' standalone='yes'?>
<Relationships xmlns="http://schemas.openxmlformats.org/package/2006/relationships"><Relationship Id="rIdSlide" Type="http://schemas.openxmlformats.org/officeDocument/2006/relationships/slide" Target="../slides/framing_2.xml"/><Relationship Id="rIdMaster" Type="http://schemas.openxmlformats.org/officeDocument/2006/relationships/notesMaster" Target="../notesMasters/notesMaster1.xml"/></Relationships>
</file>

<file path=ppt/notesSlides/_rels/framing_3.xml.rels><?xml version='1.0' encoding='UTF-8' standalone='yes'?>
<Relationships xmlns="http://schemas.openxmlformats.org/package/2006/relationships"><Relationship Id="rIdSlide" Type="http://schemas.openxmlformats.org/officeDocument/2006/relationships/slide" Target="../slides/framing_3.xml"/><Relationship Id="rIdMaster" Type="http://schemas.openxmlformats.org/officeDocument/2006/relationships/notesMaster" Target="../notesMasters/notesMaster1.xml"/></Relationships>
</file>

<file path=ppt/notesSlides/_rels/loop_exercise_notesSlide1.xml.rels><?xml version='1.0' encoding='UTF-8' standalone='yes'?>
<Relationships xmlns="http://schemas.openxmlformats.org/package/2006/relationships"><Relationship Type="http://schemas.openxmlformats.org/officeDocument/2006/relationships/slide" Target="../slides/loop_exercise_slide1.xml" Id="Reb00965aa81f47c2"/><Relationship Type="http://schemas.openxmlformats.org/officeDocument/2006/relationships/notesMaster" Target="../notesMasters/notesMaster1.xml" Id="R994ff0d4a73b491e"/></Relationships>
</file>

<file path=ppt/notesSlides/_rels/loop_exercise_notesSlide2.xml.rels><?xml version='1.0' encoding='UTF-8' standalone='yes'?>
<Relationships xmlns="http://schemas.openxmlformats.org/package/2006/relationships"><Relationship Type="http://schemas.openxmlformats.org/officeDocument/2006/relationships/slide" Target="../slides/loop_exercise_slide2.xml" Id="Rbae7a930aa454e45"/><Relationship Type="http://schemas.openxmlformats.org/officeDocument/2006/relationships/notesMaster" Target="../notesMasters/notesMaster1.xml" Id="R958db49dd2d34d4e"/></Relationships>
</file>

<file path=ppt/notesSlides/_rels/loop_exercise_notesSlide3.xml.rels><?xml version='1.0' encoding='UTF-8' standalone='yes'?>
<Relationships xmlns="http://schemas.openxmlformats.org/package/2006/relationships"><Relationship Type="http://schemas.openxmlformats.org/officeDocument/2006/relationships/slide" Target="../slides/loop_exercise_slide3.xml" Id="Rfecda77ae42643a5"/><Relationship Type="http://schemas.openxmlformats.org/officeDocument/2006/relationships/notesMaster" Target="../notesMasters/notesMaster1.xml" Id="R765fdf54e8164cf2"/></Relationships>
</file>

<file path=ppt/notesSlides/_rels/loop_exercise_notesSlide4.xml.rels><?xml version='1.0' encoding='UTF-8' standalone='yes'?>
<Relationships xmlns="http://schemas.openxmlformats.org/package/2006/relationships"><Relationship Type="http://schemas.openxmlformats.org/officeDocument/2006/relationships/slide" Target="../slides/loop_exercise_slide4.xml" Id="R375fd56a60e14d2e"/><Relationship Type="http://schemas.openxmlformats.org/officeDocument/2006/relationships/notesMaster" Target="../notesMasters/notesMaster1.xml" Id="R6db391b770504df3"/></Relationships>
</file>

<file path=ppt/notesSlides/_rels/loop_exercise_notesSlide5.xml.rels><?xml version='1.0' encoding='UTF-8' standalone='yes'?>
<Relationships xmlns="http://schemas.openxmlformats.org/package/2006/relationships"><Relationship Type="http://schemas.openxmlformats.org/officeDocument/2006/relationships/slide" Target="../slides/loop_exercise_slide5.xml" Id="Re9f694b987714d46"/><Relationship Type="http://schemas.openxmlformats.org/officeDocument/2006/relationships/notesMaster" Target="../notesMasters/notesMaster1.xml" Id="Re97b10dad9684117"/></Relationships>
</file>

<file path=ppt/notesSlides/_rels/loop_exercise_notesSlide6.xml.rels><?xml version='1.0' encoding='UTF-8' standalone='yes'?>
<Relationships xmlns="http://schemas.openxmlformats.org/package/2006/relationships"><Relationship Type="http://schemas.openxmlformats.org/officeDocument/2006/relationships/slide" Target="../slides/loop_exercise_slide6.xml" Id="Rc6285cf4978947ed"/><Relationship Type="http://schemas.openxmlformats.org/officeDocument/2006/relationships/notesMaster" Target="../notesMasters/notesMaster1.xml" Id="R2e4c33234d6b47bf"/></Relationships>
</file>

<file path=ppt/notesSlides/_rels/loop_exercise_notesSlide7.xml.rels><?xml version='1.0' encoding='UTF-8' standalone='yes'?>
<Relationships xmlns="http://schemas.openxmlformats.org/package/2006/relationships"><Relationship Type="http://schemas.openxmlformats.org/officeDocument/2006/relationships/slide" Target="../slides/loop_exercise_slide7.xml" Id="Rcfcae776c9194ec5"/><Relationship Type="http://schemas.openxmlformats.org/officeDocument/2006/relationships/notesMaster" Target="../notesMasters/notesMaster1.xml" Id="R8112e80ef4c64d54"/></Relationships>
</file>

<file path=ppt/notesSlides/_rels/loop_exercise_notesSlide8.xml.rels><?xml version='1.0' encoding='UTF-8' standalone='yes'?>
<Relationships xmlns="http://schemas.openxmlformats.org/package/2006/relationships"><Relationship Type="http://schemas.openxmlformats.org/officeDocument/2006/relationships/slide" Target="../slides/loop_exercise_slide8.xml" Id="R6beec44d844e434a"/><Relationship Type="http://schemas.openxmlformats.org/officeDocument/2006/relationships/notesMaster" Target="../notesMasters/notesMaster1.xml" Id="Race2a21920054f9f"/></Relationships>
</file>

<file path=ppt/notesSlides/_rels/methods_notesSlide1.xml.rels><?xml version='1.0' encoding='UTF-8' standalone='yes'?>
<Relationships xmlns="http://schemas.openxmlformats.org/package/2006/relationships"><Relationship Type="http://schemas.openxmlformats.org/officeDocument/2006/relationships/slide" Target="../slides/methods_slide1.xml" Id="R2f2487f3e7164eb0"/><Relationship Type="http://schemas.openxmlformats.org/officeDocument/2006/relationships/notesMaster" Target="../notesMasters/notesMaster1.xml" Id="R2de5087e1d324f90"/></Relationships>
</file>

<file path=ppt/notesSlides/_rels/methods_notesSlide2.xml.rels><?xml version='1.0' encoding='UTF-8' standalone='yes'?>
<Relationships xmlns="http://schemas.openxmlformats.org/package/2006/relationships"><Relationship Type="http://schemas.openxmlformats.org/officeDocument/2006/relationships/slide" Target="../slides/methods_slide2.xml" Id="R1741e53b0990443e"/><Relationship Type="http://schemas.openxmlformats.org/officeDocument/2006/relationships/notesMaster" Target="../notesMasters/notesMaster1.xml" Id="R89c35753beb940d3"/></Relationships>
</file>

<file path=ppt/notesSlides/_rels/methods_notesSlide3.xml.rels><?xml version='1.0' encoding='UTF-8' standalone='yes'?>
<Relationships xmlns="http://schemas.openxmlformats.org/package/2006/relationships"><Relationship Type="http://schemas.openxmlformats.org/officeDocument/2006/relationships/slide" Target="../slides/methods_slide3.xml" Id="R1a8b4b72ed31447f"/><Relationship Type="http://schemas.openxmlformats.org/officeDocument/2006/relationships/notesMaster" Target="../notesMasters/notesMaster1.xml" Id="R9639c2d8fd4345d6"/></Relationships>
</file>

<file path=ppt/notesSlides/_rels/methods_notesSlide4.xml.rels><?xml version='1.0' encoding='UTF-8' standalone='yes'?>
<Relationships xmlns="http://schemas.openxmlformats.org/package/2006/relationships"><Relationship Type="http://schemas.openxmlformats.org/officeDocument/2006/relationships/slide" Target="../slides/methods_slide4.xml" Id="Readaa79fba4445a8"/><Relationship Type="http://schemas.openxmlformats.org/officeDocument/2006/relationships/notesMaster" Target="../notesMasters/notesMaster1.xml" Id="R40dd0f284e6c46f9"/></Relationships>
</file>

<file path=ppt/notesSlides/_rels/methods_notesSlide5.xml.rels><?xml version='1.0' encoding='UTF-8' standalone='yes'?>
<Relationships xmlns="http://schemas.openxmlformats.org/package/2006/relationships"><Relationship Type="http://schemas.openxmlformats.org/officeDocument/2006/relationships/slide" Target="../slides/methods_slide5.xml" Id="R15b1f800d72c45ff"/><Relationship Type="http://schemas.openxmlformats.org/officeDocument/2006/relationships/notesMaster" Target="../notesMasters/notesMaster1.xml" Id="Raa5b264c2a0245ba"/></Relationships>
</file>

<file path=ppt/notesSlides/_rels/methods_notesSlide6.xml.rels><?xml version='1.0' encoding='UTF-8' standalone='yes'?>
<Relationships xmlns="http://schemas.openxmlformats.org/package/2006/relationships"><Relationship Type="http://schemas.openxmlformats.org/officeDocument/2006/relationships/slide" Target="../slides/methods_slide6.xml" Id="R35fc1805aa334c95"/><Relationship Type="http://schemas.openxmlformats.org/officeDocument/2006/relationships/notesMaster" Target="../notesMasters/notesMaster1.xml" Id="R507347d8c1f2442d"/></Relationships>
</file>

<file path=ppt/notesSlides/_rels/methods_notesSlide7.xml.rels><?xml version='1.0' encoding='UTF-8' standalone='yes'?>
<Relationships xmlns="http://schemas.openxmlformats.org/package/2006/relationships"><Relationship Type="http://schemas.openxmlformats.org/officeDocument/2006/relationships/slide" Target="../slides/methods_slide7.xml" Id="Rbcac07f9f7c24aba"/><Relationship Type="http://schemas.openxmlformats.org/officeDocument/2006/relationships/notesMaster" Target="../notesMasters/notesMaster1.xml" Id="R4f68e640b81a434f"/></Relationships>
</file>

<file path=ppt/notesSlides/_rels/methods_notesSlide8.xml.rels><?xml version='1.0' encoding='UTF-8' standalone='yes'?>
<Relationships xmlns="http://schemas.openxmlformats.org/package/2006/relationships"><Relationship Type="http://schemas.openxmlformats.org/officeDocument/2006/relationships/slide" Target="../slides/methods_slide8.xml" Id="Rd7334aa114844912"/><Relationship Type="http://schemas.openxmlformats.org/officeDocument/2006/relationships/notesMaster" Target="../notesMasters/notesMaster1.xml" Id="R728f79146c9348a6"/></Relationships>
</file>

<file path=ppt/notesSlides/_rels/methods_notesSlide9.xml.rels><?xml version='1.0' encoding='UTF-8' standalone='yes'?>
<Relationships xmlns="http://schemas.openxmlformats.org/package/2006/relationships"><Relationship Type="http://schemas.openxmlformats.org/officeDocument/2006/relationships/slide" Target="../slides/methods_slide9.xml" Id="R1569483d13eb4704"/><Relationship Type="http://schemas.openxmlformats.org/officeDocument/2006/relationships/notesMaster" Target="../notesMasters/notesMaster1.xml" Id="Rd58ca6a1a33941e8"/></Relationships>
</file>

<file path=ppt/notesSlides/_rels/methods_notesSlide10.xml.rels><?xml version='1.0' encoding='UTF-8' standalone='yes'?>
<Relationships xmlns="http://schemas.openxmlformats.org/package/2006/relationships"><Relationship Type="http://schemas.openxmlformats.org/officeDocument/2006/relationships/slide" Target="../slides/methods_slide10.xml" Id="Rfa40019f84d54b6e"/><Relationship Type="http://schemas.openxmlformats.org/officeDocument/2006/relationships/notesMaster" Target="../notesMasters/notesMaster1.xml" Id="Rc714072d624b46fc"/></Relationships>
</file>

<file path=ppt/notesSlides/_rels/methods_notesSlide11.xml.rels><?xml version='1.0' encoding='UTF-8' standalone='yes'?>
<Relationships xmlns="http://schemas.openxmlformats.org/package/2006/relationships"><Relationship Type="http://schemas.openxmlformats.org/officeDocument/2006/relationships/slide" Target="../slides/methods_slide11.xml" Id="R4212f0617a9742bf"/><Relationship Type="http://schemas.openxmlformats.org/officeDocument/2006/relationships/notesMaster" Target="../notesMasters/notesMaster1.xml" Id="Rd8ebaa6b9da04e50"/></Relationships>
</file>

<file path=ppt/notesSlides/_rels/methods_notesSlide12.xml.rels><?xml version='1.0' encoding='UTF-8' standalone='yes'?>
<Relationships xmlns="http://schemas.openxmlformats.org/package/2006/relationships"><Relationship Type="http://schemas.openxmlformats.org/officeDocument/2006/relationships/slide" Target="../slides/methods_slide12.xml" Id="Rea655f43b20f4ac0"/><Relationship Type="http://schemas.openxmlformats.org/officeDocument/2006/relationships/notesMaster" Target="../notesMasters/notesMaster1.xml" Id="R96b69dd2a60e4f7b"/></Relationships>
</file>

<file path=ppt/notesSlides/_rels/methods_notesSlide13.xml.rels><?xml version='1.0' encoding='UTF-8' standalone='yes'?>
<Relationships xmlns="http://schemas.openxmlformats.org/package/2006/relationships"><Relationship Type="http://schemas.openxmlformats.org/officeDocument/2006/relationships/slide" Target="../slides/methods_slide13.xml" Id="R179df9f547cd4630"/><Relationship Type="http://schemas.openxmlformats.org/officeDocument/2006/relationships/notesMaster" Target="../notesMasters/notesMaster1.xml" Id="R831315dae898420b"/></Relationships>
</file>

<file path=ppt/notesSlides/_rels/methods_notesSlide14.xml.rels><?xml version='1.0' encoding='UTF-8' standalone='yes'?>
<Relationships xmlns="http://schemas.openxmlformats.org/package/2006/relationships"><Relationship Type="http://schemas.openxmlformats.org/officeDocument/2006/relationships/slide" Target="../slides/methods_slide14.xml" Id="R2ee9c757bb614817"/><Relationship Type="http://schemas.openxmlformats.org/officeDocument/2006/relationships/notesMaster" Target="../notesMasters/notesMaster1.xml" Id="R9f1701e894ea4b5c"/></Relationships>
</file>

<file path=ppt/notesSlides/_rels/methods_notesSlide15.xml.rels><?xml version='1.0' encoding='UTF-8' standalone='yes'?>
<Relationships xmlns="http://schemas.openxmlformats.org/package/2006/relationships"><Relationship Type="http://schemas.openxmlformats.org/officeDocument/2006/relationships/slide" Target="../slides/methods_slide15.xml" Id="R67ae6496844f4914"/><Relationship Type="http://schemas.openxmlformats.org/officeDocument/2006/relationships/notesMaster" Target="../notesMasters/notesMaster1.xml" Id="R43bca2fb25e44a7b"/></Relationships>
</file>

<file path=ppt/notesSlides/_rels/methods_notesSlide16.xml.rels><?xml version='1.0' encoding='UTF-8' standalone='yes'?>
<Relationships xmlns="http://schemas.openxmlformats.org/package/2006/relationships"><Relationship Type="http://schemas.openxmlformats.org/officeDocument/2006/relationships/slide" Target="../slides/methods_slide16.xml" Id="Rc9f40db6056b43f9"/><Relationship Type="http://schemas.openxmlformats.org/officeDocument/2006/relationships/notesMaster" Target="../notesMasters/notesMaster1.xml" Id="Rfb59b2c60a604c44"/></Relationships>
</file>

<file path=ppt/notesSlides/_rels/methods_notesSlide17.xml.rels><?xml version='1.0' encoding='UTF-8' standalone='yes'?>
<Relationships xmlns="http://schemas.openxmlformats.org/package/2006/relationships"><Relationship Type="http://schemas.openxmlformats.org/officeDocument/2006/relationships/slide" Target="../slides/methods_slide17.xml" Id="R52e3ab4fafec4c46"/><Relationship Type="http://schemas.openxmlformats.org/officeDocument/2006/relationships/notesMaster" Target="../notesMasters/notesMaster1.xml" Id="R6e6b16d7925f455b"/></Relationships>
</file>

<file path=ppt/notesSlides/_rels/methods_notesSlide18.xml.rels><?xml version='1.0' encoding='UTF-8' standalone='yes'?>
<Relationships xmlns="http://schemas.openxmlformats.org/package/2006/relationships"><Relationship Type="http://schemas.openxmlformats.org/officeDocument/2006/relationships/slide" Target="../slides/methods_slide18.xml" Id="R0c75ff0a561045b5"/><Relationship Type="http://schemas.openxmlformats.org/officeDocument/2006/relationships/notesMaster" Target="../notesMasters/notesMaster1.xml" Id="R27ddc35da4d64ed5"/></Relationships>
</file>

<file path=ppt/notesSlides/_rels/methods_notesSlide19.xml.rels><?xml version='1.0' encoding='UTF-8' standalone='yes'?>
<Relationships xmlns="http://schemas.openxmlformats.org/package/2006/relationships"><Relationship Type="http://schemas.openxmlformats.org/officeDocument/2006/relationships/slide" Target="../slides/methods_slide19.xml" Id="R357f59b210a04b85"/><Relationship Type="http://schemas.openxmlformats.org/officeDocument/2006/relationships/notesMaster" Target="../notesMasters/notesMaster1.xml" Id="R5b4be058b70740e6"/></Relationships>
</file>

<file path=ppt/notesSlides/_rels/methods_notesSlide20.xml.rels><?xml version='1.0' encoding='UTF-8' standalone='yes'?>
<Relationships xmlns="http://schemas.openxmlformats.org/package/2006/relationships"><Relationship Type="http://schemas.openxmlformats.org/officeDocument/2006/relationships/slide" Target="../slides/methods_slide20.xml" Id="R591fb79a41c041df"/><Relationship Type="http://schemas.openxmlformats.org/officeDocument/2006/relationships/notesMaster" Target="../notesMasters/notesMaster1.xml" Id="R0dd4a72e77cc4362"/></Relationships>
</file>

<file path=ppt/notesSlides/_rels/methods_notesSlide21.xml.rels><?xml version='1.0' encoding='UTF-8' standalone='yes'?>
<Relationships xmlns="http://schemas.openxmlformats.org/package/2006/relationships"><Relationship Type="http://schemas.openxmlformats.org/officeDocument/2006/relationships/slide" Target="../slides/methods_slide21.xml" Id="Raa5ddb9b9e874bc0"/><Relationship Type="http://schemas.openxmlformats.org/officeDocument/2006/relationships/notesMaster" Target="../notesMasters/notesMaster1.xml" Id="Rde1e01de12c445be"/></Relationships>
</file>

<file path=ppt/notesSlides/_rels/methods_notesSlide22.xml.rels><?xml version='1.0' encoding='UTF-8' standalone='yes'?>
<Relationships xmlns="http://schemas.openxmlformats.org/package/2006/relationships"><Relationship Type="http://schemas.openxmlformats.org/officeDocument/2006/relationships/slide" Target="../slides/methods_slide22.xml" Id="R17de79ea95c04e2f"/><Relationship Type="http://schemas.openxmlformats.org/officeDocument/2006/relationships/notesMaster" Target="../notesMasters/notesMaster1.xml" Id="Re0cfb8b438e944ad"/></Relationships>
</file>

<file path=ppt/notesSlides/_rels/methods_notesSlide23.xml.rels><?xml version='1.0' encoding='UTF-8' standalone='yes'?>
<Relationships xmlns="http://schemas.openxmlformats.org/package/2006/relationships"><Relationship Type="http://schemas.openxmlformats.org/officeDocument/2006/relationships/slide" Target="../slides/methods_slide23.xml" Id="R59362fad21e94a3d"/><Relationship Type="http://schemas.openxmlformats.org/officeDocument/2006/relationships/notesMaster" Target="../notesMasters/notesMaster1.xml" Id="Rebb7588108de4ad4"/></Relationships>
</file>

<file path=ppt/notesSlides/_rels/methods_notesSlide24.xml.rels><?xml version='1.0' encoding='UTF-8' standalone='yes'?>
<Relationships xmlns="http://schemas.openxmlformats.org/package/2006/relationships"><Relationship Type="http://schemas.openxmlformats.org/officeDocument/2006/relationships/slide" Target="../slides/methods_slide24.xml" Id="R6a2a5864655741ee"/><Relationship Type="http://schemas.openxmlformats.org/officeDocument/2006/relationships/notesMaster" Target="../notesMasters/notesMaster1.xml" Id="R0db3103b8a994ef9"/></Relationships>
</file>

<file path=ppt/notesSlides/_rels/methods_notesSlide25.xml.rels><?xml version='1.0' encoding='UTF-8' standalone='yes'?>
<Relationships xmlns="http://schemas.openxmlformats.org/package/2006/relationships"><Relationship Type="http://schemas.openxmlformats.org/officeDocument/2006/relationships/slide" Target="../slides/methods_slide25.xml" Id="Rcd717e23bee04ecb"/><Relationship Type="http://schemas.openxmlformats.org/officeDocument/2006/relationships/notesMaster" Target="../notesMasters/notesMaster1.xml" Id="R12c2fb58d4ec422c"/></Relationships>
</file>

<file path=ppt/notesSlides/_rels/methods_notesSlide26.xml.rels><?xml version='1.0' encoding='UTF-8' standalone='yes'?>
<Relationships xmlns="http://schemas.openxmlformats.org/package/2006/relationships"><Relationship Type="http://schemas.openxmlformats.org/officeDocument/2006/relationships/slide" Target="../slides/methods_slide26.xml" Id="Rd99249ab8f5944c8"/><Relationship Type="http://schemas.openxmlformats.org/officeDocument/2006/relationships/notesMaster" Target="../notesMasters/notesMaster1.xml" Id="R5d3eb38ef51b476f"/></Relationships>
</file>

<file path=ppt/notesSlides/_rels/methods_notesSlide27.xml.rels><?xml version='1.0' encoding='UTF-8' standalone='yes'?>
<Relationships xmlns="http://schemas.openxmlformats.org/package/2006/relationships"><Relationship Type="http://schemas.openxmlformats.org/officeDocument/2006/relationships/slide" Target="../slides/methods_slide27.xml" Id="Rfa1e8f7d7fe6429b"/><Relationship Type="http://schemas.openxmlformats.org/officeDocument/2006/relationships/notesMaster" Target="../notesMasters/notesMaster1.xml" Id="R2f3d509ae06d4c8a"/></Relationships>
</file>

<file path=ppt/notesSlides/_rels/methods_notesSlide28.xml.rels><?xml version='1.0' encoding='UTF-8' standalone='yes'?>
<Relationships xmlns="http://schemas.openxmlformats.org/package/2006/relationships"><Relationship Type="http://schemas.openxmlformats.org/officeDocument/2006/relationships/slide" Target="../slides/methods_slide28.xml" Id="Rfdcf46d1696e4c53"/><Relationship Type="http://schemas.openxmlformats.org/officeDocument/2006/relationships/notesMaster" Target="../notesMasters/notesMaster1.xml" Id="R641cbd18a9024a2b"/></Relationships>
</file>

<file path=ppt/notesSlides/_rels/methods_notesSlide29.xml.rels><?xml version='1.0' encoding='UTF-8' standalone='yes'?>
<Relationships xmlns="http://schemas.openxmlformats.org/package/2006/relationships"><Relationship Type="http://schemas.openxmlformats.org/officeDocument/2006/relationships/slide" Target="../slides/methods_slide29.xml" Id="Re458c9ed803a4cf9"/><Relationship Type="http://schemas.openxmlformats.org/officeDocument/2006/relationships/notesMaster" Target="../notesMasters/notesMaster1.xml" Id="R83ff271df88b40ab"/></Relationships>
</file>

<file path=ppt/notesSlides/_rels/methods_notesSlide30.xml.rels><?xml version='1.0' encoding='UTF-8' standalone='yes'?>
<Relationships xmlns="http://schemas.openxmlformats.org/package/2006/relationships"><Relationship Type="http://schemas.openxmlformats.org/officeDocument/2006/relationships/slide" Target="../slides/methods_slide30.xml" Id="Rb09fd2f1bd2144de"/><Relationship Type="http://schemas.openxmlformats.org/officeDocument/2006/relationships/notesMaster" Target="../notesMasters/notesMaster1.xml" Id="Rd932afc482f44406"/></Relationships>
</file>

<file path=ppt/notesSlides/_rels/methods_notesSlide31.xml.rels><?xml version='1.0' encoding='UTF-8' standalone='yes'?>
<Relationships xmlns="http://schemas.openxmlformats.org/package/2006/relationships"><Relationship Type="http://schemas.openxmlformats.org/officeDocument/2006/relationships/slide" Target="../slides/methods_slide31.xml" Id="Rbe70c10378334a9b"/><Relationship Type="http://schemas.openxmlformats.org/officeDocument/2006/relationships/notesMaster" Target="../notesMasters/notesMaster1.xml" Id="Rbb9d5bb427cf4f57"/></Relationships>
</file>

<file path=ppt/notesSlides/_rels/methods_notesSlide32.xml.rels><?xml version='1.0' encoding='UTF-8' standalone='yes'?>
<Relationships xmlns="http://schemas.openxmlformats.org/package/2006/relationships"><Relationship Type="http://schemas.openxmlformats.org/officeDocument/2006/relationships/slide" Target="../slides/methods_slide32.xml" Id="R25686aee3d844953"/><Relationship Type="http://schemas.openxmlformats.org/officeDocument/2006/relationships/notesMaster" Target="../notesMasters/notesMaster1.xml" Id="R626c0f0e03604661"/></Relationships>
</file>

<file path=ppt/notesSlides/_rels/methods_notesSlide33.xml.rels><?xml version='1.0' encoding='UTF-8' standalone='yes'?>
<Relationships xmlns="http://schemas.openxmlformats.org/package/2006/relationships"><Relationship Type="http://schemas.openxmlformats.org/officeDocument/2006/relationships/slide" Target="../slides/methods_slide33.xml" Id="R86b3384777ad49b7"/><Relationship Type="http://schemas.openxmlformats.org/officeDocument/2006/relationships/notesMaster" Target="../notesMasters/notesMaster1.xml" Id="R3a8f52f8c52a4aa6"/></Relationships>
</file>

<file path=ppt/notesSlides/_rels/methods_notesSlide34.xml.rels><?xml version='1.0' encoding='UTF-8' standalone='yes'?>
<Relationships xmlns="http://schemas.openxmlformats.org/package/2006/relationships"><Relationship Type="http://schemas.openxmlformats.org/officeDocument/2006/relationships/slide" Target="../slides/methods_slide34.xml" Id="Ra846d59a9f434b6d"/><Relationship Type="http://schemas.openxmlformats.org/officeDocument/2006/relationships/notesMaster" Target="../notesMasters/notesMaster1.xml" Id="R8c677f5071a74f9c"/></Relationships>
</file>

<file path=ppt/notesSlides/_rels/methods_notesSlide35.xml.rels><?xml version='1.0' encoding='UTF-8' standalone='yes'?>
<Relationships xmlns="http://schemas.openxmlformats.org/package/2006/relationships"><Relationship Type="http://schemas.openxmlformats.org/officeDocument/2006/relationships/slide" Target="../slides/methods_slide35.xml" Id="R144d4b8a8b844dd3"/><Relationship Type="http://schemas.openxmlformats.org/officeDocument/2006/relationships/notesMaster" Target="../notesMasters/notesMaster1.xml" Id="Rae81d66758574071"/></Relationships>
</file>

<file path=ppt/notesSlides/_rels/methods_notesSlide36.xml.rels><?xml version='1.0' encoding='UTF-8' standalone='yes'?>
<Relationships xmlns="http://schemas.openxmlformats.org/package/2006/relationships"><Relationship Type="http://schemas.openxmlformats.org/officeDocument/2006/relationships/slide" Target="../slides/methods_slide36.xml" Id="Re683f5b3bf7549ef"/><Relationship Type="http://schemas.openxmlformats.org/officeDocument/2006/relationships/notesMaster" Target="../notesMasters/notesMaster1.xml" Id="R7d53ae736c6547e3"/></Relationships>
</file>

<file path=ppt/notesSlides/_rels/methods_notesSlide37.xml.rels><?xml version='1.0' encoding='UTF-8' standalone='yes'?>
<Relationships xmlns="http://schemas.openxmlformats.org/package/2006/relationships"><Relationship Type="http://schemas.openxmlformats.org/officeDocument/2006/relationships/slide" Target="../slides/methods_slide37.xml" Id="R7ee15070ffc144ba"/><Relationship Type="http://schemas.openxmlformats.org/officeDocument/2006/relationships/notesMaster" Target="../notesMasters/notesMaster1.xml" Id="R7c74d040090d448f"/></Relationships>
</file>

<file path=ppt/notesSlides/_rels/methods_notesSlide38.xml.rels><?xml version='1.0' encoding='UTF-8' standalone='yes'?>
<Relationships xmlns="http://schemas.openxmlformats.org/package/2006/relationships"><Relationship Type="http://schemas.openxmlformats.org/officeDocument/2006/relationships/slide" Target="../slides/methods_slide38.xml" Id="R9486c163b977470c"/><Relationship Type="http://schemas.openxmlformats.org/officeDocument/2006/relationships/notesMaster" Target="../notesMasters/notesMaster1.xml" Id="R8775f5a30ead473b"/></Relationships>
</file>

<file path=ppt/notesSlides/_rels/methods_notesSlide39.xml.rels><?xml version='1.0' encoding='UTF-8' standalone='yes'?>
<Relationships xmlns="http://schemas.openxmlformats.org/package/2006/relationships"><Relationship Type="http://schemas.openxmlformats.org/officeDocument/2006/relationships/slide" Target="../slides/methods_slide39.xml" Id="R26127a5ebbe64107"/><Relationship Type="http://schemas.openxmlformats.org/officeDocument/2006/relationships/notesMaster" Target="../notesMasters/notesMaster1.xml" Id="R703ed6ff359144d9"/></Relationships>
</file>

<file path=ppt/notesSlides/_rels/methods_notesSlide40.xml.rels><?xml version='1.0' encoding='UTF-8' standalone='yes'?>
<Relationships xmlns="http://schemas.openxmlformats.org/package/2006/relationships"><Relationship Type="http://schemas.openxmlformats.org/officeDocument/2006/relationships/slide" Target="../slides/methods_slide40.xml" Id="Ra1c748bf4f6b4e9c"/><Relationship Type="http://schemas.openxmlformats.org/officeDocument/2006/relationships/notesMaster" Target="../notesMasters/notesMaster1.xml" Id="R7749ea20e59a40ab"/></Relationships>
</file>

<file path=ppt/notesSlides/_rels/methods_notesSlide41.xml.rels><?xml version='1.0' encoding='UTF-8' standalone='yes'?>
<Relationships xmlns="http://schemas.openxmlformats.org/package/2006/relationships"><Relationship Type="http://schemas.openxmlformats.org/officeDocument/2006/relationships/slide" Target="../slides/methods_slide41.xml" Id="R57b0bc608e6348ba"/><Relationship Type="http://schemas.openxmlformats.org/officeDocument/2006/relationships/notesMaster" Target="../notesMasters/notesMaster1.xml" Id="R1e72aa0f2c624167"/></Relationships>
</file>

<file path=ppt/notesSlides/_rels/methods_notesSlide42.xml.rels><?xml version='1.0' encoding='UTF-8' standalone='yes'?>
<Relationships xmlns="http://schemas.openxmlformats.org/package/2006/relationships"><Relationship Type="http://schemas.openxmlformats.org/officeDocument/2006/relationships/slide" Target="../slides/methods_slide42.xml" Id="Rf698ab488abc412f"/><Relationship Type="http://schemas.openxmlformats.org/officeDocument/2006/relationships/notesMaster" Target="../notesMasters/notesMaster1.xml" Id="R2ae095afbbcd445b"/></Relationships>
</file>

<file path=ppt/notesSlides/_rels/notesSlide1.xml.rels>&#65279;<?xml version="1.0" encoding="utf-8"?><Relationships xmlns="http://schemas.openxmlformats.org/package/2006/relationships"><Relationship Type="http://schemas.openxmlformats.org/officeDocument/2006/relationships/slide" Target="/ppt/slides/slide1.xml" Id="Rf2b1281bfa7b45ef" /><Relationship Type="http://schemas.openxmlformats.org/officeDocument/2006/relationships/notesMaster" Target="/ppt/notesMasters/notesMaster1.xml" Id="Rb2a691c2ba8348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a2e6d117e04f42" /><Relationship Type="http://schemas.openxmlformats.org/officeDocument/2006/relationships/notesMaster" Target="/ppt/notesMasters/notesMaster1.xml" Id="R8293baa5ddd041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b652ac645144b5" /><Relationship Type="http://schemas.openxmlformats.org/officeDocument/2006/relationships/notesMaster" Target="/ppt/notesMasters/notesMaster1.xml" Id="Rc09e3da7f6e045dc" /></Relationships>
</file>

<file path=ppt/notesSlides/c_positioned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Only the input BPFs are bypassed. The three branches remain separate, and their LO frequencies, IF BPFs, 20 kHz demodulating carriers and gains remain unchanged. Each first mixer now receives the full transmitted sum rather than a single selected channel.</ns0:t>
            </ns0:r>
          </ns0:p>
          <ns1:p xmlns:ns1="http://schemas.openxmlformats.org/drawingml/2006/main">
            <ns1:r>
              <ns1:t>Assume real independent messages, ideal zero-phase unity-gain filters and synchronized oscillators. Rectangles indicate occupied bands.</ns1:t>
            </ns1:r>
          </ns1:p>
          <ns2:p xmlns:ns2="http://schemas.openxmlformats.org/drawingml/2006/main">
            <ns2:r>
              <ns2:t>Reference: Note 5, p. 19.</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_positioned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first mixer in each branch receives s(t), containing all three channels. Its output is denoted v'_k(t). The prime distinguishes this input-BPF-bypass case from the selected-channel case. Product-to-sum expansion gives one sum-frequency and one difference-frequency contribution from every channel.</ns0:t>
            </ns0:r>
          </ns0:p>
          <ns1:p xmlns:ns1="http://schemas.openxmlformats.org/drawingml/2006/main">
            <ns1:r>
              <ns1:t>References: Note 5, pp. 11 and 19.</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_positioned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For every receiver branch, compare each channel's difference frequency with the 20 kHz IF. Differences of +20 or -20 kHz reach the same IF bands because cos(-x) = cos(x). Branch 1 retains message 1; branch 2 retains messages 1 and 2; branch 3 retains messages 2 and 3.</ns0:t>
            </ns0:r>
          </ns0:p>
          <ns1:p xmlns:ns1="http://schemas.openxmlformats.org/drawingml/2006/main">
            <ns1:r>
              <ns1:t>Reference: Note 5, p. 19.</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_positioned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IF BPF outputs are internal receiver signals, not the transmitted signal. Their message factors are m_1(t), m_1(t) + m_2(t), and m_2(t) + m_3(t), respectively, on a common 20 kHz carrier in separate branches. Contributions occupying the same IF band cannot be separated by the IF BPF.</ns0:t>
            </ns0:r>
          </ns0:p>
          <ns1:p xmlns:ns1="http://schemas.openxmlformats.org/drawingml/2006/main">
            <ns1:r>
              <ns1:t>Reference: Note 5, p. 19.</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_positioned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u'_k(t) denotes the output of the second mixer, immediately before the LPF. Coherent mixing at 20 kHz produces a baseband term and a 40 kHz term. The 5 kHz LPF removes the latter. The recovered outputs are m_1(t), m_1(t) + m_2(t), and m_2(t) + m_3(t). Only branch 1 is free of interfering messages in this example.</ns0:t>
            </ns0:r>
          </ns0:p>
          <ns1:p xmlns:ns1="http://schemas.openxmlformats.org/drawingml/2006/main">
            <ns1:r>
              <ns1:t>References: Note 4, pp. 6-7; Note 5, p. 19.</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dm_open_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AM, PM, FM and PAM specify how a message forms a signal. FDM combines multiple signals in separate frequency bands for transmission through a shared channel. FDM is multiplexing and is used with a suitable modulation method.</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dm_open_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Both diagrams use the same available frequency range and the same individual signal bandwidth. Ten channels are an illustrative allocation, not a universal bandwidth ratio. Only positive frequencies are shown; real signals also have conjugate negative-frequency components. Small guard gaps are schematic.</ns0:t>
            </ns0:r>
          </ns0:p>
          <ns1:p xmlns:ns1="http://schemas.openxmlformats.org/drawingml/2006/main">
            <ns1:r>
              <ns1:t>FDM-AM, FDM-PM, FDM-FM and FDM-PAM indicate FDM used with the corresponding modulation method. PAM requires suitable pulse shaping, bandlimiting and frequency placement before assigning separate frequency bands.</ns1:t>
            </ns1:r>
          </ns1:p>
          <ns2:p xmlns:ns2="http://schemas.openxmlformats.org/drawingml/2006/main">
            <ns2:r>
              <ns2:t>Source: Note 5, pp. 2-8.</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raming_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raming_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raming_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loop_exercise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Each of the three messages has bandwidth 5 kHz; 5 kHz is not a combined allocation shared by all three. The signal path is m_1,m_2,m_3 -&gt; s_1,s_2,s_3 -&gt; transmitted sum s -&gt; separately selected signals -&gt; recovered messages. The three receiver branches operate separately, even though they use the same IF.</ns0:t>
            </ns0:r>
          </ns0:p>
          <ns1:p xmlns:ns1="http://schemas.openxmlformats.org/drawingml/2006/main">
            <ns1:r>
              <ns1:t>Assume an ideal noiseless unit-gain channel, real independent messages, ideal zero-phase unity-gain filters and synchronized oscillators. Rectangles indicate occupied frequency bands, not spectral amplitudes.</ns1:t>
            </ns1:r>
          </ns1:p>
          <ns2:p xmlns:ns2="http://schemas.openxmlformats.org/drawingml/2006/main">
            <ns2:r>
              <ns2:t>References: Note 4, pp. 3 and 6-7; Note 5, pp. 4-6, 11, 15-16 and 19.</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loop_exercise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Each channel is a DSB-SC signal s_k(t) = m_k(t) cos(2 pi f_c,k t), with A_c = 1. The transmitted signal is s(t) = s_1(t) + s_2(t) + s_3(t). The carriers are 80, 120 and 160 kHz.</ns0:t>
            </ns0:r>
          </ns0:p>
          <ns1:p xmlns:ns1="http://schemas.openxmlformats.org/drawingml/2006/main">
            <ns1:r>
              <ns1:t>References: Note 4, pp. 3 and 6-7; Note 5, pp. 4-6.</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loop_exercise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Every shifted spectral copy has half-width W = 5 kHz. The positive-frequency channel bands are [75,85], [115,125] and [155,165] kHz, with corresponding negative-frequency bands. Each channel occupies 10 kHz on the positive-frequency axis; adjacent bands have a 30 kHz gap. Rectangles indicate support, not the actual spectral shape or amplitude.</ns0:t>
            </ns0:r>
          </ns0:p>
          <ns1:p xmlns:ns1="http://schemas.openxmlformats.org/drawingml/2006/main">
            <ns1:r>
              <ns1:t>References: Note 4, pp. 3 and 6-7; Note 5, pp. 4-6.</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loop_exercise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receiver splits the transmitted sum into three independent branches. Each branch selects its assigned channel before translating it to the common 20 kHz IF. The three IF outputs are not added together. The expanded diagram shows branch 2.</ns0:t>
            </ns0:r>
          </ns0:p>
          <ns1:p xmlns:ns1="http://schemas.openxmlformats.org/drawingml/2006/main">
            <ns1:r>
              <ns1:t>Assume synchronized 2 cos mixers and ideal zero-phase unity-gain filters.</ns1:t>
            </ns1:r>
          </ns1:p>
          <ns2:p xmlns:ns2="http://schemas.openxmlformats.org/drawingml/2006/main">
            <ns2:r>
              <ns2:t>References: Note 5, pp. 11 and 15-16.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loop_exercise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Each input BPF selects both signed bands of its assigned channel: [75,85] and [-85,-75] kHz; [115,125] and [-125,-115] kHz; or [155,165] and [-165,-155] kHz. The outputs belong to separate receiver branches.</ns0:t>
            </ns0:r>
          </ns0:p>
          <ns1:p xmlns:ns1="http://schemas.openxmlformats.org/drawingml/2006/main">
            <ns1:r>
              <ns1:t>References: Note 5, pp. 4-6 and 15-16.</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loop_exercise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Low-side LO frequencies satisfy f_LO,k = f_c,k - 20 kHz, giving 60, 100 and 140 kHz. Each IF BPF passes [15,25] and [-25,-15] kHz. In branch 2, mixing the 120 kHz input with the 100 kHz LO produces components centered at 20 and 220 kHz.</ns0:t>
            </ns0:r>
          </ns0:p>
          <ns1:p xmlns:ns1="http://schemas.openxmlformats.org/drawingml/2006/main">
            <ns1:r>
              <ns1:t>References: Note 5, pp. 11 and 15-16.</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loop_exercise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Multiplication by 2 cos produces a difference-frequency term and a sum-frequency term, each with message amplitude m_k(t). The IF BPF retains the 20 kHz term and rejects the terms centered at 140, 220 or 300 kHz. Its output is m_k(t) cos(2 pi 20,000 t).</ns0:t>
            </ns0:r>
          </ns0:p>
          <ns1:p xmlns:ns1="http://schemas.openxmlformats.org/drawingml/2006/main">
            <ns1:r>
              <ns1:t>References: Note 5, pp. 11 and 15-16.</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loop_exercise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Multiplying the IF signal by a synchronized 2 cos(2 pi 20,000 t) gives m_k(t) plus a term centered at 40 kHz. The latter occupies [35,45] and [-45,-35] kHz. A unity-gain LPF with cutoff 5 kHz rejects it and recovers m_k(t).</ns0:t>
            </ns0:r>
          </ns0:p>
          <ns1:p xmlns:ns1="http://schemas.openxmlformats.org/drawingml/2006/main">
            <ns1:r>
              <ns1:t>References: Note 4, pp. 6-7; Note 5, pp. 15-16.</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Three messages are separately modulated, added to form the transmitted signal, separated by BPFs, and demodulated. Only three of the preceding diagram's channels are included in the displayed sum. The frequency positions and spectral shapes are illustrative.</ns0:t>
            </ns0:r>
          </ns0:p>
          <ns1:p xmlns:ns1="http://schemas.openxmlformats.org/drawingml/2006/main">
            <ns1:r>
              <ns1:t>The DSB-SC example uses s_k(t) = m_k(t) cos(2 pi f_c,k t). Multiplication by a synchronized 2 cos(2 pi f_c,k t), followed by a unity-gain LPF, recovers m_k(t). Both signed frequency components contribute to the recovered message. An ideal noiseless unit-gain channel is assumed.</ns1:t>
            </ns1:r>
          </ns1:p>
          <ns2:p xmlns:ns2="http://schemas.openxmlformats.org/drawingml/2006/main">
            <ns2:r>
              <ns2:t>Sources: Note 5, pp. 2-6 and 9-19; Note 4, pp. 3 and 6-7.</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Here A_c = 1, and the receiver carrier matches the transmitter in frequency and phase. Multiplication by cos creates two shifted spectral copies, each scaled by 1/2. Coherent demodulation with 2 cos gives a unit-gain baseband term and two high-frequency copies scaled by 1/2; the LPF retains the baseband term.</ns0:t>
            </ns0:r>
          </ns0:p>
          <ns1:p xmlns:ns1="http://schemas.openxmlformats.org/drawingml/2006/main">
            <ns1:r>
              <ns1:t>Sources: Note 4, pp. 3-7; Tutorial 2, pp. 9 and 13-15.</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Here A_c = 1, and the receiver carrier matches the transmitter in frequency and phase. Multiplication by cos creates two shifted spectral copies, each scaled by 1/2. Coherent demodulation with 2 cos gives a unit-gain baseband term and two high-frequency copies scaled by 1/2; the LPF retains the baseband term.</ns0:t>
            </ns0:r>
          </ns0:p>
          <ns1:p xmlns:ns1="http://schemas.openxmlformats.org/drawingml/2006/main">
            <ns1:r>
              <ns1:t>Sources: Note 4, pp. 3-7; Tutorial 2, pp. 9 and 13-15.</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DSB-SC is the modulation used in this example, not a restriction of FDM. The real transmitted signal has conjugate positive- and negative-frequency bands. W denotes each message's baseband bandwidth. The filters are ideal, the recovery carriers are synchronized, and the gains are known.</ns0:t>
            </ns0:r>
          </ns0:p>
          <ns1:p xmlns:ns1="http://schemas.openxmlformats.org/drawingml/2006/main">
            <ns1:r>
              <ns1:t>Sources: Note 5, pp. 2-6; Note 4, pp. 6-7.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DSB-SC is the modulation used in this example, not a restriction of FDM. The real transmitted signal has conjugate positive- and negative-frequency bands. W denotes each message's baseband bandwidth. The filters are ideal, the recovery carriers are synchronized, and the gains are known.</ns0:t>
            </ns0:r>
          </ns0:p>
          <ns1:p xmlns:ns1="http://schemas.openxmlformats.org/drawingml/2006/main">
            <ns1:r>
              <ns1:t>Sources: Note 5, pp. 2-6; Note 4, pp. 6-7.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Each message has bandwidth W. A real-signal BPF selects both the positive-frequency band and its negative-frequency counterpart. Coherent recovery uses a synchronized mixer with amplitude 2/A_c to normalize the message gain. Spectral heights in the diagrams are schematic.</ns0:t>
            </ns0:r>
          </ns0:p>
          <ns1:p xmlns:ns1="http://schemas.openxmlformats.org/drawingml/2006/main">
            <ns1:r>
              <ns1:t>Sources: Note 5, pp. 2-6; Note 4, pp. 6-7.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Each message has bandwidth W. A real-signal BPF selects both the positive-frequency band and its negative-frequency counterpart. Coherent recovery uses a synchronized mixer with amplitude 2/A_c to normalize the message gain. Spectral heights in the diagrams are schematic.</ns0:t>
            </ns0:r>
          </ns0:p>
          <ns1:p xmlns:ns1="http://schemas.openxmlformats.org/drawingml/2006/main">
            <ns1:r>
              <ns1:t>Sources: Note 5, pp. 2-6; Note 4, pp. 6-7.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Frequency translation changes the carrier while preserving m(t). Multiplication by 2 cos(2 pi f_l t) produces components at f_1 - f_l and f_1 + f_l. A BPF selects the desired component. The illustrative frequency values are f_1 = 4, f_l = 2 and W = 0.5.</ns0:t>
            </ns0:r>
          </ns0:p>
          <ns1:p xmlns:ns1="http://schemas.openxmlformats.org/drawingml/2006/main">
            <ns1:r>
              <ns1:t>Source: Note 5, pp. 9-14.</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Selecting the sum-frequency band is an alternative to selecting the difference-frequency band, not an additional step after it. The two candidate output bands must be separated so a BPF can isolate one. In the illustrated case, f_1 = 4, f_l = 2 and W = 0.5; in particular, f_l &gt; W.</ns0:t>
            </ns0:r>
          </ns0:p>
          <ns1:p xmlns:ns1="http://schemas.openxmlformats.org/drawingml/2006/main">
            <ns1:r>
              <ns1:t>Source: Note 5, pp. 9-14.</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For low-side mixing, f_l is below the input carrier. The mixer produces sum- and difference-frequency components. The BPF passes both signed bands of the desired component and rejects the unwanted component.</ns0:t>
            </ns0:r>
          </ns0:p>
          <ns1:p xmlns:ns1="http://schemas.openxmlformats.org/drawingml/2006/main">
            <ns1:r>
              <ns1:t>Source: Note 5, pp. 9-14.</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For low-side mixing, f_l is below the input carrier. The mixer produces sum- and difference-frequency components. The BPF passes both signed bands of the desired component and rejects the unwanted component.</ns0:t>
            </ns0:r>
          </ns0:p>
          <ns1:p xmlns:ns1="http://schemas.openxmlformats.org/drawingml/2006/main">
            <ns1:r>
              <ns1:t>Source: Note 5, pp. 9-14.</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desired message m(t) and interfering message g(t) each have bandwidth 4 kHz. Their carrier frequencies are 100 and 60 kHz. Mixing with an 80 kHz LO sends both difference-frequency components to the same 20 kHz IF, where they add. The IF BPF rejects the sum-frequency components at 180 and 140 kHz but cannot separate contributions already overlapping at IF. An input BPF can reject the interfering signal before mixing.</ns0:t>
            </ns0:r>
          </ns0:p>
          <ns1:p xmlns:ns1="http://schemas.openxmlformats.org/drawingml/2006/main">
            <ns1:r>
              <ns1:t>The image-frequency signal is a different transmitted signal, not the negative-frequency counterpart of the desired real signal.</ns1:t>
            </ns1:r>
          </ns1:p>
          <ns2:p xmlns:ns2="http://schemas.openxmlformats.org/drawingml/2006/main">
            <ns2:r>
              <ns2:t>Source: Note 5, pp. 18-19.</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desired message m(t) and interfering message g(t) each have bandwidth 4 kHz. Their carrier frequencies are 100 and 60 kHz. Mixing with an 80 kHz LO sends both difference-frequency components to the same 20 kHz IF, where they add. The IF BPF rejects the sum-frequency components at 180 and 140 kHz but cannot separate contributions already overlapping at IF. An input BPF can reject the interfering signal before mixing.</ns0:t>
            </ns0:r>
          </ns0:p>
          <ns1:p xmlns:ns1="http://schemas.openxmlformats.org/drawingml/2006/main">
            <ns1:r>
              <ns1:t>The image-frequency signal is a different transmitted signal, not the negative-frequency counterpart of the desired real signal.</ns1:t>
            </ns1:r>
          </ns1:p>
          <ns2:p xmlns:ns2="http://schemas.openxmlformats.org/drawingml/2006/main">
            <ns2:r>
              <ns2:t>Source: Note 5, pp. 18-19.</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RF identifies the received radio-frequency signal; IF identifies the intermediate-frequency signal inside the receiver. With low-side mixing, f_LO = f_c - f_IF. The IF signal remains modulated: coherent demodulation and low-pass filtering are still required to recover m(t). Gains are normalized in the diagram.</ns0:t>
            </ns0:r>
          </ns0:p>
          <ns1:p xmlns:ns1="http://schemas.openxmlformats.org/drawingml/2006/main">
            <ns1:r>
              <ns1:t>Source: Note 5, pp. 15-17.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RF identifies the received radio-frequency signal; IF identifies the intermediate-frequency signal inside the receiver. With low-side mixing, f_LO = f_c - f_IF. The IF signal remains modulated: coherent demodulation and low-pass filtering are still required to recover m(t). Gains are normalized in the diagram.</ns0:t>
            </ns0:r>
          </ns0:p>
          <ns1:p xmlns:ns1="http://schemas.openxmlformats.org/drawingml/2006/main">
            <ns1:r>
              <ns1:t>Source: Note 5, pp. 15-17.</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For low-side mixing, f_LO = f_c - f_IF. An input carrier equally far below the LO also produces the same IF, so f_image = f_c - 2 f_IF in the illustrated cases. With f_c = 100 kHz, IF values of 20 and 30 kHz give image carriers of 60 and 40 kHz.</ns0:t>
            </ns0:r>
          </ns0:p>
          <ns1:p xmlns:ns1="http://schemas.openxmlformats.org/drawingml/2006/main">
            <ns1:r>
              <ns1:t>This diagram shows positive carrier centers; negative-frequency bands are their counterparts. The message bandwidth is W = 4 kHz. Sum-frequency products are rejected by the IF BPF.</ns1:t>
            </ns1:r>
          </ns1:p>
          <ns2:p xmlns:ns2="http://schemas.openxmlformats.org/drawingml/2006/main">
            <ns2:r>
              <ns2:t>Source: Note 5, pp. 18-19.</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input BPF acts before the mixer. The upper plots show signal spectra; the lower plots show the input BPF magnitude response. Only positive frequencies are shown; the negative-frequency bands and filter response are mirrored.</ns0:t>
            </ns0:r>
          </ns0:p>
          <ns1:p xmlns:ns1="http://schemas.openxmlformats.org/drawingml/2006/main">
            <ns1:r>
              <ns1:t>For W = 4 kHz, each DSB band extends 4 kHz on either side of its carrier. The desired band begins at 100 - 4 = 96 kHz. The image bands end at 60 + 4 = 64 kHz or 40 + 4 = 44 kHz, leaving gaps of 32 or 52 kHz. The larger gap permits a less steep input-filter transition.</ns1:t>
            </ns1:r>
          </ns1:p>
          <ns2:p xmlns:ns2="http://schemas.openxmlformats.org/drawingml/2006/main">
            <ns2:r>
              <ns2:t>The straight-line filter responses are schematic. Easier image rejection is one consideration in choosing IF, not a reason to maximize IF without regard to other constraints.</ns2:t>
            </ns2:r>
          </ns2:p>
          <ns3:p xmlns:ns3="http://schemas.openxmlformats.org/drawingml/2006/main">
            <ns3:r>
              <ns3:t>Source: Note 5, pp. 18-19.</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available positive-frequency allocation is 800-820 MHz, and each message has bandwidth 10 kHz. Assume ideal filters and no guard bands. Compare the number of independent messages carried by DSB-SC, SSB and QAM; two quadrature messages can share one QAM channel.</ns0:t>
            </ns0:r>
          </ns0:p>
          <ns1:p xmlns:ns1="http://schemas.openxmlformats.org/drawingml/2006/main">
            <ns1:r>
              <ns1:t>Sources: Note 5, pp. 7-8; past Tutorial 5 with solutions, Exercise 2, pp. 11-13.</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FDM transmission combines separately frequency-positioned signals. Recovery selects the desired channel with a BPF, translates or coherently demodulates it, and applies an LPF to recover the message. FDM can be used with different suitable modulation methods.</ns0:t>
            </ns0:r>
          </ns0:p>
          <ns1:p xmlns:ns1="http://schemas.openxmlformats.org/drawingml/2006/main">
            <ns1:r>
              <ns1:t>Source: Note 5, pp. 2-6 and 9-19.</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coherent receiver matches the carrier frequency and phase; A_c and A'_c are positive and known. The illustration uses M(f) = max(1 - |f|/W, 0), A_c = A'_c = 2, and f_c = 3W. Frequency and amplitude scales are shared across the spectra. The ideal LPF has unity gain on |f| &lt;= W; the equations retain the carrier-dependent gain factors. For W = 1, the corresponding time-domain example is sinc-squared with the normalized sinc convention.</ns0:t>
            </ns0:r>
          </ns0:p>
          <ns1:p xmlns:ns1="http://schemas.openxmlformats.org/drawingml/2006/main">
            <ns1:r>
              <ns1:t>Sources: Note 4, pp. 3-7; Tutorial 2, pp. 9 and 13-15.</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coherent receiver matches the carrier frequency and phase; A_c and A'_c are positive and known. The illustration uses M(f) = max(1 - |f|/W, 0), A_c = A'_c = 2, and f_c = 3W. Frequency and amplitude scales are shared across the spectra. The ideal LPF has unity gain on |f| &lt;= W; the equations retain the carrier-dependent gain factors. For W = 1, the corresponding time-domain example is sinc-squared with the normalized sinc convention.</ns0:t>
            </ns0:r>
          </ns0:p>
          <ns1:p xmlns:ns1="http://schemas.openxmlformats.org/drawingml/2006/main">
            <ns1:r>
              <ns1:t>Sources: Note 4, pp. 3-7; Tutorial 2, pp. 9 and 13-15.</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coherent receiver matches the carrier frequency and phase; A_c and A'_c are positive and known. The illustration uses M(f) = max(1 - |f|/W, 0), A_c = A'_c = 2, and f_c = 3W. Frequency and amplitude scales are shared across the spectra. The ideal LPF has unity gain on |f| &lt;= W; the equations retain the carrier-dependent gain factors. For W = 1, the corresponding time-domain example is sinc-squared with the normalized sinc convention.</ns0:t>
            </ns0:r>
          </ns0:p>
          <ns1:p xmlns:ns1="http://schemas.openxmlformats.org/drawingml/2006/main">
            <ns1:r>
              <ns1:t>Sources: Note 4, pp. 3-7; Tutorial 2, pp. 9 and 13-15.</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coherent receiver matches the carrier frequency and phase; A_c and A'_c are positive and known. The illustration uses M(f) = max(1 - |f|/W, 0), A_c = A'_c = 2, and f_c = 3W. Frequency and amplitude scales are shared across the spectra. The ideal LPF has unity gain on |f| &lt;= W; the equations retain the carrier-dependent gain factors. For W = 1, the corresponding time-domain example is sinc-squared with the normalized sinc convention.</ns0:t>
            </ns0:r>
          </ns0:p>
          <ns1:p xmlns:ns1="http://schemas.openxmlformats.org/drawingml/2006/main">
            <ns1:r>
              <ns1:t>Sources: Note 4, pp. 3-7; Tutorial 2, pp. 9 and 13-15.</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illustration uses m(t) = sin(2 pi t/T), k_a = 0.6, A_c = 1 and f_c = 16/T. An ideal envelope detector follows A_c[1 + k_a m(t)] when 1 + k_a m(t) &gt;= 0. A practical RC detector additionally requires appropriate time constants. Recovering m(t) requires subtracting the known DC term and dividing by the known nonzero scale A_c k_a.</ns0:t>
            </ns0:r>
          </ns0:p>
          <ns1:p xmlns:ns1="http://schemas.openxmlformats.org/drawingml/2006/main">
            <ns1:r>
              <ns1:t>Sources: Note 3, pp. 4, 7-8 and 13, and its envelope-detector section; Tutorial 2, pp. 5 and 8.</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illustration uses m(t) = sin(2 pi t/T), k_a = 0.6, A_c = 1 and f_c = 16/T. An ideal envelope detector follows A_c[1 + k_a m(t)] when 1 + k_a m(t) &gt;= 0. A practical RC detector additionally requires appropriate time constants. Recovering m(t) requires subtracting the known DC term and dividing by the known nonzero scale A_c k_a.</ns0:t>
            </ns0:r>
          </ns0:p>
          <ns1:p xmlns:ns1="http://schemas.openxmlformats.org/drawingml/2006/main">
            <ns1:r>
              <ns1:t>Sources: Note 3, pp. 4, 7-8 and 13, and its envelope-detector section; Tutorial 2, pp. 5 and 8.</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illustration uses m(t) = sin(2 pi t/T), k_a = 0.6, A_c = 1 and f_c = 16/T. An ideal envelope detector follows A_c[1 + k_a m(t)] when 1 + k_a m(t) &gt;= 0. A practical RC detector additionally requires appropriate time constants. Recovering m(t) requires subtracting the known DC term and dividing by the known nonzero scale A_c k_a.</ns0:t>
            </ns0:r>
          </ns0:p>
          <ns1:p xmlns:ns1="http://schemas.openxmlformats.org/drawingml/2006/main">
            <ns1:r>
              <ns1:t>Sources: Note 3, pp. 4, 7-8 and 13, and its envelope-detector section; Tutorial 2, pp. 5 and 8.</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illustration uses m(t) = sin(2 pi t/T), k_a = 0.6, A_c = 1 and f_c = 16/T. An ideal envelope detector follows A_c[1 + k_a m(t)] when 1 + k_a m(t) &gt;= 0. A practical RC detector additionally requires appropriate time constants. Recovering m(t) requires subtracting the known DC term and dividing by the known nonzero scale A_c k_a.</ns0:t>
            </ns0:r>
          </ns0:p>
          <ns1:p xmlns:ns1="http://schemas.openxmlformats.org/drawingml/2006/main">
            <ns1:r>
              <ns1:t>Sources: Note 3, pp. 4, 7-8 and 13, and its envelope-detector section; Tutorial 2, pp. 5 and 8.</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coherent receiver matches the carrier frequency and phase; A_c and A'_c are positive and known. The illustration uses M(f) = max(1 - |f|/W, 0), A_c = A'_c = 2, and f_c = 3W. Frequency and amplitude scales are shared across the spectra. The ideal LPF has unity gain on |f| &lt;= W; the equations retain the carrier-dependent gain factors. For W = 1, the corresponding time-domain example is sinc-squared with the normalized sinc convention.</ns0:t>
            </ns0:r>
          </ns0:p>
          <ns1:p xmlns:ns1="http://schemas.openxmlformats.org/drawingml/2006/main">
            <ns1:r>
              <ns1:t>Sources: Note 4, pp. 3-7; Tutorial 2, pp. 9 and 13-15.</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ideal USB filter passes [f_c, f_c + W] and [-f_c - W, -f_c]. Negative frequencies are retained as required for a real signal. Coherent demodulation shifts the two retained spectral halves back to baseband, where they rejoin. The LPF output has message gain A_c A'_c/4; dividing by this known gain recovers m(t).</ns0:t>
            </ns0:r>
          </ns0:p>
          <ns1:p xmlns:ns1="http://schemas.openxmlformats.org/drawingml/2006/main">
            <ns1:r>
              <ns1:t>The example has no DC impulse, so the filter convention at a single band-edge frequency does not affect recovery. H_USB denotes the ideal USB filter.</ns1:t>
            </ns1:r>
          </ns1:p>
          <ns2:p xmlns:ns2="http://schemas.openxmlformats.org/drawingml/2006/main">
            <ns2:r>
              <ns2:t>Sources: Note 4, pp. 11-15; Tutorial 2, pp. 10-12.</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ideal USB filter passes [f_c, f_c + W] and [-f_c - W, -f_c]. Negative frequencies are retained as required for a real signal. Coherent demodulation shifts the two retained spectral halves back to baseband, where they rejoin. The LPF output has message gain A_c A'_c/4; dividing by this known gain recovers m(t).</ns0:t>
            </ns0:r>
          </ns0:p>
          <ns1:p xmlns:ns1="http://schemas.openxmlformats.org/drawingml/2006/main">
            <ns1:r>
              <ns1:t>The example has no DC impulse, so the filter convention at a single band-edge frequency does not affect recovery. H_USB denotes the ideal USB filter.</ns1:t>
            </ns1:r>
          </ns1:p>
          <ns2:p xmlns:ns2="http://schemas.openxmlformats.org/drawingml/2006/main">
            <ns2:r>
              <ns2:t>Sources: Note 4, pp. 11-15; Tutorial 2, pp. 10-12.</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ideal USB filter passes [f_c, f_c + W] and [-f_c - W, -f_c]. Negative frequencies are retained as required for a real signal. Coherent demodulation shifts the two retained spectral halves back to baseband, where they rejoin. The LPF output has message gain A_c A'_c/4; dividing by this known gain recovers m(t).</ns0:t>
            </ns0:r>
          </ns0:p>
          <ns1:p xmlns:ns1="http://schemas.openxmlformats.org/drawingml/2006/main">
            <ns1:r>
              <ns1:t>The example has no DC impulse, so the filter convention at a single band-edge frequency does not affect recovery. H_USB denotes the ideal USB filter.</ns1:t>
            </ns1:r>
          </ns1:p>
          <ns2:p xmlns:ns2="http://schemas.openxmlformats.org/drawingml/2006/main">
            <ns2:r>
              <ns2:t>Sources: Note 4, pp. 11-15; Tutorial 2, pp. 10-12.</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W = 5 kHz and f_c = 100 kHz. The diagrams use local carrier-offset axes to show both signed bands; the omitted frequency gaps are indicated. Rectangles show occupied frequency ranges, not spectral amplitudes. Transmission bandwidth is measured over the positive-frequency channel band, not by adding its negative-frequency counterpart.</ns0:t>
            </ns0:r>
          </ns0:p>
          <ns1:p xmlns:ns1="http://schemas.openxmlformats.org/drawingml/2006/main">
            <ns1:r>
              <ns1:t>Sources: Tutorial 2, pp. 13-15; Note 4, pp. 11-13.</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W = 5 kHz and f_c = 100 kHz. The diagrams use local carrier-offset axes to show both signed bands; the omitted frequency gaps are indicated. Rectangles show occupied frequency ranges, not spectral amplitudes. Transmission bandwidth is measured over the positive-frequency channel band, not by adding its negative-frequency counterpart.</ns0:t>
            </ns0:r>
          </ns0:p>
          <ns1:p xmlns:ns1="http://schemas.openxmlformats.org/drawingml/2006/main">
            <ns1:r>
              <ns1:t>Sources: Tutorial 2, pp. 13-15; Note 4, pp. 11-13.</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QAM uses cosine and sine carriers at the same frequency. With the plus-sine convention shown, synchronized 2 cos and 2 sin mixers produce u_1 and u_2 before the LPFs. The LPF outputs are v_1 = A_c m_1 and v_2 = A_c m_2; divide by the known nonzero A_c to recover the messages.</ns0:t>
            </ns0:r>
          </ns0:p>
          <ns1:p xmlns:ns1="http://schemas.openxmlformats.org/drawingml/2006/main">
            <ns1:r>
              <ns1:t>The real messages have bandwidth W &lt; f_c, and the unity-gain LPFs pass |f| &lt;= W. The messages need not be even. Rectangles show occupied bands, not spectral amplitude or real/imaginary parts.</ns1:t>
            </ns1:r>
          </ns1:p>
          <ns2:p xmlns:ns2="http://schemas.openxmlformats.org/drawingml/2006/main">
            <ns2:r>
              <ns2:t>Sources: Note 4, pp. 16-20; Tutorial 2, p. 16.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QAM uses cosine and sine carriers at the same frequency. With the plus-sine convention shown, synchronized 2 cos and 2 sin mixers produce u_1 and u_2 before the LPFs. The LPF outputs are v_1 = A_c m_1 and v_2 = A_c m_2; divide by the known nonzero A_c to recover the messages.</ns0:t>
            </ns0:r>
          </ns0:p>
          <ns1:p xmlns:ns1="http://schemas.openxmlformats.org/drawingml/2006/main">
            <ns1:r>
              <ns1:t>The real messages have bandwidth W &lt; f_c, and the unity-gain LPFs pass |f| &lt;= W. The messages need not be even. Rectangles show occupied bands, not spectral amplitude or real/imaginary parts.</ns1:t>
            </ns1:r>
          </ns1:p>
          <ns2:p xmlns:ns2="http://schemas.openxmlformats.org/drawingml/2006/main">
            <ns2:r>
              <ns2:t>Sources: Note 4, pp. 16-20; Tutorial 2, p. 16.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QAM uses cosine and sine carriers at the same frequency. With the plus-sine convention shown, synchronized 2 cos and 2 sin mixers produce u_1 and u_2 before the LPFs. The LPF outputs are v_1 = A_c m_1 and v_2 = A_c m_2; divide by the known nonzero A_c to recover the messages.</ns0:t>
            </ns0:r>
          </ns0:p>
          <ns1:p xmlns:ns1="http://schemas.openxmlformats.org/drawingml/2006/main">
            <ns1:r>
              <ns1:t>The real messages have bandwidth W &lt; f_c, and the unity-gain LPFs pass |f| &lt;= W. The messages need not be even. Rectangles show occupied bands, not spectral amplitude or real/imaginary parts.</ns1:t>
            </ns1:r>
          </ns1:p>
          <ns2:p xmlns:ns2="http://schemas.openxmlformats.org/drawingml/2006/main">
            <ns2:r>
              <ns2:t>Sources: Note 4, pp. 16-20; Tutorial 2, p. 16.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After cosine-branch mixing, the baseband term is A_c m_1(t). The other two product terms are centered at +/-2 f_c and lie outside the LPF because 2 f_c - W &gt; W. The LPF therefore produces v_1(t) = A_c m_1(t); division by A_c recovers m_1(t).</ns0:t>
            </ns0:r>
          </ns0:p>
          <ns1:p xmlns:ns1="http://schemas.openxmlformats.org/drawingml/2006/main">
            <ns1:r>
              <ns1:t>The carriers are synchronized, A_c is known and nonzero, and the ideal LPF has unity gain for |f| &lt;= W. Rectangles indicate frequency support, not spectral amplitude.</ns1:t>
            </ns1:r>
          </ns1:p>
          <ns2:p xmlns:ns2="http://schemas.openxmlformats.org/drawingml/2006/main">
            <ns2:r>
              <ns2:t>Sources: Note 4, pp. 16-20; Tutorial 2, p. 16.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After cosine-branch mixing, the baseband term is A_c m_1(t). The other two product terms are centered at +/-2 f_c and lie outside the LPF because 2 f_c - W &gt; W. The LPF therefore produces v_1(t) = A_c m_1(t); division by A_c recovers m_1(t).</ns0:t>
            </ns0:r>
          </ns0:p>
          <ns1:p xmlns:ns1="http://schemas.openxmlformats.org/drawingml/2006/main">
            <ns1:r>
              <ns1:t>The carriers are synchronized, A_c is known and nonzero, and the ideal LPF has unity gain for |f| &lt;= W. Rectangles indicate frequency support, not spectral amplitude.</ns1:t>
            </ns1:r>
          </ns1:p>
          <ns2:p xmlns:ns2="http://schemas.openxmlformats.org/drawingml/2006/main">
            <ns2:r>
              <ns2:t>Sources: Note 4, pp. 16-20; Tutorial 2, p. 16.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For the sine branch, u_2(t) = A_c m_2(t) - A_c m_2(t) cos(4 pi f_c t) + A_c m_1(t) sin(4 pi f_c t). The last two terms lie around +/-2 f_c and are rejected by the LPF when W &lt; f_c. Thus v_2(t) = A_c m_2(t), and division by A_c recovers m_2(t).</ns0:t>
            </ns0:r>
          </ns0:p>
          <ns1:p xmlns:ns1="http://schemas.openxmlformats.org/drawingml/2006/main">
            <ns1:r>
              <ns1:t>Recovery uses a synchronized sine carrier, not a second cosine detector. The LPF is ideal and unity-gain on |f| &lt;= W.</ns1:t>
            </ns1:r>
          </ns1:p>
          <ns2:p xmlns:ns2="http://schemas.openxmlformats.org/drawingml/2006/main">
            <ns2:r>
              <ns2:t>Sources: Note 4, pp. 16-20; Tutorial 2, p. 16.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methods_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For the sine branch, u_2(t) = A_c m_2(t) - A_c m_2(t) cos(4 pi f_c t) + A_c m_1(t) sin(4 pi f_c t). The last two terms lie around +/-2 f_c and are rejected by the LPF when W &lt; f_c. Thus v_2(t) = A_c m_2(t), and division by A_c recovers m_2(t).</ns0:t>
            </ns0:r>
          </ns0:p>
          <ns1:p xmlns:ns1="http://schemas.openxmlformats.org/drawingml/2006/main">
            <ns1:r>
              <ns1:t>Recovery uses a synchronized sine carrier, not a second cosine detector. The LPF is ideal and unity-gain on |f| &lt;= W.</ns1:t>
            </ns1:r>
          </ns1:p>
          <ns2:p xmlns:ns2="http://schemas.openxmlformats.org/drawingml/2006/main">
            <ns2:r>
              <ns2:t>Sources: Note 4, pp. 16-20; Tutorial 2, p. 16.</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complete communication path is m(t) -&gt; s(t) -&gt; r(t) -&gt; recovered m(t). The equality r(t) = s(t) assumes an ideal channel; it is not true for a general channel.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Under the ideal-channel assumption r(t) = s(t), the communication path simplifies to m(t) -&gt; s(t) -&gt; recovered m(t).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For a sinusoidal carrier, the message can control amplitude, phase, or instantaneous frequency. In sampled PAM, message samples control the amplitudes of shifted pulses. These are alternative modulation choices, not consecutive processing stages.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methods_slideLayout1.xml.rels><?xml version='1.0' encoding='UTF-8' standalone='yes'?>
<Relationships xmlns="http://schemas.openxmlformats.org/package/2006/relationships"><Relationship Type="http://schemas.openxmlformats.org/officeDocument/2006/relationships/slideMaster" Target="../slideMasters/methods_slideMaster1.xml" Id="Rb871d85dee314de5"/></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25e161fbcc4f68" /></Relationships>
</file>

<file path=ppt/slideLayouts/_rels/t3_slideLayout1.xml.rels><?xml version='1.0' encoding='UTF-8' standalone='yes'?>
<Relationships xmlns="http://schemas.openxmlformats.org/package/2006/relationships"><Relationship Type="http://schemas.openxmlformats.org/officeDocument/2006/relationships/slideMaster" Target="../slideMasters/t3_slideMaster1.xml" Id="R470a81ecf25b4078"/></Relationships>
</file>

<file path=ppt/slideLayouts/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3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methods_slideMaster1.xml.rels><?xml version='1.0' encoding='UTF-8' standalone='yes'?>
<Relationships xmlns="http://schemas.openxmlformats.org/package/2006/relationships"><Relationship Type="http://schemas.openxmlformats.org/officeDocument/2006/relationships/theme" Target="theme/methods_theme2.xml" Id="R1607b95a764944df"/><Relationship Type="http://schemas.openxmlformats.org/officeDocument/2006/relationships/slideLayout" Target="../slideLayouts/methods_slideLayout1.xml" Id="R6e2dbe7aaf214e86"/></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28f210a4fae04f12" /><Relationship Type="http://schemas.openxmlformats.org/officeDocument/2006/relationships/slideLayout" Target="/ppt/slideLayouts/slideLayout1.xml" Id="R557c2c90296b48a6" /></Relationships>
</file>

<file path=ppt/slideMasters/_rels/t3_slideMaster1.xml.rels><?xml version='1.0' encoding='UTF-8' standalone='yes'?>
<Relationships xmlns="http://schemas.openxmlformats.org/package/2006/relationships"><Relationship Type="http://schemas.openxmlformats.org/officeDocument/2006/relationships/theme" Target="theme/t3_theme2.xml" Id="Rf002fcfc918348fb"/><Relationship Type="http://schemas.openxmlformats.org/officeDocument/2006/relationships/slideLayout" Target="../slideLayouts/t3_slideLayout1.xml" Id="Re4f5c14d33e645f5"/></Relationships>
</file>

<file path=ppt/slideMasters/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3"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7c2c90296b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e4f5c14d33e645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c_positioned_slide1.xml.rels><?xml version='1.0' encoding='UTF-8' standalone='yes'?>
<Relationships xmlns="http://schemas.openxmlformats.org/package/2006/relationships"><Relationship Type="http://schemas.openxmlformats.org/officeDocument/2006/relationships/slideLayout" Target="../slideLayouts/methods_slideLayout1.xml" Id="R45699e8a72d746e5"/><Relationship Type="http://schemas.openxmlformats.org/officeDocument/2006/relationships/image" Target="../media/c_positioned_loop-1-c-intro.gif" Id="R5c39b87475854ca0"/><Relationship Type="http://schemas.openxmlformats.org/officeDocument/2006/relationships/image" Target="../media/c_positioned_image2.png" Id="Rb78a7e641f9c4c21"/><Relationship Type="http://schemas.openxmlformats.org/officeDocument/2006/relationships/image" Target="../media/c_positioned_image3.png" Id="R56eb601241e140d5"/><Relationship Type="http://schemas.openxmlformats.org/officeDocument/2006/relationships/image" Target="../media/c_positioned_image4.png" Id="Rbf4c23912e1a4269"/><Relationship Type="http://schemas.openxmlformats.org/officeDocument/2006/relationships/notesSlide" Target="../notesSlides/c_positioned_notesSlide1.xml" Id="R63cc5a2ed3174f12"/><Relationship Id="rIdVectorexercise_formula_0" Type="http://schemas.openxmlformats.org/officeDocument/2006/relationships/image" Target="../media/c_positioned_exercise_formula_0.svg"/><Relationship Id="rIdVectorexercise_formula_1" Type="http://schemas.openxmlformats.org/officeDocument/2006/relationships/image" Target="../media/c_positioned_exercise_formula_1.svg"/><Relationship Id="rIdVectorexercise_formula_2" Type="http://schemas.openxmlformats.org/officeDocument/2006/relationships/image" Target="../media/c_positioned_exercise_formula_2.svg"/><Relationship Id="rIdExerciseLink0" Type="http://schemas.openxmlformats.org/officeDocument/2006/relationships/slide" Target="methods_slide1.xml"/></Relationships>
</file>

<file path=ppt/slides/_rels/c_positioned_slide2.xml.rels><?xml version='1.0' encoding='UTF-8' standalone='yes'?>
<Relationships xmlns="http://schemas.openxmlformats.org/package/2006/relationships"><Relationship Type="http://schemas.openxmlformats.org/officeDocument/2006/relationships/slideLayout" Target="../slideLayouts/methods_slideLayout1.xml" Id="R3742ee9be63f4f79"/><Relationship Type="http://schemas.openxmlformats.org/officeDocument/2006/relationships/image" Target="../media/c_positioned_loop-2-c-mix.gif" Id="R577bbe69e1f64828"/><Relationship Type="http://schemas.openxmlformats.org/officeDocument/2006/relationships/image" Target="../media/c_positioned_image2.png" Id="R1048c13c2d9f41dd"/><Relationship Type="http://schemas.openxmlformats.org/officeDocument/2006/relationships/image" Target="../media/c_positioned_image7.png" Id="R1b8fd331fbc5424e"/><Relationship Type="http://schemas.openxmlformats.org/officeDocument/2006/relationships/image" Target="../media/c_positioned_image8.png" Id="R2a403ac225aa46be"/><Relationship Type="http://schemas.openxmlformats.org/officeDocument/2006/relationships/image" Target="../media/c_positioned_image9.png" Id="R091d0c7fabd64b4d"/><Relationship Type="http://schemas.openxmlformats.org/officeDocument/2006/relationships/notesSlide" Target="../notesSlides/c_positioned_notesSlide2.xml" Id="R645514126f4b4160"/><Relationship Id="rIdVectorexercise_formula_3" Type="http://schemas.openxmlformats.org/officeDocument/2006/relationships/image" Target="../media/c_positioned_exercise_formula_3.svg"/><Relationship Id="rIdVectorexercise_formula_4" Type="http://schemas.openxmlformats.org/officeDocument/2006/relationships/image" Target="../media/c_positioned_exercise_formula_4.svg"/><Relationship Id="rIdVectorexercise_formula_5" Type="http://schemas.openxmlformats.org/officeDocument/2006/relationships/image" Target="../media/c_positioned_exercise_formula_5.svg"/><Relationship Id="rIdVectorexercise_formula_6" Type="http://schemas.openxmlformats.org/officeDocument/2006/relationships/image" Target="../media/c_positioned_exercise_formula_6.svg"/><Relationship Id="rIdExerciseLink2" Type="http://schemas.openxmlformats.org/officeDocument/2006/relationships/slide" Target="methods_slide1.xml"/></Relationships>
</file>

<file path=ppt/slides/_rels/c_positioned_slide3.xml.rels><?xml version='1.0' encoding='UTF-8' standalone='yes'?>
<Relationships xmlns="http://schemas.openxmlformats.org/package/2006/relationships"><Relationship Type="http://schemas.openxmlformats.org/officeDocument/2006/relationships/slideLayout" Target="../slideLayouts/methods_slideLayout1.xml" Id="R07722feb69734ca4"/><Relationship Type="http://schemas.openxmlformats.org/officeDocument/2006/relationships/image" Target="../media/c_positioned_loop-3-c-filter.gif" Id="R54437fce00b04239"/><Relationship Type="http://schemas.openxmlformats.org/officeDocument/2006/relationships/image" Target="../media/c_positioned_image2.png" Id="R197a95fa52574d9b"/><Relationship Type="http://schemas.openxmlformats.org/officeDocument/2006/relationships/image" Target="../media/c_positioned_image12.png" Id="R2231bb72395849ae"/><Relationship Type="http://schemas.openxmlformats.org/officeDocument/2006/relationships/image" Target="../media/c_positioned_image13.png" Id="Rbbb8efdd055347c1"/><Relationship Type="http://schemas.openxmlformats.org/officeDocument/2006/relationships/image" Target="../media/c_positioned_image14.png" Id="R6b6eea436c4d4a83"/><Relationship Type="http://schemas.openxmlformats.org/officeDocument/2006/relationships/image" Target="../media/c_positioned_image15.png" Id="Rf900a725bcba4ca2"/><Relationship Type="http://schemas.openxmlformats.org/officeDocument/2006/relationships/image" Target="../media/c_positioned_image16.png" Id="Rdec32912d6a846dd"/><Relationship Type="http://schemas.openxmlformats.org/officeDocument/2006/relationships/image" Target="../media/c_positioned_image17.png" Id="R04972ffc7d594dcb"/><Relationship Type="http://schemas.openxmlformats.org/officeDocument/2006/relationships/image" Target="../media/c_positioned_image18.png" Id="R6188439b372d45fd"/><Relationship Type="http://schemas.openxmlformats.org/officeDocument/2006/relationships/image" Target="../media/c_positioned_image19.png" Id="R5270dd74ed684376"/><Relationship Type="http://schemas.openxmlformats.org/officeDocument/2006/relationships/image" Target="../media/c_positioned_image20.png" Id="R8f94f4c5189540aa"/><Relationship Type="http://schemas.openxmlformats.org/officeDocument/2006/relationships/notesSlide" Target="../notesSlides/c_positioned_notesSlide3.xml" Id="Rda62bf86cd7c400c"/><Relationship Id="rIdVectorexercise_formula_7" Type="http://schemas.openxmlformats.org/officeDocument/2006/relationships/image" Target="../media/c_positioned_exercise_formula_7.svg"/><Relationship Id="rIdVectorexercise_formula_8" Type="http://schemas.openxmlformats.org/officeDocument/2006/relationships/image" Target="../media/c_positioned_exercise_formula_8.svg"/><Relationship Id="rIdVectorexercise_formula_9" Type="http://schemas.openxmlformats.org/officeDocument/2006/relationships/image" Target="../media/c_positioned_exercise_formula_9.svg"/><Relationship Id="rIdVectorexercise_formula_10" Type="http://schemas.openxmlformats.org/officeDocument/2006/relationships/image" Target="../media/c_positioned_exercise_formula_10.svg"/><Relationship Id="rIdVectorexercise_formula_11" Type="http://schemas.openxmlformats.org/officeDocument/2006/relationships/image" Target="../media/c_positioned_exercise_formula_11.svg"/><Relationship Id="rIdVectorexercise_formula_12" Type="http://schemas.openxmlformats.org/officeDocument/2006/relationships/image" Target="../media/c_positioned_exercise_formula_12.svg"/><Relationship Id="rIdVectorexercise_formula_13" Type="http://schemas.openxmlformats.org/officeDocument/2006/relationships/image" Target="../media/c_positioned_exercise_formula_13.svg"/><Relationship Id="rIdVectorexercise_formula_14" Type="http://schemas.openxmlformats.org/officeDocument/2006/relationships/image" Target="../media/c_positioned_exercise_formula_14.svg"/><Relationship Id="rIdVectorexercise_formula_15" Type="http://schemas.openxmlformats.org/officeDocument/2006/relationships/image" Target="../media/c_positioned_exercise_formula_15.svg"/><Relationship Id="rIdVectorexercise_formula_16" Type="http://schemas.openxmlformats.org/officeDocument/2006/relationships/image" Target="../media/c_positioned_exercise_formula_16.svg"/><Relationship Id="rIdExerciseLink4" Type="http://schemas.openxmlformats.org/officeDocument/2006/relationships/slide" Target="methods_slide1.xml"/></Relationships>
</file>

<file path=ppt/slides/_rels/c_positioned_slide4.xml.rels><?xml version='1.0' encoding='UTF-8' standalone='yes'?>
<Relationships xmlns="http://schemas.openxmlformats.org/package/2006/relationships"><Relationship Type="http://schemas.openxmlformats.org/officeDocument/2006/relationships/slideLayout" Target="../slideLayouts/methods_slideLayout1.xml" Id="Rc0a0c6d24e814543"/><Relationship Type="http://schemas.openxmlformats.org/officeDocument/2006/relationships/image" Target="../media/c_positioned_loop-3-c-filter.gif" Id="R5a9577f0facf453b"/><Relationship Type="http://schemas.openxmlformats.org/officeDocument/2006/relationships/image" Target="../media/c_positioned_image2.png" Id="R5ce879b521b840aa"/><Relationship Type="http://schemas.openxmlformats.org/officeDocument/2006/relationships/image" Target="../media/c_positioned_image23.png" Id="R94266286cd7f4577"/><Relationship Type="http://schemas.openxmlformats.org/officeDocument/2006/relationships/image" Target="../media/c_positioned_image24.png" Id="R8a5dad91437149c4"/><Relationship Type="http://schemas.openxmlformats.org/officeDocument/2006/relationships/image" Target="../media/c_positioned_image25.png" Id="Rd8e6de92e64a4df6"/><Relationship Type="http://schemas.openxmlformats.org/officeDocument/2006/relationships/notesSlide" Target="../notesSlides/c_positioned_notesSlide4.xml" Id="R4397ad60fddc4f20"/><Relationship Id="rIdVectorexercise_formula_17" Type="http://schemas.openxmlformats.org/officeDocument/2006/relationships/image" Target="../media/c_positioned_exercise_formula_17.svg"/><Relationship Id="rIdVectorexercise_formula_18" Type="http://schemas.openxmlformats.org/officeDocument/2006/relationships/image" Target="../media/c_positioned_exercise_formula_18.svg"/><Relationship Id="rIdVectorexercise_formula_19" Type="http://schemas.openxmlformats.org/officeDocument/2006/relationships/image" Target="../media/c_positioned_exercise_formula_19.svg"/><Relationship Id="rIdVectorexercise_formula_20" Type="http://schemas.openxmlformats.org/officeDocument/2006/relationships/image" Target="../media/c_positioned_exercise_formula_20.svg"/><Relationship Id="rIdExerciseLink6" Type="http://schemas.openxmlformats.org/officeDocument/2006/relationships/slide" Target="methods_slide1.xml"/></Relationships>
</file>

<file path=ppt/slides/_rels/c_positioned_slide5.xml.rels><?xml version='1.0' encoding='UTF-8' standalone='yes'?>
<Relationships xmlns="http://schemas.openxmlformats.org/package/2006/relationships"><Relationship Type="http://schemas.openxmlformats.org/officeDocument/2006/relationships/slideLayout" Target="../slideLayouts/methods_slideLayout1.xml" Id="Rc13082cc952749bc"/><Relationship Type="http://schemas.openxmlformats.org/officeDocument/2006/relationships/image" Target="../media/c_positioned_loop-5-c-recover.gif" Id="R2674d0872ab04f93"/><Relationship Type="http://schemas.openxmlformats.org/officeDocument/2006/relationships/image" Target="../media/c_positioned_image2.png" Id="Re39961a5bedd40e3"/><Relationship Type="http://schemas.openxmlformats.org/officeDocument/2006/relationships/image" Target="../media/c_positioned_image28.png" Id="R5cf149b4d2494c50"/><Relationship Type="http://schemas.openxmlformats.org/officeDocument/2006/relationships/image" Target="../media/c_positioned_image29.png" Id="Raf4733a9b8d0497d"/><Relationship Type="http://schemas.openxmlformats.org/officeDocument/2006/relationships/image" Target="../media/c_positioned_image30.png" Id="Re9157d300c474f26"/><Relationship Type="http://schemas.openxmlformats.org/officeDocument/2006/relationships/notesSlide" Target="../notesSlides/c_positioned_notesSlide5.xml" Id="Rdc6dd2c0849e4087"/><Relationship Id="rIdVectorexercise_formula_21" Type="http://schemas.openxmlformats.org/officeDocument/2006/relationships/image" Target="../media/c_positioned_exercise_formula_21.svg"/><Relationship Id="rIdVectorexercise_formula_22" Type="http://schemas.openxmlformats.org/officeDocument/2006/relationships/image" Target="../media/c_positioned_exercise_formula_22.svg"/><Relationship Id="rIdVectorexercise_formula_23" Type="http://schemas.openxmlformats.org/officeDocument/2006/relationships/image" Target="../media/c_positioned_exercise_formula_23.svg"/><Relationship Id="rIdVectorexercise_formula_24" Type="http://schemas.openxmlformats.org/officeDocument/2006/relationships/image" Target="../media/c_positioned_exercise_formula_24.svg"/><Relationship Id="rIdExerciseLink8" Type="http://schemas.openxmlformats.org/officeDocument/2006/relationships/slide" Target="methods_slide1.xml"/></Relationships>
</file>

<file path=ppt/slides/_rels/fdm_open_bandwidth.xml.rels><?xml version='1.0' encoding='UTF-8' standalone='yes'?>
<Relationships xmlns="http://schemas.openxmlformats.org/package/2006/relationships"><Relationship Type="http://schemas.openxmlformats.org/officeDocument/2006/relationships/slideLayout" Target="../slideLayouts/methods_slideLayout1.xml" Id="R6112e9e468b545ae"/><Relationship Type="http://schemas.openxmlformats.org/officeDocument/2006/relationships/notesSlide" Target="../notesSlides/fdm_open_1.xml" Id="R0a79441684844e76"/><Relationship Id="rIdOverviewPng0" Type="http://schemas.openxmlformats.org/officeDocument/2006/relationships/image" Target="../media/methods_image4.png"/><Relationship Id="rIdOverviewSvg0" Type="http://schemas.openxmlformats.org/officeDocument/2006/relationships/image" Target="../media/overview_7b19755997bcc61ed99fa927.svg"/><Relationship Id="rIdOverviewPng1" Type="http://schemas.openxmlformats.org/officeDocument/2006/relationships/image" Target="../media/overview_485da948beec5fd06f44a569.png"/><Relationship Id="rIdOverviewSvg1" Type="http://schemas.openxmlformats.org/officeDocument/2006/relationships/image" Target="../media/overview_e48cf97ee1a37c42db5490da.svg"/><Relationship Id="rIdOverviewPng2" Type="http://schemas.openxmlformats.org/officeDocument/2006/relationships/image" Target="../media/overview_cc576bd8fcc91ced245a3b8f.png"/><Relationship Id="rIdOverviewSvg2" Type="http://schemas.openxmlformats.org/officeDocument/2006/relationships/image" Target="../media/overview_a10c88d5aa67c92d340470d2.svg"/><Relationship Id="rIdOverviewPng3" Type="http://schemas.openxmlformats.org/officeDocument/2006/relationships/image" Target="../media/methods_image4.png"/><Relationship Id="rIdOverviewSvg3" Type="http://schemas.openxmlformats.org/officeDocument/2006/relationships/image" Target="../media/overview_7b19755997bcc61ed99fa927.svg"/><Relationship Id="rIdOverviewPng4" Type="http://schemas.openxmlformats.org/officeDocument/2006/relationships/image" Target="../media/overview_485da948beec5fd06f44a569.png"/><Relationship Id="rIdOverviewSvg4" Type="http://schemas.openxmlformats.org/officeDocument/2006/relationships/image" Target="../media/overview_e48cf97ee1a37c42db5490da.svg"/><Relationship Id="rIdOverviewPng5" Type="http://schemas.openxmlformats.org/officeDocument/2006/relationships/image" Target="../media/overview_cc576bd8fcc91ced245a3b8f.png"/><Relationship Id="rIdOverviewSvg5" Type="http://schemas.openxmlformats.org/officeDocument/2006/relationships/image" Target="../media/overview_a10c88d5aa67c92d340470d2.svg"/><Relationship Id="rIdOverviewPng6" Type="http://schemas.openxmlformats.org/officeDocument/2006/relationships/image" Target="../media/methods_image17.png"/><Relationship Id="rIdOverviewSvg6" Type="http://schemas.openxmlformats.org/officeDocument/2006/relationships/image" Target="../media/overview_e90174776ca55648ccf1ccef.svg"/><Relationship Id="rIdOverviewPng7" Type="http://schemas.openxmlformats.org/officeDocument/2006/relationships/image" Target="../media/methods_image17.png"/><Relationship Id="rIdOverviewSvg7" Type="http://schemas.openxmlformats.org/officeDocument/2006/relationships/image" Target="../media/overview_896d80636d656664ebda1047.svg"/><Relationship Id="rIdOverviewPng8" Type="http://schemas.openxmlformats.org/officeDocument/2006/relationships/image" Target="../media/overview_5d01aac3454e46111c1247fa.png"/><Relationship Id="rIdOverviewSvg8" Type="http://schemas.openxmlformats.org/officeDocument/2006/relationships/image" Target="../media/overview_75600f1d027ca6bbaef1bd11.svg"/><Relationship Id="rIdOverviewPng9" Type="http://schemas.openxmlformats.org/officeDocument/2006/relationships/image" Target="../media/overview_b0a8d4ed3339d8ce46c973da.png"/><Relationship Id="rIdOverviewSvg9" Type="http://schemas.openxmlformats.org/officeDocument/2006/relationships/image" Target="../media/overview_168d29d22be68abdb1a7d65a.svg"/><Relationship Id="rIdOverviewPng10" Type="http://schemas.openxmlformats.org/officeDocument/2006/relationships/image" Target="../media/overview_81733fb24d35eef8a2c4b0ca.png"/><Relationship Id="rIdOverviewSvg10" Type="http://schemas.openxmlformats.org/officeDocument/2006/relationships/image" Target="../media/overview_83ffee3fc082cb490397df93.svg"/><Relationship Id="rIdOverviewPng11" Type="http://schemas.openxmlformats.org/officeDocument/2006/relationships/image" Target="../media/overview_0e7e3372d59dd78524ff0e02.png"/><Relationship Id="rIdOverviewSvg11" Type="http://schemas.openxmlformats.org/officeDocument/2006/relationships/image" Target="../media/overview_ef39aa4abaef0bb968b70011.svg"/><Relationship Id="rIdOverviewPng12" Type="http://schemas.openxmlformats.org/officeDocument/2006/relationships/image" Target="../media/overview_354c8e0922f2a1763acf40c8.png"/><Relationship Id="rIdOverviewSvg12" Type="http://schemas.openxmlformats.org/officeDocument/2006/relationships/image" Target="../media/overview_68a518dc576395cc4fabf21b.svg"/><Relationship Id="rIdOverviewPng13" Type="http://schemas.openxmlformats.org/officeDocument/2006/relationships/image" Target="../media/overview_97728b1734a02af5af66fba1.png"/><Relationship Id="rIdOverviewSvg13" Type="http://schemas.openxmlformats.org/officeDocument/2006/relationships/image" Target="../media/overview_980fb9f1b085bda2f82c35dc.svg"/><Relationship Id="rIdOverviewPng14" Type="http://schemas.openxmlformats.org/officeDocument/2006/relationships/image" Target="../media/overview_c6d986e23a5aebe8fc85606d.png"/><Relationship Id="rIdOverviewSvg14" Type="http://schemas.openxmlformats.org/officeDocument/2006/relationships/image" Target="../media/overview_300a4150960e1fffefd7aa7c.svg"/><Relationship Id="rIdOverviewPng15" Type="http://schemas.openxmlformats.org/officeDocument/2006/relationships/image" Target="../media/overview_926828d02bf9a1cfee226105.png"/><Relationship Id="rIdOverviewSvg15" Type="http://schemas.openxmlformats.org/officeDocument/2006/relationships/image" Target="../media/overview_9ef5fd4331f1e3caeb0f2630.svg"/><Relationship Id="rIdOverviewPng16" Type="http://schemas.openxmlformats.org/officeDocument/2006/relationships/image" Target="../media/overview_0ea68d39210b5de4db5291f1.png"/><Relationship Id="rIdOverviewSvg16" Type="http://schemas.openxmlformats.org/officeDocument/2006/relationships/image" Target="../media/overview_4fbf85c5d881bc8ac1bf2987.svg"/><Relationship Id="rIdOverviewLink0" Type="http://schemas.openxmlformats.org/officeDocument/2006/relationships/slide" Target="slide3.xml"/></Relationships>
</file>

<file path=ppt/slides/_rels/fdm_open_question.xml.rels><?xml version='1.0' encoding='UTF-8' standalone='yes'?>
<Relationships xmlns="http://schemas.openxmlformats.org/package/2006/relationships"><Relationship Type="http://schemas.openxmlformats.org/officeDocument/2006/relationships/slideLayout" Target="../slideLayouts/methods_slideLayout1.xml" Id="R6112e9e468b545ae"/><Relationship Type="http://schemas.openxmlformats.org/officeDocument/2006/relationships/notesSlide" Target="../notesSlides/fdm_open_0.xml" Id="R0a79441684844e76"/><Relationship Id="rIdOverviewLink0" Type="http://schemas.openxmlformats.org/officeDocument/2006/relationships/slide" Target="slide3.xml"/></Relationships>
</file>

<file path=ppt/slides/_rels/framing_1.xml.rels><?xml version='1.0' encoding='UTF-8' standalone='yes'?>
<Relationships xmlns="http://schemas.openxmlformats.org/package/2006/relationships"><Relationship Id="rIdLayout" Type="http://schemas.openxmlformats.org/officeDocument/2006/relationships/slideLayout" Target="../slideLayouts/methods_slideLayout1.xml"/><Relationship Id="rIdNotes" Type="http://schemas.openxmlformats.org/officeDocument/2006/relationships/notesSlide" Target="../notesSlides/framing_1.xml"/></Relationships>
</file>

<file path=ppt/slides/_rels/framing_2.xml.rels><?xml version='1.0' encoding='UTF-8' standalone='yes'?>
<Relationships xmlns="http://schemas.openxmlformats.org/package/2006/relationships"><Relationship Id="rIdLayout" Type="http://schemas.openxmlformats.org/officeDocument/2006/relationships/slideLayout" Target="../slideLayouts/methods_slideLayout1.xml"/><Relationship Id="rIdNotes" Type="http://schemas.openxmlformats.org/officeDocument/2006/relationships/notesSlide" Target="../notesSlides/framing_2.xml"/></Relationships>
</file>

<file path=ppt/slides/_rels/framing_3.xml.rels><?xml version='1.0' encoding='UTF-8' standalone='yes'?>
<Relationships xmlns="http://schemas.openxmlformats.org/package/2006/relationships"><Relationship Id="rIdLayout" Type="http://schemas.openxmlformats.org/officeDocument/2006/relationships/slideLayout" Target="../slideLayouts/methods_slideLayout1.xml"/><Relationship Id="rIdNotes" Type="http://schemas.openxmlformats.org/officeDocument/2006/relationships/notesSlide" Target="../notesSlides/framing_3.xml"/></Relationships>
</file>

<file path=ppt/slides/_rels/loop_exercise_slide1.xml.rels><?xml version='1.0' encoding='UTF-8' standalone='yes'?>
<Relationships xmlns="http://schemas.openxmlformats.org/package/2006/relationships"><Relationship Type="http://schemas.openxmlformats.org/officeDocument/2006/relationships/slideLayout" Target="../slideLayouts/methods_slideLayout1.xml" Id="R1248e42885954d17"/><Relationship Type="http://schemas.openxmlformats.org/officeDocument/2006/relationships/image" Target="../media/loop_exercise_loop-1-overview.gif" Id="R6cb091d43c734f5c"/><Relationship Type="http://schemas.openxmlformats.org/officeDocument/2006/relationships/image" Target="../media/c_positioned_image2.png" Id="Rbc41a8978f58470a"/><Relationship Type="http://schemas.openxmlformats.org/officeDocument/2006/relationships/notesSlide" Target="../notesSlides/loop_exercise_notesSlide1.xml" Id="R575b4c2a51294d7c"/><Relationship Id="rIdVectorexercise_formula_0" Type="http://schemas.openxmlformats.org/officeDocument/2006/relationships/image" Target="../media/c_positioned_exercise_formula_0.svg"/><Relationship Id="rIdExerciseLink0" Type="http://schemas.openxmlformats.org/officeDocument/2006/relationships/slide" Target="methods_slide1.xml"/></Relationships>
</file>

<file path=ppt/slides/_rels/loop_exercise_slide2.xml.rels><?xml version='1.0' encoding='UTF-8' standalone='yes'?>
<Relationships xmlns="http://schemas.openxmlformats.org/package/2006/relationships"><Relationship Type="http://schemas.openxmlformats.org/officeDocument/2006/relationships/slideLayout" Target="../slideLayouts/methods_slideLayout1.xml" Id="Ra8d78b0464444f2b"/><Relationship Type="http://schemas.openxmlformats.org/officeDocument/2006/relationships/image" Target="../media/loop_exercise_loop-2-send.gif" Id="Rd6994dd5120144e9"/><Relationship Type="http://schemas.openxmlformats.org/officeDocument/2006/relationships/image" Target="../media/c_positioned_image2.png" Id="R92438a7193ab40f8"/><Relationship Type="http://schemas.openxmlformats.org/officeDocument/2006/relationships/image" Target="../media/loop_exercise_image5.png" Id="R988fbc097055434d"/><Relationship Type="http://schemas.openxmlformats.org/officeDocument/2006/relationships/image" Target="../media/loop_exercise_image6.png" Id="R9990efb17a954a44"/><Relationship Type="http://schemas.openxmlformats.org/officeDocument/2006/relationships/image" Target="../media/loop_exercise_image7.png" Id="R9c4eb50527f74fc7"/><Relationship Type="http://schemas.openxmlformats.org/officeDocument/2006/relationships/notesSlide" Target="../notesSlides/loop_exercise_notesSlide2.xml" Id="Rf25aa9ffa1f84f9d"/><Relationship Id="rIdVectorexercise_formula_1" Type="http://schemas.openxmlformats.org/officeDocument/2006/relationships/image" Target="../media/loop_exercise_exercise_formula_1.svg"/><Relationship Id="rIdVectorexercise_formula_2" Type="http://schemas.openxmlformats.org/officeDocument/2006/relationships/image" Target="../media/loop_exercise_exercise_formula_2.svg"/><Relationship Id="rIdVectorexercise_formula_3" Type="http://schemas.openxmlformats.org/officeDocument/2006/relationships/image" Target="../media/loop_exercise_exercise_formula_3.svg"/><Relationship Id="rIdVectorexercise_formula_4" Type="http://schemas.openxmlformats.org/officeDocument/2006/relationships/image" Target="../media/loop_exercise_exercise_formula_4.svg"/><Relationship Id="rIdExerciseLink2" Type="http://schemas.openxmlformats.org/officeDocument/2006/relationships/slide" Target="methods_slide1.xml"/></Relationships>
</file>

<file path=ppt/slides/_rels/loop_exercise_slide3.xml.rels><?xml version='1.0' encoding='UTF-8' standalone='yes'?>
<Relationships xmlns="http://schemas.openxmlformats.org/package/2006/relationships"><Relationship Type="http://schemas.openxmlformats.org/officeDocument/2006/relationships/slideLayout" Target="../slideLayouts/methods_slideLayout1.xml" Id="R38ffbb1e91d64ba5"/><Relationship Type="http://schemas.openxmlformats.org/officeDocument/2006/relationships/image" Target="../media/loop_exercise_loop-2-send.gif" Id="R709b65542b4945db"/><Relationship Type="http://schemas.openxmlformats.org/officeDocument/2006/relationships/image" Target="../media/c_positioned_image2.png" Id="Rfdd1d807e5144b76"/><Relationship Type="http://schemas.openxmlformats.org/officeDocument/2006/relationships/image" Target="../media/loop_exercise_image10.png" Id="R1ed50ae6fbc545d8"/><Relationship Type="http://schemas.openxmlformats.org/officeDocument/2006/relationships/image" Target="../media/loop_exercise_image11.png" Id="Re8909fc5714a4fb2"/><Relationship Type="http://schemas.openxmlformats.org/officeDocument/2006/relationships/notesSlide" Target="../notesSlides/loop_exercise_notesSlide3.xml" Id="R6add04c4c6944f31"/><Relationship Id="rIdVectorexercise_formula_5" Type="http://schemas.openxmlformats.org/officeDocument/2006/relationships/image" Target="../media/loop_exercise_exercise_formula_5.svg"/><Relationship Id="rIdVectorexercise_formula_6" Type="http://schemas.openxmlformats.org/officeDocument/2006/relationships/image" Target="../media/loop_exercise_exercise_formula_6.svg"/><Relationship Id="rIdVectorexercise_formula_7" Type="http://schemas.openxmlformats.org/officeDocument/2006/relationships/image" Target="../media/loop_exercise_exercise_formula_7.svg"/><Relationship Id="rIdExerciseLink4" Type="http://schemas.openxmlformats.org/officeDocument/2006/relationships/slide" Target="methods_slide1.xml"/></Relationships>
</file>

<file path=ppt/slides/_rels/loop_exercise_slide4.xml.rels><?xml version='1.0' encoding='UTF-8' standalone='yes'?>
<Relationships xmlns="http://schemas.openxmlformats.org/package/2006/relationships"><Relationship Type="http://schemas.openxmlformats.org/officeDocument/2006/relationships/slideLayout" Target="../slideLayouts/methods_slideLayout1.xml" Id="R27d114179d414f2c"/><Relationship Type="http://schemas.openxmlformats.org/officeDocument/2006/relationships/image" Target="../media/loop_exercise_loop-4-receive.gif" Id="R1b2c194cd7a148df"/><Relationship Type="http://schemas.openxmlformats.org/officeDocument/2006/relationships/image" Target="../media/c_positioned_image2.png" Id="R96525104d4684e64"/><Relationship Type="http://schemas.openxmlformats.org/officeDocument/2006/relationships/notesSlide" Target="../notesSlides/loop_exercise_notesSlide4.xml" Id="Rce65121626fc4aca"/><Relationship Id="rIdVectorexercise_formula_8" Type="http://schemas.openxmlformats.org/officeDocument/2006/relationships/image" Target="../media/loop_exercise_exercise_formula_8.svg"/><Relationship Id="rIdExerciseLink6" Type="http://schemas.openxmlformats.org/officeDocument/2006/relationships/slide" Target="methods_slide1.xml"/></Relationships>
</file>

<file path=ppt/slides/_rels/loop_exercise_slide5.xml.rels><?xml version='1.0' encoding='UTF-8' standalone='yes'?>
<Relationships xmlns="http://schemas.openxmlformats.org/package/2006/relationships"><Relationship Type="http://schemas.openxmlformats.org/officeDocument/2006/relationships/slideLayout" Target="../slideLayouts/methods_slideLayout1.xml" Id="R2518166b702d4430"/><Relationship Type="http://schemas.openxmlformats.org/officeDocument/2006/relationships/image" Target="../media/loop_exercise_loop-5-select.gif" Id="Rf45ed12390974352"/><Relationship Type="http://schemas.openxmlformats.org/officeDocument/2006/relationships/image" Target="../media/c_positioned_image2.png" Id="Re76a05f8b4af43dc"/><Relationship Type="http://schemas.openxmlformats.org/officeDocument/2006/relationships/image" Target="../media/loop_exercise_image16.png" Id="R0ecec49ea4364b46"/><Relationship Type="http://schemas.openxmlformats.org/officeDocument/2006/relationships/image" Target="../media/loop_exercise_image17.png" Id="Rd7c501d018f2408a"/><Relationship Type="http://schemas.openxmlformats.org/officeDocument/2006/relationships/image" Target="../media/loop_exercise_image18.png" Id="Rc7cbcc34b57c440f"/><Relationship Type="http://schemas.openxmlformats.org/officeDocument/2006/relationships/image" Target="../media/loop_exercise_image19.png" Id="R26fb8c0d379f4047"/><Relationship Type="http://schemas.openxmlformats.org/officeDocument/2006/relationships/notesSlide" Target="../notesSlides/loop_exercise_notesSlide5.xml" Id="R13291465cb144659"/><Relationship Id="rIdVectorexercise_formula_9" Type="http://schemas.openxmlformats.org/officeDocument/2006/relationships/image" Target="../media/loop_exercise_exercise_formula_9.svg"/><Relationship Id="rIdVectorexercise_formula_10" Type="http://schemas.openxmlformats.org/officeDocument/2006/relationships/image" Target="../media/loop_exercise_exercise_formula_10.svg"/><Relationship Id="rIdVectorexercise_formula_11" Type="http://schemas.openxmlformats.org/officeDocument/2006/relationships/image" Target="../media/loop_exercise_exercise_formula_11.svg"/><Relationship Id="rIdVectorexercise_formula_12" Type="http://schemas.openxmlformats.org/officeDocument/2006/relationships/image" Target="../media/loop_exercise_exercise_formula_12.svg"/><Relationship Id="rIdVectorexercise_formula_13" Type="http://schemas.openxmlformats.org/officeDocument/2006/relationships/image" Target="../media/loop_exercise_exercise_formula_13.svg"/><Relationship Id="rIdExerciseLink8" Type="http://schemas.openxmlformats.org/officeDocument/2006/relationships/slide" Target="methods_slide1.xml"/></Relationships>
</file>

<file path=ppt/slides/_rels/loop_exercise_slide6.xml.rels><?xml version='1.0' encoding='UTF-8' standalone='yes'?>
<Relationships xmlns="http://schemas.openxmlformats.org/package/2006/relationships"><Relationship Type="http://schemas.openxmlformats.org/officeDocument/2006/relationships/slideLayout" Target="../slideLayouts/methods_slideLayout1.xml" Id="R3a6ba5389270437b"/><Relationship Type="http://schemas.openxmlformats.org/officeDocument/2006/relationships/image" Target="../media/loop_exercise_loop-6-translate.gif" Id="R0d1e4ed854a24733"/><Relationship Type="http://schemas.openxmlformats.org/officeDocument/2006/relationships/image" Target="../media/c_positioned_image2.png" Id="R9f6cfb6ce3194bc0"/><Relationship Type="http://schemas.openxmlformats.org/officeDocument/2006/relationships/image" Target="../media/loop_exercise_image22.png" Id="R2fd02fe9fabb4924"/><Relationship Type="http://schemas.openxmlformats.org/officeDocument/2006/relationships/image" Target="../media/loop_exercise_image23.png" Id="R4f60204f95634892"/><Relationship Type="http://schemas.openxmlformats.org/officeDocument/2006/relationships/image" Target="../media/loop_exercise_image24.png" Id="R4fa69c4e468a4201"/><Relationship Type="http://schemas.openxmlformats.org/officeDocument/2006/relationships/notesSlide" Target="../notesSlides/loop_exercise_notesSlide6.xml" Id="Rb2563bdefe2541c7"/><Relationship Id="rIdVectorexercise_formula_14" Type="http://schemas.openxmlformats.org/officeDocument/2006/relationships/image" Target="../media/loop_exercise_exercise_formula_14.svg"/><Relationship Id="rIdVectorexercise_formula_15" Type="http://schemas.openxmlformats.org/officeDocument/2006/relationships/image" Target="../media/loop_exercise_exercise_formula_15.svg"/><Relationship Id="rIdVectorexercise_formula_16" Type="http://schemas.openxmlformats.org/officeDocument/2006/relationships/image" Target="../media/loop_exercise_exercise_formula_16.svg"/><Relationship Id="rIdVectorexercise_formula_17" Type="http://schemas.openxmlformats.org/officeDocument/2006/relationships/image" Target="../media/loop_exercise_exercise_formula_17.svg"/><Relationship Id="rIdExerciseLink10" Type="http://schemas.openxmlformats.org/officeDocument/2006/relationships/slide" Target="methods_slide1.xml"/></Relationships>
</file>

<file path=ppt/slides/_rels/loop_exercise_slide7.xml.rels><?xml version='1.0' encoding='UTF-8' standalone='yes'?>
<Relationships xmlns="http://schemas.openxmlformats.org/package/2006/relationships"><Relationship Type="http://schemas.openxmlformats.org/officeDocument/2006/relationships/slideLayout" Target="../slideLayouts/methods_slideLayout1.xml" Id="Rb6586b4728384483"/><Relationship Type="http://schemas.openxmlformats.org/officeDocument/2006/relationships/image" Target="../media/loop_exercise_loop-6-translate.gif" Id="R90ac70a4eb444d5d"/><Relationship Type="http://schemas.openxmlformats.org/officeDocument/2006/relationships/image" Target="../media/c_positioned_image2.png" Id="Radcfc74bf95342bc"/><Relationship Type="http://schemas.openxmlformats.org/officeDocument/2006/relationships/image" Target="../media/loop_exercise_image27.png" Id="R0ba94d176cda410d"/><Relationship Type="http://schemas.openxmlformats.org/officeDocument/2006/relationships/image" Target="../media/loop_exercise_image28.png" Id="Rc09d5ae368de46e0"/><Relationship Type="http://schemas.openxmlformats.org/officeDocument/2006/relationships/image" Target="../media/loop_exercise_image29.png" Id="Rbf6305af31d94bec"/><Relationship Type="http://schemas.openxmlformats.org/officeDocument/2006/relationships/notesSlide" Target="../notesSlides/loop_exercise_notesSlide7.xml" Id="Rdbee0abbcc734706"/><Relationship Id="rIdVectorexercise_formula_18" Type="http://schemas.openxmlformats.org/officeDocument/2006/relationships/image" Target="../media/loop_exercise_exercise_formula_18.svg"/><Relationship Id="rIdVectorexercise_formula_19" Type="http://schemas.openxmlformats.org/officeDocument/2006/relationships/image" Target="../media/loop_exercise_exercise_formula_19.svg"/><Relationship Id="rIdVectorexercise_formula_20" Type="http://schemas.openxmlformats.org/officeDocument/2006/relationships/image" Target="../media/loop_exercise_exercise_formula_20.svg"/><Relationship Id="rIdVectorexercise_formula_21" Type="http://schemas.openxmlformats.org/officeDocument/2006/relationships/image" Target="../media/loop_exercise_exercise_formula_21.svg"/><Relationship Id="rIdExerciseLink12" Type="http://schemas.openxmlformats.org/officeDocument/2006/relationships/slide" Target="methods_slide1.xml"/></Relationships>
</file>

<file path=ppt/slides/_rels/loop_exercise_slide8.xml.rels><?xml version='1.0' encoding='UTF-8' standalone='yes'?>
<Relationships xmlns="http://schemas.openxmlformats.org/package/2006/relationships"><Relationship Type="http://schemas.openxmlformats.org/officeDocument/2006/relationships/slideLayout" Target="../slideLayouts/methods_slideLayout1.xml" Id="Rac4f3097890a4033"/><Relationship Type="http://schemas.openxmlformats.org/officeDocument/2006/relationships/image" Target="../media/loop_exercise_loop-8-demod.gif" Id="R5f73a1d36c5c4fde"/><Relationship Type="http://schemas.openxmlformats.org/officeDocument/2006/relationships/image" Target="../media/c_positioned_image2.png" Id="R1d4e599a7a9a48ab"/><Relationship Type="http://schemas.openxmlformats.org/officeDocument/2006/relationships/image" Target="../media/loop_exercise_image32.png" Id="Reaf82c4593de4737"/><Relationship Type="http://schemas.openxmlformats.org/officeDocument/2006/relationships/image" Target="../media/loop_exercise_image33.png" Id="R861ca53fe293487c"/><Relationship Type="http://schemas.openxmlformats.org/officeDocument/2006/relationships/notesSlide" Target="../notesSlides/loop_exercise_notesSlide8.xml" Id="R45be55539209429e"/><Relationship Id="rIdVectorexercise_formula_22" Type="http://schemas.openxmlformats.org/officeDocument/2006/relationships/image" Target="../media/loop_exercise_exercise_formula_22.svg"/><Relationship Id="rIdVectorexercise_formula_23" Type="http://schemas.openxmlformats.org/officeDocument/2006/relationships/image" Target="../media/loop_exercise_exercise_formula_23.svg"/><Relationship Id="rIdVectorexercise_formula_24" Type="http://schemas.openxmlformats.org/officeDocument/2006/relationships/image" Target="../media/loop_exercise_exercise_formula_24.svg"/><Relationship Id="rIdExerciseLink14" Type="http://schemas.openxmlformats.org/officeDocument/2006/relationships/slide" Target="methods_slide1.xml"/></Relationships>
</file>

<file path=ppt/slides/_rels/methods_slide1.xml.rels><?xml version='1.0' encoding='UTF-8' standalone='yes'?>
<Relationships xmlns="http://schemas.openxmlformats.org/package/2006/relationships"><Relationship Type="http://schemas.openxmlformats.org/officeDocument/2006/relationships/slideLayout" Target="../slideLayouts/methods_slideLayout1.xml" Id="R6112e9e468b545ae"/><Relationship Type="http://schemas.openxmlformats.org/officeDocument/2006/relationships/notesSlide" Target="../notesSlides/methods_notesSlide1.xml" Id="R0a79441684844e76"/><Relationship Id="rIdOverviewPng0" Type="http://schemas.openxmlformats.org/officeDocument/2006/relationships/image" Target="../media/overview_855e62e013f5cb94cd2b918e.png"/><Relationship Id="rIdOverviewSvg0" Type="http://schemas.openxmlformats.org/officeDocument/2006/relationships/image" Target="../media/overview_37d880312ec6bc7aa880afe3.svg"/><Relationship Id="rIdOverviewPng1" Type="http://schemas.openxmlformats.org/officeDocument/2006/relationships/image" Target="../media/overview_77cab69d3e1200001eb756dc.png"/><Relationship Id="rIdOverviewSvg1" Type="http://schemas.openxmlformats.org/officeDocument/2006/relationships/image" Target="../media/overview_468e1546f79aac4d693dae54.svg"/><Relationship Id="rIdOverviewPng2" Type="http://schemas.openxmlformats.org/officeDocument/2006/relationships/image" Target="../media/methods_image2.png"/><Relationship Id="rIdOverviewSvg2" Type="http://schemas.openxmlformats.org/officeDocument/2006/relationships/image" Target="../media/overview_7c8a8e603a3d5aaca3c8cb51.svg"/><Relationship Id="rIdOverviewPng3" Type="http://schemas.openxmlformats.org/officeDocument/2006/relationships/image" Target="../media/overview_77cab69d3e1200001eb756dc.png"/><Relationship Id="rIdOverviewSvg3" Type="http://schemas.openxmlformats.org/officeDocument/2006/relationships/image" Target="../media/overview_468e1546f79aac4d693dae54.svg"/><Relationship Id="rIdOverviewPng4" Type="http://schemas.openxmlformats.org/officeDocument/2006/relationships/image" Target="../media/overview_855e62e013f5cb94cd2b918e.png"/><Relationship Id="rIdOverviewSvg4" Type="http://schemas.openxmlformats.org/officeDocument/2006/relationships/image" Target="../media/overview_37d880312ec6bc7aa880afe3.svg"/><Relationship Id="rIdOverviewPng5" Type="http://schemas.openxmlformats.org/officeDocument/2006/relationships/image" Target="../media/overview_21e935ee3955c9b902deb952.png"/><Relationship Id="rIdOverviewSvg5" Type="http://schemas.openxmlformats.org/officeDocument/2006/relationships/image" Target="../media/overview_c85add75f31747e046c29218.svg"/><Relationship Id="rIdOverviewPng6" Type="http://schemas.openxmlformats.org/officeDocument/2006/relationships/image" Target="../media/methods_image4.png"/><Relationship Id="rIdOverviewSvg6" Type="http://schemas.openxmlformats.org/officeDocument/2006/relationships/image" Target="../media/overview_7b19755997bcc61ed99fa927.svg"/><Relationship Id="rIdOverviewPng7" Type="http://schemas.openxmlformats.org/officeDocument/2006/relationships/image" Target="../media/methods_image6.png"/><Relationship Id="rIdOverviewSvg7" Type="http://schemas.openxmlformats.org/officeDocument/2006/relationships/image" Target="../media/overview_0962180c29580a302e7492b3.svg"/><Relationship Id="rIdOverviewPng8" Type="http://schemas.openxmlformats.org/officeDocument/2006/relationships/image" Target="../media/overview_21e935ee3955c9b902deb952.png"/><Relationship Id="rIdOverviewSvg8" Type="http://schemas.openxmlformats.org/officeDocument/2006/relationships/image" Target="../media/overview_c85add75f31747e046c29218.svg"/><Relationship Id="rIdOverviewPng9" Type="http://schemas.openxmlformats.org/officeDocument/2006/relationships/image" Target="../media/methods_image4.png"/><Relationship Id="rIdOverviewSvg9" Type="http://schemas.openxmlformats.org/officeDocument/2006/relationships/image" Target="../media/overview_7b19755997bcc61ed99fa927.svg"/><Relationship Id="rIdOverviewPng10" Type="http://schemas.openxmlformats.org/officeDocument/2006/relationships/image" Target="../media/methods_image9.png"/><Relationship Id="rIdOverviewSvg10" Type="http://schemas.openxmlformats.org/officeDocument/2006/relationships/image" Target="../media/overview_c2552436607873394513f314.svg"/><Relationship Id="rIdOverviewPng11" Type="http://schemas.openxmlformats.org/officeDocument/2006/relationships/image" Target="../media/overview_21e935ee3955c9b902deb952.png"/><Relationship Id="rIdOverviewSvg11" Type="http://schemas.openxmlformats.org/officeDocument/2006/relationships/image" Target="../media/overview_c85add75f31747e046c29218.svg"/><Relationship Id="rIdOverviewPng12" Type="http://schemas.openxmlformats.org/officeDocument/2006/relationships/image" Target="../media/methods_image4.png"/><Relationship Id="rIdOverviewSvg12" Type="http://schemas.openxmlformats.org/officeDocument/2006/relationships/image" Target="../media/overview_7b19755997bcc61ed99fa927.svg"/><Relationship Id="rIdOverviewPng13" Type="http://schemas.openxmlformats.org/officeDocument/2006/relationships/image" Target="../media/overview_90d9c64c32627fd56c79ff77.png"/><Relationship Id="rIdOverviewSvg13" Type="http://schemas.openxmlformats.org/officeDocument/2006/relationships/image" Target="../media/overview_7aefda76489e932fb6a2ab12.svg"/><Relationship Id="rIdOverviewPng14" Type="http://schemas.openxmlformats.org/officeDocument/2006/relationships/image" Target="../media/overview_21e935ee3955c9b902deb952.png"/><Relationship Id="rIdOverviewSvg14" Type="http://schemas.openxmlformats.org/officeDocument/2006/relationships/image" Target="../media/overview_c85add75f31747e046c29218.svg"/><Relationship Id="rIdOverviewPng15" Type="http://schemas.openxmlformats.org/officeDocument/2006/relationships/image" Target="../media/methods_image4.png"/><Relationship Id="rIdOverviewSvg15" Type="http://schemas.openxmlformats.org/officeDocument/2006/relationships/image" Target="../media/overview_7b19755997bcc61ed99fa927.svg"/><Relationship Id="rIdOverviewPng16" Type="http://schemas.openxmlformats.org/officeDocument/2006/relationships/image" Target="../media/methods_image17.png"/><Relationship Id="rIdOverviewSvg16" Type="http://schemas.openxmlformats.org/officeDocument/2006/relationships/image" Target="../media/overview_e90174776ca55648ccf1ccef.svg"/><Relationship Id="rIdOverviewPng17" Type="http://schemas.openxmlformats.org/officeDocument/2006/relationships/image" Target="../media/overview_21e935ee3955c9b902deb952.png"/><Relationship Id="rIdOverviewSvg17" Type="http://schemas.openxmlformats.org/officeDocument/2006/relationships/image" Target="../media/overview_c85add75f31747e046c29218.svg"/><Relationship Id="rIdOverviewPng18" Type="http://schemas.openxmlformats.org/officeDocument/2006/relationships/image" Target="../media/methods_image4.png"/><Relationship Id="rIdOverviewSvg18" Type="http://schemas.openxmlformats.org/officeDocument/2006/relationships/image" Target="../media/overview_7b19755997bcc61ed99fa927.svg"/><Relationship Id="rIdOverviewPng19" Type="http://schemas.openxmlformats.org/officeDocument/2006/relationships/image" Target="../media/overview_5d01aac3454e46111c1247fa.png"/><Relationship Id="rIdOverviewSvg19" Type="http://schemas.openxmlformats.org/officeDocument/2006/relationships/image" Target="../media/overview_d2a149e6902e6bb8b11ea56c.svg"/><Relationship Id="rIdOverviewPng20" Type="http://schemas.openxmlformats.org/officeDocument/2006/relationships/image" Target="../media/overview_21e935ee3955c9b902deb952.png"/><Relationship Id="rIdOverviewSvg20" Type="http://schemas.openxmlformats.org/officeDocument/2006/relationships/image" Target="../media/overview_c85add75f31747e046c29218.svg"/><Relationship Id="rIdOverviewPng21" Type="http://schemas.openxmlformats.org/officeDocument/2006/relationships/image" Target="../media/methods_image4.png"/><Relationship Id="rIdOverviewSvg21" Type="http://schemas.openxmlformats.org/officeDocument/2006/relationships/image" Target="../media/overview_7b19755997bcc61ed99fa927.svg"/><Relationship Id="rIdOverviewPng22" Type="http://schemas.openxmlformats.org/officeDocument/2006/relationships/image" Target="../media/overview_b0a8d4ed3339d8ce46c973da.png"/><Relationship Id="rIdOverviewSvg22" Type="http://schemas.openxmlformats.org/officeDocument/2006/relationships/image" Target="../media/overview_8fe07f9ac5f29035c7151400.svg"/><Relationship Id="rIdOverviewPng23" Type="http://schemas.openxmlformats.org/officeDocument/2006/relationships/image" Target="../media/overview_21e935ee3955c9b902deb952.png"/><Relationship Id="rIdOverviewSvg23" Type="http://schemas.openxmlformats.org/officeDocument/2006/relationships/image" Target="../media/overview_c85add75f31747e046c29218.svg"/><Relationship Id="rIdOverviewPng24" Type="http://schemas.openxmlformats.org/officeDocument/2006/relationships/image" Target="../media/methods_image4.png"/><Relationship Id="rIdOverviewSvg24" Type="http://schemas.openxmlformats.org/officeDocument/2006/relationships/image" Target="../media/overview_7b19755997bcc61ed99fa927.svg"/><Relationship Id="rIdOverviewPng25" Type="http://schemas.openxmlformats.org/officeDocument/2006/relationships/image" Target="../media/methods_image37.png"/><Relationship Id="rIdOverviewSvg25" Type="http://schemas.openxmlformats.org/officeDocument/2006/relationships/image" Target="../media/overview_156bd582d7e6002703b777d0.svg"/><Relationship Id="rIdOverviewPng26" Type="http://schemas.openxmlformats.org/officeDocument/2006/relationships/image" Target="../media/overview_21e935ee3955c9b902deb952.png"/><Relationship Id="rIdOverviewSvg26" Type="http://schemas.openxmlformats.org/officeDocument/2006/relationships/image" Target="../media/overview_c85add75f31747e046c29218.svg"/><Relationship Id="rIdOverviewPng27" Type="http://schemas.openxmlformats.org/officeDocument/2006/relationships/image" Target="../media/methods_image4.png"/><Relationship Id="rIdOverviewSvg27" Type="http://schemas.openxmlformats.org/officeDocument/2006/relationships/image" Target="../media/overview_7b19755997bcc61ed99fa927.svg"/><Relationship Id="rIdOverviewPng28" Type="http://schemas.openxmlformats.org/officeDocument/2006/relationships/image" Target="../media/methods_image17.png"/><Relationship Id="rIdOverviewSvg28" Type="http://schemas.openxmlformats.org/officeDocument/2006/relationships/image" Target="../media/overview_e90174776ca55648ccf1ccef.svg"/><Relationship Id="rIdOverviewPng29" Type="http://schemas.openxmlformats.org/officeDocument/2006/relationships/image" Target="../media/overview_21e935ee3955c9b902deb952.png"/><Relationship Id="rIdOverviewSvg29" Type="http://schemas.openxmlformats.org/officeDocument/2006/relationships/image" Target="../media/overview_c85add75f31747e046c29218.svg"/><Relationship Id="rIdOverviewPng30" Type="http://schemas.openxmlformats.org/officeDocument/2006/relationships/image" Target="../media/methods_image4.png"/><Relationship Id="rIdOverviewSvg30" Type="http://schemas.openxmlformats.org/officeDocument/2006/relationships/image" Target="../media/overview_7b19755997bcc61ed99fa927.svg"/><Relationship Id="rIdOverviewPng31" Type="http://schemas.openxmlformats.org/officeDocument/2006/relationships/image" Target="../media/overview_5d01aac3454e46111c1247fa.png"/><Relationship Id="rIdOverviewSvg31" Type="http://schemas.openxmlformats.org/officeDocument/2006/relationships/image" Target="../media/overview_d2a149e6902e6bb8b11ea56c.svg"/><Relationship Id="rIdOverviewPng32" Type="http://schemas.openxmlformats.org/officeDocument/2006/relationships/image" Target="../media/overview_21e935ee3955c9b902deb952.png"/><Relationship Id="rIdOverviewSvg32" Type="http://schemas.openxmlformats.org/officeDocument/2006/relationships/image" Target="../media/overview_c85add75f31747e046c29218.svg"/><Relationship Id="rIdOverviewPng33" Type="http://schemas.openxmlformats.org/officeDocument/2006/relationships/image" Target="../media/methods_image4.png"/><Relationship Id="rIdOverviewSvg33" Type="http://schemas.openxmlformats.org/officeDocument/2006/relationships/image" Target="../media/overview_7b19755997bcc61ed99fa927.svg"/><Relationship Id="rIdOverviewPng34" Type="http://schemas.openxmlformats.org/officeDocument/2006/relationships/image" Target="../media/overview_b0a8d4ed3339d8ce46c973da.png"/><Relationship Id="rIdOverviewSvg34" Type="http://schemas.openxmlformats.org/officeDocument/2006/relationships/image" Target="../media/overview_8fe07f9ac5f29035c7151400.svg"/><Relationship Id="rIdOverviewPng35" Type="http://schemas.openxmlformats.org/officeDocument/2006/relationships/image" Target="../media/overview_21e935ee3955c9b902deb952.png"/><Relationship Id="rIdOverviewSvg35" Type="http://schemas.openxmlformats.org/officeDocument/2006/relationships/image" Target="../media/overview_c85add75f31747e046c29218.svg"/><Relationship Id="rIdOverviewPng36" Type="http://schemas.openxmlformats.org/officeDocument/2006/relationships/image" Target="../media/methods_image4.png"/><Relationship Id="rIdOverviewSvg36" Type="http://schemas.openxmlformats.org/officeDocument/2006/relationships/image" Target="../media/overview_7b19755997bcc61ed99fa927.svg"/><Relationship Id="rIdOverviewPng37" Type="http://schemas.openxmlformats.org/officeDocument/2006/relationships/image" Target="../media/methods_image6.png"/><Relationship Id="rIdOverviewSvg37" Type="http://schemas.openxmlformats.org/officeDocument/2006/relationships/image" Target="../media/overview_0962180c29580a302e7492b3.svg"/><Relationship Id="rIdOverviewPng38" Type="http://schemas.openxmlformats.org/officeDocument/2006/relationships/image" Target="../media/overview_21e935ee3955c9b902deb952.png"/><Relationship Id="rIdOverviewSvg38" Type="http://schemas.openxmlformats.org/officeDocument/2006/relationships/image" Target="../media/overview_c85add75f31747e046c29218.svg"/><Relationship Id="rIdOverviewPng39" Type="http://schemas.openxmlformats.org/officeDocument/2006/relationships/image" Target="../media/methods_image4.png"/><Relationship Id="rIdOverviewSvg39" Type="http://schemas.openxmlformats.org/officeDocument/2006/relationships/image" Target="../media/overview_7b19755997bcc61ed99fa927.svg"/><Relationship Id="rIdOverviewPng40" Type="http://schemas.openxmlformats.org/officeDocument/2006/relationships/image" Target="../media/methods_image9.png"/><Relationship Id="rIdOverviewSvg40" Type="http://schemas.openxmlformats.org/officeDocument/2006/relationships/image" Target="../media/overview_c2552436607873394513f314.svg"/><Relationship Id="rIdOverviewPng41" Type="http://schemas.openxmlformats.org/officeDocument/2006/relationships/image" Target="../media/overview_21e935ee3955c9b902deb952.png"/><Relationship Id="rIdOverviewSvg41" Type="http://schemas.openxmlformats.org/officeDocument/2006/relationships/image" Target="../media/overview_c85add75f31747e046c29218.svg"/><Relationship Id="rIdOverviewPng42" Type="http://schemas.openxmlformats.org/officeDocument/2006/relationships/image" Target="../media/methods_image4.png"/><Relationship Id="rIdOverviewSvg42" Type="http://schemas.openxmlformats.org/officeDocument/2006/relationships/image" Target="../media/overview_7b19755997bcc61ed99fa927.svg"/><Relationship Id="rIdOverviewPng43" Type="http://schemas.openxmlformats.org/officeDocument/2006/relationships/image" Target="../media/overview_90d9c64c32627fd56c79ff77.png"/><Relationship Id="rIdOverviewSvg43" Type="http://schemas.openxmlformats.org/officeDocument/2006/relationships/image" Target="../media/overview_7aefda76489e932fb6a2ab12.svg"/><Relationship Id="rIdOverviewPng44" Type="http://schemas.openxmlformats.org/officeDocument/2006/relationships/image" Target="../media/methods_image103.png"/><Relationship Id="rIdOverviewSvg44" Type="http://schemas.openxmlformats.org/officeDocument/2006/relationships/image" Target="../media/overview_c6a13cf59ec9d8dcc73c8d0c.svg"/><Relationship Id="rIdOverviewLink0" Type="http://schemas.openxmlformats.org/officeDocument/2006/relationships/slide" Target="slide3.xml"/><Relationship Id="rIdOverviewLink1" Type="http://schemas.openxmlformats.org/officeDocument/2006/relationships/slide" Target="methods_slide4.xml"/><Relationship Id="rIdOverviewLink2" Type="http://schemas.openxmlformats.org/officeDocument/2006/relationships/slide" Target="methods_slide8.xml"/><Relationship Id="rIdOverviewLink3" Type="http://schemas.openxmlformats.org/officeDocument/2006/relationships/slide" Target="methods_slide12.xml"/><Relationship Id="rIdOverviewLink4" Type="http://schemas.openxmlformats.org/officeDocument/2006/relationships/slide" Target="framing_3.xml"/><Relationship Id="rIdNav1" Type="http://schemas.openxmlformats.org/officeDocument/2006/relationships/slide" Target="methods_slide2.xml"/><Relationship Id="rIdNav2" Type="http://schemas.openxmlformats.org/officeDocument/2006/relationships/slide" Target="methods_slide19.xml"/></Relationships>
</file>

<file path=ppt/slides/_rels/methods_slide2.xml.rels><?xml version='1.0' encoding='UTF-8' standalone='yes'?>
<Relationships xmlns="http://schemas.openxmlformats.org/package/2006/relationships"><Relationship Type="http://schemas.openxmlformats.org/officeDocument/2006/relationships/slideLayout" Target="../slideLayouts/methods_slideLayout1.xml" Id="Rd198a8c3d10b4154"/><Relationship Type="http://schemas.openxmlformats.org/officeDocument/2006/relationships/image" Target="../media/methods_image.png" Id="R7126752ac25c4d96"/><Relationship Type="http://schemas.openxmlformats.org/officeDocument/2006/relationships/image" Target="../media/methods_image2.png" Id="Rec9c77848ea9494f"/><Relationship Type="http://schemas.openxmlformats.org/officeDocument/2006/relationships/image" Target="../media/methods_image27.png" Id="Ra46baee1a9eb4229"/><Relationship Type="http://schemas.openxmlformats.org/officeDocument/2006/relationships/image" Target="../media/methods_image4.png" Id="R7293f9414ef44260"/><Relationship Type="http://schemas.openxmlformats.org/officeDocument/2006/relationships/image" Target="../media/methods_image29.png" Id="Rc121c583bd704576"/><Relationship Type="http://schemas.openxmlformats.org/officeDocument/2006/relationships/image" Target="../media/methods_image5.png" Id="R2a1de64499c04e93"/><Relationship Type="http://schemas.openxmlformats.org/officeDocument/2006/relationships/image" Target="../media/methods_image31.png" Id="R19f71dce80fe46b2"/><Relationship Type="http://schemas.openxmlformats.org/officeDocument/2006/relationships/image" Target="../media/methods_image32.png" Id="R3ac53ee054694e5b"/><Relationship Type="http://schemas.openxmlformats.org/officeDocument/2006/relationships/image" Target="../media/methods_image4.png" Id="R0d4d859727d843cc"/><Relationship Type="http://schemas.openxmlformats.org/officeDocument/2006/relationships/image" Target="../media/methods_image34.png" Id="Rd062d95992d94bea"/><Relationship Type="http://schemas.openxmlformats.org/officeDocument/2006/relationships/image" Target="../media/methods_image5.png" Id="R411538d39182472d"/><Relationship Type="http://schemas.openxmlformats.org/officeDocument/2006/relationships/image" Target="../media/methods_image36.png" Id="Rfc9ebfee8f5b4f00"/><Relationship Type="http://schemas.openxmlformats.org/officeDocument/2006/relationships/image" Target="../media/methods_image37.png" Id="R728d8358138e4af9"/><Relationship Type="http://schemas.openxmlformats.org/officeDocument/2006/relationships/image" Target="../media/methods_image38.png" Id="R54016bb86d964347"/><Relationship Type="http://schemas.openxmlformats.org/officeDocument/2006/relationships/image" Target="../media/methods_image39.png" Id="Radd280282be34f44"/><Relationship Type="http://schemas.openxmlformats.org/officeDocument/2006/relationships/image" Target="../media/methods_image40.png" Id="Rcf83f37c0ccd485a"/><Relationship Type="http://schemas.openxmlformats.org/officeDocument/2006/relationships/notesSlide" Target="../notesSlides/methods_notesSlide2.xml" Id="R4f168baae0a847c4"/><Relationship Id="rIdVectormf00025" Type="http://schemas.openxmlformats.org/officeDocument/2006/relationships/image" Target="../media/methods_mf00001.svg"/><Relationship Id="rIdVectormf00026" Type="http://schemas.openxmlformats.org/officeDocument/2006/relationships/image" Target="../media/methods_mf00002.svg"/><Relationship Id="rIdVectormf00027" Type="http://schemas.openxmlformats.org/officeDocument/2006/relationships/image" Target="../media/methods_mf00027.svg"/><Relationship Id="rIdVectormf00028" Type="http://schemas.openxmlformats.org/officeDocument/2006/relationships/image" Target="../media/methods_mf00004.svg"/><Relationship Id="rIdVectormf00029" Type="http://schemas.openxmlformats.org/officeDocument/2006/relationships/image" Target="../media/methods_mf00029.svg"/><Relationship Id="rIdVectormf00030" Type="http://schemas.openxmlformats.org/officeDocument/2006/relationships/image" Target="../media/methods_mf00005.svg"/><Relationship Id="rIdVectormf00031" Type="http://schemas.openxmlformats.org/officeDocument/2006/relationships/image" Target="../media/methods_mf00031.svg"/><Relationship Id="rIdVectormf00032" Type="http://schemas.openxmlformats.org/officeDocument/2006/relationships/image" Target="../media/methods_mf00032.svg"/><Relationship Id="rIdVectormf00033" Type="http://schemas.openxmlformats.org/officeDocument/2006/relationships/image" Target="../media/methods_mf00004.svg"/><Relationship Id="rIdVectormf00034" Type="http://schemas.openxmlformats.org/officeDocument/2006/relationships/image" Target="../media/methods_mf00034.svg"/><Relationship Id="rIdVectormf00035" Type="http://schemas.openxmlformats.org/officeDocument/2006/relationships/image" Target="../media/methods_mf00005.svg"/><Relationship Id="rIdVectormf00036" Type="http://schemas.openxmlformats.org/officeDocument/2006/relationships/image" Target="../media/methods_mf00036.svg"/><Relationship Id="rIdVectormf00037" Type="http://schemas.openxmlformats.org/officeDocument/2006/relationships/image" Target="../media/methods_mf00037.svg"/><Relationship Id="rIdVectormf00038" Type="http://schemas.openxmlformats.org/officeDocument/2006/relationships/image" Target="../media/methods_mf00038.svg"/><Relationship Id="rIdVectormf00039" Type="http://schemas.openxmlformats.org/officeDocument/2006/relationships/image" Target="../media/methods_mf00039.svg"/><Relationship Id="rIdVectormf00040" Type="http://schemas.openxmlformats.org/officeDocument/2006/relationships/image" Target="../media/methods_mf00040.svg"/><Relationship Id="rIdmethods_Link14" Type="http://schemas.openxmlformats.org/officeDocument/2006/relationships/slide" Target="methods_slide1.xml"/><Relationship Id="rIdmethods_Link15" Type="http://schemas.openxmlformats.org/officeDocument/2006/relationships/slide" Target="methods_slide2.xml"/><Relationship Id="rIdmethods_Link16" Type="http://schemas.openxmlformats.org/officeDocument/2006/relationships/slide" Target="methods_slide3.xml"/><Relationship Id="rIdmethods_Link17" Type="http://schemas.openxmlformats.org/officeDocument/2006/relationships/slide" Target="methods_slide3.xml"/></Relationships>
</file>

<file path=ppt/slides/_rels/methods_slide3.xml.rels><?xml version='1.0' encoding='UTF-8' standalone='yes'?>
<Relationships xmlns="http://schemas.openxmlformats.org/package/2006/relationships"><Relationship Type="http://schemas.openxmlformats.org/officeDocument/2006/relationships/slideLayout" Target="../slideLayouts/methods_slideLayout1.xml" Id="R1975f863abbb4938"/><Relationship Type="http://schemas.openxmlformats.org/officeDocument/2006/relationships/image" Target="../media/methods_image27.png" Id="R366aeaa17c30487b"/><Relationship Type="http://schemas.openxmlformats.org/officeDocument/2006/relationships/image" Target="../media/methods_image2.png" Id="R467ac2301bf14b37"/><Relationship Type="http://schemas.openxmlformats.org/officeDocument/2006/relationships/image" Target="../media/methods_image.png" Id="R95b32341df134fe9"/><Relationship Type="http://schemas.openxmlformats.org/officeDocument/2006/relationships/image" Target="../media/methods_image4.png" Id="R242ad00aa9da475a"/><Relationship Type="http://schemas.openxmlformats.org/officeDocument/2006/relationships/image" Target="../media/methods_image34.png" Id="R6b1b46a898bd44c8"/><Relationship Type="http://schemas.openxmlformats.org/officeDocument/2006/relationships/image" Target="../media/methods_image5.png" Id="Rfbcfdf51659f4840"/><Relationship Type="http://schemas.openxmlformats.org/officeDocument/2006/relationships/image" Target="../media/methods_image36.png" Id="Rb658977c05b544a6"/><Relationship Type="http://schemas.openxmlformats.org/officeDocument/2006/relationships/image" Target="../media/methods_image37.png" Id="R25ac3da2a4704e68"/><Relationship Type="http://schemas.openxmlformats.org/officeDocument/2006/relationships/image" Target="../media/methods_image4.png" Id="R835ea0dad4fc486a"/><Relationship Type="http://schemas.openxmlformats.org/officeDocument/2006/relationships/image" Target="../media/methods_image50.png" Id="R0dd533740f0a4bd0"/><Relationship Type="http://schemas.openxmlformats.org/officeDocument/2006/relationships/image" Target="../media/methods_image5.png" Id="R27769e8767b94df4"/><Relationship Type="http://schemas.openxmlformats.org/officeDocument/2006/relationships/image" Target="../media/methods_image52.png" Id="Red768b2293dc493b"/><Relationship Type="http://schemas.openxmlformats.org/officeDocument/2006/relationships/image" Target="../media/methods_image53.png" Id="R54d69ded14ab4643"/><Relationship Type="http://schemas.openxmlformats.org/officeDocument/2006/relationships/image" Target="../media/methods_image4.png" Id="Rdc519998a56b41cd"/><Relationship Type="http://schemas.openxmlformats.org/officeDocument/2006/relationships/image" Target="../media/methods_image29.png" Id="Rd3535a32c9be4e64"/><Relationship Type="http://schemas.openxmlformats.org/officeDocument/2006/relationships/image" Target="../media/methods_image5.png" Id="R24a86051a3f04f66"/><Relationship Type="http://schemas.openxmlformats.org/officeDocument/2006/relationships/image" Target="../media/methods_image31.png" Id="R52fee7eb30e3411c"/><Relationship Type="http://schemas.openxmlformats.org/officeDocument/2006/relationships/image" Target="../media/methods_image32.png" Id="R0e9eeb4a031840de"/><Relationship Type="http://schemas.openxmlformats.org/officeDocument/2006/relationships/image" Target="../media/methods_image59.png" Id="R16d8a7ac36414a74"/><Relationship Type="http://schemas.openxmlformats.org/officeDocument/2006/relationships/image" Target="../media/methods_image60.png" Id="R31bd18dca76243bb"/><Relationship Type="http://schemas.openxmlformats.org/officeDocument/2006/relationships/image" Target="../media/methods_image39.png" Id="R843057e3bd1a4428"/><Relationship Type="http://schemas.openxmlformats.org/officeDocument/2006/relationships/image" Target="../media/methods_image40.png" Id="Reaf2757e9cf245d3"/><Relationship Type="http://schemas.openxmlformats.org/officeDocument/2006/relationships/image" Target="../media/methods_image63.png" Id="Rc34d666411624670"/><Relationship Type="http://schemas.openxmlformats.org/officeDocument/2006/relationships/image" Target="../media/methods_image64.png" Id="R5b8a1f5cde6e45e1"/><Relationship Type="http://schemas.openxmlformats.org/officeDocument/2006/relationships/notesSlide" Target="../notesSlides/methods_notesSlide3.xml" Id="R75ba1da50b444c6f"/><Relationship Id="rIdVectormf00041" Type="http://schemas.openxmlformats.org/officeDocument/2006/relationships/image" Target="../media/methods_mf00027.svg"/><Relationship Id="rIdVectormf00042" Type="http://schemas.openxmlformats.org/officeDocument/2006/relationships/image" Target="../media/methods_mf00002.svg"/><Relationship Id="rIdVectormf00043" Type="http://schemas.openxmlformats.org/officeDocument/2006/relationships/image" Target="../media/methods_mf00001.svg"/><Relationship Id="rIdVectormf00044" Type="http://schemas.openxmlformats.org/officeDocument/2006/relationships/image" Target="../media/methods_mf00004.svg"/><Relationship Id="rIdVectormf00045" Type="http://schemas.openxmlformats.org/officeDocument/2006/relationships/image" Target="../media/methods_mf00034.svg"/><Relationship Id="rIdVectormf00046" Type="http://schemas.openxmlformats.org/officeDocument/2006/relationships/image" Target="../media/methods_mf00005.svg"/><Relationship Id="rIdVectormf00047" Type="http://schemas.openxmlformats.org/officeDocument/2006/relationships/image" Target="../media/methods_mf00036.svg"/><Relationship Id="rIdVectormf00048" Type="http://schemas.openxmlformats.org/officeDocument/2006/relationships/image" Target="../media/methods_mf00037.svg"/><Relationship Id="rIdVectormf00049" Type="http://schemas.openxmlformats.org/officeDocument/2006/relationships/image" Target="../media/methods_mf00004.svg"/><Relationship Id="rIdVectormf00050" Type="http://schemas.openxmlformats.org/officeDocument/2006/relationships/image" Target="../media/methods_mf00050.svg"/><Relationship Id="rIdVectormf00051" Type="http://schemas.openxmlformats.org/officeDocument/2006/relationships/image" Target="../media/methods_mf00005.svg"/><Relationship Id="rIdVectormf00052" Type="http://schemas.openxmlformats.org/officeDocument/2006/relationships/image" Target="../media/methods_mf00052.svg"/><Relationship Id="rIdVectormf00053" Type="http://schemas.openxmlformats.org/officeDocument/2006/relationships/image" Target="../media/methods_mf00053.svg"/><Relationship Id="rIdVectormf00054" Type="http://schemas.openxmlformats.org/officeDocument/2006/relationships/image" Target="../media/methods_mf00004.svg"/><Relationship Id="rIdVectormf00055" Type="http://schemas.openxmlformats.org/officeDocument/2006/relationships/image" Target="../media/methods_mf00029.svg"/><Relationship Id="rIdVectormf00056" Type="http://schemas.openxmlformats.org/officeDocument/2006/relationships/image" Target="../media/methods_mf00005.svg"/><Relationship Id="rIdVectormf00057" Type="http://schemas.openxmlformats.org/officeDocument/2006/relationships/image" Target="../media/methods_mf00031.svg"/><Relationship Id="rIdVectormf00058" Type="http://schemas.openxmlformats.org/officeDocument/2006/relationships/image" Target="../media/methods_mf00032.svg"/><Relationship Id="rIdVectormf00059" Type="http://schemas.openxmlformats.org/officeDocument/2006/relationships/image" Target="../media/methods_mf00059.svg"/><Relationship Id="rIdVectormf00060" Type="http://schemas.openxmlformats.org/officeDocument/2006/relationships/image" Target="../media/methods_mf00060.svg"/><Relationship Id="rIdVectormf00061" Type="http://schemas.openxmlformats.org/officeDocument/2006/relationships/image" Target="../media/methods_mf00039.svg"/><Relationship Id="rIdVectormf00062" Type="http://schemas.openxmlformats.org/officeDocument/2006/relationships/image" Target="../media/methods_mf00040.svg"/><Relationship Id="rIdVectormf00063" Type="http://schemas.openxmlformats.org/officeDocument/2006/relationships/image" Target="../media/methods_mf00063.svg"/><Relationship Id="rIdVectormf00064" Type="http://schemas.openxmlformats.org/officeDocument/2006/relationships/image" Target="../media/methods_mf00064.svg"/><Relationship Id="rIdmethods_Link18" Type="http://schemas.openxmlformats.org/officeDocument/2006/relationships/slide" Target="methods_slide1.xml"/><Relationship Id="rIdmethods_Link19" Type="http://schemas.openxmlformats.org/officeDocument/2006/relationships/slide" Target="methods_slide2.xml"/><Relationship Id="rIdmethods_Link20" Type="http://schemas.openxmlformats.org/officeDocument/2006/relationships/slide" Target="methods_slide3.xml"/><Relationship Id="rIdmethods_Link21" Type="http://schemas.openxmlformats.org/officeDocument/2006/relationships/slide" Target="methods_slide3.xml"/></Relationships>
</file>

<file path=ppt/slides/_rels/methods_slide4.xml.rels><?xml version='1.0' encoding='UTF-8' standalone='yes'?>
<Relationships xmlns="http://schemas.openxmlformats.org/package/2006/relationships"><Relationship Type="http://schemas.openxmlformats.org/officeDocument/2006/relationships/slideLayout" Target="../slideLayouts/methods_slideLayout1.xml" Id="R904f23a429cd4fbc"/><Relationship Type="http://schemas.openxmlformats.org/officeDocument/2006/relationships/image" Target="../media/methods_image65.png" Id="R23d12645efb6446a"/><Relationship Type="http://schemas.openxmlformats.org/officeDocument/2006/relationships/image" Target="../media/methods_image2.png" Id="R9ac6b914377545da"/><Relationship Type="http://schemas.openxmlformats.org/officeDocument/2006/relationships/image" Target="../media/methods_image67.png" Id="R394de5d50e9f4b90"/><Relationship Type="http://schemas.openxmlformats.org/officeDocument/2006/relationships/image" Target="../media/methods_image4.png" Id="Rd11ec4b836ca4d68"/><Relationship Type="http://schemas.openxmlformats.org/officeDocument/2006/relationships/image" Target="../media/methods_image5.png" Id="R3d328c2a20a548da"/><Relationship Type="http://schemas.openxmlformats.org/officeDocument/2006/relationships/image" Target="../media/methods_image6.png" Id="R26d5fd1bac874a37"/><Relationship Type="http://schemas.openxmlformats.org/officeDocument/2006/relationships/image" Target="../media/methods_image4.png" Id="R8549d2fa755b4dac"/><Relationship Type="http://schemas.openxmlformats.org/officeDocument/2006/relationships/image" Target="../media/methods_image5.png" Id="R2d49a8a6cfe5458d"/><Relationship Type="http://schemas.openxmlformats.org/officeDocument/2006/relationships/image" Target="../media/methods_image9.png" Id="Rf9cdd2b350b34d9b"/><Relationship Type="http://schemas.openxmlformats.org/officeDocument/2006/relationships/image" Target="../media/methods_image4.png" Id="R0e8783fba4ad46ff"/><Relationship Type="http://schemas.openxmlformats.org/officeDocument/2006/relationships/image" Target="../media/methods_image5.png" Id="R04d05e3c8ae24c3f"/><Relationship Type="http://schemas.openxmlformats.org/officeDocument/2006/relationships/image" Target="../media/methods_image12.png" Id="R0eac63d45ac54862"/><Relationship Type="http://schemas.openxmlformats.org/officeDocument/2006/relationships/image" Target="../media/methods_image4.png" Id="R6cd492470588471b"/><Relationship Type="http://schemas.openxmlformats.org/officeDocument/2006/relationships/image" Target="../media/methods_image78.png" Id="R0f4bb3c95e0949d0"/><Relationship Type="http://schemas.openxmlformats.org/officeDocument/2006/relationships/image" Target="../media/methods_image5.png" Id="Rf36a181762844865"/><Relationship Type="http://schemas.openxmlformats.org/officeDocument/2006/relationships/image" Target="../media/methods_image80.png" Id="Rc7f388d4acbf4626"/><Relationship Type="http://schemas.openxmlformats.org/officeDocument/2006/relationships/image" Target="../media/methods_image17.png" Id="Rfacf1f86fb6147e2"/><Relationship Type="http://schemas.openxmlformats.org/officeDocument/2006/relationships/image" Target="../media/methods_image4.png" Id="Rd1ea3f8e707c451a"/><Relationship Type="http://schemas.openxmlformats.org/officeDocument/2006/relationships/image" Target="../media/methods_image83.png" Id="R07a6b015401b45cd"/><Relationship Type="http://schemas.openxmlformats.org/officeDocument/2006/relationships/image" Target="../media/methods_image5.png" Id="Rd5f1d3d6c85e4166"/><Relationship Type="http://schemas.openxmlformats.org/officeDocument/2006/relationships/image" Target="../media/methods_image85.png" Id="Re871af22c2f145b6"/><Relationship Type="http://schemas.openxmlformats.org/officeDocument/2006/relationships/image" Target="../media/methods_image86.png" Id="R630181e5bb97436b"/><Relationship Type="http://schemas.openxmlformats.org/officeDocument/2006/relationships/image" Target="../media/methods_image4.png" Id="R72eeaa631cd8459c"/><Relationship Type="http://schemas.openxmlformats.org/officeDocument/2006/relationships/image" Target="../media/methods_image88.png" Id="Rcd78e179cf524b60"/><Relationship Type="http://schemas.openxmlformats.org/officeDocument/2006/relationships/image" Target="../media/methods_image5.png" Id="R8962e6b6b8f94b5f"/><Relationship Type="http://schemas.openxmlformats.org/officeDocument/2006/relationships/image" Target="../media/methods_image90.png" Id="Rb61aaf4593bc4a26"/><Relationship Type="http://schemas.openxmlformats.org/officeDocument/2006/relationships/image" Target="../media/methods_image91.png" Id="R38b33e42568049aa"/><Relationship Type="http://schemas.openxmlformats.org/officeDocument/2006/relationships/image" Target="../media/methods_image4.png" Id="Rbc00bc6730994eb3"/><Relationship Type="http://schemas.openxmlformats.org/officeDocument/2006/relationships/image" Target="../media/methods_image78.png" Id="Ra441e229e135417e"/><Relationship Type="http://schemas.openxmlformats.org/officeDocument/2006/relationships/image" Target="../media/methods_image80.png" Id="Rb515cf91e3b14f14"/><Relationship Type="http://schemas.openxmlformats.org/officeDocument/2006/relationships/image" Target="../media/methods_image83.png" Id="R6d2bbf98c57e4fed"/><Relationship Type="http://schemas.openxmlformats.org/officeDocument/2006/relationships/image" Target="../media/methods_image85.png" Id="R5dec4864470c4a7d"/><Relationship Type="http://schemas.openxmlformats.org/officeDocument/2006/relationships/image" Target="../media/methods_image88.png" Id="Rb9895661363742e5"/><Relationship Type="http://schemas.openxmlformats.org/officeDocument/2006/relationships/image" Target="../media/methods_image90.png" Id="R16ef32dbab8b4355"/><Relationship Type="http://schemas.openxmlformats.org/officeDocument/2006/relationships/image" Target="../media/methods_image37.png" Id="R1ca9d55bc4a7489f"/><Relationship Type="http://schemas.openxmlformats.org/officeDocument/2006/relationships/image" Target="../media/methods_image100.png" Id="Radf278ee51b64763"/><Relationship Type="http://schemas.openxmlformats.org/officeDocument/2006/relationships/image" Target="../media/methods_image101.png" Id="Ra0f26b572b84499e"/><Relationship Type="http://schemas.openxmlformats.org/officeDocument/2006/relationships/image" Target="../media/methods_image102.png" Id="R4c5368d02c89442e"/><Relationship Type="http://schemas.openxmlformats.org/officeDocument/2006/relationships/image" Target="../media/methods_image103.png" Id="R7b0b63cce0c944a9"/><Relationship Type="http://schemas.openxmlformats.org/officeDocument/2006/relationships/notesSlide" Target="../notesSlides/methods_notesSlide4.xml" Id="R86679e3c583b442d"/><Relationship Id="rIdVectormf00065" Type="http://schemas.openxmlformats.org/officeDocument/2006/relationships/image" Target="../media/methods_mf00065.svg"/><Relationship Id="rIdVectormf00066" Type="http://schemas.openxmlformats.org/officeDocument/2006/relationships/image" Target="../media/methods_mf00002.svg"/><Relationship Id="rIdVectormf00067" Type="http://schemas.openxmlformats.org/officeDocument/2006/relationships/image" Target="../media/methods_mf00067.svg"/><Relationship Id="rIdVectormf00068" Type="http://schemas.openxmlformats.org/officeDocument/2006/relationships/image" Target="../media/methods_mf00004.svg"/><Relationship Id="rIdVectormf00069" Type="http://schemas.openxmlformats.org/officeDocument/2006/relationships/image" Target="../media/methods_mf00005.svg"/><Relationship Id="rIdVectormf00070" Type="http://schemas.openxmlformats.org/officeDocument/2006/relationships/image" Target="../media/methods_mf00006.svg"/><Relationship Id="rIdVectormf00071" Type="http://schemas.openxmlformats.org/officeDocument/2006/relationships/image" Target="../media/methods_mf00004.svg"/><Relationship Id="rIdVectormf00072" Type="http://schemas.openxmlformats.org/officeDocument/2006/relationships/image" Target="../media/methods_mf00005.svg"/><Relationship Id="rIdVectormf00073" Type="http://schemas.openxmlformats.org/officeDocument/2006/relationships/image" Target="../media/methods_mf00009.svg"/><Relationship Id="rIdVectormf00074" Type="http://schemas.openxmlformats.org/officeDocument/2006/relationships/image" Target="../media/methods_mf00004.svg"/><Relationship Id="rIdVectormf00075" Type="http://schemas.openxmlformats.org/officeDocument/2006/relationships/image" Target="../media/methods_mf00005.svg"/><Relationship Id="rIdVectormf00076" Type="http://schemas.openxmlformats.org/officeDocument/2006/relationships/image" Target="../media/methods_mf00012.svg"/><Relationship Id="rIdVectormf00077" Type="http://schemas.openxmlformats.org/officeDocument/2006/relationships/image" Target="../media/methods_mf00004.svg"/><Relationship Id="rIdVectormf00078" Type="http://schemas.openxmlformats.org/officeDocument/2006/relationships/image" Target="../media/methods_mf00078.svg"/><Relationship Id="rIdVectormf00079" Type="http://schemas.openxmlformats.org/officeDocument/2006/relationships/image" Target="../media/methods_mf00005.svg"/><Relationship Id="rIdVectormf00080" Type="http://schemas.openxmlformats.org/officeDocument/2006/relationships/image" Target="../media/methods_mf00080.svg"/><Relationship Id="rIdVectormf00081" Type="http://schemas.openxmlformats.org/officeDocument/2006/relationships/image" Target="../media/methods_mf00017.svg"/><Relationship Id="rIdVectormf00082" Type="http://schemas.openxmlformats.org/officeDocument/2006/relationships/image" Target="../media/methods_mf00004.svg"/><Relationship Id="rIdVectormf00083" Type="http://schemas.openxmlformats.org/officeDocument/2006/relationships/image" Target="../media/methods_mf00083.svg"/><Relationship Id="rIdVectormf00084" Type="http://schemas.openxmlformats.org/officeDocument/2006/relationships/image" Target="../media/methods_mf00005.svg"/><Relationship Id="rIdVectormf00085" Type="http://schemas.openxmlformats.org/officeDocument/2006/relationships/image" Target="../media/methods_mf00085.svg"/><Relationship Id="rIdVectormf00086" Type="http://schemas.openxmlformats.org/officeDocument/2006/relationships/image" Target="../media/methods_mf00086.svg"/><Relationship Id="rIdVectormf00087" Type="http://schemas.openxmlformats.org/officeDocument/2006/relationships/image" Target="../media/methods_mf00004.svg"/><Relationship Id="rIdVectormf00088" Type="http://schemas.openxmlformats.org/officeDocument/2006/relationships/image" Target="../media/methods_mf00088.svg"/><Relationship Id="rIdVectormf00089" Type="http://schemas.openxmlformats.org/officeDocument/2006/relationships/image" Target="../media/methods_mf00005.svg"/><Relationship Id="rIdVectormf00090" Type="http://schemas.openxmlformats.org/officeDocument/2006/relationships/image" Target="../media/methods_mf00090.svg"/><Relationship Id="rIdVectormf00091" Type="http://schemas.openxmlformats.org/officeDocument/2006/relationships/image" Target="../media/methods_mf00091.svg"/><Relationship Id="rIdVectormf00092" Type="http://schemas.openxmlformats.org/officeDocument/2006/relationships/image" Target="../media/methods_mf00004.svg"/><Relationship Id="rIdVectormf00093" Type="http://schemas.openxmlformats.org/officeDocument/2006/relationships/image" Target="../media/methods_mf00078.svg"/><Relationship Id="rIdVectormf00094" Type="http://schemas.openxmlformats.org/officeDocument/2006/relationships/image" Target="../media/methods_mf00080.svg"/><Relationship Id="rIdVectormf00095" Type="http://schemas.openxmlformats.org/officeDocument/2006/relationships/image" Target="../media/methods_mf00083.svg"/><Relationship Id="rIdVectormf00096" Type="http://schemas.openxmlformats.org/officeDocument/2006/relationships/image" Target="../media/methods_mf00085.svg"/><Relationship Id="rIdVectormf00097" Type="http://schemas.openxmlformats.org/officeDocument/2006/relationships/image" Target="../media/methods_mf00088.svg"/><Relationship Id="rIdVectormf00098" Type="http://schemas.openxmlformats.org/officeDocument/2006/relationships/image" Target="../media/methods_mf00090.svg"/><Relationship Id="rIdVectormf00099" Type="http://schemas.openxmlformats.org/officeDocument/2006/relationships/image" Target="../media/methods_mf00037.svg"/><Relationship Id="rIdVectormf00100" Type="http://schemas.openxmlformats.org/officeDocument/2006/relationships/image" Target="../media/methods_mf00100.svg"/><Relationship Id="rIdVectormf00101" Type="http://schemas.openxmlformats.org/officeDocument/2006/relationships/image" Target="../media/methods_mf00101.svg"/><Relationship Id="rIdVectormf00102" Type="http://schemas.openxmlformats.org/officeDocument/2006/relationships/image" Target="../media/methods_mf00102.svg"/><Relationship Id="rIdVectormf00103" Type="http://schemas.openxmlformats.org/officeDocument/2006/relationships/image" Target="../media/methods_mf00103.svg"/><Relationship Id="rIdmethods_Link22" Type="http://schemas.openxmlformats.org/officeDocument/2006/relationships/slide" Target="methods_slide1.xml"/><Relationship Id="rIdmethods_Link23" Type="http://schemas.openxmlformats.org/officeDocument/2006/relationships/slide" Target="methods_slide4.xml"/><Relationship Id="rIdmethods_Link24" Type="http://schemas.openxmlformats.org/officeDocument/2006/relationships/slide" Target="methods_slide5.xml"/><Relationship Id="rIdmethods_Link25" Type="http://schemas.openxmlformats.org/officeDocument/2006/relationships/slide" Target="methods_slide19.xml"/></Relationships>
</file>

<file path=ppt/slides/_rels/methods_slide5.xml.rels><?xml version='1.0' encoding='UTF-8' standalone='yes'?>
<Relationships xmlns="http://schemas.openxmlformats.org/package/2006/relationships"><Relationship Type="http://schemas.openxmlformats.org/officeDocument/2006/relationships/slideLayout" Target="../slideLayouts/methods_slideLayout1.xml" Id="R35d75c056fa24435"/><Relationship Type="http://schemas.openxmlformats.org/officeDocument/2006/relationships/image" Target="../media/methods_image104.png" Id="R15c00974a9064617"/><Relationship Type="http://schemas.openxmlformats.org/officeDocument/2006/relationships/image" Target="../media/methods_image2.png" Id="Re1ad8e51e8844c43"/><Relationship Type="http://schemas.openxmlformats.org/officeDocument/2006/relationships/image" Target="../media/methods_image106.png" Id="R73f086dddee74de7"/><Relationship Type="http://schemas.openxmlformats.org/officeDocument/2006/relationships/image" Target="../media/methods_image4.png" Id="Rdb4d5a4722ff4dfc"/><Relationship Type="http://schemas.openxmlformats.org/officeDocument/2006/relationships/image" Target="../media/methods_image78.png" Id="R2b3a1234ea6d49a2"/><Relationship Type="http://schemas.openxmlformats.org/officeDocument/2006/relationships/image" Target="../media/methods_image80.png" Id="R8c58ac01a0bd4b36"/><Relationship Type="http://schemas.openxmlformats.org/officeDocument/2006/relationships/image" Target="../media/methods_image83.png" Id="R2f55eed982544c29"/><Relationship Type="http://schemas.openxmlformats.org/officeDocument/2006/relationships/image" Target="../media/methods_image85.png" Id="R2900ca33420b4b5d"/><Relationship Type="http://schemas.openxmlformats.org/officeDocument/2006/relationships/image" Target="../media/methods_image88.png" Id="R9da9ef8be3f44b62"/><Relationship Type="http://schemas.openxmlformats.org/officeDocument/2006/relationships/image" Target="../media/methods_image90.png" Id="R3327887c5d7b4ad8"/><Relationship Type="http://schemas.openxmlformats.org/officeDocument/2006/relationships/image" Target="../media/methods_image37.png" Id="R9afef140966a4180"/><Relationship Type="http://schemas.openxmlformats.org/officeDocument/2006/relationships/image" Target="../media/methods_image4.png" Id="Rb93c9d2d97e04514"/><Relationship Type="http://schemas.openxmlformats.org/officeDocument/2006/relationships/image" Target="../media/methods_image83.png" Id="Ra99cf5c60d924528"/><Relationship Type="http://schemas.openxmlformats.org/officeDocument/2006/relationships/image" Target="../media/methods_image5.png" Id="R04fe0919e7f44548"/><Relationship Type="http://schemas.openxmlformats.org/officeDocument/2006/relationships/image" Target="../media/methods_image85.png" Id="R8e565943f66a4fa5"/><Relationship Type="http://schemas.openxmlformats.org/officeDocument/2006/relationships/image" Target="../media/methods_image86.png" Id="R018d936c93cc49e2"/><Relationship Type="http://schemas.openxmlformats.org/officeDocument/2006/relationships/image" Target="../media/methods_image4.png" Id="R94e62259571e40fb"/><Relationship Type="http://schemas.openxmlformats.org/officeDocument/2006/relationships/image" Target="../media/methods_image5.png" Id="Ra894411a298f413f"/><Relationship Type="http://schemas.openxmlformats.org/officeDocument/2006/relationships/image" Target="../media/methods_image9.png" Id="R24992291f59149a3"/><Relationship Type="http://schemas.openxmlformats.org/officeDocument/2006/relationships/image" Target="../media/methods_image123.png" Id="R831debfafd1a4e35"/><Relationship Type="http://schemas.openxmlformats.org/officeDocument/2006/relationships/image" Target="../media/methods_image102.png" Id="R27c0603b9c8648db"/><Relationship Type="http://schemas.openxmlformats.org/officeDocument/2006/relationships/image" Target="../media/methods_image103.png" Id="R28e64d37db174ef4"/><Relationship Type="http://schemas.openxmlformats.org/officeDocument/2006/relationships/image" Target="../media/methods_image126.png" Id="R29348159c66a42a5"/><Relationship Type="http://schemas.openxmlformats.org/officeDocument/2006/relationships/image" Target="../media/methods_image127.png" Id="R0428caa3d85e4d77"/><Relationship Type="http://schemas.openxmlformats.org/officeDocument/2006/relationships/notesSlide" Target="../notesSlides/methods_notesSlide5.xml" Id="R4be17290941e4530"/><Relationship Id="rIdVectormf00104" Type="http://schemas.openxmlformats.org/officeDocument/2006/relationships/image" Target="../media/methods_mf00104.svg"/><Relationship Id="rIdVectormf00105" Type="http://schemas.openxmlformats.org/officeDocument/2006/relationships/image" Target="../media/methods_mf00002.svg"/><Relationship Id="rIdVectormf00106" Type="http://schemas.openxmlformats.org/officeDocument/2006/relationships/image" Target="../media/methods_mf00106.svg"/><Relationship Id="rIdVectormf00107" Type="http://schemas.openxmlformats.org/officeDocument/2006/relationships/image" Target="../media/methods_mf00004.svg"/><Relationship Id="rIdVectormf00108" Type="http://schemas.openxmlformats.org/officeDocument/2006/relationships/image" Target="../media/methods_mf00078.svg"/><Relationship Id="rIdVectormf00109" Type="http://schemas.openxmlformats.org/officeDocument/2006/relationships/image" Target="../media/methods_mf00080.svg"/><Relationship Id="rIdVectormf00110" Type="http://schemas.openxmlformats.org/officeDocument/2006/relationships/image" Target="../media/methods_mf00083.svg"/><Relationship Id="rIdVectormf00111" Type="http://schemas.openxmlformats.org/officeDocument/2006/relationships/image" Target="../media/methods_mf00085.svg"/><Relationship Id="rIdVectormf00112" Type="http://schemas.openxmlformats.org/officeDocument/2006/relationships/image" Target="../media/methods_mf00088.svg"/><Relationship Id="rIdVectormf00113" Type="http://schemas.openxmlformats.org/officeDocument/2006/relationships/image" Target="../media/methods_mf00090.svg"/><Relationship Id="rIdVectormf00114" Type="http://schemas.openxmlformats.org/officeDocument/2006/relationships/image" Target="../media/methods_mf00037.svg"/><Relationship Id="rIdVectormf00115" Type="http://schemas.openxmlformats.org/officeDocument/2006/relationships/image" Target="../media/methods_mf00004.svg"/><Relationship Id="rIdVectormf00116" Type="http://schemas.openxmlformats.org/officeDocument/2006/relationships/image" Target="../media/methods_mf00083.svg"/><Relationship Id="rIdVectormf00117" Type="http://schemas.openxmlformats.org/officeDocument/2006/relationships/image" Target="../media/methods_mf00005.svg"/><Relationship Id="rIdVectormf00118" Type="http://schemas.openxmlformats.org/officeDocument/2006/relationships/image" Target="../media/methods_mf00085.svg"/><Relationship Id="rIdVectormf00119" Type="http://schemas.openxmlformats.org/officeDocument/2006/relationships/image" Target="../media/methods_mf00086.svg"/><Relationship Id="rIdVectormf00120" Type="http://schemas.openxmlformats.org/officeDocument/2006/relationships/image" Target="../media/methods_mf00004.svg"/><Relationship Id="rIdVectormf00121" Type="http://schemas.openxmlformats.org/officeDocument/2006/relationships/image" Target="../media/methods_mf00005.svg"/><Relationship Id="rIdVectormf00122" Type="http://schemas.openxmlformats.org/officeDocument/2006/relationships/image" Target="../media/methods_mf00009.svg"/><Relationship Id="rIdVectormf00123" Type="http://schemas.openxmlformats.org/officeDocument/2006/relationships/image" Target="../media/methods_mf00123.svg"/><Relationship Id="rIdVectormf00124" Type="http://schemas.openxmlformats.org/officeDocument/2006/relationships/image" Target="../media/methods_mf00102.svg"/><Relationship Id="rIdVectormf00125" Type="http://schemas.openxmlformats.org/officeDocument/2006/relationships/image" Target="../media/methods_mf00103.svg"/><Relationship Id="rIdVectormf00126" Type="http://schemas.openxmlformats.org/officeDocument/2006/relationships/image" Target="../media/methods_mf00126.svg"/><Relationship Id="rIdVectormf00127" Type="http://schemas.openxmlformats.org/officeDocument/2006/relationships/image" Target="../media/methods_mf00127.svg"/><Relationship Id="rIdmethods_Link26" Type="http://schemas.openxmlformats.org/officeDocument/2006/relationships/slide" Target="methods_slide1.xml"/><Relationship Id="rIdmethods_Link27" Type="http://schemas.openxmlformats.org/officeDocument/2006/relationships/slide" Target="methods_slide4.xml"/><Relationship Id="rIdmethods_Link28" Type="http://schemas.openxmlformats.org/officeDocument/2006/relationships/slide" Target="methods_slide5.xml"/><Relationship Id="rIdmethods_Link29" Type="http://schemas.openxmlformats.org/officeDocument/2006/relationships/slide" Target="methods_slide19.xml"/></Relationships>
</file>

<file path=ppt/slides/_rels/methods_slide6.xml.rels><?xml version='1.0' encoding='UTF-8' standalone='yes'?>
<Relationships xmlns="http://schemas.openxmlformats.org/package/2006/relationships"><Relationship Type="http://schemas.openxmlformats.org/officeDocument/2006/relationships/slideLayout" Target="../slideLayouts/methods_slideLayout1.xml" Id="Ra47d087a3dd040dc"/><Relationship Type="http://schemas.openxmlformats.org/officeDocument/2006/relationships/image" Target="../media/methods_image104.png" Id="R4962bae149cd42d0"/><Relationship Type="http://schemas.openxmlformats.org/officeDocument/2006/relationships/image" Target="../media/methods_image2.png" Id="R135ccce60504490b"/><Relationship Type="http://schemas.openxmlformats.org/officeDocument/2006/relationships/image" Target="../media/methods_image106.png" Id="Rb11e25d3dea94a39"/><Relationship Type="http://schemas.openxmlformats.org/officeDocument/2006/relationships/image" Target="../media/methods_image131.png" Id="Rf5383e7859834e2e"/><Relationship Type="http://schemas.openxmlformats.org/officeDocument/2006/relationships/image" Target="../media/methods_image132.png" Id="R42619d3db283455b"/><Relationship Type="http://schemas.openxmlformats.org/officeDocument/2006/relationships/image" Target="../media/methods_image37.png" Id="R9df4cab210c5427b"/><Relationship Type="http://schemas.openxmlformats.org/officeDocument/2006/relationships/image" Target="../media/methods_image4.png" Id="Re323030eb18049ed"/><Relationship Type="http://schemas.openxmlformats.org/officeDocument/2006/relationships/image" Target="../media/methods_image135.png" Id="Rec80fcea063243ca"/><Relationship Type="http://schemas.openxmlformats.org/officeDocument/2006/relationships/image" Target="../media/methods_image136.png" Id="Rd3b2c5155d164146"/><Relationship Type="http://schemas.openxmlformats.org/officeDocument/2006/relationships/image" Target="../media/methods_image137.png" Id="R51a09473af9a4999"/><Relationship Type="http://schemas.openxmlformats.org/officeDocument/2006/relationships/image" Target="../media/methods_image5.png" Id="Rbb93293b79e34878"/><Relationship Type="http://schemas.openxmlformats.org/officeDocument/2006/relationships/image" Target="../media/methods_image139.png" Id="R1aa3edef0106425c"/><Relationship Type="http://schemas.openxmlformats.org/officeDocument/2006/relationships/image" Target="../media/methods_image140.png" Id="R4bdcf2ca8d6d4eea"/><Relationship Type="http://schemas.openxmlformats.org/officeDocument/2006/relationships/image" Target="../media/methods_image141.png" Id="R00864016196c41d1"/><Relationship Type="http://schemas.openxmlformats.org/officeDocument/2006/relationships/image" Target="../media/methods_image86.png" Id="R0e3dbc64cbb74d35"/><Relationship Type="http://schemas.openxmlformats.org/officeDocument/2006/relationships/image" Target="../media/methods_image4.png" Id="R480162777d3a4475"/><Relationship Type="http://schemas.openxmlformats.org/officeDocument/2006/relationships/image" Target="../media/methods_image5.png" Id="Rcd108d7641af44c4"/><Relationship Type="http://schemas.openxmlformats.org/officeDocument/2006/relationships/image" Target="../media/methods_image145.png" Id="R791b3a1bd3944cae"/><Relationship Type="http://schemas.openxmlformats.org/officeDocument/2006/relationships/image" Target="../media/methods_image4.png" Id="Rbea3062554a14e1b"/><Relationship Type="http://schemas.openxmlformats.org/officeDocument/2006/relationships/image" Target="../media/methods_image5.png" Id="Rf8633ee320574706"/><Relationship Type="http://schemas.openxmlformats.org/officeDocument/2006/relationships/image" Target="../media/methods_image9.png" Id="Rdfb5b533d0574f4b"/><Relationship Type="http://schemas.openxmlformats.org/officeDocument/2006/relationships/image" Target="../media/methods_image4.png" Id="Ra620d9e1a84f4872"/><Relationship Type="http://schemas.openxmlformats.org/officeDocument/2006/relationships/image" Target="../media/methods_image5.png" Id="R269750eafab9461d"/><Relationship Type="http://schemas.openxmlformats.org/officeDocument/2006/relationships/notesSlide" Target="../notesSlides/methods_notesSlide6.xml" Id="R64a8dad8acce4c75"/><Relationship Id="rIdVectormf00128" Type="http://schemas.openxmlformats.org/officeDocument/2006/relationships/image" Target="../media/methods_mf00104.svg"/><Relationship Id="rIdVectormf00129" Type="http://schemas.openxmlformats.org/officeDocument/2006/relationships/image" Target="../media/methods_mf00002.svg"/><Relationship Id="rIdVectormf00130" Type="http://schemas.openxmlformats.org/officeDocument/2006/relationships/image" Target="../media/methods_mf00106.svg"/><Relationship Id="rIdVectormf00131" Type="http://schemas.openxmlformats.org/officeDocument/2006/relationships/image" Target="../media/methods_mf00131.svg"/><Relationship Id="rIdVectormf00132" Type="http://schemas.openxmlformats.org/officeDocument/2006/relationships/image" Target="../media/methods_mf00132.svg"/><Relationship Id="rIdVectormf00133" Type="http://schemas.openxmlformats.org/officeDocument/2006/relationships/image" Target="../media/methods_mf00133.svg"/><Relationship Id="rIdVectormf00134" Type="http://schemas.openxmlformats.org/officeDocument/2006/relationships/image" Target="../media/methods_mf00004.svg"/><Relationship Id="rIdVectormf00135" Type="http://schemas.openxmlformats.org/officeDocument/2006/relationships/image" Target="../media/methods_mf00135.svg"/><Relationship Id="rIdVectormf00136" Type="http://schemas.openxmlformats.org/officeDocument/2006/relationships/image" Target="../media/methods_mf00136.svg"/><Relationship Id="rIdVectormf00137" Type="http://schemas.openxmlformats.org/officeDocument/2006/relationships/image" Target="../media/methods_mf00137.svg"/><Relationship Id="rIdVectormf00138" Type="http://schemas.openxmlformats.org/officeDocument/2006/relationships/image" Target="../media/methods_mf00005.svg"/><Relationship Id="rIdVectormf00139" Type="http://schemas.openxmlformats.org/officeDocument/2006/relationships/image" Target="../media/methods_mf00139.svg"/><Relationship Id="rIdVectormf00140" Type="http://schemas.openxmlformats.org/officeDocument/2006/relationships/image" Target="../media/methods_mf00140.svg"/><Relationship Id="rIdVectormf00141" Type="http://schemas.openxmlformats.org/officeDocument/2006/relationships/image" Target="../media/methods_mf00141.svg"/><Relationship Id="rIdVectormf00142" Type="http://schemas.openxmlformats.org/officeDocument/2006/relationships/image" Target="../media/methods_mf00142.svg"/><Relationship Id="rIdVectormf00143" Type="http://schemas.openxmlformats.org/officeDocument/2006/relationships/image" Target="../media/methods_mf00004.svg"/><Relationship Id="rIdVectormf00144" Type="http://schemas.openxmlformats.org/officeDocument/2006/relationships/image" Target="../media/methods_mf00005.svg"/><Relationship Id="rIdVectormf00145" Type="http://schemas.openxmlformats.org/officeDocument/2006/relationships/image" Target="../media/methods_mf00145.svg"/><Relationship Id="rIdVectormf00146" Type="http://schemas.openxmlformats.org/officeDocument/2006/relationships/image" Target="../media/methods_mf00004.svg"/><Relationship Id="rIdVectormf00147" Type="http://schemas.openxmlformats.org/officeDocument/2006/relationships/image" Target="../media/methods_mf00005.svg"/><Relationship Id="rIdVectormf00148" Type="http://schemas.openxmlformats.org/officeDocument/2006/relationships/image" Target="../media/methods_mf00148.svg"/><Relationship Id="rIdVectormf00149" Type="http://schemas.openxmlformats.org/officeDocument/2006/relationships/image" Target="../media/methods_mf00004.svg"/><Relationship Id="rIdVectormf00150" Type="http://schemas.openxmlformats.org/officeDocument/2006/relationships/image" Target="../media/methods_mf00005.svg"/><Relationship Id="rIdmethods_Link30" Type="http://schemas.openxmlformats.org/officeDocument/2006/relationships/slide" Target="methods_slide1.xml"/><Relationship Id="rIdmethods_Link31" Type="http://schemas.openxmlformats.org/officeDocument/2006/relationships/slide" Target="methods_slide4.xml"/><Relationship Id="rIdmethods_Link32" Type="http://schemas.openxmlformats.org/officeDocument/2006/relationships/slide" Target="methods_slide5.xml"/><Relationship Id="rIdmethods_Link33" Type="http://schemas.openxmlformats.org/officeDocument/2006/relationships/slide" Target="methods_slide19.xml"/></Relationships>
</file>

<file path=ppt/slides/_rels/methods_slide7.xml.rels><?xml version='1.0' encoding='UTF-8' standalone='yes'?>
<Relationships xmlns="http://schemas.openxmlformats.org/package/2006/relationships"><Relationship Type="http://schemas.openxmlformats.org/officeDocument/2006/relationships/slideLayout" Target="../slideLayouts/methods_slideLayout1.xml" Id="R4907910f6fdf479b"/><Relationship Type="http://schemas.openxmlformats.org/officeDocument/2006/relationships/image" Target="../media/methods_image104.png" Id="R9f0efd96de2e42a2"/><Relationship Type="http://schemas.openxmlformats.org/officeDocument/2006/relationships/image" Target="../media/methods_image2.png" Id="R97cbcab2d97e41b6"/><Relationship Type="http://schemas.openxmlformats.org/officeDocument/2006/relationships/image" Target="../media/methods_image106.png" Id="R75bc9984e0b24a3c"/><Relationship Type="http://schemas.openxmlformats.org/officeDocument/2006/relationships/image" Target="../media/methods_image131.png" Id="Rab6dfea16837462a"/><Relationship Type="http://schemas.openxmlformats.org/officeDocument/2006/relationships/image" Target="../media/methods_image132.png" Id="R889d4ef264994b9b"/><Relationship Type="http://schemas.openxmlformats.org/officeDocument/2006/relationships/image" Target="../media/methods_image37.png" Id="Rd853323569f74d2a"/><Relationship Type="http://schemas.openxmlformats.org/officeDocument/2006/relationships/image" Target="../media/methods_image4.png" Id="R4ed506658f0e4850"/><Relationship Type="http://schemas.openxmlformats.org/officeDocument/2006/relationships/image" Target="../media/methods_image135.png" Id="Rb56c656121934c09"/><Relationship Type="http://schemas.openxmlformats.org/officeDocument/2006/relationships/image" Target="../media/methods_image136.png" Id="R6b618eee48d34c93"/><Relationship Type="http://schemas.openxmlformats.org/officeDocument/2006/relationships/image" Target="../media/methods_image137.png" Id="Rbb5715a6d7bf49cc"/><Relationship Type="http://schemas.openxmlformats.org/officeDocument/2006/relationships/image" Target="../media/methods_image5.png" Id="R14ff6f6b81424638"/><Relationship Type="http://schemas.openxmlformats.org/officeDocument/2006/relationships/image" Target="../media/methods_image139.png" Id="R5eff4dfeeb5f47a4"/><Relationship Type="http://schemas.openxmlformats.org/officeDocument/2006/relationships/image" Target="../media/methods_image140.png" Id="R7a1fb7dbba704a23"/><Relationship Type="http://schemas.openxmlformats.org/officeDocument/2006/relationships/image" Target="../media/methods_image141.png" Id="Rac79dd0dcc8545c9"/><Relationship Type="http://schemas.openxmlformats.org/officeDocument/2006/relationships/image" Target="../media/methods_image86.png" Id="R5c7081a552514d28"/><Relationship Type="http://schemas.openxmlformats.org/officeDocument/2006/relationships/image" Target="../media/methods_image4.png" Id="Rb7f6176f428f4fdb"/><Relationship Type="http://schemas.openxmlformats.org/officeDocument/2006/relationships/image" Target="../media/methods_image5.png" Id="R852b3736876a498a"/><Relationship Type="http://schemas.openxmlformats.org/officeDocument/2006/relationships/image" Target="../media/methods_image145.png" Id="R91aba61f8e474d08"/><Relationship Type="http://schemas.openxmlformats.org/officeDocument/2006/relationships/image" Target="../media/methods_image4.png" Id="Rdea9232eb62740e6"/><Relationship Type="http://schemas.openxmlformats.org/officeDocument/2006/relationships/image" Target="../media/methods_image5.png" Id="Rc5780949b27b45e5"/><Relationship Type="http://schemas.openxmlformats.org/officeDocument/2006/relationships/image" Target="../media/methods_image9.png" Id="R0aeac22f4fda4f4c"/><Relationship Type="http://schemas.openxmlformats.org/officeDocument/2006/relationships/image" Target="../media/methods_image4.png" Id="Ra158eb8d9cbc4074"/><Relationship Type="http://schemas.openxmlformats.org/officeDocument/2006/relationships/image" Target="../media/methods_image5.png" Id="R7ac29dcc87594fff"/><Relationship Type="http://schemas.openxmlformats.org/officeDocument/2006/relationships/image" Target="../media/methods_image174.png" Id="Rb1ce430662bd4984"/><Relationship Type="http://schemas.openxmlformats.org/officeDocument/2006/relationships/image" Target="../media/methods_image175.png" Id="Rda36d26af32e4a7d"/><Relationship Type="http://schemas.openxmlformats.org/officeDocument/2006/relationships/image" Target="../media/methods_image176.png" Id="R964b526c780b4052"/><Relationship Type="http://schemas.openxmlformats.org/officeDocument/2006/relationships/image" Target="../media/methods_image177.png" Id="R9065f9f70dc645cd"/><Relationship Type="http://schemas.openxmlformats.org/officeDocument/2006/relationships/image" Target="../media/methods_image178.png" Id="Rb58d87695cfb40b8"/><Relationship Type="http://schemas.openxmlformats.org/officeDocument/2006/relationships/image" Target="../media/methods_image179.png" Id="R512b99bb46bf44d5"/><Relationship Type="http://schemas.openxmlformats.org/officeDocument/2006/relationships/image" Target="../media/methods_image180.png" Id="R8abdc77feea44cfb"/><Relationship Type="http://schemas.openxmlformats.org/officeDocument/2006/relationships/image" Target="../media/methods_image181.png" Id="Re9bb24459ddc42f3"/><Relationship Type="http://schemas.openxmlformats.org/officeDocument/2006/relationships/image" Target="../media/methods_image182.png" Id="Rdc007d040a554902"/><Relationship Type="http://schemas.openxmlformats.org/officeDocument/2006/relationships/image" Target="../media/methods_image183.png" Id="R6505505296584679"/><Relationship Type="http://schemas.openxmlformats.org/officeDocument/2006/relationships/image" Target="../media/methods_image184.png" Id="R2b432f80965d4e28"/><Relationship Type="http://schemas.openxmlformats.org/officeDocument/2006/relationships/image" Target="../media/methods_image185.png" Id="Rb7be1b9def2c4390"/><Relationship Type="http://schemas.openxmlformats.org/officeDocument/2006/relationships/image" Target="../media/methods_image186.png" Id="Rad153ac8dc0f4b04"/><Relationship Type="http://schemas.openxmlformats.org/officeDocument/2006/relationships/notesSlide" Target="../notesSlides/methods_notesSlide7.xml" Id="Rc651727a934d4619"/><Relationship Id="rIdVectormf00151" Type="http://schemas.openxmlformats.org/officeDocument/2006/relationships/image" Target="../media/methods_mf00104.svg"/><Relationship Id="rIdVectormf00152" Type="http://schemas.openxmlformats.org/officeDocument/2006/relationships/image" Target="../media/methods_mf00002.svg"/><Relationship Id="rIdVectormf00153" Type="http://schemas.openxmlformats.org/officeDocument/2006/relationships/image" Target="../media/methods_mf00106.svg"/><Relationship Id="rIdVectormf00154" Type="http://schemas.openxmlformats.org/officeDocument/2006/relationships/image" Target="../media/methods_mf00131.svg"/><Relationship Id="rIdVectormf00155" Type="http://schemas.openxmlformats.org/officeDocument/2006/relationships/image" Target="../media/methods_mf00132.svg"/><Relationship Id="rIdVectormf00156" Type="http://schemas.openxmlformats.org/officeDocument/2006/relationships/image" Target="../media/methods_mf00133.svg"/><Relationship Id="rIdVectormf00157" Type="http://schemas.openxmlformats.org/officeDocument/2006/relationships/image" Target="../media/methods_mf00004.svg"/><Relationship Id="rIdVectormf00158" Type="http://schemas.openxmlformats.org/officeDocument/2006/relationships/image" Target="../media/methods_mf00135.svg"/><Relationship Id="rIdVectormf00159" Type="http://schemas.openxmlformats.org/officeDocument/2006/relationships/image" Target="../media/methods_mf00136.svg"/><Relationship Id="rIdVectormf00160" Type="http://schemas.openxmlformats.org/officeDocument/2006/relationships/image" Target="../media/methods_mf00137.svg"/><Relationship Id="rIdVectormf00161" Type="http://schemas.openxmlformats.org/officeDocument/2006/relationships/image" Target="../media/methods_mf00005.svg"/><Relationship Id="rIdVectormf00162" Type="http://schemas.openxmlformats.org/officeDocument/2006/relationships/image" Target="../media/methods_mf00139.svg"/><Relationship Id="rIdVectormf00163" Type="http://schemas.openxmlformats.org/officeDocument/2006/relationships/image" Target="../media/methods_mf00140.svg"/><Relationship Id="rIdVectormf00164" Type="http://schemas.openxmlformats.org/officeDocument/2006/relationships/image" Target="../media/methods_mf00141.svg"/><Relationship Id="rIdVectormf00165" Type="http://schemas.openxmlformats.org/officeDocument/2006/relationships/image" Target="../media/methods_mf00142.svg"/><Relationship Id="rIdVectormf00166" Type="http://schemas.openxmlformats.org/officeDocument/2006/relationships/image" Target="../media/methods_mf00004.svg"/><Relationship Id="rIdVectormf00167" Type="http://schemas.openxmlformats.org/officeDocument/2006/relationships/image" Target="../media/methods_mf00005.svg"/><Relationship Id="rIdVectormf00168" Type="http://schemas.openxmlformats.org/officeDocument/2006/relationships/image" Target="../media/methods_mf00145.svg"/><Relationship Id="rIdVectormf00169" Type="http://schemas.openxmlformats.org/officeDocument/2006/relationships/image" Target="../media/methods_mf00004.svg"/><Relationship Id="rIdVectormf00170" Type="http://schemas.openxmlformats.org/officeDocument/2006/relationships/image" Target="../media/methods_mf00005.svg"/><Relationship Id="rIdVectormf00171" Type="http://schemas.openxmlformats.org/officeDocument/2006/relationships/image" Target="../media/methods_mf00148.svg"/><Relationship Id="rIdVectormf00172" Type="http://schemas.openxmlformats.org/officeDocument/2006/relationships/image" Target="../media/methods_mf00004.svg"/><Relationship Id="rIdVectormf00173" Type="http://schemas.openxmlformats.org/officeDocument/2006/relationships/image" Target="../media/methods_mf00005.svg"/><Relationship Id="rIdVectormf00174" Type="http://schemas.openxmlformats.org/officeDocument/2006/relationships/image" Target="../media/methods_mf00174.svg"/><Relationship Id="rIdVectormf00175" Type="http://schemas.openxmlformats.org/officeDocument/2006/relationships/image" Target="../media/methods_mf00175.svg"/><Relationship Id="rIdVectormf00176" Type="http://schemas.openxmlformats.org/officeDocument/2006/relationships/image" Target="../media/methods_mf00176.svg"/><Relationship Id="rIdVectormf00177" Type="http://schemas.openxmlformats.org/officeDocument/2006/relationships/image" Target="../media/methods_mf00177.svg"/><Relationship Id="rIdVectormf00178" Type="http://schemas.openxmlformats.org/officeDocument/2006/relationships/image" Target="../media/methods_mf00178.svg"/><Relationship Id="rIdVectormf00179" Type="http://schemas.openxmlformats.org/officeDocument/2006/relationships/image" Target="../media/methods_mf00179.svg"/><Relationship Id="rIdVectormf00180" Type="http://schemas.openxmlformats.org/officeDocument/2006/relationships/image" Target="../media/methods_mf00180.svg"/><Relationship Id="rIdVectormf00181" Type="http://schemas.openxmlformats.org/officeDocument/2006/relationships/image" Target="../media/methods_mf00181.svg"/><Relationship Id="rIdVectormf00182" Type="http://schemas.openxmlformats.org/officeDocument/2006/relationships/image" Target="../media/methods_mf00182.svg"/><Relationship Id="rIdVectormf00183" Type="http://schemas.openxmlformats.org/officeDocument/2006/relationships/image" Target="../media/methods_mf00183.svg"/><Relationship Id="rIdVectormf00184" Type="http://schemas.openxmlformats.org/officeDocument/2006/relationships/image" Target="../media/methods_mf00184.svg"/><Relationship Id="rIdVectormf00185" Type="http://schemas.openxmlformats.org/officeDocument/2006/relationships/image" Target="../media/methods_mf00185.svg"/><Relationship Id="rIdVectormf00186" Type="http://schemas.openxmlformats.org/officeDocument/2006/relationships/image" Target="../media/methods_mf00186.svg"/><Relationship Id="rIdmethods_Link34" Type="http://schemas.openxmlformats.org/officeDocument/2006/relationships/slide" Target="methods_slide1.xml"/><Relationship Id="rIdmethods_Link35" Type="http://schemas.openxmlformats.org/officeDocument/2006/relationships/slide" Target="methods_slide4.xml"/><Relationship Id="rIdmethods_Link36" Type="http://schemas.openxmlformats.org/officeDocument/2006/relationships/slide" Target="methods_slide5.xml"/><Relationship Id="rIdmethods_Link37" Type="http://schemas.openxmlformats.org/officeDocument/2006/relationships/slide" Target="methods_slide19.xml"/></Relationships>
</file>

<file path=ppt/slides/_rels/methods_slide8.xml.rels><?xml version='1.0' encoding='UTF-8' standalone='yes'?>
<Relationships xmlns="http://schemas.openxmlformats.org/package/2006/relationships"><Relationship Type="http://schemas.openxmlformats.org/officeDocument/2006/relationships/slideLayout" Target="../slideLayouts/methods_slideLayout1.xml" Id="R82dbc33a785045d5"/><Relationship Type="http://schemas.openxmlformats.org/officeDocument/2006/relationships/image" Target="../media/methods_image27.png" Id="R51df0a57a22243d4"/><Relationship Type="http://schemas.openxmlformats.org/officeDocument/2006/relationships/image" Target="../media/methods_image188.png" Id="R8c5826100238416a"/><Relationship Type="http://schemas.openxmlformats.org/officeDocument/2006/relationships/image" Target="../media/methods_image.png" Id="R0b5420481bf949bc"/><Relationship Type="http://schemas.openxmlformats.org/officeDocument/2006/relationships/image" Target="../media/methods_image4.png" Id="Rc0a0d98de87e41ca"/><Relationship Type="http://schemas.openxmlformats.org/officeDocument/2006/relationships/image" Target="../media/methods_image14.png" Id="R6c902b2d9e1f442b"/><Relationship Type="http://schemas.openxmlformats.org/officeDocument/2006/relationships/image" Target="../media/methods_image5.png" Id="R613558a9710e44fe"/><Relationship Type="http://schemas.openxmlformats.org/officeDocument/2006/relationships/image" Target="../media/methods_image16.png" Id="R59b605cea55347c5"/><Relationship Type="http://schemas.openxmlformats.org/officeDocument/2006/relationships/image" Target="../media/methods_image17.png" Id="Rb59b5a0c75ba46d8"/><Relationship Type="http://schemas.openxmlformats.org/officeDocument/2006/relationships/image" Target="../media/methods_image4.png" Id="R1208f17f4250493a"/><Relationship Type="http://schemas.openxmlformats.org/officeDocument/2006/relationships/image" Target="../media/methods_image196.png" Id="R9001a348935340d0"/><Relationship Type="http://schemas.openxmlformats.org/officeDocument/2006/relationships/image" Target="../media/methods_image197.png" Id="R92163e6440b54b1a"/><Relationship Type="http://schemas.openxmlformats.org/officeDocument/2006/relationships/image" Target="../media/methods_image5.png" Id="R909255edc7be44f2"/><Relationship Type="http://schemas.openxmlformats.org/officeDocument/2006/relationships/image" Target="../media/methods_image199.png" Id="R2e5d342a05eb4462"/><Relationship Type="http://schemas.openxmlformats.org/officeDocument/2006/relationships/image" Target="../media/methods_image200.png" Id="R3b154374c1bf4a5a"/><Relationship Type="http://schemas.openxmlformats.org/officeDocument/2006/relationships/image" Target="../media/methods_image201.png" Id="R386593214f464b1c"/><Relationship Type="http://schemas.openxmlformats.org/officeDocument/2006/relationships/image" Target="../media/methods_image4.png" Id="R842b9712be744be0"/><Relationship Type="http://schemas.openxmlformats.org/officeDocument/2006/relationships/image" Target="../media/methods_image20.png" Id="R8da0d4e5da8d4856"/><Relationship Type="http://schemas.openxmlformats.org/officeDocument/2006/relationships/image" Target="../media/methods_image5.png" Id="Ra3ffa2cd55094848"/><Relationship Type="http://schemas.openxmlformats.org/officeDocument/2006/relationships/image" Target="../media/methods_image22.png" Id="R760bfe3fdb874a0c"/><Relationship Type="http://schemas.openxmlformats.org/officeDocument/2006/relationships/image" Target="../media/methods_image86.png" Id="R1fcfea517e9d47fb"/><Relationship Type="http://schemas.openxmlformats.org/officeDocument/2006/relationships/image" Target="../media/methods_image207.png" Id="Re2773f06430b4ad1"/><Relationship Type="http://schemas.openxmlformats.org/officeDocument/2006/relationships/image" Target="../media/methods_image208.png" Id="Rc80a33366e8c41e6"/><Relationship Type="http://schemas.openxmlformats.org/officeDocument/2006/relationships/image" Target="../media/methods_image209.png" Id="Raad56394c30641ef"/><Relationship Type="http://schemas.openxmlformats.org/officeDocument/2006/relationships/image" Target="../media/methods_image210.png" Id="R438e1d47936a4297"/><Relationship Type="http://schemas.openxmlformats.org/officeDocument/2006/relationships/image" Target="../media/methods_image211.png" Id="R2f706269040c4e84"/><Relationship Type="http://schemas.openxmlformats.org/officeDocument/2006/relationships/image" Target="../media/methods_image212.png" Id="R2a8e9ea284984d3b"/><Relationship Type="http://schemas.openxmlformats.org/officeDocument/2006/relationships/image" Target="../media/methods_image213.png" Id="R8a7b9f2e45064490"/><Relationship Type="http://schemas.openxmlformats.org/officeDocument/2006/relationships/notesSlide" Target="../notesSlides/methods_notesSlide8.xml" Id="R6a52275234a448e1"/><Relationship Id="rIdVectormf00187" Type="http://schemas.openxmlformats.org/officeDocument/2006/relationships/image" Target="../media/methods_mf00027.svg"/><Relationship Id="rIdVectormf00188" Type="http://schemas.openxmlformats.org/officeDocument/2006/relationships/image" Target="../media/methods_mf00188.svg"/><Relationship Id="rIdVectormf00189" Type="http://schemas.openxmlformats.org/officeDocument/2006/relationships/image" Target="../media/methods_mf00001.svg"/><Relationship Id="rIdVectormf00190" Type="http://schemas.openxmlformats.org/officeDocument/2006/relationships/image" Target="../media/methods_mf00004.svg"/><Relationship Id="rIdVectormf00191" Type="http://schemas.openxmlformats.org/officeDocument/2006/relationships/image" Target="../media/methods_mf00014.svg"/><Relationship Id="rIdVectormf00192" Type="http://schemas.openxmlformats.org/officeDocument/2006/relationships/image" Target="../media/methods_mf00005.svg"/><Relationship Id="rIdVectormf00193" Type="http://schemas.openxmlformats.org/officeDocument/2006/relationships/image" Target="../media/methods_mf00016.svg"/><Relationship Id="rIdVectormf00194" Type="http://schemas.openxmlformats.org/officeDocument/2006/relationships/image" Target="../media/methods_mf00017.svg"/><Relationship Id="rIdVectormf00195" Type="http://schemas.openxmlformats.org/officeDocument/2006/relationships/image" Target="../media/methods_mf00004.svg"/><Relationship Id="rIdVectormf00196" Type="http://schemas.openxmlformats.org/officeDocument/2006/relationships/image" Target="../media/methods_mf00196.svg"/><Relationship Id="rIdVectormf00197" Type="http://schemas.openxmlformats.org/officeDocument/2006/relationships/image" Target="../media/methods_mf00197.svg"/><Relationship Id="rIdVectormf00198" Type="http://schemas.openxmlformats.org/officeDocument/2006/relationships/image" Target="../media/methods_mf00005.svg"/><Relationship Id="rIdVectormf00199" Type="http://schemas.openxmlformats.org/officeDocument/2006/relationships/image" Target="../media/methods_mf00199.svg"/><Relationship Id="rIdVectormf00200" Type="http://schemas.openxmlformats.org/officeDocument/2006/relationships/image" Target="../media/methods_mf00200.svg"/><Relationship Id="rIdVectormf00201" Type="http://schemas.openxmlformats.org/officeDocument/2006/relationships/image" Target="../media/methods_mf00201.svg"/><Relationship Id="rIdVectormf00202" Type="http://schemas.openxmlformats.org/officeDocument/2006/relationships/image" Target="../media/methods_mf00004.svg"/><Relationship Id="rIdVectormf00203" Type="http://schemas.openxmlformats.org/officeDocument/2006/relationships/image" Target="../media/methods_mf00020.svg"/><Relationship Id="rIdVectormf00204" Type="http://schemas.openxmlformats.org/officeDocument/2006/relationships/image" Target="../media/methods_mf00005.svg"/><Relationship Id="rIdVectormf00205" Type="http://schemas.openxmlformats.org/officeDocument/2006/relationships/image" Target="../media/methods_mf00022.svg"/><Relationship Id="rIdVectormf00206" Type="http://schemas.openxmlformats.org/officeDocument/2006/relationships/image" Target="../media/methods_mf00086.svg"/><Relationship Id="rIdVectormf00207" Type="http://schemas.openxmlformats.org/officeDocument/2006/relationships/image" Target="../media/methods_mf00207.svg"/><Relationship Id="rIdVectormf00208" Type="http://schemas.openxmlformats.org/officeDocument/2006/relationships/image" Target="../media/methods_mf00208.svg"/><Relationship Id="rIdVectormf00209" Type="http://schemas.openxmlformats.org/officeDocument/2006/relationships/image" Target="../media/methods_mf00209.svg"/><Relationship Id="rIdVectormf00210" Type="http://schemas.openxmlformats.org/officeDocument/2006/relationships/image" Target="../media/methods_mf00210.svg"/><Relationship Id="rIdVectormf00211" Type="http://schemas.openxmlformats.org/officeDocument/2006/relationships/image" Target="../media/methods_mf00211.svg"/><Relationship Id="rIdVectormf00212" Type="http://schemas.openxmlformats.org/officeDocument/2006/relationships/image" Target="../media/methods_mf00212.svg"/><Relationship Id="rIdVectormf00213" Type="http://schemas.openxmlformats.org/officeDocument/2006/relationships/image" Target="../media/methods_mf00213.svg"/><Relationship Id="rIdmethods_Link38" Type="http://schemas.openxmlformats.org/officeDocument/2006/relationships/slide" Target="methods_slide1.xml"/><Relationship Id="rIdmethods_Link39" Type="http://schemas.openxmlformats.org/officeDocument/2006/relationships/slide" Target="methods_slide8.xml"/><Relationship Id="rIdmethods_Link40" Type="http://schemas.openxmlformats.org/officeDocument/2006/relationships/slide" Target="methods_slide14.xml"/><Relationship Id="rIdmethods_Link41" Type="http://schemas.openxmlformats.org/officeDocument/2006/relationships/slide" Target="methods_slide19.xml"/></Relationships>
</file>

<file path=ppt/slides/_rels/methods_slide9.xml.rels><?xml version='1.0' encoding='UTF-8' standalone='yes'?>
<Relationships xmlns="http://schemas.openxmlformats.org/package/2006/relationships"><Relationship Type="http://schemas.openxmlformats.org/officeDocument/2006/relationships/slideLayout" Target="../slideLayouts/methods_slideLayout1.xml" Id="R18ebb087ba334786"/><Relationship Type="http://schemas.openxmlformats.org/officeDocument/2006/relationships/image" Target="../media/methods_image27.png" Id="R445cc2bebdd04d8f"/><Relationship Type="http://schemas.openxmlformats.org/officeDocument/2006/relationships/image" Target="../media/methods_image188.png" Id="Rf57dcfeb309a4eb7"/><Relationship Type="http://schemas.openxmlformats.org/officeDocument/2006/relationships/image" Target="../media/methods_image.png" Id="R778fbd3850984f2d"/><Relationship Type="http://schemas.openxmlformats.org/officeDocument/2006/relationships/image" Target="../media/methods_image4.png" Id="Rb93a82e0a4e54062"/><Relationship Type="http://schemas.openxmlformats.org/officeDocument/2006/relationships/image" Target="../media/methods_image196.png" Id="Rd0664d769eda482f"/><Relationship Type="http://schemas.openxmlformats.org/officeDocument/2006/relationships/image" Target="../media/methods_image197.png" Id="Rcff4b33b58f640d5"/><Relationship Type="http://schemas.openxmlformats.org/officeDocument/2006/relationships/image" Target="../media/methods_image5.png" Id="R73c1042fcbd147cd"/><Relationship Type="http://schemas.openxmlformats.org/officeDocument/2006/relationships/image" Target="../media/methods_image199.png" Id="Rf40b3e7f807a4fef"/><Relationship Type="http://schemas.openxmlformats.org/officeDocument/2006/relationships/image" Target="../media/methods_image200.png" Id="R8072857247d543ed"/><Relationship Type="http://schemas.openxmlformats.org/officeDocument/2006/relationships/image" Target="../media/methods_image201.png" Id="R7a871aefee2c46a0"/><Relationship Type="http://schemas.openxmlformats.org/officeDocument/2006/relationships/image" Target="../media/methods_image4.png" Id="R7baeb573970e42e9"/><Relationship Type="http://schemas.openxmlformats.org/officeDocument/2006/relationships/image" Target="../media/methods_image20.png" Id="R4077d0c125d442e1"/><Relationship Type="http://schemas.openxmlformats.org/officeDocument/2006/relationships/image" Target="../media/methods_image5.png" Id="R47ecaed965b542ca"/><Relationship Type="http://schemas.openxmlformats.org/officeDocument/2006/relationships/image" Target="../media/methods_image22.png" Id="R076d95b3413a4133"/><Relationship Type="http://schemas.openxmlformats.org/officeDocument/2006/relationships/image" Target="../media/methods_image86.png" Id="Rc6a2b693d4ba4ae5"/><Relationship Type="http://schemas.openxmlformats.org/officeDocument/2006/relationships/image" Target="../media/methods_image4.png" Id="R18c1cfd0f7e24a74"/><Relationship Type="http://schemas.openxmlformats.org/officeDocument/2006/relationships/image" Target="../media/methods_image20.png" Id="R0e3cd5ecde1645c8"/><Relationship Type="http://schemas.openxmlformats.org/officeDocument/2006/relationships/image" Target="../media/methods_image5.png" Id="R0bc1cc82f31e4120"/><Relationship Type="http://schemas.openxmlformats.org/officeDocument/2006/relationships/image" Target="../media/methods_image22.png" Id="Rba0e3d448db942f1"/><Relationship Type="http://schemas.openxmlformats.org/officeDocument/2006/relationships/image" Target="../media/methods_image86.png" Id="R265e521b4206437b"/><Relationship Type="http://schemas.openxmlformats.org/officeDocument/2006/relationships/image" Target="../media/methods_image234.png" Id="R2db7f0d28f8c4993"/><Relationship Type="http://schemas.openxmlformats.org/officeDocument/2006/relationships/image" Target="../media/methods_image235.png" Id="R208fc02a60c646c0"/><Relationship Type="http://schemas.openxmlformats.org/officeDocument/2006/relationships/image" Target="../media/methods_image210.png" Id="Rff597c6c9f374b15"/><Relationship Type="http://schemas.openxmlformats.org/officeDocument/2006/relationships/image" Target="../media/methods_image237.png" Id="R1b5a793f6abe44fc"/><Relationship Type="http://schemas.openxmlformats.org/officeDocument/2006/relationships/image" Target="../media/methods_image238.png" Id="R2578f26017ae4c27"/><Relationship Type="http://schemas.openxmlformats.org/officeDocument/2006/relationships/image" Target="../media/methods_image239.png" Id="R8ece9e852029454c"/><Relationship Type="http://schemas.openxmlformats.org/officeDocument/2006/relationships/notesSlide" Target="../notesSlides/methods_notesSlide9.xml" Id="Rf8e6b3b01afb44d3"/><Relationship Id="rIdVectormf00214" Type="http://schemas.openxmlformats.org/officeDocument/2006/relationships/image" Target="../media/methods_mf00027.svg"/><Relationship Id="rIdVectormf00215" Type="http://schemas.openxmlformats.org/officeDocument/2006/relationships/image" Target="../media/methods_mf00188.svg"/><Relationship Id="rIdVectormf00216" Type="http://schemas.openxmlformats.org/officeDocument/2006/relationships/image" Target="../media/methods_mf00001.svg"/><Relationship Id="rIdVectormf00217" Type="http://schemas.openxmlformats.org/officeDocument/2006/relationships/image" Target="../media/methods_mf00004.svg"/><Relationship Id="rIdVectormf00218" Type="http://schemas.openxmlformats.org/officeDocument/2006/relationships/image" Target="../media/methods_mf00196.svg"/><Relationship Id="rIdVectormf00219" Type="http://schemas.openxmlformats.org/officeDocument/2006/relationships/image" Target="../media/methods_mf00197.svg"/><Relationship Id="rIdVectormf00220" Type="http://schemas.openxmlformats.org/officeDocument/2006/relationships/image" Target="../media/methods_mf00005.svg"/><Relationship Id="rIdVectormf00221" Type="http://schemas.openxmlformats.org/officeDocument/2006/relationships/image" Target="../media/methods_mf00199.svg"/><Relationship Id="rIdVectormf00222" Type="http://schemas.openxmlformats.org/officeDocument/2006/relationships/image" Target="../media/methods_mf00200.svg"/><Relationship Id="rIdVectormf00223" Type="http://schemas.openxmlformats.org/officeDocument/2006/relationships/image" Target="../media/methods_mf00201.svg"/><Relationship Id="rIdVectormf00224" Type="http://schemas.openxmlformats.org/officeDocument/2006/relationships/image" Target="../media/methods_mf00004.svg"/><Relationship Id="rIdVectormf00225" Type="http://schemas.openxmlformats.org/officeDocument/2006/relationships/image" Target="../media/methods_mf00020.svg"/><Relationship Id="rIdVectormf00226" Type="http://schemas.openxmlformats.org/officeDocument/2006/relationships/image" Target="../media/methods_mf00005.svg"/><Relationship Id="rIdVectormf00227" Type="http://schemas.openxmlformats.org/officeDocument/2006/relationships/image" Target="../media/methods_mf00022.svg"/><Relationship Id="rIdVectormf00228" Type="http://schemas.openxmlformats.org/officeDocument/2006/relationships/image" Target="../media/methods_mf00086.svg"/><Relationship Id="rIdVectormf00229" Type="http://schemas.openxmlformats.org/officeDocument/2006/relationships/image" Target="../media/methods_mf00004.svg"/><Relationship Id="rIdVectormf00230" Type="http://schemas.openxmlformats.org/officeDocument/2006/relationships/image" Target="../media/methods_mf00020.svg"/><Relationship Id="rIdVectormf00231" Type="http://schemas.openxmlformats.org/officeDocument/2006/relationships/image" Target="../media/methods_mf00005.svg"/><Relationship Id="rIdVectormf00232" Type="http://schemas.openxmlformats.org/officeDocument/2006/relationships/image" Target="../media/methods_mf00022.svg"/><Relationship Id="rIdVectormf00233" Type="http://schemas.openxmlformats.org/officeDocument/2006/relationships/image" Target="../media/methods_mf00086.svg"/><Relationship Id="rIdVectormf00234" Type="http://schemas.openxmlformats.org/officeDocument/2006/relationships/image" Target="../media/methods_mf00234.svg"/><Relationship Id="rIdVectormf00235" Type="http://schemas.openxmlformats.org/officeDocument/2006/relationships/image" Target="../media/methods_mf00235.svg"/><Relationship Id="rIdVectormf00236" Type="http://schemas.openxmlformats.org/officeDocument/2006/relationships/image" Target="../media/methods_mf00210.svg"/><Relationship Id="rIdVectormf00237" Type="http://schemas.openxmlformats.org/officeDocument/2006/relationships/image" Target="../media/methods_mf00237.svg"/><Relationship Id="rIdVectormf00238" Type="http://schemas.openxmlformats.org/officeDocument/2006/relationships/image" Target="../media/methods_mf00238.svg"/><Relationship Id="rIdVectormf00239" Type="http://schemas.openxmlformats.org/officeDocument/2006/relationships/image" Target="../media/methods_mf00239.svg"/><Relationship Id="rIdmethods_Link42" Type="http://schemas.openxmlformats.org/officeDocument/2006/relationships/slide" Target="methods_slide1.xml"/><Relationship Id="rIdmethods_Link43" Type="http://schemas.openxmlformats.org/officeDocument/2006/relationships/slide" Target="methods_slide8.xml"/><Relationship Id="rIdmethods_Link44" Type="http://schemas.openxmlformats.org/officeDocument/2006/relationships/slide" Target="methods_slide14.xml"/><Relationship Id="rIdmethods_Link45" Type="http://schemas.openxmlformats.org/officeDocument/2006/relationships/slide" Target="methods_slide19.xml"/></Relationships>
</file>

<file path=ppt/slides/_rels/methods_slide10.xml.rels><?xml version='1.0' encoding='UTF-8' standalone='yes'?>
<Relationships xmlns="http://schemas.openxmlformats.org/package/2006/relationships"><Relationship Type="http://schemas.openxmlformats.org/officeDocument/2006/relationships/slideLayout" Target="../slideLayouts/methods_slideLayout1.xml" Id="R5d230577418b4fb2"/><Relationship Type="http://schemas.openxmlformats.org/officeDocument/2006/relationships/image" Target="../media/methods_image27.png" Id="R7519c2ad86d1454c"/><Relationship Type="http://schemas.openxmlformats.org/officeDocument/2006/relationships/image" Target="../media/methods_image188.png" Id="R326c5a62c96e451c"/><Relationship Type="http://schemas.openxmlformats.org/officeDocument/2006/relationships/image" Target="../media/methods_image.png" Id="R7a765998adf246c8"/><Relationship Type="http://schemas.openxmlformats.org/officeDocument/2006/relationships/image" Target="../media/methods_image243.png" Id="R9d90a43392d04a09"/><Relationship Type="http://schemas.openxmlformats.org/officeDocument/2006/relationships/image" Target="../media/methods_image244.png" Id="R9a2e1234ac8a497d"/><Relationship Type="http://schemas.openxmlformats.org/officeDocument/2006/relationships/image" Target="../media/methods_image17.png" Id="Rdba9c17cef304a1e"/><Relationship Type="http://schemas.openxmlformats.org/officeDocument/2006/relationships/image" Target="../media/methods_image4.png" Id="R123aee32ffd5409a"/><Relationship Type="http://schemas.openxmlformats.org/officeDocument/2006/relationships/image" Target="../media/methods_image247.png" Id="R3f696f411b1d4b19"/><Relationship Type="http://schemas.openxmlformats.org/officeDocument/2006/relationships/image" Target="../media/methods_image5.png" Id="Rc3efc6d0b3e84534"/><Relationship Type="http://schemas.openxmlformats.org/officeDocument/2006/relationships/image" Target="../media/methods_image249.png" Id="Rf5529ceae6384ed7"/><Relationship Type="http://schemas.openxmlformats.org/officeDocument/2006/relationships/image" Target="../media/methods_image250.png" Id="R358831f768684a12"/><Relationship Type="http://schemas.openxmlformats.org/officeDocument/2006/relationships/image" Target="../media/methods_image4.png" Id="R8e564c2c18ee40a2"/><Relationship Type="http://schemas.openxmlformats.org/officeDocument/2006/relationships/image" Target="../media/methods_image5.png" Id="R3811d2dd857c4fb3"/><Relationship Type="http://schemas.openxmlformats.org/officeDocument/2006/relationships/image" Target="../media/methods_image86.png" Id="R4e5d3f72c92249e6"/><Relationship Type="http://schemas.openxmlformats.org/officeDocument/2006/relationships/image" Target="../media/methods_image4.png" Id="Red42be3c0ab941e5"/><Relationship Type="http://schemas.openxmlformats.org/officeDocument/2006/relationships/image" Target="../media/methods_image5.png" Id="Rc7126f55034d4cb2"/><Relationship Type="http://schemas.openxmlformats.org/officeDocument/2006/relationships/notesSlide" Target="../notesSlides/methods_notesSlide10.xml" Id="R6c31e7f2203643be"/><Relationship Id="rIdVectormf00240" Type="http://schemas.openxmlformats.org/officeDocument/2006/relationships/image" Target="../media/methods_mf00027.svg"/><Relationship Id="rIdVectormf00241" Type="http://schemas.openxmlformats.org/officeDocument/2006/relationships/image" Target="../media/methods_mf00188.svg"/><Relationship Id="rIdVectormf00242" Type="http://schemas.openxmlformats.org/officeDocument/2006/relationships/image" Target="../media/methods_mf00001.svg"/><Relationship Id="rIdVectormf00243" Type="http://schemas.openxmlformats.org/officeDocument/2006/relationships/image" Target="../media/methods_mf00243.svg"/><Relationship Id="rIdVectormf00244" Type="http://schemas.openxmlformats.org/officeDocument/2006/relationships/image" Target="../media/methods_mf00244.svg"/><Relationship Id="rIdVectormf00245" Type="http://schemas.openxmlformats.org/officeDocument/2006/relationships/image" Target="../media/methods_mf00245.svg"/><Relationship Id="rIdVectormf00246" Type="http://schemas.openxmlformats.org/officeDocument/2006/relationships/image" Target="../media/methods_mf00004.svg"/><Relationship Id="rIdVectormf00247" Type="http://schemas.openxmlformats.org/officeDocument/2006/relationships/image" Target="../media/methods_mf00247.svg"/><Relationship Id="rIdVectormf00248" Type="http://schemas.openxmlformats.org/officeDocument/2006/relationships/image" Target="../media/methods_mf00005.svg"/><Relationship Id="rIdVectormf00249" Type="http://schemas.openxmlformats.org/officeDocument/2006/relationships/image" Target="../media/methods_mf00249.svg"/><Relationship Id="rIdVectormf00250" Type="http://schemas.openxmlformats.org/officeDocument/2006/relationships/image" Target="../media/methods_mf00250.svg"/><Relationship Id="rIdVectormf00251" Type="http://schemas.openxmlformats.org/officeDocument/2006/relationships/image" Target="../media/methods_mf00004.svg"/><Relationship Id="rIdVectormf00252" Type="http://schemas.openxmlformats.org/officeDocument/2006/relationships/image" Target="../media/methods_mf00005.svg"/><Relationship Id="rIdVectormf00253" Type="http://schemas.openxmlformats.org/officeDocument/2006/relationships/image" Target="../media/methods_mf00142.svg"/><Relationship Id="rIdVectormf00254" Type="http://schemas.openxmlformats.org/officeDocument/2006/relationships/image" Target="../media/methods_mf00004.svg"/><Relationship Id="rIdVectormf00255" Type="http://schemas.openxmlformats.org/officeDocument/2006/relationships/image" Target="../media/methods_mf00005.svg"/><Relationship Id="rIdmethods_Link46" Type="http://schemas.openxmlformats.org/officeDocument/2006/relationships/slide" Target="methods_slide1.xml"/><Relationship Id="rIdmethods_Link47" Type="http://schemas.openxmlformats.org/officeDocument/2006/relationships/slide" Target="methods_slide8.xml"/><Relationship Id="rIdmethods_Link48" Type="http://schemas.openxmlformats.org/officeDocument/2006/relationships/slide" Target="methods_slide14.xml"/><Relationship Id="rIdmethods_Link49" Type="http://schemas.openxmlformats.org/officeDocument/2006/relationships/slide" Target="methods_slide19.xml"/></Relationships>
</file>

<file path=ppt/slides/_rels/methods_slide11.xml.rels><?xml version='1.0' encoding='UTF-8' standalone='yes'?>
<Relationships xmlns="http://schemas.openxmlformats.org/package/2006/relationships"><Relationship Type="http://schemas.openxmlformats.org/officeDocument/2006/relationships/slideLayout" Target="../slideLayouts/methods_slideLayout1.xml" Id="R0a62610b64e74560"/><Relationship Type="http://schemas.openxmlformats.org/officeDocument/2006/relationships/image" Target="../media/methods_image27.png" Id="R88c63a426f6048c1"/><Relationship Type="http://schemas.openxmlformats.org/officeDocument/2006/relationships/image" Target="../media/methods_image188.png" Id="Rbbf709fd6c0e4093"/><Relationship Type="http://schemas.openxmlformats.org/officeDocument/2006/relationships/image" Target="../media/methods_image.png" Id="R5aaf653a93b74ec1"/><Relationship Type="http://schemas.openxmlformats.org/officeDocument/2006/relationships/image" Target="../media/methods_image243.png" Id="R925eda6d1c4c479c"/><Relationship Type="http://schemas.openxmlformats.org/officeDocument/2006/relationships/image" Target="../media/methods_image244.png" Id="R2fe3da095fa14ba6"/><Relationship Type="http://schemas.openxmlformats.org/officeDocument/2006/relationships/image" Target="../media/methods_image17.png" Id="Rf370db30ea02403a"/><Relationship Type="http://schemas.openxmlformats.org/officeDocument/2006/relationships/image" Target="../media/methods_image4.png" Id="R5b6b08b48b8e40d3"/><Relationship Type="http://schemas.openxmlformats.org/officeDocument/2006/relationships/image" Target="../media/methods_image247.png" Id="R6cd1bbaf2aff4111"/><Relationship Type="http://schemas.openxmlformats.org/officeDocument/2006/relationships/image" Target="../media/methods_image5.png" Id="Rc3892ecc7a184e5a"/><Relationship Type="http://schemas.openxmlformats.org/officeDocument/2006/relationships/image" Target="../media/methods_image249.png" Id="Rb099c4f7e8ea49f0"/><Relationship Type="http://schemas.openxmlformats.org/officeDocument/2006/relationships/image" Target="../media/methods_image250.png" Id="R4ef7f81ec8f84947"/><Relationship Type="http://schemas.openxmlformats.org/officeDocument/2006/relationships/image" Target="../media/methods_image4.png" Id="R49ada88ef1c84c64"/><Relationship Type="http://schemas.openxmlformats.org/officeDocument/2006/relationships/image" Target="../media/methods_image5.png" Id="Re7109e166cea4897"/><Relationship Type="http://schemas.openxmlformats.org/officeDocument/2006/relationships/image" Target="../media/methods_image86.png" Id="Rd6d7c127d1eb48d4"/><Relationship Type="http://schemas.openxmlformats.org/officeDocument/2006/relationships/image" Target="../media/methods_image4.png" Id="Rd77d07a16c404c56"/><Relationship Type="http://schemas.openxmlformats.org/officeDocument/2006/relationships/image" Target="../media/methods_image5.png" Id="Rf25355dc86a7475b"/><Relationship Type="http://schemas.openxmlformats.org/officeDocument/2006/relationships/image" Target="../media/methods_image272.png" Id="Rcb32926ac9c94ab7"/><Relationship Type="http://schemas.openxmlformats.org/officeDocument/2006/relationships/image" Target="../media/methods_image273.png" Id="R56ccf2a804cc4454"/><Relationship Type="http://schemas.openxmlformats.org/officeDocument/2006/relationships/image" Target="../media/methods_image137.png" Id="Rbc086305e0e74785"/><Relationship Type="http://schemas.openxmlformats.org/officeDocument/2006/relationships/image" Target="../media/methods_image139.png" Id="Rb700d08596d44355"/><Relationship Type="http://schemas.openxmlformats.org/officeDocument/2006/relationships/image" Target="../media/methods_image276.png" Id="R6b95dadae4264ea6"/><Relationship Type="http://schemas.openxmlformats.org/officeDocument/2006/relationships/image" Target="../media/methods_image277.png" Id="R0d4d84b457bd4ea5"/><Relationship Type="http://schemas.openxmlformats.org/officeDocument/2006/relationships/image" Target="../media/methods_image278.png" Id="Rab3f14a1babd496d"/><Relationship Type="http://schemas.openxmlformats.org/officeDocument/2006/relationships/image" Target="../media/methods_image279.png" Id="Rf631d436fe9244ef"/><Relationship Type="http://schemas.openxmlformats.org/officeDocument/2006/relationships/image" Target="../media/methods_image280.png" Id="R6dbbc6b4f3fb4596"/><Relationship Type="http://schemas.openxmlformats.org/officeDocument/2006/relationships/image" Target="../media/methods_image281.png" Id="Rd87b29ad581d4f54"/><Relationship Type="http://schemas.openxmlformats.org/officeDocument/2006/relationships/image" Target="../media/methods_image282.png" Id="Ree4ddfe0b1c6416f"/><Relationship Type="http://schemas.openxmlformats.org/officeDocument/2006/relationships/image" Target="../media/methods_image283.png" Id="Rafbd9c50efee4f08"/><Relationship Type="http://schemas.openxmlformats.org/officeDocument/2006/relationships/image" Target="../media/methods_image284.png" Id="Rd77a70fe94f64fcb"/><Relationship Type="http://schemas.openxmlformats.org/officeDocument/2006/relationships/image" Target="../media/methods_image285.png" Id="R23bb05cd316c4b4e"/><Relationship Type="http://schemas.openxmlformats.org/officeDocument/2006/relationships/notesSlide" Target="../notesSlides/methods_notesSlide11.xml" Id="R59616fd6cafd4eaf"/><Relationship Id="rIdVectormf00256" Type="http://schemas.openxmlformats.org/officeDocument/2006/relationships/image" Target="../media/methods_mf00027.svg"/><Relationship Id="rIdVectormf00257" Type="http://schemas.openxmlformats.org/officeDocument/2006/relationships/image" Target="../media/methods_mf00188.svg"/><Relationship Id="rIdVectormf00258" Type="http://schemas.openxmlformats.org/officeDocument/2006/relationships/image" Target="../media/methods_mf00001.svg"/><Relationship Id="rIdVectormf00259" Type="http://schemas.openxmlformats.org/officeDocument/2006/relationships/image" Target="../media/methods_mf00243.svg"/><Relationship Id="rIdVectormf00260" Type="http://schemas.openxmlformats.org/officeDocument/2006/relationships/image" Target="../media/methods_mf00244.svg"/><Relationship Id="rIdVectormf00261" Type="http://schemas.openxmlformats.org/officeDocument/2006/relationships/image" Target="../media/methods_mf00245.svg"/><Relationship Id="rIdVectormf00262" Type="http://schemas.openxmlformats.org/officeDocument/2006/relationships/image" Target="../media/methods_mf00004.svg"/><Relationship Id="rIdVectormf00263" Type="http://schemas.openxmlformats.org/officeDocument/2006/relationships/image" Target="../media/methods_mf00247.svg"/><Relationship Id="rIdVectormf00264" Type="http://schemas.openxmlformats.org/officeDocument/2006/relationships/image" Target="../media/methods_mf00005.svg"/><Relationship Id="rIdVectormf00265" Type="http://schemas.openxmlformats.org/officeDocument/2006/relationships/image" Target="../media/methods_mf00249.svg"/><Relationship Id="rIdVectormf00266" Type="http://schemas.openxmlformats.org/officeDocument/2006/relationships/image" Target="../media/methods_mf00250.svg"/><Relationship Id="rIdVectormf00267" Type="http://schemas.openxmlformats.org/officeDocument/2006/relationships/image" Target="../media/methods_mf00004.svg"/><Relationship Id="rIdVectormf00268" Type="http://schemas.openxmlformats.org/officeDocument/2006/relationships/image" Target="../media/methods_mf00005.svg"/><Relationship Id="rIdVectormf00269" Type="http://schemas.openxmlformats.org/officeDocument/2006/relationships/image" Target="../media/methods_mf00142.svg"/><Relationship Id="rIdVectormf00270" Type="http://schemas.openxmlformats.org/officeDocument/2006/relationships/image" Target="../media/methods_mf00004.svg"/><Relationship Id="rIdVectormf00271" Type="http://schemas.openxmlformats.org/officeDocument/2006/relationships/image" Target="../media/methods_mf00005.svg"/><Relationship Id="rIdVectormf00272" Type="http://schemas.openxmlformats.org/officeDocument/2006/relationships/image" Target="../media/methods_mf00272.svg"/><Relationship Id="rIdVectormf00273" Type="http://schemas.openxmlformats.org/officeDocument/2006/relationships/image" Target="../media/methods_mf00273.svg"/><Relationship Id="rIdVectormf00274" Type="http://schemas.openxmlformats.org/officeDocument/2006/relationships/image" Target="../media/methods_mf00137.svg"/><Relationship Id="rIdVectormf00275" Type="http://schemas.openxmlformats.org/officeDocument/2006/relationships/image" Target="../media/methods_mf00139.svg"/><Relationship Id="rIdVectormf00276" Type="http://schemas.openxmlformats.org/officeDocument/2006/relationships/image" Target="../media/methods_mf00276.svg"/><Relationship Id="rIdVectormf00277" Type="http://schemas.openxmlformats.org/officeDocument/2006/relationships/image" Target="../media/methods_mf00277.svg"/><Relationship Id="rIdVectormf00278" Type="http://schemas.openxmlformats.org/officeDocument/2006/relationships/image" Target="../media/methods_mf00278.svg"/><Relationship Id="rIdVectormf00279" Type="http://schemas.openxmlformats.org/officeDocument/2006/relationships/image" Target="../media/methods_mf00279.svg"/><Relationship Id="rIdVectormf00280" Type="http://schemas.openxmlformats.org/officeDocument/2006/relationships/image" Target="../media/methods_mf00280.svg"/><Relationship Id="rIdVectormf00281" Type="http://schemas.openxmlformats.org/officeDocument/2006/relationships/image" Target="../media/methods_mf00281.svg"/><Relationship Id="rIdVectormf00282" Type="http://schemas.openxmlformats.org/officeDocument/2006/relationships/image" Target="../media/methods_mf00282.svg"/><Relationship Id="rIdVectormf00283" Type="http://schemas.openxmlformats.org/officeDocument/2006/relationships/image" Target="../media/methods_mf00283.svg"/><Relationship Id="rIdVectormf00284" Type="http://schemas.openxmlformats.org/officeDocument/2006/relationships/image" Target="../media/methods_mf00284.svg"/><Relationship Id="rIdVectormf00285" Type="http://schemas.openxmlformats.org/officeDocument/2006/relationships/image" Target="../media/methods_mf00285.svg"/><Relationship Id="rIdmethods_Link50" Type="http://schemas.openxmlformats.org/officeDocument/2006/relationships/slide" Target="methods_slide1.xml"/><Relationship Id="rIdmethods_Link51" Type="http://schemas.openxmlformats.org/officeDocument/2006/relationships/slide" Target="methods_slide8.xml"/><Relationship Id="rIdmethods_Link52" Type="http://schemas.openxmlformats.org/officeDocument/2006/relationships/slide" Target="methods_slide14.xml"/><Relationship Id="rIdmethods_Link53" Type="http://schemas.openxmlformats.org/officeDocument/2006/relationships/slide" Target="methods_slide19.xml"/></Relationships>
</file>

<file path=ppt/slides/_rels/methods_slide12.xml.rels><?xml version='1.0' encoding='UTF-8' standalone='yes'?>
<Relationships xmlns="http://schemas.openxmlformats.org/package/2006/relationships"><Relationship Type="http://schemas.openxmlformats.org/officeDocument/2006/relationships/slideLayout" Target="../slideLayouts/methods_slideLayout1.xml" Id="Rb71afeddcadc41a9"/><Relationship Type="http://schemas.openxmlformats.org/officeDocument/2006/relationships/image" Target="../media/methods_image286.png" Id="R51bd06038c704d12"/><Relationship Type="http://schemas.openxmlformats.org/officeDocument/2006/relationships/image" Target="../media/methods_image188.png" Id="R9e04036f3c124cee"/><Relationship Type="http://schemas.openxmlformats.org/officeDocument/2006/relationships/image" Target="../media/methods_image288.png" Id="Rac21529187c34cb3"/><Relationship Type="http://schemas.openxmlformats.org/officeDocument/2006/relationships/image" Target="../media/methods_image289.png" Id="R6f0c6558c33b4798"/><Relationship Type="http://schemas.openxmlformats.org/officeDocument/2006/relationships/image" Target="../media/methods_image4.png" Id="Re604555813f44dc7"/><Relationship Type="http://schemas.openxmlformats.org/officeDocument/2006/relationships/image" Target="../media/methods_image247.png" Id="R7a6bbee659864890"/><Relationship Type="http://schemas.openxmlformats.org/officeDocument/2006/relationships/image" Target="../media/methods_image292.png" Id="R8fac71075b464bd1"/><Relationship Type="http://schemas.openxmlformats.org/officeDocument/2006/relationships/image" Target="../media/methods_image5.png" Id="Rc81540e20a3d49ad"/><Relationship Type="http://schemas.openxmlformats.org/officeDocument/2006/relationships/image" Target="../media/methods_image294.png" Id="R1086c248c8b0427d"/><Relationship Type="http://schemas.openxmlformats.org/officeDocument/2006/relationships/image" Target="../media/methods_image249.png" Id="R7d96722663c1411d"/><Relationship Type="http://schemas.openxmlformats.org/officeDocument/2006/relationships/image" Target="../media/methods_image17.png" Id="R1cb313e870884c37"/><Relationship Type="http://schemas.openxmlformats.org/officeDocument/2006/relationships/image" Target="../media/methods_image4.png" Id="R4d56d60af6e9412e"/><Relationship Type="http://schemas.openxmlformats.org/officeDocument/2006/relationships/image" Target="../media/methods_image247.png" Id="Rea41ddb7075b4e24"/><Relationship Type="http://schemas.openxmlformats.org/officeDocument/2006/relationships/image" Target="../media/methods_image292.png" Id="R7dd5edb1878e4838"/><Relationship Type="http://schemas.openxmlformats.org/officeDocument/2006/relationships/image" Target="../media/methods_image137.png" Id="R6e76345abe43400c"/><Relationship Type="http://schemas.openxmlformats.org/officeDocument/2006/relationships/image" Target="../media/methods_image5.png" Id="R77147ebf1ca646f9"/><Relationship Type="http://schemas.openxmlformats.org/officeDocument/2006/relationships/image" Target="../media/methods_image139.png" Id="R4ae65d7a95cb40e9"/><Relationship Type="http://schemas.openxmlformats.org/officeDocument/2006/relationships/image" Target="../media/methods_image294.png" Id="R5f2d06dca01e4540"/><Relationship Type="http://schemas.openxmlformats.org/officeDocument/2006/relationships/image" Target="../media/methods_image249.png" Id="Rb3fc1d815d4b42c5"/><Relationship Type="http://schemas.openxmlformats.org/officeDocument/2006/relationships/image" Target="../media/methods_image86.png" Id="Rf8e8a13530a14a06"/><Relationship Type="http://schemas.openxmlformats.org/officeDocument/2006/relationships/image" Target="../media/methods_image4.png" Id="Rb508188f20b14362"/><Relationship Type="http://schemas.openxmlformats.org/officeDocument/2006/relationships/image" Target="../media/methods_image5.png" Id="Raf99d54b6d8b4bbd"/><Relationship Type="http://schemas.openxmlformats.org/officeDocument/2006/relationships/image" Target="../media/methods_image308.png" Id="R3e7033bd28064271"/><Relationship Type="http://schemas.openxmlformats.org/officeDocument/2006/relationships/image" Target="../media/methods_image309.png" Id="R89cf6666416a4984"/><Relationship Type="http://schemas.openxmlformats.org/officeDocument/2006/relationships/image" Target="../media/methods_image310.png" Id="R570d3a258a394636"/><Relationship Type="http://schemas.openxmlformats.org/officeDocument/2006/relationships/image" Target="../media/methods_image311.png" Id="Raed8808b45de4b96"/><Relationship Type="http://schemas.openxmlformats.org/officeDocument/2006/relationships/image" Target="../media/methods_image312.png" Id="R5d57c0ddbcd64506"/><Relationship Type="http://schemas.openxmlformats.org/officeDocument/2006/relationships/notesSlide" Target="../notesSlides/methods_notesSlide12.xml" Id="Rb59207b4099448cb"/><Relationship Id="rIdVectormf00286" Type="http://schemas.openxmlformats.org/officeDocument/2006/relationships/image" Target="../media/methods_mf00286.svg"/><Relationship Id="rIdVectormf00287" Type="http://schemas.openxmlformats.org/officeDocument/2006/relationships/image" Target="../media/methods_mf00188.svg"/><Relationship Id="rIdVectormf00288" Type="http://schemas.openxmlformats.org/officeDocument/2006/relationships/image" Target="../media/methods_mf00288.svg"/><Relationship Id="rIdVectormf00289" Type="http://schemas.openxmlformats.org/officeDocument/2006/relationships/image" Target="../media/methods_mf00289.svg"/><Relationship Id="rIdVectormf00290" Type="http://schemas.openxmlformats.org/officeDocument/2006/relationships/image" Target="../media/methods_mf00004.svg"/><Relationship Id="rIdVectormf00291" Type="http://schemas.openxmlformats.org/officeDocument/2006/relationships/image" Target="../media/methods_mf00247.svg"/><Relationship Id="rIdVectormf00292" Type="http://schemas.openxmlformats.org/officeDocument/2006/relationships/image" Target="../media/methods_mf00292.svg"/><Relationship Id="rIdVectormf00293" Type="http://schemas.openxmlformats.org/officeDocument/2006/relationships/image" Target="../media/methods_mf00005.svg"/><Relationship Id="rIdVectormf00294" Type="http://schemas.openxmlformats.org/officeDocument/2006/relationships/image" Target="../media/methods_mf00294.svg"/><Relationship Id="rIdVectormf00295" Type="http://schemas.openxmlformats.org/officeDocument/2006/relationships/image" Target="../media/methods_mf00249.svg"/><Relationship Id="rIdVectormf00296" Type="http://schemas.openxmlformats.org/officeDocument/2006/relationships/image" Target="../media/methods_mf00017.svg"/><Relationship Id="rIdVectormf00297" Type="http://schemas.openxmlformats.org/officeDocument/2006/relationships/image" Target="../media/methods_mf00004.svg"/><Relationship Id="rIdVectormf00298" Type="http://schemas.openxmlformats.org/officeDocument/2006/relationships/image" Target="../media/methods_mf00247.svg"/><Relationship Id="rIdVectormf00299" Type="http://schemas.openxmlformats.org/officeDocument/2006/relationships/image" Target="../media/methods_mf00292.svg"/><Relationship Id="rIdVectormf00300" Type="http://schemas.openxmlformats.org/officeDocument/2006/relationships/image" Target="../media/methods_mf00137.svg"/><Relationship Id="rIdVectormf00301" Type="http://schemas.openxmlformats.org/officeDocument/2006/relationships/image" Target="../media/methods_mf00005.svg"/><Relationship Id="rIdVectormf00302" Type="http://schemas.openxmlformats.org/officeDocument/2006/relationships/image" Target="../media/methods_mf00139.svg"/><Relationship Id="rIdVectormf00303" Type="http://schemas.openxmlformats.org/officeDocument/2006/relationships/image" Target="../media/methods_mf00294.svg"/><Relationship Id="rIdVectormf00304" Type="http://schemas.openxmlformats.org/officeDocument/2006/relationships/image" Target="../media/methods_mf00249.svg"/><Relationship Id="rIdVectormf00305" Type="http://schemas.openxmlformats.org/officeDocument/2006/relationships/image" Target="../media/methods_mf00086.svg"/><Relationship Id="rIdVectormf00306" Type="http://schemas.openxmlformats.org/officeDocument/2006/relationships/image" Target="../media/methods_mf00004.svg"/><Relationship Id="rIdVectormf00307" Type="http://schemas.openxmlformats.org/officeDocument/2006/relationships/image" Target="../media/methods_mf00005.svg"/><Relationship Id="rIdVectormf00308" Type="http://schemas.openxmlformats.org/officeDocument/2006/relationships/image" Target="../media/methods_mf00308.svg"/><Relationship Id="rIdVectormf00309" Type="http://schemas.openxmlformats.org/officeDocument/2006/relationships/image" Target="../media/methods_mf00309.svg"/><Relationship Id="rIdVectormf00310" Type="http://schemas.openxmlformats.org/officeDocument/2006/relationships/image" Target="../media/methods_mf00310.svg"/><Relationship Id="rIdVectormf00311" Type="http://schemas.openxmlformats.org/officeDocument/2006/relationships/image" Target="../media/methods_mf00311.svg"/><Relationship Id="rIdVectormf00312" Type="http://schemas.openxmlformats.org/officeDocument/2006/relationships/image" Target="../media/methods_mf00312.svg"/><Relationship Id="rIdmethods_Link54" Type="http://schemas.openxmlformats.org/officeDocument/2006/relationships/slide" Target="methods_slide1.xml"/><Relationship Id="rIdmethods_Link55" Type="http://schemas.openxmlformats.org/officeDocument/2006/relationships/slide" Target="methods_slide12.xml"/><Relationship Id="rIdmethods_Link56" Type="http://schemas.openxmlformats.org/officeDocument/2006/relationships/slide" Target="methods_slide12.xml"/><Relationship Id="rIdmethods_Link57" Type="http://schemas.openxmlformats.org/officeDocument/2006/relationships/slide" Target="methods_slide13.xml"/></Relationships>
</file>

<file path=ppt/slides/_rels/methods_slide13.xml.rels><?xml version='1.0' encoding='UTF-8' standalone='yes'?>
<Relationships xmlns="http://schemas.openxmlformats.org/package/2006/relationships"><Relationship Type="http://schemas.openxmlformats.org/officeDocument/2006/relationships/slideLayout" Target="../slideLayouts/methods_slideLayout1.xml" Id="Rae424e9b5d9a4572"/><Relationship Type="http://schemas.openxmlformats.org/officeDocument/2006/relationships/image" Target="../media/methods_image286.png" Id="R29442c8d16d84794"/><Relationship Type="http://schemas.openxmlformats.org/officeDocument/2006/relationships/image" Target="../media/methods_image188.png" Id="R242257af3308461f"/><Relationship Type="http://schemas.openxmlformats.org/officeDocument/2006/relationships/image" Target="../media/methods_image.png" Id="Rc15daf37865749a6"/><Relationship Type="http://schemas.openxmlformats.org/officeDocument/2006/relationships/image" Target="../media/methods_image289.png" Id="R175dc398f2c94e82"/><Relationship Type="http://schemas.openxmlformats.org/officeDocument/2006/relationships/image" Target="../media/methods_image4.png" Id="R21ce7438e4c64db6"/><Relationship Type="http://schemas.openxmlformats.org/officeDocument/2006/relationships/image" Target="../media/methods_image247.png" Id="Rb1da6adc764c4bac"/><Relationship Type="http://schemas.openxmlformats.org/officeDocument/2006/relationships/image" Target="../media/methods_image292.png" Id="R63755696e44c402f"/><Relationship Type="http://schemas.openxmlformats.org/officeDocument/2006/relationships/image" Target="../media/methods_image5.png" Id="Rb1b247ee60274906"/><Relationship Type="http://schemas.openxmlformats.org/officeDocument/2006/relationships/image" Target="../media/methods_image294.png" Id="R914a0a330cca4dc8"/><Relationship Type="http://schemas.openxmlformats.org/officeDocument/2006/relationships/image" Target="../media/methods_image249.png" Id="R1b1387536fde4beb"/><Relationship Type="http://schemas.openxmlformats.org/officeDocument/2006/relationships/image" Target="../media/methods_image17.png" Id="Re793f13c4561432b"/><Relationship Type="http://schemas.openxmlformats.org/officeDocument/2006/relationships/image" Target="../media/methods_image4.png" Id="R24264cc71a2248c7"/><Relationship Type="http://schemas.openxmlformats.org/officeDocument/2006/relationships/image" Target="../media/methods_image137.png" Id="Rb67d55c1d99f41eb"/><Relationship Type="http://schemas.openxmlformats.org/officeDocument/2006/relationships/image" Target="../media/methods_image5.png" Id="R4cddb17d11d34b1a"/><Relationship Type="http://schemas.openxmlformats.org/officeDocument/2006/relationships/image" Target="../media/methods_image139.png" Id="R26793de034754fac"/><Relationship Type="http://schemas.openxmlformats.org/officeDocument/2006/relationships/image" Target="../media/methods_image86.png" Id="R1c16cdee4bc94340"/><Relationship Type="http://schemas.openxmlformats.org/officeDocument/2006/relationships/image" Target="../media/methods_image4.png" Id="R9ffae183c79f4ee4"/><Relationship Type="http://schemas.openxmlformats.org/officeDocument/2006/relationships/image" Target="../media/methods_image5.png" Id="R9e3a6009191d4146"/><Relationship Type="http://schemas.openxmlformats.org/officeDocument/2006/relationships/image" Target="../media/methods_image32.png" Id="R05d7b263760345df"/><Relationship Type="http://schemas.openxmlformats.org/officeDocument/2006/relationships/image" Target="../media/methods_image309.png" Id="R3267974d2e4f4d48"/><Relationship Type="http://schemas.openxmlformats.org/officeDocument/2006/relationships/image" Target="../media/methods_image333.png" Id="Rcc21b4435cff4796"/><Relationship Type="http://schemas.openxmlformats.org/officeDocument/2006/relationships/image" Target="../media/methods_image334.png" Id="R52038ef7cf6d4709"/><Relationship Type="http://schemas.openxmlformats.org/officeDocument/2006/relationships/image" Target="../media/methods_image335.png" Id="R487824d870c44c4a"/><Relationship Type="http://schemas.openxmlformats.org/officeDocument/2006/relationships/notesSlide" Target="../notesSlides/methods_notesSlide13.xml" Id="R762fc1f2328f4478"/><Relationship Id="rIdVectormf00313" Type="http://schemas.openxmlformats.org/officeDocument/2006/relationships/image" Target="../media/methods_mf00286.svg"/><Relationship Id="rIdVectormf00314" Type="http://schemas.openxmlformats.org/officeDocument/2006/relationships/image" Target="../media/methods_mf00188.svg"/><Relationship Id="rIdVectormf00315" Type="http://schemas.openxmlformats.org/officeDocument/2006/relationships/image" Target="../media/methods_mf00001.svg"/><Relationship Id="rIdVectormf00316" Type="http://schemas.openxmlformats.org/officeDocument/2006/relationships/image" Target="../media/methods_mf00289.svg"/><Relationship Id="rIdVectormf00317" Type="http://schemas.openxmlformats.org/officeDocument/2006/relationships/image" Target="../media/methods_mf00004.svg"/><Relationship Id="rIdVectormf00318" Type="http://schemas.openxmlformats.org/officeDocument/2006/relationships/image" Target="../media/methods_mf00247.svg"/><Relationship Id="rIdVectormf00319" Type="http://schemas.openxmlformats.org/officeDocument/2006/relationships/image" Target="../media/methods_mf00292.svg"/><Relationship Id="rIdVectormf00320" Type="http://schemas.openxmlformats.org/officeDocument/2006/relationships/image" Target="../media/methods_mf00005.svg"/><Relationship Id="rIdVectormf00321" Type="http://schemas.openxmlformats.org/officeDocument/2006/relationships/image" Target="../media/methods_mf00294.svg"/><Relationship Id="rIdVectormf00322" Type="http://schemas.openxmlformats.org/officeDocument/2006/relationships/image" Target="../media/methods_mf00249.svg"/><Relationship Id="rIdVectormf00323" Type="http://schemas.openxmlformats.org/officeDocument/2006/relationships/image" Target="../media/methods_mf00017.svg"/><Relationship Id="rIdVectormf00324" Type="http://schemas.openxmlformats.org/officeDocument/2006/relationships/image" Target="../media/methods_mf00004.svg"/><Relationship Id="rIdVectormf00325" Type="http://schemas.openxmlformats.org/officeDocument/2006/relationships/image" Target="../media/methods_mf00137.svg"/><Relationship Id="rIdVectormf00326" Type="http://schemas.openxmlformats.org/officeDocument/2006/relationships/image" Target="../media/methods_mf00005.svg"/><Relationship Id="rIdVectormf00327" Type="http://schemas.openxmlformats.org/officeDocument/2006/relationships/image" Target="../media/methods_mf00139.svg"/><Relationship Id="rIdVectormf00328" Type="http://schemas.openxmlformats.org/officeDocument/2006/relationships/image" Target="../media/methods_mf00086.svg"/><Relationship Id="rIdVectormf00329" Type="http://schemas.openxmlformats.org/officeDocument/2006/relationships/image" Target="../media/methods_mf00004.svg"/><Relationship Id="rIdVectormf00330" Type="http://schemas.openxmlformats.org/officeDocument/2006/relationships/image" Target="../media/methods_mf00005.svg"/><Relationship Id="rIdVectormf00331" Type="http://schemas.openxmlformats.org/officeDocument/2006/relationships/image" Target="../media/methods_mf00032.svg"/><Relationship Id="rIdVectormf00332" Type="http://schemas.openxmlformats.org/officeDocument/2006/relationships/image" Target="../media/methods_mf00309.svg"/><Relationship Id="rIdVectormf00333" Type="http://schemas.openxmlformats.org/officeDocument/2006/relationships/image" Target="../media/methods_mf00333.svg"/><Relationship Id="rIdVectormf00334" Type="http://schemas.openxmlformats.org/officeDocument/2006/relationships/image" Target="../media/methods_mf00334.svg"/><Relationship Id="rIdVectormf00335" Type="http://schemas.openxmlformats.org/officeDocument/2006/relationships/image" Target="../media/methods_mf00335.svg"/><Relationship Id="rIdmethods_Link58" Type="http://schemas.openxmlformats.org/officeDocument/2006/relationships/slide" Target="methods_slide1.xml"/><Relationship Id="rIdmethods_Link59" Type="http://schemas.openxmlformats.org/officeDocument/2006/relationships/slide" Target="methods_slide12.xml"/><Relationship Id="rIdmethods_Link60" Type="http://schemas.openxmlformats.org/officeDocument/2006/relationships/slide" Target="methods_slide12.xml"/><Relationship Id="rIdmethods_Link61" Type="http://schemas.openxmlformats.org/officeDocument/2006/relationships/slide" Target="methods_slide13.xml"/></Relationships>
</file>

<file path=ppt/slides/_rels/methods_slide14.xml.rels><?xml version='1.0' encoding='UTF-8' standalone='yes'?>
<Relationships xmlns="http://schemas.openxmlformats.org/package/2006/relationships"><Relationship Type="http://schemas.openxmlformats.org/officeDocument/2006/relationships/slideLayout" Target="../slideLayouts/methods_slideLayout1.xml" Id="R7a23af6fe0af4f9f"/><Relationship Type="http://schemas.openxmlformats.org/officeDocument/2006/relationships/image" Target="../media/methods_image27.png" Id="Rad212b71894c444a"/><Relationship Type="http://schemas.openxmlformats.org/officeDocument/2006/relationships/image" Target="../media/methods_image337.png" Id="R363cff17d98b4727"/><Relationship Type="http://schemas.openxmlformats.org/officeDocument/2006/relationships/image" Target="../media/methods_image.png" Id="R2fdb1d4f41b04b8e"/><Relationship Type="http://schemas.openxmlformats.org/officeDocument/2006/relationships/image" Target="../media/methods_image4.png" Id="R29ef250ec7254a6c"/><Relationship Type="http://schemas.openxmlformats.org/officeDocument/2006/relationships/image" Target="../media/methods_image247.png" Id="R5f20165e97d24e94"/><Relationship Type="http://schemas.openxmlformats.org/officeDocument/2006/relationships/image" Target="../media/methods_image292.png" Id="Rc26af4b797d849e1"/><Relationship Type="http://schemas.openxmlformats.org/officeDocument/2006/relationships/image" Target="../media/methods_image5.png" Id="R7a7d7a883f334880"/><Relationship Type="http://schemas.openxmlformats.org/officeDocument/2006/relationships/image" Target="../media/methods_image294.png" Id="R28538c2a19a64b78"/><Relationship Type="http://schemas.openxmlformats.org/officeDocument/2006/relationships/image" Target="../media/methods_image249.png" Id="R4f9b0796162d4e59"/><Relationship Type="http://schemas.openxmlformats.org/officeDocument/2006/relationships/image" Target="../media/methods_image345.png" Id="Re1f23e3c5ab34c76"/><Relationship Type="http://schemas.openxmlformats.org/officeDocument/2006/relationships/image" Target="../media/methods_image4.png" Id="R54e4161e381a4a60"/><Relationship Type="http://schemas.openxmlformats.org/officeDocument/2006/relationships/image" Target="../media/methods_image137.png" Id="R29755232f0c44f8c"/><Relationship Type="http://schemas.openxmlformats.org/officeDocument/2006/relationships/image" Target="../media/methods_image5.png" Id="R96c3ec1285b54601"/><Relationship Type="http://schemas.openxmlformats.org/officeDocument/2006/relationships/image" Target="../media/methods_image139.png" Id="Rbce67574ed894552"/><Relationship Type="http://schemas.openxmlformats.org/officeDocument/2006/relationships/image" Target="../media/methods_image350.png" Id="R81724c1bc55f46c4"/><Relationship Type="http://schemas.openxmlformats.org/officeDocument/2006/relationships/image" Target="../media/methods_image4.png" Id="R8b2a4a9693924e81"/><Relationship Type="http://schemas.openxmlformats.org/officeDocument/2006/relationships/image" Target="../media/methods_image5.png" Id="Ra9b84d88f44d4325"/><Relationship Type="http://schemas.openxmlformats.org/officeDocument/2006/relationships/image" Target="../media/methods_image32.png" Id="R6cc0370915bb424b"/><Relationship Type="http://schemas.openxmlformats.org/officeDocument/2006/relationships/image" Target="../media/methods_image354.png" Id="Ra0495fb5dffa4495"/><Relationship Type="http://schemas.openxmlformats.org/officeDocument/2006/relationships/image" Target="../media/methods_image355.png" Id="Rb63bbf8da22648fa"/><Relationship Type="http://schemas.openxmlformats.org/officeDocument/2006/relationships/image" Target="../media/methods_image356.png" Id="Rf6364a76d0fb488f"/><Relationship Type="http://schemas.openxmlformats.org/officeDocument/2006/relationships/image" Target="../media/methods_image357.png" Id="R5e10935d57404357"/><Relationship Type="http://schemas.openxmlformats.org/officeDocument/2006/relationships/notesSlide" Target="../notesSlides/methods_notesSlide14.xml" Id="Rd274597e5f724fe8"/><Relationship Id="rIdVectormf00336" Type="http://schemas.openxmlformats.org/officeDocument/2006/relationships/image" Target="../media/methods_mf00027.svg"/><Relationship Id="rIdVectormf00337" Type="http://schemas.openxmlformats.org/officeDocument/2006/relationships/image" Target="../media/methods_mf00337.svg"/><Relationship Id="rIdVectormf00338" Type="http://schemas.openxmlformats.org/officeDocument/2006/relationships/image" Target="../media/methods_mf00001.svg"/><Relationship Id="rIdVectormf00339" Type="http://schemas.openxmlformats.org/officeDocument/2006/relationships/image" Target="../media/methods_mf00004.svg"/><Relationship Id="rIdVectormf00340" Type="http://schemas.openxmlformats.org/officeDocument/2006/relationships/image" Target="../media/methods_mf00247.svg"/><Relationship Id="rIdVectormf00341" Type="http://schemas.openxmlformats.org/officeDocument/2006/relationships/image" Target="../media/methods_mf00292.svg"/><Relationship Id="rIdVectormf00342" Type="http://schemas.openxmlformats.org/officeDocument/2006/relationships/image" Target="../media/methods_mf00005.svg"/><Relationship Id="rIdVectormf00343" Type="http://schemas.openxmlformats.org/officeDocument/2006/relationships/image" Target="../media/methods_mf00294.svg"/><Relationship Id="rIdVectormf00344" Type="http://schemas.openxmlformats.org/officeDocument/2006/relationships/image" Target="../media/methods_mf00249.svg"/><Relationship Id="rIdVectormf00345" Type="http://schemas.openxmlformats.org/officeDocument/2006/relationships/image" Target="../media/methods_mf00345.svg"/><Relationship Id="rIdVectormf00346" Type="http://schemas.openxmlformats.org/officeDocument/2006/relationships/image" Target="../media/methods_mf00004.svg"/><Relationship Id="rIdVectormf00347" Type="http://schemas.openxmlformats.org/officeDocument/2006/relationships/image" Target="../media/methods_mf00137.svg"/><Relationship Id="rIdVectormf00348" Type="http://schemas.openxmlformats.org/officeDocument/2006/relationships/image" Target="../media/methods_mf00005.svg"/><Relationship Id="rIdVectormf00349" Type="http://schemas.openxmlformats.org/officeDocument/2006/relationships/image" Target="../media/methods_mf00139.svg"/><Relationship Id="rIdVectormf00350" Type="http://schemas.openxmlformats.org/officeDocument/2006/relationships/image" Target="../media/methods_mf00350.svg"/><Relationship Id="rIdVectormf00351" Type="http://schemas.openxmlformats.org/officeDocument/2006/relationships/image" Target="../media/methods_mf00004.svg"/><Relationship Id="rIdVectormf00352" Type="http://schemas.openxmlformats.org/officeDocument/2006/relationships/image" Target="../media/methods_mf00005.svg"/><Relationship Id="rIdVectormf00353" Type="http://schemas.openxmlformats.org/officeDocument/2006/relationships/image" Target="../media/methods_mf00032.svg"/><Relationship Id="rIdVectormf00354" Type="http://schemas.openxmlformats.org/officeDocument/2006/relationships/image" Target="../media/methods_mf00354.svg"/><Relationship Id="rIdVectormf00355" Type="http://schemas.openxmlformats.org/officeDocument/2006/relationships/image" Target="../media/methods_mf00355.svg"/><Relationship Id="rIdVectormf00356" Type="http://schemas.openxmlformats.org/officeDocument/2006/relationships/image" Target="../media/methods_mf00356.svg"/><Relationship Id="rIdVectormf00357" Type="http://schemas.openxmlformats.org/officeDocument/2006/relationships/image" Target="../media/methods_mf00357.svg"/><Relationship Id="rIdmethods_Link62" Type="http://schemas.openxmlformats.org/officeDocument/2006/relationships/slide" Target="methods_slide1.xml"/><Relationship Id="rIdmethods_Link63" Type="http://schemas.openxmlformats.org/officeDocument/2006/relationships/slide" Target="methods_slide4.xml"/><Relationship Id="rIdmethods_Link64" Type="http://schemas.openxmlformats.org/officeDocument/2006/relationships/slide" Target="methods_slide5.xml"/><Relationship Id="rIdmethods_Link65" Type="http://schemas.openxmlformats.org/officeDocument/2006/relationships/slide" Target="methods_slide19.xml"/></Relationships>
</file>

<file path=ppt/slides/_rels/methods_slide15.xml.rels><?xml version='1.0' encoding='UTF-8' standalone='yes'?>
<Relationships xmlns="http://schemas.openxmlformats.org/package/2006/relationships"><Relationship Type="http://schemas.openxmlformats.org/officeDocument/2006/relationships/slideLayout" Target="../slideLayouts/methods_slideLayout1.xml" Id="Rf91003ce841145f2"/><Relationship Type="http://schemas.openxmlformats.org/officeDocument/2006/relationships/image" Target="../media/methods_image27.png" Id="Rfc2eeb32bbb04b1c"/><Relationship Type="http://schemas.openxmlformats.org/officeDocument/2006/relationships/image" Target="../media/methods_image337.png" Id="Ra92023288ab14282"/><Relationship Type="http://schemas.openxmlformats.org/officeDocument/2006/relationships/image" Target="../media/methods_image.png" Id="Rc656375d70ec4102"/><Relationship Type="http://schemas.openxmlformats.org/officeDocument/2006/relationships/image" Target="../media/methods_image4.png" Id="Rbd766330e55f460d"/><Relationship Type="http://schemas.openxmlformats.org/officeDocument/2006/relationships/image" Target="../media/methods_image247.png" Id="Rf0344417c4cb47c4"/><Relationship Type="http://schemas.openxmlformats.org/officeDocument/2006/relationships/image" Target="../media/methods_image5.png" Id="Rc7629de0769a4aa2"/><Relationship Type="http://schemas.openxmlformats.org/officeDocument/2006/relationships/image" Target="../media/methods_image249.png" Id="R6d0b71d24d85443c"/><Relationship Type="http://schemas.openxmlformats.org/officeDocument/2006/relationships/image" Target="../media/methods_image4.png" Id="Rc452ea8f59e04b2a"/><Relationship Type="http://schemas.openxmlformats.org/officeDocument/2006/relationships/image" Target="../media/methods_image137.png" Id="Rbc9682dd08d14daa"/><Relationship Type="http://schemas.openxmlformats.org/officeDocument/2006/relationships/image" Target="../media/methods_image5.png" Id="R0a989e7598264b12"/><Relationship Type="http://schemas.openxmlformats.org/officeDocument/2006/relationships/image" Target="../media/methods_image139.png" Id="R7860729b45ff4b28"/><Relationship Type="http://schemas.openxmlformats.org/officeDocument/2006/relationships/image" Target="../media/methods_image4.png" Id="Re1decf8b267847ce"/><Relationship Type="http://schemas.openxmlformats.org/officeDocument/2006/relationships/image" Target="../media/methods_image370.png" Id="R5659f51eee3b4b0c"/><Relationship Type="http://schemas.openxmlformats.org/officeDocument/2006/relationships/image" Target="../media/methods_image5.png" Id="R83763d839e9e4ae9"/><Relationship Type="http://schemas.openxmlformats.org/officeDocument/2006/relationships/image" Target="../media/methods_image372.png" Id="Rc0d14b932200447c"/><Relationship Type="http://schemas.openxmlformats.org/officeDocument/2006/relationships/image" Target="../media/methods_image4.png" Id="R368bed34db7e48a9"/><Relationship Type="http://schemas.openxmlformats.org/officeDocument/2006/relationships/image" Target="../media/methods_image137.png" Id="R4c283196b4db4322"/><Relationship Type="http://schemas.openxmlformats.org/officeDocument/2006/relationships/image" Target="../media/methods_image5.png" Id="R31cb695109894d7f"/><Relationship Type="http://schemas.openxmlformats.org/officeDocument/2006/relationships/image" Target="../media/methods_image139.png" Id="R32b943e5fd764925"/><Relationship Type="http://schemas.openxmlformats.org/officeDocument/2006/relationships/image" Target="../media/methods_image377.png" Id="Re7701f1a12db4f51"/><Relationship Type="http://schemas.openxmlformats.org/officeDocument/2006/relationships/image" Target="../media/methods_image378.png" Id="Rfde6aec18b464573"/><Relationship Type="http://schemas.openxmlformats.org/officeDocument/2006/relationships/image" Target="../media/methods_image379.png" Id="R9e3fc8c3fb8948d3"/><Relationship Type="http://schemas.openxmlformats.org/officeDocument/2006/relationships/image" Target="../media/methods_image380.png" Id="R71bfd5a78e834b1b"/><Relationship Type="http://schemas.openxmlformats.org/officeDocument/2006/relationships/notesSlide" Target="../notesSlides/methods_notesSlide15.xml" Id="Ra5f4efe7889f4196"/><Relationship Id="rIdVectormf00358" Type="http://schemas.openxmlformats.org/officeDocument/2006/relationships/image" Target="../media/methods_mf00027.svg"/><Relationship Id="rIdVectormf00359" Type="http://schemas.openxmlformats.org/officeDocument/2006/relationships/image" Target="../media/methods_mf00337.svg"/><Relationship Id="rIdVectormf00360" Type="http://schemas.openxmlformats.org/officeDocument/2006/relationships/image" Target="../media/methods_mf00001.svg"/><Relationship Id="rIdVectormf00361" Type="http://schemas.openxmlformats.org/officeDocument/2006/relationships/image" Target="../media/methods_mf00004.svg"/><Relationship Id="rIdVectormf00362" Type="http://schemas.openxmlformats.org/officeDocument/2006/relationships/image" Target="../media/methods_mf00247.svg"/><Relationship Id="rIdVectormf00363" Type="http://schemas.openxmlformats.org/officeDocument/2006/relationships/image" Target="../media/methods_mf00005.svg"/><Relationship Id="rIdVectormf00364" Type="http://schemas.openxmlformats.org/officeDocument/2006/relationships/image" Target="../media/methods_mf00249.svg"/><Relationship Id="rIdVectormf00365" Type="http://schemas.openxmlformats.org/officeDocument/2006/relationships/image" Target="../media/methods_mf00004.svg"/><Relationship Id="rIdVectormf00366" Type="http://schemas.openxmlformats.org/officeDocument/2006/relationships/image" Target="../media/methods_mf00137.svg"/><Relationship Id="rIdVectormf00367" Type="http://schemas.openxmlformats.org/officeDocument/2006/relationships/image" Target="../media/methods_mf00005.svg"/><Relationship Id="rIdVectormf00368" Type="http://schemas.openxmlformats.org/officeDocument/2006/relationships/image" Target="../media/methods_mf00139.svg"/><Relationship Id="rIdVectormf00369" Type="http://schemas.openxmlformats.org/officeDocument/2006/relationships/image" Target="../media/methods_mf00004.svg"/><Relationship Id="rIdVectormf00370" Type="http://schemas.openxmlformats.org/officeDocument/2006/relationships/image" Target="../media/methods_mf00370.svg"/><Relationship Id="rIdVectormf00371" Type="http://schemas.openxmlformats.org/officeDocument/2006/relationships/image" Target="../media/methods_mf00005.svg"/><Relationship Id="rIdVectormf00372" Type="http://schemas.openxmlformats.org/officeDocument/2006/relationships/image" Target="../media/methods_mf00372.svg"/><Relationship Id="rIdVectormf00373" Type="http://schemas.openxmlformats.org/officeDocument/2006/relationships/image" Target="../media/methods_mf00004.svg"/><Relationship Id="rIdVectormf00374" Type="http://schemas.openxmlformats.org/officeDocument/2006/relationships/image" Target="../media/methods_mf00137.svg"/><Relationship Id="rIdVectormf00375" Type="http://schemas.openxmlformats.org/officeDocument/2006/relationships/image" Target="../media/methods_mf00005.svg"/><Relationship Id="rIdVectormf00376" Type="http://schemas.openxmlformats.org/officeDocument/2006/relationships/image" Target="../media/methods_mf00139.svg"/><Relationship Id="rIdVectormf00377" Type="http://schemas.openxmlformats.org/officeDocument/2006/relationships/image" Target="../media/methods_mf00377.svg"/><Relationship Id="rIdVectormf00378" Type="http://schemas.openxmlformats.org/officeDocument/2006/relationships/image" Target="../media/methods_mf00378.svg"/><Relationship Id="rIdVectormf00379" Type="http://schemas.openxmlformats.org/officeDocument/2006/relationships/image" Target="../media/methods_mf00379.svg"/><Relationship Id="rIdVectormf00380" Type="http://schemas.openxmlformats.org/officeDocument/2006/relationships/image" Target="../media/methods_mf00380.svg"/><Relationship Id="rIdmethods_Link66" Type="http://schemas.openxmlformats.org/officeDocument/2006/relationships/slide" Target="methods_slide1.xml"/><Relationship Id="rIdmethods_Link67" Type="http://schemas.openxmlformats.org/officeDocument/2006/relationships/slide" Target="methods_slide4.xml"/><Relationship Id="rIdmethods_Link68" Type="http://schemas.openxmlformats.org/officeDocument/2006/relationships/slide" Target="methods_slide5.xml"/><Relationship Id="rIdmethods_Link69" Type="http://schemas.openxmlformats.org/officeDocument/2006/relationships/slide" Target="methods_slide19.xml"/></Relationships>
</file>

<file path=ppt/slides/_rels/methods_slide16.xml.rels><?xml version='1.0' encoding='UTF-8' standalone='yes'?>
<Relationships xmlns="http://schemas.openxmlformats.org/package/2006/relationships"><Relationship Type="http://schemas.openxmlformats.org/officeDocument/2006/relationships/slideLayout" Target="../slideLayouts/methods_slideLayout1.xml" Id="Red968ae295204d08"/><Relationship Type="http://schemas.openxmlformats.org/officeDocument/2006/relationships/image" Target="../media/methods_image27.png" Id="Rc92e4be487d4458a"/><Relationship Type="http://schemas.openxmlformats.org/officeDocument/2006/relationships/image" Target="../media/methods_image337.png" Id="R42b67cd740cf4783"/><Relationship Type="http://schemas.openxmlformats.org/officeDocument/2006/relationships/image" Target="../media/methods_image.png" Id="R40e4e581453e47da"/><Relationship Type="http://schemas.openxmlformats.org/officeDocument/2006/relationships/image" Target="../media/methods_image384.png" Id="Rb970304228954e04"/><Relationship Type="http://schemas.openxmlformats.org/officeDocument/2006/relationships/image" Target="../media/methods_image5.png" Id="R3380209625dd4ec4"/><Relationship Type="http://schemas.openxmlformats.org/officeDocument/2006/relationships/image" Target="../media/methods_image386.png" Id="R027ddc5d24e34f40"/><Relationship Type="http://schemas.openxmlformats.org/officeDocument/2006/relationships/image" Target="../media/methods_image139.png" Id="R3ee0c34673644d11"/><Relationship Type="http://schemas.openxmlformats.org/officeDocument/2006/relationships/image" Target="../media/methods_image388.png" Id="Rc000774943574998"/><Relationship Type="http://schemas.openxmlformats.org/officeDocument/2006/relationships/image" Target="../media/methods_image139.png" Id="R46fef93a6bf84da8"/><Relationship Type="http://schemas.openxmlformats.org/officeDocument/2006/relationships/image" Target="../media/methods_image390.png" Id="R3d499a7df3a34d2c"/><Relationship Type="http://schemas.openxmlformats.org/officeDocument/2006/relationships/image" Target="../media/methods_image139.png" Id="Re98abe37c9d44f6b"/><Relationship Type="http://schemas.openxmlformats.org/officeDocument/2006/relationships/image" Target="../media/methods_image392.png" Id="Raa7d5269293e4ded"/><Relationship Type="http://schemas.openxmlformats.org/officeDocument/2006/relationships/image" Target="../media/methods_image393.png" Id="R76f8425b1639471d"/><Relationship Type="http://schemas.openxmlformats.org/officeDocument/2006/relationships/image" Target="../media/methods_image5.png" Id="R9ca27e345c03404d"/><Relationship Type="http://schemas.openxmlformats.org/officeDocument/2006/relationships/image" Target="../media/methods_image395.png" Id="Re613399378464cf8"/><Relationship Type="http://schemas.openxmlformats.org/officeDocument/2006/relationships/image" Target="../media/methods_image396.png" Id="Rcd8d6fa6bcf047b9"/><Relationship Type="http://schemas.openxmlformats.org/officeDocument/2006/relationships/image" Target="../media/methods_image397.png" Id="Rf585f6a90c514c30"/><Relationship Type="http://schemas.openxmlformats.org/officeDocument/2006/relationships/image" Target="../media/methods_image396.png" Id="Rb19c758fd34c4ff9"/><Relationship Type="http://schemas.openxmlformats.org/officeDocument/2006/relationships/image" Target="../media/methods_image399.png" Id="Rfa6106efec6c4b6a"/><Relationship Type="http://schemas.openxmlformats.org/officeDocument/2006/relationships/image" Target="../media/methods_image396.png" Id="R2b095961ad1241e9"/><Relationship Type="http://schemas.openxmlformats.org/officeDocument/2006/relationships/image" Target="../media/methods_image401.png" Id="R40252fec519e4eaf"/><Relationship Type="http://schemas.openxmlformats.org/officeDocument/2006/relationships/notesSlide" Target="../notesSlides/methods_notesSlide16.xml" Id="R9eebce86b17c40da"/><Relationship Id="rIdVectormf00381" Type="http://schemas.openxmlformats.org/officeDocument/2006/relationships/image" Target="../media/methods_mf00027.svg"/><Relationship Id="rIdVectormf00382" Type="http://schemas.openxmlformats.org/officeDocument/2006/relationships/image" Target="../media/methods_mf00337.svg"/><Relationship Id="rIdVectormf00383" Type="http://schemas.openxmlformats.org/officeDocument/2006/relationships/image" Target="../media/methods_mf00001.svg"/><Relationship Id="rIdVectormf00384" Type="http://schemas.openxmlformats.org/officeDocument/2006/relationships/image" Target="../media/methods_mf00384.svg"/><Relationship Id="rIdVectormf00385" Type="http://schemas.openxmlformats.org/officeDocument/2006/relationships/image" Target="../media/methods_mf00005.svg"/><Relationship Id="rIdVectormf00386" Type="http://schemas.openxmlformats.org/officeDocument/2006/relationships/image" Target="../media/methods_mf00386.svg"/><Relationship Id="rIdVectormf00387" Type="http://schemas.openxmlformats.org/officeDocument/2006/relationships/image" Target="../media/methods_mf00139.svg"/><Relationship Id="rIdVectormf00388" Type="http://schemas.openxmlformats.org/officeDocument/2006/relationships/image" Target="../media/methods_mf00388.svg"/><Relationship Id="rIdVectormf00389" Type="http://schemas.openxmlformats.org/officeDocument/2006/relationships/image" Target="../media/methods_mf00139.svg"/><Relationship Id="rIdVectormf00390" Type="http://schemas.openxmlformats.org/officeDocument/2006/relationships/image" Target="../media/methods_mf00390.svg"/><Relationship Id="rIdVectormf00391" Type="http://schemas.openxmlformats.org/officeDocument/2006/relationships/image" Target="../media/methods_mf00139.svg"/><Relationship Id="rIdVectormf00392" Type="http://schemas.openxmlformats.org/officeDocument/2006/relationships/image" Target="../media/methods_mf00392.svg"/><Relationship Id="rIdVectormf00393" Type="http://schemas.openxmlformats.org/officeDocument/2006/relationships/image" Target="../media/methods_mf00393.svg"/><Relationship Id="rIdVectormf00394" Type="http://schemas.openxmlformats.org/officeDocument/2006/relationships/image" Target="../media/methods_mf00005.svg"/><Relationship Id="rIdVectormf00395" Type="http://schemas.openxmlformats.org/officeDocument/2006/relationships/image" Target="../media/methods_mf00395.svg"/><Relationship Id="rIdVectormf00396" Type="http://schemas.openxmlformats.org/officeDocument/2006/relationships/image" Target="../media/methods_mf00396.svg"/><Relationship Id="rIdVectormf00397" Type="http://schemas.openxmlformats.org/officeDocument/2006/relationships/image" Target="../media/methods_mf00397.svg"/><Relationship Id="rIdVectormf00398" Type="http://schemas.openxmlformats.org/officeDocument/2006/relationships/image" Target="../media/methods_mf00396.svg"/><Relationship Id="rIdVectormf00399" Type="http://schemas.openxmlformats.org/officeDocument/2006/relationships/image" Target="../media/methods_mf00399.svg"/><Relationship Id="rIdVectormf00400" Type="http://schemas.openxmlformats.org/officeDocument/2006/relationships/image" Target="../media/methods_mf00396.svg"/><Relationship Id="rIdVectormf00401" Type="http://schemas.openxmlformats.org/officeDocument/2006/relationships/image" Target="../media/methods_mf00401.svg"/><Relationship Id="rIdmethods_Link70" Type="http://schemas.openxmlformats.org/officeDocument/2006/relationships/slide" Target="methods_slide1.xml"/><Relationship Id="rIdmethods_Link71" Type="http://schemas.openxmlformats.org/officeDocument/2006/relationships/slide" Target="methods_slide12.xml"/><Relationship Id="rIdmethods_Link72" Type="http://schemas.openxmlformats.org/officeDocument/2006/relationships/slide" Target="methods_slide12.xml"/><Relationship Id="rIdmethods_Link73" Type="http://schemas.openxmlformats.org/officeDocument/2006/relationships/slide" Target="methods_slide13.xml"/></Relationships>
</file>

<file path=ppt/slides/_rels/methods_slide17.xml.rels><?xml version='1.0' encoding='UTF-8' standalone='yes'?>
<Relationships xmlns="http://schemas.openxmlformats.org/package/2006/relationships"><Relationship Type="http://schemas.openxmlformats.org/officeDocument/2006/relationships/slideLayout" Target="../slideLayouts/methods_slideLayout1.xml" Id="R0ffc77510f3346a4"/><Relationship Type="http://schemas.openxmlformats.org/officeDocument/2006/relationships/image" Target="../media/methods_image27.png" Id="R34c3cc9bd3e44224"/><Relationship Type="http://schemas.openxmlformats.org/officeDocument/2006/relationships/image" Target="../media/methods_image337.png" Id="R7f07558537094488"/><Relationship Type="http://schemas.openxmlformats.org/officeDocument/2006/relationships/image" Target="../media/methods_image.png" Id="R31311fe616e94fb2"/><Relationship Type="http://schemas.openxmlformats.org/officeDocument/2006/relationships/image" Target="../media/methods_image337.png" Id="Raab72ed200e14ee2"/><Relationship Type="http://schemas.openxmlformats.org/officeDocument/2006/relationships/image" Target="../media/methods_image406.png" Id="Rc1805e09e8f94a51"/><Relationship Type="http://schemas.openxmlformats.org/officeDocument/2006/relationships/image" Target="../media/methods_image384.png" Id="Rae892cdf20984bca"/><Relationship Type="http://schemas.openxmlformats.org/officeDocument/2006/relationships/image" Target="../media/methods_image408.png" Id="R66c0e76655a946ed"/><Relationship Type="http://schemas.openxmlformats.org/officeDocument/2006/relationships/image" Target="../media/methods_image409.png" Id="Ra0ed7636c39242c6"/><Relationship Type="http://schemas.openxmlformats.org/officeDocument/2006/relationships/image" Target="../media/methods_image5.png" Id="Rc4c1698fc8f14286"/><Relationship Type="http://schemas.openxmlformats.org/officeDocument/2006/relationships/image" Target="../media/methods_image249.png" Id="Ra70e116515d44f46"/><Relationship Type="http://schemas.openxmlformats.org/officeDocument/2006/relationships/image" Target="../media/methods_image294.png" Id="R14fd2f4300b04363"/><Relationship Type="http://schemas.openxmlformats.org/officeDocument/2006/relationships/image" Target="../media/methods_image413.png" Id="R37e072266b774787"/><Relationship Type="http://schemas.openxmlformats.org/officeDocument/2006/relationships/image" Target="../media/methods_image179.png" Id="Rd70f8916f646493a"/><Relationship Type="http://schemas.openxmlformats.org/officeDocument/2006/relationships/image" Target="../media/methods_image415.png" Id="R78bfe3a44e0b44ee"/><Relationship Type="http://schemas.openxmlformats.org/officeDocument/2006/relationships/image" Target="../media/methods_image416.png" Id="Rc019d9567faa46df"/><Relationship Type="http://schemas.openxmlformats.org/officeDocument/2006/relationships/image" Target="../media/methods_image417.png" Id="Rcb2903d016c84ad5"/><Relationship Type="http://schemas.openxmlformats.org/officeDocument/2006/relationships/image" Target="../media/methods_image418.png" Id="R8605a9a411f04540"/><Relationship Type="http://schemas.openxmlformats.org/officeDocument/2006/relationships/image" Target="../media/methods_image393.png" Id="R09326f203dbb48f6"/><Relationship Type="http://schemas.openxmlformats.org/officeDocument/2006/relationships/image" Target="../media/methods_image408.png" Id="Rb464d5849b6647cb"/><Relationship Type="http://schemas.openxmlformats.org/officeDocument/2006/relationships/image" Target="../media/methods_image409.png" Id="R7cc9af0e88814754"/><Relationship Type="http://schemas.openxmlformats.org/officeDocument/2006/relationships/image" Target="../media/methods_image5.png" Id="R2952c24090c14b4a"/><Relationship Type="http://schemas.openxmlformats.org/officeDocument/2006/relationships/image" Target="../media/methods_image249.png" Id="R8fd54b3d018940f6"/><Relationship Type="http://schemas.openxmlformats.org/officeDocument/2006/relationships/image" Target="../media/methods_image424.png" Id="R2e9ecc123b1348b4"/><Relationship Type="http://schemas.openxmlformats.org/officeDocument/2006/relationships/image" Target="../media/methods_image425.png" Id="R41d9f528d4b1417c"/><Relationship Type="http://schemas.openxmlformats.org/officeDocument/2006/relationships/image" Target="../media/methods_image141.png" Id="R3c128104d69d4448"/><Relationship Type="http://schemas.openxmlformats.org/officeDocument/2006/relationships/image" Target="../media/methods_image415.png" Id="Rae5a5782bf3247f1"/><Relationship Type="http://schemas.openxmlformats.org/officeDocument/2006/relationships/image" Target="../media/methods_image428.png" Id="R42d08c716c254324"/><Relationship Type="http://schemas.openxmlformats.org/officeDocument/2006/relationships/image" Target="../media/methods_image429.png" Id="Rf516e25daff34337"/><Relationship Type="http://schemas.openxmlformats.org/officeDocument/2006/relationships/image" Target="../media/methods_image430.png" Id="R1075c90d99f74510"/><Relationship Type="http://schemas.openxmlformats.org/officeDocument/2006/relationships/notesSlide" Target="../notesSlides/methods_notesSlide17.xml" Id="R124f9ed3a89e403e"/><Relationship Id="rIdVectormf00402" Type="http://schemas.openxmlformats.org/officeDocument/2006/relationships/image" Target="../media/methods_mf00027.svg"/><Relationship Id="rIdVectormf00403" Type="http://schemas.openxmlformats.org/officeDocument/2006/relationships/image" Target="../media/methods_mf00337.svg"/><Relationship Id="rIdVectormf00404" Type="http://schemas.openxmlformats.org/officeDocument/2006/relationships/image" Target="../media/methods_mf00001.svg"/><Relationship Id="rIdVectormf00405" Type="http://schemas.openxmlformats.org/officeDocument/2006/relationships/image" Target="../media/methods_mf00337.svg"/><Relationship Id="rIdVectormf00406" Type="http://schemas.openxmlformats.org/officeDocument/2006/relationships/image" Target="../media/methods_mf00406.svg"/><Relationship Id="rIdVectormf00407" Type="http://schemas.openxmlformats.org/officeDocument/2006/relationships/image" Target="../media/methods_mf00384.svg"/><Relationship Id="rIdVectormf00408" Type="http://schemas.openxmlformats.org/officeDocument/2006/relationships/image" Target="../media/methods_mf00408.svg"/><Relationship Id="rIdVectormf00409" Type="http://schemas.openxmlformats.org/officeDocument/2006/relationships/image" Target="../media/methods_mf00409.svg"/><Relationship Id="rIdVectormf00410" Type="http://schemas.openxmlformats.org/officeDocument/2006/relationships/image" Target="../media/methods_mf00005.svg"/><Relationship Id="rIdVectormf00411" Type="http://schemas.openxmlformats.org/officeDocument/2006/relationships/image" Target="../media/methods_mf00249.svg"/><Relationship Id="rIdVectormf00412" Type="http://schemas.openxmlformats.org/officeDocument/2006/relationships/image" Target="../media/methods_mf00294.svg"/><Relationship Id="rIdVectormf00413" Type="http://schemas.openxmlformats.org/officeDocument/2006/relationships/image" Target="../media/methods_mf00413.svg"/><Relationship Id="rIdVectormf00414" Type="http://schemas.openxmlformats.org/officeDocument/2006/relationships/image" Target="../media/methods_mf00179.svg"/><Relationship Id="rIdVectormf00415" Type="http://schemas.openxmlformats.org/officeDocument/2006/relationships/image" Target="../media/methods_mf00415.svg"/><Relationship Id="rIdVectormf00416" Type="http://schemas.openxmlformats.org/officeDocument/2006/relationships/image" Target="../media/methods_mf00416.svg"/><Relationship Id="rIdVectormf00417" Type="http://schemas.openxmlformats.org/officeDocument/2006/relationships/image" Target="../media/methods_mf00417.svg"/><Relationship Id="rIdVectormf00418" Type="http://schemas.openxmlformats.org/officeDocument/2006/relationships/image" Target="../media/methods_mf00418.svg"/><Relationship Id="rIdVectormf00419" Type="http://schemas.openxmlformats.org/officeDocument/2006/relationships/image" Target="../media/methods_mf00393.svg"/><Relationship Id="rIdVectormf00420" Type="http://schemas.openxmlformats.org/officeDocument/2006/relationships/image" Target="../media/methods_mf00408.svg"/><Relationship Id="rIdVectormf00421" Type="http://schemas.openxmlformats.org/officeDocument/2006/relationships/image" Target="../media/methods_mf00409.svg"/><Relationship Id="rIdVectormf00422" Type="http://schemas.openxmlformats.org/officeDocument/2006/relationships/image" Target="../media/methods_mf00005.svg"/><Relationship Id="rIdVectormf00423" Type="http://schemas.openxmlformats.org/officeDocument/2006/relationships/image" Target="../media/methods_mf00249.svg"/><Relationship Id="rIdVectormf00424" Type="http://schemas.openxmlformats.org/officeDocument/2006/relationships/image" Target="../media/methods_mf00424.svg"/><Relationship Id="rIdVectormf00425" Type="http://schemas.openxmlformats.org/officeDocument/2006/relationships/image" Target="../media/methods_mf00425.svg"/><Relationship Id="rIdVectormf00426" Type="http://schemas.openxmlformats.org/officeDocument/2006/relationships/image" Target="../media/methods_mf00141.svg"/><Relationship Id="rIdVectormf00427" Type="http://schemas.openxmlformats.org/officeDocument/2006/relationships/image" Target="../media/methods_mf00415.svg"/><Relationship Id="rIdVectormf00428" Type="http://schemas.openxmlformats.org/officeDocument/2006/relationships/image" Target="../media/methods_mf00428.svg"/><Relationship Id="rIdVectormf00429" Type="http://schemas.openxmlformats.org/officeDocument/2006/relationships/image" Target="../media/methods_mf00429.svg"/><Relationship Id="rIdVectormf00430" Type="http://schemas.openxmlformats.org/officeDocument/2006/relationships/image" Target="../media/methods_mf00430.svg"/><Relationship Id="rIdmethods_Link74" Type="http://schemas.openxmlformats.org/officeDocument/2006/relationships/slide" Target="methods_slide1.xml"/><Relationship Id="rIdmethods_Link75" Type="http://schemas.openxmlformats.org/officeDocument/2006/relationships/slide" Target="methods_slide12.xml"/><Relationship Id="rIdmethods_Link76" Type="http://schemas.openxmlformats.org/officeDocument/2006/relationships/slide" Target="methods_slide12.xml"/><Relationship Id="rIdmethods_Link77" Type="http://schemas.openxmlformats.org/officeDocument/2006/relationships/slide" Target="methods_slide13.xml"/></Relationships>
</file>

<file path=ppt/slides/_rels/methods_slide18.xml.rels><?xml version='1.0' encoding='UTF-8' standalone='yes'?>
<Relationships xmlns="http://schemas.openxmlformats.org/package/2006/relationships"><Relationship Type="http://schemas.openxmlformats.org/officeDocument/2006/relationships/slideLayout" Target="../slideLayouts/methods_slideLayout1.xml" Id="Rfe45a0ac3bd2473d"/><Relationship Type="http://schemas.openxmlformats.org/officeDocument/2006/relationships/image" Target="../media/methods_image65.png" Id="R01e0803ffd9a4ed3"/><Relationship Type="http://schemas.openxmlformats.org/officeDocument/2006/relationships/image" Target="../media/methods_image2.png" Id="Rb50f729e56174199"/><Relationship Type="http://schemas.openxmlformats.org/officeDocument/2006/relationships/image" Target="../media/methods_image67.png" Id="R05188fad0d9b40d4"/><Relationship Type="http://schemas.openxmlformats.org/officeDocument/2006/relationships/image" Target="../media/methods_image434.png" Id="R15e00f8feb1a4757"/><Relationship Type="http://schemas.openxmlformats.org/officeDocument/2006/relationships/image" Target="../media/methods_image435.png" Id="R004de2800a6f44b6"/><Relationship Type="http://schemas.openxmlformats.org/officeDocument/2006/relationships/image" Target="../media/methods_image436.png" Id="Re5ffcbf9dd5c4093"/><Relationship Type="http://schemas.openxmlformats.org/officeDocument/2006/relationships/image" Target="../media/methods_image437.png" Id="R4368b9781a0942a0"/><Relationship Type="http://schemas.openxmlformats.org/officeDocument/2006/relationships/image" Target="../media/methods_image438.png" Id="R16f2163f2a7c49c5"/><Relationship Type="http://schemas.openxmlformats.org/officeDocument/2006/relationships/notesSlide" Target="../notesSlides/methods_notesSlide18.xml" Id="Rf4aef4bc3b394294"/><Relationship Id="rIdVectormf00431" Type="http://schemas.openxmlformats.org/officeDocument/2006/relationships/image" Target="../media/methods_mf00065.svg"/><Relationship Id="rIdVectormf00432" Type="http://schemas.openxmlformats.org/officeDocument/2006/relationships/image" Target="../media/methods_mf00002.svg"/><Relationship Id="rIdVectormf00433" Type="http://schemas.openxmlformats.org/officeDocument/2006/relationships/image" Target="../media/methods_mf00067.svg"/><Relationship Id="rIdVectormf00434" Type="http://schemas.openxmlformats.org/officeDocument/2006/relationships/image" Target="../media/methods_mf00434.svg"/><Relationship Id="rIdVectormf00435" Type="http://schemas.openxmlformats.org/officeDocument/2006/relationships/image" Target="../media/methods_mf00435.svg"/><Relationship Id="rIdVectormf00436" Type="http://schemas.openxmlformats.org/officeDocument/2006/relationships/image" Target="../media/methods_mf00436.svg"/><Relationship Id="rIdVectormf00437" Type="http://schemas.openxmlformats.org/officeDocument/2006/relationships/image" Target="../media/methods_mf00437.svg"/><Relationship Id="rIdVectormf00438" Type="http://schemas.openxmlformats.org/officeDocument/2006/relationships/image" Target="../media/methods_mf00438.svg"/><Relationship Id="rIdmethods_Link78" Type="http://schemas.openxmlformats.org/officeDocument/2006/relationships/slide" Target="methods_slide1.xml"/><Relationship Id="rIdmethods_Link79" Type="http://schemas.openxmlformats.org/officeDocument/2006/relationships/slide" Target="methods_slide4.xml"/><Relationship Id="rIdmethods_Link80" Type="http://schemas.openxmlformats.org/officeDocument/2006/relationships/slide" Target="methods_slide5.xml"/><Relationship Id="rIdmethods_Link81" Type="http://schemas.openxmlformats.org/officeDocument/2006/relationships/slide" Target="methods_slide19.xml"/></Relationships>
</file>

<file path=ppt/slides/_rels/methods_slide19.xml.rels><?xml version='1.0' encoding='UTF-8' standalone='yes'?>
<Relationships xmlns="http://schemas.openxmlformats.org/package/2006/relationships"><Relationship Type="http://schemas.openxmlformats.org/officeDocument/2006/relationships/slideLayout" Target="../slideLayouts/methods_slideLayout1.xml" Id="Raa8e588701164609"/><Relationship Type="http://schemas.openxmlformats.org/officeDocument/2006/relationships/image" Target="../media/methods_image439.png" Id="Re3a9980fc6c04c71"/><Relationship Type="http://schemas.openxmlformats.org/officeDocument/2006/relationships/image" Target="../media/methods_image2.png" Id="Rbb0ea036aaac4059"/><Relationship Type="http://schemas.openxmlformats.org/officeDocument/2006/relationships/image" Target="../media/methods_image441.png" Id="Rcc2c90577e704808"/><Relationship Type="http://schemas.openxmlformats.org/officeDocument/2006/relationships/image" Target="../media/methods_image442.png" Id="R870415760e254ac1"/><Relationship Type="http://schemas.openxmlformats.org/officeDocument/2006/relationships/image" Target="../media/methods_image443.png" Id="R3556e183e7e747cc"/><Relationship Type="http://schemas.openxmlformats.org/officeDocument/2006/relationships/notesSlide" Target="../notesSlides/methods_notesSlide19.xml" Id="R0694d3b1b1ef407e"/><Relationship Id="rIdVectormf00439" Type="http://schemas.openxmlformats.org/officeDocument/2006/relationships/image" Target="../media/methods_mf00439.svg"/><Relationship Id="rIdVectormf00440" Type="http://schemas.openxmlformats.org/officeDocument/2006/relationships/image" Target="../media/methods_mf00002.svg"/><Relationship Id="rIdVectormf00441" Type="http://schemas.openxmlformats.org/officeDocument/2006/relationships/image" Target="../media/methods_mf00441.svg"/><Relationship Id="rIdVectormf00442" Type="http://schemas.openxmlformats.org/officeDocument/2006/relationships/image" Target="../media/methods_mf00442.svg"/><Relationship Id="rIdVectormf00443" Type="http://schemas.openxmlformats.org/officeDocument/2006/relationships/image" Target="../media/methods_mf00443.svg"/><Relationship Id="rIdmethods_Link82" Type="http://schemas.openxmlformats.org/officeDocument/2006/relationships/slide" Target="methods_slide1.xml"/><Relationship Id="rIdmethods_Link83" Type="http://schemas.openxmlformats.org/officeDocument/2006/relationships/slide" Target="methods_slide4.xml"/><Relationship Id="rIdmethods_Link84" Type="http://schemas.openxmlformats.org/officeDocument/2006/relationships/slide" Target="methods_slide5.xml"/><Relationship Id="rIdmethods_Link85" Type="http://schemas.openxmlformats.org/officeDocument/2006/relationships/slide" Target="methods_slide20.xml"/></Relationships>
</file>

<file path=ppt/slides/_rels/methods_slide20.xml.rels><?xml version='1.0' encoding='UTF-8' standalone='yes'?>
<Relationships xmlns="http://schemas.openxmlformats.org/package/2006/relationships"><Relationship Type="http://schemas.openxmlformats.org/officeDocument/2006/relationships/slideLayout" Target="../slideLayouts/slideLayout1.xml" Id="Rb08d97b390f74323"/><Relationship Type="http://schemas.openxmlformats.org/officeDocument/2006/relationships/image" Target="../media/image2.png" Id="R43c9675d9fb14bb2"/><Relationship Type="http://schemas.openxmlformats.org/officeDocument/2006/relationships/image" Target="../media/image.png" Id="R6c33fe8690204575"/><Relationship Type="http://schemas.openxmlformats.org/officeDocument/2006/relationships/image" Target="../media/image.png" Id="Re6a39991428447d5"/><Relationship Type="http://schemas.openxmlformats.org/officeDocument/2006/relationships/image" Target="../media/image13.png" Id="R81eaae8cb5ff4a78"/><Relationship Type="http://schemas.openxmlformats.org/officeDocument/2006/relationships/image" Target="../media/image14.png" Id="Rd1e86a2e8e854418"/><Relationship Id="rIdLatex2" Type="http://schemas.openxmlformats.org/officeDocument/2006/relationships/image" Target="../media/latex-signal.svg"/><Relationship Id="rIdLatex10" Type="http://schemas.openxmlformats.org/officeDocument/2006/relationships/image" Target="../media/latex-sine.svg"/><Relationship Id="rIdLatex11" Type="http://schemas.openxmlformats.org/officeDocument/2006/relationships/image" Target="../media/latex-pulse.svg"/><Relationship Id="rIdLatex58" Type="http://schemas.openxmlformats.org/officeDocument/2006/relationships/image" Target="../media/latex-message.svg"/><Relationship Id="rIdLatex59" Type="http://schemas.openxmlformats.org/officeDocument/2006/relationships/image" Target="../media/latex-message.svg"/><Relationship Id="rIdmethods_Link0" Type="http://schemas.openxmlformats.org/officeDocument/2006/relationships/slide" Target="methods_slide1.xml"/><Relationship Type="http://schemas.openxmlformats.org/officeDocument/2006/relationships/notesSlide" Target="../notesSlides/methods_notesSlide20.xml" Id="rIdClosingNotes"/><Relationship Id="rIdWeeklyAMReview" Type="http://schemas.openxmlformats.org/officeDocument/2006/relationships/slide" Target="framing_3.xml"/></Relationships>
</file>

<file path=ppt/slides/_rels/methods_slide21.xml.rels><?xml version='1.0' encoding='UTF-8' standalone='yes'?>
<Relationships xmlns="http://schemas.openxmlformats.org/package/2006/relationships"><Relationship Type="http://schemas.openxmlformats.org/officeDocument/2006/relationships/slideLayout" Target="../slideLayouts/methods_slideLayout1.xml" Id="Rb6ebdf8a6c684490"/><Relationship Type="http://schemas.openxmlformats.org/officeDocument/2006/relationships/image" Target="../media/methods_image.png" Id="Rca485e6c23bb4ff5"/><Relationship Type="http://schemas.openxmlformats.org/officeDocument/2006/relationships/image" Target="../media/methods_image2.png" Id="R0648ba578db2449e"/><Relationship Type="http://schemas.openxmlformats.org/officeDocument/2006/relationships/image" Target="../media/methods_image.png" Id="R5523330139db4a2b"/><Relationship Type="http://schemas.openxmlformats.org/officeDocument/2006/relationships/image" Target="../media/methods_image450.png" Id="Ra59efc46683f4a8f"/><Relationship Type="http://schemas.openxmlformats.org/officeDocument/2006/relationships/image" Target="../media/methods_image451.png" Id="Re366682ed5ad4ce8"/><Relationship Type="http://schemas.openxmlformats.org/officeDocument/2006/relationships/image" Target="../media/methods_image452.png" Id="Raff485bf793a4698"/><Relationship Type="http://schemas.openxmlformats.org/officeDocument/2006/relationships/image" Target="../media/methods_image453.png" Id="R604d9a17458e4920"/><Relationship Type="http://schemas.openxmlformats.org/officeDocument/2006/relationships/notesSlide" Target="../notesSlides/methods_notesSlide21.xml" Id="R044d5189046a4997"/><Relationship Id="rIdVectormf00447" Type="http://schemas.openxmlformats.org/officeDocument/2006/relationships/image" Target="../media/methods_mf00001.svg"/><Relationship Id="rIdVectormf00448" Type="http://schemas.openxmlformats.org/officeDocument/2006/relationships/image" Target="../media/methods_mf00002.svg"/><Relationship Id="rIdVectormf00449" Type="http://schemas.openxmlformats.org/officeDocument/2006/relationships/image" Target="../media/methods_mf00001.svg"/><Relationship Id="rIdVectormf00450" Type="http://schemas.openxmlformats.org/officeDocument/2006/relationships/image" Target="../media/methods_mf00450.svg"/><Relationship Id="rIdVectormf00451" Type="http://schemas.openxmlformats.org/officeDocument/2006/relationships/image" Target="../media/methods_mf00451.svg"/><Relationship Id="rIdVectormf00452" Type="http://schemas.openxmlformats.org/officeDocument/2006/relationships/image" Target="../media/methods_mf00452.svg"/><Relationship Id="rIdVectormf00453" Type="http://schemas.openxmlformats.org/officeDocument/2006/relationships/image" Target="../media/methods_mf00453.svg"/><Relationship Id="rIdmethods_Link90" Type="http://schemas.openxmlformats.org/officeDocument/2006/relationships/slide" Target="methods_slide1.xml"/><Relationship Id="rIdmethods_Link91" Type="http://schemas.openxmlformats.org/officeDocument/2006/relationships/slide" Target="methods_slide1.xml"/><Relationship Id="rIdmethods_Link92" Type="http://schemas.openxmlformats.org/officeDocument/2006/relationships/slide" Target="methods_slide1.xml"/><Relationship Id="rIdmethods_Link93" Type="http://schemas.openxmlformats.org/officeDocument/2006/relationships/slide" Target="methods_slide1.xml"/><Relationship Id="rIdmethods_Link94" Type="http://schemas.openxmlformats.org/officeDocument/2006/relationships/slide" Target="methods_slide22.xml"/><Relationship Id="rIdmethods_Link95" Type="http://schemas.openxmlformats.org/officeDocument/2006/relationships/slide" Target="methods_slide22.xml"/><Relationship Id="rIdmethods_Link96" Type="http://schemas.openxmlformats.org/officeDocument/2006/relationships/slide" Target="methods_slide26.xml"/><Relationship Id="rIdmethods_Link97" Type="http://schemas.openxmlformats.org/officeDocument/2006/relationships/slide" Target="methods_slide26.xml"/><Relationship Id="rIdmethods_Link98" Type="http://schemas.openxmlformats.org/officeDocument/2006/relationships/slide" Target="methods_slide30.xml"/><Relationship Id="rIdmethods_Link99" Type="http://schemas.openxmlformats.org/officeDocument/2006/relationships/slide" Target="methods_slide30.xml"/><Relationship Id="rIdmethods_Link100" Type="http://schemas.openxmlformats.org/officeDocument/2006/relationships/slide" Target="methods_slide36.xml"/><Relationship Id="rIdmethods_Link101" Type="http://schemas.openxmlformats.org/officeDocument/2006/relationships/slide" Target="methods_slide36.xml"/></Relationships>
</file>

<file path=ppt/slides/_rels/methods_slide22.xml.rels><?xml version='1.0' encoding='UTF-8' standalone='yes'?>
<Relationships xmlns="http://schemas.openxmlformats.org/package/2006/relationships"><Relationship Type="http://schemas.openxmlformats.org/officeDocument/2006/relationships/slideLayout" Target="../slideLayouts/methods_slideLayout1.xml" Id="Rfad62ccafc2f40f6"/><Relationship Type="http://schemas.openxmlformats.org/officeDocument/2006/relationships/image" Target="../media/methods_image.png" Id="Rf556696101d346c9"/><Relationship Type="http://schemas.openxmlformats.org/officeDocument/2006/relationships/image" Target="../media/methods_image2.png" Id="R560c5ed8cec64ac2"/><Relationship Type="http://schemas.openxmlformats.org/officeDocument/2006/relationships/image" Target="../media/methods_image27.png" Id="R08d9ae364dff4680"/><Relationship Type="http://schemas.openxmlformats.org/officeDocument/2006/relationships/image" Target="../media/methods_image457.png" Id="R2bd3988a61bd4bad"/><Relationship Type="http://schemas.openxmlformats.org/officeDocument/2006/relationships/image" Target="../media/methods_image.png" Id="Rbb52dbbdf8eb4d1f"/><Relationship Type="http://schemas.openxmlformats.org/officeDocument/2006/relationships/image" Target="../media/methods_image32.png" Id="R80e4a579df6b4d98"/><Relationship Type="http://schemas.openxmlformats.org/officeDocument/2006/relationships/image" Target="../media/methods_image4.png" Id="R9c6e2be65c904052"/><Relationship Type="http://schemas.openxmlformats.org/officeDocument/2006/relationships/image" Target="../media/methods_image29.png" Id="Ra4f6b9356f13470f"/><Relationship Type="http://schemas.openxmlformats.org/officeDocument/2006/relationships/image" Target="../media/methods_image5.png" Id="R29b567ca2ae147c1"/><Relationship Type="http://schemas.openxmlformats.org/officeDocument/2006/relationships/image" Target="../media/methods_image31.png" Id="Re09da271db994fa5"/><Relationship Type="http://schemas.openxmlformats.org/officeDocument/2006/relationships/image" Target="../media/methods_image409.png" Id="Rc9c0c563494f4945"/><Relationship Type="http://schemas.openxmlformats.org/officeDocument/2006/relationships/image" Target="../media/methods_image465.png" Id="Re4953780a3d64b48"/><Relationship Type="http://schemas.openxmlformats.org/officeDocument/2006/relationships/image" Target="../media/methods_image466.png" Id="R1a28fcfc807f423e"/><Relationship Type="http://schemas.openxmlformats.org/officeDocument/2006/relationships/notesSlide" Target="../notesSlides/methods_notesSlide22.xml" Id="R3c4d31296e1b4943"/><Relationship Id="rIdVectormf00454" Type="http://schemas.openxmlformats.org/officeDocument/2006/relationships/image" Target="../media/methods_mf00001.svg"/><Relationship Id="rIdVectormf00455" Type="http://schemas.openxmlformats.org/officeDocument/2006/relationships/image" Target="../media/methods_mf00002.svg"/><Relationship Id="rIdVectormf00456" Type="http://schemas.openxmlformats.org/officeDocument/2006/relationships/image" Target="../media/methods_mf00027.svg"/><Relationship Id="rIdVectormf00457" Type="http://schemas.openxmlformats.org/officeDocument/2006/relationships/image" Target="../media/methods_mf00457.svg"/><Relationship Id="rIdVectormf00458" Type="http://schemas.openxmlformats.org/officeDocument/2006/relationships/image" Target="../media/methods_mf00001.svg"/><Relationship Id="rIdVectormf00459" Type="http://schemas.openxmlformats.org/officeDocument/2006/relationships/image" Target="../media/methods_mf00459.svg"/><Relationship Id="rIdVectormf00460" Type="http://schemas.openxmlformats.org/officeDocument/2006/relationships/image" Target="../media/methods_mf00004.svg"/><Relationship Id="rIdVectormf00461" Type="http://schemas.openxmlformats.org/officeDocument/2006/relationships/image" Target="../media/methods_mf00029.svg"/><Relationship Id="rIdVectormf00462" Type="http://schemas.openxmlformats.org/officeDocument/2006/relationships/image" Target="../media/methods_mf00005.svg"/><Relationship Id="rIdVectormf00463" Type="http://schemas.openxmlformats.org/officeDocument/2006/relationships/image" Target="../media/methods_mf00031.svg"/><Relationship Id="rIdVectormf00464" Type="http://schemas.openxmlformats.org/officeDocument/2006/relationships/image" Target="../media/methods_mf00409.svg"/><Relationship Id="rIdVectormf00465" Type="http://schemas.openxmlformats.org/officeDocument/2006/relationships/image" Target="../media/methods_mf00465.svg"/><Relationship Id="rIdVectormf00466" Type="http://schemas.openxmlformats.org/officeDocument/2006/relationships/image" Target="../media/methods_mf00466.svg"/><Relationship Id="rIdmethods_Link102" Type="http://schemas.openxmlformats.org/officeDocument/2006/relationships/slide" Target="methods_slide21.xml"/><Relationship Id="rIdmethods_Link103" Type="http://schemas.openxmlformats.org/officeDocument/2006/relationships/slide" Target="methods_slide22.xml"/><Relationship Id="rIdmethods_Link104" Type="http://schemas.openxmlformats.org/officeDocument/2006/relationships/slide" Target="methods_slide24.xml"/><Relationship Id="rIdmethods_Link105" Type="http://schemas.openxmlformats.org/officeDocument/2006/relationships/slide" Target="methods_slide25.xml"/></Relationships>
</file>

<file path=ppt/slides/_rels/methods_slide23.xml.rels><?xml version='1.0' encoding='UTF-8' standalone='yes'?>
<Relationships xmlns="http://schemas.openxmlformats.org/package/2006/relationships"><Relationship Type="http://schemas.openxmlformats.org/officeDocument/2006/relationships/slideLayout" Target="../slideLayouts/methods_slideLayout1.xml" Id="Rba4853b2587f4965"/><Relationship Type="http://schemas.openxmlformats.org/officeDocument/2006/relationships/image" Target="../media/methods_image.png" Id="R4bdecac82e87414d"/><Relationship Type="http://schemas.openxmlformats.org/officeDocument/2006/relationships/image" Target="../media/methods_image2.png" Id="R1b403876c86843ca"/><Relationship Type="http://schemas.openxmlformats.org/officeDocument/2006/relationships/image" Target="../media/methods_image27.png" Id="R23f997975f7a448c"/><Relationship Type="http://schemas.openxmlformats.org/officeDocument/2006/relationships/image" Target="../media/methods_image4.png" Id="Ra3fb3bb0e3794d0c"/><Relationship Type="http://schemas.openxmlformats.org/officeDocument/2006/relationships/image" Target="../media/methods_image29.png" Id="Rcf28c46bbcf7472d"/><Relationship Type="http://schemas.openxmlformats.org/officeDocument/2006/relationships/image" Target="../media/methods_image5.png" Id="Rd10db02d51aa41d8"/><Relationship Type="http://schemas.openxmlformats.org/officeDocument/2006/relationships/image" Target="../media/methods_image31.png" Id="Ra8b5b7c27aa44996"/><Relationship Type="http://schemas.openxmlformats.org/officeDocument/2006/relationships/image" Target="../media/methods_image32.png" Id="Rd3e996ccbce3440f"/><Relationship Type="http://schemas.openxmlformats.org/officeDocument/2006/relationships/image" Target="../media/methods_image4.png" Id="R170e44acfb4748b8"/><Relationship Type="http://schemas.openxmlformats.org/officeDocument/2006/relationships/image" Target="../media/methods_image34.png" Id="R89d597fe60e44d98"/><Relationship Type="http://schemas.openxmlformats.org/officeDocument/2006/relationships/image" Target="../media/methods_image5.png" Id="Raecdebb7edff418d"/><Relationship Type="http://schemas.openxmlformats.org/officeDocument/2006/relationships/image" Target="../media/methods_image36.png" Id="R8030a9f7656c4f3e"/><Relationship Type="http://schemas.openxmlformats.org/officeDocument/2006/relationships/image" Target="../media/methods_image37.png" Id="Rb2cf29b2957841cc"/><Relationship Type="http://schemas.openxmlformats.org/officeDocument/2006/relationships/image" Target="../media/methods_image409.png" Id="Ra591fbc4feb34c7d"/><Relationship Type="http://schemas.openxmlformats.org/officeDocument/2006/relationships/image" Target="../media/methods_image481.png" Id="R6751d9458e46492c"/><Relationship Type="http://schemas.openxmlformats.org/officeDocument/2006/relationships/image" Target="../media/methods_image482.png" Id="R1c54a7ff674e4c83"/><Relationship Type="http://schemas.openxmlformats.org/officeDocument/2006/relationships/image" Target="../media/methods_image483.png" Id="Re34347d0c0af48a2"/><Relationship Type="http://schemas.openxmlformats.org/officeDocument/2006/relationships/image" Target="../media/methods_image484.png" Id="R1447c4980fc0430f"/><Relationship Type="http://schemas.openxmlformats.org/officeDocument/2006/relationships/image" Target="../media/methods_image39.png" Id="Rdedfa9d3e91b4b4d"/><Relationship Type="http://schemas.openxmlformats.org/officeDocument/2006/relationships/image" Target="../media/methods_image486.png" Id="Rdbba04bf46da457f"/><Relationship Type="http://schemas.openxmlformats.org/officeDocument/2006/relationships/image" Target="../media/methods_image487.png" Id="R0d1bdfeaba4a459c"/><Relationship Type="http://schemas.openxmlformats.org/officeDocument/2006/relationships/notesSlide" Target="../notesSlides/methods_notesSlide23.xml" Id="Reeb0d1a1bcb54130"/><Relationship Id="rIdVectormf00467" Type="http://schemas.openxmlformats.org/officeDocument/2006/relationships/image" Target="../media/methods_mf00001.svg"/><Relationship Id="rIdVectormf00468" Type="http://schemas.openxmlformats.org/officeDocument/2006/relationships/image" Target="../media/methods_mf00002.svg"/><Relationship Id="rIdVectormf00469" Type="http://schemas.openxmlformats.org/officeDocument/2006/relationships/image" Target="../media/methods_mf00027.svg"/><Relationship Id="rIdVectormf00470" Type="http://schemas.openxmlformats.org/officeDocument/2006/relationships/image" Target="../media/methods_mf00004.svg"/><Relationship Id="rIdVectormf00471" Type="http://schemas.openxmlformats.org/officeDocument/2006/relationships/image" Target="../media/methods_mf00029.svg"/><Relationship Id="rIdVectormf00472" Type="http://schemas.openxmlformats.org/officeDocument/2006/relationships/image" Target="../media/methods_mf00005.svg"/><Relationship Id="rIdVectormf00473" Type="http://schemas.openxmlformats.org/officeDocument/2006/relationships/image" Target="../media/methods_mf00031.svg"/><Relationship Id="rIdVectormf00474" Type="http://schemas.openxmlformats.org/officeDocument/2006/relationships/image" Target="../media/methods_mf00032.svg"/><Relationship Id="rIdVectormf00475" Type="http://schemas.openxmlformats.org/officeDocument/2006/relationships/image" Target="../media/methods_mf00004.svg"/><Relationship Id="rIdVectormf00476" Type="http://schemas.openxmlformats.org/officeDocument/2006/relationships/image" Target="../media/methods_mf00034.svg"/><Relationship Id="rIdVectormf00477" Type="http://schemas.openxmlformats.org/officeDocument/2006/relationships/image" Target="../media/methods_mf00005.svg"/><Relationship Id="rIdVectormf00478" Type="http://schemas.openxmlformats.org/officeDocument/2006/relationships/image" Target="../media/methods_mf00036.svg"/><Relationship Id="rIdVectormf00479" Type="http://schemas.openxmlformats.org/officeDocument/2006/relationships/image" Target="../media/methods_mf00037.svg"/><Relationship Id="rIdVectormf00480" Type="http://schemas.openxmlformats.org/officeDocument/2006/relationships/image" Target="../media/methods_mf00409.svg"/><Relationship Id="rIdVectormf00481" Type="http://schemas.openxmlformats.org/officeDocument/2006/relationships/image" Target="../media/methods_mf00481.svg"/><Relationship Id="rIdVectormf00482" Type="http://schemas.openxmlformats.org/officeDocument/2006/relationships/image" Target="../media/methods_mf00482.svg"/><Relationship Id="rIdVectormf00483" Type="http://schemas.openxmlformats.org/officeDocument/2006/relationships/image" Target="../media/methods_mf00483.svg"/><Relationship Id="rIdVectormf00484" Type="http://schemas.openxmlformats.org/officeDocument/2006/relationships/image" Target="../media/methods_mf00484.svg"/><Relationship Id="rIdVectormf00485" Type="http://schemas.openxmlformats.org/officeDocument/2006/relationships/image" Target="../media/methods_mf00039.svg"/><Relationship Id="rIdVectormf00486" Type="http://schemas.openxmlformats.org/officeDocument/2006/relationships/image" Target="../media/methods_mf00486.svg"/><Relationship Id="rIdVectormf00487" Type="http://schemas.openxmlformats.org/officeDocument/2006/relationships/image" Target="../media/methods_mf00487.svg"/><Relationship Id="rIdmethods_Link106" Type="http://schemas.openxmlformats.org/officeDocument/2006/relationships/slide" Target="methods_slide21.xml"/><Relationship Id="rIdmethods_Link107" Type="http://schemas.openxmlformats.org/officeDocument/2006/relationships/slide" Target="methods_slide22.xml"/><Relationship Id="rIdmethods_Link108" Type="http://schemas.openxmlformats.org/officeDocument/2006/relationships/slide" Target="methods_slide24.xml"/><Relationship Id="rIdmethods_Link109" Type="http://schemas.openxmlformats.org/officeDocument/2006/relationships/slide" Target="methods_slide25.xml"/></Relationships>
</file>

<file path=ppt/slides/_rels/methods_slide24.xml.rels><?xml version='1.0' encoding='UTF-8' standalone='yes'?>
<Relationships xmlns="http://schemas.openxmlformats.org/package/2006/relationships"><Relationship Type="http://schemas.openxmlformats.org/officeDocument/2006/relationships/slideLayout" Target="../slideLayouts/methods_slideLayout1.xml" Id="Reec1b7710ebd4fe4"/><Relationship Type="http://schemas.openxmlformats.org/officeDocument/2006/relationships/image" Target="../media/methods_image27.png" Id="R3707c7f43523401b"/><Relationship Type="http://schemas.openxmlformats.org/officeDocument/2006/relationships/image" Target="../media/methods_image2.png" Id="Rcd4c4ae15e714b02"/><Relationship Type="http://schemas.openxmlformats.org/officeDocument/2006/relationships/image" Target="../media/methods_image.png" Id="R1a1009712d5640b6"/><Relationship Type="http://schemas.openxmlformats.org/officeDocument/2006/relationships/image" Target="../media/methods_image4.png" Id="R726a0970f7844db3"/><Relationship Type="http://schemas.openxmlformats.org/officeDocument/2006/relationships/image" Target="../media/methods_image34.png" Id="R1dcebe08d6f5445c"/><Relationship Type="http://schemas.openxmlformats.org/officeDocument/2006/relationships/image" Target="../media/methods_image5.png" Id="R61cab4e942964c01"/><Relationship Type="http://schemas.openxmlformats.org/officeDocument/2006/relationships/image" Target="../media/methods_image36.png" Id="R8ee305acd89a422f"/><Relationship Type="http://schemas.openxmlformats.org/officeDocument/2006/relationships/image" Target="../media/methods_image37.png" Id="R158d4876b52b4855"/><Relationship Type="http://schemas.openxmlformats.org/officeDocument/2006/relationships/image" Target="../media/methods_image4.png" Id="R6ce9f60ba6694793"/><Relationship Type="http://schemas.openxmlformats.org/officeDocument/2006/relationships/image" Target="../media/methods_image50.png" Id="R8af2cd9106b04d69"/><Relationship Type="http://schemas.openxmlformats.org/officeDocument/2006/relationships/image" Target="../media/methods_image5.png" Id="R914745d328e14603"/><Relationship Type="http://schemas.openxmlformats.org/officeDocument/2006/relationships/image" Target="../media/methods_image52.png" Id="R6fea11b873884992"/><Relationship Type="http://schemas.openxmlformats.org/officeDocument/2006/relationships/image" Target="../media/methods_image500.png" Id="Rf793748f405b4b4a"/><Relationship Type="http://schemas.openxmlformats.org/officeDocument/2006/relationships/image" Target="../media/methods_image4.png" Id="Rcbe2a900701b4c04"/><Relationship Type="http://schemas.openxmlformats.org/officeDocument/2006/relationships/image" Target="../media/methods_image29.png" Id="R835b78c44e0c4bd1"/><Relationship Type="http://schemas.openxmlformats.org/officeDocument/2006/relationships/image" Target="../media/methods_image5.png" Id="R44de4bbb8f944734"/><Relationship Type="http://schemas.openxmlformats.org/officeDocument/2006/relationships/image" Target="../media/methods_image31.png" Id="R30501223a5a24f5a"/><Relationship Type="http://schemas.openxmlformats.org/officeDocument/2006/relationships/image" Target="../media/methods_image505.png" Id="Rac43426dbf4446d7"/><Relationship Type="http://schemas.openxmlformats.org/officeDocument/2006/relationships/image" Target="../media/methods_image484.png" Id="R71c290e54cf84d65"/><Relationship Type="http://schemas.openxmlformats.org/officeDocument/2006/relationships/image" Target="../media/methods_image507.png" Id="Rd8d6ac2421454b4e"/><Relationship Type="http://schemas.openxmlformats.org/officeDocument/2006/relationships/image" Target="../media/methods_image508.png" Id="R8613d51987df4fa0"/><Relationship Type="http://schemas.openxmlformats.org/officeDocument/2006/relationships/image" Target="../media/methods_image509.png" Id="Rfcb1528d50d84b94"/><Relationship Type="http://schemas.openxmlformats.org/officeDocument/2006/relationships/image" Target="../media/methods_image510.png" Id="Rbf547724a324487d"/><Relationship Type="http://schemas.openxmlformats.org/officeDocument/2006/relationships/image" Target="../media/methods_image511.png" Id="R5bbe84ed15d94ef2"/><Relationship Type="http://schemas.openxmlformats.org/officeDocument/2006/relationships/image" Target="../media/methods_image509.png" Id="R5257e40f1c2a4cd4"/><Relationship Type="http://schemas.openxmlformats.org/officeDocument/2006/relationships/image" Target="../media/methods_image486.png" Id="Rf1b0cfb9d9ac41c8"/><Relationship Type="http://schemas.openxmlformats.org/officeDocument/2006/relationships/image" Target="../media/methods_image514.png" Id="R4917eaa8e4e14046"/><Relationship Type="http://schemas.openxmlformats.org/officeDocument/2006/relationships/image" Target="../media/methods_image515.png" Id="Reae03d27c34f4ac6"/><Relationship Type="http://schemas.openxmlformats.org/officeDocument/2006/relationships/image" Target="../media/methods_image516.png" Id="R86abab8149c04d1d"/><Relationship Type="http://schemas.openxmlformats.org/officeDocument/2006/relationships/notesSlide" Target="../notesSlides/methods_notesSlide24.xml" Id="Rff15c57e03a14a8e"/><Relationship Id="rIdVectormf00488" Type="http://schemas.openxmlformats.org/officeDocument/2006/relationships/image" Target="../media/methods_mf00027.svg"/><Relationship Id="rIdVectormf00489" Type="http://schemas.openxmlformats.org/officeDocument/2006/relationships/image" Target="../media/methods_mf00002.svg"/><Relationship Id="rIdVectormf00490" Type="http://schemas.openxmlformats.org/officeDocument/2006/relationships/image" Target="../media/methods_mf00001.svg"/><Relationship Id="rIdVectormf00491" Type="http://schemas.openxmlformats.org/officeDocument/2006/relationships/image" Target="../media/methods_mf00004.svg"/><Relationship Id="rIdVectormf00492" Type="http://schemas.openxmlformats.org/officeDocument/2006/relationships/image" Target="../media/methods_mf00034.svg"/><Relationship Id="rIdVectormf00493" Type="http://schemas.openxmlformats.org/officeDocument/2006/relationships/image" Target="../media/methods_mf00005.svg"/><Relationship Id="rIdVectormf00494" Type="http://schemas.openxmlformats.org/officeDocument/2006/relationships/image" Target="../media/methods_mf00036.svg"/><Relationship Id="rIdVectormf00495" Type="http://schemas.openxmlformats.org/officeDocument/2006/relationships/image" Target="../media/methods_mf00037.svg"/><Relationship Id="rIdVectormf00496" Type="http://schemas.openxmlformats.org/officeDocument/2006/relationships/image" Target="../media/methods_mf00004.svg"/><Relationship Id="rIdVectormf00497" Type="http://schemas.openxmlformats.org/officeDocument/2006/relationships/image" Target="../media/methods_mf00050.svg"/><Relationship Id="rIdVectormf00498" Type="http://schemas.openxmlformats.org/officeDocument/2006/relationships/image" Target="../media/methods_mf00005.svg"/><Relationship Id="rIdVectormf00499" Type="http://schemas.openxmlformats.org/officeDocument/2006/relationships/image" Target="../media/methods_mf00052.svg"/><Relationship Id="rIdVectormf00500" Type="http://schemas.openxmlformats.org/officeDocument/2006/relationships/image" Target="../media/methods_mf00500.svg"/><Relationship Id="rIdVectormf00501" Type="http://schemas.openxmlformats.org/officeDocument/2006/relationships/image" Target="../media/methods_mf00004.svg"/><Relationship Id="rIdVectormf00502" Type="http://schemas.openxmlformats.org/officeDocument/2006/relationships/image" Target="../media/methods_mf00029.svg"/><Relationship Id="rIdVectormf00503" Type="http://schemas.openxmlformats.org/officeDocument/2006/relationships/image" Target="../media/methods_mf00005.svg"/><Relationship Id="rIdVectormf00504" Type="http://schemas.openxmlformats.org/officeDocument/2006/relationships/image" Target="../media/methods_mf00031.svg"/><Relationship Id="rIdVectormf00505" Type="http://schemas.openxmlformats.org/officeDocument/2006/relationships/image" Target="../media/methods_mf00505.svg"/><Relationship Id="rIdVectormf00506" Type="http://schemas.openxmlformats.org/officeDocument/2006/relationships/image" Target="../media/methods_mf00484.svg"/><Relationship Id="rIdVectormf00507" Type="http://schemas.openxmlformats.org/officeDocument/2006/relationships/image" Target="../media/methods_mf00507.svg"/><Relationship Id="rIdVectormf00508" Type="http://schemas.openxmlformats.org/officeDocument/2006/relationships/image" Target="../media/methods_mf00508.svg"/><Relationship Id="rIdVectormf00509" Type="http://schemas.openxmlformats.org/officeDocument/2006/relationships/image" Target="../media/methods_mf00509.svg"/><Relationship Id="rIdVectormf00510" Type="http://schemas.openxmlformats.org/officeDocument/2006/relationships/image" Target="../media/methods_mf00510.svg"/><Relationship Id="rIdVectormf00511" Type="http://schemas.openxmlformats.org/officeDocument/2006/relationships/image" Target="../media/methods_mf00511.svg"/><Relationship Id="rIdVectormf00512" Type="http://schemas.openxmlformats.org/officeDocument/2006/relationships/image" Target="../media/methods_mf00509.svg"/><Relationship Id="rIdVectormf00513" Type="http://schemas.openxmlformats.org/officeDocument/2006/relationships/image" Target="../media/methods_mf00486.svg"/><Relationship Id="rIdVectormf00514" Type="http://schemas.openxmlformats.org/officeDocument/2006/relationships/image" Target="../media/methods_mf00514.svg"/><Relationship Id="rIdVectormf00515" Type="http://schemas.openxmlformats.org/officeDocument/2006/relationships/image" Target="../media/methods_mf00515.svg"/><Relationship Id="rIdVectormf00516" Type="http://schemas.openxmlformats.org/officeDocument/2006/relationships/image" Target="../media/methods_mf00516.svg"/><Relationship Id="rIdmethods_Link110" Type="http://schemas.openxmlformats.org/officeDocument/2006/relationships/slide" Target="methods_slide21.xml"/><Relationship Id="rIdmethods_Link111" Type="http://schemas.openxmlformats.org/officeDocument/2006/relationships/slide" Target="methods_slide22.xml"/><Relationship Id="rIdmethods_Link112" Type="http://schemas.openxmlformats.org/officeDocument/2006/relationships/slide" Target="methods_slide24.xml"/><Relationship Id="rIdmethods_Link113" Type="http://schemas.openxmlformats.org/officeDocument/2006/relationships/slide" Target="methods_slide25.xml"/></Relationships>
</file>

<file path=ppt/slides/_rels/methods_slide25.xml.rels><?xml version='1.0' encoding='UTF-8' standalone='yes'?>
<Relationships xmlns="http://schemas.openxmlformats.org/package/2006/relationships"><Relationship Type="http://schemas.openxmlformats.org/officeDocument/2006/relationships/slideLayout" Target="../slideLayouts/methods_slideLayout1.xml" Id="R1a31715976ec4a7a"/><Relationship Type="http://schemas.openxmlformats.org/officeDocument/2006/relationships/image" Target="../media/methods_image27.png" Id="R80eb106450fa4bdb"/><Relationship Type="http://schemas.openxmlformats.org/officeDocument/2006/relationships/image" Target="../media/methods_image2.png" Id="R48d623a489524984"/><Relationship Type="http://schemas.openxmlformats.org/officeDocument/2006/relationships/image" Target="../media/methods_image.png" Id="Rb7e67a689ca24e37"/><Relationship Type="http://schemas.openxmlformats.org/officeDocument/2006/relationships/image" Target="../media/methods_image4.png" Id="R117cf3ee3d2d473c"/><Relationship Type="http://schemas.openxmlformats.org/officeDocument/2006/relationships/image" Target="../media/methods_image29.png" Id="R838c47377268402f"/><Relationship Type="http://schemas.openxmlformats.org/officeDocument/2006/relationships/image" Target="../media/methods_image5.png" Id="R219dd8ed336a47e1"/><Relationship Type="http://schemas.openxmlformats.org/officeDocument/2006/relationships/image" Target="../media/methods_image31.png" Id="Rb63a2c90a1e844e4"/><Relationship Type="http://schemas.openxmlformats.org/officeDocument/2006/relationships/image" Target="../media/methods_image505.png" Id="R1b9744e58d7a4341"/><Relationship Type="http://schemas.openxmlformats.org/officeDocument/2006/relationships/image" Target="../media/methods_image4.png" Id="R187cfda23d6d43d1"/><Relationship Type="http://schemas.openxmlformats.org/officeDocument/2006/relationships/image" Target="../media/methods_image29.png" Id="R80a86fc022eb492e"/><Relationship Type="http://schemas.openxmlformats.org/officeDocument/2006/relationships/image" Target="../media/methods_image5.png" Id="Rfbcec41587214a72"/><Relationship Type="http://schemas.openxmlformats.org/officeDocument/2006/relationships/image" Target="../media/methods_image31.png" Id="Rd9aae01e00b14fe4"/><Relationship Type="http://schemas.openxmlformats.org/officeDocument/2006/relationships/image" Target="../media/methods_image32.png" Id="R68e1d80d72bd4efd"/><Relationship Type="http://schemas.openxmlformats.org/officeDocument/2006/relationships/image" Target="../media/methods_image509.png" Id="R9c7dc9abb9954c45"/><Relationship Type="http://schemas.openxmlformats.org/officeDocument/2006/relationships/image" Target="../media/methods_image531.png" Id="R53ec26b196c744f7"/><Relationship Type="http://schemas.openxmlformats.org/officeDocument/2006/relationships/image" Target="../media/methods_image409.png" Id="R9dad3d78e279431c"/><Relationship Type="http://schemas.openxmlformats.org/officeDocument/2006/relationships/image" Target="../media/methods_image457.png" Id="R8be0e9131ca14a0f"/><Relationship Type="http://schemas.openxmlformats.org/officeDocument/2006/relationships/image" Target="../media/methods_image.png" Id="Rd1c0737bd9ac4e43"/><Relationship Type="http://schemas.openxmlformats.org/officeDocument/2006/relationships/image" Target="../media/methods_image465.png" Id="R78eaa72d944842b2"/><Relationship Type="http://schemas.openxmlformats.org/officeDocument/2006/relationships/image" Target="../media/methods_image516.png" Id="R862ec9986bcb41aa"/><Relationship Type="http://schemas.openxmlformats.org/officeDocument/2006/relationships/image" Target="../media/methods_image537.png" Id="R07e166d866cb43a7"/><Relationship Type="http://schemas.openxmlformats.org/officeDocument/2006/relationships/image" Target="../media/methods_image538.png" Id="R852b7f172cdc4874"/><Relationship Type="http://schemas.openxmlformats.org/officeDocument/2006/relationships/notesSlide" Target="../notesSlides/methods_notesSlide25.xml" Id="Rbf2c71120f6343c8"/><Relationship Id="rIdVectormf00517" Type="http://schemas.openxmlformats.org/officeDocument/2006/relationships/image" Target="../media/methods_mf00027.svg"/><Relationship Id="rIdVectormf00518" Type="http://schemas.openxmlformats.org/officeDocument/2006/relationships/image" Target="../media/methods_mf00002.svg"/><Relationship Id="rIdVectormf00519" Type="http://schemas.openxmlformats.org/officeDocument/2006/relationships/image" Target="../media/methods_mf00001.svg"/><Relationship Id="rIdVectormf00520" Type="http://schemas.openxmlformats.org/officeDocument/2006/relationships/image" Target="../media/methods_mf00004.svg"/><Relationship Id="rIdVectormf00521" Type="http://schemas.openxmlformats.org/officeDocument/2006/relationships/image" Target="../media/methods_mf00029.svg"/><Relationship Id="rIdVectormf00522" Type="http://schemas.openxmlformats.org/officeDocument/2006/relationships/image" Target="../media/methods_mf00005.svg"/><Relationship Id="rIdVectormf00523" Type="http://schemas.openxmlformats.org/officeDocument/2006/relationships/image" Target="../media/methods_mf00031.svg"/><Relationship Id="rIdVectormf00524" Type="http://schemas.openxmlformats.org/officeDocument/2006/relationships/image" Target="../media/methods_mf00505.svg"/><Relationship Id="rIdVectormf00525" Type="http://schemas.openxmlformats.org/officeDocument/2006/relationships/image" Target="../media/methods_mf00004.svg"/><Relationship Id="rIdVectormf00526" Type="http://schemas.openxmlformats.org/officeDocument/2006/relationships/image" Target="../media/methods_mf00029.svg"/><Relationship Id="rIdVectormf00527" Type="http://schemas.openxmlformats.org/officeDocument/2006/relationships/image" Target="../media/methods_mf00005.svg"/><Relationship Id="rIdVectormf00528" Type="http://schemas.openxmlformats.org/officeDocument/2006/relationships/image" Target="../media/methods_mf00031.svg"/><Relationship Id="rIdVectormf00529" Type="http://schemas.openxmlformats.org/officeDocument/2006/relationships/image" Target="../media/methods_mf00032.svg"/><Relationship Id="rIdVectormf00530" Type="http://schemas.openxmlformats.org/officeDocument/2006/relationships/image" Target="../media/methods_mf00509.svg"/><Relationship Id="rIdVectormf00531" Type="http://schemas.openxmlformats.org/officeDocument/2006/relationships/image" Target="../media/methods_mf00531.svg"/><Relationship Id="rIdVectormf00532" Type="http://schemas.openxmlformats.org/officeDocument/2006/relationships/image" Target="../media/methods_mf00409.svg"/><Relationship Id="rIdVectormf00533" Type="http://schemas.openxmlformats.org/officeDocument/2006/relationships/image" Target="../media/methods_mf00457.svg"/><Relationship Id="rIdVectormf00534" Type="http://schemas.openxmlformats.org/officeDocument/2006/relationships/image" Target="../media/methods_mf00534.svg"/><Relationship Id="rIdVectormf00535" Type="http://schemas.openxmlformats.org/officeDocument/2006/relationships/image" Target="../media/methods_mf00465.svg"/><Relationship Id="rIdVectormf00536" Type="http://schemas.openxmlformats.org/officeDocument/2006/relationships/image" Target="../media/methods_mf00516.svg"/><Relationship Id="rIdVectormf00537" Type="http://schemas.openxmlformats.org/officeDocument/2006/relationships/image" Target="../media/methods_mf00537.svg"/><Relationship Id="rIdVectormf00538" Type="http://schemas.openxmlformats.org/officeDocument/2006/relationships/image" Target="../media/methods_mf00538.svg"/><Relationship Id="rIdmethods_Link114" Type="http://schemas.openxmlformats.org/officeDocument/2006/relationships/slide" Target="methods_slide21.xml"/><Relationship Id="rIdmethods_Link115" Type="http://schemas.openxmlformats.org/officeDocument/2006/relationships/slide" Target="methods_slide22.xml"/><Relationship Id="rIdmethods_Link116" Type="http://schemas.openxmlformats.org/officeDocument/2006/relationships/slide" Target="methods_slide24.xml"/><Relationship Id="rIdmethods_Link117" Type="http://schemas.openxmlformats.org/officeDocument/2006/relationships/slide" Target="methods_slide25.xml"/></Relationships>
</file>

<file path=ppt/slides/_rels/methods_slide26.xml.rels><?xml version='1.0' encoding='UTF-8' standalone='yes'?>
<Relationships xmlns="http://schemas.openxmlformats.org/package/2006/relationships"><Relationship Type="http://schemas.openxmlformats.org/officeDocument/2006/relationships/slideLayout" Target="../slideLayouts/methods_slideLayout1.xml" Id="R80b9be260cea409b"/><Relationship Type="http://schemas.openxmlformats.org/officeDocument/2006/relationships/image" Target="../media/methods_image.png" Id="R84f6d7b46c92431c"/><Relationship Type="http://schemas.openxmlformats.org/officeDocument/2006/relationships/image" Target="../media/methods_image2.png" Id="R2125ddb1199b4443"/><Relationship Type="http://schemas.openxmlformats.org/officeDocument/2006/relationships/image" Target="../media/methods_image27.png" Id="Re4bba2c99ced422b"/><Relationship Type="http://schemas.openxmlformats.org/officeDocument/2006/relationships/image" Target="../media/methods_image457.png" Id="R726832d0141e441c"/><Relationship Type="http://schemas.openxmlformats.org/officeDocument/2006/relationships/image" Target="../media/methods_image.png" Id="R222456a130784b42"/><Relationship Type="http://schemas.openxmlformats.org/officeDocument/2006/relationships/image" Target="../media/methods_image457.png" Id="R616e29091f5e45ca"/><Relationship Type="http://schemas.openxmlformats.org/officeDocument/2006/relationships/image" Target="../media/methods_image545.png" Id="Rea0c9dcd669743b1"/><Relationship Type="http://schemas.openxmlformats.org/officeDocument/2006/relationships/image" Target="../media/methods_image457.png" Id="Rddbee37faff448fe"/><Relationship Type="http://schemas.openxmlformats.org/officeDocument/2006/relationships/image" Target="../media/methods_image547.png" Id="R8efcb634106c450b"/><Relationship Type="http://schemas.openxmlformats.org/officeDocument/2006/relationships/image" Target="../media/methods_image548.png" Id="R60a2ad3041cc4c45"/><Relationship Type="http://schemas.openxmlformats.org/officeDocument/2006/relationships/image" Target="../media/methods_image549.png" Id="Rdd3585d26ffb4d5c"/><Relationship Type="http://schemas.openxmlformats.org/officeDocument/2006/relationships/image" Target="../media/methods_image550.png" Id="R022c22e1c18548a8"/><Relationship Type="http://schemas.openxmlformats.org/officeDocument/2006/relationships/image" Target="../media/methods_image409.png" Id="Rdad54fd3cba34eea"/><Relationship Type="http://schemas.openxmlformats.org/officeDocument/2006/relationships/image" Target="../media/methods_image552.png" Id="R0877b85283054edb"/><Relationship Type="http://schemas.openxmlformats.org/officeDocument/2006/relationships/image" Target="../media/methods_image.png" Id="Rf5993d26585345e0"/><Relationship Type="http://schemas.openxmlformats.org/officeDocument/2006/relationships/image" Target="../media/methods_image545.png" Id="Rd0c72b53f5254d2f"/><Relationship Type="http://schemas.openxmlformats.org/officeDocument/2006/relationships/image" Target="../media/methods_image547.png" Id="Re9daf49e0369480c"/><Relationship Type="http://schemas.openxmlformats.org/officeDocument/2006/relationships/notesSlide" Target="../notesSlides/methods_notesSlide26.xml" Id="R04491e7c92624651"/><Relationship Id="rIdVectormf00539" Type="http://schemas.openxmlformats.org/officeDocument/2006/relationships/image" Target="../media/methods_mf00001.svg"/><Relationship Id="rIdVectormf00540" Type="http://schemas.openxmlformats.org/officeDocument/2006/relationships/image" Target="../media/methods_mf00002.svg"/><Relationship Id="rIdVectormf00541" Type="http://schemas.openxmlformats.org/officeDocument/2006/relationships/image" Target="../media/methods_mf00027.svg"/><Relationship Id="rIdVectormf00542" Type="http://schemas.openxmlformats.org/officeDocument/2006/relationships/image" Target="../media/methods_mf00457.svg"/><Relationship Id="rIdVectormf00543" Type="http://schemas.openxmlformats.org/officeDocument/2006/relationships/image" Target="../media/methods_mf00534.svg"/><Relationship Id="rIdVectormf00544" Type="http://schemas.openxmlformats.org/officeDocument/2006/relationships/image" Target="../media/methods_mf00457.svg"/><Relationship Id="rIdVectormf00545" Type="http://schemas.openxmlformats.org/officeDocument/2006/relationships/image" Target="../media/methods_mf00545.svg"/><Relationship Id="rIdVectormf00546" Type="http://schemas.openxmlformats.org/officeDocument/2006/relationships/image" Target="../media/methods_mf00457.svg"/><Relationship Id="rIdVectormf00547" Type="http://schemas.openxmlformats.org/officeDocument/2006/relationships/image" Target="../media/methods_mf00547.svg"/><Relationship Id="rIdVectormf00548" Type="http://schemas.openxmlformats.org/officeDocument/2006/relationships/image" Target="../media/methods_mf00548.svg"/><Relationship Id="rIdVectormf00549" Type="http://schemas.openxmlformats.org/officeDocument/2006/relationships/image" Target="../media/methods_mf00549.svg"/><Relationship Id="rIdVectormf00550" Type="http://schemas.openxmlformats.org/officeDocument/2006/relationships/image" Target="../media/methods_mf00550.svg"/><Relationship Id="rIdVectormf00551" Type="http://schemas.openxmlformats.org/officeDocument/2006/relationships/image" Target="../media/methods_mf00409.svg"/><Relationship Id="rIdVectormf00552" Type="http://schemas.openxmlformats.org/officeDocument/2006/relationships/image" Target="../media/methods_mf00552.svg"/><Relationship Id="rIdVectormf00553" Type="http://schemas.openxmlformats.org/officeDocument/2006/relationships/image" Target="../media/methods_mf00534.svg"/><Relationship Id="rIdVectormf00554" Type="http://schemas.openxmlformats.org/officeDocument/2006/relationships/image" Target="../media/methods_mf00545.svg"/><Relationship Id="rIdVectormf00555" Type="http://schemas.openxmlformats.org/officeDocument/2006/relationships/image" Target="../media/methods_mf00547.svg"/><Relationship Id="rIdmethods_Link118" Type="http://schemas.openxmlformats.org/officeDocument/2006/relationships/slide" Target="methods_slide21.xml"/><Relationship Id="rIdmethods_Link119" Type="http://schemas.openxmlformats.org/officeDocument/2006/relationships/slide" Target="methods_slide26.xml"/><Relationship Id="rIdmethods_Link120" Type="http://schemas.openxmlformats.org/officeDocument/2006/relationships/slide" Target="methods_slide28.xml"/><Relationship Id="rIdmethods_Link121" Type="http://schemas.openxmlformats.org/officeDocument/2006/relationships/slide" Target="methods_slide29.xml"/></Relationships>
</file>

<file path=ppt/slides/_rels/methods_slide27.xml.rels><?xml version='1.0' encoding='UTF-8' standalone='yes'?>
<Relationships xmlns="http://schemas.openxmlformats.org/package/2006/relationships"><Relationship Type="http://schemas.openxmlformats.org/officeDocument/2006/relationships/slideLayout" Target="../slideLayouts/methods_slideLayout1.xml" Id="R285119ed69e64ff4"/><Relationship Type="http://schemas.openxmlformats.org/officeDocument/2006/relationships/image" Target="../media/methods_image.png" Id="R76f804df38994f2e"/><Relationship Type="http://schemas.openxmlformats.org/officeDocument/2006/relationships/image" Target="../media/methods_image2.png" Id="Rf0d9fe0d1b6e43d3"/><Relationship Type="http://schemas.openxmlformats.org/officeDocument/2006/relationships/image" Target="../media/methods_image27.png" Id="R7408210001bf47b0"/><Relationship Type="http://schemas.openxmlformats.org/officeDocument/2006/relationships/image" Target="../media/methods_image457.png" Id="R147a57f1b31141b8"/><Relationship Type="http://schemas.openxmlformats.org/officeDocument/2006/relationships/image" Target="../media/methods_image547.png" Id="R402bd5ba7c14425d"/><Relationship Type="http://schemas.openxmlformats.org/officeDocument/2006/relationships/image" Target="../media/methods_image457.png" Id="Rcb567546d5464f6f"/><Relationship Type="http://schemas.openxmlformats.org/officeDocument/2006/relationships/image" Target="../media/methods_image2.png" Id="R80b1889baf6c481e"/><Relationship Type="http://schemas.openxmlformats.org/officeDocument/2006/relationships/image" Target="../media/methods_image409.png" Id="R53c489fdacdc48cc"/><Relationship Type="http://schemas.openxmlformats.org/officeDocument/2006/relationships/image" Target="../media/methods_image482.png" Id="R0f203815a355468d"/><Relationship Type="http://schemas.openxmlformats.org/officeDocument/2006/relationships/image" Target="../media/methods_image547.png" Id="R7d8dd4f3b3154998"/><Relationship Type="http://schemas.openxmlformats.org/officeDocument/2006/relationships/image" Target="../media/methods_image566.png" Id="Rf1e203f75dd74418"/><Relationship Type="http://schemas.openxmlformats.org/officeDocument/2006/relationships/notesSlide" Target="../notesSlides/methods_notesSlide27.xml" Id="R2a353c1d64104568"/><Relationship Id="rIdVectormf00556" Type="http://schemas.openxmlformats.org/officeDocument/2006/relationships/image" Target="../media/methods_mf00001.svg"/><Relationship Id="rIdVectormf00557" Type="http://schemas.openxmlformats.org/officeDocument/2006/relationships/image" Target="../media/methods_mf00002.svg"/><Relationship Id="rIdVectormf00558" Type="http://schemas.openxmlformats.org/officeDocument/2006/relationships/image" Target="../media/methods_mf00027.svg"/><Relationship Id="rIdVectormf00559" Type="http://schemas.openxmlformats.org/officeDocument/2006/relationships/image" Target="../media/methods_mf00457.svg"/><Relationship Id="rIdVectormf00560" Type="http://schemas.openxmlformats.org/officeDocument/2006/relationships/image" Target="../media/methods_mf00547.svg"/><Relationship Id="rIdVectormf00561" Type="http://schemas.openxmlformats.org/officeDocument/2006/relationships/image" Target="../media/methods_mf00457.svg"/><Relationship Id="rIdVectormf00562" Type="http://schemas.openxmlformats.org/officeDocument/2006/relationships/image" Target="../media/methods_mf00562.svg"/><Relationship Id="rIdVectormf00563" Type="http://schemas.openxmlformats.org/officeDocument/2006/relationships/image" Target="../media/methods_mf00409.svg"/><Relationship Id="rIdVectormf00564" Type="http://schemas.openxmlformats.org/officeDocument/2006/relationships/image" Target="../media/methods_mf00482.svg"/><Relationship Id="rIdVectormf00565" Type="http://schemas.openxmlformats.org/officeDocument/2006/relationships/image" Target="../media/methods_mf00547.svg"/><Relationship Id="rIdVectormf00566" Type="http://schemas.openxmlformats.org/officeDocument/2006/relationships/image" Target="../media/methods_mf00566.svg"/><Relationship Id="rIdmethods_Link122" Type="http://schemas.openxmlformats.org/officeDocument/2006/relationships/slide" Target="methods_slide21.xml"/><Relationship Id="rIdmethods_Link123" Type="http://schemas.openxmlformats.org/officeDocument/2006/relationships/slide" Target="methods_slide26.xml"/><Relationship Id="rIdmethods_Link124" Type="http://schemas.openxmlformats.org/officeDocument/2006/relationships/slide" Target="methods_slide28.xml"/><Relationship Id="rIdmethods_Link125" Type="http://schemas.openxmlformats.org/officeDocument/2006/relationships/slide" Target="methods_slide29.xml"/></Relationships>
</file>

<file path=ppt/slides/_rels/methods_slide28.xml.rels><?xml version='1.0' encoding='UTF-8' standalone='yes'?>
<Relationships xmlns="http://schemas.openxmlformats.org/package/2006/relationships"><Relationship Type="http://schemas.openxmlformats.org/officeDocument/2006/relationships/slideLayout" Target="../slideLayouts/methods_slideLayout1.xml" Id="R3b3efcb2f7d540a2"/><Relationship Type="http://schemas.openxmlformats.org/officeDocument/2006/relationships/image" Target="../media/methods_image27.png" Id="Rbe13388cdf474893"/><Relationship Type="http://schemas.openxmlformats.org/officeDocument/2006/relationships/image" Target="../media/methods_image2.png" Id="Rd15615f3d0c54f2a"/><Relationship Type="http://schemas.openxmlformats.org/officeDocument/2006/relationships/image" Target="../media/methods_image.png" Id="R7522130066354c66"/><Relationship Type="http://schemas.openxmlformats.org/officeDocument/2006/relationships/image" Target="../media/methods_image457.png" Id="R06f92ffc0eab431e"/><Relationship Type="http://schemas.openxmlformats.org/officeDocument/2006/relationships/image" Target="../media/methods_image2.png" Id="R30fdbc3ab0aa4a9e"/><Relationship Type="http://schemas.openxmlformats.org/officeDocument/2006/relationships/image" Target="../media/methods_image457.png" Id="R2c93da3b8f1b48c2"/><Relationship Type="http://schemas.openxmlformats.org/officeDocument/2006/relationships/image" Target="../media/methods_image573.png" Id="Rcbe8041de0654540"/><Relationship Type="http://schemas.openxmlformats.org/officeDocument/2006/relationships/image" Target="../media/methods_image457.png" Id="Re396c92a2b894317"/><Relationship Type="http://schemas.openxmlformats.org/officeDocument/2006/relationships/image" Target="../media/methods_image575.png" Id="R3cfb62a4cb2c4d76"/><Relationship Type="http://schemas.openxmlformats.org/officeDocument/2006/relationships/image" Target="../media/methods_image576.png" Id="R25e49314e564424a"/><Relationship Type="http://schemas.openxmlformats.org/officeDocument/2006/relationships/image" Target="../media/methods_image577.png" Id="R4a2f33c454fb4b19"/><Relationship Type="http://schemas.openxmlformats.org/officeDocument/2006/relationships/image" Target="../media/methods_image573.png" Id="R6c7c88a65b2843d6"/><Relationship Type="http://schemas.openxmlformats.org/officeDocument/2006/relationships/image" Target="../media/methods_image579.png" Id="R8222760eef4448fa"/><Relationship Type="http://schemas.openxmlformats.org/officeDocument/2006/relationships/image" Target="../media/methods_image580.png" Id="R6759819297924c96"/><Relationship Type="http://schemas.openxmlformats.org/officeDocument/2006/relationships/image" Target="../media/methods_image566.png" Id="Re2dfc96d16ac46a6"/><Relationship Type="http://schemas.openxmlformats.org/officeDocument/2006/relationships/image" Target="../media/methods_image582.png" Id="Rbf661f9a15b346ca"/><Relationship Type="http://schemas.openxmlformats.org/officeDocument/2006/relationships/image" Target="../media/methods_image583.png" Id="Rf20afe54c1424dce"/><Relationship Type="http://schemas.openxmlformats.org/officeDocument/2006/relationships/notesSlide" Target="../notesSlides/methods_notesSlide28.xml" Id="R00bb1bd329ca4a5e"/><Relationship Id="rIdVectormf00567" Type="http://schemas.openxmlformats.org/officeDocument/2006/relationships/image" Target="../media/methods_mf00027.svg"/><Relationship Id="rIdVectormf00568" Type="http://schemas.openxmlformats.org/officeDocument/2006/relationships/image" Target="../media/methods_mf00002.svg"/><Relationship Id="rIdVectormf00569" Type="http://schemas.openxmlformats.org/officeDocument/2006/relationships/image" Target="../media/methods_mf00001.svg"/><Relationship Id="rIdVectormf00570" Type="http://schemas.openxmlformats.org/officeDocument/2006/relationships/image" Target="../media/methods_mf00457.svg"/><Relationship Id="rIdVectormf00571" Type="http://schemas.openxmlformats.org/officeDocument/2006/relationships/image" Target="../media/methods_mf00562.svg"/><Relationship Id="rIdVectormf00572" Type="http://schemas.openxmlformats.org/officeDocument/2006/relationships/image" Target="../media/methods_mf00457.svg"/><Relationship Id="rIdVectormf00573" Type="http://schemas.openxmlformats.org/officeDocument/2006/relationships/image" Target="../media/methods_mf00573.svg"/><Relationship Id="rIdVectormf00574" Type="http://schemas.openxmlformats.org/officeDocument/2006/relationships/image" Target="../media/methods_mf00457.svg"/><Relationship Id="rIdVectormf00575" Type="http://schemas.openxmlformats.org/officeDocument/2006/relationships/image" Target="../media/methods_mf00575.svg"/><Relationship Id="rIdVectormf00576" Type="http://schemas.openxmlformats.org/officeDocument/2006/relationships/image" Target="../media/methods_mf00576.svg"/><Relationship Id="rIdVectormf00577" Type="http://schemas.openxmlformats.org/officeDocument/2006/relationships/image" Target="../media/methods_mf00577.svg"/><Relationship Id="rIdVectormf00578" Type="http://schemas.openxmlformats.org/officeDocument/2006/relationships/image" Target="../media/methods_mf00578.svg"/><Relationship Id="rIdVectormf00579" Type="http://schemas.openxmlformats.org/officeDocument/2006/relationships/image" Target="../media/methods_mf00579.svg"/><Relationship Id="rIdVectormf00580" Type="http://schemas.openxmlformats.org/officeDocument/2006/relationships/image" Target="../media/methods_mf00580.svg"/><Relationship Id="rIdVectormf00581" Type="http://schemas.openxmlformats.org/officeDocument/2006/relationships/image" Target="../media/methods_mf00566.svg"/><Relationship Id="rIdVectormf00582" Type="http://schemas.openxmlformats.org/officeDocument/2006/relationships/image" Target="../media/methods_mf00582.svg"/><Relationship Id="rIdVectormf00583" Type="http://schemas.openxmlformats.org/officeDocument/2006/relationships/image" Target="../media/methods_mf00583.svg"/><Relationship Id="rIdmethods_Link126" Type="http://schemas.openxmlformats.org/officeDocument/2006/relationships/slide" Target="methods_slide21.xml"/><Relationship Id="rIdmethods_Link127" Type="http://schemas.openxmlformats.org/officeDocument/2006/relationships/slide" Target="methods_slide26.xml"/><Relationship Id="rIdmethods_Link128" Type="http://schemas.openxmlformats.org/officeDocument/2006/relationships/slide" Target="methods_slide28.xml"/><Relationship Id="rIdmethods_Link129" Type="http://schemas.openxmlformats.org/officeDocument/2006/relationships/slide" Target="methods_slide29.xml"/></Relationships>
</file>

<file path=ppt/slides/_rels/methods_slide29.xml.rels><?xml version='1.0' encoding='UTF-8' standalone='yes'?>
<Relationships xmlns="http://schemas.openxmlformats.org/package/2006/relationships"><Relationship Type="http://schemas.openxmlformats.org/officeDocument/2006/relationships/slideLayout" Target="../slideLayouts/methods_slideLayout1.xml" Id="R090807cd7d0547bf"/><Relationship Type="http://schemas.openxmlformats.org/officeDocument/2006/relationships/image" Target="../media/methods_image27.png" Id="R5cd29c8b775e4732"/><Relationship Type="http://schemas.openxmlformats.org/officeDocument/2006/relationships/image" Target="../media/methods_image2.png" Id="Rd5cbc54bfc944073"/><Relationship Type="http://schemas.openxmlformats.org/officeDocument/2006/relationships/image" Target="../media/methods_image.png" Id="R1ef5894f4f704d34"/><Relationship Type="http://schemas.openxmlformats.org/officeDocument/2006/relationships/image" Target="../media/methods_image457.png" Id="Rf093694715b84cee"/><Relationship Type="http://schemas.openxmlformats.org/officeDocument/2006/relationships/image" Target="../media/methods_image575.png" Id="R6f147f19506d4204"/><Relationship Type="http://schemas.openxmlformats.org/officeDocument/2006/relationships/image" Target="../media/methods_image457.png" Id="R454c78310dd343ce"/><Relationship Type="http://schemas.openxmlformats.org/officeDocument/2006/relationships/image" Target="../media/methods_image.png" Id="Rca745f971f8d479c"/><Relationship Type="http://schemas.openxmlformats.org/officeDocument/2006/relationships/image" Target="../media/methods_image591.png" Id="R36a99e694f7b4970"/><Relationship Type="http://schemas.openxmlformats.org/officeDocument/2006/relationships/image" Target="../media/methods_image583.png" Id="Rfe90803cc2a040a9"/><Relationship Type="http://schemas.openxmlformats.org/officeDocument/2006/relationships/image" Target="../media/methods_image593.png" Id="R24f99d6d3f8243f0"/><Relationship Type="http://schemas.openxmlformats.org/officeDocument/2006/relationships/notesSlide" Target="../notesSlides/methods_notesSlide29.xml" Id="R0997b9bde6324bbd"/><Relationship Id="rIdVectormf00584" Type="http://schemas.openxmlformats.org/officeDocument/2006/relationships/image" Target="../media/methods_mf00027.svg"/><Relationship Id="rIdVectormf00585" Type="http://schemas.openxmlformats.org/officeDocument/2006/relationships/image" Target="../media/methods_mf00002.svg"/><Relationship Id="rIdVectormf00586" Type="http://schemas.openxmlformats.org/officeDocument/2006/relationships/image" Target="../media/methods_mf00001.svg"/><Relationship Id="rIdVectormf00587" Type="http://schemas.openxmlformats.org/officeDocument/2006/relationships/image" Target="../media/methods_mf00457.svg"/><Relationship Id="rIdVectormf00588" Type="http://schemas.openxmlformats.org/officeDocument/2006/relationships/image" Target="../media/methods_mf00575.svg"/><Relationship Id="rIdVectormf00589" Type="http://schemas.openxmlformats.org/officeDocument/2006/relationships/image" Target="../media/methods_mf00457.svg"/><Relationship Id="rIdVectormf00590" Type="http://schemas.openxmlformats.org/officeDocument/2006/relationships/image" Target="../media/methods_mf00534.svg"/><Relationship Id="rIdVectormf00591" Type="http://schemas.openxmlformats.org/officeDocument/2006/relationships/image" Target="../media/methods_mf00591.svg"/><Relationship Id="rIdVectormf00592" Type="http://schemas.openxmlformats.org/officeDocument/2006/relationships/image" Target="../media/methods_mf00583.svg"/><Relationship Id="rIdVectormf00593" Type="http://schemas.openxmlformats.org/officeDocument/2006/relationships/image" Target="../media/methods_mf00593.svg"/><Relationship Id="rIdmethods_Link130" Type="http://schemas.openxmlformats.org/officeDocument/2006/relationships/slide" Target="methods_slide21.xml"/><Relationship Id="rIdmethods_Link131" Type="http://schemas.openxmlformats.org/officeDocument/2006/relationships/slide" Target="methods_slide26.xml"/><Relationship Id="rIdmethods_Link132" Type="http://schemas.openxmlformats.org/officeDocument/2006/relationships/slide" Target="methods_slide28.xml"/><Relationship Id="rIdmethods_Link133" Type="http://schemas.openxmlformats.org/officeDocument/2006/relationships/slide" Target="methods_slide29.xml"/></Relationships>
</file>

<file path=ppt/slides/_rels/methods_slide30.xml.rels><?xml version='1.0' encoding='UTF-8' standalone='yes'?>
<Relationships xmlns="http://schemas.openxmlformats.org/package/2006/relationships"><Relationship Type="http://schemas.openxmlformats.org/officeDocument/2006/relationships/slideLayout" Target="../slideLayouts/methods_slideLayout1.xml" Id="Rf5d4830db35d4ee6"/><Relationship Type="http://schemas.openxmlformats.org/officeDocument/2006/relationships/image" Target="../media/methods_image.png" Id="R127875af416f4c7b"/><Relationship Type="http://schemas.openxmlformats.org/officeDocument/2006/relationships/image" Target="../media/methods_image2.png" Id="Rb3644209daf0451d"/><Relationship Type="http://schemas.openxmlformats.org/officeDocument/2006/relationships/image" Target="../media/methods_image27.png" Id="R3bffa5e06bc14fb2"/><Relationship Type="http://schemas.openxmlformats.org/officeDocument/2006/relationships/image" Target="../media/methods_image457.png" Id="R30982180ca0b4a60"/><Relationship Type="http://schemas.openxmlformats.org/officeDocument/2006/relationships/image" Target="../media/methods_image.png" Id="R6757f0036e894e1d"/><Relationship Type="http://schemas.openxmlformats.org/officeDocument/2006/relationships/image" Target="../media/methods_image32.png" Id="Rfa47fa29b7c443df"/><Relationship Type="http://schemas.openxmlformats.org/officeDocument/2006/relationships/image" Target="../media/methods_image4.png" Id="Rfcbc8de58e8b4991"/><Relationship Type="http://schemas.openxmlformats.org/officeDocument/2006/relationships/image" Target="../media/methods_image29.png" Id="R3bc3a1d662b44859"/><Relationship Type="http://schemas.openxmlformats.org/officeDocument/2006/relationships/image" Target="../media/methods_image5.png" Id="R94550b880f604037"/><Relationship Type="http://schemas.openxmlformats.org/officeDocument/2006/relationships/image" Target="../media/methods_image31.png" Id="R6bd1d8f57e1d4270"/><Relationship Type="http://schemas.openxmlformats.org/officeDocument/2006/relationships/image" Target="../media/methods_image409.png" Id="R2dd7213c15974272"/><Relationship Type="http://schemas.openxmlformats.org/officeDocument/2006/relationships/image" Target="../media/methods_image465.png" Id="Rf2ef834e536e4060"/><Relationship Type="http://schemas.openxmlformats.org/officeDocument/2006/relationships/image" Target="../media/methods_image39.png" Id="R8849a6b7c21848a8"/><Relationship Type="http://schemas.openxmlformats.org/officeDocument/2006/relationships/notesSlide" Target="../notesSlides/methods_notesSlide30.xml" Id="R5b69fe556db04130"/><Relationship Id="rIdVectormf00594" Type="http://schemas.openxmlformats.org/officeDocument/2006/relationships/image" Target="../media/methods_mf00001.svg"/><Relationship Id="rIdVectormf00595" Type="http://schemas.openxmlformats.org/officeDocument/2006/relationships/image" Target="../media/methods_mf00002.svg"/><Relationship Id="rIdVectormf00596" Type="http://schemas.openxmlformats.org/officeDocument/2006/relationships/image" Target="../media/methods_mf00027.svg"/><Relationship Id="rIdVectormf00597" Type="http://schemas.openxmlformats.org/officeDocument/2006/relationships/image" Target="../media/methods_mf00457.svg"/><Relationship Id="rIdVectormf00598" Type="http://schemas.openxmlformats.org/officeDocument/2006/relationships/image" Target="../media/methods_mf00001.svg"/><Relationship Id="rIdVectormf00599" Type="http://schemas.openxmlformats.org/officeDocument/2006/relationships/image" Target="../media/methods_mf00459.svg"/><Relationship Id="rIdVectormf00600" Type="http://schemas.openxmlformats.org/officeDocument/2006/relationships/image" Target="../media/methods_mf00004.svg"/><Relationship Id="rIdVectormf00601" Type="http://schemas.openxmlformats.org/officeDocument/2006/relationships/image" Target="../media/methods_mf00029.svg"/><Relationship Id="rIdVectormf00602" Type="http://schemas.openxmlformats.org/officeDocument/2006/relationships/image" Target="../media/methods_mf00005.svg"/><Relationship Id="rIdVectormf00603" Type="http://schemas.openxmlformats.org/officeDocument/2006/relationships/image" Target="../media/methods_mf00031.svg"/><Relationship Id="rIdVectormf00604" Type="http://schemas.openxmlformats.org/officeDocument/2006/relationships/image" Target="../media/methods_mf00409.svg"/><Relationship Id="rIdVectormf00605" Type="http://schemas.openxmlformats.org/officeDocument/2006/relationships/image" Target="../media/methods_mf00465.svg"/><Relationship Id="rIdVectormf00606" Type="http://schemas.openxmlformats.org/officeDocument/2006/relationships/image" Target="../media/methods_mf00039.svg"/><Relationship Id="rIdmethods_Link134" Type="http://schemas.openxmlformats.org/officeDocument/2006/relationships/slide" Target="methods_slide21.xml"/><Relationship Id="rIdmethods_Link135" Type="http://schemas.openxmlformats.org/officeDocument/2006/relationships/slide" Target="methods_slide30.xml"/><Relationship Id="rIdmethods_Link136" Type="http://schemas.openxmlformats.org/officeDocument/2006/relationships/slide" Target="methods_slide32.xml"/><Relationship Id="rIdmethods_Link137" Type="http://schemas.openxmlformats.org/officeDocument/2006/relationships/slide" Target="methods_slide33.xml"/></Relationships>
</file>

<file path=ppt/slides/_rels/methods_slide31.xml.rels><?xml version='1.0' encoding='UTF-8' standalone='yes'?>
<Relationships xmlns="http://schemas.openxmlformats.org/package/2006/relationships"><Relationship Type="http://schemas.openxmlformats.org/officeDocument/2006/relationships/slideLayout" Target="../slideLayouts/methods_slideLayout1.xml" Id="Rce1dc0472d464650"/><Relationship Type="http://schemas.openxmlformats.org/officeDocument/2006/relationships/image" Target="../media/methods_image.png" Id="R6669ee18376b41e0"/><Relationship Type="http://schemas.openxmlformats.org/officeDocument/2006/relationships/image" Target="../media/methods_image2.png" Id="Re766d7602b8949f8"/><Relationship Type="http://schemas.openxmlformats.org/officeDocument/2006/relationships/image" Target="../media/methods_image27.png" Id="R5fc5b26716834bde"/><Relationship Type="http://schemas.openxmlformats.org/officeDocument/2006/relationships/image" Target="../media/methods_image4.png" Id="R7e3d6e6126bb4b15"/><Relationship Type="http://schemas.openxmlformats.org/officeDocument/2006/relationships/image" Target="../media/methods_image29.png" Id="Rb5917857fecf4a98"/><Relationship Type="http://schemas.openxmlformats.org/officeDocument/2006/relationships/image" Target="../media/methods_image5.png" Id="R5ed6387d84904f86"/><Relationship Type="http://schemas.openxmlformats.org/officeDocument/2006/relationships/image" Target="../media/methods_image31.png" Id="R9ea7e656b39c420a"/><Relationship Type="http://schemas.openxmlformats.org/officeDocument/2006/relationships/image" Target="../media/methods_image32.png" Id="Rabd222d033b74180"/><Relationship Type="http://schemas.openxmlformats.org/officeDocument/2006/relationships/image" Target="../media/methods_image4.png" Id="R28511a62d04145f6"/><Relationship Type="http://schemas.openxmlformats.org/officeDocument/2006/relationships/image" Target="../media/methods_image34.png" Id="R851b489ae9384303"/><Relationship Type="http://schemas.openxmlformats.org/officeDocument/2006/relationships/image" Target="../media/methods_image5.png" Id="Rb6f034562d3b40ea"/><Relationship Type="http://schemas.openxmlformats.org/officeDocument/2006/relationships/image" Target="../media/methods_image36.png" Id="R700156743bcc4111"/><Relationship Type="http://schemas.openxmlformats.org/officeDocument/2006/relationships/image" Target="../media/methods_image619.png" Id="R65eff1770e6f4ac5"/><Relationship Type="http://schemas.openxmlformats.org/officeDocument/2006/relationships/image" Target="../media/methods_image4.png" Id="Rb9c211fa4d714e98"/><Relationship Type="http://schemas.openxmlformats.org/officeDocument/2006/relationships/image" Target="../media/methods_image621.png" Id="R4bbce32fbba441ae"/><Relationship Type="http://schemas.openxmlformats.org/officeDocument/2006/relationships/image" Target="../media/methods_image34.png" Id="Raba3069babcf4cd8"/><Relationship Type="http://schemas.openxmlformats.org/officeDocument/2006/relationships/image" Target="../media/methods_image5.png" Id="Rafa5070da6404d85"/><Relationship Type="http://schemas.openxmlformats.org/officeDocument/2006/relationships/image" Target="../media/methods_image36.png" Id="Rea8f5fd046154d8f"/><Relationship Type="http://schemas.openxmlformats.org/officeDocument/2006/relationships/image" Target="../media/methods_image625.png" Id="Rbd81788ae06f4559"/><Relationship Type="http://schemas.openxmlformats.org/officeDocument/2006/relationships/image" Target="../media/methods_image37.png" Id="R6374954f709b471c"/><Relationship Type="http://schemas.openxmlformats.org/officeDocument/2006/relationships/image" Target="../media/methods_image409.png" Id="R72c3daeb96524494"/><Relationship Type="http://schemas.openxmlformats.org/officeDocument/2006/relationships/image" Target="../media/methods_image481.png" Id="R1ace39838f514186"/><Relationship Type="http://schemas.openxmlformats.org/officeDocument/2006/relationships/image" Target="../media/methods_image482.png" Id="R780d6afbf7954632"/><Relationship Type="http://schemas.openxmlformats.org/officeDocument/2006/relationships/image" Target="../media/methods_image483.png" Id="Rf24b1f1873dd416e"/><Relationship Type="http://schemas.openxmlformats.org/officeDocument/2006/relationships/image" Target="../media/methods_image484.png" Id="R4e2c581a6a3147ae"/><Relationship Type="http://schemas.openxmlformats.org/officeDocument/2006/relationships/image" Target="../media/methods_image632.png" Id="Rfc8593555d774f14"/><Relationship Type="http://schemas.openxmlformats.org/officeDocument/2006/relationships/image" Target="../media/methods_image484.png" Id="Rdf88bd22b1794fd3"/><Relationship Type="http://schemas.openxmlformats.org/officeDocument/2006/relationships/image" Target="../media/methods_image39.png" Id="R12e5b090c34944d8"/><Relationship Type="http://schemas.openxmlformats.org/officeDocument/2006/relationships/image" Target="../media/methods_image635.png" Id="R10ac0b59a29d47a2"/><Relationship Type="http://schemas.openxmlformats.org/officeDocument/2006/relationships/image" Target="../media/methods_image636.png" Id="R8a6bf3b6f96747f6"/><Relationship Type="http://schemas.openxmlformats.org/officeDocument/2006/relationships/image" Target="../media/methods_image637.png" Id="R0ac2794e450d43e9"/><Relationship Type="http://schemas.openxmlformats.org/officeDocument/2006/relationships/image" Target="../media/methods_image638.png" Id="R74a2b3fc0edc4a24"/><Relationship Type="http://schemas.openxmlformats.org/officeDocument/2006/relationships/notesSlide" Target="../notesSlides/methods_notesSlide31.xml" Id="Rae8fd769e75b4859"/><Relationship Id="rIdVectormf00607" Type="http://schemas.openxmlformats.org/officeDocument/2006/relationships/image" Target="../media/methods_mf00001.svg"/><Relationship Id="rIdVectormf00608" Type="http://schemas.openxmlformats.org/officeDocument/2006/relationships/image" Target="../media/methods_mf00002.svg"/><Relationship Id="rIdVectormf00609" Type="http://schemas.openxmlformats.org/officeDocument/2006/relationships/image" Target="../media/methods_mf00027.svg"/><Relationship Id="rIdVectormf00610" Type="http://schemas.openxmlformats.org/officeDocument/2006/relationships/image" Target="../media/methods_mf00004.svg"/><Relationship Id="rIdVectormf00611" Type="http://schemas.openxmlformats.org/officeDocument/2006/relationships/image" Target="../media/methods_mf00029.svg"/><Relationship Id="rIdVectormf00612" Type="http://schemas.openxmlformats.org/officeDocument/2006/relationships/image" Target="../media/methods_mf00005.svg"/><Relationship Id="rIdVectormf00613" Type="http://schemas.openxmlformats.org/officeDocument/2006/relationships/image" Target="../media/methods_mf00031.svg"/><Relationship Id="rIdVectormf00614" Type="http://schemas.openxmlformats.org/officeDocument/2006/relationships/image" Target="../media/methods_mf00032.svg"/><Relationship Id="rIdVectormf00615" Type="http://schemas.openxmlformats.org/officeDocument/2006/relationships/image" Target="../media/methods_mf00004.svg"/><Relationship Id="rIdVectormf00616" Type="http://schemas.openxmlformats.org/officeDocument/2006/relationships/image" Target="../media/methods_mf00034.svg"/><Relationship Id="rIdVectormf00617" Type="http://schemas.openxmlformats.org/officeDocument/2006/relationships/image" Target="../media/methods_mf00005.svg"/><Relationship Id="rIdVectormf00618" Type="http://schemas.openxmlformats.org/officeDocument/2006/relationships/image" Target="../media/methods_mf00036.svg"/><Relationship Id="rIdVectormf00619" Type="http://schemas.openxmlformats.org/officeDocument/2006/relationships/image" Target="../media/methods_mf00619.svg"/><Relationship Id="rIdVectormf00620" Type="http://schemas.openxmlformats.org/officeDocument/2006/relationships/image" Target="../media/methods_mf00004.svg"/><Relationship Id="rIdVectormf00621" Type="http://schemas.openxmlformats.org/officeDocument/2006/relationships/image" Target="../media/methods_mf00621.svg"/><Relationship Id="rIdVectormf00622" Type="http://schemas.openxmlformats.org/officeDocument/2006/relationships/image" Target="../media/methods_mf00034.svg"/><Relationship Id="rIdVectormf00623" Type="http://schemas.openxmlformats.org/officeDocument/2006/relationships/image" Target="../media/methods_mf00005.svg"/><Relationship Id="rIdVectormf00624" Type="http://schemas.openxmlformats.org/officeDocument/2006/relationships/image" Target="../media/methods_mf00036.svg"/><Relationship Id="rIdVectormf00625" Type="http://schemas.openxmlformats.org/officeDocument/2006/relationships/image" Target="../media/methods_mf00625.svg"/><Relationship Id="rIdVectormf00626" Type="http://schemas.openxmlformats.org/officeDocument/2006/relationships/image" Target="../media/methods_mf00037.svg"/><Relationship Id="rIdVectormf00627" Type="http://schemas.openxmlformats.org/officeDocument/2006/relationships/image" Target="../media/methods_mf00409.svg"/><Relationship Id="rIdVectormf00628" Type="http://schemas.openxmlformats.org/officeDocument/2006/relationships/image" Target="../media/methods_mf00481.svg"/><Relationship Id="rIdVectormf00629" Type="http://schemas.openxmlformats.org/officeDocument/2006/relationships/image" Target="../media/methods_mf00482.svg"/><Relationship Id="rIdVectormf00630" Type="http://schemas.openxmlformats.org/officeDocument/2006/relationships/image" Target="../media/methods_mf00483.svg"/><Relationship Id="rIdVectormf00631" Type="http://schemas.openxmlformats.org/officeDocument/2006/relationships/image" Target="../media/methods_mf00484.svg"/><Relationship Id="rIdVectormf00632" Type="http://schemas.openxmlformats.org/officeDocument/2006/relationships/image" Target="../media/methods_mf00632.svg"/><Relationship Id="rIdVectormf00633" Type="http://schemas.openxmlformats.org/officeDocument/2006/relationships/image" Target="../media/methods_mf00484.svg"/><Relationship Id="rIdVectormf00634" Type="http://schemas.openxmlformats.org/officeDocument/2006/relationships/image" Target="../media/methods_mf00039.svg"/><Relationship Id="rIdVectormf00635" Type="http://schemas.openxmlformats.org/officeDocument/2006/relationships/image" Target="../media/methods_mf00635.svg"/><Relationship Id="rIdVectormf00636" Type="http://schemas.openxmlformats.org/officeDocument/2006/relationships/image" Target="../media/methods_mf00636.svg"/><Relationship Id="rIdVectormf00637" Type="http://schemas.openxmlformats.org/officeDocument/2006/relationships/image" Target="../media/methods_mf00637.svg"/><Relationship Id="rIdVectormf00638" Type="http://schemas.openxmlformats.org/officeDocument/2006/relationships/image" Target="../media/methods_mf00638.svg"/><Relationship Id="rIdmethods_Link138" Type="http://schemas.openxmlformats.org/officeDocument/2006/relationships/slide" Target="methods_slide21.xml"/><Relationship Id="rIdmethods_Link139" Type="http://schemas.openxmlformats.org/officeDocument/2006/relationships/slide" Target="methods_slide31.xml"/><Relationship Id="rIdmethods_Link140" Type="http://schemas.openxmlformats.org/officeDocument/2006/relationships/slide" Target="methods_slide32.xml"/><Relationship Id="rIdmethods_Link141" Type="http://schemas.openxmlformats.org/officeDocument/2006/relationships/slide" Target="methods_slide33.xml"/></Relationships>
</file>

<file path=ppt/slides/_rels/methods_slide32.xml.rels><?xml version='1.0' encoding='UTF-8' standalone='yes'?>
<Relationships xmlns="http://schemas.openxmlformats.org/package/2006/relationships"><Relationship Type="http://schemas.openxmlformats.org/officeDocument/2006/relationships/slideLayout" Target="../slideLayouts/methods_slideLayout1.xml" Id="R40c32d0f02f24075"/><Relationship Type="http://schemas.openxmlformats.org/officeDocument/2006/relationships/image" Target="../media/methods_image27.png" Id="Rc10b61fb5f0949a3"/><Relationship Type="http://schemas.openxmlformats.org/officeDocument/2006/relationships/image" Target="../media/methods_image2.png" Id="R837707c042304ec3"/><Relationship Type="http://schemas.openxmlformats.org/officeDocument/2006/relationships/image" Target="../media/methods_image.png" Id="R89a2bcd882b84d0e"/><Relationship Type="http://schemas.openxmlformats.org/officeDocument/2006/relationships/image" Target="../media/methods_image4.png" Id="Re111a945e51d4964"/><Relationship Type="http://schemas.openxmlformats.org/officeDocument/2006/relationships/image" Target="../media/methods_image621.png" Id="R98f7c4d8325f45a2"/><Relationship Type="http://schemas.openxmlformats.org/officeDocument/2006/relationships/image" Target="../media/methods_image34.png" Id="R1b7767b405304933"/><Relationship Type="http://schemas.openxmlformats.org/officeDocument/2006/relationships/image" Target="../media/methods_image5.png" Id="R0dd6ac2e11414770"/><Relationship Type="http://schemas.openxmlformats.org/officeDocument/2006/relationships/image" Target="../media/methods_image36.png" Id="Ra098bdf5a7b1428b"/><Relationship Type="http://schemas.openxmlformats.org/officeDocument/2006/relationships/image" Target="../media/methods_image625.png" Id="R824dd028ddd2456a"/><Relationship Type="http://schemas.openxmlformats.org/officeDocument/2006/relationships/image" Target="../media/methods_image37.png" Id="Ra29a6c2ef809479a"/><Relationship Type="http://schemas.openxmlformats.org/officeDocument/2006/relationships/image" Target="../media/methods_image4.png" Id="R5cad7025dfbe4a2f"/><Relationship Type="http://schemas.openxmlformats.org/officeDocument/2006/relationships/image" Target="../media/methods_image50.png" Id="R3a862eecdea74115"/><Relationship Type="http://schemas.openxmlformats.org/officeDocument/2006/relationships/image" Target="../media/methods_image5.png" Id="Ra9cfe0365fe64e50"/><Relationship Type="http://schemas.openxmlformats.org/officeDocument/2006/relationships/image" Target="../media/methods_image52.png" Id="R659945ec7add4fae"/><Relationship Type="http://schemas.openxmlformats.org/officeDocument/2006/relationships/image" Target="../media/methods_image653.png" Id="Rd5e03ba421d04e8a"/><Relationship Type="http://schemas.openxmlformats.org/officeDocument/2006/relationships/image" Target="../media/methods_image4.png" Id="Raeb00f8a3e4d4f97"/><Relationship Type="http://schemas.openxmlformats.org/officeDocument/2006/relationships/image" Target="../media/methods_image50.png" Id="R6eba4a1f935143ff"/><Relationship Type="http://schemas.openxmlformats.org/officeDocument/2006/relationships/image" Target="../media/methods_image5.png" Id="R27857b4f79a14838"/><Relationship Type="http://schemas.openxmlformats.org/officeDocument/2006/relationships/image" Target="../media/methods_image52.png" Id="Rcdd0d833c8a74795"/><Relationship Type="http://schemas.openxmlformats.org/officeDocument/2006/relationships/image" Target="../media/methods_image658.png" Id="R1e13857b85aa46c8"/><Relationship Type="http://schemas.openxmlformats.org/officeDocument/2006/relationships/image" Target="../media/methods_image4.png" Id="Rf2fe728b0c024e42"/><Relationship Type="http://schemas.openxmlformats.org/officeDocument/2006/relationships/image" Target="../media/methods_image50.png" Id="R114b2d0207b84004"/><Relationship Type="http://schemas.openxmlformats.org/officeDocument/2006/relationships/image" Target="../media/methods_image5.png" Id="Rb3707344794e4a68"/><Relationship Type="http://schemas.openxmlformats.org/officeDocument/2006/relationships/image" Target="../media/methods_image52.png" Id="R9f5dbc50610243c9"/><Relationship Type="http://schemas.openxmlformats.org/officeDocument/2006/relationships/image" Target="../media/methods_image500.png" Id="Rd844c55b35844366"/><Relationship Type="http://schemas.openxmlformats.org/officeDocument/2006/relationships/image" Target="../media/methods_image484.png" Id="Rdf851d496ed2447e"/><Relationship Type="http://schemas.openxmlformats.org/officeDocument/2006/relationships/image" Target="../media/methods_image507.png" Id="R4ff3574af1fa4d4e"/><Relationship Type="http://schemas.openxmlformats.org/officeDocument/2006/relationships/image" Target="../media/methods_image508.png" Id="R4098d43f93b44e42"/><Relationship Type="http://schemas.openxmlformats.org/officeDocument/2006/relationships/image" Target="../media/methods_image100.png" Id="R590d74e75a6547a3"/><Relationship Type="http://schemas.openxmlformats.org/officeDocument/2006/relationships/image" Target="../media/methods_image510.png" Id="R8cb9b157b079418a"/><Relationship Type="http://schemas.openxmlformats.org/officeDocument/2006/relationships/image" Target="../media/methods_image636.png" Id="R170e57b2093741d3"/><Relationship Type="http://schemas.openxmlformats.org/officeDocument/2006/relationships/image" Target="../media/methods_image670.png" Id="Ra05c0b3702b24ed0"/><Relationship Type="http://schemas.openxmlformats.org/officeDocument/2006/relationships/image" Target="../media/methods_image671.png" Id="Re7eee37bae0e4cdc"/><Relationship Type="http://schemas.openxmlformats.org/officeDocument/2006/relationships/image" Target="../media/methods_image672.png" Id="Rf385284ed1eb48bb"/><Relationship Type="http://schemas.openxmlformats.org/officeDocument/2006/relationships/notesSlide" Target="../notesSlides/methods_notesSlide32.xml" Id="Ra45f9286a921413f"/><Relationship Id="rIdVectormf00639" Type="http://schemas.openxmlformats.org/officeDocument/2006/relationships/image" Target="../media/methods_mf00027.svg"/><Relationship Id="rIdVectormf00640" Type="http://schemas.openxmlformats.org/officeDocument/2006/relationships/image" Target="../media/methods_mf00002.svg"/><Relationship Id="rIdVectormf00641" Type="http://schemas.openxmlformats.org/officeDocument/2006/relationships/image" Target="../media/methods_mf00001.svg"/><Relationship Id="rIdVectormf00642" Type="http://schemas.openxmlformats.org/officeDocument/2006/relationships/image" Target="../media/methods_mf00004.svg"/><Relationship Id="rIdVectormf00643" Type="http://schemas.openxmlformats.org/officeDocument/2006/relationships/image" Target="../media/methods_mf00621.svg"/><Relationship Id="rIdVectormf00644" Type="http://schemas.openxmlformats.org/officeDocument/2006/relationships/image" Target="../media/methods_mf00034.svg"/><Relationship Id="rIdVectormf00645" Type="http://schemas.openxmlformats.org/officeDocument/2006/relationships/image" Target="../media/methods_mf00005.svg"/><Relationship Id="rIdVectormf00646" Type="http://schemas.openxmlformats.org/officeDocument/2006/relationships/image" Target="../media/methods_mf00036.svg"/><Relationship Id="rIdVectormf00647" Type="http://schemas.openxmlformats.org/officeDocument/2006/relationships/image" Target="../media/methods_mf00625.svg"/><Relationship Id="rIdVectormf00648" Type="http://schemas.openxmlformats.org/officeDocument/2006/relationships/image" Target="../media/methods_mf00037.svg"/><Relationship Id="rIdVectormf00649" Type="http://schemas.openxmlformats.org/officeDocument/2006/relationships/image" Target="../media/methods_mf00004.svg"/><Relationship Id="rIdVectormf00650" Type="http://schemas.openxmlformats.org/officeDocument/2006/relationships/image" Target="../media/methods_mf00050.svg"/><Relationship Id="rIdVectormf00651" Type="http://schemas.openxmlformats.org/officeDocument/2006/relationships/image" Target="../media/methods_mf00005.svg"/><Relationship Id="rIdVectormf00652" Type="http://schemas.openxmlformats.org/officeDocument/2006/relationships/image" Target="../media/methods_mf00052.svg"/><Relationship Id="rIdVectormf00653" Type="http://schemas.openxmlformats.org/officeDocument/2006/relationships/image" Target="../media/methods_mf00653.svg"/><Relationship Id="rIdVectormf00654" Type="http://schemas.openxmlformats.org/officeDocument/2006/relationships/image" Target="../media/methods_mf00004.svg"/><Relationship Id="rIdVectormf00655" Type="http://schemas.openxmlformats.org/officeDocument/2006/relationships/image" Target="../media/methods_mf00050.svg"/><Relationship Id="rIdVectormf00656" Type="http://schemas.openxmlformats.org/officeDocument/2006/relationships/image" Target="../media/methods_mf00005.svg"/><Relationship Id="rIdVectormf00657" Type="http://schemas.openxmlformats.org/officeDocument/2006/relationships/image" Target="../media/methods_mf00052.svg"/><Relationship Id="rIdVectormf00658" Type="http://schemas.openxmlformats.org/officeDocument/2006/relationships/image" Target="../media/methods_mf00658.svg"/><Relationship Id="rIdVectormf00659" Type="http://schemas.openxmlformats.org/officeDocument/2006/relationships/image" Target="../media/methods_mf00004.svg"/><Relationship Id="rIdVectormf00660" Type="http://schemas.openxmlformats.org/officeDocument/2006/relationships/image" Target="../media/methods_mf00050.svg"/><Relationship Id="rIdVectormf00661" Type="http://schemas.openxmlformats.org/officeDocument/2006/relationships/image" Target="../media/methods_mf00005.svg"/><Relationship Id="rIdVectormf00662" Type="http://schemas.openxmlformats.org/officeDocument/2006/relationships/image" Target="../media/methods_mf00052.svg"/><Relationship Id="rIdVectormf00663" Type="http://schemas.openxmlformats.org/officeDocument/2006/relationships/image" Target="../media/methods_mf00500.svg"/><Relationship Id="rIdVectormf00664" Type="http://schemas.openxmlformats.org/officeDocument/2006/relationships/image" Target="../media/methods_mf00484.svg"/><Relationship Id="rIdVectormf00665" Type="http://schemas.openxmlformats.org/officeDocument/2006/relationships/image" Target="../media/methods_mf00507.svg"/><Relationship Id="rIdVectormf00666" Type="http://schemas.openxmlformats.org/officeDocument/2006/relationships/image" Target="../media/methods_mf00508.svg"/><Relationship Id="rIdVectormf00667" Type="http://schemas.openxmlformats.org/officeDocument/2006/relationships/image" Target="../media/methods_mf00100.svg"/><Relationship Id="rIdVectormf00668" Type="http://schemas.openxmlformats.org/officeDocument/2006/relationships/image" Target="../media/methods_mf00510.svg"/><Relationship Id="rIdVectormf00669" Type="http://schemas.openxmlformats.org/officeDocument/2006/relationships/image" Target="../media/methods_mf00636.svg"/><Relationship Id="rIdVectormf00670" Type="http://schemas.openxmlformats.org/officeDocument/2006/relationships/image" Target="../media/methods_mf00670.svg"/><Relationship Id="rIdVectormf00671" Type="http://schemas.openxmlformats.org/officeDocument/2006/relationships/image" Target="../media/methods_mf00671.svg"/><Relationship Id="rIdVectormf00672" Type="http://schemas.openxmlformats.org/officeDocument/2006/relationships/image" Target="../media/methods_mf00672.svg"/><Relationship Id="rIdmethods_Link142" Type="http://schemas.openxmlformats.org/officeDocument/2006/relationships/slide" Target="methods_slide21.xml"/><Relationship Id="rIdmethods_Link143" Type="http://schemas.openxmlformats.org/officeDocument/2006/relationships/slide" Target="methods_slide31.xml"/><Relationship Id="rIdmethods_Link144" Type="http://schemas.openxmlformats.org/officeDocument/2006/relationships/slide" Target="methods_slide32.xml"/><Relationship Id="rIdmethods_Link145" Type="http://schemas.openxmlformats.org/officeDocument/2006/relationships/slide" Target="methods_slide33.xml"/></Relationships>
</file>

<file path=ppt/slides/_rels/methods_slide33.xml.rels><?xml version='1.0' encoding='UTF-8' standalone='yes'?>
<Relationships xmlns="http://schemas.openxmlformats.org/package/2006/relationships"><Relationship Type="http://schemas.openxmlformats.org/officeDocument/2006/relationships/slideLayout" Target="../slideLayouts/methods_slideLayout1.xml" Id="R108cae5f90004ea5"/><Relationship Type="http://schemas.openxmlformats.org/officeDocument/2006/relationships/image" Target="../media/methods_image27.png" Id="R4b7798d7f5104e60"/><Relationship Type="http://schemas.openxmlformats.org/officeDocument/2006/relationships/image" Target="../media/methods_image2.png" Id="R347f8c52da9c45d4"/><Relationship Type="http://schemas.openxmlformats.org/officeDocument/2006/relationships/image" Target="../media/methods_image.png" Id="Rffa30d3c3a7a4c4b"/><Relationship Type="http://schemas.openxmlformats.org/officeDocument/2006/relationships/image" Target="../media/methods_image4.png" Id="R53647566e36942a1"/><Relationship Type="http://schemas.openxmlformats.org/officeDocument/2006/relationships/image" Target="../media/methods_image50.png" Id="R39a5fb9b468c425f"/><Relationship Type="http://schemas.openxmlformats.org/officeDocument/2006/relationships/image" Target="../media/methods_image5.png" Id="Rcbfa5ea0349f47a2"/><Relationship Type="http://schemas.openxmlformats.org/officeDocument/2006/relationships/image" Target="../media/methods_image52.png" Id="Rfcaa0d9bfd8b4962"/><Relationship Type="http://schemas.openxmlformats.org/officeDocument/2006/relationships/image" Target="../media/methods_image500.png" Id="Rca93dd281a91497c"/><Relationship Type="http://schemas.openxmlformats.org/officeDocument/2006/relationships/image" Target="../media/methods_image4.png" Id="R8425c9644a9d4424"/><Relationship Type="http://schemas.openxmlformats.org/officeDocument/2006/relationships/image" Target="../media/methods_image29.png" Id="Rc27d3bb04ab7497a"/><Relationship Type="http://schemas.openxmlformats.org/officeDocument/2006/relationships/image" Target="../media/methods_image5.png" Id="R740fbd2e5cab4a0a"/><Relationship Type="http://schemas.openxmlformats.org/officeDocument/2006/relationships/image" Target="../media/methods_image31.png" Id="R0a29a4beb4dc4211"/><Relationship Type="http://schemas.openxmlformats.org/officeDocument/2006/relationships/image" Target="../media/methods_image505.png" Id="R97c42f6958284d84"/><Relationship Type="http://schemas.openxmlformats.org/officeDocument/2006/relationships/image" Target="../media/methods_image4.png" Id="Rfee1770106944a55"/><Relationship Type="http://schemas.openxmlformats.org/officeDocument/2006/relationships/image" Target="../media/methods_image29.png" Id="R61a14d7cd9584dd7"/><Relationship Type="http://schemas.openxmlformats.org/officeDocument/2006/relationships/image" Target="../media/methods_image5.png" Id="Rf1cc00ba7bfc472d"/><Relationship Type="http://schemas.openxmlformats.org/officeDocument/2006/relationships/image" Target="../media/methods_image31.png" Id="Re7d5d67436234ed3"/><Relationship Type="http://schemas.openxmlformats.org/officeDocument/2006/relationships/image" Target="../media/methods_image32.png" Id="R20f450dabc0b4462"/><Relationship Type="http://schemas.openxmlformats.org/officeDocument/2006/relationships/image" Target="../media/methods_image510.png" Id="Rc34deba34bd84d1b"/><Relationship Type="http://schemas.openxmlformats.org/officeDocument/2006/relationships/image" Target="../media/methods_image511.png" Id="R6f21949fda544215"/><Relationship Type="http://schemas.openxmlformats.org/officeDocument/2006/relationships/image" Target="../media/methods_image510.png" Id="R0eef4d96802c49c8"/><Relationship Type="http://schemas.openxmlformats.org/officeDocument/2006/relationships/image" Target="../media/methods_image694.png" Id="Re6e5323085ed48f2"/><Relationship Type="http://schemas.openxmlformats.org/officeDocument/2006/relationships/image" Target="../media/methods_image409.png" Id="R6e16adffd8f84c3e"/><Relationship Type="http://schemas.openxmlformats.org/officeDocument/2006/relationships/image" Target="../media/methods_image457.png" Id="R880c52f5dc674ead"/><Relationship Type="http://schemas.openxmlformats.org/officeDocument/2006/relationships/image" Target="../media/methods_image.png" Id="R4d0251c1d5954ca0"/><Relationship Type="http://schemas.openxmlformats.org/officeDocument/2006/relationships/image" Target="../media/methods_image698.png" Id="R5b36a73470974a65"/><Relationship Type="http://schemas.openxmlformats.org/officeDocument/2006/relationships/image" Target="../media/methods_image670.png" Id="Rada8e19aa15c47ac"/><Relationship Type="http://schemas.openxmlformats.org/officeDocument/2006/relationships/image" Target="../media/methods_image700.png" Id="R0176cb6b687b4f64"/><Relationship Type="http://schemas.openxmlformats.org/officeDocument/2006/relationships/image" Target="../media/methods_image701.png" Id="Re2a4b9fda3724f87"/><Relationship Type="http://schemas.openxmlformats.org/officeDocument/2006/relationships/image" Target="../media/methods_image702.png" Id="R0867de2b0b1548d7"/><Relationship Type="http://schemas.openxmlformats.org/officeDocument/2006/relationships/notesSlide" Target="../notesSlides/methods_notesSlide33.xml" Id="Rf6561c139fbc4863"/><Relationship Id="rIdVectormf00673" Type="http://schemas.openxmlformats.org/officeDocument/2006/relationships/image" Target="../media/methods_mf00027.svg"/><Relationship Id="rIdVectormf00674" Type="http://schemas.openxmlformats.org/officeDocument/2006/relationships/image" Target="../media/methods_mf00002.svg"/><Relationship Id="rIdVectormf00675" Type="http://schemas.openxmlformats.org/officeDocument/2006/relationships/image" Target="../media/methods_mf00001.svg"/><Relationship Id="rIdVectormf00676" Type="http://schemas.openxmlformats.org/officeDocument/2006/relationships/image" Target="../media/methods_mf00004.svg"/><Relationship Id="rIdVectormf00677" Type="http://schemas.openxmlformats.org/officeDocument/2006/relationships/image" Target="../media/methods_mf00050.svg"/><Relationship Id="rIdVectormf00678" Type="http://schemas.openxmlformats.org/officeDocument/2006/relationships/image" Target="../media/methods_mf00005.svg"/><Relationship Id="rIdVectormf00679" Type="http://schemas.openxmlformats.org/officeDocument/2006/relationships/image" Target="../media/methods_mf00052.svg"/><Relationship Id="rIdVectormf00680" Type="http://schemas.openxmlformats.org/officeDocument/2006/relationships/image" Target="../media/methods_mf00500.svg"/><Relationship Id="rIdVectormf00681" Type="http://schemas.openxmlformats.org/officeDocument/2006/relationships/image" Target="../media/methods_mf00004.svg"/><Relationship Id="rIdVectormf00682" Type="http://schemas.openxmlformats.org/officeDocument/2006/relationships/image" Target="../media/methods_mf00029.svg"/><Relationship Id="rIdVectormf00683" Type="http://schemas.openxmlformats.org/officeDocument/2006/relationships/image" Target="../media/methods_mf00005.svg"/><Relationship Id="rIdVectormf00684" Type="http://schemas.openxmlformats.org/officeDocument/2006/relationships/image" Target="../media/methods_mf00031.svg"/><Relationship Id="rIdVectormf00685" Type="http://schemas.openxmlformats.org/officeDocument/2006/relationships/image" Target="../media/methods_mf00505.svg"/><Relationship Id="rIdVectormf00686" Type="http://schemas.openxmlformats.org/officeDocument/2006/relationships/image" Target="../media/methods_mf00004.svg"/><Relationship Id="rIdVectormf00687" Type="http://schemas.openxmlformats.org/officeDocument/2006/relationships/image" Target="../media/methods_mf00029.svg"/><Relationship Id="rIdVectormf00688" Type="http://schemas.openxmlformats.org/officeDocument/2006/relationships/image" Target="../media/methods_mf00005.svg"/><Relationship Id="rIdVectormf00689" Type="http://schemas.openxmlformats.org/officeDocument/2006/relationships/image" Target="../media/methods_mf00031.svg"/><Relationship Id="rIdVectormf00690" Type="http://schemas.openxmlformats.org/officeDocument/2006/relationships/image" Target="../media/methods_mf00032.svg"/><Relationship Id="rIdVectormf00691" Type="http://schemas.openxmlformats.org/officeDocument/2006/relationships/image" Target="../media/methods_mf00510.svg"/><Relationship Id="rIdVectormf00692" Type="http://schemas.openxmlformats.org/officeDocument/2006/relationships/image" Target="../media/methods_mf00511.svg"/><Relationship Id="rIdVectormf00693" Type="http://schemas.openxmlformats.org/officeDocument/2006/relationships/image" Target="../media/methods_mf00510.svg"/><Relationship Id="rIdVectormf00694" Type="http://schemas.openxmlformats.org/officeDocument/2006/relationships/image" Target="../media/methods_mf00694.svg"/><Relationship Id="rIdVectormf00695" Type="http://schemas.openxmlformats.org/officeDocument/2006/relationships/image" Target="../media/methods_mf00409.svg"/><Relationship Id="rIdVectormf00696" Type="http://schemas.openxmlformats.org/officeDocument/2006/relationships/image" Target="../media/methods_mf00457.svg"/><Relationship Id="rIdVectormf00697" Type="http://schemas.openxmlformats.org/officeDocument/2006/relationships/image" Target="../media/methods_mf00534.svg"/><Relationship Id="rIdVectormf00698" Type="http://schemas.openxmlformats.org/officeDocument/2006/relationships/image" Target="../media/methods_mf00698.svg"/><Relationship Id="rIdVectormf00699" Type="http://schemas.openxmlformats.org/officeDocument/2006/relationships/image" Target="../media/methods_mf00670.svg"/><Relationship Id="rIdVectormf00700" Type="http://schemas.openxmlformats.org/officeDocument/2006/relationships/image" Target="../media/methods_mf00700.svg"/><Relationship Id="rIdVectormf00701" Type="http://schemas.openxmlformats.org/officeDocument/2006/relationships/image" Target="../media/methods_mf00701.svg"/><Relationship Id="rIdVectormf00702" Type="http://schemas.openxmlformats.org/officeDocument/2006/relationships/image" Target="../media/methods_mf00702.svg"/><Relationship Id="rIdmethods_Link146" Type="http://schemas.openxmlformats.org/officeDocument/2006/relationships/slide" Target="methods_slide21.xml"/><Relationship Id="rIdmethods_Link147" Type="http://schemas.openxmlformats.org/officeDocument/2006/relationships/slide" Target="methods_slide31.xml"/><Relationship Id="rIdmethods_Link148" Type="http://schemas.openxmlformats.org/officeDocument/2006/relationships/slide" Target="methods_slide32.xml"/><Relationship Id="rIdmethods_Link149" Type="http://schemas.openxmlformats.org/officeDocument/2006/relationships/slide" Target="methods_slide33.xml"/></Relationships>
</file>

<file path=ppt/slides/_rels/methods_slide34.xml.rels><?xml version='1.0' encoding='UTF-8' standalone='yes'?>
<Relationships xmlns="http://schemas.openxmlformats.org/package/2006/relationships"><Relationship Type="http://schemas.openxmlformats.org/officeDocument/2006/relationships/slideLayout" Target="../slideLayouts/methods_slideLayout1.xml" Id="Rc74cbc19c23343aa"/><Relationship Type="http://schemas.openxmlformats.org/officeDocument/2006/relationships/image" Target="../media/methods_image.png" Id="Ra32a46047fbc4abc"/><Relationship Type="http://schemas.openxmlformats.org/officeDocument/2006/relationships/image" Target="../media/methods_image2.png" Id="R6880690043294731"/><Relationship Type="http://schemas.openxmlformats.org/officeDocument/2006/relationships/image" Target="../media/methods_image27.png" Id="R7e6671f4943943b6"/><Relationship Type="http://schemas.openxmlformats.org/officeDocument/2006/relationships/image" Target="../media/methods_image706.png" Id="R2adcb8adb5eb4765"/><Relationship Type="http://schemas.openxmlformats.org/officeDocument/2006/relationships/image" Target="../media/methods_image247.png" Id="Rb9715512380c422d"/><Relationship Type="http://schemas.openxmlformats.org/officeDocument/2006/relationships/image" Target="../media/methods_image249.png" Id="R6787e6f210f64f98"/><Relationship Type="http://schemas.openxmlformats.org/officeDocument/2006/relationships/image" Target="../media/methods_image247.png" Id="R92efa912b590417a"/><Relationship Type="http://schemas.openxmlformats.org/officeDocument/2006/relationships/image" Target="../media/methods_image249.png" Id="R405ea241e2a64e55"/><Relationship Type="http://schemas.openxmlformats.org/officeDocument/2006/relationships/notesSlide" Target="../notesSlides/methods_notesSlide34.xml" Id="R3e378ae551194e6c"/><Relationship Id="rIdVectormf00703" Type="http://schemas.openxmlformats.org/officeDocument/2006/relationships/image" Target="../media/methods_mf00001.svg"/><Relationship Id="rIdVectormf00704" Type="http://schemas.openxmlformats.org/officeDocument/2006/relationships/image" Target="../media/methods_mf00002.svg"/><Relationship Id="rIdVectormf00705" Type="http://schemas.openxmlformats.org/officeDocument/2006/relationships/image" Target="../media/methods_mf00027.svg"/><Relationship Id="rIdVectormf00706" Type="http://schemas.openxmlformats.org/officeDocument/2006/relationships/image" Target="../media/methods_mf00706.svg"/><Relationship Id="rIdVectormf00707" Type="http://schemas.openxmlformats.org/officeDocument/2006/relationships/image" Target="../media/methods_mf00247.svg"/><Relationship Id="rIdVectormf00708" Type="http://schemas.openxmlformats.org/officeDocument/2006/relationships/image" Target="../media/methods_mf00249.svg"/><Relationship Id="rIdVectormf00709" Type="http://schemas.openxmlformats.org/officeDocument/2006/relationships/image" Target="../media/methods_mf00247.svg"/><Relationship Id="rIdVectormf00710" Type="http://schemas.openxmlformats.org/officeDocument/2006/relationships/image" Target="../media/methods_mf00249.svg"/><Relationship Id="rIdmethods_Link150" Type="http://schemas.openxmlformats.org/officeDocument/2006/relationships/slide" Target="methods_slide21.xml"/><Relationship Id="rIdmethods_Link151" Type="http://schemas.openxmlformats.org/officeDocument/2006/relationships/slide" Target="methods_slide22.xml"/><Relationship Id="rIdmethods_Link152" Type="http://schemas.openxmlformats.org/officeDocument/2006/relationships/slide" Target="methods_slide30.xml"/><Relationship Id="rIdmethods_Link153" Type="http://schemas.openxmlformats.org/officeDocument/2006/relationships/slide" Target="methods_slide35.xml"/></Relationships>
</file>

<file path=ppt/slides/_rels/methods_slide35.xml.rels><?xml version='1.0' encoding='UTF-8' standalone='yes'?>
<Relationships xmlns="http://schemas.openxmlformats.org/package/2006/relationships"><Relationship Type="http://schemas.openxmlformats.org/officeDocument/2006/relationships/slideLayout" Target="../slideLayouts/methods_slideLayout1.xml" Id="R3c495e13f5494bc8"/><Relationship Type="http://schemas.openxmlformats.org/officeDocument/2006/relationships/image" Target="../media/methods_image.png" Id="R52bc08a100a2410d"/><Relationship Type="http://schemas.openxmlformats.org/officeDocument/2006/relationships/image" Target="../media/methods_image2.png" Id="R2e71353bb6ff47f1"/><Relationship Type="http://schemas.openxmlformats.org/officeDocument/2006/relationships/image" Target="../media/methods_image27.png" Id="R941962fbffd74071"/><Relationship Type="http://schemas.openxmlformats.org/officeDocument/2006/relationships/image" Target="../media/methods_image706.png" Id="Raa2d91634fbb4639"/><Relationship Type="http://schemas.openxmlformats.org/officeDocument/2006/relationships/image" Target="../media/methods_image247.png" Id="Rf5f4c3f419064ef8"/><Relationship Type="http://schemas.openxmlformats.org/officeDocument/2006/relationships/image" Target="../media/methods_image716.png" Id="Ra4d91bfc387f4370"/><Relationship Type="http://schemas.openxmlformats.org/officeDocument/2006/relationships/image" Target="../media/methods_image717.png" Id="R73ffd831646c44c0"/><Relationship Type="http://schemas.openxmlformats.org/officeDocument/2006/relationships/image" Target="../media/methods_image249.png" Id="R7b44c206b3fe4697"/><Relationship Type="http://schemas.openxmlformats.org/officeDocument/2006/relationships/image" Target="../media/methods_image719.png" Id="Rb59e12024e4440ee"/><Relationship Type="http://schemas.openxmlformats.org/officeDocument/2006/relationships/image" Target="../media/methods_image720.png" Id="R715da286dfe54a04"/><Relationship Type="http://schemas.openxmlformats.org/officeDocument/2006/relationships/image" Target="../media/methods_image721.png" Id="R69d83a9533624e18"/><Relationship Type="http://schemas.openxmlformats.org/officeDocument/2006/relationships/image" Target="../media/methods_image247.png" Id="R575729765526458b"/><Relationship Type="http://schemas.openxmlformats.org/officeDocument/2006/relationships/image" Target="../media/methods_image716.png" Id="R94529271d5164759"/><Relationship Type="http://schemas.openxmlformats.org/officeDocument/2006/relationships/image" Target="../media/methods_image249.png" Id="R2be4190a74a74319"/><Relationship Type="http://schemas.openxmlformats.org/officeDocument/2006/relationships/image" Target="../media/methods_image720.png" Id="Rca3d8401c33b4f77"/><Relationship Type="http://schemas.openxmlformats.org/officeDocument/2006/relationships/image" Target="../media/methods_image726.png" Id="R5d15900ec37a47d7"/><Relationship Type="http://schemas.openxmlformats.org/officeDocument/2006/relationships/image" Target="../media/methods_image727.png" Id="Rb071b9ab30534405"/><Relationship Type="http://schemas.openxmlformats.org/officeDocument/2006/relationships/image" Target="../media/methods_image728.png" Id="R339d5dec29d84f1c"/><Relationship Type="http://schemas.openxmlformats.org/officeDocument/2006/relationships/image" Target="../media/methods_image729.png" Id="Rae19e07bc62543d4"/><Relationship Type="http://schemas.openxmlformats.org/officeDocument/2006/relationships/image" Target="../media/methods_image730.png" Id="R118b5829fcae440e"/><Relationship Type="http://schemas.openxmlformats.org/officeDocument/2006/relationships/notesSlide" Target="../notesSlides/methods_notesSlide35.xml" Id="R5d5d719105bc4fab"/><Relationship Id="rIdVectormf00711" Type="http://schemas.openxmlformats.org/officeDocument/2006/relationships/image" Target="../media/methods_mf00001.svg"/><Relationship Id="rIdVectormf00712" Type="http://schemas.openxmlformats.org/officeDocument/2006/relationships/image" Target="../media/methods_mf00002.svg"/><Relationship Id="rIdVectormf00713" Type="http://schemas.openxmlformats.org/officeDocument/2006/relationships/image" Target="../media/methods_mf00027.svg"/><Relationship Id="rIdVectormf00714" Type="http://schemas.openxmlformats.org/officeDocument/2006/relationships/image" Target="../media/methods_mf00706.svg"/><Relationship Id="rIdVectormf00715" Type="http://schemas.openxmlformats.org/officeDocument/2006/relationships/image" Target="../media/methods_mf00247.svg"/><Relationship Id="rIdVectormf00716" Type="http://schemas.openxmlformats.org/officeDocument/2006/relationships/image" Target="../media/methods_mf00716.svg"/><Relationship Id="rIdVectormf00717" Type="http://schemas.openxmlformats.org/officeDocument/2006/relationships/image" Target="../media/methods_mf00717.svg"/><Relationship Id="rIdVectormf00718" Type="http://schemas.openxmlformats.org/officeDocument/2006/relationships/image" Target="../media/methods_mf00249.svg"/><Relationship Id="rIdVectormf00719" Type="http://schemas.openxmlformats.org/officeDocument/2006/relationships/image" Target="../media/methods_mf00719.svg"/><Relationship Id="rIdVectormf00720" Type="http://schemas.openxmlformats.org/officeDocument/2006/relationships/image" Target="../media/methods_mf00720.svg"/><Relationship Id="rIdVectormf00721" Type="http://schemas.openxmlformats.org/officeDocument/2006/relationships/image" Target="../media/methods_mf00721.svg"/><Relationship Id="rIdVectormf00722" Type="http://schemas.openxmlformats.org/officeDocument/2006/relationships/image" Target="../media/methods_mf00247.svg"/><Relationship Id="rIdVectormf00723" Type="http://schemas.openxmlformats.org/officeDocument/2006/relationships/image" Target="../media/methods_mf00716.svg"/><Relationship Id="rIdVectormf00724" Type="http://schemas.openxmlformats.org/officeDocument/2006/relationships/image" Target="../media/methods_mf00249.svg"/><Relationship Id="rIdVectormf00725" Type="http://schemas.openxmlformats.org/officeDocument/2006/relationships/image" Target="../media/methods_mf00720.svg"/><Relationship Id="rIdVectormf00726" Type="http://schemas.openxmlformats.org/officeDocument/2006/relationships/image" Target="../media/methods_mf00726.svg"/><Relationship Id="rIdVectormf00727" Type="http://schemas.openxmlformats.org/officeDocument/2006/relationships/image" Target="../media/methods_mf00727.svg"/><Relationship Id="rIdVectormf00728" Type="http://schemas.openxmlformats.org/officeDocument/2006/relationships/image" Target="../media/methods_mf00728.svg"/><Relationship Id="rIdVectormf00729" Type="http://schemas.openxmlformats.org/officeDocument/2006/relationships/image" Target="../media/methods_mf00729.svg"/><Relationship Id="rIdVectormf00730" Type="http://schemas.openxmlformats.org/officeDocument/2006/relationships/image" Target="../media/methods_mf00730.svg"/><Relationship Id="rIdmethods_Link154" Type="http://schemas.openxmlformats.org/officeDocument/2006/relationships/slide" Target="methods_slide21.xml"/><Relationship Id="rIdmethods_Link155" Type="http://schemas.openxmlformats.org/officeDocument/2006/relationships/slide" Target="methods_slide22.xml"/><Relationship Id="rIdmethods_Link156" Type="http://schemas.openxmlformats.org/officeDocument/2006/relationships/slide" Target="methods_slide30.xml"/><Relationship Id="rIdmethods_Link157" Type="http://schemas.openxmlformats.org/officeDocument/2006/relationships/slide" Target="methods_slide35.xml"/></Relationships>
</file>

<file path=ppt/slides/_rels/methods_slide36.xml.rels><?xml version='1.0' encoding='UTF-8' standalone='yes'?>
<Relationships xmlns="http://schemas.openxmlformats.org/package/2006/relationships"><Relationship Type="http://schemas.openxmlformats.org/officeDocument/2006/relationships/slideLayout" Target="../slideLayouts/methods_slideLayout1.xml" Id="Rd95afa8fd9ab4d3a"/><Relationship Type="http://schemas.openxmlformats.org/officeDocument/2006/relationships/image" Target="../media/methods_image731.png" Id="R7bdfed4573be41b5"/><Relationship Type="http://schemas.openxmlformats.org/officeDocument/2006/relationships/image" Target="../media/methods_image2.png" Id="Re456a2eac57f4352"/><Relationship Type="http://schemas.openxmlformats.org/officeDocument/2006/relationships/image" Target="../media/methods_image733.png" Id="Rcb15f5265c354bc4"/><Relationship Type="http://schemas.openxmlformats.org/officeDocument/2006/relationships/image" Target="../media/methods_image457.png" Id="R6f5d1e51f76b43ae"/><Relationship Type="http://schemas.openxmlformats.org/officeDocument/2006/relationships/image" Target="../media/methods_image735.png" Id="R52dd0dd1ec3f434c"/><Relationship Type="http://schemas.openxmlformats.org/officeDocument/2006/relationships/image" Target="../media/methods_image457.png" Id="Rb973f7c87a184dcf"/><Relationship Type="http://schemas.openxmlformats.org/officeDocument/2006/relationships/image" Target="../media/methods_image106.png" Id="Re064020e05454274"/><Relationship Type="http://schemas.openxmlformats.org/officeDocument/2006/relationships/image" Target="../media/methods_image738.png" Id="R657fb94a8c224234"/><Relationship Type="http://schemas.openxmlformats.org/officeDocument/2006/relationships/image" Target="../media/methods_image739.png" Id="R62702bf8ec78449a"/><Relationship Type="http://schemas.openxmlformats.org/officeDocument/2006/relationships/image" Target="../media/methods_image740.png" Id="Re33445b063da41b0"/><Relationship Type="http://schemas.openxmlformats.org/officeDocument/2006/relationships/image" Target="../media/methods_image741.png" Id="R04aba9f2ab1a4ba3"/><Relationship Type="http://schemas.openxmlformats.org/officeDocument/2006/relationships/notesSlide" Target="../notesSlides/methods_notesSlide36.xml" Id="Rb917394f890d4ba9"/><Relationship Id="rIdVectormf00731" Type="http://schemas.openxmlformats.org/officeDocument/2006/relationships/image" Target="../media/methods_mf00731.svg"/><Relationship Id="rIdVectormf00732" Type="http://schemas.openxmlformats.org/officeDocument/2006/relationships/image" Target="../media/methods_mf00002.svg"/><Relationship Id="rIdVectormf00733" Type="http://schemas.openxmlformats.org/officeDocument/2006/relationships/image" Target="../media/methods_mf00733.svg"/><Relationship Id="rIdVectormf00734" Type="http://schemas.openxmlformats.org/officeDocument/2006/relationships/image" Target="../media/methods_mf00457.svg"/><Relationship Id="rIdVectormf00735" Type="http://schemas.openxmlformats.org/officeDocument/2006/relationships/image" Target="../media/methods_mf00735.svg"/><Relationship Id="rIdVectormf00736" Type="http://schemas.openxmlformats.org/officeDocument/2006/relationships/image" Target="../media/methods_mf00457.svg"/><Relationship Id="rIdVectormf00737" Type="http://schemas.openxmlformats.org/officeDocument/2006/relationships/image" Target="../media/methods_mf00737.svg"/><Relationship Id="rIdVectormf00738" Type="http://schemas.openxmlformats.org/officeDocument/2006/relationships/image" Target="../media/methods_mf00738.svg"/><Relationship Id="rIdVectormf00739" Type="http://schemas.openxmlformats.org/officeDocument/2006/relationships/image" Target="../media/methods_mf00739.svg"/><Relationship Id="rIdVectormf00740" Type="http://schemas.openxmlformats.org/officeDocument/2006/relationships/image" Target="../media/methods_mf00740.svg"/><Relationship Id="rIdVectormf00741" Type="http://schemas.openxmlformats.org/officeDocument/2006/relationships/image" Target="../media/methods_mf00741.svg"/><Relationship Id="rIdmethods_Link158" Type="http://schemas.openxmlformats.org/officeDocument/2006/relationships/slide" Target="methods_slide21.xml"/><Relationship Id="rIdmethods_Link159" Type="http://schemas.openxmlformats.org/officeDocument/2006/relationships/slide" Target="methods_slide36.xml"/><Relationship Id="rIdmethods_Link160" Type="http://schemas.openxmlformats.org/officeDocument/2006/relationships/slide" Target="methods_slide38.xml"/><Relationship Id="rIdmethods_Link161" Type="http://schemas.openxmlformats.org/officeDocument/2006/relationships/slide" Target="methods_slide42.xml"/></Relationships>
</file>

<file path=ppt/slides/_rels/methods_slide37.xml.rels><?xml version='1.0' encoding='UTF-8' standalone='yes'?>
<Relationships xmlns="http://schemas.openxmlformats.org/package/2006/relationships"><Relationship Type="http://schemas.openxmlformats.org/officeDocument/2006/relationships/slideLayout" Target="../slideLayouts/methods_slideLayout1.xml" Id="R47dc3a4b0d0a43d1"/><Relationship Type="http://schemas.openxmlformats.org/officeDocument/2006/relationships/image" Target="../media/methods_image731.png" Id="R7db324257f344f90"/><Relationship Type="http://schemas.openxmlformats.org/officeDocument/2006/relationships/image" Target="../media/methods_image2.png" Id="R2b39c31231e540c1"/><Relationship Type="http://schemas.openxmlformats.org/officeDocument/2006/relationships/image" Target="../media/methods_image733.png" Id="Rb5a8c335aded4694"/><Relationship Type="http://schemas.openxmlformats.org/officeDocument/2006/relationships/image" Target="../media/methods_image457.png" Id="Ra81c464c87f64d3c"/><Relationship Type="http://schemas.openxmlformats.org/officeDocument/2006/relationships/image" Target="../media/methods_image735.png" Id="R5e30548584834537"/><Relationship Type="http://schemas.openxmlformats.org/officeDocument/2006/relationships/image" Target="../media/methods_image457.png" Id="R708401d57e764c13"/><Relationship Type="http://schemas.openxmlformats.org/officeDocument/2006/relationships/image" Target="../media/methods_image106.png" Id="Rcc0c7363578a48c8"/><Relationship Type="http://schemas.openxmlformats.org/officeDocument/2006/relationships/image" Target="../media/methods_image457.png" Id="R0e08103e762d4cd0"/><Relationship Type="http://schemas.openxmlformats.org/officeDocument/2006/relationships/image" Target="../media/methods_image750.png" Id="R346364b6fb644623"/><Relationship Type="http://schemas.openxmlformats.org/officeDocument/2006/relationships/image" Target="../media/methods_image457.png" Id="Rf5b6899cc7924d5b"/><Relationship Type="http://schemas.openxmlformats.org/officeDocument/2006/relationships/image" Target="../media/methods_image752.png" Id="R3c5a3fe1ae6442de"/><Relationship Type="http://schemas.openxmlformats.org/officeDocument/2006/relationships/image" Target="../media/methods_image457.png" Id="R2ec490a0887c4b2a"/><Relationship Type="http://schemas.openxmlformats.org/officeDocument/2006/relationships/image" Target="../media/methods_image2.png" Id="R34e08fb8d2834a94"/><Relationship Type="http://schemas.openxmlformats.org/officeDocument/2006/relationships/image" Target="../media/methods_image100.png" Id="Ree107c015c1f48dc"/><Relationship Type="http://schemas.openxmlformats.org/officeDocument/2006/relationships/image" Target="../media/methods_image756.png" Id="R98d664030da4494b"/><Relationship Type="http://schemas.openxmlformats.org/officeDocument/2006/relationships/image" Target="../media/methods_image757.png" Id="Rd84d9bb075f64068"/><Relationship Type="http://schemas.openxmlformats.org/officeDocument/2006/relationships/image" Target="../media/methods_image758.png" Id="Rb655a2997c76403c"/><Relationship Type="http://schemas.openxmlformats.org/officeDocument/2006/relationships/notesSlide" Target="../notesSlides/methods_notesSlide37.xml" Id="R839ceda818f045b0"/><Relationship Id="rIdVectormf00742" Type="http://schemas.openxmlformats.org/officeDocument/2006/relationships/image" Target="../media/methods_mf00731.svg"/><Relationship Id="rIdVectormf00743" Type="http://schemas.openxmlformats.org/officeDocument/2006/relationships/image" Target="../media/methods_mf00002.svg"/><Relationship Id="rIdVectormf00744" Type="http://schemas.openxmlformats.org/officeDocument/2006/relationships/image" Target="../media/methods_mf00733.svg"/><Relationship Id="rIdVectormf00745" Type="http://schemas.openxmlformats.org/officeDocument/2006/relationships/image" Target="../media/methods_mf00457.svg"/><Relationship Id="rIdVectormf00746" Type="http://schemas.openxmlformats.org/officeDocument/2006/relationships/image" Target="../media/methods_mf00735.svg"/><Relationship Id="rIdVectormf00747" Type="http://schemas.openxmlformats.org/officeDocument/2006/relationships/image" Target="../media/methods_mf00457.svg"/><Relationship Id="rIdVectormf00748" Type="http://schemas.openxmlformats.org/officeDocument/2006/relationships/image" Target="../media/methods_mf00737.svg"/><Relationship Id="rIdVectormf00749" Type="http://schemas.openxmlformats.org/officeDocument/2006/relationships/image" Target="../media/methods_mf00457.svg"/><Relationship Id="rIdVectormf00750" Type="http://schemas.openxmlformats.org/officeDocument/2006/relationships/image" Target="../media/methods_mf00750.svg"/><Relationship Id="rIdVectormf00751" Type="http://schemas.openxmlformats.org/officeDocument/2006/relationships/image" Target="../media/methods_mf00457.svg"/><Relationship Id="rIdVectormf00752" Type="http://schemas.openxmlformats.org/officeDocument/2006/relationships/image" Target="../media/methods_mf00752.svg"/><Relationship Id="rIdVectormf00753" Type="http://schemas.openxmlformats.org/officeDocument/2006/relationships/image" Target="../media/methods_mf00457.svg"/><Relationship Id="rIdVectormf00754" Type="http://schemas.openxmlformats.org/officeDocument/2006/relationships/image" Target="../media/methods_mf00562.svg"/><Relationship Id="rIdVectormf00755" Type="http://schemas.openxmlformats.org/officeDocument/2006/relationships/image" Target="../media/methods_mf00100.svg"/><Relationship Id="rIdVectormf00756" Type="http://schemas.openxmlformats.org/officeDocument/2006/relationships/image" Target="../media/methods_mf00756.svg"/><Relationship Id="rIdVectormf00757" Type="http://schemas.openxmlformats.org/officeDocument/2006/relationships/image" Target="../media/methods_mf00757.svg"/><Relationship Id="rIdVectormf00758" Type="http://schemas.openxmlformats.org/officeDocument/2006/relationships/image" Target="../media/methods_mf00758.svg"/><Relationship Id="rIdmethods_Link162" Type="http://schemas.openxmlformats.org/officeDocument/2006/relationships/slide" Target="methods_slide21.xml"/><Relationship Id="rIdmethods_Link163" Type="http://schemas.openxmlformats.org/officeDocument/2006/relationships/slide" Target="methods_slide36.xml"/><Relationship Id="rIdmethods_Link164" Type="http://schemas.openxmlformats.org/officeDocument/2006/relationships/slide" Target="methods_slide38.xml"/><Relationship Id="rIdmethods_Link165" Type="http://schemas.openxmlformats.org/officeDocument/2006/relationships/slide" Target="methods_slide42.xml"/></Relationships>
</file>

<file path=ppt/slides/_rels/methods_slide38.xml.rels><?xml version='1.0' encoding='UTF-8' standalone='yes'?>
<Relationships xmlns="http://schemas.openxmlformats.org/package/2006/relationships"><Relationship Type="http://schemas.openxmlformats.org/officeDocument/2006/relationships/slideLayout" Target="../slideLayouts/methods_slideLayout1.xml" Id="Ra3c21999235e4af8"/><Relationship Type="http://schemas.openxmlformats.org/officeDocument/2006/relationships/image" Target="../media/methods_image733.png" Id="R84ab11307af441db"/><Relationship Type="http://schemas.openxmlformats.org/officeDocument/2006/relationships/image" Target="../media/methods_image2.png" Id="Ra7d524ee23fd43e0"/><Relationship Type="http://schemas.openxmlformats.org/officeDocument/2006/relationships/image" Target="../media/methods_image731.png" Id="Rfb9786bfe50e477e"/><Relationship Type="http://schemas.openxmlformats.org/officeDocument/2006/relationships/image" Target="../media/methods_image457.png" Id="R04938d4f7f8b40ab"/><Relationship Type="http://schemas.openxmlformats.org/officeDocument/2006/relationships/image" Target="../media/methods_image2.png" Id="Rcef5974e62454276"/><Relationship Type="http://schemas.openxmlformats.org/officeDocument/2006/relationships/image" Target="../media/methods_image457.png" Id="R376e415180874ca5"/><Relationship Type="http://schemas.openxmlformats.org/officeDocument/2006/relationships/image" Target="../media/methods_image765.png" Id="R50284b9dcf6c4ea7"/><Relationship Type="http://schemas.openxmlformats.org/officeDocument/2006/relationships/image" Target="../media/methods_image59.png" Id="R7580386805cc4af5"/><Relationship Type="http://schemas.openxmlformats.org/officeDocument/2006/relationships/image" Target="../media/methods_image508.png" Id="R79b85149e06a40b4"/><Relationship Type="http://schemas.openxmlformats.org/officeDocument/2006/relationships/image" Target="../media/methods_image758.png" Id="R96c986b548cd4f06"/><Relationship Type="http://schemas.openxmlformats.org/officeDocument/2006/relationships/image" Target="../media/methods_image769.png" Id="R150471aba57f4c49"/><Relationship Type="http://schemas.openxmlformats.org/officeDocument/2006/relationships/notesSlide" Target="../notesSlides/methods_notesSlide38.xml" Id="R9eaac70a62bc435d"/><Relationship Id="rIdVectormf00759" Type="http://schemas.openxmlformats.org/officeDocument/2006/relationships/image" Target="../media/methods_mf00733.svg"/><Relationship Id="rIdVectormf00760" Type="http://schemas.openxmlformats.org/officeDocument/2006/relationships/image" Target="../media/methods_mf00002.svg"/><Relationship Id="rIdVectormf00761" Type="http://schemas.openxmlformats.org/officeDocument/2006/relationships/image" Target="../media/methods_mf00731.svg"/><Relationship Id="rIdVectormf00762" Type="http://schemas.openxmlformats.org/officeDocument/2006/relationships/image" Target="../media/methods_mf00457.svg"/><Relationship Id="rIdVectormf00763" Type="http://schemas.openxmlformats.org/officeDocument/2006/relationships/image" Target="../media/methods_mf00562.svg"/><Relationship Id="rIdVectormf00764" Type="http://schemas.openxmlformats.org/officeDocument/2006/relationships/image" Target="../media/methods_mf00457.svg"/><Relationship Id="rIdVectormf00765" Type="http://schemas.openxmlformats.org/officeDocument/2006/relationships/image" Target="../media/methods_mf00765.svg"/><Relationship Id="rIdVectormf00766" Type="http://schemas.openxmlformats.org/officeDocument/2006/relationships/image" Target="../media/methods_mf00059.svg"/><Relationship Id="rIdVectormf00767" Type="http://schemas.openxmlformats.org/officeDocument/2006/relationships/image" Target="../media/methods_mf00508.svg"/><Relationship Id="rIdVectormf00768" Type="http://schemas.openxmlformats.org/officeDocument/2006/relationships/image" Target="../media/methods_mf00758.svg"/><Relationship Id="rIdVectormf00769" Type="http://schemas.openxmlformats.org/officeDocument/2006/relationships/image" Target="../media/methods_mf00769.svg"/><Relationship Id="rIdmethods_Link166" Type="http://schemas.openxmlformats.org/officeDocument/2006/relationships/slide" Target="methods_slide21.xml"/><Relationship Id="rIdmethods_Link167" Type="http://schemas.openxmlformats.org/officeDocument/2006/relationships/slide" Target="methods_slide36.xml"/><Relationship Id="rIdmethods_Link168" Type="http://schemas.openxmlformats.org/officeDocument/2006/relationships/slide" Target="methods_slide38.xml"/><Relationship Id="rIdmethods_Link169" Type="http://schemas.openxmlformats.org/officeDocument/2006/relationships/slide" Target="methods_slide42.xml"/></Relationships>
</file>

<file path=ppt/slides/_rels/methods_slide39.xml.rels><?xml version='1.0' encoding='UTF-8' standalone='yes'?>
<Relationships xmlns="http://schemas.openxmlformats.org/package/2006/relationships"><Relationship Type="http://schemas.openxmlformats.org/officeDocument/2006/relationships/slideLayout" Target="../slideLayouts/methods_slideLayout1.xml" Id="R49ae9b869496414a"/><Relationship Type="http://schemas.openxmlformats.org/officeDocument/2006/relationships/image" Target="../media/methods_image733.png" Id="R11fca6577dc84787"/><Relationship Type="http://schemas.openxmlformats.org/officeDocument/2006/relationships/image" Target="../media/methods_image2.png" Id="R28caf3bb32124325"/><Relationship Type="http://schemas.openxmlformats.org/officeDocument/2006/relationships/image" Target="../media/methods_image731.png" Id="Rf06ed03c5624495f"/><Relationship Type="http://schemas.openxmlformats.org/officeDocument/2006/relationships/image" Target="../media/methods_image483.png" Id="R8956c5a4741b4939"/><Relationship Type="http://schemas.openxmlformats.org/officeDocument/2006/relationships/image" Target="../media/methods_image4.png" Id="R40ca386abffe4800"/><Relationship Type="http://schemas.openxmlformats.org/officeDocument/2006/relationships/image" Target="../media/methods_image29.png" Id="R0637e14e7ea84ef2"/><Relationship Type="http://schemas.openxmlformats.org/officeDocument/2006/relationships/image" Target="../media/methods_image5.png" Id="R6c85d15cb7204a4c"/><Relationship Type="http://schemas.openxmlformats.org/officeDocument/2006/relationships/image" Target="../media/methods_image31.png" Id="R71590cb28977481a"/><Relationship Type="http://schemas.openxmlformats.org/officeDocument/2006/relationships/image" Target="../media/methods_image778.png" Id="R47263243e7554d98"/><Relationship Type="http://schemas.openxmlformats.org/officeDocument/2006/relationships/image" Target="../media/methods_image4.png" Id="R41c7155270de423a"/><Relationship Type="http://schemas.openxmlformats.org/officeDocument/2006/relationships/image" Target="../media/methods_image50.png" Id="R70476e641c3041f5"/><Relationship Type="http://schemas.openxmlformats.org/officeDocument/2006/relationships/image" Target="../media/methods_image5.png" Id="R2c610176d2b14bc7"/><Relationship Type="http://schemas.openxmlformats.org/officeDocument/2006/relationships/image" Target="../media/methods_image52.png" Id="Rf4772834f0af4a90"/><Relationship Type="http://schemas.openxmlformats.org/officeDocument/2006/relationships/image" Target="../media/methods_image783.png" Id="R3e9976d7c3874cda"/><Relationship Type="http://schemas.openxmlformats.org/officeDocument/2006/relationships/image" Target="../media/methods_image4.png" Id="R87464a84b52846fc"/><Relationship Type="http://schemas.openxmlformats.org/officeDocument/2006/relationships/image" Target="../media/methods_image50.png" Id="Rf0c168ecb6e74c1c"/><Relationship Type="http://schemas.openxmlformats.org/officeDocument/2006/relationships/image" Target="../media/methods_image5.png" Id="Rbd3761ec8ce24b94"/><Relationship Type="http://schemas.openxmlformats.org/officeDocument/2006/relationships/image" Target="../media/methods_image52.png" Id="R6dcc4cdff4434195"/><Relationship Type="http://schemas.openxmlformats.org/officeDocument/2006/relationships/image" Target="../media/methods_image788.png" Id="R8ba3f1c0ca0c4993"/><Relationship Type="http://schemas.openxmlformats.org/officeDocument/2006/relationships/image" Target="../media/methods_image758.png" Id="Ra988acc0b93844af"/><Relationship Type="http://schemas.openxmlformats.org/officeDocument/2006/relationships/image" Target="../media/methods_image769.png" Id="R69544d70febd4e8a"/><Relationship Type="http://schemas.openxmlformats.org/officeDocument/2006/relationships/image" Target="../media/methods_image791.png" Id="R77449c9089204d28"/><Relationship Type="http://schemas.openxmlformats.org/officeDocument/2006/relationships/image" Target="../media/methods_image792.png" Id="R266fc6e27b7a4a65"/><Relationship Type="http://schemas.openxmlformats.org/officeDocument/2006/relationships/image" Target="../media/methods_image793.png" Id="Refd31b71be584e41"/><Relationship Type="http://schemas.openxmlformats.org/officeDocument/2006/relationships/notesSlide" Target="../notesSlides/methods_notesSlide39.xml" Id="R1647efb4633d4697"/><Relationship Id="rIdVectormf00770" Type="http://schemas.openxmlformats.org/officeDocument/2006/relationships/image" Target="../media/methods_mf00733.svg"/><Relationship Id="rIdVectormf00771" Type="http://schemas.openxmlformats.org/officeDocument/2006/relationships/image" Target="../media/methods_mf00002.svg"/><Relationship Id="rIdVectormf00772" Type="http://schemas.openxmlformats.org/officeDocument/2006/relationships/image" Target="../media/methods_mf00731.svg"/><Relationship Id="rIdVectormf00773" Type="http://schemas.openxmlformats.org/officeDocument/2006/relationships/image" Target="../media/methods_mf00483.svg"/><Relationship Id="rIdVectormf00774" Type="http://schemas.openxmlformats.org/officeDocument/2006/relationships/image" Target="../media/methods_mf00004.svg"/><Relationship Id="rIdVectormf00775" Type="http://schemas.openxmlformats.org/officeDocument/2006/relationships/image" Target="../media/methods_mf00029.svg"/><Relationship Id="rIdVectormf00776" Type="http://schemas.openxmlformats.org/officeDocument/2006/relationships/image" Target="../media/methods_mf00005.svg"/><Relationship Id="rIdVectormf00777" Type="http://schemas.openxmlformats.org/officeDocument/2006/relationships/image" Target="../media/methods_mf00031.svg"/><Relationship Id="rIdVectormf00778" Type="http://schemas.openxmlformats.org/officeDocument/2006/relationships/image" Target="../media/methods_mf00778.svg"/><Relationship Id="rIdVectormf00779" Type="http://schemas.openxmlformats.org/officeDocument/2006/relationships/image" Target="../media/methods_mf00004.svg"/><Relationship Id="rIdVectormf00780" Type="http://schemas.openxmlformats.org/officeDocument/2006/relationships/image" Target="../media/methods_mf00050.svg"/><Relationship Id="rIdVectormf00781" Type="http://schemas.openxmlformats.org/officeDocument/2006/relationships/image" Target="../media/methods_mf00005.svg"/><Relationship Id="rIdVectormf00782" Type="http://schemas.openxmlformats.org/officeDocument/2006/relationships/image" Target="../media/methods_mf00052.svg"/><Relationship Id="rIdVectormf00783" Type="http://schemas.openxmlformats.org/officeDocument/2006/relationships/image" Target="../media/methods_mf00783.svg"/><Relationship Id="rIdVectormf00784" Type="http://schemas.openxmlformats.org/officeDocument/2006/relationships/image" Target="../media/methods_mf00004.svg"/><Relationship Id="rIdVectormf00785" Type="http://schemas.openxmlformats.org/officeDocument/2006/relationships/image" Target="../media/methods_mf00050.svg"/><Relationship Id="rIdVectormf00786" Type="http://schemas.openxmlformats.org/officeDocument/2006/relationships/image" Target="../media/methods_mf00005.svg"/><Relationship Id="rIdVectormf00787" Type="http://schemas.openxmlformats.org/officeDocument/2006/relationships/image" Target="../media/methods_mf00052.svg"/><Relationship Id="rIdVectormf00788" Type="http://schemas.openxmlformats.org/officeDocument/2006/relationships/image" Target="../media/methods_mf00788.svg"/><Relationship Id="rIdVectormf00789" Type="http://schemas.openxmlformats.org/officeDocument/2006/relationships/image" Target="../media/methods_mf00758.svg"/><Relationship Id="rIdVectormf00790" Type="http://schemas.openxmlformats.org/officeDocument/2006/relationships/image" Target="../media/methods_mf00769.svg"/><Relationship Id="rIdVectormf00791" Type="http://schemas.openxmlformats.org/officeDocument/2006/relationships/image" Target="../media/methods_mf00791.svg"/><Relationship Id="rIdVectormf00792" Type="http://schemas.openxmlformats.org/officeDocument/2006/relationships/image" Target="../media/methods_mf00792.svg"/><Relationship Id="rIdVectormf00793" Type="http://schemas.openxmlformats.org/officeDocument/2006/relationships/image" Target="../media/methods_mf00793.svg"/><Relationship Id="rIdmethods_Link170" Type="http://schemas.openxmlformats.org/officeDocument/2006/relationships/slide" Target="methods_slide21.xml"/><Relationship Id="rIdmethods_Link171" Type="http://schemas.openxmlformats.org/officeDocument/2006/relationships/slide" Target="methods_slide36.xml"/><Relationship Id="rIdmethods_Link172" Type="http://schemas.openxmlformats.org/officeDocument/2006/relationships/slide" Target="methods_slide38.xml"/><Relationship Id="rIdmethods_Link173" Type="http://schemas.openxmlformats.org/officeDocument/2006/relationships/slide" Target="methods_slide42.xml"/></Relationships>
</file>

<file path=ppt/slides/_rels/methods_slide40.xml.rels><?xml version='1.0' encoding='UTF-8' standalone='yes'?>
<Relationships xmlns="http://schemas.openxmlformats.org/package/2006/relationships"><Relationship Type="http://schemas.openxmlformats.org/officeDocument/2006/relationships/slideLayout" Target="../slideLayouts/methods_slideLayout1.xml" Id="Rcafac1b537174938"/><Relationship Type="http://schemas.openxmlformats.org/officeDocument/2006/relationships/image" Target="../media/methods_image733.png" Id="R8b05bb2ac45049ee"/><Relationship Type="http://schemas.openxmlformats.org/officeDocument/2006/relationships/image" Target="../media/methods_image2.png" Id="R0ef710c899854387"/><Relationship Type="http://schemas.openxmlformats.org/officeDocument/2006/relationships/image" Target="../media/methods_image731.png" Id="R31c94d8ad2e34ec4"/><Relationship Type="http://schemas.openxmlformats.org/officeDocument/2006/relationships/image" Target="../media/methods_image797.png" Id="R4e91d69ccb694aa4"/><Relationship Type="http://schemas.openxmlformats.org/officeDocument/2006/relationships/image" Target="../media/methods_image483.png" Id="Rdbc60e7d2dac4e2c"/><Relationship Type="http://schemas.openxmlformats.org/officeDocument/2006/relationships/image" Target="../media/methods_image4.png" Id="R3583e7facd8d402c"/><Relationship Type="http://schemas.openxmlformats.org/officeDocument/2006/relationships/image" Target="../media/methods_image29.png" Id="Raeebb2c434be409f"/><Relationship Type="http://schemas.openxmlformats.org/officeDocument/2006/relationships/image" Target="../media/methods_image5.png" Id="R095e197d32e442d7"/><Relationship Type="http://schemas.openxmlformats.org/officeDocument/2006/relationships/image" Target="../media/methods_image31.png" Id="Rcf04dd3d57ba489f"/><Relationship Type="http://schemas.openxmlformats.org/officeDocument/2006/relationships/image" Target="../media/methods_image778.png" Id="Rdd9968a798e94389"/><Relationship Type="http://schemas.openxmlformats.org/officeDocument/2006/relationships/image" Target="../media/methods_image4.png" Id="R9e00ab5dd0964660"/><Relationship Type="http://schemas.openxmlformats.org/officeDocument/2006/relationships/image" Target="../media/methods_image50.png" Id="R6966fcf34a8c4042"/><Relationship Type="http://schemas.openxmlformats.org/officeDocument/2006/relationships/image" Target="../media/methods_image5.png" Id="Re67f1cc334c349d8"/><Relationship Type="http://schemas.openxmlformats.org/officeDocument/2006/relationships/image" Target="../media/methods_image52.png" Id="R3593c356dedd4b9c"/><Relationship Type="http://schemas.openxmlformats.org/officeDocument/2006/relationships/image" Target="../media/methods_image783.png" Id="Rc03124b660fd4857"/><Relationship Type="http://schemas.openxmlformats.org/officeDocument/2006/relationships/image" Target="../media/methods_image4.png" Id="Rd28c3b7025fd41cb"/><Relationship Type="http://schemas.openxmlformats.org/officeDocument/2006/relationships/image" Target="../media/methods_image50.png" Id="R7906a66f4d0d4cb5"/><Relationship Type="http://schemas.openxmlformats.org/officeDocument/2006/relationships/image" Target="../media/methods_image5.png" Id="Raefb8399a4bf4736"/><Relationship Type="http://schemas.openxmlformats.org/officeDocument/2006/relationships/image" Target="../media/methods_image52.png" Id="Rde0da5a0bfb248d9"/><Relationship Type="http://schemas.openxmlformats.org/officeDocument/2006/relationships/image" Target="../media/methods_image788.png" Id="Rce2a03b1f8524593"/><Relationship Type="http://schemas.openxmlformats.org/officeDocument/2006/relationships/image" Target="../media/methods_image814.png" Id="R6f6d031ee2ff46b9"/><Relationship Type="http://schemas.openxmlformats.org/officeDocument/2006/relationships/image" Target="../media/methods_image815.png" Id="Rbec1f6982d434af0"/><Relationship Type="http://schemas.openxmlformats.org/officeDocument/2006/relationships/image" Target="../media/methods_image816.png" Id="Rb8a3efae0eb146f1"/><Relationship Type="http://schemas.openxmlformats.org/officeDocument/2006/relationships/image" Target="../media/methods_image817.png" Id="Rd3bb05be4cea437c"/><Relationship Type="http://schemas.openxmlformats.org/officeDocument/2006/relationships/notesSlide" Target="../notesSlides/methods_notesSlide40.xml" Id="Rd68cc3a9a2034176"/><Relationship Id="rIdVectormf00794" Type="http://schemas.openxmlformats.org/officeDocument/2006/relationships/image" Target="../media/methods_mf00733.svg"/><Relationship Id="rIdVectormf00795" Type="http://schemas.openxmlformats.org/officeDocument/2006/relationships/image" Target="../media/methods_mf00002.svg"/><Relationship Id="rIdVectormf00796" Type="http://schemas.openxmlformats.org/officeDocument/2006/relationships/image" Target="../media/methods_mf00731.svg"/><Relationship Id="rIdVectormf00797" Type="http://schemas.openxmlformats.org/officeDocument/2006/relationships/image" Target="../media/methods_mf00797.svg"/><Relationship Id="rIdVectormf00798" Type="http://schemas.openxmlformats.org/officeDocument/2006/relationships/image" Target="../media/methods_mf00483.svg"/><Relationship Id="rIdVectormf00799" Type="http://schemas.openxmlformats.org/officeDocument/2006/relationships/image" Target="../media/methods_mf00004.svg"/><Relationship Id="rIdVectormf00800" Type="http://schemas.openxmlformats.org/officeDocument/2006/relationships/image" Target="../media/methods_mf00029.svg"/><Relationship Id="rIdVectormf00801" Type="http://schemas.openxmlformats.org/officeDocument/2006/relationships/image" Target="../media/methods_mf00005.svg"/><Relationship Id="rIdVectormf00802" Type="http://schemas.openxmlformats.org/officeDocument/2006/relationships/image" Target="../media/methods_mf00031.svg"/><Relationship Id="rIdVectormf00803" Type="http://schemas.openxmlformats.org/officeDocument/2006/relationships/image" Target="../media/methods_mf00778.svg"/><Relationship Id="rIdVectormf00804" Type="http://schemas.openxmlformats.org/officeDocument/2006/relationships/image" Target="../media/methods_mf00004.svg"/><Relationship Id="rIdVectormf00805" Type="http://schemas.openxmlformats.org/officeDocument/2006/relationships/image" Target="../media/methods_mf00050.svg"/><Relationship Id="rIdVectormf00806" Type="http://schemas.openxmlformats.org/officeDocument/2006/relationships/image" Target="../media/methods_mf00005.svg"/><Relationship Id="rIdVectormf00807" Type="http://schemas.openxmlformats.org/officeDocument/2006/relationships/image" Target="../media/methods_mf00052.svg"/><Relationship Id="rIdVectormf00808" Type="http://schemas.openxmlformats.org/officeDocument/2006/relationships/image" Target="../media/methods_mf00783.svg"/><Relationship Id="rIdVectormf00809" Type="http://schemas.openxmlformats.org/officeDocument/2006/relationships/image" Target="../media/methods_mf00004.svg"/><Relationship Id="rIdVectormf00810" Type="http://schemas.openxmlformats.org/officeDocument/2006/relationships/image" Target="../media/methods_mf00050.svg"/><Relationship Id="rIdVectormf00811" Type="http://schemas.openxmlformats.org/officeDocument/2006/relationships/image" Target="../media/methods_mf00005.svg"/><Relationship Id="rIdVectormf00812" Type="http://schemas.openxmlformats.org/officeDocument/2006/relationships/image" Target="../media/methods_mf00052.svg"/><Relationship Id="rIdVectormf00813" Type="http://schemas.openxmlformats.org/officeDocument/2006/relationships/image" Target="../media/methods_mf00788.svg"/><Relationship Id="rIdVectormf00814" Type="http://schemas.openxmlformats.org/officeDocument/2006/relationships/image" Target="../media/methods_mf00814.svg"/><Relationship Id="rIdVectormf00815" Type="http://schemas.openxmlformats.org/officeDocument/2006/relationships/image" Target="../media/methods_mf00815.svg"/><Relationship Id="rIdVectormf00816" Type="http://schemas.openxmlformats.org/officeDocument/2006/relationships/image" Target="../media/methods_mf00816.svg"/><Relationship Id="rIdVectormf00817" Type="http://schemas.openxmlformats.org/officeDocument/2006/relationships/image" Target="../media/methods_mf00817.svg"/><Relationship Id="rIdmethods_Link174" Type="http://schemas.openxmlformats.org/officeDocument/2006/relationships/slide" Target="methods_slide21.xml"/><Relationship Id="rIdmethods_Link175" Type="http://schemas.openxmlformats.org/officeDocument/2006/relationships/slide" Target="methods_slide36.xml"/><Relationship Id="rIdmethods_Link176" Type="http://schemas.openxmlformats.org/officeDocument/2006/relationships/slide" Target="methods_slide38.xml"/><Relationship Id="rIdmethods_Link177" Type="http://schemas.openxmlformats.org/officeDocument/2006/relationships/slide" Target="methods_slide42.xml"/></Relationships>
</file>

<file path=ppt/slides/_rels/methods_slide41.xml.rels><?xml version='1.0' encoding='UTF-8' standalone='yes'?>
<Relationships xmlns="http://schemas.openxmlformats.org/package/2006/relationships"><Relationship Type="http://schemas.openxmlformats.org/officeDocument/2006/relationships/slideLayout" Target="../slideLayouts/methods_slideLayout1.xml" Id="R64d5178b4e8b4150"/><Relationship Type="http://schemas.openxmlformats.org/officeDocument/2006/relationships/image" Target="../media/methods_image733.png" Id="R467f65d77aff4a3a"/><Relationship Type="http://schemas.openxmlformats.org/officeDocument/2006/relationships/image" Target="../media/methods_image2.png" Id="Rd47cc360f5044569"/><Relationship Type="http://schemas.openxmlformats.org/officeDocument/2006/relationships/image" Target="../media/methods_image731.png" Id="R000958c52d8242b7"/><Relationship Type="http://schemas.openxmlformats.org/officeDocument/2006/relationships/image" Target="../media/methods_image758.png" Id="R47a06a7776a94d60"/><Relationship Type="http://schemas.openxmlformats.org/officeDocument/2006/relationships/image" Target="../media/methods_image2.png" Id="R4e745f9c48f24909"/><Relationship Type="http://schemas.openxmlformats.org/officeDocument/2006/relationships/image" Target="../media/methods_image823.png" Id="Rfb0428d12ef2479f"/><Relationship Type="http://schemas.openxmlformats.org/officeDocument/2006/relationships/image" Target="../media/methods_image59.png" Id="Rbdfc46b0ae0e4a38"/><Relationship Type="http://schemas.openxmlformats.org/officeDocument/2006/relationships/image" Target="../media/methods_image825.png" Id="Rd195d338a6374d15"/><Relationship Type="http://schemas.openxmlformats.org/officeDocument/2006/relationships/image" Target="../media/methods_image826.png" Id="Rea9fc841205a4b5a"/><Relationship Type="http://schemas.openxmlformats.org/officeDocument/2006/relationships/image" Target="../media/methods_image735.png" Id="R63c554bed02540a9"/><Relationship Type="http://schemas.openxmlformats.org/officeDocument/2006/relationships/image" Target="../media/methods_image828.png" Id="R16bdf88d77674eec"/><Relationship Type="http://schemas.openxmlformats.org/officeDocument/2006/relationships/image" Target="../media/methods_image829.png" Id="Rc718bccace044690"/><Relationship Type="http://schemas.openxmlformats.org/officeDocument/2006/relationships/image" Target="../media/methods_image830.png" Id="Re42d72e52e8d4f6f"/><Relationship Type="http://schemas.openxmlformats.org/officeDocument/2006/relationships/notesSlide" Target="../notesSlides/methods_notesSlide41.xml" Id="R29c6acd9ad344cda"/><Relationship Id="rIdVectormf00818" Type="http://schemas.openxmlformats.org/officeDocument/2006/relationships/image" Target="../media/methods_mf00733.svg"/><Relationship Id="rIdVectormf00819" Type="http://schemas.openxmlformats.org/officeDocument/2006/relationships/image" Target="../media/methods_mf00002.svg"/><Relationship Id="rIdVectormf00820" Type="http://schemas.openxmlformats.org/officeDocument/2006/relationships/image" Target="../media/methods_mf00731.svg"/><Relationship Id="rIdVectormf00821" Type="http://schemas.openxmlformats.org/officeDocument/2006/relationships/image" Target="../media/methods_mf00821.svg"/><Relationship Id="rIdVectormf00822" Type="http://schemas.openxmlformats.org/officeDocument/2006/relationships/image" Target="../media/methods_mf00002.svg"/><Relationship Id="rIdVectormf00823" Type="http://schemas.openxmlformats.org/officeDocument/2006/relationships/image" Target="../media/methods_mf00823.svg"/><Relationship Id="rIdVectormf00824" Type="http://schemas.openxmlformats.org/officeDocument/2006/relationships/image" Target="../media/methods_mf00824.svg"/><Relationship Id="rIdVectormf00825" Type="http://schemas.openxmlformats.org/officeDocument/2006/relationships/image" Target="../media/methods_mf00825.svg"/><Relationship Id="rIdVectormf00826" Type="http://schemas.openxmlformats.org/officeDocument/2006/relationships/image" Target="../media/methods_mf00826.svg"/><Relationship Id="rIdVectormf00827" Type="http://schemas.openxmlformats.org/officeDocument/2006/relationships/image" Target="../media/methods_mf00827.svg"/><Relationship Id="rIdVectormf00828" Type="http://schemas.openxmlformats.org/officeDocument/2006/relationships/image" Target="../media/methods_mf00828.svg"/><Relationship Id="rIdVectormf00829" Type="http://schemas.openxmlformats.org/officeDocument/2006/relationships/image" Target="../media/methods_mf00829.svg"/><Relationship Id="rIdVectormf00830" Type="http://schemas.openxmlformats.org/officeDocument/2006/relationships/image" Target="../media/methods_mf00830.svg"/><Relationship Id="rIdmethods_Link178" Type="http://schemas.openxmlformats.org/officeDocument/2006/relationships/slide" Target="methods_slide21.xml"/><Relationship Id="rIdmethods_Link179" Type="http://schemas.openxmlformats.org/officeDocument/2006/relationships/slide" Target="methods_slide36.xml"/><Relationship Id="rIdmethods_Link180" Type="http://schemas.openxmlformats.org/officeDocument/2006/relationships/slide" Target="methods_slide38.xml"/><Relationship Id="rIdmethods_Link181" Type="http://schemas.openxmlformats.org/officeDocument/2006/relationships/slide" Target="methods_slide42.xml"/></Relationships>
</file>

<file path=ppt/slides/_rels/methods_slide42.xml.rels><?xml version='1.0' encoding='UTF-8' standalone='yes'?>
<Relationships xmlns="http://schemas.openxmlformats.org/package/2006/relationships"><Relationship Type="http://schemas.openxmlformats.org/officeDocument/2006/relationships/slideLayout" Target="../slideLayouts/methods_slideLayout1.xml" Id="R0c5d188cd4174d47"/><Relationship Type="http://schemas.openxmlformats.org/officeDocument/2006/relationships/image" Target="../media/methods_image733.png" Id="R4b7df3c9ba3b49aa"/><Relationship Type="http://schemas.openxmlformats.org/officeDocument/2006/relationships/image" Target="../media/methods_image2.png" Id="R926a0a840f0e428c"/><Relationship Type="http://schemas.openxmlformats.org/officeDocument/2006/relationships/image" Target="../media/methods_image731.png" Id="Ra2233ed67f1e4a2e"/><Relationship Type="http://schemas.openxmlformats.org/officeDocument/2006/relationships/image" Target="../media/methods_image758.png" Id="R9b29f69692ba4d19"/><Relationship Type="http://schemas.openxmlformats.org/officeDocument/2006/relationships/image" Target="../media/methods_image2.png" Id="Ra856ffd2f9734228"/><Relationship Type="http://schemas.openxmlformats.org/officeDocument/2006/relationships/image" Target="../media/methods_image823.png" Id="Rbbc3c27d5605483e"/><Relationship Type="http://schemas.openxmlformats.org/officeDocument/2006/relationships/image" Target="../media/methods_image59.png" Id="R52681288b2564c6b"/><Relationship Type="http://schemas.openxmlformats.org/officeDocument/2006/relationships/image" Target="../media/methods_image825.png" Id="Raeccebfdcf284b28"/><Relationship Type="http://schemas.openxmlformats.org/officeDocument/2006/relationships/image" Target="../media/methods_image826.png" Id="Re44530a92ef54ec2"/><Relationship Type="http://schemas.openxmlformats.org/officeDocument/2006/relationships/image" Target="../media/methods_image735.png" Id="R07df1aaab07648a1"/><Relationship Type="http://schemas.openxmlformats.org/officeDocument/2006/relationships/image" Target="../media/methods_image828.png" Id="Ra4f65df8bf554f0c"/><Relationship Type="http://schemas.openxmlformats.org/officeDocument/2006/relationships/image" Target="../media/methods_image829.png" Id="R3840b1fa38b94452"/><Relationship Type="http://schemas.openxmlformats.org/officeDocument/2006/relationships/image" Target="../media/methods_image843.png" Id="Rf3032bd07eba4426"/><Relationship Type="http://schemas.openxmlformats.org/officeDocument/2006/relationships/image" Target="../media/methods_image844.png" Id="R5fbeba1a427e4b4e"/><Relationship Type="http://schemas.openxmlformats.org/officeDocument/2006/relationships/image" Target="../media/methods_image826.png" Id="R36a5fd1133584689"/><Relationship Type="http://schemas.openxmlformats.org/officeDocument/2006/relationships/image" Target="../media/methods_image106.png" Id="R687c48788a6d45dc"/><Relationship Type="http://schemas.openxmlformats.org/officeDocument/2006/relationships/image" Target="../media/methods_image830.png" Id="R547129816c99486f"/><Relationship Type="http://schemas.openxmlformats.org/officeDocument/2006/relationships/image" Target="../media/methods_image848.png" Id="R1d386be00c8445a6"/><Relationship Type="http://schemas.openxmlformats.org/officeDocument/2006/relationships/image" Target="../media/methods_image849.png" Id="R081ac20824684efc"/><Relationship Type="http://schemas.openxmlformats.org/officeDocument/2006/relationships/image" Target="../media/methods_image850.png" Id="R0c038e502e754c1a"/><Relationship Type="http://schemas.openxmlformats.org/officeDocument/2006/relationships/image" Target="../media/methods_image851.png" Id="Rbe98d06348a04399"/><Relationship Type="http://schemas.openxmlformats.org/officeDocument/2006/relationships/notesSlide" Target="../notesSlides/methods_notesSlide42.xml" Id="R28a7a70aedf74282"/><Relationship Id="rIdVectormf00831" Type="http://schemas.openxmlformats.org/officeDocument/2006/relationships/image" Target="../media/methods_mf00733.svg"/><Relationship Id="rIdVectormf00832" Type="http://schemas.openxmlformats.org/officeDocument/2006/relationships/image" Target="../media/methods_mf00002.svg"/><Relationship Id="rIdVectormf00833" Type="http://schemas.openxmlformats.org/officeDocument/2006/relationships/image" Target="../media/methods_mf00731.svg"/><Relationship Id="rIdVectormf00834" Type="http://schemas.openxmlformats.org/officeDocument/2006/relationships/image" Target="../media/methods_mf00821.svg"/><Relationship Id="rIdVectormf00835" Type="http://schemas.openxmlformats.org/officeDocument/2006/relationships/image" Target="../media/methods_mf00002.svg"/><Relationship Id="rIdVectormf00836" Type="http://schemas.openxmlformats.org/officeDocument/2006/relationships/image" Target="../media/methods_mf00823.svg"/><Relationship Id="rIdVectormf00837" Type="http://schemas.openxmlformats.org/officeDocument/2006/relationships/image" Target="../media/methods_mf00824.svg"/><Relationship Id="rIdVectormf00838" Type="http://schemas.openxmlformats.org/officeDocument/2006/relationships/image" Target="../media/methods_mf00825.svg"/><Relationship Id="rIdVectormf00839" Type="http://schemas.openxmlformats.org/officeDocument/2006/relationships/image" Target="../media/methods_mf00826.svg"/><Relationship Id="rIdVectormf00840" Type="http://schemas.openxmlformats.org/officeDocument/2006/relationships/image" Target="../media/methods_mf00827.svg"/><Relationship Id="rIdVectormf00841" Type="http://schemas.openxmlformats.org/officeDocument/2006/relationships/image" Target="../media/methods_mf00828.svg"/><Relationship Id="rIdVectormf00842" Type="http://schemas.openxmlformats.org/officeDocument/2006/relationships/image" Target="../media/methods_mf00829.svg"/><Relationship Id="rIdVectormf00843" Type="http://schemas.openxmlformats.org/officeDocument/2006/relationships/image" Target="../media/methods_mf00843.svg"/><Relationship Id="rIdVectormf00844" Type="http://schemas.openxmlformats.org/officeDocument/2006/relationships/image" Target="../media/methods_mf00844.svg"/><Relationship Id="rIdVectormf00845" Type="http://schemas.openxmlformats.org/officeDocument/2006/relationships/image" Target="../media/methods_mf00826.svg"/><Relationship Id="rIdVectormf00846" Type="http://schemas.openxmlformats.org/officeDocument/2006/relationships/image" Target="../media/methods_mf00106.svg"/><Relationship Id="rIdVectormf00847" Type="http://schemas.openxmlformats.org/officeDocument/2006/relationships/image" Target="../media/methods_mf00830.svg"/><Relationship Id="rIdVectormf00848" Type="http://schemas.openxmlformats.org/officeDocument/2006/relationships/image" Target="../media/methods_mf00848.svg"/><Relationship Id="rIdVectormf00849" Type="http://schemas.openxmlformats.org/officeDocument/2006/relationships/image" Target="../media/methods_mf00849.svg"/><Relationship Id="rIdVectormf00850" Type="http://schemas.openxmlformats.org/officeDocument/2006/relationships/image" Target="../media/methods_mf00850.svg"/><Relationship Id="rIdVectormf00851" Type="http://schemas.openxmlformats.org/officeDocument/2006/relationships/image" Target="../media/methods_mf00851.svg"/><Relationship Id="rIdmethods_Link182" Type="http://schemas.openxmlformats.org/officeDocument/2006/relationships/slide" Target="methods_slide21.xml"/><Relationship Id="rIdmethods_Link183" Type="http://schemas.openxmlformats.org/officeDocument/2006/relationships/slide" Target="methods_slide36.xml"/><Relationship Id="rIdmethods_Link184" Type="http://schemas.openxmlformats.org/officeDocument/2006/relationships/slide" Target="methods_slide38.xml"/><Relationship Id="rIdmethods_Link185" Type="http://schemas.openxmlformats.org/officeDocument/2006/relationships/slide" Target="methods_slide42.xml"/></Relationships>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c9cc3d9ae9b0472c"/><Relationship Type="http://schemas.openxmlformats.org/officeDocument/2006/relationships/image" Target="/ppt/media/image.png" Id="R4925c9d800124bea"/><Relationship Type="http://schemas.openxmlformats.org/officeDocument/2006/relationships/image" Target="/ppt/media/image2.png" Id="R92919328109b4ee2"/><Relationship Type="http://schemas.openxmlformats.org/officeDocument/2006/relationships/image" Target="/ppt/media/image3.png" Id="Rbb79f116db4448ec"/><Relationship Type="http://schemas.openxmlformats.org/officeDocument/2006/relationships/image" Target="../media/image.png" Id="R13a354839d804482"/><Relationship Type="http://schemas.openxmlformats.org/officeDocument/2006/relationships/image" Target="/ppt/media/image5.png" Id="Rc8fa9ac29cd84330"/><Relationship Type="http://schemas.openxmlformats.org/officeDocument/2006/relationships/notesSlide" Target="/ppt/notesSlides/notesSlide1.xml" Id="R926b89b8196d4448"/><Relationship Id="rIdLatex21" Type="http://schemas.openxmlformats.org/officeDocument/2006/relationships/image" Target="../media/latex-message.svg"/><Relationship Id="rIdLatex2" Type="http://schemas.openxmlformats.org/officeDocument/2006/relationships/image" Target="../media/latex-signal.svg"/><Relationship Id="rIdLatex3" Type="http://schemas.openxmlformats.org/officeDocument/2006/relationships/image" Target="../media/latex-received.svg"/><Relationship Id="rIdLatex4" Type="http://schemas.openxmlformats.org/officeDocument/2006/relationships/image" Target="../media/latex-message.svg"/><Relationship Id="rIdLatex15" Type="http://schemas.openxmlformats.org/officeDocument/2006/relationships/image" Target="../media/latex-ideal.svg"/></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259bec7b25e3421d"/><Relationship Type="http://schemas.openxmlformats.org/officeDocument/2006/relationships/image" Target="../media/image.png" Id="Rb951595dc83247cb"/><Relationship Type="http://schemas.openxmlformats.org/officeDocument/2006/relationships/image" Target="../media/image2.png" Id="R6cc5d1d750464093"/><Relationship Type="http://schemas.openxmlformats.org/officeDocument/2006/relationships/image" Target="../media/image3.png" Id="R8716de019fca4a98"/><Relationship Type="http://schemas.openxmlformats.org/officeDocument/2006/relationships/image" Target="../media/image.png" Id="R9494b625df204dcf"/><Relationship Type="http://schemas.openxmlformats.org/officeDocument/2006/relationships/notesSlide" Target="/ppt/notesSlides/notesSlide2.xml" Id="Rd0f17640a5904cb9"/><Relationship Id="rIdLatex13" Type="http://schemas.openxmlformats.org/officeDocument/2006/relationships/image" Target="../media/latex-message.svg"/><Relationship Id="rIdLatex2" Type="http://schemas.openxmlformats.org/officeDocument/2006/relationships/image" Target="../media/latex-signal.svg"/><Relationship Id="rIdLatex3" Type="http://schemas.openxmlformats.org/officeDocument/2006/relationships/image" Target="../media/latex-received.svg"/><Relationship Id="rIdLatex4" Type="http://schemas.openxmlformats.org/officeDocument/2006/relationships/image" Target="../media/latex-message.svg"/></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b08d97b390f74323"/><Relationship Type="http://schemas.openxmlformats.org/officeDocument/2006/relationships/image" Target="../media/image2.png" Id="R43c9675d9fb14bb2"/><Relationship Type="http://schemas.openxmlformats.org/officeDocument/2006/relationships/image" Target="../media/image.png" Id="R6c33fe8690204575"/><Relationship Type="http://schemas.openxmlformats.org/officeDocument/2006/relationships/image" Target="../media/image.png" Id="Re6a39991428447d5"/><Relationship Type="http://schemas.openxmlformats.org/officeDocument/2006/relationships/image" Target="/ppt/media/image13.png" Id="R81eaae8cb5ff4a78"/><Relationship Type="http://schemas.openxmlformats.org/officeDocument/2006/relationships/image" Target="/ppt/media/image14.png" Id="Rd1e86a2e8e854418"/><Relationship Type="http://schemas.openxmlformats.org/officeDocument/2006/relationships/notesSlide" Target="/ppt/notesSlides/notesSlide3.xml" Id="R3bd7aa62f43f4867"/><Relationship Id="rIdLatex2" Type="http://schemas.openxmlformats.org/officeDocument/2006/relationships/image" Target="../media/latex-signal.svg"/><Relationship Id="rIdLatex10" Type="http://schemas.openxmlformats.org/officeDocument/2006/relationships/image" Target="../media/latex-sine.svg"/><Relationship Id="rIdLatex11" Type="http://schemas.openxmlformats.org/officeDocument/2006/relationships/image" Target="../media/latex-pulse.svg"/><Relationship Id="rIdLatex58" Type="http://schemas.openxmlformats.org/officeDocument/2006/relationships/image" Target="../media/latex-message.svg"/><Relationship Id="rIdLatex59" Type="http://schemas.openxmlformats.org/officeDocument/2006/relationships/image" Target="../media/latex-message.svg"/><Relationship Id="rIdmethods_Link0" Type="http://schemas.openxmlformats.org/officeDocument/2006/relationships/slide" Target="methods_slide1.xml"/><Relationship Id="rIdWeeklyAMReview" Type="http://schemas.openxmlformats.org/officeDocument/2006/relationships/slide" Target="framing_3.xml"/></Relationships>
</file>

<file path=ppt/slides/c_positioned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x1-title">
            <ns0:hlinkClick xmlns:ns0="http://schemas.openxmlformats.org/drawingml/2006/main" xmlns:ns1="http://schemas.openxmlformats.org/officeDocument/2006/relationships" ns1:id="rIdExerciseLink0" action="ppaction://hlinksldjump"/>
            <a:extLst xmlns:a="http://schemas.openxmlformats.org/drawingml/2006/main">
              <a:ext uri="{FF2B5EF4-FFF2-40B4-BE49-F238E27FC236}">
                <a16:creationId xmlns:a16="http://schemas.microsoft.com/office/drawing/2014/main" id="{CBE58CC7-96B3-4305-B56B-ED910B21A816}"/>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1-subtitle">
            <a:extLst xmlns:a="http://schemas.openxmlformats.org/drawingml/2006/main">
              <a:ext uri="{FF2B5EF4-FFF2-40B4-BE49-F238E27FC236}">
                <a16:creationId xmlns:a16="http://schemas.microsoft.com/office/drawing/2014/main" id="{E9F0316C-5903-4E57-B5AE-12B5A57BFCAE}"/>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1-question">
            <a:extLst xmlns:a="http://schemas.openxmlformats.org/drawingml/2006/main">
              <a:ext uri="{FF2B5EF4-FFF2-40B4-BE49-F238E27FC236}">
                <a16:creationId xmlns:a16="http://schemas.microsoft.com/office/drawing/2014/main" id="{0073159C-1B1B-434F-AF40-0861EC7976EC}"/>
              </a:ext>
            </a:extLst>
          </p:cNvPr>
          <p:cNvSpPr>
            <a:spLocks xmlns:a="http://schemas.openxmlformats.org/drawingml/2006/main" noGrp="1"/>
          </p:cNvSpPr>
          <p:nvPr/>
        </p:nvSpPr>
        <p:spPr>
          <a:xfrm xmlns:a="http://schemas.openxmlformats.org/drawingml/2006/main">
            <a:off x="666750" y="15049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(c)  Bypass only the input BPFs. Which signals overlap at IF?</a:t>
            </a:r>
          </a:p>
        </p:txBody>
      </p:sp>
      <p:pic>
        <p:nvPicPr>
          <p:cNvPr id="14" name="ex1-loop"/>
          <p:cNvPicPr>
            <a:picLocks xmlns:a="http://schemas.openxmlformats.org/drawingml/2006/main" noChangeAspect="1"/>
          </p:cNvPicPr>
          <p:nvPr/>
        </p:nvPicPr>
        <p:blipFill>
          <a:blip xmlns:r="http://schemas.openxmlformats.org/officeDocument/2006/relationships" xmlns:a="http://schemas.openxmlformats.org/drawingml/2006/main" r:embed="R5c39b87475854ca0"/>
          <a:stretch xmlns:a="http://schemas.openxmlformats.org/drawingml/2006/main"/>
        </p:blipFill>
        <p:spPr>
          <a:xfrm xmlns:a="http://schemas.openxmlformats.org/drawingml/2006/main">
            <a:off x="666750" y="1905000"/>
            <a:ext cx="10858500" cy="2286000"/>
          </a:xfrm>
          <a:prstGeom xmlns:a="http://schemas.openxmlformats.org/drawingml/2006/main" prst="rect">
            <a:avLst/>
          </a:prstGeom>
        </p:spPr>
      </p:pic>
      <p:sp>
        <p:nvSpPr>
          <p:cNvPr id="5" name="ex1-same">
            <a:extLst xmlns:a="http://schemas.openxmlformats.org/drawingml/2006/main">
              <a:ext uri="{FF2B5EF4-FFF2-40B4-BE49-F238E27FC236}">
                <a16:creationId xmlns:a16="http://schemas.microsoft.com/office/drawing/2014/main" id="{E7F77CA2-1A87-4D6D-95AD-2E2582C35FAD}"/>
              </a:ext>
            </a:extLst>
          </p:cNvPr>
          <p:cNvSpPr>
            <a:spLocks xmlns:a="http://schemas.openxmlformats.org/drawingml/2006/main" noGrp="1"/>
          </p:cNvSpPr>
          <p:nvPr/>
        </p:nvSpPr>
        <p:spPr>
          <a:xfrm xmlns:a="http://schemas.openxmlformats.org/drawingml/2006/main">
            <a:off x="666750" y="52482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Keep the 20 kHz demodulating carriers and all gains unchanged.</a:t>
            </a:r>
          </a:p>
        </p:txBody>
      </p:sp>
      <p:sp>
        <p:nvSpPr>
          <p:cNvPr id="6" name="ex1-calculate">
            <a:extLst xmlns:a="http://schemas.openxmlformats.org/drawingml/2006/main">
              <a:ext uri="{FF2B5EF4-FFF2-40B4-BE49-F238E27FC236}">
                <a16:creationId xmlns:a16="http://schemas.microsoft.com/office/drawing/2014/main" id="{88A7E1FB-1D1B-45D4-9EB8-B0D2DAA682DD}"/>
              </a:ext>
            </a:extLst>
          </p:cNvPr>
          <p:cNvSpPr>
            <a:spLocks xmlns:a="http://schemas.openxmlformats.org/drawingml/2006/main" noGrp="1"/>
          </p:cNvSpPr>
          <p:nvPr/>
        </p:nvSpPr>
        <p:spPr>
          <a:xfrm xmlns:a="http://schemas.openxmlformats.org/drawingml/2006/main">
            <a:off x="666750" y="57435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Calculate: interfering channels and each recovered output.</a:t>
            </a:r>
          </a:p>
        </p:txBody>
      </p:sp>
      <p:pic>
        <p:nvPicPr>
          <p:cNvPr id="18" name="ex1-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b78a7e641f9c4c21">
            <a:extLst>
              <a:ext uri="{96DAC541-7B7A-43D3-8B79-37D633B846F1}">
                <ns0:svgBlip xmlns:ns0="http://schemas.microsoft.com/office/drawing/2016/SVG/main" r:embed="rIdVectorexercise_formula_0"/>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19" name="ex1-settings" descr="f_{\mathrm{LO},1},f_{\mathrm{LO},2},f_{\mathrm{LO},3}=60,100,140\ \mathrm{kHz}"/>
          <p:cNvPicPr>
            <a:picLocks xmlns:a="http://schemas.openxmlformats.org/drawingml/2006/main" noChangeAspect="1"/>
          </p:cNvPicPr>
          <p:nvPr/>
        </p:nvPicPr>
        <p:blipFill>
          <a:blip xmlns:r="http://schemas.openxmlformats.org/officeDocument/2006/relationships" xmlns:a="http://schemas.openxmlformats.org/drawingml/2006/main" r:embed="R56eb601241e140d5">
            <a:extLst>
              <a:ext uri="{96DAC541-7B7A-43D3-8B79-37D633B846F1}">
                <ns1:svgBlip xmlns:ns1="http://schemas.microsoft.com/office/drawing/2016/SVG/main" r:embed="rIdVectorexercise_formula_1"/>
              </a:ext>
            </a:extLst>
          </a:blip>
          <a:stretch xmlns:a="http://schemas.openxmlformats.org/drawingml/2006/main"/>
        </p:blipFill>
        <p:spPr>
          <a:xfrm xmlns:a="http://schemas.openxmlformats.org/drawingml/2006/main">
            <a:off x="952500" y="4313158"/>
            <a:ext cx="4333875" cy="241459"/>
          </a:xfrm>
          <a:prstGeom xmlns:a="http://schemas.openxmlformats.org/drawingml/2006/main" prst="rect">
            <a:avLst/>
          </a:prstGeom>
        </p:spPr>
      </p:pic>
      <p:pic>
        <p:nvPicPr>
          <p:cNvPr id="20" name="ex1-filters" descr="\mathrm{IF\ BPF:}\ 15\leq|f|\leq25\ \mathrm{kHz},\quad\mathrm{LPF:}\ |f|\leq5\ \mathrm{kHz}"/>
          <p:cNvPicPr>
            <a:picLocks xmlns:a="http://schemas.openxmlformats.org/drawingml/2006/main" noChangeAspect="1"/>
          </p:cNvPicPr>
          <p:nvPr/>
        </p:nvPicPr>
        <p:blipFill>
          <a:blip xmlns:r="http://schemas.openxmlformats.org/officeDocument/2006/relationships" xmlns:a="http://schemas.openxmlformats.org/drawingml/2006/main" r:embed="Rbf4c23912e1a4269">
            <a:extLst>
              <a:ext uri="{96DAC541-7B7A-43D3-8B79-37D633B846F1}">
                <ns2:svgBlip xmlns:ns2="http://schemas.microsoft.com/office/drawing/2016/SVG/main" r:embed="rIdVectorexercise_formula_2"/>
              </a:ext>
            </a:extLst>
          </a:blip>
          <a:stretch xmlns:a="http://schemas.openxmlformats.org/drawingml/2006/main"/>
        </p:blipFill>
        <p:spPr>
          <a:xfrm xmlns:a="http://schemas.openxmlformats.org/drawingml/2006/main">
            <a:off x="952500" y="4776788"/>
            <a:ext cx="5993130" cy="247650"/>
          </a:xfrm>
          <a:prstGeom xmlns:a="http://schemas.openxmlformats.org/drawingml/2006/main" prst="rect">
            <a:avLst/>
          </a:prstGeom>
        </p:spPr>
      </p:pic>
    </p:spTree>
    <p:extLst>
      <p:ext uri="{BB962C8B-B14F-4D97-AF65-F5344CB8AC3E}">
        <p14:creationId xmlns:p14="http://schemas.microsoft.com/office/powerpoint/2010/main" val="27310780"/>
      </p:ext>
    </p:extLst>
  </p:cSld>
</p:sld>
</file>

<file path=ppt/slides/c_positioned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ex2-title">
            <ns0:hlinkClick xmlns:ns0="http://schemas.openxmlformats.org/drawingml/2006/main" xmlns:ns1="http://schemas.openxmlformats.org/officeDocument/2006/relationships" ns1:id="rIdExerciseLink2" action="ppaction://hlinksldjump"/>
            <a:extLst xmlns:a="http://schemas.openxmlformats.org/drawingml/2006/main">
              <a:ext uri="{FF2B5EF4-FFF2-40B4-BE49-F238E27FC236}">
                <a16:creationId xmlns:a16="http://schemas.microsoft.com/office/drawing/2014/main" id="{C8F8587C-1BCF-4E99-9115-3F652A608AC3}"/>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2-subtitle">
            <a:extLst xmlns:a="http://schemas.openxmlformats.org/drawingml/2006/main">
              <a:ext uri="{FF2B5EF4-FFF2-40B4-BE49-F238E27FC236}">
                <a16:creationId xmlns:a16="http://schemas.microsoft.com/office/drawing/2014/main" id="{A1DCC532-E589-47AC-AD73-00D51B0B8A43}"/>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2-question">
            <a:extLst xmlns:a="http://schemas.openxmlformats.org/drawingml/2006/main">
              <a:ext uri="{FF2B5EF4-FFF2-40B4-BE49-F238E27FC236}">
                <a16:creationId xmlns:a16="http://schemas.microsoft.com/office/drawing/2014/main" id="{85CC3814-19DF-4D61-8751-2134CD55ED95}"/>
              </a:ext>
            </a:extLst>
          </p:cNvPr>
          <p:cNvSpPr>
            <a:spLocks xmlns:a="http://schemas.openxmlformats.org/drawingml/2006/main" noGrp="1"/>
          </p:cNvSpPr>
          <p:nvPr/>
        </p:nvSpPr>
        <p:spPr>
          <a:xfrm xmlns:a="http://schemas.openxmlformats.org/drawingml/2006/main">
            <a:off x="666750" y="15049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(c)  Mix the full received signal in each branch.</a:t>
            </a:r>
          </a:p>
        </p:txBody>
      </p:sp>
      <p:sp>
        <p:nvSpPr>
          <p:cNvPr id="4" name="ex2-route-0">
            <a:extLst xmlns:a="http://schemas.openxmlformats.org/drawingml/2006/main">
              <a:ext uri="{FF2B5EF4-FFF2-40B4-BE49-F238E27FC236}">
                <a16:creationId xmlns:a16="http://schemas.microsoft.com/office/drawing/2014/main" id="{915FFDC5-199E-401B-8B72-725CE7CBB97E}"/>
              </a:ext>
            </a:extLst>
          </p:cNvPr>
          <p:cNvSpPr>
            <a:spLocks xmlns:a="http://schemas.openxmlformats.org/drawingml/2006/main" noGrp="1"/>
          </p:cNvSpPr>
          <p:nvPr/>
        </p:nvSpPr>
        <p:spPr>
          <a:xfrm xmlns:a="http://schemas.openxmlformats.org/drawingml/2006/main">
            <a:off x="619125" y="19240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s(t)</a:t>
            </a:r>
          </a:p>
        </p:txBody>
      </p:sp>
      <p:sp>
        <p:nvSpPr>
          <p:cNvPr id="5" name="ex2-route-arrow0-line">
            <a:extLst xmlns:a="http://schemas.openxmlformats.org/drawingml/2006/main">
              <a:ext uri="{FF2B5EF4-FFF2-40B4-BE49-F238E27FC236}">
                <a16:creationId xmlns:a16="http://schemas.microsoft.com/office/drawing/2014/main" id="{2A10D101-C19A-4F46-BF88-D81358850DD5}"/>
              </a:ext>
            </a:extLst>
          </p:cNvPr>
          <p:cNvSpPr>
            <a:spLocks xmlns:a="http://schemas.openxmlformats.org/drawingml/2006/main" noGrp="1"/>
          </p:cNvSpPr>
          <p:nvPr/>
        </p:nvSpPr>
        <p:spPr>
          <a:xfrm xmlns:a="http://schemas.openxmlformats.org/drawingml/2006/main">
            <a:off x="1266825" y="2057400"/>
            <a:ext cx="333375"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6" name="ex2-route-arrow0-head">
            <a:extLst xmlns:a="http://schemas.openxmlformats.org/drawingml/2006/main">
              <a:ext uri="{FF2B5EF4-FFF2-40B4-BE49-F238E27FC236}">
                <a16:creationId xmlns:a16="http://schemas.microsoft.com/office/drawing/2014/main" id="{7FDA8F8D-D490-4B81-9D7E-0E563E02C360}"/>
              </a:ext>
            </a:extLst>
          </p:cNvPr>
          <p:cNvSpPr>
            <a:spLocks xmlns:a="http://schemas.openxmlformats.org/drawingml/2006/main" noGrp="1"/>
          </p:cNvSpPr>
          <p:nvPr/>
        </p:nvSpPr>
        <p:spPr>
          <a:xfrm xmlns:a="http://schemas.openxmlformats.org/drawingml/2006/main" rot="5400000">
            <a:off x="1581150"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7" name="ex2-route-1">
            <a:extLst xmlns:a="http://schemas.openxmlformats.org/drawingml/2006/main">
              <a:ext uri="{FF2B5EF4-FFF2-40B4-BE49-F238E27FC236}">
                <a16:creationId xmlns:a16="http://schemas.microsoft.com/office/drawing/2014/main" id="{2D3308A7-4E7B-4E11-84D0-A69DE6D81243}"/>
              </a:ext>
            </a:extLst>
          </p:cNvPr>
          <p:cNvSpPr>
            <a:spLocks xmlns:a="http://schemas.openxmlformats.org/drawingml/2006/main" noGrp="1"/>
          </p:cNvSpPr>
          <p:nvPr/>
        </p:nvSpPr>
        <p:spPr>
          <a:xfrm xmlns:a="http://schemas.openxmlformats.org/drawingml/2006/main">
            <a:off x="1752600" y="19240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Input BPF</a:t>
            </a:r>
          </a:p>
        </p:txBody>
      </p:sp>
      <p:sp>
        <p:nvSpPr>
          <p:cNvPr id="8" name="ex2-removed-input-bpf">
            <a:extLst xmlns:a="http://schemas.openxmlformats.org/drawingml/2006/main">
              <a:ext uri="{FF2B5EF4-FFF2-40B4-BE49-F238E27FC236}">
                <a16:creationId xmlns:a16="http://schemas.microsoft.com/office/drawing/2014/main" id="{963AFC0C-ED33-4ADC-B2DC-78F2790A02F6}"/>
              </a:ext>
            </a:extLst>
          </p:cNvPr>
          <p:cNvSpPr>
            <a:spLocks xmlns:a="http://schemas.openxmlformats.org/drawingml/2006/main" noGrp="1"/>
          </p:cNvSpPr>
          <p:nvPr/>
        </p:nvSpPr>
        <p:spPr>
          <a:xfrm xmlns:a="http://schemas.openxmlformats.org/drawingml/2006/main">
            <a:off x="1781175" y="2066925"/>
            <a:ext cx="1085850"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9" name="ex2-route-arrow1-line">
            <a:extLst xmlns:a="http://schemas.openxmlformats.org/drawingml/2006/main">
              <a:ext uri="{FF2B5EF4-FFF2-40B4-BE49-F238E27FC236}">
                <a16:creationId xmlns:a16="http://schemas.microsoft.com/office/drawing/2014/main" id="{3BB7EC5E-663F-4AD8-986D-CB31521B6913}"/>
              </a:ext>
            </a:extLst>
          </p:cNvPr>
          <p:cNvSpPr>
            <a:spLocks xmlns:a="http://schemas.openxmlformats.org/drawingml/2006/main" noGrp="1"/>
          </p:cNvSpPr>
          <p:nvPr/>
        </p:nvSpPr>
        <p:spPr>
          <a:xfrm xmlns:a="http://schemas.openxmlformats.org/drawingml/2006/main">
            <a:off x="2971800" y="2057400"/>
            <a:ext cx="614363"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0" name="ex2-route-arrow1-head">
            <a:extLst xmlns:a="http://schemas.openxmlformats.org/drawingml/2006/main">
              <a:ext uri="{FF2B5EF4-FFF2-40B4-BE49-F238E27FC236}">
                <a16:creationId xmlns:a16="http://schemas.microsoft.com/office/drawing/2014/main" id="{044F0888-F7CE-4905-8789-AF904B8CCD7E}"/>
              </a:ext>
            </a:extLst>
          </p:cNvPr>
          <p:cNvSpPr>
            <a:spLocks xmlns:a="http://schemas.openxmlformats.org/drawingml/2006/main" noGrp="1"/>
          </p:cNvSpPr>
          <p:nvPr/>
        </p:nvSpPr>
        <p:spPr>
          <a:xfrm xmlns:a="http://schemas.openxmlformats.org/drawingml/2006/main" rot="5400000">
            <a:off x="3567113"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1" name="ex2-route-2">
            <a:extLst xmlns:a="http://schemas.openxmlformats.org/drawingml/2006/main">
              <a:ext uri="{FF2B5EF4-FFF2-40B4-BE49-F238E27FC236}">
                <a16:creationId xmlns:a16="http://schemas.microsoft.com/office/drawing/2014/main" id="{6D8020E9-C9A4-4B9C-8C17-4526515612B3}"/>
              </a:ext>
            </a:extLst>
          </p:cNvPr>
          <p:cNvSpPr>
            <a:spLocks xmlns:a="http://schemas.openxmlformats.org/drawingml/2006/main" noGrp="1"/>
          </p:cNvSpPr>
          <p:nvPr/>
        </p:nvSpPr>
        <p:spPr>
          <a:xfrm xmlns:a="http://schemas.openxmlformats.org/drawingml/2006/main">
            <a:off x="3738563" y="19240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Mix with LO</a:t>
            </a:r>
          </a:p>
        </p:txBody>
      </p:sp>
      <p:sp>
        <p:nvSpPr>
          <p:cNvPr id="12" name="ex2-current-operation">
            <a:extLst xmlns:a="http://schemas.openxmlformats.org/drawingml/2006/main">
              <a:ext uri="{FF2B5EF4-FFF2-40B4-BE49-F238E27FC236}">
                <a16:creationId xmlns:a16="http://schemas.microsoft.com/office/drawing/2014/main" id="{7B10277E-ECA0-4AAE-849A-4175A30F87C5}"/>
              </a:ext>
            </a:extLst>
          </p:cNvPr>
          <p:cNvSpPr>
            <a:spLocks xmlns:a="http://schemas.openxmlformats.org/drawingml/2006/main" noGrp="1"/>
          </p:cNvSpPr>
          <p:nvPr/>
        </p:nvSpPr>
        <p:spPr>
          <a:xfrm xmlns:a="http://schemas.openxmlformats.org/drawingml/2006/main">
            <a:off x="3738563" y="2209800"/>
            <a:ext cx="1476375" cy="17145"/>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3" name="ex2-route-arrow2-line">
            <a:extLst xmlns:a="http://schemas.openxmlformats.org/drawingml/2006/main">
              <a:ext uri="{FF2B5EF4-FFF2-40B4-BE49-F238E27FC236}">
                <a16:creationId xmlns:a16="http://schemas.microsoft.com/office/drawing/2014/main" id="{D8F1C143-F5F2-44DB-B993-42593F5B1BA0}"/>
              </a:ext>
            </a:extLst>
          </p:cNvPr>
          <p:cNvSpPr>
            <a:spLocks xmlns:a="http://schemas.openxmlformats.org/drawingml/2006/main" noGrp="1"/>
          </p:cNvSpPr>
          <p:nvPr/>
        </p:nvSpPr>
        <p:spPr>
          <a:xfrm xmlns:a="http://schemas.openxmlformats.org/drawingml/2006/main">
            <a:off x="5291138" y="2057400"/>
            <a:ext cx="561975"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4" name="ex2-route-arrow2-head">
            <a:extLst xmlns:a="http://schemas.openxmlformats.org/drawingml/2006/main">
              <a:ext uri="{FF2B5EF4-FFF2-40B4-BE49-F238E27FC236}">
                <a16:creationId xmlns:a16="http://schemas.microsoft.com/office/drawing/2014/main" id="{CBCA3B60-B52D-4931-B1CD-F7D00B8053CE}"/>
              </a:ext>
            </a:extLst>
          </p:cNvPr>
          <p:cNvSpPr>
            <a:spLocks xmlns:a="http://schemas.openxmlformats.org/drawingml/2006/main" noGrp="1"/>
          </p:cNvSpPr>
          <p:nvPr/>
        </p:nvSpPr>
        <p:spPr>
          <a:xfrm xmlns:a="http://schemas.openxmlformats.org/drawingml/2006/main" rot="5400000">
            <a:off x="5834063"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5" name="ex2-route-3">
            <a:extLst xmlns:a="http://schemas.openxmlformats.org/drawingml/2006/main">
              <a:ext uri="{FF2B5EF4-FFF2-40B4-BE49-F238E27FC236}">
                <a16:creationId xmlns:a16="http://schemas.microsoft.com/office/drawing/2014/main" id="{B5861318-CF94-4636-958B-C0D18EBCD9FD}"/>
              </a:ext>
            </a:extLst>
          </p:cNvPr>
          <p:cNvSpPr>
            <a:spLocks xmlns:a="http://schemas.openxmlformats.org/drawingml/2006/main" noGrp="1"/>
          </p:cNvSpPr>
          <p:nvPr/>
        </p:nvSpPr>
        <p:spPr>
          <a:xfrm xmlns:a="http://schemas.openxmlformats.org/drawingml/2006/main">
            <a:off x="6005513" y="192405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IF BPF</a:t>
            </a:r>
          </a:p>
        </p:txBody>
      </p:sp>
      <p:sp>
        <p:nvSpPr>
          <p:cNvPr id="16" name="ex2-route-arrow3-line">
            <a:extLst xmlns:a="http://schemas.openxmlformats.org/drawingml/2006/main">
              <a:ext uri="{FF2B5EF4-FFF2-40B4-BE49-F238E27FC236}">
                <a16:creationId xmlns:a16="http://schemas.microsoft.com/office/drawing/2014/main" id="{42DD84EA-9C6C-4C0B-841C-A56B7B3304F6}"/>
              </a:ext>
            </a:extLst>
          </p:cNvPr>
          <p:cNvSpPr>
            <a:spLocks xmlns:a="http://schemas.openxmlformats.org/drawingml/2006/main" noGrp="1"/>
          </p:cNvSpPr>
          <p:nvPr/>
        </p:nvSpPr>
        <p:spPr>
          <a:xfrm xmlns:a="http://schemas.openxmlformats.org/drawingml/2006/main">
            <a:off x="7272338" y="2057400"/>
            <a:ext cx="457200"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7" name="ex2-route-arrow3-head">
            <a:extLst xmlns:a="http://schemas.openxmlformats.org/drawingml/2006/main">
              <a:ext uri="{FF2B5EF4-FFF2-40B4-BE49-F238E27FC236}">
                <a16:creationId xmlns:a16="http://schemas.microsoft.com/office/drawing/2014/main" id="{8E8E1F47-265B-464C-9104-A38C1F60A000}"/>
              </a:ext>
            </a:extLst>
          </p:cNvPr>
          <p:cNvSpPr>
            <a:spLocks xmlns:a="http://schemas.openxmlformats.org/drawingml/2006/main" noGrp="1"/>
          </p:cNvSpPr>
          <p:nvPr/>
        </p:nvSpPr>
        <p:spPr>
          <a:xfrm xmlns:a="http://schemas.openxmlformats.org/drawingml/2006/main" rot="5400000">
            <a:off x="7710488"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8" name="ex2-route-4">
            <a:extLst xmlns:a="http://schemas.openxmlformats.org/drawingml/2006/main">
              <a:ext uri="{FF2B5EF4-FFF2-40B4-BE49-F238E27FC236}">
                <a16:creationId xmlns:a16="http://schemas.microsoft.com/office/drawing/2014/main" id="{FD9B006C-C3C3-430F-9774-5EA71B5F61E7}"/>
              </a:ext>
            </a:extLst>
          </p:cNvPr>
          <p:cNvSpPr>
            <a:spLocks xmlns:a="http://schemas.openxmlformats.org/drawingml/2006/main" noGrp="1"/>
          </p:cNvSpPr>
          <p:nvPr/>
        </p:nvSpPr>
        <p:spPr>
          <a:xfrm xmlns:a="http://schemas.openxmlformats.org/drawingml/2006/main">
            <a:off x="7881938" y="19240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Mix at 20 kHz + LPF</a:t>
            </a:r>
          </a:p>
        </p:txBody>
      </p:sp>
      <p:sp>
        <p:nvSpPr>
          <p:cNvPr id="19" name="ex2-route-arrow4-line">
            <a:extLst xmlns:a="http://schemas.openxmlformats.org/drawingml/2006/main">
              <a:ext uri="{FF2B5EF4-FFF2-40B4-BE49-F238E27FC236}">
                <a16:creationId xmlns:a16="http://schemas.microsoft.com/office/drawing/2014/main" id="{AAD7578F-5609-46DF-92CB-EE8740ED8FDA}"/>
              </a:ext>
            </a:extLst>
          </p:cNvPr>
          <p:cNvSpPr>
            <a:spLocks xmlns:a="http://schemas.openxmlformats.org/drawingml/2006/main" noGrp="1"/>
          </p:cNvSpPr>
          <p:nvPr/>
        </p:nvSpPr>
        <p:spPr>
          <a:xfrm xmlns:a="http://schemas.openxmlformats.org/drawingml/2006/main">
            <a:off x="10196513" y="2057400"/>
            <a:ext cx="319088"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20" name="ex2-route-arrow4-head">
            <a:extLst xmlns:a="http://schemas.openxmlformats.org/drawingml/2006/main">
              <a:ext uri="{FF2B5EF4-FFF2-40B4-BE49-F238E27FC236}">
                <a16:creationId xmlns:a16="http://schemas.microsoft.com/office/drawing/2014/main" id="{776CBD97-52D4-4F17-A6CE-EEB6FE1C7742}"/>
              </a:ext>
            </a:extLst>
          </p:cNvPr>
          <p:cNvSpPr>
            <a:spLocks xmlns:a="http://schemas.openxmlformats.org/drawingml/2006/main" noGrp="1"/>
          </p:cNvSpPr>
          <p:nvPr/>
        </p:nvSpPr>
        <p:spPr>
          <a:xfrm xmlns:a="http://schemas.openxmlformats.org/drawingml/2006/main" rot="5400000">
            <a:off x="10496550"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21" name="ex2-route-5">
            <a:extLst xmlns:a="http://schemas.openxmlformats.org/drawingml/2006/main">
              <a:ext uri="{FF2B5EF4-FFF2-40B4-BE49-F238E27FC236}">
                <a16:creationId xmlns:a16="http://schemas.microsoft.com/office/drawing/2014/main" id="{CB89652C-F9DE-41C9-BBE6-5CEACD86A373}"/>
              </a:ext>
            </a:extLst>
          </p:cNvPr>
          <p:cNvSpPr>
            <a:spLocks xmlns:a="http://schemas.openxmlformats.org/drawingml/2006/main" noGrp="1"/>
          </p:cNvSpPr>
          <p:nvPr/>
        </p:nvSpPr>
        <p:spPr>
          <a:xfrm xmlns:a="http://schemas.openxmlformats.org/drawingml/2006/main">
            <a:off x="10668000" y="192405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Output</a:t>
            </a:r>
          </a:p>
        </p:txBody>
      </p:sp>
      <p:pic>
        <p:nvPicPr>
          <p:cNvPr id="51" name="ex2-loop"/>
          <p:cNvPicPr>
            <a:picLocks xmlns:a="http://schemas.openxmlformats.org/drawingml/2006/main" noChangeAspect="1"/>
          </p:cNvPicPr>
          <p:nvPr/>
        </p:nvPicPr>
        <p:blipFill>
          <a:blip xmlns:r="http://schemas.openxmlformats.org/officeDocument/2006/relationships" xmlns:a="http://schemas.openxmlformats.org/drawingml/2006/main" r:embed="R577bbe69e1f64828"/>
          <a:stretch xmlns:a="http://schemas.openxmlformats.org/drawingml/2006/main"/>
        </p:blipFill>
        <p:spPr>
          <a:xfrm xmlns:a="http://schemas.openxmlformats.org/drawingml/2006/main">
            <a:off x="666750" y="2324100"/>
            <a:ext cx="10858500" cy="1762125"/>
          </a:xfrm>
          <a:prstGeom xmlns:a="http://schemas.openxmlformats.org/drawingml/2006/main" prst="rect">
            <a:avLst/>
          </a:prstGeom>
        </p:spPr>
      </p:pic>
      <p:sp>
        <p:nvSpPr>
          <p:cNvPr id="23" name="ex2-reason1">
            <a:extLst xmlns:a="http://schemas.openxmlformats.org/drawingml/2006/main">
              <a:ext uri="{FF2B5EF4-FFF2-40B4-BE49-F238E27FC236}">
                <a16:creationId xmlns:a16="http://schemas.microsoft.com/office/drawing/2014/main" id="{0795E4B3-01D6-439C-929B-F446C836668A}"/>
              </a:ext>
            </a:extLst>
          </p:cNvPr>
          <p:cNvSpPr>
            <a:spLocks xmlns:a="http://schemas.openxmlformats.org/drawingml/2006/main" noGrp="1"/>
          </p:cNvSpPr>
          <p:nvPr/>
        </p:nvSpPr>
        <p:spPr>
          <a:xfrm xmlns:a="http://schemas.openxmlformats.org/drawingml/2006/main">
            <a:off x="666750" y="41529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Without the input BPF, all three channels enter each mixer. Let its output be</a:t>
            </a:r>
          </a:p>
        </p:txBody>
      </p:sp>
      <p:pic>
        <p:nvPicPr>
          <p:cNvPr id="55" name="ex2-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1048c13c2d9f41dd">
            <a:extLst>
              <a:ext uri="{96DAC541-7B7A-43D3-8B79-37D633B846F1}">
                <ns0:svgBlip xmlns:ns0="http://schemas.microsoft.com/office/drawing/2016/SVG/main" r:embed="rIdVectorexercise_formula_3"/>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56" name="ex2-bypass" descr="v'_k(t)=2s(t)\cos(2\pi f_{\mathrm{LO},k}t)"/>
          <p:cNvPicPr>
            <a:picLocks xmlns:a="http://schemas.openxmlformats.org/drawingml/2006/main" noChangeAspect="1"/>
          </p:cNvPicPr>
          <p:nvPr/>
        </p:nvPicPr>
        <p:blipFill>
          <a:blip xmlns:r="http://schemas.openxmlformats.org/officeDocument/2006/relationships" xmlns:a="http://schemas.openxmlformats.org/drawingml/2006/main" r:embed="R1b8fd331fbc5424e">
            <a:extLst>
              <a:ext uri="{96DAC541-7B7A-43D3-8B79-37D633B846F1}">
                <ns1:svgBlip xmlns:ns1="http://schemas.microsoft.com/office/drawing/2016/SVG/main" r:embed="rIdVectorexercise_formula_4"/>
              </a:ext>
            </a:extLst>
          </a:blip>
          <a:stretch xmlns:a="http://schemas.openxmlformats.org/drawingml/2006/main"/>
        </p:blipFill>
        <p:spPr>
          <a:xfrm xmlns:a="http://schemas.openxmlformats.org/drawingml/2006/main">
            <a:off x="952500" y="4598372"/>
            <a:ext cx="3219450" cy="261580"/>
          </a:xfrm>
          <a:prstGeom xmlns:a="http://schemas.openxmlformats.org/drawingml/2006/main" prst="rect">
            <a:avLst/>
          </a:prstGeom>
        </p:spPr>
      </p:pic>
      <p:pic>
        <p:nvPicPr>
          <p:cNvPr id="57" name="ex2-bypass-cont" descr="=\sum_{j=1}^{3}m_j(t)\{\cos[2\pi(f_{c,j}-f_{\mathrm{LO},k})t]+\cos[2\pi(f_{c,j}+f_{\mathrm{LO},k})t]\}"/>
          <p:cNvPicPr>
            <a:picLocks xmlns:a="http://schemas.openxmlformats.org/drawingml/2006/main" noChangeAspect="1"/>
          </p:cNvPicPr>
          <p:nvPr/>
        </p:nvPicPr>
        <p:blipFill>
          <a:blip xmlns:r="http://schemas.openxmlformats.org/officeDocument/2006/relationships" xmlns:a="http://schemas.openxmlformats.org/drawingml/2006/main" r:embed="R2a403ac225aa46be">
            <a:extLst>
              <a:ext uri="{96DAC541-7B7A-43D3-8B79-37D633B846F1}">
                <ns2:svgBlip xmlns:ns2="http://schemas.microsoft.com/office/drawing/2016/SVG/main" r:embed="rIdVectorexercise_formula_5"/>
              </a:ext>
            </a:extLst>
          </a:blip>
          <a:stretch xmlns:a="http://schemas.openxmlformats.org/drawingml/2006/main"/>
        </p:blipFill>
        <p:spPr>
          <a:xfrm xmlns:a="http://schemas.openxmlformats.org/drawingml/2006/main">
            <a:off x="1642227" y="4956631"/>
            <a:ext cx="7132320" cy="345162"/>
          </a:xfrm>
          <a:prstGeom xmlns:a="http://schemas.openxmlformats.org/drawingml/2006/main" prst="rect">
            <a:avLst/>
          </a:prstGeom>
        </p:spPr>
      </p:pic>
    </p:spTree>
    <p:extLst>
      <p:ext uri="{BB962C8B-B14F-4D97-AF65-F5344CB8AC3E}">
        <p14:creationId xmlns:p14="http://schemas.microsoft.com/office/powerpoint/2010/main" val="43245668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400"/>
                                        <p:tgtEl>
                                          <p:spTgt spid="56"/>
                                        </p:tgtEl>
                                      </p:cBhvr>
                                    </p:animEffect>
                                  </p:childTnLst>
                                </p:cTn>
                              </p:par>
                              <p:par>
                                <p:cTn id="11" presetID="10"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c_positioned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ex3-title">
            <ns0:hlinkClick xmlns:ns0="http://schemas.openxmlformats.org/drawingml/2006/main" xmlns:ns1="http://schemas.openxmlformats.org/officeDocument/2006/relationships" ns1:id="rIdExerciseLink4" action="ppaction://hlinksldjump"/>
            <a:extLst xmlns:a="http://schemas.openxmlformats.org/drawingml/2006/main">
              <a:ext uri="{FF2B5EF4-FFF2-40B4-BE49-F238E27FC236}">
                <a16:creationId xmlns:a16="http://schemas.microsoft.com/office/drawing/2014/main" id="{BCF8B4B0-8C3D-4F2F-B3F4-5647836252F1}"/>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3-subtitle">
            <a:extLst xmlns:a="http://schemas.openxmlformats.org/drawingml/2006/main">
              <a:ext uri="{FF2B5EF4-FFF2-40B4-BE49-F238E27FC236}">
                <a16:creationId xmlns:a16="http://schemas.microsoft.com/office/drawing/2014/main" id="{4AE833D9-C6B2-4176-8ADC-0E402D2CB085}"/>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3-question">
            <a:extLst xmlns:a="http://schemas.openxmlformats.org/drawingml/2006/main">
              <a:ext uri="{FF2B5EF4-FFF2-40B4-BE49-F238E27FC236}">
                <a16:creationId xmlns:a16="http://schemas.microsoft.com/office/drawing/2014/main" id="{9E253062-0776-45E8-B753-393B53D00B52}"/>
              </a:ext>
            </a:extLst>
          </p:cNvPr>
          <p:cNvSpPr>
            <a:spLocks xmlns:a="http://schemas.openxmlformats.org/drawingml/2006/main" noGrp="1"/>
          </p:cNvSpPr>
          <p:nvPr/>
        </p:nvSpPr>
        <p:spPr>
          <a:xfrm xmlns:a="http://schemas.openxmlformats.org/drawingml/2006/main">
            <a:off x="666750" y="15049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(c)  Find which mixed channels pass the IF BPF.</a:t>
            </a:r>
          </a:p>
        </p:txBody>
      </p:sp>
      <p:sp>
        <p:nvSpPr>
          <p:cNvPr id="4" name="ex3-route-0">
            <a:extLst xmlns:a="http://schemas.openxmlformats.org/drawingml/2006/main">
              <a:ext uri="{FF2B5EF4-FFF2-40B4-BE49-F238E27FC236}">
                <a16:creationId xmlns:a16="http://schemas.microsoft.com/office/drawing/2014/main" id="{51B8F178-631C-4463-B037-36B634A6F290}"/>
              </a:ext>
            </a:extLst>
          </p:cNvPr>
          <p:cNvSpPr>
            <a:spLocks xmlns:a="http://schemas.openxmlformats.org/drawingml/2006/main" noGrp="1"/>
          </p:cNvSpPr>
          <p:nvPr/>
        </p:nvSpPr>
        <p:spPr>
          <a:xfrm xmlns:a="http://schemas.openxmlformats.org/drawingml/2006/main">
            <a:off x="619125" y="19240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s(t)</a:t>
            </a:r>
          </a:p>
        </p:txBody>
      </p:sp>
      <p:sp>
        <p:nvSpPr>
          <p:cNvPr id="5" name="ex3-route-arrow0-line">
            <a:extLst xmlns:a="http://schemas.openxmlformats.org/drawingml/2006/main">
              <a:ext uri="{FF2B5EF4-FFF2-40B4-BE49-F238E27FC236}">
                <a16:creationId xmlns:a16="http://schemas.microsoft.com/office/drawing/2014/main" id="{826BD28F-57EF-46E4-BD4C-03F99B221D6D}"/>
              </a:ext>
            </a:extLst>
          </p:cNvPr>
          <p:cNvSpPr>
            <a:spLocks xmlns:a="http://schemas.openxmlformats.org/drawingml/2006/main" noGrp="1"/>
          </p:cNvSpPr>
          <p:nvPr/>
        </p:nvSpPr>
        <p:spPr>
          <a:xfrm xmlns:a="http://schemas.openxmlformats.org/drawingml/2006/main">
            <a:off x="1266825" y="2057400"/>
            <a:ext cx="333375"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6" name="ex3-route-arrow0-head">
            <a:extLst xmlns:a="http://schemas.openxmlformats.org/drawingml/2006/main">
              <a:ext uri="{FF2B5EF4-FFF2-40B4-BE49-F238E27FC236}">
                <a16:creationId xmlns:a16="http://schemas.microsoft.com/office/drawing/2014/main" id="{CEC59BF0-0550-4974-BDEC-AE8E2CD4F827}"/>
              </a:ext>
            </a:extLst>
          </p:cNvPr>
          <p:cNvSpPr>
            <a:spLocks xmlns:a="http://schemas.openxmlformats.org/drawingml/2006/main" noGrp="1"/>
          </p:cNvSpPr>
          <p:nvPr/>
        </p:nvSpPr>
        <p:spPr>
          <a:xfrm xmlns:a="http://schemas.openxmlformats.org/drawingml/2006/main" rot="5400000">
            <a:off x="1581150"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7" name="ex3-route-1">
            <a:extLst xmlns:a="http://schemas.openxmlformats.org/drawingml/2006/main">
              <a:ext uri="{FF2B5EF4-FFF2-40B4-BE49-F238E27FC236}">
                <a16:creationId xmlns:a16="http://schemas.microsoft.com/office/drawing/2014/main" id="{C8626DB2-91D5-4493-AC95-C4554032281D}"/>
              </a:ext>
            </a:extLst>
          </p:cNvPr>
          <p:cNvSpPr>
            <a:spLocks xmlns:a="http://schemas.openxmlformats.org/drawingml/2006/main" noGrp="1"/>
          </p:cNvSpPr>
          <p:nvPr/>
        </p:nvSpPr>
        <p:spPr>
          <a:xfrm xmlns:a="http://schemas.openxmlformats.org/drawingml/2006/main">
            <a:off x="1752600" y="19240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Input BPF</a:t>
            </a:r>
          </a:p>
        </p:txBody>
      </p:sp>
      <p:sp>
        <p:nvSpPr>
          <p:cNvPr id="8" name="ex3-removed-input-bpf">
            <a:extLst xmlns:a="http://schemas.openxmlformats.org/drawingml/2006/main">
              <a:ext uri="{FF2B5EF4-FFF2-40B4-BE49-F238E27FC236}">
                <a16:creationId xmlns:a16="http://schemas.microsoft.com/office/drawing/2014/main" id="{2A541D55-ADA1-4629-8F8D-39768EF10E92}"/>
              </a:ext>
            </a:extLst>
          </p:cNvPr>
          <p:cNvSpPr>
            <a:spLocks xmlns:a="http://schemas.openxmlformats.org/drawingml/2006/main" noGrp="1"/>
          </p:cNvSpPr>
          <p:nvPr/>
        </p:nvSpPr>
        <p:spPr>
          <a:xfrm xmlns:a="http://schemas.openxmlformats.org/drawingml/2006/main">
            <a:off x="1781175" y="2066925"/>
            <a:ext cx="1085850"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9" name="ex3-route-arrow1-line">
            <a:extLst xmlns:a="http://schemas.openxmlformats.org/drawingml/2006/main">
              <a:ext uri="{FF2B5EF4-FFF2-40B4-BE49-F238E27FC236}">
                <a16:creationId xmlns:a16="http://schemas.microsoft.com/office/drawing/2014/main" id="{B5085B81-057F-479D-AD6E-223E14441C28}"/>
              </a:ext>
            </a:extLst>
          </p:cNvPr>
          <p:cNvSpPr>
            <a:spLocks xmlns:a="http://schemas.openxmlformats.org/drawingml/2006/main" noGrp="1"/>
          </p:cNvSpPr>
          <p:nvPr/>
        </p:nvSpPr>
        <p:spPr>
          <a:xfrm xmlns:a="http://schemas.openxmlformats.org/drawingml/2006/main">
            <a:off x="2971800" y="2057400"/>
            <a:ext cx="614363"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0" name="ex3-route-arrow1-head">
            <a:extLst xmlns:a="http://schemas.openxmlformats.org/drawingml/2006/main">
              <a:ext uri="{FF2B5EF4-FFF2-40B4-BE49-F238E27FC236}">
                <a16:creationId xmlns:a16="http://schemas.microsoft.com/office/drawing/2014/main" id="{E6F0730D-942E-457C-8B72-5FDC28AA6049}"/>
              </a:ext>
            </a:extLst>
          </p:cNvPr>
          <p:cNvSpPr>
            <a:spLocks xmlns:a="http://schemas.openxmlformats.org/drawingml/2006/main" noGrp="1"/>
          </p:cNvSpPr>
          <p:nvPr/>
        </p:nvSpPr>
        <p:spPr>
          <a:xfrm xmlns:a="http://schemas.openxmlformats.org/drawingml/2006/main" rot="5400000">
            <a:off x="3567113"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1" name="ex3-route-2">
            <a:extLst xmlns:a="http://schemas.openxmlformats.org/drawingml/2006/main">
              <a:ext uri="{FF2B5EF4-FFF2-40B4-BE49-F238E27FC236}">
                <a16:creationId xmlns:a16="http://schemas.microsoft.com/office/drawing/2014/main" id="{53F71D3D-AC13-47BE-8EF2-E1ABFFE0B1AF}"/>
              </a:ext>
            </a:extLst>
          </p:cNvPr>
          <p:cNvSpPr>
            <a:spLocks xmlns:a="http://schemas.openxmlformats.org/drawingml/2006/main" noGrp="1"/>
          </p:cNvSpPr>
          <p:nvPr/>
        </p:nvSpPr>
        <p:spPr>
          <a:xfrm xmlns:a="http://schemas.openxmlformats.org/drawingml/2006/main">
            <a:off x="3738563" y="19240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Mix with LO</a:t>
            </a:r>
          </a:p>
        </p:txBody>
      </p:sp>
      <p:sp>
        <p:nvSpPr>
          <p:cNvPr id="12" name="ex3-route-arrow2-line">
            <a:extLst xmlns:a="http://schemas.openxmlformats.org/drawingml/2006/main">
              <a:ext uri="{FF2B5EF4-FFF2-40B4-BE49-F238E27FC236}">
                <a16:creationId xmlns:a16="http://schemas.microsoft.com/office/drawing/2014/main" id="{4041575B-B8CC-4EA5-B105-21B2020355C7}"/>
              </a:ext>
            </a:extLst>
          </p:cNvPr>
          <p:cNvSpPr>
            <a:spLocks xmlns:a="http://schemas.openxmlformats.org/drawingml/2006/main" noGrp="1"/>
          </p:cNvSpPr>
          <p:nvPr/>
        </p:nvSpPr>
        <p:spPr>
          <a:xfrm xmlns:a="http://schemas.openxmlformats.org/drawingml/2006/main">
            <a:off x="5291138" y="2057400"/>
            <a:ext cx="561975"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3" name="ex3-route-arrow2-head">
            <a:extLst xmlns:a="http://schemas.openxmlformats.org/drawingml/2006/main">
              <a:ext uri="{FF2B5EF4-FFF2-40B4-BE49-F238E27FC236}">
                <a16:creationId xmlns:a16="http://schemas.microsoft.com/office/drawing/2014/main" id="{5B865C6D-215A-4781-92BE-E8423B2118E4}"/>
              </a:ext>
            </a:extLst>
          </p:cNvPr>
          <p:cNvSpPr>
            <a:spLocks xmlns:a="http://schemas.openxmlformats.org/drawingml/2006/main" noGrp="1"/>
          </p:cNvSpPr>
          <p:nvPr/>
        </p:nvSpPr>
        <p:spPr>
          <a:xfrm xmlns:a="http://schemas.openxmlformats.org/drawingml/2006/main" rot="5400000">
            <a:off x="5834063"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4" name="ex3-route-3">
            <a:extLst xmlns:a="http://schemas.openxmlformats.org/drawingml/2006/main">
              <a:ext uri="{FF2B5EF4-FFF2-40B4-BE49-F238E27FC236}">
                <a16:creationId xmlns:a16="http://schemas.microsoft.com/office/drawing/2014/main" id="{DF647A5A-045B-4709-A5E9-908FA2D57C24}"/>
              </a:ext>
            </a:extLst>
          </p:cNvPr>
          <p:cNvSpPr>
            <a:spLocks xmlns:a="http://schemas.openxmlformats.org/drawingml/2006/main" noGrp="1"/>
          </p:cNvSpPr>
          <p:nvPr/>
        </p:nvSpPr>
        <p:spPr>
          <a:xfrm xmlns:a="http://schemas.openxmlformats.org/drawingml/2006/main">
            <a:off x="6005513" y="192405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IF BPF</a:t>
            </a:r>
          </a:p>
        </p:txBody>
      </p:sp>
      <p:sp>
        <p:nvSpPr>
          <p:cNvPr id="15" name="ex3-current-operation">
            <a:extLst xmlns:a="http://schemas.openxmlformats.org/drawingml/2006/main">
              <a:ext uri="{FF2B5EF4-FFF2-40B4-BE49-F238E27FC236}">
                <a16:creationId xmlns:a16="http://schemas.microsoft.com/office/drawing/2014/main" id="{1F8CBFED-F4EB-4A6F-812B-859718B44A9B}"/>
              </a:ext>
            </a:extLst>
          </p:cNvPr>
          <p:cNvSpPr>
            <a:spLocks xmlns:a="http://schemas.openxmlformats.org/drawingml/2006/main" noGrp="1"/>
          </p:cNvSpPr>
          <p:nvPr/>
        </p:nvSpPr>
        <p:spPr>
          <a:xfrm xmlns:a="http://schemas.openxmlformats.org/drawingml/2006/main">
            <a:off x="6005513" y="2209800"/>
            <a:ext cx="1190625" cy="17145"/>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6" name="ex3-route-arrow3-line">
            <a:extLst xmlns:a="http://schemas.openxmlformats.org/drawingml/2006/main">
              <a:ext uri="{FF2B5EF4-FFF2-40B4-BE49-F238E27FC236}">
                <a16:creationId xmlns:a16="http://schemas.microsoft.com/office/drawing/2014/main" id="{F3E52952-23EA-433A-9105-8E9FB7C9BE53}"/>
              </a:ext>
            </a:extLst>
          </p:cNvPr>
          <p:cNvSpPr>
            <a:spLocks xmlns:a="http://schemas.openxmlformats.org/drawingml/2006/main" noGrp="1"/>
          </p:cNvSpPr>
          <p:nvPr/>
        </p:nvSpPr>
        <p:spPr>
          <a:xfrm xmlns:a="http://schemas.openxmlformats.org/drawingml/2006/main">
            <a:off x="7272338" y="2057400"/>
            <a:ext cx="457200"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7" name="ex3-route-arrow3-head">
            <a:extLst xmlns:a="http://schemas.openxmlformats.org/drawingml/2006/main">
              <a:ext uri="{FF2B5EF4-FFF2-40B4-BE49-F238E27FC236}">
                <a16:creationId xmlns:a16="http://schemas.microsoft.com/office/drawing/2014/main" id="{312ABB1E-4B9D-4338-B74C-2D0A9F992CF3}"/>
              </a:ext>
            </a:extLst>
          </p:cNvPr>
          <p:cNvSpPr>
            <a:spLocks xmlns:a="http://schemas.openxmlformats.org/drawingml/2006/main" noGrp="1"/>
          </p:cNvSpPr>
          <p:nvPr/>
        </p:nvSpPr>
        <p:spPr>
          <a:xfrm xmlns:a="http://schemas.openxmlformats.org/drawingml/2006/main" rot="5400000">
            <a:off x="7710488"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8" name="ex3-route-4">
            <a:extLst xmlns:a="http://schemas.openxmlformats.org/drawingml/2006/main">
              <a:ext uri="{FF2B5EF4-FFF2-40B4-BE49-F238E27FC236}">
                <a16:creationId xmlns:a16="http://schemas.microsoft.com/office/drawing/2014/main" id="{54081F91-F82B-4C71-B0A4-B8D98A4C7CB5}"/>
              </a:ext>
            </a:extLst>
          </p:cNvPr>
          <p:cNvSpPr>
            <a:spLocks xmlns:a="http://schemas.openxmlformats.org/drawingml/2006/main" noGrp="1"/>
          </p:cNvSpPr>
          <p:nvPr/>
        </p:nvSpPr>
        <p:spPr>
          <a:xfrm xmlns:a="http://schemas.openxmlformats.org/drawingml/2006/main">
            <a:off x="7881938" y="19240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Mix at 20 kHz + LPF</a:t>
            </a:r>
          </a:p>
        </p:txBody>
      </p:sp>
      <p:sp>
        <p:nvSpPr>
          <p:cNvPr id="19" name="ex3-route-arrow4-line">
            <a:extLst xmlns:a="http://schemas.openxmlformats.org/drawingml/2006/main">
              <a:ext uri="{FF2B5EF4-FFF2-40B4-BE49-F238E27FC236}">
                <a16:creationId xmlns:a16="http://schemas.microsoft.com/office/drawing/2014/main" id="{5227AAAD-279A-451D-B210-085A46FD4BC3}"/>
              </a:ext>
            </a:extLst>
          </p:cNvPr>
          <p:cNvSpPr>
            <a:spLocks xmlns:a="http://schemas.openxmlformats.org/drawingml/2006/main" noGrp="1"/>
          </p:cNvSpPr>
          <p:nvPr/>
        </p:nvSpPr>
        <p:spPr>
          <a:xfrm xmlns:a="http://schemas.openxmlformats.org/drawingml/2006/main">
            <a:off x="10196513" y="2057400"/>
            <a:ext cx="319088"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20" name="ex3-route-arrow4-head">
            <a:extLst xmlns:a="http://schemas.openxmlformats.org/drawingml/2006/main">
              <a:ext uri="{FF2B5EF4-FFF2-40B4-BE49-F238E27FC236}">
                <a16:creationId xmlns:a16="http://schemas.microsoft.com/office/drawing/2014/main" id="{EE53D678-301E-49A1-A3EA-B4E48256588B}"/>
              </a:ext>
            </a:extLst>
          </p:cNvPr>
          <p:cNvSpPr>
            <a:spLocks xmlns:a="http://schemas.openxmlformats.org/drawingml/2006/main" noGrp="1"/>
          </p:cNvSpPr>
          <p:nvPr/>
        </p:nvSpPr>
        <p:spPr>
          <a:xfrm xmlns:a="http://schemas.openxmlformats.org/drawingml/2006/main" rot="5400000">
            <a:off x="10496550"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21" name="ex3-route-5">
            <a:extLst xmlns:a="http://schemas.openxmlformats.org/drawingml/2006/main">
              <a:ext uri="{FF2B5EF4-FFF2-40B4-BE49-F238E27FC236}">
                <a16:creationId xmlns:a16="http://schemas.microsoft.com/office/drawing/2014/main" id="{6F331560-FA48-478C-8664-2C68D4ADA82A}"/>
              </a:ext>
            </a:extLst>
          </p:cNvPr>
          <p:cNvSpPr>
            <a:spLocks xmlns:a="http://schemas.openxmlformats.org/drawingml/2006/main" noGrp="1"/>
          </p:cNvSpPr>
          <p:nvPr/>
        </p:nvSpPr>
        <p:spPr>
          <a:xfrm xmlns:a="http://schemas.openxmlformats.org/drawingml/2006/main">
            <a:off x="10668000" y="192405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Output</a:t>
            </a:r>
          </a:p>
        </p:txBody>
      </p:sp>
      <p:pic>
        <p:nvPicPr>
          <p:cNvPr id="72" name="ex3-loop"/>
          <p:cNvPicPr>
            <a:picLocks xmlns:a="http://schemas.openxmlformats.org/drawingml/2006/main" noChangeAspect="1"/>
          </p:cNvPicPr>
          <p:nvPr/>
        </p:nvPicPr>
        <p:blipFill>
          <a:blip xmlns:r="http://schemas.openxmlformats.org/officeDocument/2006/relationships" xmlns:a="http://schemas.openxmlformats.org/drawingml/2006/main" r:embed="R54437fce00b04239"/>
          <a:stretch xmlns:a="http://schemas.openxmlformats.org/drawingml/2006/main"/>
        </p:blipFill>
        <p:spPr>
          <a:xfrm xmlns:a="http://schemas.openxmlformats.org/drawingml/2006/main">
            <a:off x="666750" y="2324100"/>
            <a:ext cx="10858500" cy="1762125"/>
          </a:xfrm>
          <a:prstGeom xmlns:a="http://schemas.openxmlformats.org/drawingml/2006/main" prst="rect">
            <a:avLst/>
          </a:prstGeom>
        </p:spPr>
      </p:pic>
      <p:sp>
        <p:nvSpPr>
          <p:cNvPr id="23" name="ex3-reason1">
            <a:extLst xmlns:a="http://schemas.openxmlformats.org/drawingml/2006/main">
              <a:ext uri="{FF2B5EF4-FFF2-40B4-BE49-F238E27FC236}">
                <a16:creationId xmlns:a16="http://schemas.microsoft.com/office/drawing/2014/main" id="{C564A6D1-A87F-4B2D-86E7-DF319EBF3C28}"/>
              </a:ext>
            </a:extLst>
          </p:cNvPr>
          <p:cNvSpPr>
            <a:spLocks xmlns:a="http://schemas.openxmlformats.org/drawingml/2006/main" noGrp="1"/>
          </p:cNvSpPr>
          <p:nvPr/>
        </p:nvSpPr>
        <p:spPr>
          <a:xfrm xmlns:a="http://schemas.openxmlformats.org/drawingml/2006/main">
            <a:off x="666750" y="41814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Since cos(-x) = cos(x), a difference of either -20 or +20 kHz reaches the IF band.</a:t>
            </a:r>
          </a:p>
        </p:txBody>
      </p:sp>
      <p:sp>
        <p:nvSpPr>
          <p:cNvPr id="24" name="ex3-th1">
            <a:extLst xmlns:a="http://schemas.openxmlformats.org/drawingml/2006/main">
              <a:ext uri="{FF2B5EF4-FFF2-40B4-BE49-F238E27FC236}">
                <a16:creationId xmlns:a16="http://schemas.microsoft.com/office/drawing/2014/main" id="{129DBDEA-6666-4C06-82DB-D94880CA2860}"/>
              </a:ext>
            </a:extLst>
          </p:cNvPr>
          <p:cNvSpPr>
            <a:spLocks xmlns:a="http://schemas.openxmlformats.org/drawingml/2006/main" noGrp="1"/>
          </p:cNvSpPr>
          <p:nvPr/>
        </p:nvSpPr>
        <p:spPr>
          <a:xfrm xmlns:a="http://schemas.openxmlformats.org/drawingml/2006/main">
            <a:off x="762000" y="45720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Branch / LO</a:t>
            </a:r>
          </a:p>
        </p:txBody>
      </p:sp>
      <p:sp>
        <p:nvSpPr>
          <p:cNvPr id="25" name="ex3-th2">
            <a:extLst xmlns:a="http://schemas.openxmlformats.org/drawingml/2006/main">
              <a:ext uri="{FF2B5EF4-FFF2-40B4-BE49-F238E27FC236}">
                <a16:creationId xmlns:a16="http://schemas.microsoft.com/office/drawing/2014/main" id="{C215864E-6315-4F67-98CC-B5087AB396A6}"/>
              </a:ext>
            </a:extLst>
          </p:cNvPr>
          <p:cNvSpPr>
            <a:spLocks xmlns:a="http://schemas.openxmlformats.org/drawingml/2006/main" noGrp="1"/>
          </p:cNvSpPr>
          <p:nvPr/>
        </p:nvSpPr>
        <p:spPr>
          <a:xfrm xmlns:a="http://schemas.openxmlformats.org/drawingml/2006/main">
            <a:off x="2933700" y="45720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From 80</a:t>
            </a:r>
          </a:p>
        </p:txBody>
      </p:sp>
      <p:sp>
        <p:nvSpPr>
          <p:cNvPr id="26" name="ex3-th3">
            <a:extLst xmlns:a="http://schemas.openxmlformats.org/drawingml/2006/main">
              <a:ext uri="{FF2B5EF4-FFF2-40B4-BE49-F238E27FC236}">
                <a16:creationId xmlns:a16="http://schemas.microsoft.com/office/drawing/2014/main" id="{6BE073B3-672A-41E7-B78B-1399FFEF00CE}"/>
              </a:ext>
            </a:extLst>
          </p:cNvPr>
          <p:cNvSpPr>
            <a:spLocks xmlns:a="http://schemas.openxmlformats.org/drawingml/2006/main" noGrp="1"/>
          </p:cNvSpPr>
          <p:nvPr/>
        </p:nvSpPr>
        <p:spPr>
          <a:xfrm xmlns:a="http://schemas.openxmlformats.org/drawingml/2006/main">
            <a:off x="4638675" y="45720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From 120</a:t>
            </a:r>
          </a:p>
        </p:txBody>
      </p:sp>
      <p:sp>
        <p:nvSpPr>
          <p:cNvPr id="27" name="ex3-th4">
            <a:extLst xmlns:a="http://schemas.openxmlformats.org/drawingml/2006/main">
              <a:ext uri="{FF2B5EF4-FFF2-40B4-BE49-F238E27FC236}">
                <a16:creationId xmlns:a16="http://schemas.microsoft.com/office/drawing/2014/main" id="{2B9FD39C-CDDA-4758-BA01-7E23AF066996}"/>
              </a:ext>
            </a:extLst>
          </p:cNvPr>
          <p:cNvSpPr>
            <a:spLocks xmlns:a="http://schemas.openxmlformats.org/drawingml/2006/main" noGrp="1"/>
          </p:cNvSpPr>
          <p:nvPr/>
        </p:nvSpPr>
        <p:spPr>
          <a:xfrm xmlns:a="http://schemas.openxmlformats.org/drawingml/2006/main">
            <a:off x="6343650" y="45720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From 160</a:t>
            </a:r>
          </a:p>
        </p:txBody>
      </p:sp>
      <p:sp>
        <p:nvSpPr>
          <p:cNvPr id="28" name="ex3-th5">
            <a:extLst xmlns:a="http://schemas.openxmlformats.org/drawingml/2006/main">
              <a:ext uri="{FF2B5EF4-FFF2-40B4-BE49-F238E27FC236}">
                <a16:creationId xmlns:a16="http://schemas.microsoft.com/office/drawing/2014/main" id="{5E76441B-B8E8-4AD2-875E-F4A23CE57C0E}"/>
              </a:ext>
            </a:extLst>
          </p:cNvPr>
          <p:cNvSpPr>
            <a:spLocks xmlns:a="http://schemas.openxmlformats.org/drawingml/2006/main" noGrp="1"/>
          </p:cNvSpPr>
          <p:nvPr/>
        </p:nvSpPr>
        <p:spPr>
          <a:xfrm xmlns:a="http://schemas.openxmlformats.org/drawingml/2006/main">
            <a:off x="8353425" y="45720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Messages at IF</a:t>
            </a:r>
          </a:p>
        </p:txBody>
      </p:sp>
      <p:sp>
        <p:nvSpPr>
          <p:cNvPr id="29" name="ex3-row0">
            <a:extLst xmlns:a="http://schemas.openxmlformats.org/drawingml/2006/main">
              <a:ext uri="{FF2B5EF4-FFF2-40B4-BE49-F238E27FC236}">
                <a16:creationId xmlns:a16="http://schemas.microsoft.com/office/drawing/2014/main" id="{29B37726-BD20-455C-949E-BD905C39A332}"/>
              </a:ext>
            </a:extLst>
          </p:cNvPr>
          <p:cNvSpPr>
            <a:spLocks xmlns:a="http://schemas.openxmlformats.org/drawingml/2006/main" noGrp="1"/>
          </p:cNvSpPr>
          <p:nvPr/>
        </p:nvSpPr>
        <p:spPr>
          <a:xfrm xmlns:a="http://schemas.openxmlformats.org/drawingml/2006/main">
            <a:off x="762000" y="49720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1 / 60 kHz</a:t>
            </a:r>
          </a:p>
        </p:txBody>
      </p:sp>
      <p:sp>
        <p:nvSpPr>
          <p:cNvPr id="30" name="ex3-selected00">
            <a:extLst xmlns:a="http://schemas.openxmlformats.org/drawingml/2006/main">
              <a:ext uri="{FF2B5EF4-FFF2-40B4-BE49-F238E27FC236}">
                <a16:creationId xmlns:a16="http://schemas.microsoft.com/office/drawing/2014/main" id="{4695D736-6E79-4585-8CB0-C89F99E9FE80}"/>
              </a:ext>
            </a:extLst>
          </p:cNvPr>
          <p:cNvSpPr>
            <a:spLocks xmlns:a="http://schemas.openxmlformats.org/drawingml/2006/main" noGrp="1"/>
          </p:cNvSpPr>
          <p:nvPr/>
        </p:nvSpPr>
        <p:spPr>
          <a:xfrm xmlns:a="http://schemas.openxmlformats.org/drawingml/2006/main">
            <a:off x="2952750" y="5305425"/>
            <a:ext cx="1381125" cy="1524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1" name="ex3-kept0">
            <a:extLst xmlns:a="http://schemas.openxmlformats.org/drawingml/2006/main">
              <a:ext uri="{FF2B5EF4-FFF2-40B4-BE49-F238E27FC236}">
                <a16:creationId xmlns:a16="http://schemas.microsoft.com/office/drawing/2014/main" id="{36E67BE4-8FE0-4D53-9D98-236EE7B73FFB}"/>
              </a:ext>
            </a:extLst>
          </p:cNvPr>
          <p:cNvSpPr>
            <a:spLocks xmlns:a="http://schemas.openxmlformats.org/drawingml/2006/main" noGrp="1"/>
          </p:cNvSpPr>
          <p:nvPr/>
        </p:nvSpPr>
        <p:spPr>
          <a:xfrm xmlns:a="http://schemas.openxmlformats.org/drawingml/2006/main">
            <a:off x="8353425" y="49720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1</a:t>
            </a:r>
          </a:p>
        </p:txBody>
      </p:sp>
      <p:sp>
        <p:nvSpPr>
          <p:cNvPr id="32" name="ex3-row1">
            <a:extLst xmlns:a="http://schemas.openxmlformats.org/drawingml/2006/main">
              <a:ext uri="{FF2B5EF4-FFF2-40B4-BE49-F238E27FC236}">
                <a16:creationId xmlns:a16="http://schemas.microsoft.com/office/drawing/2014/main" id="{9AC433BD-2609-45CA-9345-0270977B10A5}"/>
              </a:ext>
            </a:extLst>
          </p:cNvPr>
          <p:cNvSpPr>
            <a:spLocks xmlns:a="http://schemas.openxmlformats.org/drawingml/2006/main" noGrp="1"/>
          </p:cNvSpPr>
          <p:nvPr/>
        </p:nvSpPr>
        <p:spPr>
          <a:xfrm xmlns:a="http://schemas.openxmlformats.org/drawingml/2006/main">
            <a:off x="762000" y="5476875"/>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2 / 100 kHz</a:t>
            </a:r>
          </a:p>
        </p:txBody>
      </p:sp>
      <p:sp>
        <p:nvSpPr>
          <p:cNvPr id="33" name="ex3-selected10">
            <a:extLst xmlns:a="http://schemas.openxmlformats.org/drawingml/2006/main">
              <a:ext uri="{FF2B5EF4-FFF2-40B4-BE49-F238E27FC236}">
                <a16:creationId xmlns:a16="http://schemas.microsoft.com/office/drawing/2014/main" id="{53DAD5B5-8A0B-4B62-B9CC-D7CF5A770C59}"/>
              </a:ext>
            </a:extLst>
          </p:cNvPr>
          <p:cNvSpPr>
            <a:spLocks xmlns:a="http://schemas.openxmlformats.org/drawingml/2006/main" noGrp="1"/>
          </p:cNvSpPr>
          <p:nvPr/>
        </p:nvSpPr>
        <p:spPr>
          <a:xfrm xmlns:a="http://schemas.openxmlformats.org/drawingml/2006/main">
            <a:off x="2952750" y="5810250"/>
            <a:ext cx="1381125" cy="1524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4" name="ex3-selected11">
            <a:extLst xmlns:a="http://schemas.openxmlformats.org/drawingml/2006/main">
              <a:ext uri="{FF2B5EF4-FFF2-40B4-BE49-F238E27FC236}">
                <a16:creationId xmlns:a16="http://schemas.microsoft.com/office/drawing/2014/main" id="{103F4F15-3140-4AF0-B0CA-E1BD44A620B6}"/>
              </a:ext>
            </a:extLst>
          </p:cNvPr>
          <p:cNvSpPr>
            <a:spLocks xmlns:a="http://schemas.openxmlformats.org/drawingml/2006/main" noGrp="1"/>
          </p:cNvSpPr>
          <p:nvPr/>
        </p:nvSpPr>
        <p:spPr>
          <a:xfrm xmlns:a="http://schemas.openxmlformats.org/drawingml/2006/main">
            <a:off x="4657725" y="5810250"/>
            <a:ext cx="1381125" cy="1524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5" name="ex3-kept1">
            <a:extLst xmlns:a="http://schemas.openxmlformats.org/drawingml/2006/main">
              <a:ext uri="{FF2B5EF4-FFF2-40B4-BE49-F238E27FC236}">
                <a16:creationId xmlns:a16="http://schemas.microsoft.com/office/drawing/2014/main" id="{0CFCF243-B667-4E0D-9102-24A0201A843E}"/>
              </a:ext>
            </a:extLst>
          </p:cNvPr>
          <p:cNvSpPr>
            <a:spLocks xmlns:a="http://schemas.openxmlformats.org/drawingml/2006/main" noGrp="1"/>
          </p:cNvSpPr>
          <p:nvPr/>
        </p:nvSpPr>
        <p:spPr>
          <a:xfrm xmlns:a="http://schemas.openxmlformats.org/drawingml/2006/main">
            <a:off x="8353425" y="547687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1 and 2</a:t>
            </a:r>
          </a:p>
        </p:txBody>
      </p:sp>
      <p:sp>
        <p:nvSpPr>
          <p:cNvPr id="36" name="ex3-row2">
            <a:extLst xmlns:a="http://schemas.openxmlformats.org/drawingml/2006/main">
              <a:ext uri="{FF2B5EF4-FFF2-40B4-BE49-F238E27FC236}">
                <a16:creationId xmlns:a16="http://schemas.microsoft.com/office/drawing/2014/main" id="{678F8964-814C-40B0-868C-E72B99324DB2}"/>
              </a:ext>
            </a:extLst>
          </p:cNvPr>
          <p:cNvSpPr>
            <a:spLocks xmlns:a="http://schemas.openxmlformats.org/drawingml/2006/main" noGrp="1"/>
          </p:cNvSpPr>
          <p:nvPr/>
        </p:nvSpPr>
        <p:spPr>
          <a:xfrm xmlns:a="http://schemas.openxmlformats.org/drawingml/2006/main">
            <a:off x="762000" y="59817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3 / 140 kHz</a:t>
            </a:r>
          </a:p>
        </p:txBody>
      </p:sp>
      <p:sp>
        <p:nvSpPr>
          <p:cNvPr id="37" name="ex3-selected21">
            <a:extLst xmlns:a="http://schemas.openxmlformats.org/drawingml/2006/main">
              <a:ext uri="{FF2B5EF4-FFF2-40B4-BE49-F238E27FC236}">
                <a16:creationId xmlns:a16="http://schemas.microsoft.com/office/drawing/2014/main" id="{E0DA3177-000C-4BEA-936A-E8ACD7EBA7C5}"/>
              </a:ext>
            </a:extLst>
          </p:cNvPr>
          <p:cNvSpPr>
            <a:spLocks xmlns:a="http://schemas.openxmlformats.org/drawingml/2006/main" noGrp="1"/>
          </p:cNvSpPr>
          <p:nvPr/>
        </p:nvSpPr>
        <p:spPr>
          <a:xfrm xmlns:a="http://schemas.openxmlformats.org/drawingml/2006/main">
            <a:off x="4657725" y="6315075"/>
            <a:ext cx="1381125" cy="1524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8" name="ex3-selected22">
            <a:extLst xmlns:a="http://schemas.openxmlformats.org/drawingml/2006/main">
              <a:ext uri="{FF2B5EF4-FFF2-40B4-BE49-F238E27FC236}">
                <a16:creationId xmlns:a16="http://schemas.microsoft.com/office/drawing/2014/main" id="{56F9E9B9-A25B-4356-8351-AFEBCCB79EB6}"/>
              </a:ext>
            </a:extLst>
          </p:cNvPr>
          <p:cNvSpPr>
            <a:spLocks xmlns:a="http://schemas.openxmlformats.org/drawingml/2006/main" noGrp="1"/>
          </p:cNvSpPr>
          <p:nvPr/>
        </p:nvSpPr>
        <p:spPr>
          <a:xfrm xmlns:a="http://schemas.openxmlformats.org/drawingml/2006/main">
            <a:off x="6362700" y="6315075"/>
            <a:ext cx="1381125" cy="1524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9" name="ex3-kept2">
            <a:extLst xmlns:a="http://schemas.openxmlformats.org/drawingml/2006/main">
              <a:ext uri="{FF2B5EF4-FFF2-40B4-BE49-F238E27FC236}">
                <a16:creationId xmlns:a16="http://schemas.microsoft.com/office/drawing/2014/main" id="{D8AFC013-0D03-4276-8840-CFB770CC1C46}"/>
              </a:ext>
            </a:extLst>
          </p:cNvPr>
          <p:cNvSpPr>
            <a:spLocks xmlns:a="http://schemas.openxmlformats.org/drawingml/2006/main" noGrp="1"/>
          </p:cNvSpPr>
          <p:nvPr/>
        </p:nvSpPr>
        <p:spPr>
          <a:xfrm xmlns:a="http://schemas.openxmlformats.org/drawingml/2006/main">
            <a:off x="8353425" y="59817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2 and 3</a:t>
            </a:r>
          </a:p>
        </p:txBody>
      </p:sp>
      <p:pic>
        <p:nvPicPr>
          <p:cNvPr id="91" name="ex3-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197a95fa52574d9b">
            <a:extLst>
              <a:ext uri="{96DAC541-7B7A-43D3-8B79-37D633B846F1}">
                <ns0:svgBlip xmlns:ns0="http://schemas.microsoft.com/office/drawing/2016/SVG/main" r:embed="rIdVectorexercise_formula_7"/>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92" name="ex3-cell00" descr="|80-60|=20"/>
          <p:cNvPicPr>
            <a:picLocks xmlns:a="http://schemas.openxmlformats.org/drawingml/2006/main" noChangeAspect="1"/>
          </p:cNvPicPr>
          <p:nvPr/>
        </p:nvPicPr>
        <p:blipFill>
          <a:blip xmlns:r="http://schemas.openxmlformats.org/officeDocument/2006/relationships" xmlns:a="http://schemas.openxmlformats.org/drawingml/2006/main" r:embed="R2231bb72395849ae">
            <a:extLst>
              <a:ext uri="{96DAC541-7B7A-43D3-8B79-37D633B846F1}">
                <ns1:svgBlip xmlns:ns1="http://schemas.microsoft.com/office/drawing/2016/SVG/main" r:embed="rIdVectorexercise_formula_8"/>
              </a:ext>
            </a:extLst>
          </a:blip>
          <a:stretch xmlns:a="http://schemas.openxmlformats.org/drawingml/2006/main"/>
        </p:blipFill>
        <p:spPr>
          <a:xfrm xmlns:a="http://schemas.openxmlformats.org/drawingml/2006/main">
            <a:off x="2905125" y="5029855"/>
            <a:ext cx="1466850" cy="208240"/>
          </a:xfrm>
          <a:prstGeom xmlns:a="http://schemas.openxmlformats.org/drawingml/2006/main" prst="rect">
            <a:avLst/>
          </a:prstGeom>
        </p:spPr>
      </p:pic>
      <p:pic>
        <p:nvPicPr>
          <p:cNvPr id="93" name="ex3-cell01" descr="|120-60|=60"/>
          <p:cNvPicPr>
            <a:picLocks xmlns:a="http://schemas.openxmlformats.org/drawingml/2006/main" noChangeAspect="1"/>
          </p:cNvPicPr>
          <p:nvPr/>
        </p:nvPicPr>
        <p:blipFill>
          <a:blip xmlns:r="http://schemas.openxmlformats.org/officeDocument/2006/relationships" xmlns:a="http://schemas.openxmlformats.org/drawingml/2006/main" r:embed="Rbbb8efdd055347c1">
            <a:extLst>
              <a:ext uri="{96DAC541-7B7A-43D3-8B79-37D633B846F1}">
                <ns2:svgBlip xmlns:ns2="http://schemas.microsoft.com/office/drawing/2016/SVG/main" r:embed="rIdVectorexercise_formula_9"/>
              </a:ext>
            </a:extLst>
          </a:blip>
          <a:stretch xmlns:a="http://schemas.openxmlformats.org/drawingml/2006/main"/>
        </p:blipFill>
        <p:spPr>
          <a:xfrm xmlns:a="http://schemas.openxmlformats.org/drawingml/2006/main">
            <a:off x="4600575" y="5036218"/>
            <a:ext cx="1485900" cy="195513"/>
          </a:xfrm>
          <a:prstGeom xmlns:a="http://schemas.openxmlformats.org/drawingml/2006/main" prst="rect">
            <a:avLst/>
          </a:prstGeom>
        </p:spPr>
      </p:pic>
      <p:pic>
        <p:nvPicPr>
          <p:cNvPr id="94" name="ex3-cell02" descr="|160-60|=100"/>
          <p:cNvPicPr>
            <a:picLocks xmlns:a="http://schemas.openxmlformats.org/drawingml/2006/main" noChangeAspect="1"/>
          </p:cNvPicPr>
          <p:nvPr/>
        </p:nvPicPr>
        <p:blipFill>
          <a:blip xmlns:r="http://schemas.openxmlformats.org/officeDocument/2006/relationships" xmlns:a="http://schemas.openxmlformats.org/drawingml/2006/main" r:embed="R6b6eea436c4d4a83">
            <a:extLst>
              <a:ext uri="{96DAC541-7B7A-43D3-8B79-37D633B846F1}">
                <ns3:svgBlip xmlns:ns3="http://schemas.microsoft.com/office/drawing/2016/SVG/main" r:embed="rIdVectorexercise_formula_10"/>
              </a:ext>
            </a:extLst>
          </a:blip>
          <a:stretch xmlns:a="http://schemas.openxmlformats.org/drawingml/2006/main"/>
        </p:blipFill>
        <p:spPr>
          <a:xfrm xmlns:a="http://schemas.openxmlformats.org/drawingml/2006/main">
            <a:off x="6305550" y="5043399"/>
            <a:ext cx="1485900" cy="181151"/>
          </a:xfrm>
          <a:prstGeom xmlns:a="http://schemas.openxmlformats.org/drawingml/2006/main" prst="rect">
            <a:avLst/>
          </a:prstGeom>
        </p:spPr>
      </p:pic>
      <p:pic>
        <p:nvPicPr>
          <p:cNvPr id="95" name="ex3-cell10" descr="|80-100|=20"/>
          <p:cNvPicPr>
            <a:picLocks xmlns:a="http://schemas.openxmlformats.org/drawingml/2006/main" noChangeAspect="1"/>
          </p:cNvPicPr>
          <p:nvPr/>
        </p:nvPicPr>
        <p:blipFill>
          <a:blip xmlns:r="http://schemas.openxmlformats.org/officeDocument/2006/relationships" xmlns:a="http://schemas.openxmlformats.org/drawingml/2006/main" r:embed="Rf900a725bcba4ca2">
            <a:extLst>
              <a:ext uri="{96DAC541-7B7A-43D3-8B79-37D633B846F1}">
                <ns4:svgBlip xmlns:ns4="http://schemas.microsoft.com/office/drawing/2016/SVG/main" r:embed="rIdVectorexercise_formula_11"/>
              </a:ext>
            </a:extLst>
          </a:blip>
          <a:stretch xmlns:a="http://schemas.openxmlformats.org/drawingml/2006/main"/>
        </p:blipFill>
        <p:spPr>
          <a:xfrm xmlns:a="http://schemas.openxmlformats.org/drawingml/2006/main">
            <a:off x="2895600" y="5541043"/>
            <a:ext cx="1485900" cy="195513"/>
          </a:xfrm>
          <a:prstGeom xmlns:a="http://schemas.openxmlformats.org/drawingml/2006/main" prst="rect">
            <a:avLst/>
          </a:prstGeom>
        </p:spPr>
      </p:pic>
      <p:pic>
        <p:nvPicPr>
          <p:cNvPr id="96" name="ex3-cell11" descr="|120-100|=20"/>
          <p:cNvPicPr>
            <a:picLocks xmlns:a="http://schemas.openxmlformats.org/drawingml/2006/main" noChangeAspect="1"/>
          </p:cNvPicPr>
          <p:nvPr/>
        </p:nvPicPr>
        <p:blipFill>
          <a:blip xmlns:r="http://schemas.openxmlformats.org/officeDocument/2006/relationships" xmlns:a="http://schemas.openxmlformats.org/drawingml/2006/main" r:embed="Rdec32912d6a846dd">
            <a:extLst>
              <a:ext uri="{96DAC541-7B7A-43D3-8B79-37D633B846F1}">
                <ns5:svgBlip xmlns:ns5="http://schemas.microsoft.com/office/drawing/2016/SVG/main" r:embed="rIdVectorexercise_formula_12"/>
              </a:ext>
            </a:extLst>
          </a:blip>
          <a:stretch xmlns:a="http://schemas.openxmlformats.org/drawingml/2006/main"/>
        </p:blipFill>
        <p:spPr>
          <a:xfrm xmlns:a="http://schemas.openxmlformats.org/drawingml/2006/main">
            <a:off x="4600575" y="5548224"/>
            <a:ext cx="1485900" cy="181151"/>
          </a:xfrm>
          <a:prstGeom xmlns:a="http://schemas.openxmlformats.org/drawingml/2006/main" prst="rect">
            <a:avLst/>
          </a:prstGeom>
        </p:spPr>
      </p:pic>
      <p:pic>
        <p:nvPicPr>
          <p:cNvPr id="97" name="ex3-cell12" descr="|160-100|=60"/>
          <p:cNvPicPr>
            <a:picLocks xmlns:a="http://schemas.openxmlformats.org/drawingml/2006/main" noChangeAspect="1"/>
          </p:cNvPicPr>
          <p:nvPr/>
        </p:nvPicPr>
        <p:blipFill>
          <a:blip xmlns:r="http://schemas.openxmlformats.org/officeDocument/2006/relationships" xmlns:a="http://schemas.openxmlformats.org/drawingml/2006/main" r:embed="R04972ffc7d594dcb">
            <a:extLst>
              <a:ext uri="{96DAC541-7B7A-43D3-8B79-37D633B846F1}">
                <ns6:svgBlip xmlns:ns6="http://schemas.microsoft.com/office/drawing/2016/SVG/main" r:embed="rIdVectorexercise_formula_13"/>
              </a:ext>
            </a:extLst>
          </a:blip>
          <a:stretch xmlns:a="http://schemas.openxmlformats.org/drawingml/2006/main"/>
        </p:blipFill>
        <p:spPr>
          <a:xfrm xmlns:a="http://schemas.openxmlformats.org/drawingml/2006/main">
            <a:off x="6305550" y="5548224"/>
            <a:ext cx="1485900" cy="181151"/>
          </a:xfrm>
          <a:prstGeom xmlns:a="http://schemas.openxmlformats.org/drawingml/2006/main" prst="rect">
            <a:avLst/>
          </a:prstGeom>
        </p:spPr>
      </p:pic>
      <p:pic>
        <p:nvPicPr>
          <p:cNvPr id="98" name="ex3-cell20" descr="|80-140|=60"/>
          <p:cNvPicPr>
            <a:picLocks xmlns:a="http://schemas.openxmlformats.org/drawingml/2006/main" noChangeAspect="1"/>
          </p:cNvPicPr>
          <p:nvPr/>
        </p:nvPicPr>
        <p:blipFill>
          <a:blip xmlns:r="http://schemas.openxmlformats.org/officeDocument/2006/relationships" xmlns:a="http://schemas.openxmlformats.org/drawingml/2006/main" r:embed="R6188439b372d45fd">
            <a:extLst>
              <a:ext uri="{96DAC541-7B7A-43D3-8B79-37D633B846F1}">
                <ns7:svgBlip xmlns:ns7="http://schemas.microsoft.com/office/drawing/2016/SVG/main" r:embed="rIdVectorexercise_formula_14"/>
              </a:ext>
            </a:extLst>
          </a:blip>
          <a:stretch xmlns:a="http://schemas.openxmlformats.org/drawingml/2006/main"/>
        </p:blipFill>
        <p:spPr>
          <a:xfrm xmlns:a="http://schemas.openxmlformats.org/drawingml/2006/main">
            <a:off x="2895600" y="6045868"/>
            <a:ext cx="1485900" cy="195513"/>
          </a:xfrm>
          <a:prstGeom xmlns:a="http://schemas.openxmlformats.org/drawingml/2006/main" prst="rect">
            <a:avLst/>
          </a:prstGeom>
        </p:spPr>
      </p:pic>
      <p:pic>
        <p:nvPicPr>
          <p:cNvPr id="99" name="ex3-cell21" descr="|120-140|=20"/>
          <p:cNvPicPr>
            <a:picLocks xmlns:a="http://schemas.openxmlformats.org/drawingml/2006/main" noChangeAspect="1"/>
          </p:cNvPicPr>
          <p:nvPr/>
        </p:nvPicPr>
        <p:blipFill>
          <a:blip xmlns:r="http://schemas.openxmlformats.org/officeDocument/2006/relationships" xmlns:a="http://schemas.openxmlformats.org/drawingml/2006/main" r:embed="R5270dd74ed684376">
            <a:extLst>
              <a:ext uri="{96DAC541-7B7A-43D3-8B79-37D633B846F1}">
                <ns8:svgBlip xmlns:ns8="http://schemas.microsoft.com/office/drawing/2016/SVG/main" r:embed="rIdVectorexercise_formula_15"/>
              </a:ext>
            </a:extLst>
          </a:blip>
          <a:stretch xmlns:a="http://schemas.openxmlformats.org/drawingml/2006/main"/>
        </p:blipFill>
        <p:spPr>
          <a:xfrm xmlns:a="http://schemas.openxmlformats.org/drawingml/2006/main">
            <a:off x="4600575" y="6053049"/>
            <a:ext cx="1485900" cy="181151"/>
          </a:xfrm>
          <a:prstGeom xmlns:a="http://schemas.openxmlformats.org/drawingml/2006/main" prst="rect">
            <a:avLst/>
          </a:prstGeom>
        </p:spPr>
      </p:pic>
      <p:pic>
        <p:nvPicPr>
          <p:cNvPr id="100" name="ex3-cell22" descr="|160-140|=20"/>
          <p:cNvPicPr>
            <a:picLocks xmlns:a="http://schemas.openxmlformats.org/drawingml/2006/main" noChangeAspect="1"/>
          </p:cNvPicPr>
          <p:nvPr/>
        </p:nvPicPr>
        <p:blipFill>
          <a:blip xmlns:r="http://schemas.openxmlformats.org/officeDocument/2006/relationships" xmlns:a="http://schemas.openxmlformats.org/drawingml/2006/main" r:embed="R8f94f4c5189540aa">
            <a:extLst>
              <a:ext uri="{96DAC541-7B7A-43D3-8B79-37D633B846F1}">
                <ns9:svgBlip xmlns:ns9="http://schemas.microsoft.com/office/drawing/2016/SVG/main" r:embed="rIdVectorexercise_formula_16"/>
              </a:ext>
            </a:extLst>
          </a:blip>
          <a:stretch xmlns:a="http://schemas.openxmlformats.org/drawingml/2006/main"/>
        </p:blipFill>
        <p:spPr>
          <a:xfrm xmlns:a="http://schemas.openxmlformats.org/drawingml/2006/main">
            <a:off x="6305550" y="6053049"/>
            <a:ext cx="1485900" cy="181151"/>
          </a:xfrm>
          <a:prstGeom xmlns:a="http://schemas.openxmlformats.org/drawingml/2006/main" prst="rect">
            <a:avLst/>
          </a:prstGeom>
        </p:spPr>
      </p:pic>
    </p:spTree>
    <p:extLst>
      <p:ext uri="{BB962C8B-B14F-4D97-AF65-F5344CB8AC3E}">
        <p14:creationId xmlns:p14="http://schemas.microsoft.com/office/powerpoint/2010/main" val="5061739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par>
                                <p:cTn id="13" presetID="10" presetClass="entr" presetSubtype="0" fill="hold" nodeType="with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fade">
                                      <p:cBhvr>
                                        <p:cTn id="15" dur="400"/>
                                        <p:tgtEl>
                                          <p:spTgt spid="92"/>
                                        </p:tgtEl>
                                      </p:cBhvr>
                                    </p:animEffect>
                                  </p:childTnLst>
                                </p:cTn>
                              </p:par>
                              <p:par>
                                <p:cTn id="16" presetID="10" presetClass="entr" presetSubtype="0" fill="hold" nodeType="withEffect">
                                  <p:stCondLst>
                                    <p:cond delay="0"/>
                                  </p:stCondLst>
                                  <p:childTnLst>
                                    <p:set>
                                      <p:cBhvr>
                                        <p:cTn id="17" dur="1" fill="hold">
                                          <p:stCondLst>
                                            <p:cond delay="0"/>
                                          </p:stCondLst>
                                        </p:cTn>
                                        <p:tgtEl>
                                          <p:spTgt spid="93"/>
                                        </p:tgtEl>
                                        <p:attrNameLst>
                                          <p:attrName>style.visibility</p:attrName>
                                        </p:attrNameLst>
                                      </p:cBhvr>
                                      <p:to>
                                        <p:strVal val="visible"/>
                                      </p:to>
                                    </p:set>
                                    <p:animEffect transition="in" filter="fade">
                                      <p:cBhvr>
                                        <p:cTn id="18" dur="400"/>
                                        <p:tgtEl>
                                          <p:spTgt spid="93"/>
                                        </p:tgtEl>
                                      </p:cBhvr>
                                    </p:animEffect>
                                  </p:childTnLst>
                                </p:cTn>
                              </p:par>
                              <p:par>
                                <p:cTn id="19" presetID="10" presetClass="entr" presetSubtype="0" fill="hold" nodeType="withEffect">
                                  <p:stCondLst>
                                    <p:cond delay="0"/>
                                  </p:stCondLst>
                                  <p:childTnLst>
                                    <p:set>
                                      <p:cBhvr>
                                        <p:cTn id="20" dur="1" fill="hold">
                                          <p:stCondLst>
                                            <p:cond delay="0"/>
                                          </p:stCondLst>
                                        </p:cTn>
                                        <p:tgtEl>
                                          <p:spTgt spid="94"/>
                                        </p:tgtEl>
                                        <p:attrNameLst>
                                          <p:attrName>style.visibility</p:attrName>
                                        </p:attrNameLst>
                                      </p:cBhvr>
                                      <p:to>
                                        <p:strVal val="visible"/>
                                      </p:to>
                                    </p:set>
                                    <p:animEffect transition="in" filter="fade">
                                      <p:cBhvr>
                                        <p:cTn id="21" dur="400"/>
                                        <p:tgtEl>
                                          <p:spTgt spid="9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nodeType="withEffect">
                                  <p:stCondLst>
                                    <p:cond delay="0"/>
                                  </p:stCondLst>
                                  <p:childTnLst>
                                    <p:set>
                                      <p:cBhvr>
                                        <p:cTn id="28" dur="1" fill="hold">
                                          <p:stCondLst>
                                            <p:cond delay="0"/>
                                          </p:stCondLst>
                                        </p:cTn>
                                        <p:tgtEl>
                                          <p:spTgt spid="95"/>
                                        </p:tgtEl>
                                        <p:attrNameLst>
                                          <p:attrName>style.visibility</p:attrName>
                                        </p:attrNameLst>
                                      </p:cBhvr>
                                      <p:to>
                                        <p:strVal val="visible"/>
                                      </p:to>
                                    </p:set>
                                    <p:animEffect transition="in" filter="fade">
                                      <p:cBhvr>
                                        <p:cTn id="29" dur="400"/>
                                        <p:tgtEl>
                                          <p:spTgt spid="95"/>
                                        </p:tgtEl>
                                      </p:cBhvr>
                                    </p:animEffect>
                                  </p:childTnLst>
                                </p:cTn>
                              </p:par>
                              <p:par>
                                <p:cTn id="30" presetID="10" presetClass="entr" presetSubtype="0" fill="hold" nodeType="withEffect">
                                  <p:stCondLst>
                                    <p:cond delay="0"/>
                                  </p:stCondLst>
                                  <p:childTnLst>
                                    <p:set>
                                      <p:cBhvr>
                                        <p:cTn id="31" dur="1" fill="hold">
                                          <p:stCondLst>
                                            <p:cond delay="0"/>
                                          </p:stCondLst>
                                        </p:cTn>
                                        <p:tgtEl>
                                          <p:spTgt spid="96"/>
                                        </p:tgtEl>
                                        <p:attrNameLst>
                                          <p:attrName>style.visibility</p:attrName>
                                        </p:attrNameLst>
                                      </p:cBhvr>
                                      <p:to>
                                        <p:strVal val="visible"/>
                                      </p:to>
                                    </p:set>
                                    <p:animEffect transition="in" filter="fade">
                                      <p:cBhvr>
                                        <p:cTn id="32" dur="400"/>
                                        <p:tgtEl>
                                          <p:spTgt spid="96"/>
                                        </p:tgtEl>
                                      </p:cBhvr>
                                    </p:animEffect>
                                  </p:childTnLst>
                                </p:cTn>
                              </p:par>
                              <p:par>
                                <p:cTn id="33" presetID="10" presetClass="entr" presetSubtype="0" fill="hold" nodeType="withEffect">
                                  <p:stCondLst>
                                    <p:cond delay="0"/>
                                  </p:stCondLst>
                                  <p:childTnLst>
                                    <p:set>
                                      <p:cBhvr>
                                        <p:cTn id="34" dur="1" fill="hold">
                                          <p:stCondLst>
                                            <p:cond delay="0"/>
                                          </p:stCondLst>
                                        </p:cTn>
                                        <p:tgtEl>
                                          <p:spTgt spid="97"/>
                                        </p:tgtEl>
                                        <p:attrNameLst>
                                          <p:attrName>style.visibility</p:attrName>
                                        </p:attrNameLst>
                                      </p:cBhvr>
                                      <p:to>
                                        <p:strVal val="visible"/>
                                      </p:to>
                                    </p:set>
                                    <p:animEffect transition="in" filter="fade">
                                      <p:cBhvr>
                                        <p:cTn id="35" dur="400"/>
                                        <p:tgtEl>
                                          <p:spTgt spid="9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400"/>
                                        <p:tgtEl>
                                          <p:spTgt spid="36"/>
                                        </p:tgtEl>
                                      </p:cBhvr>
                                    </p:animEffect>
                                  </p:childTnLst>
                                </p:cTn>
                              </p:par>
                              <p:par>
                                <p:cTn id="41" presetID="10" presetClass="entr" presetSubtype="0" fill="hold" nodeType="with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fade">
                                      <p:cBhvr>
                                        <p:cTn id="43" dur="400"/>
                                        <p:tgtEl>
                                          <p:spTgt spid="98"/>
                                        </p:tgtEl>
                                      </p:cBhvr>
                                    </p:animEffect>
                                  </p:childTnLst>
                                </p:cTn>
                              </p:par>
                              <p:par>
                                <p:cTn id="44" presetID="10" presetClass="entr" presetSubtype="0" fill="hold" nodeType="withEffect">
                                  <p:stCondLst>
                                    <p:cond delay="0"/>
                                  </p:stCondLst>
                                  <p:childTnLst>
                                    <p:set>
                                      <p:cBhvr>
                                        <p:cTn id="45" dur="1" fill="hold">
                                          <p:stCondLst>
                                            <p:cond delay="0"/>
                                          </p:stCondLst>
                                        </p:cTn>
                                        <p:tgtEl>
                                          <p:spTgt spid="99"/>
                                        </p:tgtEl>
                                        <p:attrNameLst>
                                          <p:attrName>style.visibility</p:attrName>
                                        </p:attrNameLst>
                                      </p:cBhvr>
                                      <p:to>
                                        <p:strVal val="visible"/>
                                      </p:to>
                                    </p:set>
                                    <p:animEffect transition="in" filter="fade">
                                      <p:cBhvr>
                                        <p:cTn id="46" dur="400"/>
                                        <p:tgtEl>
                                          <p:spTgt spid="99"/>
                                        </p:tgtEl>
                                      </p:cBhvr>
                                    </p:animEffect>
                                  </p:childTnLst>
                                </p:cTn>
                              </p:par>
                              <p:par>
                                <p:cTn id="47" presetID="10" presetClass="entr" presetSubtype="0" fill="hold" nodeType="withEffect">
                                  <p:stCondLst>
                                    <p:cond delay="0"/>
                                  </p:stCondLst>
                                  <p:childTnLst>
                                    <p:set>
                                      <p:cBhvr>
                                        <p:cTn id="48" dur="1" fill="hold">
                                          <p:stCondLst>
                                            <p:cond delay="0"/>
                                          </p:stCondLst>
                                        </p:cTn>
                                        <p:tgtEl>
                                          <p:spTgt spid="100"/>
                                        </p:tgtEl>
                                        <p:attrNameLst>
                                          <p:attrName>style.visibility</p:attrName>
                                        </p:attrNameLst>
                                      </p:cBhvr>
                                      <p:to>
                                        <p:strVal val="visible"/>
                                      </p:to>
                                    </p:set>
                                    <p:animEffect transition="in" filter="fade">
                                      <p:cBhvr>
                                        <p:cTn id="49" dur="400"/>
                                        <p:tgtEl>
                                          <p:spTgt spid="10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400"/>
                                        <p:tgtEl>
                                          <p:spTgt spid="30"/>
                                        </p:tgtEl>
                                      </p:cBhvr>
                                    </p:animEffect>
                                  </p:childTnLst>
                                </p:cTn>
                              </p:par>
                              <p:par>
                                <p:cTn id="55" presetID="10"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400"/>
                                        <p:tgtEl>
                                          <p:spTgt spid="31"/>
                                        </p:tgtEl>
                                      </p:cBhvr>
                                    </p:animEffect>
                                  </p:childTnLst>
                                </p:cTn>
                              </p:par>
                              <p:par>
                                <p:cTn id="58" presetID="10" presetClass="entr" presetSubtype="0" fill="hold"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400"/>
                                        <p:tgtEl>
                                          <p:spTgt spid="33"/>
                                        </p:tgtEl>
                                      </p:cBhvr>
                                    </p:animEffect>
                                  </p:childTnLst>
                                </p:cTn>
                              </p:par>
                              <p:par>
                                <p:cTn id="61" presetID="10"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400"/>
                                        <p:tgtEl>
                                          <p:spTgt spid="34"/>
                                        </p:tgtEl>
                                      </p:cBhvr>
                                    </p:animEffect>
                                  </p:childTnLst>
                                </p:cTn>
                              </p:par>
                              <p:par>
                                <p:cTn id="64" presetID="10" presetClass="entr" presetSubtype="0" fill="hold"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400"/>
                                        <p:tgtEl>
                                          <p:spTgt spid="35"/>
                                        </p:tgtEl>
                                      </p:cBhvr>
                                    </p:animEffect>
                                  </p:childTnLst>
                                </p:cTn>
                              </p:par>
                              <p:par>
                                <p:cTn id="67" presetID="10"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400"/>
                                        <p:tgtEl>
                                          <p:spTgt spid="37"/>
                                        </p:tgtEl>
                                      </p:cBhvr>
                                    </p:animEffect>
                                  </p:childTnLst>
                                </p:cTn>
                              </p:par>
                              <p:par>
                                <p:cTn id="70" presetID="10" presetClass="entr" presetSubtype="0" fill="hold"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400"/>
                                        <p:tgtEl>
                                          <p:spTgt spid="38"/>
                                        </p:tgtEl>
                                      </p:cBhvr>
                                    </p:animEffect>
                                  </p:childTnLst>
                                </p:cTn>
                              </p:par>
                              <p:par>
                                <p:cTn id="73" presetID="10" presetClass="entr" presetSubtype="0" fill="hold" nodeType="with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400"/>
                                        <p:tgtEl>
                                          <p:spTgt spid="39"/>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9" grpId="0" animBg="1"/>
      <p:bldP spid="32" grpId="0" animBg="1"/>
      <p:bldP spid="36" grpId="0" animBg="1"/>
      <p:bldP spid="31" grpId="0" animBg="1"/>
      <p:bldP spid="35" grpId="0" animBg="1"/>
      <p:bldP spid="39" grpId="0" animBg="1"/>
      <p:bldP spid="28" grpId="0" animBg="1"/>
    </p:bldLst>
  </p:timing>
</p:sld>
</file>

<file path=ppt/slides/c_positioned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ex4-title">
            <ns0:hlinkClick xmlns:ns0="http://schemas.openxmlformats.org/drawingml/2006/main" xmlns:ns1="http://schemas.openxmlformats.org/officeDocument/2006/relationships" ns1:id="rIdExerciseLink6" action="ppaction://hlinksldjump"/>
            <a:extLst xmlns:a="http://schemas.openxmlformats.org/drawingml/2006/main">
              <a:ext uri="{FF2B5EF4-FFF2-40B4-BE49-F238E27FC236}">
                <a16:creationId xmlns:a16="http://schemas.microsoft.com/office/drawing/2014/main" id="{41CC5CA2-74AD-495E-974B-76A9508F59CA}"/>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4-subtitle">
            <a:extLst xmlns:a="http://schemas.openxmlformats.org/drawingml/2006/main">
              <a:ext uri="{FF2B5EF4-FFF2-40B4-BE49-F238E27FC236}">
                <a16:creationId xmlns:a16="http://schemas.microsoft.com/office/drawing/2014/main" id="{5FFB99AC-5017-4772-9F04-CEA711A6B6A6}"/>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4-question">
            <a:extLst xmlns:a="http://schemas.openxmlformats.org/drawingml/2006/main">
              <a:ext uri="{FF2B5EF4-FFF2-40B4-BE49-F238E27FC236}">
                <a16:creationId xmlns:a16="http://schemas.microsoft.com/office/drawing/2014/main" id="{26CF84DB-F31A-4928-B32D-55833CFB874A}"/>
              </a:ext>
            </a:extLst>
          </p:cNvPr>
          <p:cNvSpPr>
            <a:spLocks xmlns:a="http://schemas.openxmlformats.org/drawingml/2006/main" noGrp="1"/>
          </p:cNvSpPr>
          <p:nvPr/>
        </p:nvSpPr>
        <p:spPr>
          <a:xfrm xmlns:a="http://schemas.openxmlformats.org/drawingml/2006/main">
            <a:off x="666750" y="15049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(c)  Write the signals leaving the IF BPFs.</a:t>
            </a:r>
          </a:p>
        </p:txBody>
      </p:sp>
      <p:sp>
        <p:nvSpPr>
          <p:cNvPr id="4" name="ex4-route-0">
            <a:extLst xmlns:a="http://schemas.openxmlformats.org/drawingml/2006/main">
              <a:ext uri="{FF2B5EF4-FFF2-40B4-BE49-F238E27FC236}">
                <a16:creationId xmlns:a16="http://schemas.microsoft.com/office/drawing/2014/main" id="{835A40B2-BF73-450E-8D14-915DFC201E5E}"/>
              </a:ext>
            </a:extLst>
          </p:cNvPr>
          <p:cNvSpPr>
            <a:spLocks xmlns:a="http://schemas.openxmlformats.org/drawingml/2006/main" noGrp="1"/>
          </p:cNvSpPr>
          <p:nvPr/>
        </p:nvSpPr>
        <p:spPr>
          <a:xfrm xmlns:a="http://schemas.openxmlformats.org/drawingml/2006/main">
            <a:off x="619125" y="19240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s(t)</a:t>
            </a:r>
          </a:p>
        </p:txBody>
      </p:sp>
      <p:sp>
        <p:nvSpPr>
          <p:cNvPr id="5" name="ex4-route-arrow0-line">
            <a:extLst xmlns:a="http://schemas.openxmlformats.org/drawingml/2006/main">
              <a:ext uri="{FF2B5EF4-FFF2-40B4-BE49-F238E27FC236}">
                <a16:creationId xmlns:a16="http://schemas.microsoft.com/office/drawing/2014/main" id="{83C7521C-E67C-4D6B-96A3-34B25B2CBA21}"/>
              </a:ext>
            </a:extLst>
          </p:cNvPr>
          <p:cNvSpPr>
            <a:spLocks xmlns:a="http://schemas.openxmlformats.org/drawingml/2006/main" noGrp="1"/>
          </p:cNvSpPr>
          <p:nvPr/>
        </p:nvSpPr>
        <p:spPr>
          <a:xfrm xmlns:a="http://schemas.openxmlformats.org/drawingml/2006/main">
            <a:off x="1266825" y="2057400"/>
            <a:ext cx="333375"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6" name="ex4-route-arrow0-head">
            <a:extLst xmlns:a="http://schemas.openxmlformats.org/drawingml/2006/main">
              <a:ext uri="{FF2B5EF4-FFF2-40B4-BE49-F238E27FC236}">
                <a16:creationId xmlns:a16="http://schemas.microsoft.com/office/drawing/2014/main" id="{6ADF0776-78F2-458B-BEA0-47F88F6C91AC}"/>
              </a:ext>
            </a:extLst>
          </p:cNvPr>
          <p:cNvSpPr>
            <a:spLocks xmlns:a="http://schemas.openxmlformats.org/drawingml/2006/main" noGrp="1"/>
          </p:cNvSpPr>
          <p:nvPr/>
        </p:nvSpPr>
        <p:spPr>
          <a:xfrm xmlns:a="http://schemas.openxmlformats.org/drawingml/2006/main" rot="5400000">
            <a:off x="1581150"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7" name="ex4-route-1">
            <a:extLst xmlns:a="http://schemas.openxmlformats.org/drawingml/2006/main">
              <a:ext uri="{FF2B5EF4-FFF2-40B4-BE49-F238E27FC236}">
                <a16:creationId xmlns:a16="http://schemas.microsoft.com/office/drawing/2014/main" id="{34BE4C5B-EEE7-4791-A00E-8E1F22FBB98C}"/>
              </a:ext>
            </a:extLst>
          </p:cNvPr>
          <p:cNvSpPr>
            <a:spLocks xmlns:a="http://schemas.openxmlformats.org/drawingml/2006/main" noGrp="1"/>
          </p:cNvSpPr>
          <p:nvPr/>
        </p:nvSpPr>
        <p:spPr>
          <a:xfrm xmlns:a="http://schemas.openxmlformats.org/drawingml/2006/main">
            <a:off x="1752600" y="19240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Input BPF</a:t>
            </a:r>
          </a:p>
        </p:txBody>
      </p:sp>
      <p:sp>
        <p:nvSpPr>
          <p:cNvPr id="8" name="ex4-removed-input-bpf">
            <a:extLst xmlns:a="http://schemas.openxmlformats.org/drawingml/2006/main">
              <a:ext uri="{FF2B5EF4-FFF2-40B4-BE49-F238E27FC236}">
                <a16:creationId xmlns:a16="http://schemas.microsoft.com/office/drawing/2014/main" id="{FFE005CE-115C-4559-99E0-891F6FAFE6EA}"/>
              </a:ext>
            </a:extLst>
          </p:cNvPr>
          <p:cNvSpPr>
            <a:spLocks xmlns:a="http://schemas.openxmlformats.org/drawingml/2006/main" noGrp="1"/>
          </p:cNvSpPr>
          <p:nvPr/>
        </p:nvSpPr>
        <p:spPr>
          <a:xfrm xmlns:a="http://schemas.openxmlformats.org/drawingml/2006/main">
            <a:off x="1781175" y="2066925"/>
            <a:ext cx="1085850"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9" name="ex4-route-arrow1-line">
            <a:extLst xmlns:a="http://schemas.openxmlformats.org/drawingml/2006/main">
              <a:ext uri="{FF2B5EF4-FFF2-40B4-BE49-F238E27FC236}">
                <a16:creationId xmlns:a16="http://schemas.microsoft.com/office/drawing/2014/main" id="{30CEF4A6-EFF2-4125-B18C-FC7E302CB366}"/>
              </a:ext>
            </a:extLst>
          </p:cNvPr>
          <p:cNvSpPr>
            <a:spLocks xmlns:a="http://schemas.openxmlformats.org/drawingml/2006/main" noGrp="1"/>
          </p:cNvSpPr>
          <p:nvPr/>
        </p:nvSpPr>
        <p:spPr>
          <a:xfrm xmlns:a="http://schemas.openxmlformats.org/drawingml/2006/main">
            <a:off x="2971800" y="2057400"/>
            <a:ext cx="614363"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0" name="ex4-route-arrow1-head">
            <a:extLst xmlns:a="http://schemas.openxmlformats.org/drawingml/2006/main">
              <a:ext uri="{FF2B5EF4-FFF2-40B4-BE49-F238E27FC236}">
                <a16:creationId xmlns:a16="http://schemas.microsoft.com/office/drawing/2014/main" id="{B48D1721-81FE-44AE-BE07-9F84B0D444A4}"/>
              </a:ext>
            </a:extLst>
          </p:cNvPr>
          <p:cNvSpPr>
            <a:spLocks xmlns:a="http://schemas.openxmlformats.org/drawingml/2006/main" noGrp="1"/>
          </p:cNvSpPr>
          <p:nvPr/>
        </p:nvSpPr>
        <p:spPr>
          <a:xfrm xmlns:a="http://schemas.openxmlformats.org/drawingml/2006/main" rot="5400000">
            <a:off x="3567113"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1" name="ex4-route-2">
            <a:extLst xmlns:a="http://schemas.openxmlformats.org/drawingml/2006/main">
              <a:ext uri="{FF2B5EF4-FFF2-40B4-BE49-F238E27FC236}">
                <a16:creationId xmlns:a16="http://schemas.microsoft.com/office/drawing/2014/main" id="{05C0DDFD-2CDF-4B1F-BA25-451D811C4FDE}"/>
              </a:ext>
            </a:extLst>
          </p:cNvPr>
          <p:cNvSpPr>
            <a:spLocks xmlns:a="http://schemas.openxmlformats.org/drawingml/2006/main" noGrp="1"/>
          </p:cNvSpPr>
          <p:nvPr/>
        </p:nvSpPr>
        <p:spPr>
          <a:xfrm xmlns:a="http://schemas.openxmlformats.org/drawingml/2006/main">
            <a:off x="3738563" y="19240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Mix with LO</a:t>
            </a:r>
          </a:p>
        </p:txBody>
      </p:sp>
      <p:sp>
        <p:nvSpPr>
          <p:cNvPr id="12" name="ex4-route-arrow2-line">
            <a:extLst xmlns:a="http://schemas.openxmlformats.org/drawingml/2006/main">
              <a:ext uri="{FF2B5EF4-FFF2-40B4-BE49-F238E27FC236}">
                <a16:creationId xmlns:a16="http://schemas.microsoft.com/office/drawing/2014/main" id="{843AFC20-ECFD-4A75-93CF-B0413BDF70A2}"/>
              </a:ext>
            </a:extLst>
          </p:cNvPr>
          <p:cNvSpPr>
            <a:spLocks xmlns:a="http://schemas.openxmlformats.org/drawingml/2006/main" noGrp="1"/>
          </p:cNvSpPr>
          <p:nvPr/>
        </p:nvSpPr>
        <p:spPr>
          <a:xfrm xmlns:a="http://schemas.openxmlformats.org/drawingml/2006/main">
            <a:off x="5291138" y="2057400"/>
            <a:ext cx="561975"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3" name="ex4-route-arrow2-head">
            <a:extLst xmlns:a="http://schemas.openxmlformats.org/drawingml/2006/main">
              <a:ext uri="{FF2B5EF4-FFF2-40B4-BE49-F238E27FC236}">
                <a16:creationId xmlns:a16="http://schemas.microsoft.com/office/drawing/2014/main" id="{75A4693F-0744-4302-A326-96F67BEB25A1}"/>
              </a:ext>
            </a:extLst>
          </p:cNvPr>
          <p:cNvSpPr>
            <a:spLocks xmlns:a="http://schemas.openxmlformats.org/drawingml/2006/main" noGrp="1"/>
          </p:cNvSpPr>
          <p:nvPr/>
        </p:nvSpPr>
        <p:spPr>
          <a:xfrm xmlns:a="http://schemas.openxmlformats.org/drawingml/2006/main" rot="5400000">
            <a:off x="5834063"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4" name="ex4-route-3">
            <a:extLst xmlns:a="http://schemas.openxmlformats.org/drawingml/2006/main">
              <a:ext uri="{FF2B5EF4-FFF2-40B4-BE49-F238E27FC236}">
                <a16:creationId xmlns:a16="http://schemas.microsoft.com/office/drawing/2014/main" id="{5D7D742F-DF13-47F0-A3CA-B8572588CBF4}"/>
              </a:ext>
            </a:extLst>
          </p:cNvPr>
          <p:cNvSpPr>
            <a:spLocks xmlns:a="http://schemas.openxmlformats.org/drawingml/2006/main" noGrp="1"/>
          </p:cNvSpPr>
          <p:nvPr/>
        </p:nvSpPr>
        <p:spPr>
          <a:xfrm xmlns:a="http://schemas.openxmlformats.org/drawingml/2006/main">
            <a:off x="6005513" y="192405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IF BPF</a:t>
            </a:r>
          </a:p>
        </p:txBody>
      </p:sp>
      <p:sp>
        <p:nvSpPr>
          <p:cNvPr id="15" name="ex4-current-operation">
            <a:extLst xmlns:a="http://schemas.openxmlformats.org/drawingml/2006/main">
              <a:ext uri="{FF2B5EF4-FFF2-40B4-BE49-F238E27FC236}">
                <a16:creationId xmlns:a16="http://schemas.microsoft.com/office/drawing/2014/main" id="{29665F75-781A-474A-98B2-8ED3745A0F57}"/>
              </a:ext>
            </a:extLst>
          </p:cNvPr>
          <p:cNvSpPr>
            <a:spLocks xmlns:a="http://schemas.openxmlformats.org/drawingml/2006/main" noGrp="1"/>
          </p:cNvSpPr>
          <p:nvPr/>
        </p:nvSpPr>
        <p:spPr>
          <a:xfrm xmlns:a="http://schemas.openxmlformats.org/drawingml/2006/main">
            <a:off x="6005513" y="2209800"/>
            <a:ext cx="1190625" cy="17145"/>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6" name="ex4-route-arrow3-line">
            <a:extLst xmlns:a="http://schemas.openxmlformats.org/drawingml/2006/main">
              <a:ext uri="{FF2B5EF4-FFF2-40B4-BE49-F238E27FC236}">
                <a16:creationId xmlns:a16="http://schemas.microsoft.com/office/drawing/2014/main" id="{4B3AE6E6-022A-438B-9EDD-B06D8640CD07}"/>
              </a:ext>
            </a:extLst>
          </p:cNvPr>
          <p:cNvSpPr>
            <a:spLocks xmlns:a="http://schemas.openxmlformats.org/drawingml/2006/main" noGrp="1"/>
          </p:cNvSpPr>
          <p:nvPr/>
        </p:nvSpPr>
        <p:spPr>
          <a:xfrm xmlns:a="http://schemas.openxmlformats.org/drawingml/2006/main">
            <a:off x="7272338" y="2057400"/>
            <a:ext cx="457200"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7" name="ex4-route-arrow3-head">
            <a:extLst xmlns:a="http://schemas.openxmlformats.org/drawingml/2006/main">
              <a:ext uri="{FF2B5EF4-FFF2-40B4-BE49-F238E27FC236}">
                <a16:creationId xmlns:a16="http://schemas.microsoft.com/office/drawing/2014/main" id="{B7711A6A-705A-49D0-9A05-8123E51EE694}"/>
              </a:ext>
            </a:extLst>
          </p:cNvPr>
          <p:cNvSpPr>
            <a:spLocks xmlns:a="http://schemas.openxmlformats.org/drawingml/2006/main" noGrp="1"/>
          </p:cNvSpPr>
          <p:nvPr/>
        </p:nvSpPr>
        <p:spPr>
          <a:xfrm xmlns:a="http://schemas.openxmlformats.org/drawingml/2006/main" rot="5400000">
            <a:off x="7710488"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8" name="ex4-route-4">
            <a:extLst xmlns:a="http://schemas.openxmlformats.org/drawingml/2006/main">
              <a:ext uri="{FF2B5EF4-FFF2-40B4-BE49-F238E27FC236}">
                <a16:creationId xmlns:a16="http://schemas.microsoft.com/office/drawing/2014/main" id="{C2CE6348-33CA-4223-86A3-E3715DF83EF7}"/>
              </a:ext>
            </a:extLst>
          </p:cNvPr>
          <p:cNvSpPr>
            <a:spLocks xmlns:a="http://schemas.openxmlformats.org/drawingml/2006/main" noGrp="1"/>
          </p:cNvSpPr>
          <p:nvPr/>
        </p:nvSpPr>
        <p:spPr>
          <a:xfrm xmlns:a="http://schemas.openxmlformats.org/drawingml/2006/main">
            <a:off x="7881938" y="19240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Mix at 20 kHz + LPF</a:t>
            </a:r>
          </a:p>
        </p:txBody>
      </p:sp>
      <p:sp>
        <p:nvSpPr>
          <p:cNvPr id="19" name="ex4-route-arrow4-line">
            <a:extLst xmlns:a="http://schemas.openxmlformats.org/drawingml/2006/main">
              <a:ext uri="{FF2B5EF4-FFF2-40B4-BE49-F238E27FC236}">
                <a16:creationId xmlns:a16="http://schemas.microsoft.com/office/drawing/2014/main" id="{F4640D46-4E45-4B3A-84EE-0BD8C64F406F}"/>
              </a:ext>
            </a:extLst>
          </p:cNvPr>
          <p:cNvSpPr>
            <a:spLocks xmlns:a="http://schemas.openxmlformats.org/drawingml/2006/main" noGrp="1"/>
          </p:cNvSpPr>
          <p:nvPr/>
        </p:nvSpPr>
        <p:spPr>
          <a:xfrm xmlns:a="http://schemas.openxmlformats.org/drawingml/2006/main">
            <a:off x="10196513" y="2057400"/>
            <a:ext cx="319088"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20" name="ex4-route-arrow4-head">
            <a:extLst xmlns:a="http://schemas.openxmlformats.org/drawingml/2006/main">
              <a:ext uri="{FF2B5EF4-FFF2-40B4-BE49-F238E27FC236}">
                <a16:creationId xmlns:a16="http://schemas.microsoft.com/office/drawing/2014/main" id="{4E1D2B63-E138-4DA5-8CEC-6E4E65F764D8}"/>
              </a:ext>
            </a:extLst>
          </p:cNvPr>
          <p:cNvSpPr>
            <a:spLocks xmlns:a="http://schemas.openxmlformats.org/drawingml/2006/main" noGrp="1"/>
          </p:cNvSpPr>
          <p:nvPr/>
        </p:nvSpPr>
        <p:spPr>
          <a:xfrm xmlns:a="http://schemas.openxmlformats.org/drawingml/2006/main" rot="5400000">
            <a:off x="10496550"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21" name="ex4-route-5">
            <a:extLst xmlns:a="http://schemas.openxmlformats.org/drawingml/2006/main">
              <a:ext uri="{FF2B5EF4-FFF2-40B4-BE49-F238E27FC236}">
                <a16:creationId xmlns:a16="http://schemas.microsoft.com/office/drawing/2014/main" id="{FDC969C8-7807-41B6-BE9E-29D3B19B1F64}"/>
              </a:ext>
            </a:extLst>
          </p:cNvPr>
          <p:cNvSpPr>
            <a:spLocks xmlns:a="http://schemas.openxmlformats.org/drawingml/2006/main" noGrp="1"/>
          </p:cNvSpPr>
          <p:nvPr/>
        </p:nvSpPr>
        <p:spPr>
          <a:xfrm xmlns:a="http://schemas.openxmlformats.org/drawingml/2006/main">
            <a:off x="10668000" y="192405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Output</a:t>
            </a:r>
          </a:p>
        </p:txBody>
      </p:sp>
      <p:pic>
        <p:nvPicPr>
          <p:cNvPr id="51" name="ex4-loop"/>
          <p:cNvPicPr>
            <a:picLocks xmlns:a="http://schemas.openxmlformats.org/drawingml/2006/main" noChangeAspect="1"/>
          </p:cNvPicPr>
          <p:nvPr/>
        </p:nvPicPr>
        <p:blipFill>
          <a:blip xmlns:r="http://schemas.openxmlformats.org/officeDocument/2006/relationships" xmlns:a="http://schemas.openxmlformats.org/drawingml/2006/main" r:embed="R5a9577f0facf453b"/>
          <a:stretch xmlns:a="http://schemas.openxmlformats.org/drawingml/2006/main"/>
        </p:blipFill>
        <p:spPr>
          <a:xfrm xmlns:a="http://schemas.openxmlformats.org/drawingml/2006/main">
            <a:off x="666750" y="2324100"/>
            <a:ext cx="10858500" cy="1762125"/>
          </a:xfrm>
          <a:prstGeom xmlns:a="http://schemas.openxmlformats.org/drawingml/2006/main" prst="rect">
            <a:avLst/>
          </a:prstGeom>
        </p:spPr>
      </p:pic>
      <p:sp>
        <p:nvSpPr>
          <p:cNvPr id="23" name="ex4-reason1">
            <a:extLst xmlns:a="http://schemas.openxmlformats.org/drawingml/2006/main">
              <a:ext uri="{FF2B5EF4-FFF2-40B4-BE49-F238E27FC236}">
                <a16:creationId xmlns:a16="http://schemas.microsoft.com/office/drawing/2014/main" id="{FE83B3F2-4622-4A45-B22F-F8AAE31B8234}"/>
              </a:ext>
            </a:extLst>
          </p:cNvPr>
          <p:cNvSpPr>
            <a:spLocks xmlns:a="http://schemas.openxmlformats.org/drawingml/2006/main" noGrp="1"/>
          </p:cNvSpPr>
          <p:nvPr/>
        </p:nvSpPr>
        <p:spPr>
          <a:xfrm xmlns:a="http://schemas.openxmlformats.org/drawingml/2006/main">
            <a:off x="666750" y="41910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The IF BPFs retain channels {1}, {1,2} and {2,3}. Their output signals are</a:t>
            </a:r>
          </a:p>
        </p:txBody>
      </p:sp>
      <p:sp>
        <p:nvSpPr>
          <p:cNvPr id="24" name="ex4-reason2">
            <a:extLst xmlns:a="http://schemas.openxmlformats.org/drawingml/2006/main">
              <a:ext uri="{FF2B5EF4-FFF2-40B4-BE49-F238E27FC236}">
                <a16:creationId xmlns:a16="http://schemas.microsoft.com/office/drawing/2014/main" id="{5C3530AD-1DDA-4232-A2D0-C0FBCF9282A9}"/>
              </a:ext>
            </a:extLst>
          </p:cNvPr>
          <p:cNvSpPr>
            <a:spLocks xmlns:a="http://schemas.openxmlformats.org/drawingml/2006/main" noGrp="1"/>
          </p:cNvSpPr>
          <p:nvPr/>
        </p:nvSpPr>
        <p:spPr>
          <a:xfrm xmlns:a="http://schemas.openxmlformats.org/drawingml/2006/main">
            <a:off x="666750" y="62484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The coincident contributions cannot be separated by the IF BPF.</a:t>
            </a:r>
          </a:p>
        </p:txBody>
      </p:sp>
      <p:pic>
        <p:nvPicPr>
          <p:cNvPr id="55" name="ex4-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5ce879b521b840aa">
            <a:extLst>
              <a:ext uri="{96DAC541-7B7A-43D3-8B79-37D633B846F1}">
                <ns0:svgBlip xmlns:ns0="http://schemas.microsoft.com/office/drawing/2016/SVG/main" r:embed="rIdVectorexercise_formula_17"/>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56" name="ex4-if-output0" descr="s'_{\mathrm{IF},1}(t)=m_1(t)\cos(2\pi\cdot20{,}000t)"/>
          <p:cNvPicPr>
            <a:picLocks xmlns:a="http://schemas.openxmlformats.org/drawingml/2006/main" noChangeAspect="1"/>
          </p:cNvPicPr>
          <p:nvPr/>
        </p:nvPicPr>
        <p:blipFill>
          <a:blip xmlns:r="http://schemas.openxmlformats.org/officeDocument/2006/relationships" xmlns:a="http://schemas.openxmlformats.org/drawingml/2006/main" r:embed="R94266286cd7f4577">
            <a:extLst>
              <a:ext uri="{96DAC541-7B7A-43D3-8B79-37D633B846F1}">
                <ns1:svgBlip xmlns:ns1="http://schemas.microsoft.com/office/drawing/2016/SVG/main" r:embed="rIdVectorexercise_formula_18"/>
              </a:ext>
            </a:extLst>
          </a:blip>
          <a:stretch xmlns:a="http://schemas.openxmlformats.org/drawingml/2006/main"/>
        </p:blipFill>
        <p:spPr>
          <a:xfrm xmlns:a="http://schemas.openxmlformats.org/drawingml/2006/main">
            <a:off x="952500" y="4657546"/>
            <a:ext cx="3987165" cy="295632"/>
          </a:xfrm>
          <a:prstGeom xmlns:a="http://schemas.openxmlformats.org/drawingml/2006/main" prst="rect">
            <a:avLst/>
          </a:prstGeom>
        </p:spPr>
      </p:pic>
      <p:pic>
        <p:nvPicPr>
          <p:cNvPr id="57" name="ex4-if-output1" descr="s'_{\mathrm{IF},2}(t)=[m_1(t)+m_2(t)]\cos(2\pi\cdot20{,}000t)"/>
          <p:cNvPicPr>
            <a:picLocks xmlns:a="http://schemas.openxmlformats.org/drawingml/2006/main" noChangeAspect="1"/>
          </p:cNvPicPr>
          <p:nvPr/>
        </p:nvPicPr>
        <p:blipFill>
          <a:blip xmlns:r="http://schemas.openxmlformats.org/officeDocument/2006/relationships" xmlns:a="http://schemas.openxmlformats.org/drawingml/2006/main" r:embed="R8a5dad91437149c4">
            <a:extLst>
              <a:ext uri="{96DAC541-7B7A-43D3-8B79-37D633B846F1}">
                <ns2:svgBlip xmlns:ns2="http://schemas.microsoft.com/office/drawing/2016/SVG/main" r:embed="rIdVectorexercise_formula_19"/>
              </a:ext>
            </a:extLst>
          </a:blip>
          <a:stretch xmlns:a="http://schemas.openxmlformats.org/drawingml/2006/main"/>
        </p:blipFill>
        <p:spPr>
          <a:xfrm xmlns:a="http://schemas.openxmlformats.org/drawingml/2006/main">
            <a:off x="952500" y="5124271"/>
            <a:ext cx="5175885" cy="295632"/>
          </a:xfrm>
          <a:prstGeom xmlns:a="http://schemas.openxmlformats.org/drawingml/2006/main" prst="rect">
            <a:avLst/>
          </a:prstGeom>
        </p:spPr>
      </p:pic>
      <p:pic>
        <p:nvPicPr>
          <p:cNvPr id="58" name="ex4-if-output2" descr="s'_{\mathrm{IF},3}(t)=[m_2(t)+m_3(t)]\cos(2\pi\cdot20{,}000t)"/>
          <p:cNvPicPr>
            <a:picLocks xmlns:a="http://schemas.openxmlformats.org/drawingml/2006/main" noChangeAspect="1"/>
          </p:cNvPicPr>
          <p:nvPr/>
        </p:nvPicPr>
        <p:blipFill>
          <a:blip xmlns:r="http://schemas.openxmlformats.org/officeDocument/2006/relationships" xmlns:a="http://schemas.openxmlformats.org/drawingml/2006/main" r:embed="Rd8e6de92e64a4df6">
            <a:extLst>
              <a:ext uri="{96DAC541-7B7A-43D3-8B79-37D633B846F1}">
                <ns3:svgBlip xmlns:ns3="http://schemas.microsoft.com/office/drawing/2016/SVG/main" r:embed="rIdVectorexercise_formula_20"/>
              </a:ext>
            </a:extLst>
          </a:blip>
          <a:stretch xmlns:a="http://schemas.openxmlformats.org/drawingml/2006/main"/>
        </p:blipFill>
        <p:spPr>
          <a:xfrm xmlns:a="http://schemas.openxmlformats.org/drawingml/2006/main">
            <a:off x="952500" y="5590996"/>
            <a:ext cx="5175885" cy="295632"/>
          </a:xfrm>
          <a:prstGeom xmlns:a="http://schemas.openxmlformats.org/drawingml/2006/main" prst="rect">
            <a:avLst/>
          </a:prstGeom>
        </p:spPr>
      </p:pic>
    </p:spTree>
    <p:extLst>
      <p:ext uri="{BB962C8B-B14F-4D97-AF65-F5344CB8AC3E}">
        <p14:creationId xmlns:p14="http://schemas.microsoft.com/office/powerpoint/2010/main" val="81697137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400"/>
                                        <p:tgtEl>
                                          <p:spTgt spid="56"/>
                                        </p:tgtEl>
                                      </p:cBhvr>
                                    </p:animEffect>
                                  </p:childTnLst>
                                </p:cTn>
                              </p:par>
                              <p:par>
                                <p:cTn id="11" presetID="10"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400"/>
                                        <p:tgtEl>
                                          <p:spTgt spid="57"/>
                                        </p:tgtEl>
                                      </p:cBhvr>
                                    </p:animEffect>
                                  </p:childTnLst>
                                </p:cTn>
                              </p:par>
                              <p:par>
                                <p:cTn id="14" presetID="10" presetClass="entr" presetSubtype="0" fill="hold" nodeType="with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400"/>
                                        <p:tgtEl>
                                          <p:spTgt spid="5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c_positioned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ex5-title">
            <ns0:hlinkClick xmlns:ns0="http://schemas.openxmlformats.org/drawingml/2006/main" xmlns:ns1="http://schemas.openxmlformats.org/officeDocument/2006/relationships" ns1:id="rIdExerciseLink8" action="ppaction://hlinksldjump"/>
            <a:extLst xmlns:a="http://schemas.openxmlformats.org/drawingml/2006/main">
              <a:ext uri="{FF2B5EF4-FFF2-40B4-BE49-F238E27FC236}">
                <a16:creationId xmlns:a16="http://schemas.microsoft.com/office/drawing/2014/main" id="{45E0C7E7-14A8-45C8-AE4D-F2CB2F24DCD5}"/>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5-subtitle">
            <a:extLst xmlns:a="http://schemas.openxmlformats.org/drawingml/2006/main">
              <a:ext uri="{FF2B5EF4-FFF2-40B4-BE49-F238E27FC236}">
                <a16:creationId xmlns:a16="http://schemas.microsoft.com/office/drawing/2014/main" id="{C1F669AE-995C-46E2-9311-6285A16FB987}"/>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5-question">
            <a:extLst xmlns:a="http://schemas.openxmlformats.org/drawingml/2006/main">
              <a:ext uri="{FF2B5EF4-FFF2-40B4-BE49-F238E27FC236}">
                <a16:creationId xmlns:a16="http://schemas.microsoft.com/office/drawing/2014/main" id="{5AA11B86-E134-485C-A8B9-B2E2055296E8}"/>
              </a:ext>
            </a:extLst>
          </p:cNvPr>
          <p:cNvSpPr>
            <a:spLocks xmlns:a="http://schemas.openxmlformats.org/drawingml/2006/main" noGrp="1"/>
          </p:cNvSpPr>
          <p:nvPr/>
        </p:nvSpPr>
        <p:spPr>
          <a:xfrm xmlns:a="http://schemas.openxmlformats.org/drawingml/2006/main">
            <a:off x="666750" y="15049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(c)  Demodulate the IF outputs. Which messages are recovered?</a:t>
            </a:r>
          </a:p>
        </p:txBody>
      </p:sp>
      <p:sp>
        <p:nvSpPr>
          <p:cNvPr id="4" name="ex5-route-0">
            <a:extLst xmlns:a="http://schemas.openxmlformats.org/drawingml/2006/main">
              <a:ext uri="{FF2B5EF4-FFF2-40B4-BE49-F238E27FC236}">
                <a16:creationId xmlns:a16="http://schemas.microsoft.com/office/drawing/2014/main" id="{60DD310E-2D8B-4510-AF54-3659AEF33D5A}"/>
              </a:ext>
            </a:extLst>
          </p:cNvPr>
          <p:cNvSpPr>
            <a:spLocks xmlns:a="http://schemas.openxmlformats.org/drawingml/2006/main" noGrp="1"/>
          </p:cNvSpPr>
          <p:nvPr/>
        </p:nvSpPr>
        <p:spPr>
          <a:xfrm xmlns:a="http://schemas.openxmlformats.org/drawingml/2006/main">
            <a:off x="619125" y="19240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s(t)</a:t>
            </a:r>
          </a:p>
        </p:txBody>
      </p:sp>
      <p:sp>
        <p:nvSpPr>
          <p:cNvPr id="5" name="ex5-route-arrow0-line">
            <a:extLst xmlns:a="http://schemas.openxmlformats.org/drawingml/2006/main">
              <a:ext uri="{FF2B5EF4-FFF2-40B4-BE49-F238E27FC236}">
                <a16:creationId xmlns:a16="http://schemas.microsoft.com/office/drawing/2014/main" id="{CFC1A633-1EDF-4922-9F67-8D69318C7DEF}"/>
              </a:ext>
            </a:extLst>
          </p:cNvPr>
          <p:cNvSpPr>
            <a:spLocks xmlns:a="http://schemas.openxmlformats.org/drawingml/2006/main" noGrp="1"/>
          </p:cNvSpPr>
          <p:nvPr/>
        </p:nvSpPr>
        <p:spPr>
          <a:xfrm xmlns:a="http://schemas.openxmlformats.org/drawingml/2006/main">
            <a:off x="1266825" y="2057400"/>
            <a:ext cx="333375"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6" name="ex5-route-arrow0-head">
            <a:extLst xmlns:a="http://schemas.openxmlformats.org/drawingml/2006/main">
              <a:ext uri="{FF2B5EF4-FFF2-40B4-BE49-F238E27FC236}">
                <a16:creationId xmlns:a16="http://schemas.microsoft.com/office/drawing/2014/main" id="{7D85CEF8-1D7C-444F-A7F6-B245840E00D4}"/>
              </a:ext>
            </a:extLst>
          </p:cNvPr>
          <p:cNvSpPr>
            <a:spLocks xmlns:a="http://schemas.openxmlformats.org/drawingml/2006/main" noGrp="1"/>
          </p:cNvSpPr>
          <p:nvPr/>
        </p:nvSpPr>
        <p:spPr>
          <a:xfrm xmlns:a="http://schemas.openxmlformats.org/drawingml/2006/main" rot="5400000">
            <a:off x="1581150"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7" name="ex5-route-1">
            <a:extLst xmlns:a="http://schemas.openxmlformats.org/drawingml/2006/main">
              <a:ext uri="{FF2B5EF4-FFF2-40B4-BE49-F238E27FC236}">
                <a16:creationId xmlns:a16="http://schemas.microsoft.com/office/drawing/2014/main" id="{8E5BBCAC-6DF5-49A5-9F65-3D74C1A9F149}"/>
              </a:ext>
            </a:extLst>
          </p:cNvPr>
          <p:cNvSpPr>
            <a:spLocks xmlns:a="http://schemas.openxmlformats.org/drawingml/2006/main" noGrp="1"/>
          </p:cNvSpPr>
          <p:nvPr/>
        </p:nvSpPr>
        <p:spPr>
          <a:xfrm xmlns:a="http://schemas.openxmlformats.org/drawingml/2006/main">
            <a:off x="1752600" y="19240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Input BPF</a:t>
            </a:r>
          </a:p>
        </p:txBody>
      </p:sp>
      <p:sp>
        <p:nvSpPr>
          <p:cNvPr id="8" name="ex5-removed-input-bpf">
            <a:extLst xmlns:a="http://schemas.openxmlformats.org/drawingml/2006/main">
              <a:ext uri="{FF2B5EF4-FFF2-40B4-BE49-F238E27FC236}">
                <a16:creationId xmlns:a16="http://schemas.microsoft.com/office/drawing/2014/main" id="{8DEA2F4B-3941-4BE0-8529-B084FC96CC97}"/>
              </a:ext>
            </a:extLst>
          </p:cNvPr>
          <p:cNvSpPr>
            <a:spLocks xmlns:a="http://schemas.openxmlformats.org/drawingml/2006/main" noGrp="1"/>
          </p:cNvSpPr>
          <p:nvPr/>
        </p:nvSpPr>
        <p:spPr>
          <a:xfrm xmlns:a="http://schemas.openxmlformats.org/drawingml/2006/main">
            <a:off x="1781175" y="2066925"/>
            <a:ext cx="1085850"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9" name="ex5-route-arrow1-line">
            <a:extLst xmlns:a="http://schemas.openxmlformats.org/drawingml/2006/main">
              <a:ext uri="{FF2B5EF4-FFF2-40B4-BE49-F238E27FC236}">
                <a16:creationId xmlns:a16="http://schemas.microsoft.com/office/drawing/2014/main" id="{AB3DBE73-C987-48FA-9154-9253260AD87A}"/>
              </a:ext>
            </a:extLst>
          </p:cNvPr>
          <p:cNvSpPr>
            <a:spLocks xmlns:a="http://schemas.openxmlformats.org/drawingml/2006/main" noGrp="1"/>
          </p:cNvSpPr>
          <p:nvPr/>
        </p:nvSpPr>
        <p:spPr>
          <a:xfrm xmlns:a="http://schemas.openxmlformats.org/drawingml/2006/main">
            <a:off x="2971800" y="2057400"/>
            <a:ext cx="614363"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0" name="ex5-route-arrow1-head">
            <a:extLst xmlns:a="http://schemas.openxmlformats.org/drawingml/2006/main">
              <a:ext uri="{FF2B5EF4-FFF2-40B4-BE49-F238E27FC236}">
                <a16:creationId xmlns:a16="http://schemas.microsoft.com/office/drawing/2014/main" id="{2B974613-3711-47CA-B8AC-CFFE13D7B083}"/>
              </a:ext>
            </a:extLst>
          </p:cNvPr>
          <p:cNvSpPr>
            <a:spLocks xmlns:a="http://schemas.openxmlformats.org/drawingml/2006/main" noGrp="1"/>
          </p:cNvSpPr>
          <p:nvPr/>
        </p:nvSpPr>
        <p:spPr>
          <a:xfrm xmlns:a="http://schemas.openxmlformats.org/drawingml/2006/main" rot="5400000">
            <a:off x="3567113"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1" name="ex5-route-2">
            <a:extLst xmlns:a="http://schemas.openxmlformats.org/drawingml/2006/main">
              <a:ext uri="{FF2B5EF4-FFF2-40B4-BE49-F238E27FC236}">
                <a16:creationId xmlns:a16="http://schemas.microsoft.com/office/drawing/2014/main" id="{5FAB0D98-DA33-4281-9F24-C0911CA057DC}"/>
              </a:ext>
            </a:extLst>
          </p:cNvPr>
          <p:cNvSpPr>
            <a:spLocks xmlns:a="http://schemas.openxmlformats.org/drawingml/2006/main" noGrp="1"/>
          </p:cNvSpPr>
          <p:nvPr/>
        </p:nvSpPr>
        <p:spPr>
          <a:xfrm xmlns:a="http://schemas.openxmlformats.org/drawingml/2006/main">
            <a:off x="3738563" y="19240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Mix with LO</a:t>
            </a:r>
          </a:p>
        </p:txBody>
      </p:sp>
      <p:sp>
        <p:nvSpPr>
          <p:cNvPr id="12" name="ex5-route-arrow2-line">
            <a:extLst xmlns:a="http://schemas.openxmlformats.org/drawingml/2006/main">
              <a:ext uri="{FF2B5EF4-FFF2-40B4-BE49-F238E27FC236}">
                <a16:creationId xmlns:a16="http://schemas.microsoft.com/office/drawing/2014/main" id="{82DC5C59-A64F-4FDC-9801-42A0AD1841EC}"/>
              </a:ext>
            </a:extLst>
          </p:cNvPr>
          <p:cNvSpPr>
            <a:spLocks xmlns:a="http://schemas.openxmlformats.org/drawingml/2006/main" noGrp="1"/>
          </p:cNvSpPr>
          <p:nvPr/>
        </p:nvSpPr>
        <p:spPr>
          <a:xfrm xmlns:a="http://schemas.openxmlformats.org/drawingml/2006/main">
            <a:off x="5291138" y="2057400"/>
            <a:ext cx="561975"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3" name="ex5-route-arrow2-head">
            <a:extLst xmlns:a="http://schemas.openxmlformats.org/drawingml/2006/main">
              <a:ext uri="{FF2B5EF4-FFF2-40B4-BE49-F238E27FC236}">
                <a16:creationId xmlns:a16="http://schemas.microsoft.com/office/drawing/2014/main" id="{129899BE-7146-4C0C-B93E-75A083460343}"/>
              </a:ext>
            </a:extLst>
          </p:cNvPr>
          <p:cNvSpPr>
            <a:spLocks xmlns:a="http://schemas.openxmlformats.org/drawingml/2006/main" noGrp="1"/>
          </p:cNvSpPr>
          <p:nvPr/>
        </p:nvSpPr>
        <p:spPr>
          <a:xfrm xmlns:a="http://schemas.openxmlformats.org/drawingml/2006/main" rot="5400000">
            <a:off x="5834063"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4" name="ex5-route-3">
            <a:extLst xmlns:a="http://schemas.openxmlformats.org/drawingml/2006/main">
              <a:ext uri="{FF2B5EF4-FFF2-40B4-BE49-F238E27FC236}">
                <a16:creationId xmlns:a16="http://schemas.microsoft.com/office/drawing/2014/main" id="{4C6CEFB9-1402-458E-95BC-96796A407BE9}"/>
              </a:ext>
            </a:extLst>
          </p:cNvPr>
          <p:cNvSpPr>
            <a:spLocks xmlns:a="http://schemas.openxmlformats.org/drawingml/2006/main" noGrp="1"/>
          </p:cNvSpPr>
          <p:nvPr/>
        </p:nvSpPr>
        <p:spPr>
          <a:xfrm xmlns:a="http://schemas.openxmlformats.org/drawingml/2006/main">
            <a:off x="6005513" y="192405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IF BPF</a:t>
            </a:r>
          </a:p>
        </p:txBody>
      </p:sp>
      <p:sp>
        <p:nvSpPr>
          <p:cNvPr id="15" name="ex5-route-arrow3-line">
            <a:extLst xmlns:a="http://schemas.openxmlformats.org/drawingml/2006/main">
              <a:ext uri="{FF2B5EF4-FFF2-40B4-BE49-F238E27FC236}">
                <a16:creationId xmlns:a16="http://schemas.microsoft.com/office/drawing/2014/main" id="{1101035C-9921-47A1-B38E-CA0EDB6CC2D9}"/>
              </a:ext>
            </a:extLst>
          </p:cNvPr>
          <p:cNvSpPr>
            <a:spLocks xmlns:a="http://schemas.openxmlformats.org/drawingml/2006/main" noGrp="1"/>
          </p:cNvSpPr>
          <p:nvPr/>
        </p:nvSpPr>
        <p:spPr>
          <a:xfrm xmlns:a="http://schemas.openxmlformats.org/drawingml/2006/main">
            <a:off x="7272338" y="2057400"/>
            <a:ext cx="457200"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16" name="ex5-route-arrow3-head">
            <a:extLst xmlns:a="http://schemas.openxmlformats.org/drawingml/2006/main">
              <a:ext uri="{FF2B5EF4-FFF2-40B4-BE49-F238E27FC236}">
                <a16:creationId xmlns:a16="http://schemas.microsoft.com/office/drawing/2014/main" id="{B21A0A3D-77E2-40ED-9796-0BC67381CCF4}"/>
              </a:ext>
            </a:extLst>
          </p:cNvPr>
          <p:cNvSpPr>
            <a:spLocks xmlns:a="http://schemas.openxmlformats.org/drawingml/2006/main" noGrp="1"/>
          </p:cNvSpPr>
          <p:nvPr/>
        </p:nvSpPr>
        <p:spPr>
          <a:xfrm xmlns:a="http://schemas.openxmlformats.org/drawingml/2006/main" rot="5400000">
            <a:off x="7710488"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17" name="ex5-route-4">
            <a:extLst xmlns:a="http://schemas.openxmlformats.org/drawingml/2006/main">
              <a:ext uri="{FF2B5EF4-FFF2-40B4-BE49-F238E27FC236}">
                <a16:creationId xmlns:a16="http://schemas.microsoft.com/office/drawing/2014/main" id="{64577DC8-E343-4523-8762-1A34CE44D78D}"/>
              </a:ext>
            </a:extLst>
          </p:cNvPr>
          <p:cNvSpPr>
            <a:spLocks xmlns:a="http://schemas.openxmlformats.org/drawingml/2006/main" noGrp="1"/>
          </p:cNvSpPr>
          <p:nvPr/>
        </p:nvSpPr>
        <p:spPr>
          <a:xfrm xmlns:a="http://schemas.openxmlformats.org/drawingml/2006/main">
            <a:off x="7881938" y="19240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Mix at 20 kHz + LPF</a:t>
            </a:r>
          </a:p>
        </p:txBody>
      </p:sp>
      <p:sp>
        <p:nvSpPr>
          <p:cNvPr id="18" name="ex5-current-operation">
            <a:extLst xmlns:a="http://schemas.openxmlformats.org/drawingml/2006/main">
              <a:ext uri="{FF2B5EF4-FFF2-40B4-BE49-F238E27FC236}">
                <a16:creationId xmlns:a16="http://schemas.microsoft.com/office/drawing/2014/main" id="{FFE5E6A4-2E53-4E46-97C4-B28F1BF22A9E}"/>
              </a:ext>
            </a:extLst>
          </p:cNvPr>
          <p:cNvSpPr>
            <a:spLocks xmlns:a="http://schemas.openxmlformats.org/drawingml/2006/main" noGrp="1"/>
          </p:cNvSpPr>
          <p:nvPr/>
        </p:nvSpPr>
        <p:spPr>
          <a:xfrm xmlns:a="http://schemas.openxmlformats.org/drawingml/2006/main">
            <a:off x="7881938" y="2209800"/>
            <a:ext cx="2238375" cy="17145"/>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ex5-route-arrow4-line">
            <a:extLst xmlns:a="http://schemas.openxmlformats.org/drawingml/2006/main">
              <a:ext uri="{FF2B5EF4-FFF2-40B4-BE49-F238E27FC236}">
                <a16:creationId xmlns:a16="http://schemas.microsoft.com/office/drawing/2014/main" id="{CD94BD64-5F7F-472D-B571-A73F55D551C7}"/>
              </a:ext>
            </a:extLst>
          </p:cNvPr>
          <p:cNvSpPr>
            <a:spLocks xmlns:a="http://schemas.openxmlformats.org/drawingml/2006/main" noGrp="1"/>
          </p:cNvSpPr>
          <p:nvPr/>
        </p:nvSpPr>
        <p:spPr>
          <a:xfrm xmlns:a="http://schemas.openxmlformats.org/drawingml/2006/main">
            <a:off x="10196513" y="2057400"/>
            <a:ext cx="319088" cy="14288"/>
          </a:xfrm>
          <a:prstGeom xmlns:a="http://schemas.openxmlformats.org/drawingml/2006/main" prst="rect">
            <a:avLst/>
          </a:prstGeom>
          <a:solidFill xmlns:a="http://schemas.openxmlformats.org/drawingml/2006/main">
            <a:srgbClr val="858585"/>
          </a:solidFill>
          <a:ln xmlns:a="http://schemas.openxmlformats.org/drawingml/2006/main" w="0">
            <a:noFill/>
          </a:ln>
        </p:spPr>
      </p:sp>
      <p:sp>
        <p:nvSpPr>
          <p:cNvPr id="20" name="ex5-route-arrow4-head">
            <a:extLst xmlns:a="http://schemas.openxmlformats.org/drawingml/2006/main">
              <a:ext uri="{FF2B5EF4-FFF2-40B4-BE49-F238E27FC236}">
                <a16:creationId xmlns:a16="http://schemas.microsoft.com/office/drawing/2014/main" id="{AE95072D-6638-4D9F-8867-8F9C5AD10F19}"/>
              </a:ext>
            </a:extLst>
          </p:cNvPr>
          <p:cNvSpPr>
            <a:spLocks xmlns:a="http://schemas.openxmlformats.org/drawingml/2006/main" noGrp="1"/>
          </p:cNvSpPr>
          <p:nvPr/>
        </p:nvSpPr>
        <p:spPr>
          <a:xfrm xmlns:a="http://schemas.openxmlformats.org/drawingml/2006/main" rot="5400000">
            <a:off x="10496550" y="2019300"/>
            <a:ext cx="95250" cy="95250"/>
          </a:xfrm>
          <a:prstGeom xmlns:a="http://schemas.openxmlformats.org/drawingml/2006/main" prst="triangle">
            <a:avLst/>
          </a:prstGeom>
          <a:solidFill xmlns:a="http://schemas.openxmlformats.org/drawingml/2006/main">
            <a:srgbClr val="858585"/>
          </a:solidFill>
          <a:ln xmlns:a="http://schemas.openxmlformats.org/drawingml/2006/main" w="0">
            <a:noFill/>
          </a:ln>
        </p:spPr>
      </p:sp>
      <p:sp>
        <p:nvSpPr>
          <p:cNvPr id="21" name="ex5-route-5">
            <a:extLst xmlns:a="http://schemas.openxmlformats.org/drawingml/2006/main">
              <a:ext uri="{FF2B5EF4-FFF2-40B4-BE49-F238E27FC236}">
                <a16:creationId xmlns:a16="http://schemas.microsoft.com/office/drawing/2014/main" id="{3FC21A54-5A82-490C-91DA-24DD61924E9B}"/>
              </a:ext>
            </a:extLst>
          </p:cNvPr>
          <p:cNvSpPr>
            <a:spLocks xmlns:a="http://schemas.openxmlformats.org/drawingml/2006/main" noGrp="1"/>
          </p:cNvSpPr>
          <p:nvPr/>
        </p:nvSpPr>
        <p:spPr>
          <a:xfrm xmlns:a="http://schemas.openxmlformats.org/drawingml/2006/main">
            <a:off x="10668000" y="192405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i="0">
                <a:solidFill>
                  <a:srgbClr val="858585"/>
                </a:solidFill>
                <a:latin typeface="Times New Roman"/>
                <a:ea typeface="Times New Roman"/>
                <a:cs typeface="Times New Roman"/>
              </a:defRPr>
            </a:pPr>
            <a:r>
              <a:rPr sz="1575" b="0" i="0">
                <a:solidFill>
                  <a:srgbClr val="858585"/>
                </a:solidFill>
                <a:latin typeface="Times New Roman"/>
                <a:ea typeface="Times New Roman"/>
                <a:cs typeface="Times New Roman"/>
              </a:rPr>
              <a:t>Output</a:t>
            </a:r>
          </a:p>
        </p:txBody>
      </p:sp>
      <p:pic>
        <p:nvPicPr>
          <p:cNvPr id="53" name="ex5-loop"/>
          <p:cNvPicPr>
            <a:picLocks xmlns:a="http://schemas.openxmlformats.org/drawingml/2006/main" noChangeAspect="1"/>
          </p:cNvPicPr>
          <p:nvPr/>
        </p:nvPicPr>
        <p:blipFill>
          <a:blip xmlns:r="http://schemas.openxmlformats.org/officeDocument/2006/relationships" xmlns:a="http://schemas.openxmlformats.org/drawingml/2006/main" r:embed="R2674d0872ab04f93"/>
          <a:stretch xmlns:a="http://schemas.openxmlformats.org/drawingml/2006/main"/>
        </p:blipFill>
        <p:spPr>
          <a:xfrm xmlns:a="http://schemas.openxmlformats.org/drawingml/2006/main">
            <a:off x="666750" y="2324100"/>
            <a:ext cx="10858500" cy="1762125"/>
          </a:xfrm>
          <a:prstGeom xmlns:a="http://schemas.openxmlformats.org/drawingml/2006/main" prst="rect">
            <a:avLst/>
          </a:prstGeom>
        </p:spPr>
      </p:pic>
      <p:sp>
        <p:nvSpPr>
          <p:cNvPr id="23" name="ex5-reason1">
            <a:extLst xmlns:a="http://schemas.openxmlformats.org/drawingml/2006/main">
              <a:ext uri="{FF2B5EF4-FFF2-40B4-BE49-F238E27FC236}">
                <a16:creationId xmlns:a16="http://schemas.microsoft.com/office/drawing/2014/main" id="{459E5735-F2EF-4703-AFEC-E66977F688F6}"/>
              </a:ext>
            </a:extLst>
          </p:cNvPr>
          <p:cNvSpPr>
            <a:spLocks xmlns:a="http://schemas.openxmlformats.org/drawingml/2006/main" noGrp="1"/>
          </p:cNvSpPr>
          <p:nvPr/>
        </p:nvSpPr>
        <p:spPr>
          <a:xfrm xmlns:a="http://schemas.openxmlformats.org/drawingml/2006/main">
            <a:off x="666750" y="41433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Mix each IF output at 20 kHz. In branch 2, denote the mixer output by</a:t>
            </a:r>
          </a:p>
        </p:txBody>
      </p:sp>
      <p:sp>
        <p:nvSpPr>
          <p:cNvPr id="24" name="ex5-reason2">
            <a:extLst xmlns:a="http://schemas.openxmlformats.org/drawingml/2006/main">
              <a:ext uri="{FF2B5EF4-FFF2-40B4-BE49-F238E27FC236}">
                <a16:creationId xmlns:a16="http://schemas.microsoft.com/office/drawing/2014/main" id="{9CA0636D-5256-458B-9E3A-7CFBDAE5633F}"/>
              </a:ext>
            </a:extLst>
          </p:cNvPr>
          <p:cNvSpPr>
            <a:spLocks xmlns:a="http://schemas.openxmlformats.org/drawingml/2006/main" noGrp="1"/>
          </p:cNvSpPr>
          <p:nvPr/>
        </p:nvSpPr>
        <p:spPr>
          <a:xfrm xmlns:a="http://schemas.openxmlformats.org/drawingml/2006/main">
            <a:off x="666750" y="53054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The 5 kHz LPF removes the 40 kHz term. The three separate outputs are</a:t>
            </a:r>
          </a:p>
        </p:txBody>
      </p:sp>
      <p:sp>
        <p:nvSpPr>
          <p:cNvPr id="25" name="ex5-conclusion">
            <a:extLst xmlns:a="http://schemas.openxmlformats.org/drawingml/2006/main">
              <a:ext uri="{FF2B5EF4-FFF2-40B4-BE49-F238E27FC236}">
                <a16:creationId xmlns:a16="http://schemas.microsoft.com/office/drawing/2014/main" id="{D2A7C894-9518-49BF-96F1-7A379ADFF46E}"/>
              </a:ext>
            </a:extLst>
          </p:cNvPr>
          <p:cNvSpPr>
            <a:spLocks xmlns:a="http://schemas.openxmlformats.org/drawingml/2006/main" noGrp="1"/>
          </p:cNvSpPr>
          <p:nvPr/>
        </p:nvSpPr>
        <p:spPr>
          <a:xfrm xmlns:a="http://schemas.openxmlformats.org/drawingml/2006/main">
            <a:off x="666750" y="60388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Channels 1 and 2 overlap in branch 2; channels 2 and 3 overlap in branch 3.</a:t>
            </a:r>
          </a:p>
        </p:txBody>
      </p:sp>
      <p:sp>
        <p:nvSpPr>
          <p:cNvPr id="26" name="ex5-conclusion2">
            <a:extLst xmlns:a="http://schemas.openxmlformats.org/drawingml/2006/main">
              <a:ext uri="{FF2B5EF4-FFF2-40B4-BE49-F238E27FC236}">
                <a16:creationId xmlns:a16="http://schemas.microsoft.com/office/drawing/2014/main" id="{0A0DD3E7-DFD4-4787-A3EB-B61ABE3DE6C1}"/>
              </a:ext>
            </a:extLst>
          </p:cNvPr>
          <p:cNvSpPr>
            <a:spLocks xmlns:a="http://schemas.openxmlformats.org/drawingml/2006/main" noGrp="1"/>
          </p:cNvSpPr>
          <p:nvPr/>
        </p:nvSpPr>
        <p:spPr>
          <a:xfrm xmlns:a="http://schemas.openxmlformats.org/drawingml/2006/main">
            <a:off x="666750" y="63531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Branch 1 has no interfering channel in its IF passbands.</a:t>
            </a:r>
          </a:p>
        </p:txBody>
      </p:sp>
      <p:pic>
        <p:nvPicPr>
          <p:cNvPr id="59" name="ex5-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e39961a5bedd40e3">
            <a:extLst>
              <a:ext uri="{96DAC541-7B7A-43D3-8B79-37D633B846F1}">
                <ns0:svgBlip xmlns:ns0="http://schemas.microsoft.com/office/drawing/2016/SVG/main" r:embed="rIdVectorexercise_formula_21"/>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60" name="ex5-u2" descr="u'_2(t)=2s'_{\mathrm{IF},2}(t)\cos(2\pi\cdot20{,}000t)"/>
          <p:cNvPicPr>
            <a:picLocks xmlns:a="http://schemas.openxmlformats.org/drawingml/2006/main" noChangeAspect="1"/>
          </p:cNvPicPr>
          <p:nvPr/>
        </p:nvPicPr>
        <p:blipFill>
          <a:blip xmlns:r="http://schemas.openxmlformats.org/officeDocument/2006/relationships" xmlns:a="http://schemas.openxmlformats.org/drawingml/2006/main" r:embed="R5cf149b4d2494c50">
            <a:extLst>
              <a:ext uri="{96DAC541-7B7A-43D3-8B79-37D633B846F1}">
                <ns1:svgBlip xmlns:ns1="http://schemas.microsoft.com/office/drawing/2016/SVG/main" r:embed="rIdVectorexercise_formula_22"/>
              </a:ext>
            </a:extLst>
          </a:blip>
          <a:stretch xmlns:a="http://schemas.openxmlformats.org/drawingml/2006/main"/>
        </p:blipFill>
        <p:spPr>
          <a:xfrm xmlns:a="http://schemas.openxmlformats.org/drawingml/2006/main">
            <a:off x="952500" y="4533721"/>
            <a:ext cx="4036695" cy="295632"/>
          </a:xfrm>
          <a:prstGeom xmlns:a="http://schemas.openxmlformats.org/drawingml/2006/main" prst="rect">
            <a:avLst/>
          </a:prstGeom>
        </p:spPr>
      </p:pic>
      <p:pic>
        <p:nvPicPr>
          <p:cNvPr id="61" name="ex5-u2-cont" descr="=[m_1(t)+m_2(t)][1+\cos(2\pi\cdot40{,}000t)]"/>
          <p:cNvPicPr>
            <a:picLocks xmlns:a="http://schemas.openxmlformats.org/drawingml/2006/main" noChangeAspect="1"/>
          </p:cNvPicPr>
          <p:nvPr/>
        </p:nvPicPr>
        <p:blipFill>
          <a:blip xmlns:r="http://schemas.openxmlformats.org/officeDocument/2006/relationships" xmlns:a="http://schemas.openxmlformats.org/drawingml/2006/main" r:embed="Raf4733a9b8d0497d">
            <a:extLst>
              <a:ext uri="{96DAC541-7B7A-43D3-8B79-37D633B846F1}">
                <ns2:svgBlip xmlns:ns2="http://schemas.microsoft.com/office/drawing/2016/SVG/main" r:embed="rIdVectorexercise_formula_23"/>
              </a:ext>
            </a:extLst>
          </a:blip>
          <a:stretch xmlns:a="http://schemas.openxmlformats.org/drawingml/2006/main"/>
        </p:blipFill>
        <p:spPr>
          <a:xfrm xmlns:a="http://schemas.openxmlformats.org/drawingml/2006/main">
            <a:off x="1642895" y="4938713"/>
            <a:ext cx="4853940" cy="247650"/>
          </a:xfrm>
          <a:prstGeom xmlns:a="http://schemas.openxmlformats.org/drawingml/2006/main" prst="rect">
            <a:avLst/>
          </a:prstGeom>
        </p:spPr>
      </p:pic>
      <p:pic>
        <p:nvPicPr>
          <p:cNvPr id="62" name="ex5-outputs" descr="\widetilde m'_1(t)=m_1(t),\quad\widetilde m'_2(t)=m_1(t)+m_2(t),\quad\widetilde m'_3(t)=m_2(t)+m_3(t)"/>
          <p:cNvPicPr>
            <a:picLocks xmlns:a="http://schemas.openxmlformats.org/drawingml/2006/main" noChangeAspect="1"/>
          </p:cNvPicPr>
          <p:nvPr/>
        </p:nvPicPr>
        <p:blipFill>
          <a:blip xmlns:r="http://schemas.openxmlformats.org/officeDocument/2006/relationships" xmlns:a="http://schemas.openxmlformats.org/drawingml/2006/main" r:embed="Re9157d300c474f26">
            <a:extLst>
              <a:ext uri="{96DAC541-7B7A-43D3-8B79-37D633B846F1}">
                <ns3:svgBlip xmlns:ns3="http://schemas.microsoft.com/office/drawing/2016/SVG/main" r:embed="rIdVectorexercise_formula_24"/>
              </a:ext>
            </a:extLst>
          </a:blip>
          <a:stretch xmlns:a="http://schemas.openxmlformats.org/drawingml/2006/main"/>
        </p:blipFill>
        <p:spPr>
          <a:xfrm xmlns:a="http://schemas.openxmlformats.org/drawingml/2006/main">
            <a:off x="952500" y="5703272"/>
            <a:ext cx="8172450" cy="261580"/>
          </a:xfrm>
          <a:prstGeom xmlns:a="http://schemas.openxmlformats.org/drawingml/2006/main" prst="rect">
            <a:avLst/>
          </a:prstGeom>
        </p:spPr>
      </p:pic>
    </p:spTree>
    <p:extLst>
      <p:ext uri="{BB962C8B-B14F-4D97-AF65-F5344CB8AC3E}">
        <p14:creationId xmlns:p14="http://schemas.microsoft.com/office/powerpoint/2010/main" val="87335301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400"/>
                                        <p:tgtEl>
                                          <p:spTgt spid="60"/>
                                        </p:tgtEl>
                                      </p:cBhvr>
                                    </p:animEffect>
                                  </p:childTnLst>
                                </p:cTn>
                              </p:par>
                              <p:par>
                                <p:cTn id="11" presetID="10" presetClass="entr" presetSubtype="0"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400"/>
                                        <p:tgtEl>
                                          <p:spTgt spid="6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par>
                                <p:cTn id="19" presetID="10" presetClass="entr" presetSubtype="0" fill="hold" nodeType="withEffect">
                                  <p:stCondLst>
                                    <p:cond delay="0"/>
                                  </p:stCondLst>
                                  <p:childTnLst>
                                    <p:set>
                                      <p:cBhvr>
                                        <p:cTn id="20" dur="1" fill="hold">
                                          <p:stCondLst>
                                            <p:cond delay="0"/>
                                          </p:stCondLst>
                                        </p:cTn>
                                        <p:tgtEl>
                                          <p:spTgt spid="62"/>
                                        </p:tgtEl>
                                        <p:attrNameLst>
                                          <p:attrName>style.visibility</p:attrName>
                                        </p:attrNameLst>
                                      </p:cBhvr>
                                      <p:to>
                                        <p:strVal val="visible"/>
                                      </p:to>
                                    </p:set>
                                    <p:animEffect transition="in" filter="fade">
                                      <p:cBhvr>
                                        <p:cTn id="21" dur="400"/>
                                        <p:tgtEl>
                                          <p:spTgt spid="62"/>
                                        </p:tgtEl>
                                      </p:cBhvr>
                                    </p:animEffect>
                                  </p:childTnLst>
                                </p:cTn>
                              </p:par>
                              <p:par>
                                <p:cTn id="22" presetID="10"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400"/>
                                        <p:tgtEl>
                                          <p:spTgt spid="25"/>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Lst>
  </p:timing>
</p:sld>
</file>

<file path=ppt/slides/fdm_open_bandwidth.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 name="title">
            <ns0:hlinkClick xmlns:ns0="http://schemas.openxmlformats.org/drawingml/2006/main" xmlns:ns1="http://schemas.openxmlformats.org/officeDocument/2006/relationships" ns1:id="rIdOverviewLink0" action="ppaction://hlinksldjump"/>
            <a:extLst xmlns:a="http://schemas.openxmlformats.org/drawingml/2006/main">
              <a:ext uri="{FF2B5EF4-FFF2-40B4-BE49-F238E27FC236}">
                <a16:creationId xmlns:a16="http://schemas.microsoft.com/office/drawing/2014/main" id="{9F5739BD-69B0-4706-83D2-3B5394DB0F93}"/>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positive-view">
            <a:extLst xmlns:a="http://schemas.openxmlformats.org/drawingml/2006/main">
              <a:ext uri="{FF2B5EF4-FFF2-40B4-BE49-F238E27FC236}">
                <a16:creationId xmlns:a16="http://schemas.microsoft.com/office/drawing/2014/main" id="{2F7A02E3-0207-46B6-A48C-037680A57A09}"/>
              </a:ext>
            </a:extLst>
          </p:cNvPr>
          <p:cNvSpPr>
            <a:spLocks xmlns:a="http://schemas.openxmlformats.org/drawingml/2006/main" noGrp="1"/>
          </p:cNvSpPr>
          <p:nvPr/>
        </p:nvSpPr>
        <p:spPr>
          <a:xfrm xmlns:a="http://schemas.openxmlformats.org/drawingml/2006/main">
            <a:off x="9010650" y="885825"/>
            <a:ext cx="2533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Positive frequencies</a:t>
            </a:r>
          </a:p>
        </p:txBody>
      </p:sp>
      <p:sp>
        <p:nvSpPr>
          <p:cNvPr id="3" name="one-heading">
            <a:extLst xmlns:a="http://schemas.openxmlformats.org/drawingml/2006/main">
              <a:ext uri="{FF2B5EF4-FFF2-40B4-BE49-F238E27FC236}">
                <a16:creationId xmlns:a16="http://schemas.microsoft.com/office/drawing/2014/main" id="{40FFD82A-04AB-4364-939A-D4D76D4AC4FC}"/>
              </a:ext>
            </a:extLst>
          </p:cNvPr>
          <p:cNvSpPr>
            <a:spLocks xmlns:a="http://schemas.openxmlformats.org/drawingml/2006/main" noGrp="1"/>
          </p:cNvSpPr>
          <p:nvPr/>
        </p:nvSpPr>
        <p:spPr>
          <a:xfrm xmlns:a="http://schemas.openxmlformats.org/drawingml/2006/main">
            <a:off x="666750" y="2247900"/>
            <a:ext cx="149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One message</a:t>
            </a:r>
          </a:p>
        </p:txBody>
      </p:sp>
      <p:sp>
        <p:nvSpPr>
          <p:cNvPr id="4" name="one-axis-line">
            <a:extLst xmlns:a="http://schemas.openxmlformats.org/drawingml/2006/main">
              <a:ext uri="{FF2B5EF4-FFF2-40B4-BE49-F238E27FC236}">
                <a16:creationId xmlns:a16="http://schemas.microsoft.com/office/drawing/2014/main" id="{6A3A5126-68BF-4D35-8DF5-C49DA6D80C27}"/>
              </a:ext>
            </a:extLst>
          </p:cNvPr>
          <p:cNvSpPr>
            <a:spLocks xmlns:a="http://schemas.openxmlformats.org/drawingml/2006/main" noGrp="1"/>
          </p:cNvSpPr>
          <p:nvPr/>
        </p:nvSpPr>
        <p:spPr>
          <a:xfrm xmlns:a="http://schemas.openxmlformats.org/drawingml/2006/main">
            <a:off x="2000250" y="2857500"/>
            <a:ext cx="9210675"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5" name="one-axis-head">
            <a:extLst xmlns:a="http://schemas.openxmlformats.org/drawingml/2006/main">
              <a:ext uri="{FF2B5EF4-FFF2-40B4-BE49-F238E27FC236}">
                <a16:creationId xmlns:a16="http://schemas.microsoft.com/office/drawing/2014/main" id="{14A20F9E-8496-4D4D-82C0-DD1242003CE3}"/>
              </a:ext>
            </a:extLst>
          </p:cNvPr>
          <p:cNvSpPr>
            <a:spLocks xmlns:a="http://schemas.openxmlformats.org/drawingml/2006/main" noGrp="1"/>
          </p:cNvSpPr>
          <p:nvPr/>
        </p:nvSpPr>
        <p:spPr>
          <a:xfrm xmlns:a="http://schemas.openxmlformats.org/drawingml/2006/main" rot="5400000">
            <a:off x="11191875" y="28194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one-boundary-min">
            <a:extLst xmlns:a="http://schemas.openxmlformats.org/drawingml/2006/main">
              <a:ext uri="{FF2B5EF4-FFF2-40B4-BE49-F238E27FC236}">
                <a16:creationId xmlns:a16="http://schemas.microsoft.com/office/drawing/2014/main" id="{558C459F-B02F-44D0-9001-7B6B7B282E90}"/>
              </a:ext>
            </a:extLst>
          </p:cNvPr>
          <p:cNvSpPr>
            <a:spLocks xmlns:a="http://schemas.openxmlformats.org/drawingml/2006/main" noGrp="1"/>
          </p:cNvSpPr>
          <p:nvPr/>
        </p:nvSpPr>
        <p:spPr>
          <a:xfrm xmlns:a="http://schemas.openxmlformats.org/drawingml/2006/main">
            <a:off x="2190750" y="1857375"/>
            <a:ext cx="13335" cy="1076325"/>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7" name="one-boundary-max">
            <a:extLst xmlns:a="http://schemas.openxmlformats.org/drawingml/2006/main">
              <a:ext uri="{FF2B5EF4-FFF2-40B4-BE49-F238E27FC236}">
                <a16:creationId xmlns:a16="http://schemas.microsoft.com/office/drawing/2014/main" id="{D4964499-3A81-4E65-B96E-C8F18901D961}"/>
              </a:ext>
            </a:extLst>
          </p:cNvPr>
          <p:cNvSpPr>
            <a:spLocks xmlns:a="http://schemas.openxmlformats.org/drawingml/2006/main" noGrp="1"/>
          </p:cNvSpPr>
          <p:nvPr/>
        </p:nvSpPr>
        <p:spPr>
          <a:xfrm xmlns:a="http://schemas.openxmlformats.org/drawingml/2006/main">
            <a:off x="10953750" y="1857375"/>
            <a:ext cx="13335" cy="1076325"/>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8" name="one-available-bar">
            <a:extLst xmlns:a="http://schemas.openxmlformats.org/drawingml/2006/main">
              <a:ext uri="{FF2B5EF4-FFF2-40B4-BE49-F238E27FC236}">
                <a16:creationId xmlns:a16="http://schemas.microsoft.com/office/drawing/2014/main" id="{5DA23F6E-9627-4068-BFC4-21269583C3E2}"/>
              </a:ext>
            </a:extLst>
          </p:cNvPr>
          <p:cNvSpPr>
            <a:spLocks xmlns:a="http://schemas.openxmlformats.org/drawingml/2006/main" noGrp="1"/>
          </p:cNvSpPr>
          <p:nvPr/>
        </p:nvSpPr>
        <p:spPr>
          <a:xfrm xmlns:a="http://schemas.openxmlformats.org/drawingml/2006/main">
            <a:off x="2190750" y="3362325"/>
            <a:ext cx="87630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9" name="one-available-l">
            <a:extLst xmlns:a="http://schemas.openxmlformats.org/drawingml/2006/main">
              <a:ext uri="{FF2B5EF4-FFF2-40B4-BE49-F238E27FC236}">
                <a16:creationId xmlns:a16="http://schemas.microsoft.com/office/drawing/2014/main" id="{2A9F2547-8FE2-4ED6-A7B2-E89BFF0CF0C1}"/>
              </a:ext>
            </a:extLst>
          </p:cNvPr>
          <p:cNvSpPr>
            <a:spLocks xmlns:a="http://schemas.openxmlformats.org/drawingml/2006/main" noGrp="1"/>
          </p:cNvSpPr>
          <p:nvPr/>
        </p:nvSpPr>
        <p:spPr>
          <a:xfrm xmlns:a="http://schemas.openxmlformats.org/drawingml/2006/main">
            <a:off x="2190750" y="33051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0" name="one-available-r">
            <a:extLst xmlns:a="http://schemas.openxmlformats.org/drawingml/2006/main">
              <a:ext uri="{FF2B5EF4-FFF2-40B4-BE49-F238E27FC236}">
                <a16:creationId xmlns:a16="http://schemas.microsoft.com/office/drawing/2014/main" id="{BEC1DF71-A3C5-4337-AFED-5F7B024AD5A6}"/>
              </a:ext>
            </a:extLst>
          </p:cNvPr>
          <p:cNvSpPr>
            <a:spLocks xmlns:a="http://schemas.openxmlformats.org/drawingml/2006/main" noGrp="1"/>
          </p:cNvSpPr>
          <p:nvPr/>
        </p:nvSpPr>
        <p:spPr>
          <a:xfrm xmlns:a="http://schemas.openxmlformats.org/drawingml/2006/main">
            <a:off x="10939463" y="33051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1" name="one-available-label">
            <a:extLst xmlns:a="http://schemas.openxmlformats.org/drawingml/2006/main">
              <a:ext uri="{FF2B5EF4-FFF2-40B4-BE49-F238E27FC236}">
                <a16:creationId xmlns:a16="http://schemas.microsoft.com/office/drawing/2014/main" id="{27AFC97A-1267-4CCF-A7AA-1C6E0B78C090}"/>
              </a:ext>
            </a:extLst>
          </p:cNvPr>
          <p:cNvSpPr>
            <a:spLocks xmlns:a="http://schemas.openxmlformats.org/drawingml/2006/main" noGrp="1"/>
          </p:cNvSpPr>
          <p:nvPr/>
        </p:nvSpPr>
        <p:spPr>
          <a:xfrm xmlns:a="http://schemas.openxmlformats.org/drawingml/2006/main">
            <a:off x="1905000" y="3429000"/>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Available frequency range</a:t>
            </a:r>
          </a:p>
        </p:txBody>
      </p:sp>
      <p:sp>
        <p:nvSpPr>
          <p:cNvPr id="12" name="ten-heading">
            <a:extLst xmlns:a="http://schemas.openxmlformats.org/drawingml/2006/main">
              <a:ext uri="{FF2B5EF4-FFF2-40B4-BE49-F238E27FC236}">
                <a16:creationId xmlns:a16="http://schemas.microsoft.com/office/drawing/2014/main" id="{77846DEC-98D3-45B3-A8D1-76F97EA86110}"/>
              </a:ext>
            </a:extLst>
          </p:cNvPr>
          <p:cNvSpPr>
            <a:spLocks xmlns:a="http://schemas.openxmlformats.org/drawingml/2006/main" noGrp="1"/>
          </p:cNvSpPr>
          <p:nvPr/>
        </p:nvSpPr>
        <p:spPr>
          <a:xfrm xmlns:a="http://schemas.openxmlformats.org/drawingml/2006/main">
            <a:off x="666750" y="4819650"/>
            <a:ext cx="149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Ten messages</a:t>
            </a:r>
          </a:p>
        </p:txBody>
      </p:sp>
      <p:sp>
        <p:nvSpPr>
          <p:cNvPr id="13" name="ten-axis-line">
            <a:extLst xmlns:a="http://schemas.openxmlformats.org/drawingml/2006/main">
              <a:ext uri="{FF2B5EF4-FFF2-40B4-BE49-F238E27FC236}">
                <a16:creationId xmlns:a16="http://schemas.microsoft.com/office/drawing/2014/main" id="{66BE8466-AA13-4573-9F44-87E185D6F0E3}"/>
              </a:ext>
            </a:extLst>
          </p:cNvPr>
          <p:cNvSpPr>
            <a:spLocks xmlns:a="http://schemas.openxmlformats.org/drawingml/2006/main" noGrp="1"/>
          </p:cNvSpPr>
          <p:nvPr/>
        </p:nvSpPr>
        <p:spPr>
          <a:xfrm xmlns:a="http://schemas.openxmlformats.org/drawingml/2006/main">
            <a:off x="2000250" y="5429250"/>
            <a:ext cx="9210675"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14" name="ten-axis-head">
            <a:extLst xmlns:a="http://schemas.openxmlformats.org/drawingml/2006/main">
              <a:ext uri="{FF2B5EF4-FFF2-40B4-BE49-F238E27FC236}">
                <a16:creationId xmlns:a16="http://schemas.microsoft.com/office/drawing/2014/main" id="{E107A0BC-B89C-47C3-BFB5-EBE10994BC79}"/>
              </a:ext>
            </a:extLst>
          </p:cNvPr>
          <p:cNvSpPr>
            <a:spLocks xmlns:a="http://schemas.openxmlformats.org/drawingml/2006/main" noGrp="1"/>
          </p:cNvSpPr>
          <p:nvPr/>
        </p:nvSpPr>
        <p:spPr>
          <a:xfrm xmlns:a="http://schemas.openxmlformats.org/drawingml/2006/main" rot="5400000">
            <a:off x="11191875" y="539115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ten-boundary-min">
            <a:extLst xmlns:a="http://schemas.openxmlformats.org/drawingml/2006/main">
              <a:ext uri="{FF2B5EF4-FFF2-40B4-BE49-F238E27FC236}">
                <a16:creationId xmlns:a16="http://schemas.microsoft.com/office/drawing/2014/main" id="{A31352E9-3D53-4BC3-A8A0-6872A559122B}"/>
              </a:ext>
            </a:extLst>
          </p:cNvPr>
          <p:cNvSpPr>
            <a:spLocks xmlns:a="http://schemas.openxmlformats.org/drawingml/2006/main" noGrp="1"/>
          </p:cNvSpPr>
          <p:nvPr/>
        </p:nvSpPr>
        <p:spPr>
          <a:xfrm xmlns:a="http://schemas.openxmlformats.org/drawingml/2006/main">
            <a:off x="2190750" y="4429125"/>
            <a:ext cx="13335" cy="1076325"/>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16" name="ten-boundary-max">
            <a:extLst xmlns:a="http://schemas.openxmlformats.org/drawingml/2006/main">
              <a:ext uri="{FF2B5EF4-FFF2-40B4-BE49-F238E27FC236}">
                <a16:creationId xmlns:a16="http://schemas.microsoft.com/office/drawing/2014/main" id="{D57832FA-4F2D-419E-A08C-A457ADFB8408}"/>
              </a:ext>
            </a:extLst>
          </p:cNvPr>
          <p:cNvSpPr>
            <a:spLocks xmlns:a="http://schemas.openxmlformats.org/drawingml/2006/main" noGrp="1"/>
          </p:cNvSpPr>
          <p:nvPr/>
        </p:nvSpPr>
        <p:spPr>
          <a:xfrm xmlns:a="http://schemas.openxmlformats.org/drawingml/2006/main">
            <a:off x="10953750" y="4429125"/>
            <a:ext cx="13335" cy="1076325"/>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17" name="ten-available-bar">
            <a:extLst xmlns:a="http://schemas.openxmlformats.org/drawingml/2006/main">
              <a:ext uri="{FF2B5EF4-FFF2-40B4-BE49-F238E27FC236}">
                <a16:creationId xmlns:a16="http://schemas.microsoft.com/office/drawing/2014/main" id="{A083A00A-712D-42EE-AEAE-006D90A41471}"/>
              </a:ext>
            </a:extLst>
          </p:cNvPr>
          <p:cNvSpPr>
            <a:spLocks xmlns:a="http://schemas.openxmlformats.org/drawingml/2006/main" noGrp="1"/>
          </p:cNvSpPr>
          <p:nvPr/>
        </p:nvSpPr>
        <p:spPr>
          <a:xfrm xmlns:a="http://schemas.openxmlformats.org/drawingml/2006/main">
            <a:off x="2190750" y="5934075"/>
            <a:ext cx="87630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8" name="ten-available-l">
            <a:extLst xmlns:a="http://schemas.openxmlformats.org/drawingml/2006/main">
              <a:ext uri="{FF2B5EF4-FFF2-40B4-BE49-F238E27FC236}">
                <a16:creationId xmlns:a16="http://schemas.microsoft.com/office/drawing/2014/main" id="{CD12532B-CEC3-41F4-81AB-33666C8D2C90}"/>
              </a:ext>
            </a:extLst>
          </p:cNvPr>
          <p:cNvSpPr>
            <a:spLocks xmlns:a="http://schemas.openxmlformats.org/drawingml/2006/main" noGrp="1"/>
          </p:cNvSpPr>
          <p:nvPr/>
        </p:nvSpPr>
        <p:spPr>
          <a:xfrm xmlns:a="http://schemas.openxmlformats.org/drawingml/2006/main">
            <a:off x="2190750" y="587692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19" name="ten-available-r">
            <a:extLst xmlns:a="http://schemas.openxmlformats.org/drawingml/2006/main">
              <a:ext uri="{FF2B5EF4-FFF2-40B4-BE49-F238E27FC236}">
                <a16:creationId xmlns:a16="http://schemas.microsoft.com/office/drawing/2014/main" id="{A1DDDE54-9005-4F46-B1BD-7855A07D1355}"/>
              </a:ext>
            </a:extLst>
          </p:cNvPr>
          <p:cNvSpPr>
            <a:spLocks xmlns:a="http://schemas.openxmlformats.org/drawingml/2006/main" noGrp="1"/>
          </p:cNvSpPr>
          <p:nvPr/>
        </p:nvSpPr>
        <p:spPr>
          <a:xfrm xmlns:a="http://schemas.openxmlformats.org/drawingml/2006/main">
            <a:off x="10939463" y="587692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20" name="ten-available-label">
            <a:extLst xmlns:a="http://schemas.openxmlformats.org/drawingml/2006/main">
              <a:ext uri="{FF2B5EF4-FFF2-40B4-BE49-F238E27FC236}">
                <a16:creationId xmlns:a16="http://schemas.microsoft.com/office/drawing/2014/main" id="{AD5111EE-0315-4D54-8C5F-AD3D981F47D6}"/>
              </a:ext>
            </a:extLst>
          </p:cNvPr>
          <p:cNvSpPr>
            <a:spLocks xmlns:a="http://schemas.openxmlformats.org/drawingml/2006/main" noGrp="1"/>
          </p:cNvSpPr>
          <p:nvPr/>
        </p:nvSpPr>
        <p:spPr>
          <a:xfrm xmlns:a="http://schemas.openxmlformats.org/drawingml/2006/main">
            <a:off x="1905000" y="6000750"/>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Available frequency range</a:t>
            </a:r>
          </a:p>
        </p:txBody>
      </p:sp>
      <p:sp>
        <p:nvSpPr>
          <p:cNvPr id="21" name="one-method-0">
            <a:extLst xmlns:a="http://schemas.openxmlformats.org/drawingml/2006/main">
              <a:ext uri="{FF2B5EF4-FFF2-40B4-BE49-F238E27FC236}">
                <a16:creationId xmlns:a16="http://schemas.microsoft.com/office/drawing/2014/main" id="{7FDC24E1-3F6A-4F1D-83B2-EA4196C0042E}"/>
              </a:ext>
            </a:extLst>
          </p:cNvPr>
          <p:cNvSpPr>
            <a:spLocks xmlns:a="http://schemas.openxmlformats.org/drawingml/2006/main" noGrp="1"/>
          </p:cNvSpPr>
          <p:nvPr/>
        </p:nvSpPr>
        <p:spPr>
          <a:xfrm xmlns:a="http://schemas.openxmlformats.org/drawingml/2006/main">
            <a:off x="2190750" y="885825"/>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AM</a:t>
            </a:r>
          </a:p>
        </p:txBody>
      </p:sp>
      <p:sp>
        <p:nvSpPr>
          <p:cNvPr id="22" name="one-slash-0">
            <a:extLst xmlns:a="http://schemas.openxmlformats.org/drawingml/2006/main">
              <a:ext uri="{FF2B5EF4-FFF2-40B4-BE49-F238E27FC236}">
                <a16:creationId xmlns:a16="http://schemas.microsoft.com/office/drawing/2014/main" id="{1DF9167E-D1DB-4B3F-B1F8-84DD3377C4D7}"/>
              </a:ext>
            </a:extLst>
          </p:cNvPr>
          <p:cNvSpPr>
            <a:spLocks xmlns:a="http://schemas.openxmlformats.org/drawingml/2006/main" noGrp="1"/>
          </p:cNvSpPr>
          <p:nvPr/>
        </p:nvSpPr>
        <p:spPr>
          <a:xfrm xmlns:a="http://schemas.openxmlformats.org/drawingml/2006/main">
            <a:off x="2752725" y="885825"/>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t>
            </a:r>
          </a:p>
        </p:txBody>
      </p:sp>
      <p:sp>
        <p:nvSpPr>
          <p:cNvPr id="23" name="one-method-1">
            <a:extLst xmlns:a="http://schemas.openxmlformats.org/drawingml/2006/main">
              <a:ext uri="{FF2B5EF4-FFF2-40B4-BE49-F238E27FC236}">
                <a16:creationId xmlns:a16="http://schemas.microsoft.com/office/drawing/2014/main" id="{119743BA-2B78-4BEA-A819-C83B4CB05BFC}"/>
              </a:ext>
            </a:extLst>
          </p:cNvPr>
          <p:cNvSpPr>
            <a:spLocks xmlns:a="http://schemas.openxmlformats.org/drawingml/2006/main" noGrp="1"/>
          </p:cNvSpPr>
          <p:nvPr/>
        </p:nvSpPr>
        <p:spPr>
          <a:xfrm xmlns:a="http://schemas.openxmlformats.org/drawingml/2006/main">
            <a:off x="3028950" y="885825"/>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PM</a:t>
            </a:r>
          </a:p>
        </p:txBody>
      </p:sp>
      <p:sp>
        <p:nvSpPr>
          <p:cNvPr id="24" name="one-slash-1">
            <a:extLst xmlns:a="http://schemas.openxmlformats.org/drawingml/2006/main">
              <a:ext uri="{FF2B5EF4-FFF2-40B4-BE49-F238E27FC236}">
                <a16:creationId xmlns:a16="http://schemas.microsoft.com/office/drawing/2014/main" id="{5F892C71-15B5-4227-971C-2831561745F0}"/>
              </a:ext>
            </a:extLst>
          </p:cNvPr>
          <p:cNvSpPr>
            <a:spLocks xmlns:a="http://schemas.openxmlformats.org/drawingml/2006/main" noGrp="1"/>
          </p:cNvSpPr>
          <p:nvPr/>
        </p:nvSpPr>
        <p:spPr>
          <a:xfrm xmlns:a="http://schemas.openxmlformats.org/drawingml/2006/main">
            <a:off x="3590925" y="885825"/>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t>
            </a:r>
          </a:p>
        </p:txBody>
      </p:sp>
      <p:sp>
        <p:nvSpPr>
          <p:cNvPr id="25" name="one-method-2">
            <a:extLst xmlns:a="http://schemas.openxmlformats.org/drawingml/2006/main">
              <a:ext uri="{FF2B5EF4-FFF2-40B4-BE49-F238E27FC236}">
                <a16:creationId xmlns:a16="http://schemas.microsoft.com/office/drawing/2014/main" id="{CD77904A-894C-40AE-B176-43934D9FE24E}"/>
              </a:ext>
            </a:extLst>
          </p:cNvPr>
          <p:cNvSpPr>
            <a:spLocks xmlns:a="http://schemas.openxmlformats.org/drawingml/2006/main" noGrp="1"/>
          </p:cNvSpPr>
          <p:nvPr/>
        </p:nvSpPr>
        <p:spPr>
          <a:xfrm xmlns:a="http://schemas.openxmlformats.org/drawingml/2006/main">
            <a:off x="3867150" y="885825"/>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FM</a:t>
            </a:r>
          </a:p>
        </p:txBody>
      </p:sp>
      <p:sp>
        <p:nvSpPr>
          <p:cNvPr id="26" name="one-slash-2">
            <a:extLst xmlns:a="http://schemas.openxmlformats.org/drawingml/2006/main">
              <a:ext uri="{FF2B5EF4-FFF2-40B4-BE49-F238E27FC236}">
                <a16:creationId xmlns:a16="http://schemas.microsoft.com/office/drawing/2014/main" id="{BD82CCA9-5130-4EF9-BB90-DACB9162F2E2}"/>
              </a:ext>
            </a:extLst>
          </p:cNvPr>
          <p:cNvSpPr>
            <a:spLocks xmlns:a="http://schemas.openxmlformats.org/drawingml/2006/main" noGrp="1"/>
          </p:cNvSpPr>
          <p:nvPr/>
        </p:nvSpPr>
        <p:spPr>
          <a:xfrm xmlns:a="http://schemas.openxmlformats.org/drawingml/2006/main">
            <a:off x="4429125" y="885825"/>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t>
            </a:r>
          </a:p>
        </p:txBody>
      </p:sp>
      <p:sp>
        <p:nvSpPr>
          <p:cNvPr id="27" name="one-method-3">
            <a:extLst xmlns:a="http://schemas.openxmlformats.org/drawingml/2006/main">
              <a:ext uri="{FF2B5EF4-FFF2-40B4-BE49-F238E27FC236}">
                <a16:creationId xmlns:a16="http://schemas.microsoft.com/office/drawing/2014/main" id="{4BECCEE9-E300-4BB7-9B09-410CA846830A}"/>
              </a:ext>
            </a:extLst>
          </p:cNvPr>
          <p:cNvSpPr>
            <a:spLocks xmlns:a="http://schemas.openxmlformats.org/drawingml/2006/main" noGrp="1"/>
          </p:cNvSpPr>
          <p:nvPr/>
        </p:nvSpPr>
        <p:spPr>
          <a:xfrm xmlns:a="http://schemas.openxmlformats.org/drawingml/2006/main">
            <a:off x="4705350" y="885825"/>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PAM</a:t>
            </a:r>
          </a:p>
        </p:txBody>
      </p:sp>
      <p:sp>
        <p:nvSpPr>
          <p:cNvPr id="28" name="one-band">
            <a:extLst xmlns:a="http://schemas.openxmlformats.org/drawingml/2006/main">
              <a:ext uri="{FF2B5EF4-FFF2-40B4-BE49-F238E27FC236}">
                <a16:creationId xmlns:a16="http://schemas.microsoft.com/office/drawing/2014/main" id="{6208A849-25C4-456F-9411-38E64BE15238}"/>
              </a:ext>
            </a:extLst>
          </p:cNvPr>
          <p:cNvSpPr>
            <a:spLocks xmlns:a="http://schemas.openxmlformats.org/drawingml/2006/main" noGrp="1"/>
          </p:cNvSpPr>
          <p:nvPr/>
        </p:nvSpPr>
        <p:spPr>
          <a:xfrm xmlns:a="http://schemas.openxmlformats.org/drawingml/2006/main">
            <a:off x="2228850" y="2286000"/>
            <a:ext cx="800100" cy="571500"/>
          </a:xfrm>
          <a:prstGeom xmlns:a="http://schemas.openxmlformats.org/drawingml/2006/main" prst="triangle">
            <a:avLst/>
          </a:prstGeom>
          <a:solidFill xmlns:a="http://schemas.openxmlformats.org/drawingml/2006/main">
            <a:srgbClr val="444444"/>
          </a:solidFill>
          <a:ln xmlns:a="http://schemas.openxmlformats.org/drawingml/2006/main" w="12383">
            <a:solidFill>
              <a:srgbClr val="202020"/>
            </a:solidFill>
          </a:ln>
        </p:spPr>
      </p:sp>
      <p:sp>
        <p:nvSpPr>
          <p:cNvPr id="29" name="one-bandwidth-bar">
            <a:extLst xmlns:a="http://schemas.openxmlformats.org/drawingml/2006/main">
              <a:ext uri="{FF2B5EF4-FFF2-40B4-BE49-F238E27FC236}">
                <a16:creationId xmlns:a16="http://schemas.microsoft.com/office/drawing/2014/main" id="{10F164AE-E5E4-4819-AD23-326E41DBB4EC}"/>
              </a:ext>
            </a:extLst>
          </p:cNvPr>
          <p:cNvSpPr>
            <a:spLocks xmlns:a="http://schemas.openxmlformats.org/drawingml/2006/main" noGrp="1"/>
          </p:cNvSpPr>
          <p:nvPr/>
        </p:nvSpPr>
        <p:spPr>
          <a:xfrm xmlns:a="http://schemas.openxmlformats.org/drawingml/2006/main">
            <a:off x="2228850" y="15335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30" name="one-bandwidth-l">
            <a:extLst xmlns:a="http://schemas.openxmlformats.org/drawingml/2006/main">
              <a:ext uri="{FF2B5EF4-FFF2-40B4-BE49-F238E27FC236}">
                <a16:creationId xmlns:a16="http://schemas.microsoft.com/office/drawing/2014/main" id="{EBD1708F-FE39-4007-9737-B0AE62A47574}"/>
              </a:ext>
            </a:extLst>
          </p:cNvPr>
          <p:cNvSpPr>
            <a:spLocks xmlns:a="http://schemas.openxmlformats.org/drawingml/2006/main" noGrp="1"/>
          </p:cNvSpPr>
          <p:nvPr/>
        </p:nvSpPr>
        <p:spPr>
          <a:xfrm xmlns:a="http://schemas.openxmlformats.org/drawingml/2006/main">
            <a:off x="2228850" y="14763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31" name="one-bandwidth-r">
            <a:extLst xmlns:a="http://schemas.openxmlformats.org/drawingml/2006/main">
              <a:ext uri="{FF2B5EF4-FFF2-40B4-BE49-F238E27FC236}">
                <a16:creationId xmlns:a16="http://schemas.microsoft.com/office/drawing/2014/main" id="{F986B9BE-E696-4820-9325-8B0BBEBC8C85}"/>
              </a:ext>
            </a:extLst>
          </p:cNvPr>
          <p:cNvSpPr>
            <a:spLocks xmlns:a="http://schemas.openxmlformats.org/drawingml/2006/main" noGrp="1"/>
          </p:cNvSpPr>
          <p:nvPr/>
        </p:nvSpPr>
        <p:spPr>
          <a:xfrm xmlns:a="http://schemas.openxmlformats.org/drawingml/2006/main">
            <a:off x="3014663" y="14763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32" name="one-bandwidth-label">
            <a:extLst xmlns:a="http://schemas.openxmlformats.org/drawingml/2006/main">
              <a:ext uri="{FF2B5EF4-FFF2-40B4-BE49-F238E27FC236}">
                <a16:creationId xmlns:a16="http://schemas.microsoft.com/office/drawing/2014/main" id="{48B98ADB-7414-42E8-8F18-3FFFC6C5119F}"/>
              </a:ext>
            </a:extLst>
          </p:cNvPr>
          <p:cNvSpPr>
            <a:spLocks xmlns:a="http://schemas.openxmlformats.org/drawingml/2006/main" noGrp="1"/>
          </p:cNvSpPr>
          <p:nvPr/>
        </p:nvSpPr>
        <p:spPr>
          <a:xfrm xmlns:a="http://schemas.openxmlformats.org/drawingml/2006/main">
            <a:off x="1543050" y="1600200"/>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202020"/>
                </a:solidFill>
                <a:latin typeface="Times New Roman"/>
                <a:ea typeface="Times New Roman"/>
                <a:cs typeface="Times New Roman"/>
              </a:defRPr>
            </a:pPr>
            <a:r>
              <a:rPr sz="1800" b="0" i="0">
                <a:solidFill>
                  <a:srgbClr val="202020"/>
                </a:solidFill>
                <a:latin typeface="Times New Roman"/>
                <a:ea typeface="Times New Roman"/>
                <a:cs typeface="Times New Roman"/>
              </a:rPr>
              <a:t>Signal bandwidth</a:t>
            </a:r>
          </a:p>
        </p:txBody>
      </p:sp>
      <p:sp>
        <p:nvSpPr>
          <p:cNvPr id="33" name="one-unused">
            <a:extLst xmlns:a="http://schemas.openxmlformats.org/drawingml/2006/main">
              <a:ext uri="{FF2B5EF4-FFF2-40B4-BE49-F238E27FC236}">
                <a16:creationId xmlns:a16="http://schemas.microsoft.com/office/drawing/2014/main" id="{C031EF84-DE8E-4003-92CC-A9EFE28C9CDE}"/>
              </a:ext>
            </a:extLst>
          </p:cNvPr>
          <p:cNvSpPr>
            <a:spLocks xmlns:a="http://schemas.openxmlformats.org/drawingml/2006/main" noGrp="1"/>
          </p:cNvSpPr>
          <p:nvPr/>
        </p:nvSpPr>
        <p:spPr>
          <a:xfrm xmlns:a="http://schemas.openxmlformats.org/drawingml/2006/main">
            <a:off x="3105150" y="2200275"/>
            <a:ext cx="7696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i="0">
                <a:solidFill>
                  <a:srgbClr val="666666"/>
                </a:solidFill>
                <a:latin typeface="Times New Roman"/>
                <a:ea typeface="Times New Roman"/>
                <a:cs typeface="Times New Roman"/>
              </a:defRPr>
            </a:pPr>
            <a:r>
              <a:rPr sz="2175" b="0" i="0">
                <a:solidFill>
                  <a:srgbClr val="666666"/>
                </a:solidFill>
                <a:latin typeface="Times New Roman"/>
                <a:ea typeface="Times New Roman"/>
                <a:cs typeface="Times New Roman"/>
              </a:rPr>
              <a:t>Unused</a:t>
            </a:r>
          </a:p>
        </p:txBody>
      </p:sp>
      <p:sp>
        <p:nvSpPr>
          <p:cNvPr id="34" name="ten-method-0">
            <a:extLst xmlns:a="http://schemas.openxmlformats.org/drawingml/2006/main">
              <a:ext uri="{FF2B5EF4-FFF2-40B4-BE49-F238E27FC236}">
                <a16:creationId xmlns:a16="http://schemas.microsoft.com/office/drawing/2014/main" id="{48E33C5F-1762-48CD-88B3-D446192F37DC}"/>
              </a:ext>
            </a:extLst>
          </p:cNvPr>
          <p:cNvSpPr>
            <a:spLocks xmlns:a="http://schemas.openxmlformats.org/drawingml/2006/main" noGrp="1"/>
          </p:cNvSpPr>
          <p:nvPr/>
        </p:nvSpPr>
        <p:spPr>
          <a:xfrm xmlns:a="http://schemas.openxmlformats.org/drawingml/2006/main">
            <a:off x="2933700" y="3838575"/>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AM</a:t>
            </a:r>
          </a:p>
        </p:txBody>
      </p:sp>
      <p:sp>
        <p:nvSpPr>
          <p:cNvPr id="35" name="ten-slash-0">
            <a:extLst xmlns:a="http://schemas.openxmlformats.org/drawingml/2006/main">
              <a:ext uri="{FF2B5EF4-FFF2-40B4-BE49-F238E27FC236}">
                <a16:creationId xmlns:a16="http://schemas.microsoft.com/office/drawing/2014/main" id="{8DA74073-AEEF-4787-A1E8-B66FD22C387E}"/>
              </a:ext>
            </a:extLst>
          </p:cNvPr>
          <p:cNvSpPr>
            <a:spLocks xmlns:a="http://schemas.openxmlformats.org/drawingml/2006/main" noGrp="1"/>
          </p:cNvSpPr>
          <p:nvPr/>
        </p:nvSpPr>
        <p:spPr>
          <a:xfrm xmlns:a="http://schemas.openxmlformats.org/drawingml/2006/main">
            <a:off x="3609975" y="3838575"/>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t>
            </a:r>
          </a:p>
        </p:txBody>
      </p:sp>
      <p:sp>
        <p:nvSpPr>
          <p:cNvPr id="36" name="ten-method-1">
            <a:extLst xmlns:a="http://schemas.openxmlformats.org/drawingml/2006/main">
              <a:ext uri="{FF2B5EF4-FFF2-40B4-BE49-F238E27FC236}">
                <a16:creationId xmlns:a16="http://schemas.microsoft.com/office/drawing/2014/main" id="{292966AF-2260-4FC4-98F3-D6F98164331F}"/>
              </a:ext>
            </a:extLst>
          </p:cNvPr>
          <p:cNvSpPr>
            <a:spLocks xmlns:a="http://schemas.openxmlformats.org/drawingml/2006/main" noGrp="1"/>
          </p:cNvSpPr>
          <p:nvPr/>
        </p:nvSpPr>
        <p:spPr>
          <a:xfrm xmlns:a="http://schemas.openxmlformats.org/drawingml/2006/main">
            <a:off x="4743450" y="3838575"/>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PM</a:t>
            </a:r>
          </a:p>
        </p:txBody>
      </p:sp>
      <p:sp>
        <p:nvSpPr>
          <p:cNvPr id="37" name="ten-slash-1">
            <a:extLst xmlns:a="http://schemas.openxmlformats.org/drawingml/2006/main">
              <a:ext uri="{FF2B5EF4-FFF2-40B4-BE49-F238E27FC236}">
                <a16:creationId xmlns:a16="http://schemas.microsoft.com/office/drawing/2014/main" id="{D97AA398-768E-46A5-9317-F0EFF204A19F}"/>
              </a:ext>
            </a:extLst>
          </p:cNvPr>
          <p:cNvSpPr>
            <a:spLocks xmlns:a="http://schemas.openxmlformats.org/drawingml/2006/main" noGrp="1"/>
          </p:cNvSpPr>
          <p:nvPr/>
        </p:nvSpPr>
        <p:spPr>
          <a:xfrm xmlns:a="http://schemas.openxmlformats.org/drawingml/2006/main">
            <a:off x="5419725" y="3838575"/>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t>
            </a:r>
          </a:p>
        </p:txBody>
      </p:sp>
      <p:sp>
        <p:nvSpPr>
          <p:cNvPr id="38" name="ten-method-2">
            <a:extLst xmlns:a="http://schemas.openxmlformats.org/drawingml/2006/main">
              <a:ext uri="{FF2B5EF4-FFF2-40B4-BE49-F238E27FC236}">
                <a16:creationId xmlns:a16="http://schemas.microsoft.com/office/drawing/2014/main" id="{06C99784-CDBF-43CE-B6CA-36BB9E52850C}"/>
              </a:ext>
            </a:extLst>
          </p:cNvPr>
          <p:cNvSpPr>
            <a:spLocks xmlns:a="http://schemas.openxmlformats.org/drawingml/2006/main" noGrp="1"/>
          </p:cNvSpPr>
          <p:nvPr/>
        </p:nvSpPr>
        <p:spPr>
          <a:xfrm xmlns:a="http://schemas.openxmlformats.org/drawingml/2006/main">
            <a:off x="6553200" y="3838575"/>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FM</a:t>
            </a:r>
          </a:p>
        </p:txBody>
      </p:sp>
      <p:sp>
        <p:nvSpPr>
          <p:cNvPr id="39" name="ten-slash-2">
            <a:extLst xmlns:a="http://schemas.openxmlformats.org/drawingml/2006/main">
              <a:ext uri="{FF2B5EF4-FFF2-40B4-BE49-F238E27FC236}">
                <a16:creationId xmlns:a16="http://schemas.microsoft.com/office/drawing/2014/main" id="{3EF40CF3-02CB-4097-BC01-B81690CF6EC6}"/>
              </a:ext>
            </a:extLst>
          </p:cNvPr>
          <p:cNvSpPr>
            <a:spLocks xmlns:a="http://schemas.openxmlformats.org/drawingml/2006/main" noGrp="1"/>
          </p:cNvSpPr>
          <p:nvPr/>
        </p:nvSpPr>
        <p:spPr>
          <a:xfrm xmlns:a="http://schemas.openxmlformats.org/drawingml/2006/main">
            <a:off x="7229475" y="3838575"/>
            <a:ext cx="19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t>
            </a:r>
          </a:p>
        </p:txBody>
      </p:sp>
      <p:sp>
        <p:nvSpPr>
          <p:cNvPr id="40" name="ten-method-3">
            <a:extLst xmlns:a="http://schemas.openxmlformats.org/drawingml/2006/main">
              <a:ext uri="{FF2B5EF4-FFF2-40B4-BE49-F238E27FC236}">
                <a16:creationId xmlns:a16="http://schemas.microsoft.com/office/drawing/2014/main" id="{F9AB954C-5C80-4E42-A8C0-2418272C9DE0}"/>
              </a:ext>
            </a:extLst>
          </p:cNvPr>
          <p:cNvSpPr>
            <a:spLocks xmlns:a="http://schemas.openxmlformats.org/drawingml/2006/main" noGrp="1"/>
          </p:cNvSpPr>
          <p:nvPr/>
        </p:nvSpPr>
        <p:spPr>
          <a:xfrm xmlns:a="http://schemas.openxmlformats.org/drawingml/2006/main">
            <a:off x="8362950" y="3838575"/>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PAM</a:t>
            </a:r>
          </a:p>
        </p:txBody>
      </p:sp>
      <p:sp>
        <p:nvSpPr>
          <p:cNvPr id="41" name="ten-band-0">
            <a:extLst xmlns:a="http://schemas.openxmlformats.org/drawingml/2006/main">
              <a:ext uri="{FF2B5EF4-FFF2-40B4-BE49-F238E27FC236}">
                <a16:creationId xmlns:a16="http://schemas.microsoft.com/office/drawing/2014/main" id="{6B20B84D-133F-4345-AFF0-A4BC79353016}"/>
              </a:ext>
            </a:extLst>
          </p:cNvPr>
          <p:cNvSpPr>
            <a:spLocks xmlns:a="http://schemas.openxmlformats.org/drawingml/2006/main" noGrp="1"/>
          </p:cNvSpPr>
          <p:nvPr/>
        </p:nvSpPr>
        <p:spPr>
          <a:xfrm xmlns:a="http://schemas.openxmlformats.org/drawingml/2006/main">
            <a:off x="2228850" y="4857750"/>
            <a:ext cx="800100" cy="571500"/>
          </a:xfrm>
          <a:prstGeom xmlns:a="http://schemas.openxmlformats.org/drawingml/2006/main" prst="triangle">
            <a:avLst/>
          </a:prstGeom>
          <a:solidFill xmlns:a="http://schemas.openxmlformats.org/drawingml/2006/main">
            <a:srgbClr val="444444"/>
          </a:solidFill>
          <a:ln xmlns:a="http://schemas.openxmlformats.org/drawingml/2006/main" w="12383">
            <a:solidFill>
              <a:srgbClr val="202020"/>
            </a:solidFill>
          </a:ln>
        </p:spPr>
      </p:sp>
      <p:sp>
        <p:nvSpPr>
          <p:cNvPr id="42" name="ten-bandwidth-0-bar">
            <a:extLst xmlns:a="http://schemas.openxmlformats.org/drawingml/2006/main">
              <a:ext uri="{FF2B5EF4-FFF2-40B4-BE49-F238E27FC236}">
                <a16:creationId xmlns:a16="http://schemas.microsoft.com/office/drawing/2014/main" id="{1415E0C5-C361-4FF5-BF0B-9431451A23EC}"/>
              </a:ext>
            </a:extLst>
          </p:cNvPr>
          <p:cNvSpPr>
            <a:spLocks xmlns:a="http://schemas.openxmlformats.org/drawingml/2006/main" noGrp="1"/>
          </p:cNvSpPr>
          <p:nvPr/>
        </p:nvSpPr>
        <p:spPr>
          <a:xfrm xmlns:a="http://schemas.openxmlformats.org/drawingml/2006/main">
            <a:off x="22288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43" name="ten-bandwidth-0-l">
            <a:extLst xmlns:a="http://schemas.openxmlformats.org/drawingml/2006/main">
              <a:ext uri="{FF2B5EF4-FFF2-40B4-BE49-F238E27FC236}">
                <a16:creationId xmlns:a16="http://schemas.microsoft.com/office/drawing/2014/main" id="{B2F2B816-420D-4EFE-A5C8-E4848F555E33}"/>
              </a:ext>
            </a:extLst>
          </p:cNvPr>
          <p:cNvSpPr>
            <a:spLocks xmlns:a="http://schemas.openxmlformats.org/drawingml/2006/main" noGrp="1"/>
          </p:cNvSpPr>
          <p:nvPr/>
        </p:nvSpPr>
        <p:spPr>
          <a:xfrm xmlns:a="http://schemas.openxmlformats.org/drawingml/2006/main">
            <a:off x="22288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44" name="ten-bandwidth-0-r">
            <a:extLst xmlns:a="http://schemas.openxmlformats.org/drawingml/2006/main">
              <a:ext uri="{FF2B5EF4-FFF2-40B4-BE49-F238E27FC236}">
                <a16:creationId xmlns:a16="http://schemas.microsoft.com/office/drawing/2014/main" id="{4B26D50C-C5C8-455C-BBD9-16F9CDADA806}"/>
              </a:ext>
            </a:extLst>
          </p:cNvPr>
          <p:cNvSpPr>
            <a:spLocks xmlns:a="http://schemas.openxmlformats.org/drawingml/2006/main" noGrp="1"/>
          </p:cNvSpPr>
          <p:nvPr/>
        </p:nvSpPr>
        <p:spPr>
          <a:xfrm xmlns:a="http://schemas.openxmlformats.org/drawingml/2006/main">
            <a:off x="30146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45" name="ten-band-1">
            <a:extLst xmlns:a="http://schemas.openxmlformats.org/drawingml/2006/main">
              <a:ext uri="{FF2B5EF4-FFF2-40B4-BE49-F238E27FC236}">
                <a16:creationId xmlns:a16="http://schemas.microsoft.com/office/drawing/2014/main" id="{B67C63F4-41F8-423A-A5A6-689FA51A5A39}"/>
              </a:ext>
            </a:extLst>
          </p:cNvPr>
          <p:cNvSpPr>
            <a:spLocks xmlns:a="http://schemas.openxmlformats.org/drawingml/2006/main" noGrp="1"/>
          </p:cNvSpPr>
          <p:nvPr/>
        </p:nvSpPr>
        <p:spPr>
          <a:xfrm xmlns:a="http://schemas.openxmlformats.org/drawingml/2006/main">
            <a:off x="3105150" y="4857750"/>
            <a:ext cx="800100" cy="571500"/>
          </a:xfrm>
          <a:prstGeom xmlns:a="http://schemas.openxmlformats.org/drawingml/2006/main" prst="triangle">
            <a:avLst/>
          </a:prstGeom>
          <a:solidFill xmlns:a="http://schemas.openxmlformats.org/drawingml/2006/main">
            <a:srgbClr val="999999"/>
          </a:solidFill>
          <a:ln xmlns:a="http://schemas.openxmlformats.org/drawingml/2006/main" w="12383">
            <a:solidFill>
              <a:srgbClr val="202020"/>
            </a:solidFill>
          </a:ln>
        </p:spPr>
      </p:sp>
      <p:sp>
        <p:nvSpPr>
          <p:cNvPr id="46" name="ten-bandwidth-1-bar">
            <a:extLst xmlns:a="http://schemas.openxmlformats.org/drawingml/2006/main">
              <a:ext uri="{FF2B5EF4-FFF2-40B4-BE49-F238E27FC236}">
                <a16:creationId xmlns:a16="http://schemas.microsoft.com/office/drawing/2014/main" id="{80242571-E497-42DF-A551-19B25DCF4A65}"/>
              </a:ext>
            </a:extLst>
          </p:cNvPr>
          <p:cNvSpPr>
            <a:spLocks xmlns:a="http://schemas.openxmlformats.org/drawingml/2006/main" noGrp="1"/>
          </p:cNvSpPr>
          <p:nvPr/>
        </p:nvSpPr>
        <p:spPr>
          <a:xfrm xmlns:a="http://schemas.openxmlformats.org/drawingml/2006/main">
            <a:off x="31051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47" name="ten-bandwidth-1-l">
            <a:extLst xmlns:a="http://schemas.openxmlformats.org/drawingml/2006/main">
              <a:ext uri="{FF2B5EF4-FFF2-40B4-BE49-F238E27FC236}">
                <a16:creationId xmlns:a16="http://schemas.microsoft.com/office/drawing/2014/main" id="{702627F6-5F00-4378-88E6-FDBD6DD52936}"/>
              </a:ext>
            </a:extLst>
          </p:cNvPr>
          <p:cNvSpPr>
            <a:spLocks xmlns:a="http://schemas.openxmlformats.org/drawingml/2006/main" noGrp="1"/>
          </p:cNvSpPr>
          <p:nvPr/>
        </p:nvSpPr>
        <p:spPr>
          <a:xfrm xmlns:a="http://schemas.openxmlformats.org/drawingml/2006/main">
            <a:off x="31051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48" name="ten-bandwidth-1-r">
            <a:extLst xmlns:a="http://schemas.openxmlformats.org/drawingml/2006/main">
              <a:ext uri="{FF2B5EF4-FFF2-40B4-BE49-F238E27FC236}">
                <a16:creationId xmlns:a16="http://schemas.microsoft.com/office/drawing/2014/main" id="{7EB3ADB8-D471-48F7-9432-B65199AED6E5}"/>
              </a:ext>
            </a:extLst>
          </p:cNvPr>
          <p:cNvSpPr>
            <a:spLocks xmlns:a="http://schemas.openxmlformats.org/drawingml/2006/main" noGrp="1"/>
          </p:cNvSpPr>
          <p:nvPr/>
        </p:nvSpPr>
        <p:spPr>
          <a:xfrm xmlns:a="http://schemas.openxmlformats.org/drawingml/2006/main">
            <a:off x="38909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49" name="ten-band-2">
            <a:extLst xmlns:a="http://schemas.openxmlformats.org/drawingml/2006/main">
              <a:ext uri="{FF2B5EF4-FFF2-40B4-BE49-F238E27FC236}">
                <a16:creationId xmlns:a16="http://schemas.microsoft.com/office/drawing/2014/main" id="{AF0EFCDE-4526-48AB-97BC-FE63AEC73381}"/>
              </a:ext>
            </a:extLst>
          </p:cNvPr>
          <p:cNvSpPr>
            <a:spLocks xmlns:a="http://schemas.openxmlformats.org/drawingml/2006/main" noGrp="1"/>
          </p:cNvSpPr>
          <p:nvPr/>
        </p:nvSpPr>
        <p:spPr>
          <a:xfrm xmlns:a="http://schemas.openxmlformats.org/drawingml/2006/main">
            <a:off x="3981450" y="4857750"/>
            <a:ext cx="800100" cy="571500"/>
          </a:xfrm>
          <a:prstGeom xmlns:a="http://schemas.openxmlformats.org/drawingml/2006/main" prst="triangle">
            <a:avLst/>
          </a:prstGeom>
          <a:solidFill xmlns:a="http://schemas.openxmlformats.org/drawingml/2006/main">
            <a:srgbClr val="D0D0D0"/>
          </a:solidFill>
          <a:ln xmlns:a="http://schemas.openxmlformats.org/drawingml/2006/main" w="12383">
            <a:solidFill>
              <a:srgbClr val="202020"/>
            </a:solidFill>
          </a:ln>
        </p:spPr>
      </p:sp>
      <p:sp>
        <p:nvSpPr>
          <p:cNvPr id="50" name="ten-bandwidth-2-bar">
            <a:extLst xmlns:a="http://schemas.openxmlformats.org/drawingml/2006/main">
              <a:ext uri="{FF2B5EF4-FFF2-40B4-BE49-F238E27FC236}">
                <a16:creationId xmlns:a16="http://schemas.microsoft.com/office/drawing/2014/main" id="{681D0A1E-0BD4-4AD2-B928-5A7259DA1D10}"/>
              </a:ext>
            </a:extLst>
          </p:cNvPr>
          <p:cNvSpPr>
            <a:spLocks xmlns:a="http://schemas.openxmlformats.org/drawingml/2006/main" noGrp="1"/>
          </p:cNvSpPr>
          <p:nvPr/>
        </p:nvSpPr>
        <p:spPr>
          <a:xfrm xmlns:a="http://schemas.openxmlformats.org/drawingml/2006/main">
            <a:off x="39814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51" name="ten-bandwidth-2-l">
            <a:extLst xmlns:a="http://schemas.openxmlformats.org/drawingml/2006/main">
              <a:ext uri="{FF2B5EF4-FFF2-40B4-BE49-F238E27FC236}">
                <a16:creationId xmlns:a16="http://schemas.microsoft.com/office/drawing/2014/main" id="{D3B2678B-E41E-4EFF-873C-58A14CD0A051}"/>
              </a:ext>
            </a:extLst>
          </p:cNvPr>
          <p:cNvSpPr>
            <a:spLocks xmlns:a="http://schemas.openxmlformats.org/drawingml/2006/main" noGrp="1"/>
          </p:cNvSpPr>
          <p:nvPr/>
        </p:nvSpPr>
        <p:spPr>
          <a:xfrm xmlns:a="http://schemas.openxmlformats.org/drawingml/2006/main">
            <a:off x="39814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52" name="ten-bandwidth-2-r">
            <a:extLst xmlns:a="http://schemas.openxmlformats.org/drawingml/2006/main">
              <a:ext uri="{FF2B5EF4-FFF2-40B4-BE49-F238E27FC236}">
                <a16:creationId xmlns:a16="http://schemas.microsoft.com/office/drawing/2014/main" id="{3D717BB9-C309-4D5C-A299-B5B40957C703}"/>
              </a:ext>
            </a:extLst>
          </p:cNvPr>
          <p:cNvSpPr>
            <a:spLocks xmlns:a="http://schemas.openxmlformats.org/drawingml/2006/main" noGrp="1"/>
          </p:cNvSpPr>
          <p:nvPr/>
        </p:nvSpPr>
        <p:spPr>
          <a:xfrm xmlns:a="http://schemas.openxmlformats.org/drawingml/2006/main">
            <a:off x="47672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53" name="ten-band-3">
            <a:extLst xmlns:a="http://schemas.openxmlformats.org/drawingml/2006/main">
              <a:ext uri="{FF2B5EF4-FFF2-40B4-BE49-F238E27FC236}">
                <a16:creationId xmlns:a16="http://schemas.microsoft.com/office/drawing/2014/main" id="{3E28F13B-D0C5-4A54-9A8A-C73F107675D6}"/>
              </a:ext>
            </a:extLst>
          </p:cNvPr>
          <p:cNvSpPr>
            <a:spLocks xmlns:a="http://schemas.openxmlformats.org/drawingml/2006/main" noGrp="1"/>
          </p:cNvSpPr>
          <p:nvPr/>
        </p:nvSpPr>
        <p:spPr>
          <a:xfrm xmlns:a="http://schemas.openxmlformats.org/drawingml/2006/main">
            <a:off x="4857750" y="4857750"/>
            <a:ext cx="800100" cy="571500"/>
          </a:xfrm>
          <a:prstGeom xmlns:a="http://schemas.openxmlformats.org/drawingml/2006/main" prst="triangle">
            <a:avLst/>
          </a:prstGeom>
          <a:solidFill xmlns:a="http://schemas.openxmlformats.org/drawingml/2006/main">
            <a:srgbClr val="E4E4E4"/>
          </a:solidFill>
          <a:ln xmlns:a="http://schemas.openxmlformats.org/drawingml/2006/main" w="12383">
            <a:solidFill>
              <a:srgbClr val="202020"/>
            </a:solidFill>
          </a:ln>
        </p:spPr>
      </p:sp>
      <p:sp>
        <p:nvSpPr>
          <p:cNvPr id="54" name="ten-bandwidth-3-bar">
            <a:extLst xmlns:a="http://schemas.openxmlformats.org/drawingml/2006/main">
              <a:ext uri="{FF2B5EF4-FFF2-40B4-BE49-F238E27FC236}">
                <a16:creationId xmlns:a16="http://schemas.microsoft.com/office/drawing/2014/main" id="{03E1074B-7308-4552-8E35-39264FE75D92}"/>
              </a:ext>
            </a:extLst>
          </p:cNvPr>
          <p:cNvSpPr>
            <a:spLocks xmlns:a="http://schemas.openxmlformats.org/drawingml/2006/main" noGrp="1"/>
          </p:cNvSpPr>
          <p:nvPr/>
        </p:nvSpPr>
        <p:spPr>
          <a:xfrm xmlns:a="http://schemas.openxmlformats.org/drawingml/2006/main">
            <a:off x="48577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55" name="ten-bandwidth-3-l">
            <a:extLst xmlns:a="http://schemas.openxmlformats.org/drawingml/2006/main">
              <a:ext uri="{FF2B5EF4-FFF2-40B4-BE49-F238E27FC236}">
                <a16:creationId xmlns:a16="http://schemas.microsoft.com/office/drawing/2014/main" id="{1B6E1BA3-8876-456E-8BDF-AF7467A0381C}"/>
              </a:ext>
            </a:extLst>
          </p:cNvPr>
          <p:cNvSpPr>
            <a:spLocks xmlns:a="http://schemas.openxmlformats.org/drawingml/2006/main" noGrp="1"/>
          </p:cNvSpPr>
          <p:nvPr/>
        </p:nvSpPr>
        <p:spPr>
          <a:xfrm xmlns:a="http://schemas.openxmlformats.org/drawingml/2006/main">
            <a:off x="48577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56" name="ten-bandwidth-3-r">
            <a:extLst xmlns:a="http://schemas.openxmlformats.org/drawingml/2006/main">
              <a:ext uri="{FF2B5EF4-FFF2-40B4-BE49-F238E27FC236}">
                <a16:creationId xmlns:a16="http://schemas.microsoft.com/office/drawing/2014/main" id="{0AB58DCE-07BD-4368-AB90-3B8FC17DE098}"/>
              </a:ext>
            </a:extLst>
          </p:cNvPr>
          <p:cNvSpPr>
            <a:spLocks xmlns:a="http://schemas.openxmlformats.org/drawingml/2006/main" noGrp="1"/>
          </p:cNvSpPr>
          <p:nvPr/>
        </p:nvSpPr>
        <p:spPr>
          <a:xfrm xmlns:a="http://schemas.openxmlformats.org/drawingml/2006/main">
            <a:off x="56435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57" name="ten-band-4">
            <a:extLst xmlns:a="http://schemas.openxmlformats.org/drawingml/2006/main">
              <a:ext uri="{FF2B5EF4-FFF2-40B4-BE49-F238E27FC236}">
                <a16:creationId xmlns:a16="http://schemas.microsoft.com/office/drawing/2014/main" id="{5547D085-97C9-439D-8103-3BB30A201A47}"/>
              </a:ext>
            </a:extLst>
          </p:cNvPr>
          <p:cNvSpPr>
            <a:spLocks xmlns:a="http://schemas.openxmlformats.org/drawingml/2006/main" noGrp="1"/>
          </p:cNvSpPr>
          <p:nvPr/>
        </p:nvSpPr>
        <p:spPr>
          <a:xfrm xmlns:a="http://schemas.openxmlformats.org/drawingml/2006/main">
            <a:off x="5734050" y="4857750"/>
            <a:ext cx="800100" cy="571500"/>
          </a:xfrm>
          <a:prstGeom xmlns:a="http://schemas.openxmlformats.org/drawingml/2006/main" prst="triangle">
            <a:avLst/>
          </a:prstGeom>
          <a:solidFill xmlns:a="http://schemas.openxmlformats.org/drawingml/2006/main">
            <a:srgbClr val="E4E4E4"/>
          </a:solidFill>
          <a:ln xmlns:a="http://schemas.openxmlformats.org/drawingml/2006/main" w="12383">
            <a:solidFill>
              <a:srgbClr val="202020"/>
            </a:solidFill>
          </a:ln>
        </p:spPr>
      </p:sp>
      <p:sp>
        <p:nvSpPr>
          <p:cNvPr id="58" name="ten-bandwidth-4-bar">
            <a:extLst xmlns:a="http://schemas.openxmlformats.org/drawingml/2006/main">
              <a:ext uri="{FF2B5EF4-FFF2-40B4-BE49-F238E27FC236}">
                <a16:creationId xmlns:a16="http://schemas.microsoft.com/office/drawing/2014/main" id="{65A5F641-117A-428E-BFE1-EC6A1E1A8F97}"/>
              </a:ext>
            </a:extLst>
          </p:cNvPr>
          <p:cNvSpPr>
            <a:spLocks xmlns:a="http://schemas.openxmlformats.org/drawingml/2006/main" noGrp="1"/>
          </p:cNvSpPr>
          <p:nvPr/>
        </p:nvSpPr>
        <p:spPr>
          <a:xfrm xmlns:a="http://schemas.openxmlformats.org/drawingml/2006/main">
            <a:off x="57340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59" name="ten-bandwidth-4-l">
            <a:extLst xmlns:a="http://schemas.openxmlformats.org/drawingml/2006/main">
              <a:ext uri="{FF2B5EF4-FFF2-40B4-BE49-F238E27FC236}">
                <a16:creationId xmlns:a16="http://schemas.microsoft.com/office/drawing/2014/main" id="{D8EB546F-2FF6-46AC-80C9-D239863FDBFA}"/>
              </a:ext>
            </a:extLst>
          </p:cNvPr>
          <p:cNvSpPr>
            <a:spLocks xmlns:a="http://schemas.openxmlformats.org/drawingml/2006/main" noGrp="1"/>
          </p:cNvSpPr>
          <p:nvPr/>
        </p:nvSpPr>
        <p:spPr>
          <a:xfrm xmlns:a="http://schemas.openxmlformats.org/drawingml/2006/main">
            <a:off x="57340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60" name="ten-bandwidth-4-r">
            <a:extLst xmlns:a="http://schemas.openxmlformats.org/drawingml/2006/main">
              <a:ext uri="{FF2B5EF4-FFF2-40B4-BE49-F238E27FC236}">
                <a16:creationId xmlns:a16="http://schemas.microsoft.com/office/drawing/2014/main" id="{A7337B19-B633-4FA9-940B-C0BA112A17F7}"/>
              </a:ext>
            </a:extLst>
          </p:cNvPr>
          <p:cNvSpPr>
            <a:spLocks xmlns:a="http://schemas.openxmlformats.org/drawingml/2006/main" noGrp="1"/>
          </p:cNvSpPr>
          <p:nvPr/>
        </p:nvSpPr>
        <p:spPr>
          <a:xfrm xmlns:a="http://schemas.openxmlformats.org/drawingml/2006/main">
            <a:off x="65198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61" name="ten-band-5">
            <a:extLst xmlns:a="http://schemas.openxmlformats.org/drawingml/2006/main">
              <a:ext uri="{FF2B5EF4-FFF2-40B4-BE49-F238E27FC236}">
                <a16:creationId xmlns:a16="http://schemas.microsoft.com/office/drawing/2014/main" id="{BCC86CC3-E966-4F45-9479-1E4A6E48DBAA}"/>
              </a:ext>
            </a:extLst>
          </p:cNvPr>
          <p:cNvSpPr>
            <a:spLocks xmlns:a="http://schemas.openxmlformats.org/drawingml/2006/main" noGrp="1"/>
          </p:cNvSpPr>
          <p:nvPr/>
        </p:nvSpPr>
        <p:spPr>
          <a:xfrm xmlns:a="http://schemas.openxmlformats.org/drawingml/2006/main">
            <a:off x="6610350" y="4857750"/>
            <a:ext cx="800100" cy="571500"/>
          </a:xfrm>
          <a:prstGeom xmlns:a="http://schemas.openxmlformats.org/drawingml/2006/main" prst="triangle">
            <a:avLst/>
          </a:prstGeom>
          <a:solidFill xmlns:a="http://schemas.openxmlformats.org/drawingml/2006/main">
            <a:srgbClr val="E4E4E4"/>
          </a:solidFill>
          <a:ln xmlns:a="http://schemas.openxmlformats.org/drawingml/2006/main" w="12383">
            <a:solidFill>
              <a:srgbClr val="202020"/>
            </a:solidFill>
          </a:ln>
        </p:spPr>
      </p:sp>
      <p:sp>
        <p:nvSpPr>
          <p:cNvPr id="62" name="ten-bandwidth-5-bar">
            <a:extLst xmlns:a="http://schemas.openxmlformats.org/drawingml/2006/main">
              <a:ext uri="{FF2B5EF4-FFF2-40B4-BE49-F238E27FC236}">
                <a16:creationId xmlns:a16="http://schemas.microsoft.com/office/drawing/2014/main" id="{8CDF1D74-CA97-42FF-AF1E-C2354D09B899}"/>
              </a:ext>
            </a:extLst>
          </p:cNvPr>
          <p:cNvSpPr>
            <a:spLocks xmlns:a="http://schemas.openxmlformats.org/drawingml/2006/main" noGrp="1"/>
          </p:cNvSpPr>
          <p:nvPr/>
        </p:nvSpPr>
        <p:spPr>
          <a:xfrm xmlns:a="http://schemas.openxmlformats.org/drawingml/2006/main">
            <a:off x="66103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63" name="ten-bandwidth-5-l">
            <a:extLst xmlns:a="http://schemas.openxmlformats.org/drawingml/2006/main">
              <a:ext uri="{FF2B5EF4-FFF2-40B4-BE49-F238E27FC236}">
                <a16:creationId xmlns:a16="http://schemas.microsoft.com/office/drawing/2014/main" id="{2637D55D-DE0E-494D-AF65-1E26A1E3BC4D}"/>
              </a:ext>
            </a:extLst>
          </p:cNvPr>
          <p:cNvSpPr>
            <a:spLocks xmlns:a="http://schemas.openxmlformats.org/drawingml/2006/main" noGrp="1"/>
          </p:cNvSpPr>
          <p:nvPr/>
        </p:nvSpPr>
        <p:spPr>
          <a:xfrm xmlns:a="http://schemas.openxmlformats.org/drawingml/2006/main">
            <a:off x="66103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64" name="ten-bandwidth-5-r">
            <a:extLst xmlns:a="http://schemas.openxmlformats.org/drawingml/2006/main">
              <a:ext uri="{FF2B5EF4-FFF2-40B4-BE49-F238E27FC236}">
                <a16:creationId xmlns:a16="http://schemas.microsoft.com/office/drawing/2014/main" id="{57B9A785-2AB8-4EFF-BA04-2AAD96753FF6}"/>
              </a:ext>
            </a:extLst>
          </p:cNvPr>
          <p:cNvSpPr>
            <a:spLocks xmlns:a="http://schemas.openxmlformats.org/drawingml/2006/main" noGrp="1"/>
          </p:cNvSpPr>
          <p:nvPr/>
        </p:nvSpPr>
        <p:spPr>
          <a:xfrm xmlns:a="http://schemas.openxmlformats.org/drawingml/2006/main">
            <a:off x="73961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65" name="ten-band-6">
            <a:extLst xmlns:a="http://schemas.openxmlformats.org/drawingml/2006/main">
              <a:ext uri="{FF2B5EF4-FFF2-40B4-BE49-F238E27FC236}">
                <a16:creationId xmlns:a16="http://schemas.microsoft.com/office/drawing/2014/main" id="{A3F529C9-6776-4520-A899-BAEF798E17CC}"/>
              </a:ext>
            </a:extLst>
          </p:cNvPr>
          <p:cNvSpPr>
            <a:spLocks xmlns:a="http://schemas.openxmlformats.org/drawingml/2006/main" noGrp="1"/>
          </p:cNvSpPr>
          <p:nvPr/>
        </p:nvSpPr>
        <p:spPr>
          <a:xfrm xmlns:a="http://schemas.openxmlformats.org/drawingml/2006/main">
            <a:off x="7486650" y="4857750"/>
            <a:ext cx="800100" cy="571500"/>
          </a:xfrm>
          <a:prstGeom xmlns:a="http://schemas.openxmlformats.org/drawingml/2006/main" prst="triangle">
            <a:avLst/>
          </a:prstGeom>
          <a:solidFill xmlns:a="http://schemas.openxmlformats.org/drawingml/2006/main">
            <a:srgbClr val="E4E4E4"/>
          </a:solidFill>
          <a:ln xmlns:a="http://schemas.openxmlformats.org/drawingml/2006/main" w="12383">
            <a:solidFill>
              <a:srgbClr val="202020"/>
            </a:solidFill>
          </a:ln>
        </p:spPr>
      </p:sp>
      <p:sp>
        <p:nvSpPr>
          <p:cNvPr id="66" name="ten-bandwidth-6-bar">
            <a:extLst xmlns:a="http://schemas.openxmlformats.org/drawingml/2006/main">
              <a:ext uri="{FF2B5EF4-FFF2-40B4-BE49-F238E27FC236}">
                <a16:creationId xmlns:a16="http://schemas.microsoft.com/office/drawing/2014/main" id="{EA1A45AD-8B66-4D85-8164-480117DD1503}"/>
              </a:ext>
            </a:extLst>
          </p:cNvPr>
          <p:cNvSpPr>
            <a:spLocks xmlns:a="http://schemas.openxmlformats.org/drawingml/2006/main" noGrp="1"/>
          </p:cNvSpPr>
          <p:nvPr/>
        </p:nvSpPr>
        <p:spPr>
          <a:xfrm xmlns:a="http://schemas.openxmlformats.org/drawingml/2006/main">
            <a:off x="74866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67" name="ten-bandwidth-6-l">
            <a:extLst xmlns:a="http://schemas.openxmlformats.org/drawingml/2006/main">
              <a:ext uri="{FF2B5EF4-FFF2-40B4-BE49-F238E27FC236}">
                <a16:creationId xmlns:a16="http://schemas.microsoft.com/office/drawing/2014/main" id="{CC5E746E-D7C7-4BD0-8024-1203F145B563}"/>
              </a:ext>
            </a:extLst>
          </p:cNvPr>
          <p:cNvSpPr>
            <a:spLocks xmlns:a="http://schemas.openxmlformats.org/drawingml/2006/main" noGrp="1"/>
          </p:cNvSpPr>
          <p:nvPr/>
        </p:nvSpPr>
        <p:spPr>
          <a:xfrm xmlns:a="http://schemas.openxmlformats.org/drawingml/2006/main">
            <a:off x="74866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68" name="ten-bandwidth-6-r">
            <a:extLst xmlns:a="http://schemas.openxmlformats.org/drawingml/2006/main">
              <a:ext uri="{FF2B5EF4-FFF2-40B4-BE49-F238E27FC236}">
                <a16:creationId xmlns:a16="http://schemas.microsoft.com/office/drawing/2014/main" id="{623E09D5-984A-48C9-AF8E-A9C90A84DA3C}"/>
              </a:ext>
            </a:extLst>
          </p:cNvPr>
          <p:cNvSpPr>
            <a:spLocks xmlns:a="http://schemas.openxmlformats.org/drawingml/2006/main" noGrp="1"/>
          </p:cNvSpPr>
          <p:nvPr/>
        </p:nvSpPr>
        <p:spPr>
          <a:xfrm xmlns:a="http://schemas.openxmlformats.org/drawingml/2006/main">
            <a:off x="82724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69" name="ten-band-7">
            <a:extLst xmlns:a="http://schemas.openxmlformats.org/drawingml/2006/main">
              <a:ext uri="{FF2B5EF4-FFF2-40B4-BE49-F238E27FC236}">
                <a16:creationId xmlns:a16="http://schemas.microsoft.com/office/drawing/2014/main" id="{DDC800C0-921C-4FC9-BFC2-44D4EB2F7D1C}"/>
              </a:ext>
            </a:extLst>
          </p:cNvPr>
          <p:cNvSpPr>
            <a:spLocks xmlns:a="http://schemas.openxmlformats.org/drawingml/2006/main" noGrp="1"/>
          </p:cNvSpPr>
          <p:nvPr/>
        </p:nvSpPr>
        <p:spPr>
          <a:xfrm xmlns:a="http://schemas.openxmlformats.org/drawingml/2006/main">
            <a:off x="8362950" y="4857750"/>
            <a:ext cx="800100" cy="571500"/>
          </a:xfrm>
          <a:prstGeom xmlns:a="http://schemas.openxmlformats.org/drawingml/2006/main" prst="triangle">
            <a:avLst/>
          </a:prstGeom>
          <a:solidFill xmlns:a="http://schemas.openxmlformats.org/drawingml/2006/main">
            <a:srgbClr val="E4E4E4"/>
          </a:solidFill>
          <a:ln xmlns:a="http://schemas.openxmlformats.org/drawingml/2006/main" w="12383">
            <a:solidFill>
              <a:srgbClr val="202020"/>
            </a:solidFill>
          </a:ln>
        </p:spPr>
      </p:sp>
      <p:sp>
        <p:nvSpPr>
          <p:cNvPr id="70" name="ten-bandwidth-7-bar">
            <a:extLst xmlns:a="http://schemas.openxmlformats.org/drawingml/2006/main">
              <a:ext uri="{FF2B5EF4-FFF2-40B4-BE49-F238E27FC236}">
                <a16:creationId xmlns:a16="http://schemas.microsoft.com/office/drawing/2014/main" id="{E6AE6D18-B7B6-4153-9729-B42F921CD12F}"/>
              </a:ext>
            </a:extLst>
          </p:cNvPr>
          <p:cNvSpPr>
            <a:spLocks xmlns:a="http://schemas.openxmlformats.org/drawingml/2006/main" noGrp="1"/>
          </p:cNvSpPr>
          <p:nvPr/>
        </p:nvSpPr>
        <p:spPr>
          <a:xfrm xmlns:a="http://schemas.openxmlformats.org/drawingml/2006/main">
            <a:off x="83629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71" name="ten-bandwidth-7-l">
            <a:extLst xmlns:a="http://schemas.openxmlformats.org/drawingml/2006/main">
              <a:ext uri="{FF2B5EF4-FFF2-40B4-BE49-F238E27FC236}">
                <a16:creationId xmlns:a16="http://schemas.microsoft.com/office/drawing/2014/main" id="{02729655-B0F0-47F7-9713-DEA9761B5E21}"/>
              </a:ext>
            </a:extLst>
          </p:cNvPr>
          <p:cNvSpPr>
            <a:spLocks xmlns:a="http://schemas.openxmlformats.org/drawingml/2006/main" noGrp="1"/>
          </p:cNvSpPr>
          <p:nvPr/>
        </p:nvSpPr>
        <p:spPr>
          <a:xfrm xmlns:a="http://schemas.openxmlformats.org/drawingml/2006/main">
            <a:off x="83629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72" name="ten-bandwidth-7-r">
            <a:extLst xmlns:a="http://schemas.openxmlformats.org/drawingml/2006/main">
              <a:ext uri="{FF2B5EF4-FFF2-40B4-BE49-F238E27FC236}">
                <a16:creationId xmlns:a16="http://schemas.microsoft.com/office/drawing/2014/main" id="{23385E8C-036D-4BD4-8B57-1A9F8D856D4B}"/>
              </a:ext>
            </a:extLst>
          </p:cNvPr>
          <p:cNvSpPr>
            <a:spLocks xmlns:a="http://schemas.openxmlformats.org/drawingml/2006/main" noGrp="1"/>
          </p:cNvSpPr>
          <p:nvPr/>
        </p:nvSpPr>
        <p:spPr>
          <a:xfrm xmlns:a="http://schemas.openxmlformats.org/drawingml/2006/main">
            <a:off x="91487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73" name="ten-band-8">
            <a:extLst xmlns:a="http://schemas.openxmlformats.org/drawingml/2006/main">
              <a:ext uri="{FF2B5EF4-FFF2-40B4-BE49-F238E27FC236}">
                <a16:creationId xmlns:a16="http://schemas.microsoft.com/office/drawing/2014/main" id="{24A4F26F-8C58-4D5F-891A-E8213D43AD6B}"/>
              </a:ext>
            </a:extLst>
          </p:cNvPr>
          <p:cNvSpPr>
            <a:spLocks xmlns:a="http://schemas.openxmlformats.org/drawingml/2006/main" noGrp="1"/>
          </p:cNvSpPr>
          <p:nvPr/>
        </p:nvSpPr>
        <p:spPr>
          <a:xfrm xmlns:a="http://schemas.openxmlformats.org/drawingml/2006/main">
            <a:off x="9239250" y="4857750"/>
            <a:ext cx="800100" cy="571500"/>
          </a:xfrm>
          <a:prstGeom xmlns:a="http://schemas.openxmlformats.org/drawingml/2006/main" prst="triangle">
            <a:avLst/>
          </a:prstGeom>
          <a:solidFill xmlns:a="http://schemas.openxmlformats.org/drawingml/2006/main">
            <a:srgbClr val="E4E4E4"/>
          </a:solidFill>
          <a:ln xmlns:a="http://schemas.openxmlformats.org/drawingml/2006/main" w="12383">
            <a:solidFill>
              <a:srgbClr val="202020"/>
            </a:solidFill>
          </a:ln>
        </p:spPr>
      </p:sp>
      <p:sp>
        <p:nvSpPr>
          <p:cNvPr id="74" name="ten-bandwidth-8-bar">
            <a:extLst xmlns:a="http://schemas.openxmlformats.org/drawingml/2006/main">
              <a:ext uri="{FF2B5EF4-FFF2-40B4-BE49-F238E27FC236}">
                <a16:creationId xmlns:a16="http://schemas.microsoft.com/office/drawing/2014/main" id="{F2CAD6D3-B6A5-4058-B6FF-19741241BFFB}"/>
              </a:ext>
            </a:extLst>
          </p:cNvPr>
          <p:cNvSpPr>
            <a:spLocks xmlns:a="http://schemas.openxmlformats.org/drawingml/2006/main" noGrp="1"/>
          </p:cNvSpPr>
          <p:nvPr/>
        </p:nvSpPr>
        <p:spPr>
          <a:xfrm xmlns:a="http://schemas.openxmlformats.org/drawingml/2006/main">
            <a:off x="92392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75" name="ten-bandwidth-8-l">
            <a:extLst xmlns:a="http://schemas.openxmlformats.org/drawingml/2006/main">
              <a:ext uri="{FF2B5EF4-FFF2-40B4-BE49-F238E27FC236}">
                <a16:creationId xmlns:a16="http://schemas.microsoft.com/office/drawing/2014/main" id="{A424DD08-1AFD-45EF-B108-CEB674D22183}"/>
              </a:ext>
            </a:extLst>
          </p:cNvPr>
          <p:cNvSpPr>
            <a:spLocks xmlns:a="http://schemas.openxmlformats.org/drawingml/2006/main" noGrp="1"/>
          </p:cNvSpPr>
          <p:nvPr/>
        </p:nvSpPr>
        <p:spPr>
          <a:xfrm xmlns:a="http://schemas.openxmlformats.org/drawingml/2006/main">
            <a:off x="92392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76" name="ten-bandwidth-8-r">
            <a:extLst xmlns:a="http://schemas.openxmlformats.org/drawingml/2006/main">
              <a:ext uri="{FF2B5EF4-FFF2-40B4-BE49-F238E27FC236}">
                <a16:creationId xmlns:a16="http://schemas.microsoft.com/office/drawing/2014/main" id="{AF59FB88-833D-4FE0-90C4-8094250B0A12}"/>
              </a:ext>
            </a:extLst>
          </p:cNvPr>
          <p:cNvSpPr>
            <a:spLocks xmlns:a="http://schemas.openxmlformats.org/drawingml/2006/main" noGrp="1"/>
          </p:cNvSpPr>
          <p:nvPr/>
        </p:nvSpPr>
        <p:spPr>
          <a:xfrm xmlns:a="http://schemas.openxmlformats.org/drawingml/2006/main">
            <a:off x="100250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77" name="ten-band-9">
            <a:extLst xmlns:a="http://schemas.openxmlformats.org/drawingml/2006/main">
              <a:ext uri="{FF2B5EF4-FFF2-40B4-BE49-F238E27FC236}">
                <a16:creationId xmlns:a16="http://schemas.microsoft.com/office/drawing/2014/main" id="{1205CF15-C110-47EF-A7A3-4BFE9AC6481B}"/>
              </a:ext>
            </a:extLst>
          </p:cNvPr>
          <p:cNvSpPr>
            <a:spLocks xmlns:a="http://schemas.openxmlformats.org/drawingml/2006/main" noGrp="1"/>
          </p:cNvSpPr>
          <p:nvPr/>
        </p:nvSpPr>
        <p:spPr>
          <a:xfrm xmlns:a="http://schemas.openxmlformats.org/drawingml/2006/main">
            <a:off x="10115550" y="4857750"/>
            <a:ext cx="800100" cy="571500"/>
          </a:xfrm>
          <a:prstGeom xmlns:a="http://schemas.openxmlformats.org/drawingml/2006/main" prst="triangle">
            <a:avLst/>
          </a:prstGeom>
          <a:solidFill xmlns:a="http://schemas.openxmlformats.org/drawingml/2006/main">
            <a:srgbClr val="E4E4E4"/>
          </a:solidFill>
          <a:ln xmlns:a="http://schemas.openxmlformats.org/drawingml/2006/main" w="12383">
            <a:solidFill>
              <a:srgbClr val="202020"/>
            </a:solidFill>
          </a:ln>
        </p:spPr>
      </p:sp>
      <p:sp>
        <p:nvSpPr>
          <p:cNvPr id="78" name="ten-bandwidth-9-bar">
            <a:extLst xmlns:a="http://schemas.openxmlformats.org/drawingml/2006/main">
              <a:ext uri="{FF2B5EF4-FFF2-40B4-BE49-F238E27FC236}">
                <a16:creationId xmlns:a16="http://schemas.microsoft.com/office/drawing/2014/main" id="{EA211431-2E31-44E7-8883-EB6063B0B67D}"/>
              </a:ext>
            </a:extLst>
          </p:cNvPr>
          <p:cNvSpPr>
            <a:spLocks xmlns:a="http://schemas.openxmlformats.org/drawingml/2006/main" noGrp="1"/>
          </p:cNvSpPr>
          <p:nvPr/>
        </p:nvSpPr>
        <p:spPr>
          <a:xfrm xmlns:a="http://schemas.openxmlformats.org/drawingml/2006/main">
            <a:off x="10115550" y="4352925"/>
            <a:ext cx="800100" cy="14288"/>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79" name="ten-bandwidth-9-l">
            <a:extLst xmlns:a="http://schemas.openxmlformats.org/drawingml/2006/main">
              <a:ext uri="{FF2B5EF4-FFF2-40B4-BE49-F238E27FC236}">
                <a16:creationId xmlns:a16="http://schemas.microsoft.com/office/drawing/2014/main" id="{42E1DE78-7F44-4D22-AECA-D0D83F8A3533}"/>
              </a:ext>
            </a:extLst>
          </p:cNvPr>
          <p:cNvSpPr>
            <a:spLocks xmlns:a="http://schemas.openxmlformats.org/drawingml/2006/main" noGrp="1"/>
          </p:cNvSpPr>
          <p:nvPr/>
        </p:nvSpPr>
        <p:spPr>
          <a:xfrm xmlns:a="http://schemas.openxmlformats.org/drawingml/2006/main">
            <a:off x="10115550"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80" name="ten-bandwidth-9-r">
            <a:extLst xmlns:a="http://schemas.openxmlformats.org/drawingml/2006/main">
              <a:ext uri="{FF2B5EF4-FFF2-40B4-BE49-F238E27FC236}">
                <a16:creationId xmlns:a16="http://schemas.microsoft.com/office/drawing/2014/main" id="{2C87084D-2BB9-49B5-A155-AAB5FC986A79}"/>
              </a:ext>
            </a:extLst>
          </p:cNvPr>
          <p:cNvSpPr>
            <a:spLocks xmlns:a="http://schemas.openxmlformats.org/drawingml/2006/main" noGrp="1"/>
          </p:cNvSpPr>
          <p:nvPr/>
        </p:nvSpPr>
        <p:spPr>
          <a:xfrm xmlns:a="http://schemas.openxmlformats.org/drawingml/2006/main">
            <a:off x="10901363" y="4295775"/>
            <a:ext cx="14288" cy="114300"/>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81" name="fdm-prefix-0">
            <a:extLst xmlns:a="http://schemas.openxmlformats.org/drawingml/2006/main">
              <a:ext uri="{FF2B5EF4-FFF2-40B4-BE49-F238E27FC236}">
                <a16:creationId xmlns:a16="http://schemas.microsoft.com/office/drawing/2014/main" id="{EA8CB860-56FC-47DD-A390-5AE4C8E4C9D5}"/>
              </a:ext>
            </a:extLst>
          </p:cNvPr>
          <p:cNvSpPr>
            <a:spLocks xmlns:a="http://schemas.openxmlformats.org/drawingml/2006/main" noGrp="1"/>
          </p:cNvSpPr>
          <p:nvPr/>
        </p:nvSpPr>
        <p:spPr>
          <a:xfrm xmlns:a="http://schemas.openxmlformats.org/drawingml/2006/main">
            <a:off x="2190750" y="38385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FDM-</a:t>
            </a:r>
          </a:p>
        </p:txBody>
      </p:sp>
      <p:sp>
        <p:nvSpPr>
          <p:cNvPr id="82" name="fdm-prefix-1">
            <a:extLst xmlns:a="http://schemas.openxmlformats.org/drawingml/2006/main">
              <a:ext uri="{FF2B5EF4-FFF2-40B4-BE49-F238E27FC236}">
                <a16:creationId xmlns:a16="http://schemas.microsoft.com/office/drawing/2014/main" id="{C06FC196-792E-4D9A-8B84-C6611267629D}"/>
              </a:ext>
            </a:extLst>
          </p:cNvPr>
          <p:cNvSpPr>
            <a:spLocks xmlns:a="http://schemas.openxmlformats.org/drawingml/2006/main" noGrp="1"/>
          </p:cNvSpPr>
          <p:nvPr/>
        </p:nvSpPr>
        <p:spPr>
          <a:xfrm xmlns:a="http://schemas.openxmlformats.org/drawingml/2006/main">
            <a:off x="4000500" y="38385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FDM-</a:t>
            </a:r>
          </a:p>
        </p:txBody>
      </p:sp>
      <p:sp>
        <p:nvSpPr>
          <p:cNvPr id="83" name="fdm-prefix-2">
            <a:extLst xmlns:a="http://schemas.openxmlformats.org/drawingml/2006/main">
              <a:ext uri="{FF2B5EF4-FFF2-40B4-BE49-F238E27FC236}">
                <a16:creationId xmlns:a16="http://schemas.microsoft.com/office/drawing/2014/main" id="{72ABF8A8-24B8-4A14-9804-D1D5B8005D9F}"/>
              </a:ext>
            </a:extLst>
          </p:cNvPr>
          <p:cNvSpPr>
            <a:spLocks xmlns:a="http://schemas.openxmlformats.org/drawingml/2006/main" noGrp="1"/>
          </p:cNvSpPr>
          <p:nvPr/>
        </p:nvSpPr>
        <p:spPr>
          <a:xfrm xmlns:a="http://schemas.openxmlformats.org/drawingml/2006/main">
            <a:off x="5810250" y="38385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FDM-</a:t>
            </a:r>
          </a:p>
        </p:txBody>
      </p:sp>
      <p:sp>
        <p:nvSpPr>
          <p:cNvPr id="84" name="fdm-prefix-3">
            <a:extLst xmlns:a="http://schemas.openxmlformats.org/drawingml/2006/main">
              <a:ext uri="{FF2B5EF4-FFF2-40B4-BE49-F238E27FC236}">
                <a16:creationId xmlns:a16="http://schemas.microsoft.com/office/drawing/2014/main" id="{5E94D300-AC01-4D3E-B5F1-A51462CFA538}"/>
              </a:ext>
            </a:extLst>
          </p:cNvPr>
          <p:cNvSpPr>
            <a:spLocks xmlns:a="http://schemas.openxmlformats.org/drawingml/2006/main" noGrp="1"/>
          </p:cNvSpPr>
          <p:nvPr/>
        </p:nvSpPr>
        <p:spPr>
          <a:xfrm xmlns:a="http://schemas.openxmlformats.org/drawingml/2006/main">
            <a:off x="7620000" y="38385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FDM-</a:t>
            </a:r>
          </a:p>
        </p:txBody>
      </p:sp>
      <p:sp>
        <p:nvSpPr>
          <p:cNvPr id="85" name="three-next">
            <a:extLst xmlns:a="http://schemas.openxmlformats.org/drawingml/2006/main">
              <a:ext uri="{FF2B5EF4-FFF2-40B4-BE49-F238E27FC236}">
                <a16:creationId xmlns:a16="http://schemas.microsoft.com/office/drawing/2014/main" id="{BB292439-3B96-460E-BEE9-F8F5AD96E3DA}"/>
              </a:ext>
            </a:extLst>
          </p:cNvPr>
          <p:cNvSpPr>
            <a:spLocks xmlns:a="http://schemas.openxmlformats.org/drawingml/2006/main" noGrp="1"/>
          </p:cNvSpPr>
          <p:nvPr/>
        </p:nvSpPr>
        <p:spPr>
          <a:xfrm xmlns:a="http://schemas.openxmlformats.org/drawingml/2006/main">
            <a:off x="2228850" y="637222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Three channels shown next</a:t>
            </a:r>
          </a:p>
        </p:txBody>
      </p:sp>
      <p:sp>
        <p:nvSpPr>
          <p:cNvPr id="86" name="three-highlight">
            <a:extLst xmlns:a="http://schemas.openxmlformats.org/drawingml/2006/main">
              <a:ext uri="{FF2B5EF4-FFF2-40B4-BE49-F238E27FC236}">
                <a16:creationId xmlns:a16="http://schemas.microsoft.com/office/drawing/2014/main" id="{26864004-34DA-4FBA-9916-805B764A53F9}"/>
              </a:ext>
            </a:extLst>
          </p:cNvPr>
          <p:cNvSpPr>
            <a:spLocks xmlns:a="http://schemas.openxmlformats.org/drawingml/2006/main" noGrp="1"/>
          </p:cNvSpPr>
          <p:nvPr/>
        </p:nvSpPr>
        <p:spPr>
          <a:xfrm xmlns:a="http://schemas.openxmlformats.org/drawingml/2006/main">
            <a:off x="2200275" y="4457700"/>
            <a:ext cx="2609850" cy="1019175"/>
          </a:xfrm>
          <a:prstGeom xmlns:a="http://schemas.openxmlformats.org/drawingml/2006/main" prst="rect">
            <a:avLst/>
          </a:prstGeom>
          <a:noFill xmlns:a="http://schemas.openxmlformats.org/drawingml/2006/main"/>
          <a:ln xmlns:a="http://schemas.openxmlformats.org/drawingml/2006/main" w="20955">
            <a:solidFill>
              <a:srgbClr val="333333"/>
            </a:solidFill>
          </a:ln>
        </p:spPr>
      </p:sp>
      <p:pic>
        <p:nvPicPr>
          <p:cNvPr id="190" name="one-f" descr="f"/>
          <p:cNvPicPr>
            <a:picLocks xmlns:a="http://schemas.openxmlformats.org/drawingml/2006/main" noChangeAspect="1"/>
          </p:cNvPicPr>
          <p:nvPr/>
        </p:nvPicPr>
        <p:blipFill>
          <a:blip xmlns:r="http://schemas.openxmlformats.org/officeDocument/2006/relationships" xmlns:a="http://schemas.openxmlformats.org/drawingml/2006/main" r:embed="rIdOverviewPng0">
            <a:extLst>
              <a:ext uri="{96DAC541-7B7A-43D3-8B79-37D633B846F1}">
                <ns0:svgBlip xmlns:ns0="http://schemas.microsoft.com/office/drawing/2016/SVG/main" r:embed="rIdOverviewSvg0"/>
              </a:ext>
            </a:extLst>
          </a:blip>
          <a:stretch xmlns:a="http://schemas.openxmlformats.org/drawingml/2006/main"/>
        </p:blipFill>
        <p:spPr>
          <a:xfrm xmlns:a="http://schemas.openxmlformats.org/drawingml/2006/main">
            <a:off x="11325225" y="2746430"/>
            <a:ext cx="109537" cy="164991"/>
          </a:xfrm>
          <a:prstGeom xmlns:a="http://schemas.openxmlformats.org/drawingml/2006/main" prst="rect">
            <a:avLst/>
          </a:prstGeom>
        </p:spPr>
      </p:pic>
      <p:pic>
        <p:nvPicPr>
          <p:cNvPr id="191" name="one-edge-min" descr="f_{min}"/>
          <p:cNvPicPr>
            <a:picLocks xmlns:a="http://schemas.openxmlformats.org/drawingml/2006/main" noChangeAspect="1"/>
          </p:cNvPicPr>
          <p:nvPr/>
        </p:nvPicPr>
        <p:blipFill>
          <a:blip xmlns:r="http://schemas.openxmlformats.org/officeDocument/2006/relationships" xmlns:a="http://schemas.openxmlformats.org/drawingml/2006/main" r:embed="rIdOverviewPng1">
            <a:extLst>
              <a:ext uri="{96DAC541-7B7A-43D3-8B79-37D633B846F1}">
                <ns1:svgBlip xmlns:ns1="http://schemas.microsoft.com/office/drawing/2016/SVG/main" r:embed="rIdOverviewSvg1"/>
              </a:ext>
            </a:extLst>
          </a:blip>
          <a:stretch xmlns:a="http://schemas.openxmlformats.org/drawingml/2006/main"/>
        </p:blipFill>
        <p:spPr>
          <a:xfrm xmlns:a="http://schemas.openxmlformats.org/drawingml/2006/main">
            <a:off x="1991678" y="2995273"/>
            <a:ext cx="398145" cy="181654"/>
          </a:xfrm>
          <a:prstGeom xmlns:a="http://schemas.openxmlformats.org/drawingml/2006/main" prst="rect">
            <a:avLst/>
          </a:prstGeom>
        </p:spPr>
      </p:pic>
      <p:pic>
        <p:nvPicPr>
          <p:cNvPr id="192" name="one-edge-max" descr="f_{max}"/>
          <p:cNvPicPr>
            <a:picLocks xmlns:a="http://schemas.openxmlformats.org/drawingml/2006/main" noChangeAspect="1"/>
          </p:cNvPicPr>
          <p:nvPr/>
        </p:nvPicPr>
        <p:blipFill>
          <a:blip xmlns:r="http://schemas.openxmlformats.org/officeDocument/2006/relationships" xmlns:a="http://schemas.openxmlformats.org/drawingml/2006/main" r:embed="rIdOverviewPng2">
            <a:extLst>
              <a:ext uri="{96DAC541-7B7A-43D3-8B79-37D633B846F1}">
                <ns2:svgBlip xmlns:ns2="http://schemas.microsoft.com/office/drawing/2016/SVG/main" r:embed="rIdOverviewSvg2"/>
              </a:ext>
            </a:extLst>
          </a:blip>
          <a:stretch xmlns:a="http://schemas.openxmlformats.org/drawingml/2006/main"/>
        </p:blipFill>
        <p:spPr>
          <a:xfrm xmlns:a="http://schemas.openxmlformats.org/drawingml/2006/main">
            <a:off x="10744200" y="2998351"/>
            <a:ext cx="419100" cy="175498"/>
          </a:xfrm>
          <a:prstGeom xmlns:a="http://schemas.openxmlformats.org/drawingml/2006/main" prst="rect">
            <a:avLst/>
          </a:prstGeom>
        </p:spPr>
      </p:pic>
      <p:pic>
        <p:nvPicPr>
          <p:cNvPr id="193" name="ten-f" descr="f"/>
          <p:cNvPicPr>
            <a:picLocks xmlns:a="http://schemas.openxmlformats.org/drawingml/2006/main" noChangeAspect="1"/>
          </p:cNvPicPr>
          <p:nvPr/>
        </p:nvPicPr>
        <p:blipFill>
          <a:blip xmlns:r="http://schemas.openxmlformats.org/officeDocument/2006/relationships" xmlns:a="http://schemas.openxmlformats.org/drawingml/2006/main" r:embed="rIdOverviewPng3">
            <a:extLst>
              <a:ext uri="{96DAC541-7B7A-43D3-8B79-37D633B846F1}">
                <ns3:svgBlip xmlns:ns3="http://schemas.microsoft.com/office/drawing/2016/SVG/main" r:embed="rIdOverviewSvg3"/>
              </a:ext>
            </a:extLst>
          </a:blip>
          <a:stretch xmlns:a="http://schemas.openxmlformats.org/drawingml/2006/main"/>
        </p:blipFill>
        <p:spPr>
          <a:xfrm xmlns:a="http://schemas.openxmlformats.org/drawingml/2006/main">
            <a:off x="11325225" y="5318180"/>
            <a:ext cx="109537" cy="164991"/>
          </a:xfrm>
          <a:prstGeom xmlns:a="http://schemas.openxmlformats.org/drawingml/2006/main" prst="rect">
            <a:avLst/>
          </a:prstGeom>
        </p:spPr>
      </p:pic>
      <p:pic>
        <p:nvPicPr>
          <p:cNvPr id="194" name="ten-edge-min" descr="f_{min}"/>
          <p:cNvPicPr>
            <a:picLocks xmlns:a="http://schemas.openxmlformats.org/drawingml/2006/main" noChangeAspect="1"/>
          </p:cNvPicPr>
          <p:nvPr/>
        </p:nvPicPr>
        <p:blipFill>
          <a:blip xmlns:r="http://schemas.openxmlformats.org/officeDocument/2006/relationships" xmlns:a="http://schemas.openxmlformats.org/drawingml/2006/main" r:embed="rIdOverviewPng4">
            <a:extLst>
              <a:ext uri="{96DAC541-7B7A-43D3-8B79-37D633B846F1}">
                <ns4:svgBlip xmlns:ns4="http://schemas.microsoft.com/office/drawing/2016/SVG/main" r:embed="rIdOverviewSvg4"/>
              </a:ext>
            </a:extLst>
          </a:blip>
          <a:stretch xmlns:a="http://schemas.openxmlformats.org/drawingml/2006/main"/>
        </p:blipFill>
        <p:spPr>
          <a:xfrm xmlns:a="http://schemas.openxmlformats.org/drawingml/2006/main">
            <a:off x="1991678" y="5567023"/>
            <a:ext cx="398145" cy="181654"/>
          </a:xfrm>
          <a:prstGeom xmlns:a="http://schemas.openxmlformats.org/drawingml/2006/main" prst="rect">
            <a:avLst/>
          </a:prstGeom>
        </p:spPr>
      </p:pic>
      <p:pic>
        <p:nvPicPr>
          <p:cNvPr id="195" name="ten-edge-max" descr="f_{max}"/>
          <p:cNvPicPr>
            <a:picLocks xmlns:a="http://schemas.openxmlformats.org/drawingml/2006/main" noChangeAspect="1"/>
          </p:cNvPicPr>
          <p:nvPr/>
        </p:nvPicPr>
        <p:blipFill>
          <a:blip xmlns:r="http://schemas.openxmlformats.org/officeDocument/2006/relationships" xmlns:a="http://schemas.openxmlformats.org/drawingml/2006/main" r:embed="rIdOverviewPng5">
            <a:extLst>
              <a:ext uri="{96DAC541-7B7A-43D3-8B79-37D633B846F1}">
                <ns5:svgBlip xmlns:ns5="http://schemas.microsoft.com/office/drawing/2016/SVG/main" r:embed="rIdOverviewSvg5"/>
              </a:ext>
            </a:extLst>
          </a:blip>
          <a:stretch xmlns:a="http://schemas.openxmlformats.org/drawingml/2006/main"/>
        </p:blipFill>
        <p:spPr>
          <a:xfrm xmlns:a="http://schemas.openxmlformats.org/drawingml/2006/main">
            <a:off x="10744200" y="5570101"/>
            <a:ext cx="419100" cy="175498"/>
          </a:xfrm>
          <a:prstGeom xmlns:a="http://schemas.openxmlformats.org/drawingml/2006/main" prst="rect">
            <a:avLst/>
          </a:prstGeom>
        </p:spPr>
      </p:pic>
      <p:pic>
        <p:nvPicPr>
          <p:cNvPr id="196" name="one-spectrum" descr="S_1(f)"/>
          <p:cNvPicPr>
            <a:picLocks xmlns:a="http://schemas.openxmlformats.org/drawingml/2006/main" noChangeAspect="1"/>
          </p:cNvPicPr>
          <p:nvPr/>
        </p:nvPicPr>
        <p:blipFill>
          <a:blip xmlns:r="http://schemas.openxmlformats.org/officeDocument/2006/relationships" xmlns:a="http://schemas.openxmlformats.org/drawingml/2006/main" r:embed="rIdOverviewPng6">
            <a:extLst>
              <a:ext uri="{96DAC541-7B7A-43D3-8B79-37D633B846F1}">
                <ns6:svgBlip xmlns:ns6="http://schemas.microsoft.com/office/drawing/2016/SVG/main" r:embed="rIdOverviewSvg6"/>
              </a:ext>
            </a:extLst>
          </a:blip>
          <a:stretch xmlns:a="http://schemas.openxmlformats.org/drawingml/2006/main"/>
        </p:blipFill>
        <p:spPr>
          <a:xfrm xmlns:a="http://schemas.openxmlformats.org/drawingml/2006/main">
            <a:off x="2331244" y="1971675"/>
            <a:ext cx="595313" cy="238125"/>
          </a:xfrm>
          <a:prstGeom xmlns:a="http://schemas.openxmlformats.org/drawingml/2006/main" prst="rect">
            <a:avLst/>
          </a:prstGeom>
        </p:spPr>
      </p:pic>
      <p:pic>
        <p:nvPicPr>
          <p:cNvPr id="197" name="ten-spectrum-0" descr="S_{1}(f)"/>
          <p:cNvPicPr>
            <a:picLocks xmlns:a="http://schemas.openxmlformats.org/drawingml/2006/main" noChangeAspect="1"/>
          </p:cNvPicPr>
          <p:nvPr/>
        </p:nvPicPr>
        <p:blipFill>
          <a:blip xmlns:r="http://schemas.openxmlformats.org/officeDocument/2006/relationships" xmlns:a="http://schemas.openxmlformats.org/drawingml/2006/main" r:embed="rIdOverviewPng7">
            <a:extLst>
              <a:ext uri="{96DAC541-7B7A-43D3-8B79-37D633B846F1}">
                <ns7:svgBlip xmlns:ns7="http://schemas.microsoft.com/office/drawing/2016/SVG/main" r:embed="rIdOverviewSvg7"/>
              </a:ext>
            </a:extLst>
          </a:blip>
          <a:stretch xmlns:a="http://schemas.openxmlformats.org/drawingml/2006/main"/>
        </p:blipFill>
        <p:spPr>
          <a:xfrm xmlns:a="http://schemas.openxmlformats.org/drawingml/2006/main">
            <a:off x="2355056" y="4548188"/>
            <a:ext cx="547687" cy="219075"/>
          </a:xfrm>
          <a:prstGeom xmlns:a="http://schemas.openxmlformats.org/drawingml/2006/main" prst="rect">
            <a:avLst/>
          </a:prstGeom>
        </p:spPr>
      </p:pic>
      <p:pic>
        <p:nvPicPr>
          <p:cNvPr id="198" name="ten-spectrum-1" descr="S_{2}(f)"/>
          <p:cNvPicPr>
            <a:picLocks xmlns:a="http://schemas.openxmlformats.org/drawingml/2006/main" noChangeAspect="1"/>
          </p:cNvPicPr>
          <p:nvPr/>
        </p:nvPicPr>
        <p:blipFill>
          <a:blip xmlns:r="http://schemas.openxmlformats.org/officeDocument/2006/relationships" xmlns:a="http://schemas.openxmlformats.org/drawingml/2006/main" r:embed="rIdOverviewPng8">
            <a:extLst>
              <a:ext uri="{96DAC541-7B7A-43D3-8B79-37D633B846F1}">
                <ns8:svgBlip xmlns:ns8="http://schemas.microsoft.com/office/drawing/2016/SVG/main" r:embed="rIdOverviewSvg8"/>
              </a:ext>
            </a:extLst>
          </a:blip>
          <a:stretch xmlns:a="http://schemas.openxmlformats.org/drawingml/2006/main"/>
        </p:blipFill>
        <p:spPr>
          <a:xfrm xmlns:a="http://schemas.openxmlformats.org/drawingml/2006/main">
            <a:off x="3231356" y="4548188"/>
            <a:ext cx="547687" cy="219075"/>
          </a:xfrm>
          <a:prstGeom xmlns:a="http://schemas.openxmlformats.org/drawingml/2006/main" prst="rect">
            <a:avLst/>
          </a:prstGeom>
        </p:spPr>
      </p:pic>
      <p:pic>
        <p:nvPicPr>
          <p:cNvPr id="199" name="ten-spectrum-2" descr="S_{3}(f)"/>
          <p:cNvPicPr>
            <a:picLocks xmlns:a="http://schemas.openxmlformats.org/drawingml/2006/main" noChangeAspect="1"/>
          </p:cNvPicPr>
          <p:nvPr/>
        </p:nvPicPr>
        <p:blipFill>
          <a:blip xmlns:r="http://schemas.openxmlformats.org/officeDocument/2006/relationships" xmlns:a="http://schemas.openxmlformats.org/drawingml/2006/main" r:embed="rIdOverviewPng9">
            <a:extLst>
              <a:ext uri="{96DAC541-7B7A-43D3-8B79-37D633B846F1}">
                <ns9:svgBlip xmlns:ns9="http://schemas.microsoft.com/office/drawing/2016/SVG/main" r:embed="rIdOverviewSvg9"/>
              </a:ext>
            </a:extLst>
          </a:blip>
          <a:stretch xmlns:a="http://schemas.openxmlformats.org/drawingml/2006/main"/>
        </p:blipFill>
        <p:spPr>
          <a:xfrm xmlns:a="http://schemas.openxmlformats.org/drawingml/2006/main">
            <a:off x="4107656" y="4548188"/>
            <a:ext cx="547687" cy="219075"/>
          </a:xfrm>
          <a:prstGeom xmlns:a="http://schemas.openxmlformats.org/drawingml/2006/main" prst="rect">
            <a:avLst/>
          </a:prstGeom>
        </p:spPr>
      </p:pic>
      <p:pic>
        <p:nvPicPr>
          <p:cNvPr id="200" name="ten-spectrum-3" descr="S_{4}(f)"/>
          <p:cNvPicPr>
            <a:picLocks xmlns:a="http://schemas.openxmlformats.org/drawingml/2006/main" noChangeAspect="1"/>
          </p:cNvPicPr>
          <p:nvPr/>
        </p:nvPicPr>
        <p:blipFill>
          <a:blip xmlns:r="http://schemas.openxmlformats.org/officeDocument/2006/relationships" xmlns:a="http://schemas.openxmlformats.org/drawingml/2006/main" r:embed="rIdOverviewPng10">
            <a:extLst>
              <a:ext uri="{96DAC541-7B7A-43D3-8B79-37D633B846F1}">
                <ns10:svgBlip xmlns:ns10="http://schemas.microsoft.com/office/drawing/2016/SVG/main" r:embed="rIdOverviewSvg10"/>
              </a:ext>
            </a:extLst>
          </a:blip>
          <a:stretch xmlns:a="http://schemas.openxmlformats.org/drawingml/2006/main"/>
        </p:blipFill>
        <p:spPr>
          <a:xfrm xmlns:a="http://schemas.openxmlformats.org/drawingml/2006/main">
            <a:off x="4983956" y="4548188"/>
            <a:ext cx="547687" cy="219075"/>
          </a:xfrm>
          <a:prstGeom xmlns:a="http://schemas.openxmlformats.org/drawingml/2006/main" prst="rect">
            <a:avLst/>
          </a:prstGeom>
        </p:spPr>
      </p:pic>
      <p:pic>
        <p:nvPicPr>
          <p:cNvPr id="201" name="ten-spectrum-4" descr="S_{5}(f)"/>
          <p:cNvPicPr>
            <a:picLocks xmlns:a="http://schemas.openxmlformats.org/drawingml/2006/main" noChangeAspect="1"/>
          </p:cNvPicPr>
          <p:nvPr/>
        </p:nvPicPr>
        <p:blipFill>
          <a:blip xmlns:r="http://schemas.openxmlformats.org/officeDocument/2006/relationships" xmlns:a="http://schemas.openxmlformats.org/drawingml/2006/main" r:embed="rIdOverviewPng11">
            <a:extLst>
              <a:ext uri="{96DAC541-7B7A-43D3-8B79-37D633B846F1}">
                <ns11:svgBlip xmlns:ns11="http://schemas.microsoft.com/office/drawing/2016/SVG/main" r:embed="rIdOverviewSvg11"/>
              </a:ext>
            </a:extLst>
          </a:blip>
          <a:stretch xmlns:a="http://schemas.openxmlformats.org/drawingml/2006/main"/>
        </p:blipFill>
        <p:spPr>
          <a:xfrm xmlns:a="http://schemas.openxmlformats.org/drawingml/2006/main">
            <a:off x="5860256" y="4548188"/>
            <a:ext cx="547687" cy="219075"/>
          </a:xfrm>
          <a:prstGeom xmlns:a="http://schemas.openxmlformats.org/drawingml/2006/main" prst="rect">
            <a:avLst/>
          </a:prstGeom>
        </p:spPr>
      </p:pic>
      <p:pic>
        <p:nvPicPr>
          <p:cNvPr id="202" name="ten-spectrum-5" descr="S_{6}(f)"/>
          <p:cNvPicPr>
            <a:picLocks xmlns:a="http://schemas.openxmlformats.org/drawingml/2006/main" noChangeAspect="1"/>
          </p:cNvPicPr>
          <p:nvPr/>
        </p:nvPicPr>
        <p:blipFill>
          <a:blip xmlns:r="http://schemas.openxmlformats.org/officeDocument/2006/relationships" xmlns:a="http://schemas.openxmlformats.org/drawingml/2006/main" r:embed="rIdOverviewPng12">
            <a:extLst>
              <a:ext uri="{96DAC541-7B7A-43D3-8B79-37D633B846F1}">
                <ns12:svgBlip xmlns:ns12="http://schemas.microsoft.com/office/drawing/2016/SVG/main" r:embed="rIdOverviewSvg12"/>
              </a:ext>
            </a:extLst>
          </a:blip>
          <a:stretch xmlns:a="http://schemas.openxmlformats.org/drawingml/2006/main"/>
        </p:blipFill>
        <p:spPr>
          <a:xfrm xmlns:a="http://schemas.openxmlformats.org/drawingml/2006/main">
            <a:off x="6736556" y="4548188"/>
            <a:ext cx="547687" cy="219075"/>
          </a:xfrm>
          <a:prstGeom xmlns:a="http://schemas.openxmlformats.org/drawingml/2006/main" prst="rect">
            <a:avLst/>
          </a:prstGeom>
        </p:spPr>
      </p:pic>
      <p:pic>
        <p:nvPicPr>
          <p:cNvPr id="203" name="ten-spectrum-6" descr="S_{7}(f)"/>
          <p:cNvPicPr>
            <a:picLocks xmlns:a="http://schemas.openxmlformats.org/drawingml/2006/main" noChangeAspect="1"/>
          </p:cNvPicPr>
          <p:nvPr/>
        </p:nvPicPr>
        <p:blipFill>
          <a:blip xmlns:r="http://schemas.openxmlformats.org/officeDocument/2006/relationships" xmlns:a="http://schemas.openxmlformats.org/drawingml/2006/main" r:embed="rIdOverviewPng13">
            <a:extLst>
              <a:ext uri="{96DAC541-7B7A-43D3-8B79-37D633B846F1}">
                <ns13:svgBlip xmlns:ns13="http://schemas.microsoft.com/office/drawing/2016/SVG/main" r:embed="rIdOverviewSvg13"/>
              </a:ext>
            </a:extLst>
          </a:blip>
          <a:stretch xmlns:a="http://schemas.openxmlformats.org/drawingml/2006/main"/>
        </p:blipFill>
        <p:spPr>
          <a:xfrm xmlns:a="http://schemas.openxmlformats.org/drawingml/2006/main">
            <a:off x="7612856" y="4548188"/>
            <a:ext cx="547687" cy="219075"/>
          </a:xfrm>
          <a:prstGeom xmlns:a="http://schemas.openxmlformats.org/drawingml/2006/main" prst="rect">
            <a:avLst/>
          </a:prstGeom>
        </p:spPr>
      </p:pic>
      <p:pic>
        <p:nvPicPr>
          <p:cNvPr id="204" name="ten-spectrum-7" descr="S_{8}(f)"/>
          <p:cNvPicPr>
            <a:picLocks xmlns:a="http://schemas.openxmlformats.org/drawingml/2006/main" noChangeAspect="1"/>
          </p:cNvPicPr>
          <p:nvPr/>
        </p:nvPicPr>
        <p:blipFill>
          <a:blip xmlns:r="http://schemas.openxmlformats.org/officeDocument/2006/relationships" xmlns:a="http://schemas.openxmlformats.org/drawingml/2006/main" r:embed="rIdOverviewPng14">
            <a:extLst>
              <a:ext uri="{96DAC541-7B7A-43D3-8B79-37D633B846F1}">
                <ns14:svgBlip xmlns:ns14="http://schemas.microsoft.com/office/drawing/2016/SVG/main" r:embed="rIdOverviewSvg14"/>
              </a:ext>
            </a:extLst>
          </a:blip>
          <a:stretch xmlns:a="http://schemas.openxmlformats.org/drawingml/2006/main"/>
        </p:blipFill>
        <p:spPr>
          <a:xfrm xmlns:a="http://schemas.openxmlformats.org/drawingml/2006/main">
            <a:off x="8489156" y="4548188"/>
            <a:ext cx="547687" cy="219075"/>
          </a:xfrm>
          <a:prstGeom xmlns:a="http://schemas.openxmlformats.org/drawingml/2006/main" prst="rect">
            <a:avLst/>
          </a:prstGeom>
        </p:spPr>
      </p:pic>
      <p:pic>
        <p:nvPicPr>
          <p:cNvPr id="205" name="ten-spectrum-8" descr="S_{9}(f)"/>
          <p:cNvPicPr>
            <a:picLocks xmlns:a="http://schemas.openxmlformats.org/drawingml/2006/main" noChangeAspect="1"/>
          </p:cNvPicPr>
          <p:nvPr/>
        </p:nvPicPr>
        <p:blipFill>
          <a:blip xmlns:r="http://schemas.openxmlformats.org/officeDocument/2006/relationships" xmlns:a="http://schemas.openxmlformats.org/drawingml/2006/main" r:embed="rIdOverviewPng15">
            <a:extLst>
              <a:ext uri="{96DAC541-7B7A-43D3-8B79-37D633B846F1}">
                <ns15:svgBlip xmlns:ns15="http://schemas.microsoft.com/office/drawing/2016/SVG/main" r:embed="rIdOverviewSvg15"/>
              </a:ext>
            </a:extLst>
          </a:blip>
          <a:stretch xmlns:a="http://schemas.openxmlformats.org/drawingml/2006/main"/>
        </p:blipFill>
        <p:spPr>
          <a:xfrm xmlns:a="http://schemas.openxmlformats.org/drawingml/2006/main">
            <a:off x="9365456" y="4548188"/>
            <a:ext cx="547687" cy="219075"/>
          </a:xfrm>
          <a:prstGeom xmlns:a="http://schemas.openxmlformats.org/drawingml/2006/main" prst="rect">
            <a:avLst/>
          </a:prstGeom>
        </p:spPr>
      </p:pic>
      <p:pic>
        <p:nvPicPr>
          <p:cNvPr id="206" name="ten-spectrum-9" descr="S_{10}(f)"/>
          <p:cNvPicPr>
            <a:picLocks xmlns:a="http://schemas.openxmlformats.org/drawingml/2006/main" noChangeAspect="1"/>
          </p:cNvPicPr>
          <p:nvPr/>
        </p:nvPicPr>
        <p:blipFill>
          <a:blip xmlns:r="http://schemas.openxmlformats.org/officeDocument/2006/relationships" xmlns:a="http://schemas.openxmlformats.org/drawingml/2006/main" r:embed="rIdOverviewPng16">
            <a:extLst>
              <a:ext uri="{96DAC541-7B7A-43D3-8B79-37D633B846F1}">
                <ns16:svgBlip xmlns:ns16="http://schemas.microsoft.com/office/drawing/2016/SVG/main" r:embed="rIdOverviewSvg16"/>
              </a:ext>
            </a:extLst>
          </a:blip>
          <a:stretch xmlns:a="http://schemas.openxmlformats.org/drawingml/2006/main"/>
        </p:blipFill>
        <p:spPr>
          <a:xfrm xmlns:a="http://schemas.openxmlformats.org/drawingml/2006/main">
            <a:off x="10197941" y="4550241"/>
            <a:ext cx="635317" cy="214967"/>
          </a:xfrm>
          <a:prstGeom xmlns:a="http://schemas.openxmlformats.org/drawingml/2006/main" prst="rect">
            <a:avLst/>
          </a:prstGeom>
        </p:spPr>
      </p:pic>
    </p:spTree>
    <p:extLst>
      <p:ext uri="{BB962C8B-B14F-4D97-AF65-F5344CB8AC3E}">
        <p14:creationId xmlns:p14="http://schemas.microsoft.com/office/powerpoint/2010/main" val="162364032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0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196"/>
                                        </p:tgtEl>
                                        <p:attrNameLst>
                                          <p:attrName>style.visibility</p:attrName>
                                        </p:attrNameLst>
                                      </p:cBhvr>
                                      <p:to>
                                        <p:strVal val="visible"/>
                                      </p:to>
                                    </p:set>
                                    <p:animEffect transition="in" filter="fade">
                                      <p:cBhvr>
                                        <p:cTn id="31" dur="400"/>
                                        <p:tgtEl>
                                          <p:spTgt spid="196"/>
                                        </p:tgtEl>
                                      </p:cBhvr>
                                    </p:animEffect>
                                  </p:childTnLst>
                                </p:cTn>
                              </p:par>
                              <p:par>
                                <p:cTn id="32" presetID="10" presetClass="entr" presetSubtype="0"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200"/>
                                        <p:tgtEl>
                                          <p:spTgt spid="34"/>
                                        </p:tgtEl>
                                      </p:cBhvr>
                                    </p:animEffect>
                                    <p:animMotion origin="layout" pathEditMode="relative" path="M -0.06093750 -0.43055556 L -0.06093750 0.00000000 E">
                                      <p:cBhvr>
                                        <p:cTn id="52" dur="700" fill="hold"/>
                                        <p:tgtEl>
                                          <p:spTgt spid="34"/>
                                        </p:tgtEl>
                                        <p:attrNameLst>
                                          <p:attrName>ppt_x</p:attrName>
                                          <p:attrName>ppt_y</p:attrName>
                                        </p:attrNameLst>
                                      </p:cBhvr>
                                    </p:animMotion>
                                    <p:animScale zoomContents="1">
                                      <p:cBhvr>
                                        <p:cTn id="53" dur="700" fill="hold"/>
                                        <p:tgtEl>
                                          <p:spTgt spid="34"/>
                                        </p:tgtEl>
                                      </p:cBhvr>
                                      <p:from x="100000" y="100000"/>
                                      <p:to x="100000" y="100000"/>
                                    </p:animScale>
                                  </p:childTnLst>
                                </p:cTn>
                              </p:par>
                              <p:par>
                                <p:cTn id="54" presetID="10" presetClass="entr" presetSubtype="0" fill="hold"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200"/>
                                        <p:tgtEl>
                                          <p:spTgt spid="35"/>
                                        </p:tgtEl>
                                      </p:cBhvr>
                                    </p:animEffect>
                                    <p:animMotion origin="layout" pathEditMode="relative" path="M -0.07031250 -0.43055556 L -0.07031250 0.00000000 E">
                                      <p:cBhvr>
                                        <p:cTn id="57" dur="700" fill="hold"/>
                                        <p:tgtEl>
                                          <p:spTgt spid="35"/>
                                        </p:tgtEl>
                                        <p:attrNameLst>
                                          <p:attrName>ppt_x</p:attrName>
                                          <p:attrName>ppt_y</p:attrName>
                                        </p:attrNameLst>
                                      </p:cBhvr>
                                    </p:animMotion>
                                    <p:animScale zoomContents="1">
                                      <p:cBhvr>
                                        <p:cTn id="58" dur="700" fill="hold"/>
                                        <p:tgtEl>
                                          <p:spTgt spid="35"/>
                                        </p:tgtEl>
                                      </p:cBhvr>
                                      <p:from x="100000" y="100000"/>
                                      <p:to x="100000" y="100000"/>
                                    </p:animScale>
                                  </p:childTnLst>
                                </p:cTn>
                              </p:par>
                              <p:par>
                                <p:cTn id="59" presetID="10" presetClass="entr" presetSubtype="0" fill="hold"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200"/>
                                        <p:tgtEl>
                                          <p:spTgt spid="36"/>
                                        </p:tgtEl>
                                      </p:cBhvr>
                                    </p:animEffect>
                                    <p:animMotion origin="layout" pathEditMode="relative" path="M -0.14062500 -0.43055556 L -0.14062500 0.00000000 E">
                                      <p:cBhvr>
                                        <p:cTn id="62" dur="700" fill="hold"/>
                                        <p:tgtEl>
                                          <p:spTgt spid="36"/>
                                        </p:tgtEl>
                                        <p:attrNameLst>
                                          <p:attrName>ppt_x</p:attrName>
                                          <p:attrName>ppt_y</p:attrName>
                                        </p:attrNameLst>
                                      </p:cBhvr>
                                    </p:animMotion>
                                    <p:animScale zoomContents="1">
                                      <p:cBhvr>
                                        <p:cTn id="63" dur="700" fill="hold"/>
                                        <p:tgtEl>
                                          <p:spTgt spid="36"/>
                                        </p:tgtEl>
                                      </p:cBhvr>
                                      <p:from x="100000" y="100000"/>
                                      <p:to x="100000" y="100000"/>
                                    </p:animScale>
                                  </p:childTnLst>
                                </p:cTn>
                              </p:par>
                              <p:par>
                                <p:cTn id="64" presetID="10" presetClass="entr" presetSubtype="0" fill="hold" nodeType="with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200"/>
                                        <p:tgtEl>
                                          <p:spTgt spid="37"/>
                                        </p:tgtEl>
                                      </p:cBhvr>
                                    </p:animEffect>
                                    <p:animMotion origin="layout" pathEditMode="relative" path="M -0.15000000 -0.43055556 L -0.15000000 0.00000000 E">
                                      <p:cBhvr>
                                        <p:cTn id="67" dur="700" fill="hold"/>
                                        <p:tgtEl>
                                          <p:spTgt spid="37"/>
                                        </p:tgtEl>
                                        <p:attrNameLst>
                                          <p:attrName>ppt_x</p:attrName>
                                          <p:attrName>ppt_y</p:attrName>
                                        </p:attrNameLst>
                                      </p:cBhvr>
                                    </p:animMotion>
                                    <p:animScale zoomContents="1">
                                      <p:cBhvr>
                                        <p:cTn id="68" dur="700" fill="hold"/>
                                        <p:tgtEl>
                                          <p:spTgt spid="37"/>
                                        </p:tgtEl>
                                      </p:cBhvr>
                                      <p:from x="100000" y="100000"/>
                                      <p:to x="100000" y="100000"/>
                                    </p:animScale>
                                  </p:childTnLst>
                                </p:cTn>
                              </p:par>
                              <p:par>
                                <p:cTn id="69" presetID="10" presetClass="entr" presetSubtype="0"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200"/>
                                        <p:tgtEl>
                                          <p:spTgt spid="38"/>
                                        </p:tgtEl>
                                      </p:cBhvr>
                                    </p:animEffect>
                                    <p:animMotion origin="layout" pathEditMode="relative" path="M -0.22031250 -0.43055556 L -0.22031250 0.00000000 E">
                                      <p:cBhvr>
                                        <p:cTn id="72" dur="700" fill="hold"/>
                                        <p:tgtEl>
                                          <p:spTgt spid="38"/>
                                        </p:tgtEl>
                                        <p:attrNameLst>
                                          <p:attrName>ppt_x</p:attrName>
                                          <p:attrName>ppt_y</p:attrName>
                                        </p:attrNameLst>
                                      </p:cBhvr>
                                    </p:animMotion>
                                    <p:animScale zoomContents="1">
                                      <p:cBhvr>
                                        <p:cTn id="73" dur="700" fill="hold"/>
                                        <p:tgtEl>
                                          <p:spTgt spid="38"/>
                                        </p:tgtEl>
                                      </p:cBhvr>
                                      <p:from x="100000" y="100000"/>
                                      <p:to x="100000" y="100000"/>
                                    </p:animScale>
                                  </p:childTnLst>
                                </p:cTn>
                              </p:par>
                              <p:par>
                                <p:cTn id="74" presetID="10" presetClass="entr" presetSubtype="0" fill="hold" nodeType="with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fade">
                                      <p:cBhvr>
                                        <p:cTn id="76" dur="200"/>
                                        <p:tgtEl>
                                          <p:spTgt spid="39"/>
                                        </p:tgtEl>
                                      </p:cBhvr>
                                    </p:animEffect>
                                    <p:animMotion origin="layout" pathEditMode="relative" path="M -0.22968750 -0.43055556 L -0.22968750 0.00000000 E">
                                      <p:cBhvr>
                                        <p:cTn id="77" dur="700" fill="hold"/>
                                        <p:tgtEl>
                                          <p:spTgt spid="39"/>
                                        </p:tgtEl>
                                        <p:attrNameLst>
                                          <p:attrName>ppt_x</p:attrName>
                                          <p:attrName>ppt_y</p:attrName>
                                        </p:attrNameLst>
                                      </p:cBhvr>
                                    </p:animMotion>
                                    <p:animScale zoomContents="1">
                                      <p:cBhvr>
                                        <p:cTn id="78" dur="700" fill="hold"/>
                                        <p:tgtEl>
                                          <p:spTgt spid="39"/>
                                        </p:tgtEl>
                                      </p:cBhvr>
                                      <p:from x="100000" y="100000"/>
                                      <p:to x="100000" y="100000"/>
                                    </p:animScale>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200"/>
                                        <p:tgtEl>
                                          <p:spTgt spid="40"/>
                                        </p:tgtEl>
                                      </p:cBhvr>
                                    </p:animEffect>
                                    <p:animMotion origin="layout" pathEditMode="relative" path="M -0.30000000 -0.43055556 L -0.30000000 0.00000000 E">
                                      <p:cBhvr>
                                        <p:cTn id="82" dur="700" fill="hold"/>
                                        <p:tgtEl>
                                          <p:spTgt spid="40"/>
                                        </p:tgtEl>
                                        <p:attrNameLst>
                                          <p:attrName>ppt_x</p:attrName>
                                          <p:attrName>ppt_y</p:attrName>
                                        </p:attrNameLst>
                                      </p:cBhvr>
                                    </p:animMotion>
                                    <p:animScale zoomContents="1">
                                      <p:cBhvr>
                                        <p:cTn id="83" dur="700" fill="hold"/>
                                        <p:tgtEl>
                                          <p:spTgt spid="40"/>
                                        </p:tgtEl>
                                      </p:cBhvr>
                                      <p:from x="100000" y="100000"/>
                                      <p:to x="100000" y="100000"/>
                                    </p:animScale>
                                  </p:childTnLst>
                                </p:cTn>
                              </p:par>
                              <p:par>
                                <p:cTn id="84" presetID="10" presetClass="entr" presetSubtype="0" fill="hold"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fade">
                                      <p:cBhvr>
                                        <p:cTn id="86" dur="200"/>
                                        <p:tgtEl>
                                          <p:spTgt spid="41"/>
                                        </p:tgtEl>
                                      </p:cBhvr>
                                    </p:animEffect>
                                    <p:animMotion origin="layout" pathEditMode="relative" path="M 0.00000000 -0.37500000 L 0.00000000 0.00000000 E">
                                      <p:cBhvr>
                                        <p:cTn id="87" dur="700" fill="hold"/>
                                        <p:tgtEl>
                                          <p:spTgt spid="41"/>
                                        </p:tgtEl>
                                        <p:attrNameLst>
                                          <p:attrName>ppt_x</p:attrName>
                                          <p:attrName>ppt_y</p:attrName>
                                        </p:attrNameLst>
                                      </p:cBhvr>
                                    </p:animMotion>
                                    <p:animScale zoomContents="1">
                                      <p:cBhvr>
                                        <p:cTn id="88" dur="700" fill="hold"/>
                                        <p:tgtEl>
                                          <p:spTgt spid="41"/>
                                        </p:tgtEl>
                                      </p:cBhvr>
                                      <p:from x="100000" y="100000"/>
                                      <p:to x="100000" y="100000"/>
                                    </p:animScale>
                                  </p:childTnLst>
                                </p:cTn>
                              </p:par>
                              <p:par>
                                <p:cTn id="89" presetID="10" presetClass="entr" presetSubtype="0" fill="hold" nodeType="withEffect">
                                  <p:stCondLst>
                                    <p:cond delay="0"/>
                                  </p:stCondLst>
                                  <p:childTnLst>
                                    <p:set>
                                      <p:cBhvr>
                                        <p:cTn id="90" dur="1" fill="hold">
                                          <p:stCondLst>
                                            <p:cond delay="0"/>
                                          </p:stCondLst>
                                        </p:cTn>
                                        <p:tgtEl>
                                          <p:spTgt spid="197"/>
                                        </p:tgtEl>
                                        <p:attrNameLst>
                                          <p:attrName>style.visibility</p:attrName>
                                        </p:attrNameLst>
                                      </p:cBhvr>
                                      <p:to>
                                        <p:strVal val="visible"/>
                                      </p:to>
                                    </p:set>
                                    <p:animEffect transition="in" filter="fade">
                                      <p:cBhvr>
                                        <p:cTn id="91" dur="400"/>
                                        <p:tgtEl>
                                          <p:spTgt spid="197"/>
                                        </p:tgtEl>
                                      </p:cBhvr>
                                    </p:animEffect>
                                  </p:childTnLst>
                                </p:cTn>
                              </p:par>
                              <p:par>
                                <p:cTn id="92" presetID="10" presetClass="entr" presetSubtype="0" fill="hold"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400"/>
                                        <p:tgtEl>
                                          <p:spTgt spid="42"/>
                                        </p:tgtEl>
                                      </p:cBhvr>
                                    </p:animEffect>
                                  </p:childTnLst>
                                </p:cTn>
                              </p:par>
                              <p:par>
                                <p:cTn id="95" presetID="10"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400"/>
                                        <p:tgtEl>
                                          <p:spTgt spid="43"/>
                                        </p:tgtEl>
                                      </p:cBhvr>
                                    </p:animEffect>
                                  </p:childTnLst>
                                </p:cTn>
                              </p:par>
                              <p:par>
                                <p:cTn id="98" presetID="10" presetClass="entr" presetSubtype="0" fill="hold"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400"/>
                                        <p:tgtEl>
                                          <p:spTgt spid="44"/>
                                        </p:tgtEl>
                                      </p:cBhvr>
                                    </p:animEffect>
                                  </p:childTnLst>
                                </p:cTn>
                              </p:par>
                              <p:par>
                                <p:cTn id="101" presetID="10" presetClass="entr" presetSubtype="0" fill="hold" nodeType="withEffect">
                                  <p:stCondLst>
                                    <p:cond delay="6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3" dur="200"/>
                                        <p:tgtEl>
                                          <p:spTgt spid="45"/>
                                        </p:tgtEl>
                                      </p:cBhvr>
                                    </p:animEffect>
                                    <p:animMotion origin="layout" pathEditMode="relative" path="M -0.07187500 -0.37500000 L 0.00000000 0.00000000 E">
                                      <p:cBhvr>
                                        <p:cTn id="104" dur="700" fill="hold"/>
                                        <p:tgtEl>
                                          <p:spTgt spid="45"/>
                                        </p:tgtEl>
                                        <p:attrNameLst>
                                          <p:attrName>ppt_x</p:attrName>
                                          <p:attrName>ppt_y</p:attrName>
                                        </p:attrNameLst>
                                      </p:cBhvr>
                                    </p:animMotion>
                                    <p:animScale zoomContents="1">
                                      <p:cBhvr>
                                        <p:cTn id="105" dur="700" fill="hold"/>
                                        <p:tgtEl>
                                          <p:spTgt spid="45"/>
                                        </p:tgtEl>
                                      </p:cBhvr>
                                      <p:from x="100000" y="100000"/>
                                      <p:to x="100000" y="100000"/>
                                    </p:animScale>
                                  </p:childTnLst>
                                </p:cTn>
                              </p:par>
                              <p:par>
                                <p:cTn id="106" presetID="10" presetClass="entr" presetSubtype="0" fill="hold" nodeType="withEffect">
                                  <p:stCondLst>
                                    <p:cond delay="0"/>
                                  </p:stCondLst>
                                  <p:childTnLst>
                                    <p:set>
                                      <p:cBhvr>
                                        <p:cTn id="107" dur="1" fill="hold">
                                          <p:stCondLst>
                                            <p:cond delay="0"/>
                                          </p:stCondLst>
                                        </p:cTn>
                                        <p:tgtEl>
                                          <p:spTgt spid="198"/>
                                        </p:tgtEl>
                                        <p:attrNameLst>
                                          <p:attrName>style.visibility</p:attrName>
                                        </p:attrNameLst>
                                      </p:cBhvr>
                                      <p:to>
                                        <p:strVal val="visible"/>
                                      </p:to>
                                    </p:set>
                                    <p:animEffect transition="in" filter="fade">
                                      <p:cBhvr>
                                        <p:cTn id="108" dur="400"/>
                                        <p:tgtEl>
                                          <p:spTgt spid="198"/>
                                        </p:tgtEl>
                                      </p:cBhvr>
                                    </p:animEffect>
                                  </p:childTnLst>
                                </p:cTn>
                              </p:par>
                              <p:par>
                                <p:cTn id="109" presetID="10" presetClass="entr" presetSubtype="0" fill="hold" nodeType="withEffect">
                                  <p:stCondLst>
                                    <p:cond delay="0"/>
                                  </p:stCondLst>
                                  <p:childTnLst>
                                    <p:set>
                                      <p:cBhvr>
                                        <p:cTn id="110" dur="1" fill="hold">
                                          <p:stCondLst>
                                            <p:cond delay="0"/>
                                          </p:stCondLst>
                                        </p:cTn>
                                        <p:tgtEl>
                                          <p:spTgt spid="46"/>
                                        </p:tgtEl>
                                        <p:attrNameLst>
                                          <p:attrName>style.visibility</p:attrName>
                                        </p:attrNameLst>
                                      </p:cBhvr>
                                      <p:to>
                                        <p:strVal val="visible"/>
                                      </p:to>
                                    </p:set>
                                    <p:animEffect transition="in" filter="fade">
                                      <p:cBhvr>
                                        <p:cTn id="111" dur="400"/>
                                        <p:tgtEl>
                                          <p:spTgt spid="46"/>
                                        </p:tgtEl>
                                      </p:cBhvr>
                                    </p:animEffect>
                                  </p:childTnLst>
                                </p:cTn>
                              </p:par>
                              <p:par>
                                <p:cTn id="112" presetID="10" presetClass="entr" presetSubtype="0" fill="hold" nodeType="withEffect">
                                  <p:stCondLst>
                                    <p:cond delay="0"/>
                                  </p:stCondLst>
                                  <p:childTnLst>
                                    <p:set>
                                      <p:cBhvr>
                                        <p:cTn id="113" dur="1" fill="hold">
                                          <p:stCondLst>
                                            <p:cond delay="0"/>
                                          </p:stCondLst>
                                        </p:cTn>
                                        <p:tgtEl>
                                          <p:spTgt spid="47"/>
                                        </p:tgtEl>
                                        <p:attrNameLst>
                                          <p:attrName>style.visibility</p:attrName>
                                        </p:attrNameLst>
                                      </p:cBhvr>
                                      <p:to>
                                        <p:strVal val="visible"/>
                                      </p:to>
                                    </p:set>
                                    <p:animEffect transition="in" filter="fade">
                                      <p:cBhvr>
                                        <p:cTn id="114" dur="400"/>
                                        <p:tgtEl>
                                          <p:spTgt spid="47"/>
                                        </p:tgtEl>
                                      </p:cBhvr>
                                    </p:animEffect>
                                  </p:childTnLst>
                                </p:cTn>
                              </p:par>
                              <p:par>
                                <p:cTn id="115" presetID="10" presetClass="entr" presetSubtype="0" fill="hold" nodeType="with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7" dur="400"/>
                                        <p:tgtEl>
                                          <p:spTgt spid="48"/>
                                        </p:tgtEl>
                                      </p:cBhvr>
                                    </p:animEffect>
                                  </p:childTnLst>
                                </p:cTn>
                              </p:par>
                              <p:par>
                                <p:cTn id="118" presetID="10" presetClass="entr" presetSubtype="0" fill="hold" nodeType="withEffect">
                                  <p:stCondLst>
                                    <p:cond delay="12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20" dur="200"/>
                                        <p:tgtEl>
                                          <p:spTgt spid="49"/>
                                        </p:tgtEl>
                                      </p:cBhvr>
                                    </p:animEffect>
                                    <p:animMotion origin="layout" pathEditMode="relative" path="M -0.14375000 -0.37500000 L 0.00000000 0.00000000 E">
                                      <p:cBhvr>
                                        <p:cTn id="121" dur="700" fill="hold"/>
                                        <p:tgtEl>
                                          <p:spTgt spid="49"/>
                                        </p:tgtEl>
                                        <p:attrNameLst>
                                          <p:attrName>ppt_x</p:attrName>
                                          <p:attrName>ppt_y</p:attrName>
                                        </p:attrNameLst>
                                      </p:cBhvr>
                                    </p:animMotion>
                                    <p:animScale zoomContents="1">
                                      <p:cBhvr>
                                        <p:cTn id="122" dur="700" fill="hold"/>
                                        <p:tgtEl>
                                          <p:spTgt spid="49"/>
                                        </p:tgtEl>
                                      </p:cBhvr>
                                      <p:from x="100000" y="100000"/>
                                      <p:to x="100000" y="100000"/>
                                    </p:animScale>
                                  </p:childTnLst>
                                </p:cTn>
                              </p:par>
                              <p:par>
                                <p:cTn id="123" presetID="10" presetClass="entr" presetSubtype="0" fill="hold" nodeType="withEffect">
                                  <p:stCondLst>
                                    <p:cond delay="0"/>
                                  </p:stCondLst>
                                  <p:childTnLst>
                                    <p:set>
                                      <p:cBhvr>
                                        <p:cTn id="124" dur="1" fill="hold">
                                          <p:stCondLst>
                                            <p:cond delay="0"/>
                                          </p:stCondLst>
                                        </p:cTn>
                                        <p:tgtEl>
                                          <p:spTgt spid="199"/>
                                        </p:tgtEl>
                                        <p:attrNameLst>
                                          <p:attrName>style.visibility</p:attrName>
                                        </p:attrNameLst>
                                      </p:cBhvr>
                                      <p:to>
                                        <p:strVal val="visible"/>
                                      </p:to>
                                    </p:set>
                                    <p:animEffect transition="in" filter="fade">
                                      <p:cBhvr>
                                        <p:cTn id="125" dur="400"/>
                                        <p:tgtEl>
                                          <p:spTgt spid="199"/>
                                        </p:tgtEl>
                                      </p:cBhvr>
                                    </p:animEffect>
                                  </p:childTnLst>
                                </p:cTn>
                              </p:par>
                              <p:par>
                                <p:cTn id="126" presetID="10" presetClass="entr" presetSubtype="0" fill="hold"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nodeType="withEffect">
                                  <p:stCondLst>
                                    <p:cond delay="18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200"/>
                                        <p:tgtEl>
                                          <p:spTgt spid="53"/>
                                        </p:tgtEl>
                                      </p:cBhvr>
                                    </p:animEffect>
                                    <p:animMotion origin="layout" pathEditMode="relative" path="M -0.21562500 -0.37500000 L 0.00000000 0.00000000 E">
                                      <p:cBhvr>
                                        <p:cTn id="138" dur="700" fill="hold"/>
                                        <p:tgtEl>
                                          <p:spTgt spid="53"/>
                                        </p:tgtEl>
                                        <p:attrNameLst>
                                          <p:attrName>ppt_x</p:attrName>
                                          <p:attrName>ppt_y</p:attrName>
                                        </p:attrNameLst>
                                      </p:cBhvr>
                                    </p:animMotion>
                                    <p:animScale zoomContents="1">
                                      <p:cBhvr>
                                        <p:cTn id="139" dur="700" fill="hold"/>
                                        <p:tgtEl>
                                          <p:spTgt spid="53"/>
                                        </p:tgtEl>
                                      </p:cBhvr>
                                      <p:from x="100000" y="100000"/>
                                      <p:to x="100000" y="100000"/>
                                    </p:animScale>
                                  </p:childTnLst>
                                </p:cTn>
                              </p:par>
                              <p:par>
                                <p:cTn id="140" presetID="10" presetClass="entr" presetSubtype="0" fill="hold" nodeType="withEffect">
                                  <p:stCondLst>
                                    <p:cond delay="0"/>
                                  </p:stCondLst>
                                  <p:childTnLst>
                                    <p:set>
                                      <p:cBhvr>
                                        <p:cTn id="141" dur="1" fill="hold">
                                          <p:stCondLst>
                                            <p:cond delay="0"/>
                                          </p:stCondLst>
                                        </p:cTn>
                                        <p:tgtEl>
                                          <p:spTgt spid="200"/>
                                        </p:tgtEl>
                                        <p:attrNameLst>
                                          <p:attrName>style.visibility</p:attrName>
                                        </p:attrNameLst>
                                      </p:cBhvr>
                                      <p:to>
                                        <p:strVal val="visible"/>
                                      </p:to>
                                    </p:set>
                                    <p:animEffect transition="in" filter="fade">
                                      <p:cBhvr>
                                        <p:cTn id="142" dur="400"/>
                                        <p:tgtEl>
                                          <p:spTgt spid="200"/>
                                        </p:tgtEl>
                                      </p:cBhvr>
                                    </p:animEffect>
                                  </p:childTnLst>
                                </p:cTn>
                              </p:par>
                              <p:par>
                                <p:cTn id="143" presetID="10" presetClass="entr" presetSubtype="0" fill="hold"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400"/>
                                        <p:tgtEl>
                                          <p:spTgt spid="54"/>
                                        </p:tgtEl>
                                      </p:cBhvr>
                                    </p:animEffect>
                                  </p:childTnLst>
                                </p:cTn>
                              </p:par>
                              <p:par>
                                <p:cTn id="146" presetID="10" presetClass="entr" presetSubtype="0" fill="hold"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400"/>
                                        <p:tgtEl>
                                          <p:spTgt spid="55"/>
                                        </p:tgtEl>
                                      </p:cBhvr>
                                    </p:animEffect>
                                  </p:childTnLst>
                                </p:cTn>
                              </p:par>
                              <p:par>
                                <p:cTn id="149" presetID="10" presetClass="entr" presetSubtype="0" fill="hold" nodeType="with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400"/>
                                        <p:tgtEl>
                                          <p:spTgt spid="56"/>
                                        </p:tgtEl>
                                      </p:cBhvr>
                                    </p:animEffect>
                                  </p:childTnLst>
                                </p:cTn>
                              </p:par>
                              <p:par>
                                <p:cTn id="152" presetID="10" presetClass="entr" presetSubtype="0" fill="hold" nodeType="withEffect">
                                  <p:stCondLst>
                                    <p:cond delay="240"/>
                                  </p:stCondLst>
                                  <p:childTnLst>
                                    <p:set>
                                      <p:cBhvr>
                                        <p:cTn id="153" dur="1" fill="hold">
                                          <p:stCondLst>
                                            <p:cond delay="0"/>
                                          </p:stCondLst>
                                        </p:cTn>
                                        <p:tgtEl>
                                          <p:spTgt spid="57"/>
                                        </p:tgtEl>
                                        <p:attrNameLst>
                                          <p:attrName>style.visibility</p:attrName>
                                        </p:attrNameLst>
                                      </p:cBhvr>
                                      <p:to>
                                        <p:strVal val="visible"/>
                                      </p:to>
                                    </p:set>
                                    <p:animEffect transition="in" filter="fade">
                                      <p:cBhvr>
                                        <p:cTn id="154" dur="200"/>
                                        <p:tgtEl>
                                          <p:spTgt spid="57"/>
                                        </p:tgtEl>
                                      </p:cBhvr>
                                    </p:animEffect>
                                    <p:animMotion origin="layout" pathEditMode="relative" path="M -0.28750000 -0.37500000 L 0.00000000 0.00000000 E">
                                      <p:cBhvr>
                                        <p:cTn id="155" dur="700" fill="hold"/>
                                        <p:tgtEl>
                                          <p:spTgt spid="57"/>
                                        </p:tgtEl>
                                        <p:attrNameLst>
                                          <p:attrName>ppt_x</p:attrName>
                                          <p:attrName>ppt_y</p:attrName>
                                        </p:attrNameLst>
                                      </p:cBhvr>
                                    </p:animMotion>
                                    <p:animScale zoomContents="1">
                                      <p:cBhvr>
                                        <p:cTn id="156" dur="700" fill="hold"/>
                                        <p:tgtEl>
                                          <p:spTgt spid="57"/>
                                        </p:tgtEl>
                                      </p:cBhvr>
                                      <p:from x="100000" y="100000"/>
                                      <p:to x="100000" y="100000"/>
                                    </p:animScale>
                                  </p:childTnLst>
                                </p:cTn>
                              </p:par>
                              <p:par>
                                <p:cTn id="157" presetID="10" presetClass="entr" presetSubtype="0" fill="hold" nodeType="withEffect">
                                  <p:stCondLst>
                                    <p:cond delay="0"/>
                                  </p:stCondLst>
                                  <p:childTnLst>
                                    <p:set>
                                      <p:cBhvr>
                                        <p:cTn id="158" dur="1" fill="hold">
                                          <p:stCondLst>
                                            <p:cond delay="0"/>
                                          </p:stCondLst>
                                        </p:cTn>
                                        <p:tgtEl>
                                          <p:spTgt spid="201"/>
                                        </p:tgtEl>
                                        <p:attrNameLst>
                                          <p:attrName>style.visibility</p:attrName>
                                        </p:attrNameLst>
                                      </p:cBhvr>
                                      <p:to>
                                        <p:strVal val="visible"/>
                                      </p:to>
                                    </p:set>
                                    <p:animEffect transition="in" filter="fade">
                                      <p:cBhvr>
                                        <p:cTn id="159" dur="400"/>
                                        <p:tgtEl>
                                          <p:spTgt spid="201"/>
                                        </p:tgtEl>
                                      </p:cBhvr>
                                    </p:animEffect>
                                  </p:childTnLst>
                                </p:cTn>
                              </p:par>
                              <p:par>
                                <p:cTn id="160" presetID="10" presetClass="entr" presetSubtype="0" fill="hold" nodeType="withEffect">
                                  <p:stCondLst>
                                    <p:cond delay="0"/>
                                  </p:stCondLst>
                                  <p:childTnLst>
                                    <p:set>
                                      <p:cBhvr>
                                        <p:cTn id="161" dur="1" fill="hold">
                                          <p:stCondLst>
                                            <p:cond delay="0"/>
                                          </p:stCondLst>
                                        </p:cTn>
                                        <p:tgtEl>
                                          <p:spTgt spid="58"/>
                                        </p:tgtEl>
                                        <p:attrNameLst>
                                          <p:attrName>style.visibility</p:attrName>
                                        </p:attrNameLst>
                                      </p:cBhvr>
                                      <p:to>
                                        <p:strVal val="visible"/>
                                      </p:to>
                                    </p:set>
                                    <p:animEffect transition="in" filter="fade">
                                      <p:cBhvr>
                                        <p:cTn id="162" dur="400"/>
                                        <p:tgtEl>
                                          <p:spTgt spid="58"/>
                                        </p:tgtEl>
                                      </p:cBhvr>
                                    </p:animEffect>
                                  </p:childTnLst>
                                </p:cTn>
                              </p:par>
                              <p:par>
                                <p:cTn id="163" presetID="10" presetClass="entr" presetSubtype="0" fill="hold" nodeType="withEffect">
                                  <p:stCondLst>
                                    <p:cond delay="0"/>
                                  </p:stCondLst>
                                  <p:childTnLst>
                                    <p:set>
                                      <p:cBhvr>
                                        <p:cTn id="164" dur="1" fill="hold">
                                          <p:stCondLst>
                                            <p:cond delay="0"/>
                                          </p:stCondLst>
                                        </p:cTn>
                                        <p:tgtEl>
                                          <p:spTgt spid="59"/>
                                        </p:tgtEl>
                                        <p:attrNameLst>
                                          <p:attrName>style.visibility</p:attrName>
                                        </p:attrNameLst>
                                      </p:cBhvr>
                                      <p:to>
                                        <p:strVal val="visible"/>
                                      </p:to>
                                    </p:set>
                                    <p:animEffect transition="in" filter="fade">
                                      <p:cBhvr>
                                        <p:cTn id="165" dur="400"/>
                                        <p:tgtEl>
                                          <p:spTgt spid="59"/>
                                        </p:tgtEl>
                                      </p:cBhvr>
                                    </p:animEffect>
                                  </p:childTnLst>
                                </p:cTn>
                              </p:par>
                              <p:par>
                                <p:cTn id="166" presetID="10" presetClass="entr" presetSubtype="0" fill="hold" nodeType="withEffect">
                                  <p:stCondLst>
                                    <p:cond delay="0"/>
                                  </p:stCondLst>
                                  <p:childTnLst>
                                    <p:set>
                                      <p:cBhvr>
                                        <p:cTn id="167" dur="1" fill="hold">
                                          <p:stCondLst>
                                            <p:cond delay="0"/>
                                          </p:stCondLst>
                                        </p:cTn>
                                        <p:tgtEl>
                                          <p:spTgt spid="60"/>
                                        </p:tgtEl>
                                        <p:attrNameLst>
                                          <p:attrName>style.visibility</p:attrName>
                                        </p:attrNameLst>
                                      </p:cBhvr>
                                      <p:to>
                                        <p:strVal val="visible"/>
                                      </p:to>
                                    </p:set>
                                    <p:animEffect transition="in" filter="fade">
                                      <p:cBhvr>
                                        <p:cTn id="168" dur="400"/>
                                        <p:tgtEl>
                                          <p:spTgt spid="60"/>
                                        </p:tgtEl>
                                      </p:cBhvr>
                                    </p:animEffect>
                                  </p:childTnLst>
                                </p:cTn>
                              </p:par>
                              <p:par>
                                <p:cTn id="169" presetID="10" presetClass="entr" presetSubtype="0" fill="hold" nodeType="withEffect">
                                  <p:stCondLst>
                                    <p:cond delay="300"/>
                                  </p:stCondLst>
                                  <p:childTnLst>
                                    <p:set>
                                      <p:cBhvr>
                                        <p:cTn id="170" dur="1" fill="hold">
                                          <p:stCondLst>
                                            <p:cond delay="0"/>
                                          </p:stCondLst>
                                        </p:cTn>
                                        <p:tgtEl>
                                          <p:spTgt spid="61"/>
                                        </p:tgtEl>
                                        <p:attrNameLst>
                                          <p:attrName>style.visibility</p:attrName>
                                        </p:attrNameLst>
                                      </p:cBhvr>
                                      <p:to>
                                        <p:strVal val="visible"/>
                                      </p:to>
                                    </p:set>
                                    <p:animEffect transition="in" filter="fade">
                                      <p:cBhvr>
                                        <p:cTn id="171" dur="200"/>
                                        <p:tgtEl>
                                          <p:spTgt spid="61"/>
                                        </p:tgtEl>
                                      </p:cBhvr>
                                    </p:animEffect>
                                    <p:animMotion origin="layout" pathEditMode="relative" path="M -0.35937500 -0.37500000 L 0.00000000 0.00000000 E">
                                      <p:cBhvr>
                                        <p:cTn id="172" dur="700" fill="hold"/>
                                        <p:tgtEl>
                                          <p:spTgt spid="61"/>
                                        </p:tgtEl>
                                        <p:attrNameLst>
                                          <p:attrName>ppt_x</p:attrName>
                                          <p:attrName>ppt_y</p:attrName>
                                        </p:attrNameLst>
                                      </p:cBhvr>
                                    </p:animMotion>
                                    <p:animScale zoomContents="1">
                                      <p:cBhvr>
                                        <p:cTn id="173" dur="700" fill="hold"/>
                                        <p:tgtEl>
                                          <p:spTgt spid="61"/>
                                        </p:tgtEl>
                                      </p:cBhvr>
                                      <p:from x="100000" y="100000"/>
                                      <p:to x="100000" y="100000"/>
                                    </p:animScale>
                                  </p:childTnLst>
                                </p:cTn>
                              </p:par>
                              <p:par>
                                <p:cTn id="174" presetID="10" presetClass="entr" presetSubtype="0" fill="hold" nodeType="withEffect">
                                  <p:stCondLst>
                                    <p:cond delay="0"/>
                                  </p:stCondLst>
                                  <p:childTnLst>
                                    <p:set>
                                      <p:cBhvr>
                                        <p:cTn id="175" dur="1" fill="hold">
                                          <p:stCondLst>
                                            <p:cond delay="0"/>
                                          </p:stCondLst>
                                        </p:cTn>
                                        <p:tgtEl>
                                          <p:spTgt spid="202"/>
                                        </p:tgtEl>
                                        <p:attrNameLst>
                                          <p:attrName>style.visibility</p:attrName>
                                        </p:attrNameLst>
                                      </p:cBhvr>
                                      <p:to>
                                        <p:strVal val="visible"/>
                                      </p:to>
                                    </p:set>
                                    <p:animEffect transition="in" filter="fade">
                                      <p:cBhvr>
                                        <p:cTn id="176" dur="400"/>
                                        <p:tgtEl>
                                          <p:spTgt spid="202"/>
                                        </p:tgtEl>
                                      </p:cBhvr>
                                    </p:animEffect>
                                  </p:childTnLst>
                                </p:cTn>
                              </p:par>
                              <p:par>
                                <p:cTn id="177" presetID="10" presetClass="entr" presetSubtype="0" fill="hold" nodeType="with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00"/>
                                        <p:tgtEl>
                                          <p:spTgt spid="62"/>
                                        </p:tgtEl>
                                      </p:cBhvr>
                                    </p:animEffect>
                                  </p:childTnLst>
                                </p:cTn>
                              </p:par>
                              <p:par>
                                <p:cTn id="180" presetID="10" presetClass="entr" presetSubtype="0" fill="hold"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00"/>
                                        <p:tgtEl>
                                          <p:spTgt spid="63"/>
                                        </p:tgtEl>
                                      </p:cBhvr>
                                    </p:animEffect>
                                  </p:childTnLst>
                                </p:cTn>
                              </p:par>
                              <p:par>
                                <p:cTn id="183" presetID="10" presetClass="entr" presetSubtype="0" fill="hold"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00"/>
                                        <p:tgtEl>
                                          <p:spTgt spid="64"/>
                                        </p:tgtEl>
                                      </p:cBhvr>
                                    </p:animEffect>
                                  </p:childTnLst>
                                </p:cTn>
                              </p:par>
                              <p:par>
                                <p:cTn id="186" presetID="10" presetClass="entr" presetSubtype="0" fill="hold" nodeType="withEffect">
                                  <p:stCondLst>
                                    <p:cond delay="360"/>
                                  </p:stCondLst>
                                  <p:childTnLst>
                                    <p:set>
                                      <p:cBhvr>
                                        <p:cTn id="187" dur="1" fill="hold">
                                          <p:stCondLst>
                                            <p:cond delay="0"/>
                                          </p:stCondLst>
                                        </p:cTn>
                                        <p:tgtEl>
                                          <p:spTgt spid="65"/>
                                        </p:tgtEl>
                                        <p:attrNameLst>
                                          <p:attrName>style.visibility</p:attrName>
                                        </p:attrNameLst>
                                      </p:cBhvr>
                                      <p:to>
                                        <p:strVal val="visible"/>
                                      </p:to>
                                    </p:set>
                                    <p:animEffect transition="in" filter="fade">
                                      <p:cBhvr>
                                        <p:cTn id="188" dur="200"/>
                                        <p:tgtEl>
                                          <p:spTgt spid="65"/>
                                        </p:tgtEl>
                                      </p:cBhvr>
                                    </p:animEffect>
                                    <p:animMotion origin="layout" pathEditMode="relative" path="M -0.43125000 -0.37500000 L 0.00000000 0.00000000 E">
                                      <p:cBhvr>
                                        <p:cTn id="189" dur="700" fill="hold"/>
                                        <p:tgtEl>
                                          <p:spTgt spid="65"/>
                                        </p:tgtEl>
                                        <p:attrNameLst>
                                          <p:attrName>ppt_x</p:attrName>
                                          <p:attrName>ppt_y</p:attrName>
                                        </p:attrNameLst>
                                      </p:cBhvr>
                                    </p:animMotion>
                                    <p:animScale zoomContents="1">
                                      <p:cBhvr>
                                        <p:cTn id="190" dur="700" fill="hold"/>
                                        <p:tgtEl>
                                          <p:spTgt spid="65"/>
                                        </p:tgtEl>
                                      </p:cBhvr>
                                      <p:from x="100000" y="100000"/>
                                      <p:to x="100000" y="100000"/>
                                    </p:animScale>
                                  </p:childTnLst>
                                </p:cTn>
                              </p:par>
                              <p:par>
                                <p:cTn id="191" presetID="10" presetClass="entr" presetSubtype="0" fill="hold" nodeType="withEffect">
                                  <p:stCondLst>
                                    <p:cond delay="0"/>
                                  </p:stCondLst>
                                  <p:childTnLst>
                                    <p:set>
                                      <p:cBhvr>
                                        <p:cTn id="192" dur="1" fill="hold">
                                          <p:stCondLst>
                                            <p:cond delay="0"/>
                                          </p:stCondLst>
                                        </p:cTn>
                                        <p:tgtEl>
                                          <p:spTgt spid="203"/>
                                        </p:tgtEl>
                                        <p:attrNameLst>
                                          <p:attrName>style.visibility</p:attrName>
                                        </p:attrNameLst>
                                      </p:cBhvr>
                                      <p:to>
                                        <p:strVal val="visible"/>
                                      </p:to>
                                    </p:set>
                                    <p:animEffect transition="in" filter="fade">
                                      <p:cBhvr>
                                        <p:cTn id="193" dur="400"/>
                                        <p:tgtEl>
                                          <p:spTgt spid="203"/>
                                        </p:tgtEl>
                                      </p:cBhvr>
                                    </p:animEffect>
                                  </p:childTnLst>
                                </p:cTn>
                              </p:par>
                              <p:par>
                                <p:cTn id="194" presetID="10" presetClass="entr" presetSubtype="0" fill="hold" nodeType="withEffect">
                                  <p:stCondLst>
                                    <p:cond delay="0"/>
                                  </p:stCondLst>
                                  <p:childTnLst>
                                    <p:set>
                                      <p:cBhvr>
                                        <p:cTn id="195" dur="1" fill="hold">
                                          <p:stCondLst>
                                            <p:cond delay="0"/>
                                          </p:stCondLst>
                                        </p:cTn>
                                        <p:tgtEl>
                                          <p:spTgt spid="66"/>
                                        </p:tgtEl>
                                        <p:attrNameLst>
                                          <p:attrName>style.visibility</p:attrName>
                                        </p:attrNameLst>
                                      </p:cBhvr>
                                      <p:to>
                                        <p:strVal val="visible"/>
                                      </p:to>
                                    </p:set>
                                    <p:animEffect transition="in" filter="fade">
                                      <p:cBhvr>
                                        <p:cTn id="196" dur="400"/>
                                        <p:tgtEl>
                                          <p:spTgt spid="66"/>
                                        </p:tgtEl>
                                      </p:cBhvr>
                                    </p:animEffect>
                                  </p:childTnLst>
                                </p:cTn>
                              </p:par>
                              <p:par>
                                <p:cTn id="197" presetID="10" presetClass="entr" presetSubtype="0" fill="hold" nodeType="withEffect">
                                  <p:stCondLst>
                                    <p:cond delay="0"/>
                                  </p:stCondLst>
                                  <p:childTnLst>
                                    <p:set>
                                      <p:cBhvr>
                                        <p:cTn id="198" dur="1" fill="hold">
                                          <p:stCondLst>
                                            <p:cond delay="0"/>
                                          </p:stCondLst>
                                        </p:cTn>
                                        <p:tgtEl>
                                          <p:spTgt spid="67"/>
                                        </p:tgtEl>
                                        <p:attrNameLst>
                                          <p:attrName>style.visibility</p:attrName>
                                        </p:attrNameLst>
                                      </p:cBhvr>
                                      <p:to>
                                        <p:strVal val="visible"/>
                                      </p:to>
                                    </p:set>
                                    <p:animEffect transition="in" filter="fade">
                                      <p:cBhvr>
                                        <p:cTn id="199" dur="400"/>
                                        <p:tgtEl>
                                          <p:spTgt spid="67"/>
                                        </p:tgtEl>
                                      </p:cBhvr>
                                    </p:animEffect>
                                  </p:childTnLst>
                                </p:cTn>
                              </p:par>
                              <p:par>
                                <p:cTn id="200" presetID="10" presetClass="entr" presetSubtype="0" fill="hold" nodeType="withEffect">
                                  <p:stCondLst>
                                    <p:cond delay="0"/>
                                  </p:stCondLst>
                                  <p:childTnLst>
                                    <p:set>
                                      <p:cBhvr>
                                        <p:cTn id="201" dur="1" fill="hold">
                                          <p:stCondLst>
                                            <p:cond delay="0"/>
                                          </p:stCondLst>
                                        </p:cTn>
                                        <p:tgtEl>
                                          <p:spTgt spid="68"/>
                                        </p:tgtEl>
                                        <p:attrNameLst>
                                          <p:attrName>style.visibility</p:attrName>
                                        </p:attrNameLst>
                                      </p:cBhvr>
                                      <p:to>
                                        <p:strVal val="visible"/>
                                      </p:to>
                                    </p:set>
                                    <p:animEffect transition="in" filter="fade">
                                      <p:cBhvr>
                                        <p:cTn id="202" dur="400"/>
                                        <p:tgtEl>
                                          <p:spTgt spid="68"/>
                                        </p:tgtEl>
                                      </p:cBhvr>
                                    </p:animEffect>
                                  </p:childTnLst>
                                </p:cTn>
                              </p:par>
                              <p:par>
                                <p:cTn id="203" presetID="10" presetClass="entr" presetSubtype="0" fill="hold" nodeType="withEffect">
                                  <p:stCondLst>
                                    <p:cond delay="420"/>
                                  </p:stCondLst>
                                  <p:childTnLst>
                                    <p:set>
                                      <p:cBhvr>
                                        <p:cTn id="204" dur="1" fill="hold">
                                          <p:stCondLst>
                                            <p:cond delay="0"/>
                                          </p:stCondLst>
                                        </p:cTn>
                                        <p:tgtEl>
                                          <p:spTgt spid="69"/>
                                        </p:tgtEl>
                                        <p:attrNameLst>
                                          <p:attrName>style.visibility</p:attrName>
                                        </p:attrNameLst>
                                      </p:cBhvr>
                                      <p:to>
                                        <p:strVal val="visible"/>
                                      </p:to>
                                    </p:set>
                                    <p:animEffect transition="in" filter="fade">
                                      <p:cBhvr>
                                        <p:cTn id="205" dur="200"/>
                                        <p:tgtEl>
                                          <p:spTgt spid="69"/>
                                        </p:tgtEl>
                                      </p:cBhvr>
                                    </p:animEffect>
                                    <p:animMotion origin="layout" pathEditMode="relative" path="M -0.50312500 -0.37500000 L 0.00000000 0.00000000 E">
                                      <p:cBhvr>
                                        <p:cTn id="206" dur="700" fill="hold"/>
                                        <p:tgtEl>
                                          <p:spTgt spid="69"/>
                                        </p:tgtEl>
                                        <p:attrNameLst>
                                          <p:attrName>ppt_x</p:attrName>
                                          <p:attrName>ppt_y</p:attrName>
                                        </p:attrNameLst>
                                      </p:cBhvr>
                                    </p:animMotion>
                                    <p:animScale zoomContents="1">
                                      <p:cBhvr>
                                        <p:cTn id="207" dur="700" fill="hold"/>
                                        <p:tgtEl>
                                          <p:spTgt spid="69"/>
                                        </p:tgtEl>
                                      </p:cBhvr>
                                      <p:from x="100000" y="100000"/>
                                      <p:to x="100000" y="100000"/>
                                    </p:animScale>
                                  </p:childTnLst>
                                </p:cTn>
                              </p:par>
                              <p:par>
                                <p:cTn id="208" presetID="10" presetClass="entr" presetSubtype="0" fill="hold" nodeType="withEffect">
                                  <p:stCondLst>
                                    <p:cond delay="0"/>
                                  </p:stCondLst>
                                  <p:childTnLst>
                                    <p:set>
                                      <p:cBhvr>
                                        <p:cTn id="209" dur="1" fill="hold">
                                          <p:stCondLst>
                                            <p:cond delay="0"/>
                                          </p:stCondLst>
                                        </p:cTn>
                                        <p:tgtEl>
                                          <p:spTgt spid="204"/>
                                        </p:tgtEl>
                                        <p:attrNameLst>
                                          <p:attrName>style.visibility</p:attrName>
                                        </p:attrNameLst>
                                      </p:cBhvr>
                                      <p:to>
                                        <p:strVal val="visible"/>
                                      </p:to>
                                    </p:set>
                                    <p:animEffect transition="in" filter="fade">
                                      <p:cBhvr>
                                        <p:cTn id="210" dur="400"/>
                                        <p:tgtEl>
                                          <p:spTgt spid="204"/>
                                        </p:tgtEl>
                                      </p:cBhvr>
                                    </p:animEffect>
                                  </p:childTnLst>
                                </p:cTn>
                              </p:par>
                              <p:par>
                                <p:cTn id="211" presetID="10" presetClass="entr" presetSubtype="0" fill="hold" nodeType="withEffect">
                                  <p:stCondLst>
                                    <p:cond delay="0"/>
                                  </p:stCondLst>
                                  <p:childTnLst>
                                    <p:set>
                                      <p:cBhvr>
                                        <p:cTn id="212" dur="1" fill="hold">
                                          <p:stCondLst>
                                            <p:cond delay="0"/>
                                          </p:stCondLst>
                                        </p:cTn>
                                        <p:tgtEl>
                                          <p:spTgt spid="70"/>
                                        </p:tgtEl>
                                        <p:attrNameLst>
                                          <p:attrName>style.visibility</p:attrName>
                                        </p:attrNameLst>
                                      </p:cBhvr>
                                      <p:to>
                                        <p:strVal val="visible"/>
                                      </p:to>
                                    </p:set>
                                    <p:animEffect transition="in" filter="fade">
                                      <p:cBhvr>
                                        <p:cTn id="213" dur="400"/>
                                        <p:tgtEl>
                                          <p:spTgt spid="70"/>
                                        </p:tgtEl>
                                      </p:cBhvr>
                                    </p:animEffect>
                                  </p:childTnLst>
                                </p:cTn>
                              </p:par>
                              <p:par>
                                <p:cTn id="214" presetID="10" presetClass="entr" presetSubtype="0" fill="hold" nodeType="withEffect">
                                  <p:stCondLst>
                                    <p:cond delay="0"/>
                                  </p:stCondLst>
                                  <p:childTnLst>
                                    <p:set>
                                      <p:cBhvr>
                                        <p:cTn id="215" dur="1" fill="hold">
                                          <p:stCondLst>
                                            <p:cond delay="0"/>
                                          </p:stCondLst>
                                        </p:cTn>
                                        <p:tgtEl>
                                          <p:spTgt spid="71"/>
                                        </p:tgtEl>
                                        <p:attrNameLst>
                                          <p:attrName>style.visibility</p:attrName>
                                        </p:attrNameLst>
                                      </p:cBhvr>
                                      <p:to>
                                        <p:strVal val="visible"/>
                                      </p:to>
                                    </p:set>
                                    <p:animEffect transition="in" filter="fade">
                                      <p:cBhvr>
                                        <p:cTn id="216" dur="400"/>
                                        <p:tgtEl>
                                          <p:spTgt spid="71"/>
                                        </p:tgtEl>
                                      </p:cBhvr>
                                    </p:animEffect>
                                  </p:childTnLst>
                                </p:cTn>
                              </p:par>
                              <p:par>
                                <p:cTn id="217" presetID="10" presetClass="entr" presetSubtype="0" fill="hold" nodeType="withEffect">
                                  <p:stCondLst>
                                    <p:cond delay="0"/>
                                  </p:stCondLst>
                                  <p:childTnLst>
                                    <p:set>
                                      <p:cBhvr>
                                        <p:cTn id="218" dur="1" fill="hold">
                                          <p:stCondLst>
                                            <p:cond delay="0"/>
                                          </p:stCondLst>
                                        </p:cTn>
                                        <p:tgtEl>
                                          <p:spTgt spid="72"/>
                                        </p:tgtEl>
                                        <p:attrNameLst>
                                          <p:attrName>style.visibility</p:attrName>
                                        </p:attrNameLst>
                                      </p:cBhvr>
                                      <p:to>
                                        <p:strVal val="visible"/>
                                      </p:to>
                                    </p:set>
                                    <p:animEffect transition="in" filter="fade">
                                      <p:cBhvr>
                                        <p:cTn id="219" dur="400"/>
                                        <p:tgtEl>
                                          <p:spTgt spid="72"/>
                                        </p:tgtEl>
                                      </p:cBhvr>
                                    </p:animEffect>
                                  </p:childTnLst>
                                </p:cTn>
                              </p:par>
                              <p:par>
                                <p:cTn id="220" presetID="10" presetClass="entr" presetSubtype="0" fill="hold" nodeType="withEffect">
                                  <p:stCondLst>
                                    <p:cond delay="480"/>
                                  </p:stCondLst>
                                  <p:childTnLst>
                                    <p:set>
                                      <p:cBhvr>
                                        <p:cTn id="221" dur="1" fill="hold">
                                          <p:stCondLst>
                                            <p:cond delay="0"/>
                                          </p:stCondLst>
                                        </p:cTn>
                                        <p:tgtEl>
                                          <p:spTgt spid="73"/>
                                        </p:tgtEl>
                                        <p:attrNameLst>
                                          <p:attrName>style.visibility</p:attrName>
                                        </p:attrNameLst>
                                      </p:cBhvr>
                                      <p:to>
                                        <p:strVal val="visible"/>
                                      </p:to>
                                    </p:set>
                                    <p:animEffect transition="in" filter="fade">
                                      <p:cBhvr>
                                        <p:cTn id="222" dur="200"/>
                                        <p:tgtEl>
                                          <p:spTgt spid="73"/>
                                        </p:tgtEl>
                                      </p:cBhvr>
                                    </p:animEffect>
                                    <p:animMotion origin="layout" pathEditMode="relative" path="M -0.57500000 -0.37500000 L 0.00000000 0.00000000 E">
                                      <p:cBhvr>
                                        <p:cTn id="223" dur="700" fill="hold"/>
                                        <p:tgtEl>
                                          <p:spTgt spid="73"/>
                                        </p:tgtEl>
                                        <p:attrNameLst>
                                          <p:attrName>ppt_x</p:attrName>
                                          <p:attrName>ppt_y</p:attrName>
                                        </p:attrNameLst>
                                      </p:cBhvr>
                                    </p:animMotion>
                                    <p:animScale zoomContents="1">
                                      <p:cBhvr>
                                        <p:cTn id="224" dur="700" fill="hold"/>
                                        <p:tgtEl>
                                          <p:spTgt spid="73"/>
                                        </p:tgtEl>
                                      </p:cBhvr>
                                      <p:from x="100000" y="100000"/>
                                      <p:to x="100000" y="100000"/>
                                    </p:animScale>
                                  </p:childTnLst>
                                </p:cTn>
                              </p:par>
                              <p:par>
                                <p:cTn id="225" presetID="10" presetClass="entr" presetSubtype="0" fill="hold" nodeType="withEffect">
                                  <p:stCondLst>
                                    <p:cond delay="0"/>
                                  </p:stCondLst>
                                  <p:childTnLst>
                                    <p:set>
                                      <p:cBhvr>
                                        <p:cTn id="226" dur="1" fill="hold">
                                          <p:stCondLst>
                                            <p:cond delay="0"/>
                                          </p:stCondLst>
                                        </p:cTn>
                                        <p:tgtEl>
                                          <p:spTgt spid="205"/>
                                        </p:tgtEl>
                                        <p:attrNameLst>
                                          <p:attrName>style.visibility</p:attrName>
                                        </p:attrNameLst>
                                      </p:cBhvr>
                                      <p:to>
                                        <p:strVal val="visible"/>
                                      </p:to>
                                    </p:set>
                                    <p:animEffect transition="in" filter="fade">
                                      <p:cBhvr>
                                        <p:cTn id="227" dur="400"/>
                                        <p:tgtEl>
                                          <p:spTgt spid="205"/>
                                        </p:tgtEl>
                                      </p:cBhvr>
                                    </p:animEffect>
                                  </p:childTnLst>
                                </p:cTn>
                              </p:par>
                              <p:par>
                                <p:cTn id="228" presetID="10" presetClass="entr" presetSubtype="0" fill="hold" nodeType="withEffect">
                                  <p:stCondLst>
                                    <p:cond delay="0"/>
                                  </p:stCondLst>
                                  <p:childTnLst>
                                    <p:set>
                                      <p:cBhvr>
                                        <p:cTn id="229" dur="1" fill="hold">
                                          <p:stCondLst>
                                            <p:cond delay="0"/>
                                          </p:stCondLst>
                                        </p:cTn>
                                        <p:tgtEl>
                                          <p:spTgt spid="74"/>
                                        </p:tgtEl>
                                        <p:attrNameLst>
                                          <p:attrName>style.visibility</p:attrName>
                                        </p:attrNameLst>
                                      </p:cBhvr>
                                      <p:to>
                                        <p:strVal val="visible"/>
                                      </p:to>
                                    </p:set>
                                    <p:animEffect transition="in" filter="fade">
                                      <p:cBhvr>
                                        <p:cTn id="230" dur="400"/>
                                        <p:tgtEl>
                                          <p:spTgt spid="74"/>
                                        </p:tgtEl>
                                      </p:cBhvr>
                                    </p:animEffect>
                                  </p:childTnLst>
                                </p:cTn>
                              </p:par>
                              <p:par>
                                <p:cTn id="231" presetID="10" presetClass="entr" presetSubtype="0" fill="hold" nodeType="withEffect">
                                  <p:stCondLst>
                                    <p:cond delay="0"/>
                                  </p:stCondLst>
                                  <p:childTnLst>
                                    <p:set>
                                      <p:cBhvr>
                                        <p:cTn id="232" dur="1" fill="hold">
                                          <p:stCondLst>
                                            <p:cond delay="0"/>
                                          </p:stCondLst>
                                        </p:cTn>
                                        <p:tgtEl>
                                          <p:spTgt spid="75"/>
                                        </p:tgtEl>
                                        <p:attrNameLst>
                                          <p:attrName>style.visibility</p:attrName>
                                        </p:attrNameLst>
                                      </p:cBhvr>
                                      <p:to>
                                        <p:strVal val="visible"/>
                                      </p:to>
                                    </p:set>
                                    <p:animEffect transition="in" filter="fade">
                                      <p:cBhvr>
                                        <p:cTn id="233" dur="400"/>
                                        <p:tgtEl>
                                          <p:spTgt spid="75"/>
                                        </p:tgtEl>
                                      </p:cBhvr>
                                    </p:animEffect>
                                  </p:childTnLst>
                                </p:cTn>
                              </p:par>
                              <p:par>
                                <p:cTn id="234" presetID="10" presetClass="entr" presetSubtype="0" fill="hold" nodeType="withEffect">
                                  <p:stCondLst>
                                    <p:cond delay="0"/>
                                  </p:stCondLst>
                                  <p:childTnLst>
                                    <p:set>
                                      <p:cBhvr>
                                        <p:cTn id="235" dur="1" fill="hold">
                                          <p:stCondLst>
                                            <p:cond delay="0"/>
                                          </p:stCondLst>
                                        </p:cTn>
                                        <p:tgtEl>
                                          <p:spTgt spid="76"/>
                                        </p:tgtEl>
                                        <p:attrNameLst>
                                          <p:attrName>style.visibility</p:attrName>
                                        </p:attrNameLst>
                                      </p:cBhvr>
                                      <p:to>
                                        <p:strVal val="visible"/>
                                      </p:to>
                                    </p:set>
                                    <p:animEffect transition="in" filter="fade">
                                      <p:cBhvr>
                                        <p:cTn id="236" dur="400"/>
                                        <p:tgtEl>
                                          <p:spTgt spid="76"/>
                                        </p:tgtEl>
                                      </p:cBhvr>
                                    </p:animEffect>
                                  </p:childTnLst>
                                </p:cTn>
                              </p:par>
                              <p:par>
                                <p:cTn id="237" presetID="10" presetClass="entr" presetSubtype="0" fill="hold" nodeType="withEffect">
                                  <p:stCondLst>
                                    <p:cond delay="540"/>
                                  </p:stCondLst>
                                  <p:childTnLst>
                                    <p:set>
                                      <p:cBhvr>
                                        <p:cTn id="238" dur="1" fill="hold">
                                          <p:stCondLst>
                                            <p:cond delay="0"/>
                                          </p:stCondLst>
                                        </p:cTn>
                                        <p:tgtEl>
                                          <p:spTgt spid="77"/>
                                        </p:tgtEl>
                                        <p:attrNameLst>
                                          <p:attrName>style.visibility</p:attrName>
                                        </p:attrNameLst>
                                      </p:cBhvr>
                                      <p:to>
                                        <p:strVal val="visible"/>
                                      </p:to>
                                    </p:set>
                                    <p:animEffect transition="in" filter="fade">
                                      <p:cBhvr>
                                        <p:cTn id="239" dur="200"/>
                                        <p:tgtEl>
                                          <p:spTgt spid="77"/>
                                        </p:tgtEl>
                                      </p:cBhvr>
                                    </p:animEffect>
                                    <p:animMotion origin="layout" pathEditMode="relative" path="M -0.64687500 -0.37500000 L 0.00000000 0.00000000 E">
                                      <p:cBhvr>
                                        <p:cTn id="240" dur="700" fill="hold"/>
                                        <p:tgtEl>
                                          <p:spTgt spid="77"/>
                                        </p:tgtEl>
                                        <p:attrNameLst>
                                          <p:attrName>ppt_x</p:attrName>
                                          <p:attrName>ppt_y</p:attrName>
                                        </p:attrNameLst>
                                      </p:cBhvr>
                                    </p:animMotion>
                                    <p:animScale zoomContents="1">
                                      <p:cBhvr>
                                        <p:cTn id="241" dur="700" fill="hold"/>
                                        <p:tgtEl>
                                          <p:spTgt spid="77"/>
                                        </p:tgtEl>
                                      </p:cBhvr>
                                      <p:from x="100000" y="100000"/>
                                      <p:to x="100000" y="100000"/>
                                    </p:animScale>
                                  </p:childTnLst>
                                </p:cTn>
                              </p:par>
                              <p:par>
                                <p:cTn id="242" presetID="10" presetClass="entr" presetSubtype="0" fill="hold" nodeType="withEffect">
                                  <p:stCondLst>
                                    <p:cond delay="0"/>
                                  </p:stCondLst>
                                  <p:childTnLst>
                                    <p:set>
                                      <p:cBhvr>
                                        <p:cTn id="243" dur="1" fill="hold">
                                          <p:stCondLst>
                                            <p:cond delay="0"/>
                                          </p:stCondLst>
                                        </p:cTn>
                                        <p:tgtEl>
                                          <p:spTgt spid="206"/>
                                        </p:tgtEl>
                                        <p:attrNameLst>
                                          <p:attrName>style.visibility</p:attrName>
                                        </p:attrNameLst>
                                      </p:cBhvr>
                                      <p:to>
                                        <p:strVal val="visible"/>
                                      </p:to>
                                    </p:set>
                                    <p:animEffect transition="in" filter="fade">
                                      <p:cBhvr>
                                        <p:cTn id="244" dur="400"/>
                                        <p:tgtEl>
                                          <p:spTgt spid="206"/>
                                        </p:tgtEl>
                                      </p:cBhvr>
                                    </p:animEffect>
                                  </p:childTnLst>
                                </p:cTn>
                              </p:par>
                              <p:par>
                                <p:cTn id="245" presetID="10" presetClass="entr" presetSubtype="0" fill="hold" nodeType="withEffect">
                                  <p:stCondLst>
                                    <p:cond delay="0"/>
                                  </p:stCondLst>
                                  <p:childTnLst>
                                    <p:set>
                                      <p:cBhvr>
                                        <p:cTn id="246" dur="1" fill="hold">
                                          <p:stCondLst>
                                            <p:cond delay="0"/>
                                          </p:stCondLst>
                                        </p:cTn>
                                        <p:tgtEl>
                                          <p:spTgt spid="78"/>
                                        </p:tgtEl>
                                        <p:attrNameLst>
                                          <p:attrName>style.visibility</p:attrName>
                                        </p:attrNameLst>
                                      </p:cBhvr>
                                      <p:to>
                                        <p:strVal val="visible"/>
                                      </p:to>
                                    </p:set>
                                    <p:animEffect transition="in" filter="fade">
                                      <p:cBhvr>
                                        <p:cTn id="247" dur="400"/>
                                        <p:tgtEl>
                                          <p:spTgt spid="78"/>
                                        </p:tgtEl>
                                      </p:cBhvr>
                                    </p:animEffect>
                                  </p:childTnLst>
                                </p:cTn>
                              </p:par>
                              <p:par>
                                <p:cTn id="248" presetID="10" presetClass="entr" presetSubtype="0" fill="hold" nodeType="withEffect">
                                  <p:stCondLst>
                                    <p:cond delay="0"/>
                                  </p:stCondLst>
                                  <p:childTnLst>
                                    <p:set>
                                      <p:cBhvr>
                                        <p:cTn id="249" dur="1" fill="hold">
                                          <p:stCondLst>
                                            <p:cond delay="0"/>
                                          </p:stCondLst>
                                        </p:cTn>
                                        <p:tgtEl>
                                          <p:spTgt spid="79"/>
                                        </p:tgtEl>
                                        <p:attrNameLst>
                                          <p:attrName>style.visibility</p:attrName>
                                        </p:attrNameLst>
                                      </p:cBhvr>
                                      <p:to>
                                        <p:strVal val="visible"/>
                                      </p:to>
                                    </p:set>
                                    <p:animEffect transition="in" filter="fade">
                                      <p:cBhvr>
                                        <p:cTn id="250" dur="400"/>
                                        <p:tgtEl>
                                          <p:spTgt spid="79"/>
                                        </p:tgtEl>
                                      </p:cBhvr>
                                    </p:animEffect>
                                  </p:childTnLst>
                                </p:cTn>
                              </p:par>
                              <p:par>
                                <p:cTn id="251" presetID="10" presetClass="entr" presetSubtype="0" fill="hold" nodeType="withEffect">
                                  <p:stCondLst>
                                    <p:cond delay="0"/>
                                  </p:stCondLst>
                                  <p:childTnLst>
                                    <p:set>
                                      <p:cBhvr>
                                        <p:cTn id="252" dur="1" fill="hold">
                                          <p:stCondLst>
                                            <p:cond delay="0"/>
                                          </p:stCondLst>
                                        </p:cTn>
                                        <p:tgtEl>
                                          <p:spTgt spid="80"/>
                                        </p:tgtEl>
                                        <p:attrNameLst>
                                          <p:attrName>style.visibility</p:attrName>
                                        </p:attrNameLst>
                                      </p:cBhvr>
                                      <p:to>
                                        <p:strVal val="visible"/>
                                      </p:to>
                                    </p:set>
                                    <p:animEffect transition="in" filter="fade">
                                      <p:cBhvr>
                                        <p:cTn id="253" dur="400"/>
                                        <p:tgtEl>
                                          <p:spTgt spid="80"/>
                                        </p:tgtEl>
                                      </p:cBhvr>
                                    </p:animEffect>
                                  </p:childTnLst>
                                </p:cTn>
                              </p:par>
                            </p:childTnLst>
                          </p:cTn>
                        </p:par>
                      </p:childTnLst>
                    </p:cTn>
                  </p:par>
                  <p:par>
                    <p:cTn id="254" fill="hold">
                      <p:stCondLst>
                        <p:cond delay="indefinite"/>
                      </p:stCondLst>
                      <p:childTnLst>
                        <p:par>
                          <p:cTn id="255" fill="hold">
                            <p:stCondLst>
                              <p:cond delay="0"/>
                            </p:stCondLst>
                            <p:childTnLst>
                              <p:par>
                                <p:cTn id="256" presetID="0" presetClass="path" presetSubtype="0" fill="hold" nodeType="clickEffect">
                                  <p:stCondLst>
                                    <p:cond delay="0"/>
                                  </p:stCondLst>
                                  <p:childTnLst>
                                    <p:animMotion origin="layout" pathEditMode="relative" path="M -0.06093750 0.00000000 L 0.00000000 0.00000000 E">
                                      <p:cBhvr>
                                        <p:cTn id="257" dur="700" fill="hold"/>
                                        <p:tgtEl>
                                          <p:spTgt spid="34"/>
                                        </p:tgtEl>
                                        <p:attrNameLst>
                                          <p:attrName>ppt_x</p:attrName>
                                          <p:attrName>ppt_y</p:attrName>
                                        </p:attrNameLst>
                                      </p:cBhvr>
                                    </p:animMotion>
                                  </p:childTnLst>
                                </p:cTn>
                              </p:par>
                              <p:par>
                                <p:cTn id="258" presetID="0" presetClass="path" presetSubtype="0" fill="hold" nodeType="withEffect">
                                  <p:stCondLst>
                                    <p:cond delay="0"/>
                                  </p:stCondLst>
                                  <p:childTnLst>
                                    <p:animMotion origin="layout" pathEditMode="relative" path="M -0.07031250 0.00000000 L 0.00000000 0.00000000 E">
                                      <p:cBhvr>
                                        <p:cTn id="259" dur="700" fill="hold"/>
                                        <p:tgtEl>
                                          <p:spTgt spid="35"/>
                                        </p:tgtEl>
                                        <p:attrNameLst>
                                          <p:attrName>ppt_x</p:attrName>
                                          <p:attrName>ppt_y</p:attrName>
                                        </p:attrNameLst>
                                      </p:cBhvr>
                                    </p:animMotion>
                                  </p:childTnLst>
                                </p:cTn>
                              </p:par>
                              <p:par>
                                <p:cTn id="260" presetID="0" presetClass="path" presetSubtype="0" fill="hold" nodeType="withEffect">
                                  <p:stCondLst>
                                    <p:cond delay="0"/>
                                  </p:stCondLst>
                                  <p:childTnLst>
                                    <p:animMotion origin="layout" pathEditMode="relative" path="M -0.14062500 0.00000000 L 0.00000000 0.00000000 E">
                                      <p:cBhvr>
                                        <p:cTn id="261" dur="700" fill="hold"/>
                                        <p:tgtEl>
                                          <p:spTgt spid="36"/>
                                        </p:tgtEl>
                                        <p:attrNameLst>
                                          <p:attrName>ppt_x</p:attrName>
                                          <p:attrName>ppt_y</p:attrName>
                                        </p:attrNameLst>
                                      </p:cBhvr>
                                    </p:animMotion>
                                  </p:childTnLst>
                                </p:cTn>
                              </p:par>
                              <p:par>
                                <p:cTn id="262" presetID="0" presetClass="path" presetSubtype="0" fill="hold" nodeType="withEffect">
                                  <p:stCondLst>
                                    <p:cond delay="0"/>
                                  </p:stCondLst>
                                  <p:childTnLst>
                                    <p:animMotion origin="layout" pathEditMode="relative" path="M -0.15000000 0.00000000 L 0.00000000 0.00000000 E">
                                      <p:cBhvr>
                                        <p:cTn id="263" dur="700" fill="hold"/>
                                        <p:tgtEl>
                                          <p:spTgt spid="37"/>
                                        </p:tgtEl>
                                        <p:attrNameLst>
                                          <p:attrName>ppt_x</p:attrName>
                                          <p:attrName>ppt_y</p:attrName>
                                        </p:attrNameLst>
                                      </p:cBhvr>
                                    </p:animMotion>
                                  </p:childTnLst>
                                </p:cTn>
                              </p:par>
                              <p:par>
                                <p:cTn id="264" presetID="0" presetClass="path" presetSubtype="0" fill="hold" nodeType="withEffect">
                                  <p:stCondLst>
                                    <p:cond delay="0"/>
                                  </p:stCondLst>
                                  <p:childTnLst>
                                    <p:animMotion origin="layout" pathEditMode="relative" path="M -0.22031250 0.00000000 L 0.00000000 0.00000000 E">
                                      <p:cBhvr>
                                        <p:cTn id="265" dur="700" fill="hold"/>
                                        <p:tgtEl>
                                          <p:spTgt spid="38"/>
                                        </p:tgtEl>
                                        <p:attrNameLst>
                                          <p:attrName>ppt_x</p:attrName>
                                          <p:attrName>ppt_y</p:attrName>
                                        </p:attrNameLst>
                                      </p:cBhvr>
                                    </p:animMotion>
                                  </p:childTnLst>
                                </p:cTn>
                              </p:par>
                              <p:par>
                                <p:cTn id="266" presetID="0" presetClass="path" presetSubtype="0" fill="hold" nodeType="withEffect">
                                  <p:stCondLst>
                                    <p:cond delay="0"/>
                                  </p:stCondLst>
                                  <p:childTnLst>
                                    <p:animMotion origin="layout" pathEditMode="relative" path="M -0.22968750 0.00000000 L 0.00000000 0.00000000 E">
                                      <p:cBhvr>
                                        <p:cTn id="267" dur="700" fill="hold"/>
                                        <p:tgtEl>
                                          <p:spTgt spid="39"/>
                                        </p:tgtEl>
                                        <p:attrNameLst>
                                          <p:attrName>ppt_x</p:attrName>
                                          <p:attrName>ppt_y</p:attrName>
                                        </p:attrNameLst>
                                      </p:cBhvr>
                                    </p:animMotion>
                                  </p:childTnLst>
                                </p:cTn>
                              </p:par>
                              <p:par>
                                <p:cTn id="268" presetID="0" presetClass="path" presetSubtype="0" fill="hold" nodeType="withEffect">
                                  <p:stCondLst>
                                    <p:cond delay="0"/>
                                  </p:stCondLst>
                                  <p:childTnLst>
                                    <p:animMotion origin="layout" pathEditMode="relative" path="M -0.30000000 0.00000000 L 0.00000000 0.00000000 E">
                                      <p:cBhvr>
                                        <p:cTn id="269" dur="700" fill="hold"/>
                                        <p:tgtEl>
                                          <p:spTgt spid="40"/>
                                        </p:tgtEl>
                                        <p:attrNameLst>
                                          <p:attrName>ppt_x</p:attrName>
                                          <p:attrName>ppt_y</p:attrName>
                                        </p:attrNameLst>
                                      </p:cBhvr>
                                    </p:animMotion>
                                  </p:childTnLst>
                                </p:cTn>
                              </p:par>
                              <p:par>
                                <p:cTn id="270" presetID="10" presetClass="entr" presetSubtype="0" fill="hold" nodeType="withEffect">
                                  <p:stCondLst>
                                    <p:cond delay="720"/>
                                  </p:stCondLst>
                                  <p:childTnLst>
                                    <p:set>
                                      <p:cBhvr>
                                        <p:cTn id="271" dur="1" fill="hold">
                                          <p:stCondLst>
                                            <p:cond delay="0"/>
                                          </p:stCondLst>
                                        </p:cTn>
                                        <p:tgtEl>
                                          <p:spTgt spid="81"/>
                                        </p:tgtEl>
                                        <p:attrNameLst>
                                          <p:attrName>style.visibility</p:attrName>
                                        </p:attrNameLst>
                                      </p:cBhvr>
                                      <p:to>
                                        <p:strVal val="visible"/>
                                      </p:to>
                                    </p:set>
                                    <p:animEffect transition="in" filter="fade">
                                      <p:cBhvr>
                                        <p:cTn id="272" dur="400"/>
                                        <p:tgtEl>
                                          <p:spTgt spid="81"/>
                                        </p:tgtEl>
                                      </p:cBhvr>
                                    </p:animEffect>
                                  </p:childTnLst>
                                </p:cTn>
                              </p:par>
                              <p:par>
                                <p:cTn id="273" presetID="10" presetClass="entr" presetSubtype="0" fill="hold" nodeType="withEffect">
                                  <p:stCondLst>
                                    <p:cond delay="720"/>
                                  </p:stCondLst>
                                  <p:childTnLst>
                                    <p:set>
                                      <p:cBhvr>
                                        <p:cTn id="274" dur="1" fill="hold">
                                          <p:stCondLst>
                                            <p:cond delay="0"/>
                                          </p:stCondLst>
                                        </p:cTn>
                                        <p:tgtEl>
                                          <p:spTgt spid="82"/>
                                        </p:tgtEl>
                                        <p:attrNameLst>
                                          <p:attrName>style.visibility</p:attrName>
                                        </p:attrNameLst>
                                      </p:cBhvr>
                                      <p:to>
                                        <p:strVal val="visible"/>
                                      </p:to>
                                    </p:set>
                                    <p:animEffect transition="in" filter="fade">
                                      <p:cBhvr>
                                        <p:cTn id="275" dur="400"/>
                                        <p:tgtEl>
                                          <p:spTgt spid="82"/>
                                        </p:tgtEl>
                                      </p:cBhvr>
                                    </p:animEffect>
                                  </p:childTnLst>
                                </p:cTn>
                              </p:par>
                              <p:par>
                                <p:cTn id="276" presetID="10" presetClass="entr" presetSubtype="0" fill="hold" nodeType="withEffect">
                                  <p:stCondLst>
                                    <p:cond delay="720"/>
                                  </p:stCondLst>
                                  <p:childTnLst>
                                    <p:set>
                                      <p:cBhvr>
                                        <p:cTn id="277" dur="1" fill="hold">
                                          <p:stCondLst>
                                            <p:cond delay="0"/>
                                          </p:stCondLst>
                                        </p:cTn>
                                        <p:tgtEl>
                                          <p:spTgt spid="83"/>
                                        </p:tgtEl>
                                        <p:attrNameLst>
                                          <p:attrName>style.visibility</p:attrName>
                                        </p:attrNameLst>
                                      </p:cBhvr>
                                      <p:to>
                                        <p:strVal val="visible"/>
                                      </p:to>
                                    </p:set>
                                    <p:animEffect transition="in" filter="fade">
                                      <p:cBhvr>
                                        <p:cTn id="278" dur="400"/>
                                        <p:tgtEl>
                                          <p:spTgt spid="83"/>
                                        </p:tgtEl>
                                      </p:cBhvr>
                                    </p:animEffect>
                                  </p:childTnLst>
                                </p:cTn>
                              </p:par>
                              <p:par>
                                <p:cTn id="279" presetID="10" presetClass="entr" presetSubtype="0" fill="hold" nodeType="withEffect">
                                  <p:stCondLst>
                                    <p:cond delay="720"/>
                                  </p:stCondLst>
                                  <p:childTnLst>
                                    <p:set>
                                      <p:cBhvr>
                                        <p:cTn id="280" dur="1" fill="hold">
                                          <p:stCondLst>
                                            <p:cond delay="0"/>
                                          </p:stCondLst>
                                        </p:cTn>
                                        <p:tgtEl>
                                          <p:spTgt spid="84"/>
                                        </p:tgtEl>
                                        <p:attrNameLst>
                                          <p:attrName>style.visibility</p:attrName>
                                        </p:attrNameLst>
                                      </p:cBhvr>
                                      <p:to>
                                        <p:strVal val="visible"/>
                                      </p:to>
                                    </p:set>
                                    <p:animEffect transition="in" filter="fade">
                                      <p:cBhvr>
                                        <p:cTn id="281" dur="400"/>
                                        <p:tgtEl>
                                          <p:spTgt spid="84"/>
                                        </p:tgtEl>
                                      </p:cBhvr>
                                    </p:animEffect>
                                  </p:childTnLst>
                                </p:cTn>
                              </p:par>
                            </p:childTnLst>
                          </p:cTn>
                        </p:par>
                      </p:childTnLst>
                    </p:cTn>
                  </p:par>
                  <p:par>
                    <p:cTn id="282" fill="hold">
                      <p:stCondLst>
                        <p:cond delay="indefinite"/>
                      </p:stCondLst>
                      <p:childTnLst>
                        <p:par>
                          <p:cTn id="283" fill="hold">
                            <p:stCondLst>
                              <p:cond delay="0"/>
                            </p:stCondLst>
                            <p:childTnLst>
                              <p:par>
                                <p:cTn id="284" presetID="10" presetClass="entr" presetSubtype="0" fill="hold" nodeType="clickEffect">
                                  <p:stCondLst>
                                    <p:cond delay="0"/>
                                  </p:stCondLst>
                                  <p:childTnLst>
                                    <p:set>
                                      <p:cBhvr>
                                        <p:cTn id="285" dur="1" fill="hold">
                                          <p:stCondLst>
                                            <p:cond delay="0"/>
                                          </p:stCondLst>
                                        </p:cTn>
                                        <p:tgtEl>
                                          <p:spTgt spid="85"/>
                                        </p:tgtEl>
                                        <p:attrNameLst>
                                          <p:attrName>style.visibility</p:attrName>
                                        </p:attrNameLst>
                                      </p:cBhvr>
                                      <p:to>
                                        <p:strVal val="visible"/>
                                      </p:to>
                                    </p:set>
                                    <p:animEffect transition="in" filter="fade">
                                      <p:cBhvr>
                                        <p:cTn id="286" dur="400"/>
                                        <p:tgtEl>
                                          <p:spTgt spid="85"/>
                                        </p:tgtEl>
                                      </p:cBhvr>
                                    </p:animEffect>
                                  </p:childTnLst>
                                </p:cTn>
                              </p:par>
                              <p:par>
                                <p:cTn id="287" presetID="10" presetClass="entr" presetSubtype="0" fill="hold" nodeType="withEffect">
                                  <p:stCondLst>
                                    <p:cond delay="0"/>
                                  </p:stCondLst>
                                  <p:childTnLst>
                                    <p:set>
                                      <p:cBhvr>
                                        <p:cTn id="288" dur="1" fill="hold">
                                          <p:stCondLst>
                                            <p:cond delay="0"/>
                                          </p:stCondLst>
                                        </p:cTn>
                                        <p:tgtEl>
                                          <p:spTgt spid="86"/>
                                        </p:tgtEl>
                                        <p:attrNameLst>
                                          <p:attrName>style.visibility</p:attrName>
                                        </p:attrNameLst>
                                      </p:cBhvr>
                                      <p:to>
                                        <p:strVal val="visible"/>
                                      </p:to>
                                    </p:set>
                                    <p:animEffect transition="in" filter="fade">
                                      <p:cBhvr>
                                        <p:cTn id="289" dur="4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32" grpId="0" animBg="1"/>
      <p:bldP spid="33" grpId="0" animBg="1"/>
      <p:bldP spid="34" grpId="0" animBg="1"/>
      <p:bldP spid="35" grpId="0" animBg="1"/>
      <p:bldP spid="36" grpId="0" animBg="1"/>
      <p:bldP spid="37" grpId="0" animBg="1"/>
      <p:bldP spid="38" grpId="0" animBg="1"/>
      <p:bldP spid="39" grpId="0" animBg="1"/>
      <p:bldP spid="40" grpId="0" animBg="1"/>
      <p:bldP spid="81" grpId="0" animBg="1"/>
      <p:bldP spid="82" grpId="0" animBg="1"/>
      <p:bldP spid="83" grpId="0" animBg="1"/>
      <p:bldP spid="84" grpId="0" animBg="1"/>
      <p:bldP spid="85" grpId="0" animBg="1"/>
    </p:bldLst>
  </p:timing>
</p:sld>
</file>

<file path=ppt/slides/fdm_open_question.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ns0:hlinkClick xmlns:ns0="http://schemas.openxmlformats.org/drawingml/2006/main" xmlns:ns1="http://schemas.openxmlformats.org/officeDocument/2006/relationships" ns1:id="rIdOverviewLink0" action="ppaction://hlinksldjump"/>
            <a:extLst xmlns:a="http://schemas.openxmlformats.org/drawingml/2006/main">
              <a:ext uri="{FF2B5EF4-FFF2-40B4-BE49-F238E27FC236}">
                <a16:creationId xmlns:a16="http://schemas.microsoft.com/office/drawing/2014/main" id="{C9A6D4D3-A848-41E0-962C-9D49E4E0928D}"/>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methods">
            <a:extLst xmlns:a="http://schemas.openxmlformats.org/drawingml/2006/main">
              <a:ext uri="{FF2B5EF4-FFF2-40B4-BE49-F238E27FC236}">
                <a16:creationId xmlns:a16="http://schemas.microsoft.com/office/drawing/2014/main" id="{A27C2D65-C461-4B93-8C1A-2B40132FAF09}"/>
              </a:ext>
            </a:extLst>
          </p:cNvPr>
          <p:cNvSpPr>
            <a:spLocks xmlns:a="http://schemas.openxmlformats.org/drawingml/2006/main" noGrp="1"/>
          </p:cNvSpPr>
          <p:nvPr/>
        </p:nvSpPr>
        <p:spPr>
          <a:xfrm xmlns:a="http://schemas.openxmlformats.org/drawingml/2006/main">
            <a:off x="1428750" y="213360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600" b="1" i="0">
                <a:solidFill>
                  <a:srgbClr val="202020"/>
                </a:solidFill>
                <a:latin typeface="Times New Roman"/>
                <a:ea typeface="Times New Roman"/>
                <a:cs typeface="Times New Roman"/>
              </a:defRPr>
            </a:pPr>
            <a:r>
              <a:rPr sz="3600" b="1" i="0">
                <a:solidFill>
                  <a:srgbClr val="202020"/>
                </a:solidFill>
                <a:latin typeface="Times New Roman"/>
                <a:ea typeface="Times New Roman"/>
                <a:cs typeface="Times New Roman"/>
              </a:rPr>
              <a:t>AM / PM / FM / PAM</a:t>
            </a:r>
          </a:p>
        </p:txBody>
      </p:sp>
      <p:sp>
        <p:nvSpPr>
          <p:cNvPr id="3" name="multiplexing">
            <a:extLst xmlns:a="http://schemas.openxmlformats.org/drawingml/2006/main">
              <a:ext uri="{FF2B5EF4-FFF2-40B4-BE49-F238E27FC236}">
                <a16:creationId xmlns:a16="http://schemas.microsoft.com/office/drawing/2014/main" id="{B52F6B1F-A16A-43BC-B3E0-4C2C6BB553F7}"/>
              </a:ext>
            </a:extLst>
          </p:cNvPr>
          <p:cNvSpPr>
            <a:spLocks xmlns:a="http://schemas.openxmlformats.org/drawingml/2006/main" noGrp="1"/>
          </p:cNvSpPr>
          <p:nvPr/>
        </p:nvSpPr>
        <p:spPr>
          <a:xfrm xmlns:a="http://schemas.openxmlformats.org/drawingml/2006/main">
            <a:off x="1428750" y="322897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125" b="1" i="0">
                <a:solidFill>
                  <a:srgbClr val="202020"/>
                </a:solidFill>
                <a:latin typeface="Times New Roman"/>
                <a:ea typeface="Times New Roman"/>
                <a:cs typeface="Times New Roman"/>
              </a:defRPr>
            </a:pPr>
            <a:r>
              <a:rPr sz="4125" b="1" i="0">
                <a:solidFill>
                  <a:srgbClr val="202020"/>
                </a:solidFill>
                <a:latin typeface="Times New Roman"/>
                <a:ea typeface="Times New Roman"/>
                <a:cs typeface="Times New Roman"/>
              </a:rPr>
              <a:t>FDM</a:t>
            </a:r>
          </a:p>
        </p:txBody>
      </p:sp>
      <p:sp>
        <p:nvSpPr>
          <p:cNvPr id="4" name="question">
            <a:extLst xmlns:a="http://schemas.openxmlformats.org/drawingml/2006/main">
              <a:ext uri="{FF2B5EF4-FFF2-40B4-BE49-F238E27FC236}">
                <a16:creationId xmlns:a16="http://schemas.microsoft.com/office/drawing/2014/main" id="{BF08B13A-AE31-48E3-A9AC-00A3EC2C4681}"/>
              </a:ext>
            </a:extLst>
          </p:cNvPr>
          <p:cNvSpPr>
            <a:spLocks xmlns:a="http://schemas.openxmlformats.org/drawingml/2006/main" noGrp="1"/>
          </p:cNvSpPr>
          <p:nvPr/>
        </p:nvSpPr>
        <p:spPr>
          <a:xfrm xmlns:a="http://schemas.openxmlformats.org/drawingml/2006/main">
            <a:off x="1428750" y="4686300"/>
            <a:ext cx="933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700" b="0" i="0">
                <a:solidFill>
                  <a:srgbClr val="202020"/>
                </a:solidFill>
                <a:latin typeface="Times New Roman"/>
                <a:ea typeface="Times New Roman"/>
                <a:cs typeface="Times New Roman"/>
              </a:defRPr>
            </a:pPr>
            <a:r>
              <a:rPr sz="2700" b="0" i="0">
                <a:solidFill>
                  <a:srgbClr val="202020"/>
                </a:solidFill>
                <a:latin typeface="Times New Roman"/>
                <a:ea typeface="Times New Roman"/>
                <a:cs typeface="Times New Roman"/>
              </a:rPr>
              <a:t>What is the difference?</a:t>
            </a:r>
          </a:p>
        </p:txBody>
      </p:sp>
    </p:spTree>
    <p:extLst>
      <p:ext uri="{BB962C8B-B14F-4D97-AF65-F5344CB8AC3E}">
        <p14:creationId xmlns:p14="http://schemas.microsoft.com/office/powerpoint/2010/main" val="846250762"/>
      </p:ext>
    </p:extLst>
  </p:cSld>
</p:sld>
</file>

<file path=ppt/slides/framing_1.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36F4319B-77BE-428C-9461-DD855B8FDA84}"/>
              </a:ext>
            </a:extLst>
          </p:cNvPr>
          <p:cNvSpPr>
            <a:spLocks xmlns:a="http://schemas.openxmlformats.org/drawingml/2006/main" noGrp="1"/>
          </p:cNvSpPr>
          <p:nvPr/>
        </p:nvSpPr>
        <p:spPr>
          <a:xfrm xmlns:a="http://schemas.openxmlformats.org/drawingml/2006/main">
            <a:off x="952500" y="20002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i="0">
                <a:solidFill>
                  <a:srgbClr val="202020"/>
                </a:solidFill>
                <a:latin typeface="Times New Roman"/>
                <a:ea typeface="Times New Roman"/>
                <a:cs typeface="Times New Roman"/>
              </a:defRPr>
            </a:pPr>
            <a:r>
              <a:rPr sz="2250" b="0" i="0">
                <a:solidFill>
                  <a:srgbClr val="202020"/>
                </a:solidFill>
                <a:latin typeface="Times New Roman"/>
                <a:ea typeface="Times New Roman"/>
                <a:cs typeface="Times New Roman"/>
              </a:rPr>
              <a:t>ELEG2310B</a:t>
            </a:r>
          </a:p>
        </p:txBody>
      </p:sp>
      <p:sp>
        <p:nvSpPr>
          <p:cNvPr id="2" name="title">
            <a:extLst xmlns:a="http://schemas.openxmlformats.org/drawingml/2006/main">
              <a:ext uri="{FF2B5EF4-FFF2-40B4-BE49-F238E27FC236}">
                <a16:creationId xmlns:a16="http://schemas.microsoft.com/office/drawing/2014/main" id="{28D3C849-FCDB-4A5C-AC30-6B5F6579C048}"/>
              </a:ext>
            </a:extLst>
          </p:cNvPr>
          <p:cNvSpPr>
            <a:spLocks xmlns:a="http://schemas.openxmlformats.org/drawingml/2006/main" noGrp="1"/>
          </p:cNvSpPr>
          <p:nvPr/>
        </p:nvSpPr>
        <p:spPr>
          <a:xfrm xmlns:a="http://schemas.openxmlformats.org/drawingml/2006/main">
            <a:off x="952500" y="271462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200" b="1" i="0">
                <a:solidFill>
                  <a:srgbClr val="202020"/>
                </a:solidFill>
                <a:latin typeface="Times New Roman"/>
                <a:ea typeface="Times New Roman"/>
                <a:cs typeface="Times New Roman"/>
              </a:defRPr>
            </a:pPr>
            <a:r>
              <a:rPr sz="4200" b="1" i="0">
                <a:solidFill>
                  <a:srgbClr val="202020"/>
                </a:solidFill>
                <a:latin typeface="Times New Roman"/>
                <a:ea typeface="Times New Roman"/>
                <a:cs typeface="Times New Roman"/>
              </a:rPr>
              <a:t>Tutorial 3</a:t>
            </a:r>
          </a:p>
        </p:txBody>
      </p:sp>
      <p:sp>
        <p:nvSpPr>
          <p:cNvPr id="3" name="topic">
            <a:extLst xmlns:a="http://schemas.openxmlformats.org/drawingml/2006/main">
              <a:ext uri="{FF2B5EF4-FFF2-40B4-BE49-F238E27FC236}">
                <a16:creationId xmlns:a16="http://schemas.microsoft.com/office/drawing/2014/main" id="{ED522314-16FE-43F8-A857-27433F8972CD}"/>
              </a:ext>
            </a:extLst>
          </p:cNvPr>
          <p:cNvSpPr>
            <a:spLocks xmlns:a="http://schemas.openxmlformats.org/drawingml/2006/main" noGrp="1"/>
          </p:cNvSpPr>
          <p:nvPr/>
        </p:nvSpPr>
        <p:spPr>
          <a:xfrm xmlns:a="http://schemas.openxmlformats.org/drawingml/2006/main">
            <a:off x="952500" y="36195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0" i="0">
                <a:solidFill>
                  <a:srgbClr val="202020"/>
                </a:solidFill>
                <a:latin typeface="Times New Roman"/>
                <a:ea typeface="Times New Roman"/>
                <a:cs typeface="Times New Roman"/>
              </a:defRPr>
            </a:pPr>
            <a:r>
              <a:rPr sz="2550" b="0" i="0">
                <a:solidFill>
                  <a:srgbClr val="202020"/>
                </a:solidFill>
                <a:latin typeface="Times New Roman"/>
                <a:ea typeface="Times New Roman"/>
                <a:cs typeface="Times New Roman"/>
              </a:rPr>
              <a:t>Frequency Division Multiplexing</a:t>
            </a:r>
          </a:p>
        </p:txBody>
      </p:sp>
      <p:sp>
        <p:nvSpPr>
          <p:cNvPr id="4" name="assistants">
            <a:extLst xmlns:a="http://schemas.openxmlformats.org/drawingml/2006/main">
              <a:ext uri="{FF2B5EF4-FFF2-40B4-BE49-F238E27FC236}">
                <a16:creationId xmlns:a16="http://schemas.microsoft.com/office/drawing/2014/main" id="{4A45DBF1-C355-4601-B41A-C731E05988CD}"/>
              </a:ext>
            </a:extLst>
          </p:cNvPr>
          <p:cNvSpPr>
            <a:spLocks xmlns:a="http://schemas.openxmlformats.org/drawingml/2006/main" noGrp="1"/>
          </p:cNvSpPr>
          <p:nvPr/>
        </p:nvSpPr>
        <p:spPr>
          <a:xfrm xmlns:a="http://schemas.openxmlformats.org/drawingml/2006/main">
            <a:off x="952500" y="46672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Teaching Assistants: WANG, Runbang and TIAN, Feng</a:t>
            </a:r>
          </a:p>
        </p:txBody>
      </p:sp>
      <p:sp>
        <p:nvSpPr>
          <p:cNvPr id="5" name="email">
            <a:extLst xmlns:a="http://schemas.openxmlformats.org/drawingml/2006/main">
              <a:ext uri="{FF2B5EF4-FFF2-40B4-BE49-F238E27FC236}">
                <a16:creationId xmlns:a16="http://schemas.microsoft.com/office/drawing/2014/main" id="{D1888DB4-5417-4A8A-A2BA-5C01069F68B2}"/>
              </a:ext>
            </a:extLst>
          </p:cNvPr>
          <p:cNvSpPr>
            <a:spLocks xmlns:a="http://schemas.openxmlformats.org/drawingml/2006/main" noGrp="1"/>
          </p:cNvSpPr>
          <p:nvPr/>
        </p:nvSpPr>
        <p:spPr>
          <a:xfrm xmlns:a="http://schemas.openxmlformats.org/drawingml/2006/main">
            <a:off x="952500" y="51435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51081432"/>
      </p:ext>
    </p:extLst>
  </p:cSld>
</p:sld>
</file>

<file path=ppt/slides/framing_2.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74E215D-C1BB-4151-A43A-2557880EA5DD}"/>
              </a:ext>
            </a:extLst>
          </p:cNvPr>
          <p:cNvSpPr>
            <a:spLocks xmlns:a="http://schemas.openxmlformats.org/drawingml/2006/main" noGrp="1"/>
          </p:cNvSpPr>
          <p:nvPr/>
        </p:nvSpPr>
        <p:spPr>
          <a:xfrm xmlns:a="http://schemas.openxmlformats.org/drawingml/2006/main">
            <a:off x="952500" y="2619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900" b="1" i="0">
                <a:solidFill>
                  <a:srgbClr val="202020"/>
                </a:solidFill>
                <a:latin typeface="Times New Roman"/>
                <a:ea typeface="Times New Roman"/>
                <a:cs typeface="Times New Roman"/>
              </a:defRPr>
            </a:pPr>
            <a:r>
              <a:rPr sz="3900" b="1" i="0">
                <a:solidFill>
                  <a:srgbClr val="202020"/>
                </a:solidFill>
                <a:latin typeface="Times New Roman"/>
                <a:ea typeface="Times New Roman"/>
                <a:cs typeface="Times New Roman"/>
              </a:rPr>
              <a:t>End of Tutorial 3</a:t>
            </a:r>
          </a:p>
        </p:txBody>
      </p:sp>
      <p:sp>
        <p:nvSpPr>
          <p:cNvPr id="2" name="questions">
            <a:extLst xmlns:a="http://schemas.openxmlformats.org/drawingml/2006/main">
              <a:ext uri="{FF2B5EF4-FFF2-40B4-BE49-F238E27FC236}">
                <a16:creationId xmlns:a16="http://schemas.microsoft.com/office/drawing/2014/main" id="{180C7D56-470E-4CC0-AA34-0BA3BE7C3E29}"/>
              </a:ext>
            </a:extLst>
          </p:cNvPr>
          <p:cNvSpPr>
            <a:spLocks xmlns:a="http://schemas.openxmlformats.org/drawingml/2006/main" noGrp="1"/>
          </p:cNvSpPr>
          <p:nvPr/>
        </p:nvSpPr>
        <p:spPr>
          <a:xfrm xmlns:a="http://schemas.openxmlformats.org/drawingml/2006/main">
            <a:off x="952500" y="35718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i="0">
                <a:solidFill>
                  <a:srgbClr val="202020"/>
                </a:solidFill>
                <a:latin typeface="Times New Roman"/>
                <a:ea typeface="Times New Roman"/>
                <a:cs typeface="Times New Roman"/>
              </a:defRPr>
            </a:pPr>
            <a:r>
              <a:rPr sz="2400" b="0" i="0">
                <a:solidFill>
                  <a:srgbClr val="202020"/>
                </a:solidFill>
                <a:latin typeface="Times New Roman"/>
                <a:ea typeface="Times New Roman"/>
                <a:cs typeface="Times New Roman"/>
              </a:rPr>
              <a:t>Questions?</a:t>
            </a:r>
          </a:p>
        </p:txBody>
      </p:sp>
      <p:sp>
        <p:nvSpPr>
          <p:cNvPr id="3" name="animated-version">
            <a:extLst xmlns:a="http://schemas.openxmlformats.org/drawingml/2006/main">
              <a:ext uri="{FF2B5EF4-FFF2-40B4-BE49-F238E27FC236}">
                <a16:creationId xmlns:a16="http://schemas.microsoft.com/office/drawing/2014/main" id="{F470B133-6219-403D-91D5-665B576737BF}"/>
              </a:ext>
            </a:extLst>
          </p:cNvPr>
          <p:cNvSpPr>
            <a:spLocks xmlns:a="http://schemas.openxmlformats.org/drawingml/2006/main" noGrp="1"/>
          </p:cNvSpPr>
          <p:nvPr/>
        </p:nvSpPr>
        <p:spPr>
          <a:xfrm xmlns:a="http://schemas.openxmlformats.org/drawingml/2006/main">
            <a:off x="952500" y="45720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For the animated slides, please email</a:t>
            </a:r>
          </a:p>
        </p:txBody>
      </p:sp>
      <p:sp>
        <p:nvSpPr>
          <p:cNvPr id="4" name="email">
            <a:extLst xmlns:a="http://schemas.openxmlformats.org/drawingml/2006/main">
              <a:ext uri="{FF2B5EF4-FFF2-40B4-BE49-F238E27FC236}">
                <a16:creationId xmlns:a16="http://schemas.microsoft.com/office/drawing/2014/main" id="{3A843A1D-3BA9-49B5-B254-502DBF337B55}"/>
              </a:ext>
            </a:extLst>
          </p:cNvPr>
          <p:cNvSpPr>
            <a:spLocks xmlns:a="http://schemas.openxmlformats.org/drawingml/2006/main" noGrp="1"/>
          </p:cNvSpPr>
          <p:nvPr/>
        </p:nvSpPr>
        <p:spPr>
          <a:xfrm xmlns:a="http://schemas.openxmlformats.org/drawingml/2006/main">
            <a:off x="952500" y="50482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2052230892"/>
      </p:ext>
    </p:extLst>
  </p:cSld>
</p:sld>
</file>

<file path=ppt/slides/framing_3.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C4E926-60BD-47AD-907D-EB28D2149D2B}"/>
              </a:ext>
            </a:extLst>
          </p:cNvPr>
          <p:cNvSpPr>
            <a:spLocks xmlns:a="http://schemas.openxmlformats.org/drawingml/2006/main" noGrp="1"/>
          </p:cNvSpPr>
          <p:nvPr/>
        </p:nvSpPr>
        <p:spPr>
          <a:xfrm xmlns:a="http://schemas.openxmlformats.org/drawingml/2006/main">
            <a:off x="952500" y="261937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200" b="1" i="0">
                <a:solidFill>
                  <a:srgbClr val="202020"/>
                </a:solidFill>
                <a:latin typeface="Times New Roman"/>
                <a:ea typeface="Times New Roman"/>
                <a:cs typeface="Times New Roman"/>
              </a:defRPr>
            </a:pPr>
            <a:r>
              <a:rPr sz="4200" b="1" i="0">
                <a:solidFill>
                  <a:srgbClr val="202020"/>
                </a:solidFill>
                <a:latin typeface="Times New Roman"/>
                <a:ea typeface="Times New Roman"/>
                <a:cs typeface="Times New Roman"/>
              </a:rPr>
              <a:t>AM Review</a:t>
            </a:r>
          </a:p>
        </p:txBody>
      </p:sp>
      <p:sp>
        <p:nvSpPr>
          <p:cNvPr id="2" name="topics">
            <a:extLst xmlns:a="http://schemas.openxmlformats.org/drawingml/2006/main">
              <a:ext uri="{FF2B5EF4-FFF2-40B4-BE49-F238E27FC236}">
                <a16:creationId xmlns:a16="http://schemas.microsoft.com/office/drawing/2014/main" id="{27983122-11AB-482B-AADE-9BB1C881F68F}"/>
              </a:ext>
            </a:extLst>
          </p:cNvPr>
          <p:cNvSpPr>
            <a:spLocks xmlns:a="http://schemas.openxmlformats.org/drawingml/2006/main" noGrp="1"/>
          </p:cNvSpPr>
          <p:nvPr/>
        </p:nvSpPr>
        <p:spPr>
          <a:xfrm xmlns:a="http://schemas.openxmlformats.org/drawingml/2006/main">
            <a:off x="952500" y="36195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i="0">
                <a:solidFill>
                  <a:srgbClr val="202020"/>
                </a:solidFill>
                <a:latin typeface="Times New Roman"/>
                <a:ea typeface="Times New Roman"/>
                <a:cs typeface="Times New Roman"/>
              </a:defRPr>
            </a:pPr>
            <a:r>
              <a:rPr sz="2250" b="0" i="0">
                <a:solidFill>
                  <a:srgbClr val="202020"/>
                </a:solidFill>
                <a:latin typeface="Times New Roman"/>
                <a:ea typeface="Times New Roman"/>
                <a:cs typeface="Times New Roman"/>
              </a:rPr>
              <a:t>DSB-SC     AM     SSB     QAM</a:t>
            </a:r>
          </a:p>
        </p:txBody>
      </p:sp>
    </p:spTree>
    <p:extLst>
      <p:ext uri="{BB962C8B-B14F-4D97-AF65-F5344CB8AC3E}">
        <p14:creationId xmlns:p14="http://schemas.microsoft.com/office/powerpoint/2010/main" val="1245829233"/>
      </p:ext>
    </p:extLst>
  </p:cSld>
</p:sld>
</file>

<file path=ppt/slides/loop_exercise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x1-title">
            <ns0:hlinkClick xmlns:ns0="http://schemas.openxmlformats.org/drawingml/2006/main" xmlns:ns1="http://schemas.openxmlformats.org/officeDocument/2006/relationships" ns1:id="rIdExerciseLink0" action="ppaction://hlinksldjump"/>
            <a:extLst xmlns:a="http://schemas.openxmlformats.org/drawingml/2006/main">
              <a:ext uri="{FF2B5EF4-FFF2-40B4-BE49-F238E27FC236}">
                <a16:creationId xmlns:a16="http://schemas.microsoft.com/office/drawing/2014/main" id="{D3D20FFE-51B6-4C97-BF6B-94D63BC3E675}"/>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1-subtitle">
            <a:extLst xmlns:a="http://schemas.openxmlformats.org/drawingml/2006/main">
              <a:ext uri="{FF2B5EF4-FFF2-40B4-BE49-F238E27FC236}">
                <a16:creationId xmlns:a16="http://schemas.microsoft.com/office/drawing/2014/main" id="{03F36AD2-655A-45F5-AFA6-B83803D25E47}"/>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1-model">
            <a:extLst xmlns:a="http://schemas.openxmlformats.org/drawingml/2006/main">
              <a:ext uri="{FF2B5EF4-FFF2-40B4-BE49-F238E27FC236}">
                <a16:creationId xmlns:a16="http://schemas.microsoft.com/office/drawing/2014/main" id="{8CE1E498-F87E-4D16-9139-AA5E2F0E1346}"/>
              </a:ext>
            </a:extLst>
          </p:cNvPr>
          <p:cNvSpPr>
            <a:spLocks xmlns:a="http://schemas.openxmlformats.org/drawingml/2006/main" noGrp="1"/>
          </p:cNvSpPr>
          <p:nvPr/>
        </p:nvSpPr>
        <p:spPr>
          <a:xfrm xmlns:a="http://schemas.openxmlformats.org/drawingml/2006/main">
            <a:off x="666750" y="15335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Each message is bandlimited to 5 kHz. Use DSB-SC and an ideal channel.</a:t>
            </a:r>
          </a:p>
        </p:txBody>
      </p:sp>
      <p:pic>
        <p:nvPicPr>
          <p:cNvPr id="16" name="ex1-loop"/>
          <p:cNvPicPr>
            <a:picLocks xmlns:a="http://schemas.openxmlformats.org/drawingml/2006/main" noChangeAspect="1"/>
          </p:cNvPicPr>
          <p:nvPr/>
        </p:nvPicPr>
        <p:blipFill>
          <a:blip xmlns:r="http://schemas.openxmlformats.org/officeDocument/2006/relationships" xmlns:a="http://schemas.openxmlformats.org/drawingml/2006/main" r:embed="R6cb091d43c734f5c"/>
          <a:stretch xmlns:a="http://schemas.openxmlformats.org/drawingml/2006/main"/>
        </p:blipFill>
        <p:spPr>
          <a:xfrm xmlns:a="http://schemas.openxmlformats.org/drawingml/2006/main">
            <a:off x="666750" y="1990725"/>
            <a:ext cx="10858500" cy="2000250"/>
          </a:xfrm>
          <a:prstGeom xmlns:a="http://schemas.openxmlformats.org/drawingml/2006/main" prst="rect">
            <a:avLst/>
          </a:prstGeom>
        </p:spPr>
      </p:pic>
      <p:sp>
        <p:nvSpPr>
          <p:cNvPr id="5" name="ex1-qa">
            <a:extLst xmlns:a="http://schemas.openxmlformats.org/drawingml/2006/main">
              <a:ext uri="{FF2B5EF4-FFF2-40B4-BE49-F238E27FC236}">
                <a16:creationId xmlns:a16="http://schemas.microsoft.com/office/drawing/2014/main" id="{E7AC6EDB-8822-4C47-9998-D9086A4DE41D}"/>
              </a:ext>
            </a:extLst>
          </p:cNvPr>
          <p:cNvSpPr>
            <a:spLocks xmlns:a="http://schemas.openxmlformats.org/drawingml/2006/main" noGrp="1"/>
          </p:cNvSpPr>
          <p:nvPr/>
        </p:nvSpPr>
        <p:spPr>
          <a:xfrm xmlns:a="http://schemas.openxmlformats.org/drawingml/2006/main">
            <a:off x="666750" y="42767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 Calculate: s(t), S(f), and the occupied frequency bands.</a:t>
            </a:r>
          </a:p>
        </p:txBody>
      </p:sp>
      <p:sp>
        <p:nvSpPr>
          <p:cNvPr id="6" name="ex1-qb">
            <a:extLst xmlns:a="http://schemas.openxmlformats.org/drawingml/2006/main">
              <a:ext uri="{FF2B5EF4-FFF2-40B4-BE49-F238E27FC236}">
                <a16:creationId xmlns:a16="http://schemas.microsoft.com/office/drawing/2014/main" id="{6ECF2700-2F8A-4B56-8392-BC7D11C7E9A0}"/>
              </a:ext>
            </a:extLst>
          </p:cNvPr>
          <p:cNvSpPr>
            <a:spLocks xmlns:a="http://schemas.openxmlformats.org/drawingml/2006/main" noGrp="1"/>
          </p:cNvSpPr>
          <p:nvPr/>
        </p:nvSpPr>
        <p:spPr>
          <a:xfrm xmlns:a="http://schemas.openxmlformats.org/drawingml/2006/main">
            <a:off x="666750" y="47148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(b) Recover all three messages simultaneously through a 20 kHz IF.</a:t>
            </a:r>
          </a:p>
        </p:txBody>
      </p:sp>
      <p:sp>
        <p:nvSpPr>
          <p:cNvPr id="7" name="ex1-qb2">
            <a:extLst xmlns:a="http://schemas.openxmlformats.org/drawingml/2006/main">
              <a:ext uri="{FF2B5EF4-FFF2-40B4-BE49-F238E27FC236}">
                <a16:creationId xmlns:a16="http://schemas.microsoft.com/office/drawing/2014/main" id="{52E164AA-07EC-402F-9A9E-4556718E993B}"/>
              </a:ext>
            </a:extLst>
          </p:cNvPr>
          <p:cNvSpPr>
            <a:spLocks xmlns:a="http://schemas.openxmlformats.org/drawingml/2006/main" noGrp="1"/>
          </p:cNvSpPr>
          <p:nvPr/>
        </p:nvSpPr>
        <p:spPr>
          <a:xfrm xmlns:a="http://schemas.openxmlformats.org/drawingml/2006/main">
            <a:off x="666750" y="50673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Calculate: input BPF bands, low-side LO frequencies, IF BPF and LPF.</a:t>
            </a:r>
          </a:p>
        </p:txBody>
      </p:sp>
      <p:sp>
        <p:nvSpPr>
          <p:cNvPr id="8" name="ex1-qc">
            <a:extLst xmlns:a="http://schemas.openxmlformats.org/drawingml/2006/main">
              <a:ext uri="{FF2B5EF4-FFF2-40B4-BE49-F238E27FC236}">
                <a16:creationId xmlns:a16="http://schemas.microsoft.com/office/drawing/2014/main" id="{761229E1-63F6-4556-8BAC-C0410AED9577}"/>
              </a:ext>
            </a:extLst>
          </p:cNvPr>
          <p:cNvSpPr>
            <a:spLocks xmlns:a="http://schemas.openxmlformats.org/drawingml/2006/main" noGrp="1"/>
          </p:cNvSpPr>
          <p:nvPr/>
        </p:nvSpPr>
        <p:spPr>
          <a:xfrm xmlns:a="http://schemas.openxmlformats.org/drawingml/2006/main">
            <a:off x="666750" y="55245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 Bypass only the input BPFs in (b). Which signals overlap at IF?</a:t>
            </a:r>
          </a:p>
        </p:txBody>
      </p:sp>
      <p:sp>
        <p:nvSpPr>
          <p:cNvPr id="9" name="ex1-qc2">
            <a:extLst xmlns:a="http://schemas.openxmlformats.org/drawingml/2006/main">
              <a:ext uri="{FF2B5EF4-FFF2-40B4-BE49-F238E27FC236}">
                <a16:creationId xmlns:a16="http://schemas.microsoft.com/office/drawing/2014/main" id="{223578FB-9BB3-4D21-B13A-4CCF9976A582}"/>
              </a:ext>
            </a:extLst>
          </p:cNvPr>
          <p:cNvSpPr>
            <a:spLocks xmlns:a="http://schemas.openxmlformats.org/drawingml/2006/main" noGrp="1"/>
          </p:cNvSpPr>
          <p:nvPr/>
        </p:nvSpPr>
        <p:spPr>
          <a:xfrm xmlns:a="http://schemas.openxmlformats.org/drawingml/2006/main">
            <a:off x="666750" y="58769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Keep all other settings unchanged. Calculate each recovered output.</a:t>
            </a:r>
          </a:p>
        </p:txBody>
      </p:sp>
      <p:sp>
        <p:nvSpPr>
          <p:cNvPr id="10" name="ex1-assumptions">
            <a:extLst xmlns:a="http://schemas.openxmlformats.org/drawingml/2006/main">
              <a:ext uri="{FF2B5EF4-FFF2-40B4-BE49-F238E27FC236}">
                <a16:creationId xmlns:a16="http://schemas.microsoft.com/office/drawing/2014/main" id="{8652969A-1F57-42C9-9E5C-119B0F80FE93}"/>
              </a:ext>
            </a:extLst>
          </p:cNvPr>
          <p:cNvSpPr>
            <a:spLocks xmlns:a="http://schemas.openxmlformats.org/drawingml/2006/main" noGrp="1"/>
          </p:cNvSpPr>
          <p:nvPr/>
        </p:nvSpPr>
        <p:spPr>
          <a:xfrm xmlns:a="http://schemas.openxmlformats.org/drawingml/2006/main">
            <a:off x="666750" y="62865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Use synchronized 2 cos mixers and unity-gain ideal filters.</a:t>
            </a:r>
          </a:p>
        </p:txBody>
      </p:sp>
      <p:pic>
        <p:nvPicPr>
          <p:cNvPr id="24" name="ex1-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bc41a8978f58470a">
            <a:extLst>
              <a:ext uri="{96DAC541-7B7A-43D3-8B79-37D633B846F1}">
                <ns0:svgBlip xmlns:ns0="http://schemas.microsoft.com/office/drawing/2016/SVG/main" r:embed="rIdVectorexercise_formula_0"/>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spTree>
    <p:extLst>
      <p:ext uri="{BB962C8B-B14F-4D97-AF65-F5344CB8AC3E}">
        <p14:creationId xmlns:p14="http://schemas.microsoft.com/office/powerpoint/2010/main" val="779503850"/>
      </p:ext>
    </p:extLst>
  </p:cSld>
</p:sld>
</file>

<file path=ppt/slides/loop_exercise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x2-title">
            <ns0:hlinkClick xmlns:ns0="http://schemas.openxmlformats.org/drawingml/2006/main" xmlns:ns1="http://schemas.openxmlformats.org/officeDocument/2006/relationships" ns1:id="rIdExerciseLink2" action="ppaction://hlinksldjump"/>
            <a:extLst xmlns:a="http://schemas.openxmlformats.org/drawingml/2006/main">
              <a:ext uri="{FF2B5EF4-FFF2-40B4-BE49-F238E27FC236}">
                <a16:creationId xmlns:a16="http://schemas.microsoft.com/office/drawing/2014/main" id="{5615BD2C-C216-41FD-99FA-A05AF4B8741F}"/>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2-subtitle">
            <a:extLst xmlns:a="http://schemas.openxmlformats.org/drawingml/2006/main">
              <a:ext uri="{FF2B5EF4-FFF2-40B4-BE49-F238E27FC236}">
                <a16:creationId xmlns:a16="http://schemas.microsoft.com/office/drawing/2014/main" id="{3E7ECA9A-6535-4470-BFD6-D7A414196850}"/>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2-question">
            <a:extLst xmlns:a="http://schemas.openxmlformats.org/drawingml/2006/main">
              <a:ext uri="{FF2B5EF4-FFF2-40B4-BE49-F238E27FC236}">
                <a16:creationId xmlns:a16="http://schemas.microsoft.com/office/drawing/2014/main" id="{AB253CE0-CBC9-46C1-882C-9DBCD7212CC6}"/>
              </a:ext>
            </a:extLst>
          </p:cNvPr>
          <p:cNvSpPr>
            <a:spLocks xmlns:a="http://schemas.openxmlformats.org/drawingml/2006/main" noGrp="1"/>
          </p:cNvSpPr>
          <p:nvPr/>
        </p:nvSpPr>
        <p:spPr>
          <a:xfrm xmlns:a="http://schemas.openxmlformats.org/drawingml/2006/main">
            <a:off x="666750" y="1533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(a)  Calculate: the transmitted signal s(t).</a:t>
            </a:r>
          </a:p>
        </p:txBody>
      </p:sp>
      <p:pic>
        <p:nvPicPr>
          <p:cNvPr id="15" name="ex2-loop"/>
          <p:cNvPicPr>
            <a:picLocks xmlns:a="http://schemas.openxmlformats.org/drawingml/2006/main" noChangeAspect="1"/>
          </p:cNvPicPr>
          <p:nvPr/>
        </p:nvPicPr>
        <p:blipFill>
          <a:blip xmlns:r="http://schemas.openxmlformats.org/officeDocument/2006/relationships" xmlns:a="http://schemas.openxmlformats.org/drawingml/2006/main" r:embed="Rd6994dd5120144e9"/>
          <a:stretch xmlns:a="http://schemas.openxmlformats.org/drawingml/2006/main"/>
        </p:blipFill>
        <p:spPr>
          <a:xfrm xmlns:a="http://schemas.openxmlformats.org/drawingml/2006/main">
            <a:off x="666750" y="1952625"/>
            <a:ext cx="10858500" cy="2000250"/>
          </a:xfrm>
          <a:prstGeom xmlns:a="http://schemas.openxmlformats.org/drawingml/2006/main" prst="rect">
            <a:avLst/>
          </a:prstGeom>
        </p:spPr>
      </p:pic>
      <p:sp>
        <p:nvSpPr>
          <p:cNvPr id="5" name="ex2-reason1">
            <a:extLst xmlns:a="http://schemas.openxmlformats.org/drawingml/2006/main">
              <a:ext uri="{FF2B5EF4-FFF2-40B4-BE49-F238E27FC236}">
                <a16:creationId xmlns:a16="http://schemas.microsoft.com/office/drawing/2014/main" id="{340CAD84-6C11-4153-9A4C-68E4D0094F3B}"/>
              </a:ext>
            </a:extLst>
          </p:cNvPr>
          <p:cNvSpPr>
            <a:spLocks xmlns:a="http://schemas.openxmlformats.org/drawingml/2006/main" noGrp="1"/>
          </p:cNvSpPr>
          <p:nvPr/>
        </p:nvSpPr>
        <p:spPr>
          <a:xfrm xmlns:a="http://schemas.openxmlformats.org/drawingml/2006/main">
            <a:off x="666750" y="41719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Solution. Modulate each message by its assigned carrier:</a:t>
            </a:r>
          </a:p>
        </p:txBody>
      </p:sp>
      <p:sp>
        <p:nvSpPr>
          <p:cNvPr id="6" name="ex2-reason2">
            <a:extLst xmlns:a="http://schemas.openxmlformats.org/drawingml/2006/main">
              <a:ext uri="{FF2B5EF4-FFF2-40B4-BE49-F238E27FC236}">
                <a16:creationId xmlns:a16="http://schemas.microsoft.com/office/drawing/2014/main" id="{AA42B585-9582-4939-B3DA-2EE5DBA9AEE2}"/>
              </a:ext>
            </a:extLst>
          </p:cNvPr>
          <p:cNvSpPr>
            <a:spLocks xmlns:a="http://schemas.openxmlformats.org/drawingml/2006/main" noGrp="1"/>
          </p:cNvSpPr>
          <p:nvPr/>
        </p:nvSpPr>
        <p:spPr>
          <a:xfrm xmlns:a="http://schemas.openxmlformats.org/drawingml/2006/main">
            <a:off x="666750" y="50577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The transmitted FDM signal is the sum of the three modulated signals:</a:t>
            </a:r>
          </a:p>
        </p:txBody>
      </p:sp>
      <p:pic>
        <p:nvPicPr>
          <p:cNvPr id="19" name="ex2-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92438a7193ab40f8">
            <a:extLst>
              <a:ext uri="{96DAC541-7B7A-43D3-8B79-37D633B846F1}">
                <ns0:svgBlip xmlns:ns0="http://schemas.microsoft.com/office/drawing/2016/SVG/main" r:embed="rIdVectorexercise_formula_1"/>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20" name="ex2-sk" descr="s_k(t)=m_k(t)\cos(2\pi f_{c,k}t),\qquad k=1,2,3"/>
          <p:cNvPicPr>
            <a:picLocks xmlns:a="http://schemas.openxmlformats.org/drawingml/2006/main" noChangeAspect="1"/>
          </p:cNvPicPr>
          <p:nvPr/>
        </p:nvPicPr>
        <p:blipFill>
          <a:blip xmlns:r="http://schemas.openxmlformats.org/officeDocument/2006/relationships" xmlns:a="http://schemas.openxmlformats.org/drawingml/2006/main" r:embed="R988fbc097055434d">
            <a:extLst>
              <a:ext uri="{96DAC541-7B7A-43D3-8B79-37D633B846F1}">
                <ns1:svgBlip xmlns:ns1="http://schemas.microsoft.com/office/drawing/2016/SVG/main" r:embed="rIdVectorexercise_formula_2"/>
              </a:ext>
            </a:extLst>
          </a:blip>
          <a:stretch xmlns:a="http://schemas.openxmlformats.org/drawingml/2006/main"/>
        </p:blipFill>
        <p:spPr>
          <a:xfrm xmlns:a="http://schemas.openxmlformats.org/drawingml/2006/main">
            <a:off x="952500" y="4620518"/>
            <a:ext cx="5002530" cy="255389"/>
          </a:xfrm>
          <a:prstGeom xmlns:a="http://schemas.openxmlformats.org/drawingml/2006/main" prst="rect">
            <a:avLst/>
          </a:prstGeom>
        </p:spPr>
      </p:pic>
      <p:pic>
        <p:nvPicPr>
          <p:cNvPr id="21" name="ex2-s" descr="s(t)=\sum_{k=1}^{3}s_k(t)=m_1(t)\cos(2\pi\cdot80{,}000t)+m_2(t)\cos(2\pi\cdot120{,}000t)"/>
          <p:cNvPicPr>
            <a:picLocks xmlns:a="http://schemas.openxmlformats.org/drawingml/2006/main" noChangeAspect="1"/>
          </p:cNvPicPr>
          <p:nvPr/>
        </p:nvPicPr>
        <p:blipFill>
          <a:blip xmlns:r="http://schemas.openxmlformats.org/officeDocument/2006/relationships" xmlns:a="http://schemas.openxmlformats.org/drawingml/2006/main" r:embed="R9990efb17a954a44">
            <a:extLst>
              <a:ext uri="{96DAC541-7B7A-43D3-8B79-37D633B846F1}">
                <ns2:svgBlip xmlns:ns2="http://schemas.microsoft.com/office/drawing/2016/SVG/main" r:embed="rIdVectorexercise_formula_3"/>
              </a:ext>
            </a:extLst>
          </a:blip>
          <a:stretch xmlns:a="http://schemas.openxmlformats.org/drawingml/2006/main"/>
        </p:blipFill>
        <p:spPr>
          <a:xfrm xmlns:a="http://schemas.openxmlformats.org/drawingml/2006/main">
            <a:off x="952500" y="5478482"/>
            <a:ext cx="8469630" cy="311110"/>
          </a:xfrm>
          <a:prstGeom xmlns:a="http://schemas.openxmlformats.org/drawingml/2006/main" prst="rect">
            <a:avLst/>
          </a:prstGeom>
        </p:spPr>
      </p:pic>
      <p:pic>
        <p:nvPicPr>
          <p:cNvPr id="22" name="ex2-s-cont" descr="{}+m_3(t)\cos(2\pi\cdot160{,}000t)"/>
          <p:cNvPicPr>
            <a:picLocks xmlns:a="http://schemas.openxmlformats.org/drawingml/2006/main" noChangeAspect="1"/>
          </p:cNvPicPr>
          <p:nvPr/>
        </p:nvPicPr>
        <p:blipFill>
          <a:blip xmlns:r="http://schemas.openxmlformats.org/officeDocument/2006/relationships" xmlns:a="http://schemas.openxmlformats.org/drawingml/2006/main" r:embed="R9c4eb50527f74fc7">
            <a:extLst>
              <a:ext uri="{96DAC541-7B7A-43D3-8B79-37D633B846F1}">
                <ns3:svgBlip xmlns:ns3="http://schemas.microsoft.com/office/drawing/2016/SVG/main" r:embed="rIdVectorexercise_formula_4"/>
              </a:ext>
            </a:extLst>
          </a:blip>
          <a:stretch xmlns:a="http://schemas.openxmlformats.org/drawingml/2006/main"/>
        </p:blipFill>
        <p:spPr>
          <a:xfrm xmlns:a="http://schemas.openxmlformats.org/drawingml/2006/main">
            <a:off x="4057650" y="5911036"/>
            <a:ext cx="3169920" cy="246102"/>
          </a:xfrm>
          <a:prstGeom xmlns:a="http://schemas.openxmlformats.org/drawingml/2006/main" prst="rect">
            <a:avLst/>
          </a:prstGeom>
        </p:spPr>
      </p:pic>
    </p:spTree>
    <p:extLst>
      <p:ext uri="{BB962C8B-B14F-4D97-AF65-F5344CB8AC3E}">
        <p14:creationId xmlns:p14="http://schemas.microsoft.com/office/powerpoint/2010/main" val="108743035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loop_exercise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x3-title">
            <ns0:hlinkClick xmlns:ns0="http://schemas.openxmlformats.org/drawingml/2006/main" xmlns:ns1="http://schemas.openxmlformats.org/officeDocument/2006/relationships" ns1:id="rIdExerciseLink4" action="ppaction://hlinksldjump"/>
            <a:extLst xmlns:a="http://schemas.openxmlformats.org/drawingml/2006/main">
              <a:ext uri="{FF2B5EF4-FFF2-40B4-BE49-F238E27FC236}">
                <a16:creationId xmlns:a16="http://schemas.microsoft.com/office/drawing/2014/main" id="{FB8AD462-0A64-4DB9-80BC-F8D288807591}"/>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3-subtitle">
            <a:extLst xmlns:a="http://schemas.openxmlformats.org/drawingml/2006/main">
              <a:ext uri="{FF2B5EF4-FFF2-40B4-BE49-F238E27FC236}">
                <a16:creationId xmlns:a16="http://schemas.microsoft.com/office/drawing/2014/main" id="{74C89244-1CE8-4451-B27D-27EB85F501C3}"/>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3-question">
            <a:extLst xmlns:a="http://schemas.openxmlformats.org/drawingml/2006/main">
              <a:ext uri="{FF2B5EF4-FFF2-40B4-BE49-F238E27FC236}">
                <a16:creationId xmlns:a16="http://schemas.microsoft.com/office/drawing/2014/main" id="{9C60C2AA-9B53-4626-BB96-08A296BA6F2B}"/>
              </a:ext>
            </a:extLst>
          </p:cNvPr>
          <p:cNvSpPr>
            <a:spLocks xmlns:a="http://schemas.openxmlformats.org/drawingml/2006/main" noGrp="1"/>
          </p:cNvSpPr>
          <p:nvPr/>
        </p:nvSpPr>
        <p:spPr>
          <a:xfrm xmlns:a="http://schemas.openxmlformats.org/drawingml/2006/main">
            <a:off x="666750" y="1533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(a)  Calculate: S(f) and the occupied frequency bands.</a:t>
            </a:r>
          </a:p>
        </p:txBody>
      </p:sp>
      <p:pic>
        <p:nvPicPr>
          <p:cNvPr id="15" name="ex3-loop"/>
          <p:cNvPicPr>
            <a:picLocks xmlns:a="http://schemas.openxmlformats.org/drawingml/2006/main" noChangeAspect="1"/>
          </p:cNvPicPr>
          <p:nvPr/>
        </p:nvPicPr>
        <p:blipFill>
          <a:blip xmlns:r="http://schemas.openxmlformats.org/officeDocument/2006/relationships" xmlns:a="http://schemas.openxmlformats.org/drawingml/2006/main" r:embed="R709b65542b4945db"/>
          <a:stretch xmlns:a="http://schemas.openxmlformats.org/drawingml/2006/main"/>
        </p:blipFill>
        <p:spPr>
          <a:xfrm xmlns:a="http://schemas.openxmlformats.org/drawingml/2006/main">
            <a:off x="666750" y="1952625"/>
            <a:ext cx="10858500" cy="2000250"/>
          </a:xfrm>
          <a:prstGeom xmlns:a="http://schemas.openxmlformats.org/drawingml/2006/main" prst="rect">
            <a:avLst/>
          </a:prstGeom>
        </p:spPr>
      </p:pic>
      <p:sp>
        <p:nvSpPr>
          <p:cNvPr id="5" name="ex3-reason1">
            <a:extLst xmlns:a="http://schemas.openxmlformats.org/drawingml/2006/main">
              <a:ext uri="{FF2B5EF4-FFF2-40B4-BE49-F238E27FC236}">
                <a16:creationId xmlns:a16="http://schemas.microsoft.com/office/drawing/2014/main" id="{C7F69CFA-B406-4D33-8A42-FE2E614F42AD}"/>
              </a:ext>
            </a:extLst>
          </p:cNvPr>
          <p:cNvSpPr>
            <a:spLocks xmlns:a="http://schemas.openxmlformats.org/drawingml/2006/main" noGrp="1"/>
          </p:cNvSpPr>
          <p:nvPr/>
        </p:nvSpPr>
        <p:spPr>
          <a:xfrm xmlns:a="http://schemas.openxmlformats.org/drawingml/2006/main">
            <a:off x="666750" y="41719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By the frequency-shifting property and linearity of the Fourier transform,</a:t>
            </a:r>
          </a:p>
        </p:txBody>
      </p:sp>
      <p:sp>
        <p:nvSpPr>
          <p:cNvPr id="6" name="ex3-reason2">
            <a:extLst xmlns:a="http://schemas.openxmlformats.org/drawingml/2006/main">
              <a:ext uri="{FF2B5EF4-FFF2-40B4-BE49-F238E27FC236}">
                <a16:creationId xmlns:a16="http://schemas.microsoft.com/office/drawing/2014/main" id="{1E3D6CAD-4C25-4050-9EBD-42740E78C5C5}"/>
              </a:ext>
            </a:extLst>
          </p:cNvPr>
          <p:cNvSpPr>
            <a:spLocks xmlns:a="http://schemas.openxmlformats.org/drawingml/2006/main" noGrp="1"/>
          </p:cNvSpPr>
          <p:nvPr/>
        </p:nvSpPr>
        <p:spPr>
          <a:xfrm xmlns:a="http://schemas.openxmlformats.org/drawingml/2006/main">
            <a:off x="666750" y="51339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Each shifted copy has half-width W = 5 kHz. Substituting the carriers gives</a:t>
            </a:r>
          </a:p>
        </p:txBody>
      </p:sp>
      <p:sp>
        <p:nvSpPr>
          <p:cNvPr id="7" name="ex3-reason3">
            <a:extLst xmlns:a="http://schemas.openxmlformats.org/drawingml/2006/main">
              <a:ext uri="{FF2B5EF4-FFF2-40B4-BE49-F238E27FC236}">
                <a16:creationId xmlns:a16="http://schemas.microsoft.com/office/drawing/2014/main" id="{1ED95D21-4E17-43D5-BC85-7664A7F3A8AD}"/>
              </a:ext>
            </a:extLst>
          </p:cNvPr>
          <p:cNvSpPr>
            <a:spLocks xmlns:a="http://schemas.openxmlformats.org/drawingml/2006/main" noGrp="1"/>
          </p:cNvSpPr>
          <p:nvPr/>
        </p:nvSpPr>
        <p:spPr>
          <a:xfrm xmlns:a="http://schemas.openxmlformats.org/drawingml/2006/main">
            <a:off x="666750" y="60674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Each channel occupies 10 kHz; adjacent positive-frequency bands have a 30 kHz gap.</a:t>
            </a:r>
          </a:p>
        </p:txBody>
      </p:sp>
      <p:pic>
        <p:nvPicPr>
          <p:cNvPr id="20" name="ex3-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fdd1d807e5144b76">
            <a:extLst>
              <a:ext uri="{96DAC541-7B7A-43D3-8B79-37D633B846F1}">
                <ns0:svgBlip xmlns:ns0="http://schemas.microsoft.com/office/drawing/2016/SVG/main" r:embed="rIdVectorexercise_formula_5"/>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21" name="ex3-S" descr="S(f)=\sum_{k=1}^{3}S_k(f)=\frac12\sum_{k=1}^{3}[M_k(f-f_{c,k})+M_k(f+f_{c,k})]"/>
          <p:cNvPicPr>
            <a:picLocks xmlns:a="http://schemas.openxmlformats.org/drawingml/2006/main" noChangeAspect="1"/>
          </p:cNvPicPr>
          <p:nvPr/>
        </p:nvPicPr>
        <p:blipFill>
          <a:blip xmlns:r="http://schemas.openxmlformats.org/officeDocument/2006/relationships" xmlns:a="http://schemas.openxmlformats.org/drawingml/2006/main" r:embed="R1ed50ae6fbc545d8">
            <a:extLst>
              <a:ext uri="{96DAC541-7B7A-43D3-8B79-37D633B846F1}">
                <ns1:svgBlip xmlns:ns1="http://schemas.microsoft.com/office/drawing/2016/SVG/main" r:embed="rIdVectorexercise_formula_6"/>
              </a:ext>
            </a:extLst>
          </a:blip>
          <a:stretch xmlns:a="http://schemas.openxmlformats.org/drawingml/2006/main"/>
        </p:blipFill>
        <p:spPr>
          <a:xfrm xmlns:a="http://schemas.openxmlformats.org/drawingml/2006/main">
            <a:off x="952500" y="4593669"/>
            <a:ext cx="6909435" cy="328136"/>
          </a:xfrm>
          <a:prstGeom xmlns:a="http://schemas.openxmlformats.org/drawingml/2006/main" prst="rect">
            <a:avLst/>
          </a:prstGeom>
        </p:spPr>
      </p:pic>
      <p:pic>
        <p:nvPicPr>
          <p:cNvPr id="22" name="ex3-bands" descr="|f|\in[75,85]\cup[115,125]\cup[155,165]\ \mathrm{kHz}"/>
          <p:cNvPicPr>
            <a:picLocks xmlns:a="http://schemas.openxmlformats.org/drawingml/2006/main" noChangeAspect="1"/>
          </p:cNvPicPr>
          <p:nvPr/>
        </p:nvPicPr>
        <p:blipFill>
          <a:blip xmlns:r="http://schemas.openxmlformats.org/officeDocument/2006/relationships" xmlns:a="http://schemas.openxmlformats.org/drawingml/2006/main" r:embed="Re8909fc5714a4fb2">
            <a:extLst>
              <a:ext uri="{96DAC541-7B7A-43D3-8B79-37D633B846F1}">
                <ns2:svgBlip xmlns:ns2="http://schemas.microsoft.com/office/drawing/2016/SVG/main" r:embed="rIdVectorexercise_formula_7"/>
              </a:ext>
            </a:extLst>
          </a:blip>
          <a:stretch xmlns:a="http://schemas.openxmlformats.org/drawingml/2006/main"/>
        </p:blipFill>
        <p:spPr>
          <a:xfrm xmlns:a="http://schemas.openxmlformats.org/drawingml/2006/main">
            <a:off x="952500" y="5587186"/>
            <a:ext cx="4953000" cy="246102"/>
          </a:xfrm>
          <a:prstGeom xmlns:a="http://schemas.openxmlformats.org/drawingml/2006/main" prst="rect">
            <a:avLst/>
          </a:prstGeom>
        </p:spPr>
      </p:pic>
    </p:spTree>
    <p:extLst>
      <p:ext uri="{BB962C8B-B14F-4D97-AF65-F5344CB8AC3E}">
        <p14:creationId xmlns:p14="http://schemas.microsoft.com/office/powerpoint/2010/main" val="4215932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loop_exercise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x4-title">
            <ns0:hlinkClick xmlns:ns0="http://schemas.openxmlformats.org/drawingml/2006/main" xmlns:ns1="http://schemas.openxmlformats.org/officeDocument/2006/relationships" ns1:id="rIdExerciseLink6" action="ppaction://hlinksldjump"/>
            <a:extLst xmlns:a="http://schemas.openxmlformats.org/drawingml/2006/main">
              <a:ext uri="{FF2B5EF4-FFF2-40B4-BE49-F238E27FC236}">
                <a16:creationId xmlns:a16="http://schemas.microsoft.com/office/drawing/2014/main" id="{9A585D7F-E99D-4DE8-9B5C-2193C4E94D0E}"/>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4-subtitle">
            <a:extLst xmlns:a="http://schemas.openxmlformats.org/drawingml/2006/main">
              <a:ext uri="{FF2B5EF4-FFF2-40B4-BE49-F238E27FC236}">
                <a16:creationId xmlns:a16="http://schemas.microsoft.com/office/drawing/2014/main" id="{4AE25A54-B4DF-426C-B471-FE8EE1541A2B}"/>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4-question">
            <a:extLst xmlns:a="http://schemas.openxmlformats.org/drawingml/2006/main">
              <a:ext uri="{FF2B5EF4-FFF2-40B4-BE49-F238E27FC236}">
                <a16:creationId xmlns:a16="http://schemas.microsoft.com/office/drawing/2014/main" id="{F43AFCD4-8CD8-42DC-9E64-2F8BD2B4309B}"/>
              </a:ext>
            </a:extLst>
          </p:cNvPr>
          <p:cNvSpPr>
            <a:spLocks xmlns:a="http://schemas.openxmlformats.org/drawingml/2006/main" noGrp="1"/>
          </p:cNvSpPr>
          <p:nvPr/>
        </p:nvSpPr>
        <p:spPr>
          <a:xfrm xmlns:a="http://schemas.openxmlformats.org/drawingml/2006/main">
            <a:off x="666750" y="1533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(b)  Recover all three messages simultaneously through a 20 kHz IF.</a:t>
            </a:r>
          </a:p>
        </p:txBody>
      </p:sp>
      <p:pic>
        <p:nvPicPr>
          <p:cNvPr id="14" name="ex4-loop"/>
          <p:cNvPicPr>
            <a:picLocks xmlns:a="http://schemas.openxmlformats.org/drawingml/2006/main" noChangeAspect="1"/>
          </p:cNvPicPr>
          <p:nvPr/>
        </p:nvPicPr>
        <p:blipFill>
          <a:blip xmlns:r="http://schemas.openxmlformats.org/officeDocument/2006/relationships" xmlns:a="http://schemas.openxmlformats.org/drawingml/2006/main" r:embed="R1b2c194cd7a148df"/>
          <a:stretch xmlns:a="http://schemas.openxmlformats.org/drawingml/2006/main"/>
        </p:blipFill>
        <p:spPr>
          <a:xfrm xmlns:a="http://schemas.openxmlformats.org/drawingml/2006/main">
            <a:off x="666750" y="1952625"/>
            <a:ext cx="10858500" cy="2000250"/>
          </a:xfrm>
          <a:prstGeom xmlns:a="http://schemas.openxmlformats.org/drawingml/2006/main" prst="rect">
            <a:avLst/>
          </a:prstGeom>
        </p:spPr>
      </p:pic>
      <p:sp>
        <p:nvSpPr>
          <p:cNvPr id="5" name="ex4-calculate">
            <a:extLst xmlns:a="http://schemas.openxmlformats.org/drawingml/2006/main">
              <a:ext uri="{FF2B5EF4-FFF2-40B4-BE49-F238E27FC236}">
                <a16:creationId xmlns:a16="http://schemas.microsoft.com/office/drawing/2014/main" id="{78AF95DD-EBD4-47C7-A076-C4D98DD6D7C7}"/>
              </a:ext>
            </a:extLst>
          </p:cNvPr>
          <p:cNvSpPr>
            <a:spLocks xmlns:a="http://schemas.openxmlformats.org/drawingml/2006/main" noGrp="1"/>
          </p:cNvSpPr>
          <p:nvPr/>
        </p:nvSpPr>
        <p:spPr>
          <a:xfrm xmlns:a="http://schemas.openxmlformats.org/drawingml/2006/main">
            <a:off x="666750" y="42100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Calculate:</a:t>
            </a:r>
          </a:p>
        </p:txBody>
      </p:sp>
      <p:sp>
        <p:nvSpPr>
          <p:cNvPr id="6" name="ex4-items1">
            <a:extLst xmlns:a="http://schemas.openxmlformats.org/drawingml/2006/main">
              <a:ext uri="{FF2B5EF4-FFF2-40B4-BE49-F238E27FC236}">
                <a16:creationId xmlns:a16="http://schemas.microsoft.com/office/drawing/2014/main" id="{F4CA250A-54EC-4936-966A-DDD5E8DECAA6}"/>
              </a:ext>
            </a:extLst>
          </p:cNvPr>
          <p:cNvSpPr>
            <a:spLocks xmlns:a="http://schemas.openxmlformats.org/drawingml/2006/main" noGrp="1"/>
          </p:cNvSpPr>
          <p:nvPr/>
        </p:nvSpPr>
        <p:spPr>
          <a:xfrm xmlns:a="http://schemas.openxmlformats.org/drawingml/2006/main">
            <a:off x="666750" y="46386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Input BPF passbands and low-side LO frequency for each branch.</a:t>
            </a:r>
          </a:p>
        </p:txBody>
      </p:sp>
      <p:sp>
        <p:nvSpPr>
          <p:cNvPr id="7" name="ex4-items2">
            <a:extLst xmlns:a="http://schemas.openxmlformats.org/drawingml/2006/main">
              <a:ext uri="{FF2B5EF4-FFF2-40B4-BE49-F238E27FC236}">
                <a16:creationId xmlns:a16="http://schemas.microsoft.com/office/drawing/2014/main" id="{4BFEE480-A1F0-4D5A-84A9-785F9222CF14}"/>
              </a:ext>
            </a:extLst>
          </p:cNvPr>
          <p:cNvSpPr>
            <a:spLocks xmlns:a="http://schemas.openxmlformats.org/drawingml/2006/main" noGrp="1"/>
          </p:cNvSpPr>
          <p:nvPr/>
        </p:nvSpPr>
        <p:spPr>
          <a:xfrm xmlns:a="http://schemas.openxmlformats.org/drawingml/2006/main">
            <a:off x="666750" y="50673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IF BPF passbands, demodulating carrier and LPF cutoff.</a:t>
            </a:r>
          </a:p>
        </p:txBody>
      </p:sp>
      <p:sp>
        <p:nvSpPr>
          <p:cNvPr id="8" name="ex4-conditions">
            <a:extLst xmlns:a="http://schemas.openxmlformats.org/drawingml/2006/main">
              <a:ext uri="{FF2B5EF4-FFF2-40B4-BE49-F238E27FC236}">
                <a16:creationId xmlns:a16="http://schemas.microsoft.com/office/drawing/2014/main" id="{F07F9AAC-1639-401C-8A10-3B711094B150}"/>
              </a:ext>
            </a:extLst>
          </p:cNvPr>
          <p:cNvSpPr>
            <a:spLocks xmlns:a="http://schemas.openxmlformats.org/drawingml/2006/main" noGrp="1"/>
          </p:cNvSpPr>
          <p:nvPr/>
        </p:nvSpPr>
        <p:spPr>
          <a:xfrm xmlns:a="http://schemas.openxmlformats.org/drawingml/2006/main">
            <a:off x="666750" y="56769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Use synchronized 2 cos mixers and unity-gain ideal filters.</a:t>
            </a:r>
          </a:p>
        </p:txBody>
      </p:sp>
      <p:pic>
        <p:nvPicPr>
          <p:cNvPr id="20" name="ex4-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96525104d4684e64">
            <a:extLst>
              <a:ext uri="{96DAC541-7B7A-43D3-8B79-37D633B846F1}">
                <ns0:svgBlip xmlns:ns0="http://schemas.microsoft.com/office/drawing/2016/SVG/main" r:embed="rIdVectorexercise_formula_8"/>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spTree>
    <p:extLst>
      <p:ext uri="{BB962C8B-B14F-4D97-AF65-F5344CB8AC3E}">
        <p14:creationId xmlns:p14="http://schemas.microsoft.com/office/powerpoint/2010/main" val="1864954970"/>
      </p:ext>
    </p:extLst>
  </p:cSld>
</p:sld>
</file>

<file path=ppt/slides/loop_exercise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x5-title">
            <ns0:hlinkClick xmlns:ns0="http://schemas.openxmlformats.org/drawingml/2006/main" xmlns:ns1="http://schemas.openxmlformats.org/officeDocument/2006/relationships" ns1:id="rIdExerciseLink8" action="ppaction://hlinksldjump"/>
            <a:extLst xmlns:a="http://schemas.openxmlformats.org/drawingml/2006/main">
              <a:ext uri="{FF2B5EF4-FFF2-40B4-BE49-F238E27FC236}">
                <a16:creationId xmlns:a16="http://schemas.microsoft.com/office/drawing/2014/main" id="{5611F7FF-0D0C-4B44-AD3E-0E9F25726A2E}"/>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5-subtitle">
            <a:extLst xmlns:a="http://schemas.openxmlformats.org/drawingml/2006/main">
              <a:ext uri="{FF2B5EF4-FFF2-40B4-BE49-F238E27FC236}">
                <a16:creationId xmlns:a16="http://schemas.microsoft.com/office/drawing/2014/main" id="{6B1CADFF-91FC-4AEE-89B5-6F65E2725BD3}"/>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5-question">
            <a:extLst xmlns:a="http://schemas.openxmlformats.org/drawingml/2006/main">
              <a:ext uri="{FF2B5EF4-FFF2-40B4-BE49-F238E27FC236}">
                <a16:creationId xmlns:a16="http://schemas.microsoft.com/office/drawing/2014/main" id="{7DD28A5B-BC0E-4539-B93D-BBCFB9BFAC4C}"/>
              </a:ext>
            </a:extLst>
          </p:cNvPr>
          <p:cNvSpPr>
            <a:spLocks xmlns:a="http://schemas.openxmlformats.org/drawingml/2006/main" noGrp="1"/>
          </p:cNvSpPr>
          <p:nvPr/>
        </p:nvSpPr>
        <p:spPr>
          <a:xfrm xmlns:a="http://schemas.openxmlformats.org/drawingml/2006/main">
            <a:off x="666750" y="1533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(b)  Select the three channels in separate receiver branches.</a:t>
            </a:r>
          </a:p>
        </p:txBody>
      </p:sp>
      <p:pic>
        <p:nvPicPr>
          <p:cNvPr id="16" name="ex5-loop"/>
          <p:cNvPicPr>
            <a:picLocks xmlns:a="http://schemas.openxmlformats.org/drawingml/2006/main" noChangeAspect="1"/>
          </p:cNvPicPr>
          <p:nvPr/>
        </p:nvPicPr>
        <p:blipFill>
          <a:blip xmlns:r="http://schemas.openxmlformats.org/officeDocument/2006/relationships" xmlns:a="http://schemas.openxmlformats.org/drawingml/2006/main" r:embed="Rf45ed12390974352"/>
          <a:stretch xmlns:a="http://schemas.openxmlformats.org/drawingml/2006/main"/>
        </p:blipFill>
        <p:spPr>
          <a:xfrm xmlns:a="http://schemas.openxmlformats.org/drawingml/2006/main">
            <a:off x="666750" y="1952625"/>
            <a:ext cx="10858500" cy="2000250"/>
          </a:xfrm>
          <a:prstGeom xmlns:a="http://schemas.openxmlformats.org/drawingml/2006/main" prst="rect">
            <a:avLst/>
          </a:prstGeom>
        </p:spPr>
      </p:pic>
      <p:sp>
        <p:nvSpPr>
          <p:cNvPr id="5" name="ex5-reason1">
            <a:extLst xmlns:a="http://schemas.openxmlformats.org/drawingml/2006/main">
              <a:ext uri="{FF2B5EF4-FFF2-40B4-BE49-F238E27FC236}">
                <a16:creationId xmlns:a16="http://schemas.microsoft.com/office/drawing/2014/main" id="{FFD109DD-9692-4E01-BEFC-8C02152F8707}"/>
              </a:ext>
            </a:extLst>
          </p:cNvPr>
          <p:cNvSpPr>
            <a:spLocks xmlns:a="http://schemas.openxmlformats.org/drawingml/2006/main" noGrp="1"/>
          </p:cNvSpPr>
          <p:nvPr/>
        </p:nvSpPr>
        <p:spPr>
          <a:xfrm xmlns:a="http://schemas.openxmlformats.org/drawingml/2006/main">
            <a:off x="666750" y="41243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Solution. Split s(t) into three branches. Since the channel bands do not overlap,</a:t>
            </a:r>
          </a:p>
        </p:txBody>
      </p:sp>
      <p:sp>
        <p:nvSpPr>
          <p:cNvPr id="6" name="ex5-reason1b">
            <a:extLst xmlns:a="http://schemas.openxmlformats.org/drawingml/2006/main">
              <a:ext uri="{FF2B5EF4-FFF2-40B4-BE49-F238E27FC236}">
                <a16:creationId xmlns:a16="http://schemas.microsoft.com/office/drawing/2014/main" id="{BD52CE37-48F8-4810-BC8D-A7BF72FFFAB8}"/>
              </a:ext>
            </a:extLst>
          </p:cNvPr>
          <p:cNvSpPr>
            <a:spLocks xmlns:a="http://schemas.openxmlformats.org/drawingml/2006/main" noGrp="1"/>
          </p:cNvSpPr>
          <p:nvPr/>
        </p:nvSpPr>
        <p:spPr>
          <a:xfrm xmlns:a="http://schemas.openxmlformats.org/drawingml/2006/main">
            <a:off x="666750" y="44386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an input BPF in branch k can isolate its two bands:</a:t>
            </a:r>
          </a:p>
        </p:txBody>
      </p:sp>
      <p:pic>
        <p:nvPicPr>
          <p:cNvPr id="20" name="ex5-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e76a05f8b4af43dc">
            <a:extLst>
              <a:ext uri="{96DAC541-7B7A-43D3-8B79-37D633B846F1}">
                <ns0:svgBlip xmlns:ns0="http://schemas.microsoft.com/office/drawing/2016/SVG/main" r:embed="rIdVectorexercise_formula_9"/>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21" name="ex5-selection" descr="|f|\in[f_{c,k}-W,f_{c,k}+W],\qquad\mathrm{BPF}_k\{s(t)\}=s_k(t)"/>
          <p:cNvPicPr>
            <a:picLocks xmlns:a="http://schemas.openxmlformats.org/drawingml/2006/main" noChangeAspect="1"/>
          </p:cNvPicPr>
          <p:nvPr/>
        </p:nvPicPr>
        <p:blipFill>
          <a:blip xmlns:r="http://schemas.openxmlformats.org/officeDocument/2006/relationships" xmlns:a="http://schemas.openxmlformats.org/drawingml/2006/main" r:embed="R0ecec49ea4364b46">
            <a:extLst>
              <a:ext uri="{96DAC541-7B7A-43D3-8B79-37D633B846F1}">
                <ns1:svgBlip xmlns:ns1="http://schemas.microsoft.com/office/drawing/2016/SVG/main" r:embed="rIdVectorexercise_formula_10"/>
              </a:ext>
            </a:extLst>
          </a:blip>
          <a:stretch xmlns:a="http://schemas.openxmlformats.org/drawingml/2006/main"/>
        </p:blipFill>
        <p:spPr>
          <a:xfrm xmlns:a="http://schemas.openxmlformats.org/drawingml/2006/main">
            <a:off x="952500" y="4868168"/>
            <a:ext cx="6017895" cy="255389"/>
          </a:xfrm>
          <a:prstGeom xmlns:a="http://schemas.openxmlformats.org/drawingml/2006/main" prst="rect">
            <a:avLst/>
          </a:prstGeom>
        </p:spPr>
      </p:pic>
      <p:pic>
        <p:nvPicPr>
          <p:cNvPr id="22" name="ex5-in-band0" descr="\mathrm{Branch}\ 1:\quad|f|\in[75,85]\ \mathrm{kHz}"/>
          <p:cNvPicPr>
            <a:picLocks xmlns:a="http://schemas.openxmlformats.org/drawingml/2006/main" noChangeAspect="1"/>
          </p:cNvPicPr>
          <p:nvPr/>
        </p:nvPicPr>
        <p:blipFill>
          <a:blip xmlns:r="http://schemas.openxmlformats.org/officeDocument/2006/relationships" xmlns:a="http://schemas.openxmlformats.org/drawingml/2006/main" r:embed="Rd7c501d018f2408a">
            <a:extLst>
              <a:ext uri="{96DAC541-7B7A-43D3-8B79-37D633B846F1}">
                <ns2:svgBlip xmlns:ns2="http://schemas.microsoft.com/office/drawing/2016/SVG/main" r:embed="rIdVectorexercise_formula_11"/>
              </a:ext>
            </a:extLst>
          </a:blip>
          <a:stretch xmlns:a="http://schemas.openxmlformats.org/drawingml/2006/main"/>
        </p:blipFill>
        <p:spPr>
          <a:xfrm xmlns:a="http://schemas.openxmlformats.org/drawingml/2006/main">
            <a:off x="952500" y="5386388"/>
            <a:ext cx="3714750" cy="247650"/>
          </a:xfrm>
          <a:prstGeom xmlns:a="http://schemas.openxmlformats.org/drawingml/2006/main" prst="rect">
            <a:avLst/>
          </a:prstGeom>
        </p:spPr>
      </p:pic>
      <p:pic>
        <p:nvPicPr>
          <p:cNvPr id="23" name="ex5-in-band1" descr="\mathrm{Branch}\ 2:\quad|f|\in[115,125]\ \mathrm{kHz}"/>
          <p:cNvPicPr>
            <a:picLocks xmlns:a="http://schemas.openxmlformats.org/drawingml/2006/main" noChangeAspect="1"/>
          </p:cNvPicPr>
          <p:nvPr/>
        </p:nvPicPr>
        <p:blipFill>
          <a:blip xmlns:r="http://schemas.openxmlformats.org/officeDocument/2006/relationships" xmlns:a="http://schemas.openxmlformats.org/drawingml/2006/main" r:embed="Rc7cbcc34b57c440f">
            <a:extLst>
              <a:ext uri="{96DAC541-7B7A-43D3-8B79-37D633B846F1}">
                <ns3:svgBlip xmlns:ns3="http://schemas.microsoft.com/office/drawing/2016/SVG/main" r:embed="rIdVectorexercise_formula_12"/>
              </a:ext>
            </a:extLst>
          </a:blip>
          <a:stretch xmlns:a="http://schemas.openxmlformats.org/drawingml/2006/main"/>
        </p:blipFill>
        <p:spPr>
          <a:xfrm xmlns:a="http://schemas.openxmlformats.org/drawingml/2006/main">
            <a:off x="952500" y="5777686"/>
            <a:ext cx="3987165" cy="246102"/>
          </a:xfrm>
          <a:prstGeom xmlns:a="http://schemas.openxmlformats.org/drawingml/2006/main" prst="rect">
            <a:avLst/>
          </a:prstGeom>
        </p:spPr>
      </p:pic>
      <p:pic>
        <p:nvPicPr>
          <p:cNvPr id="24" name="ex5-in-band2" descr="\mathrm{Branch}\ 3:\quad|f|\in[155,165]\ \mathrm{kHz}"/>
          <p:cNvPicPr>
            <a:picLocks xmlns:a="http://schemas.openxmlformats.org/drawingml/2006/main" noChangeAspect="1"/>
          </p:cNvPicPr>
          <p:nvPr/>
        </p:nvPicPr>
        <p:blipFill>
          <a:blip xmlns:r="http://schemas.openxmlformats.org/officeDocument/2006/relationships" xmlns:a="http://schemas.openxmlformats.org/drawingml/2006/main" r:embed="R26fb8c0d379f4047">
            <a:extLst>
              <a:ext uri="{96DAC541-7B7A-43D3-8B79-37D633B846F1}">
                <ns4:svgBlip xmlns:ns4="http://schemas.microsoft.com/office/drawing/2016/SVG/main" r:embed="rIdVectorexercise_formula_13"/>
              </a:ext>
            </a:extLst>
          </a:blip>
          <a:stretch xmlns:a="http://schemas.openxmlformats.org/drawingml/2006/main"/>
        </p:blipFill>
        <p:spPr>
          <a:xfrm xmlns:a="http://schemas.openxmlformats.org/drawingml/2006/main">
            <a:off x="952500" y="6168211"/>
            <a:ext cx="3987165" cy="246102"/>
          </a:xfrm>
          <a:prstGeom xmlns:a="http://schemas.openxmlformats.org/drawingml/2006/main" prst="rect">
            <a:avLst/>
          </a:prstGeom>
        </p:spPr>
      </p:pic>
    </p:spTree>
    <p:extLst>
      <p:ext uri="{BB962C8B-B14F-4D97-AF65-F5344CB8AC3E}">
        <p14:creationId xmlns:p14="http://schemas.microsoft.com/office/powerpoint/2010/main" val="197182494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loop_exercise_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x6-title">
            <ns0:hlinkClick xmlns:ns0="http://schemas.openxmlformats.org/drawingml/2006/main" xmlns:ns1="http://schemas.openxmlformats.org/officeDocument/2006/relationships" ns1:id="rIdExerciseLink10" action="ppaction://hlinksldjump"/>
            <a:extLst xmlns:a="http://schemas.openxmlformats.org/drawingml/2006/main">
              <a:ext uri="{FF2B5EF4-FFF2-40B4-BE49-F238E27FC236}">
                <a16:creationId xmlns:a16="http://schemas.microsoft.com/office/drawing/2014/main" id="{F89A5F21-59B5-44A8-A9C7-B7EA0684E833}"/>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6-subtitle">
            <a:extLst xmlns:a="http://schemas.openxmlformats.org/drawingml/2006/main">
              <a:ext uri="{FF2B5EF4-FFF2-40B4-BE49-F238E27FC236}">
                <a16:creationId xmlns:a16="http://schemas.microsoft.com/office/drawing/2014/main" id="{ADEE04BB-D1DF-42E9-A4D9-FD1E85F9A937}"/>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6-question">
            <a:extLst xmlns:a="http://schemas.openxmlformats.org/drawingml/2006/main">
              <a:ext uri="{FF2B5EF4-FFF2-40B4-BE49-F238E27FC236}">
                <a16:creationId xmlns:a16="http://schemas.microsoft.com/office/drawing/2014/main" id="{7E6968D6-39DF-4082-B4B4-4BDA3A07AE69}"/>
              </a:ext>
            </a:extLst>
          </p:cNvPr>
          <p:cNvSpPr>
            <a:spLocks xmlns:a="http://schemas.openxmlformats.org/drawingml/2006/main" noGrp="1"/>
          </p:cNvSpPr>
          <p:nvPr/>
        </p:nvSpPr>
        <p:spPr>
          <a:xfrm xmlns:a="http://schemas.openxmlformats.org/drawingml/2006/main">
            <a:off x="666750" y="1533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(b)  Calculate: the LO frequencies and IF BPF passbands.</a:t>
            </a:r>
          </a:p>
        </p:txBody>
      </p:sp>
      <p:pic>
        <p:nvPicPr>
          <p:cNvPr id="15" name="ex6-loop"/>
          <p:cNvPicPr>
            <a:picLocks xmlns:a="http://schemas.openxmlformats.org/drawingml/2006/main" noChangeAspect="1"/>
          </p:cNvPicPr>
          <p:nvPr/>
        </p:nvPicPr>
        <p:blipFill>
          <a:blip xmlns:r="http://schemas.openxmlformats.org/officeDocument/2006/relationships" xmlns:a="http://schemas.openxmlformats.org/drawingml/2006/main" r:embed="R0d1e4ed854a24733"/>
          <a:stretch xmlns:a="http://schemas.openxmlformats.org/drawingml/2006/main"/>
        </p:blipFill>
        <p:spPr>
          <a:xfrm xmlns:a="http://schemas.openxmlformats.org/drawingml/2006/main">
            <a:off x="666750" y="1952625"/>
            <a:ext cx="10858500" cy="2000250"/>
          </a:xfrm>
          <a:prstGeom xmlns:a="http://schemas.openxmlformats.org/drawingml/2006/main" prst="rect">
            <a:avLst/>
          </a:prstGeom>
        </p:spPr>
      </p:pic>
      <p:sp>
        <p:nvSpPr>
          <p:cNvPr id="5" name="ex6-reason1">
            <a:extLst xmlns:a="http://schemas.openxmlformats.org/drawingml/2006/main">
              <a:ext uri="{FF2B5EF4-FFF2-40B4-BE49-F238E27FC236}">
                <a16:creationId xmlns:a16="http://schemas.microsoft.com/office/drawing/2014/main" id="{CE7CCB61-A7F5-4DA5-97D2-0AC733D42DB7}"/>
              </a:ext>
            </a:extLst>
          </p:cNvPr>
          <p:cNvSpPr>
            <a:spLocks xmlns:a="http://schemas.openxmlformats.org/drawingml/2006/main" noGrp="1"/>
          </p:cNvSpPr>
          <p:nvPr/>
        </p:nvSpPr>
        <p:spPr>
          <a:xfrm xmlns:a="http://schemas.openxmlformats.org/drawingml/2006/main">
            <a:off x="666750" y="41052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For low-side mixing, the difference frequency must equal the required IF:</a:t>
            </a:r>
          </a:p>
        </p:txBody>
      </p:sp>
      <p:sp>
        <p:nvSpPr>
          <p:cNvPr id="6" name="ex6-reason2">
            <a:extLst xmlns:a="http://schemas.openxmlformats.org/drawingml/2006/main">
              <a:ext uri="{FF2B5EF4-FFF2-40B4-BE49-F238E27FC236}">
                <a16:creationId xmlns:a16="http://schemas.microsoft.com/office/drawing/2014/main" id="{B45068F3-F7E2-4283-B19E-DD598CFDC42E}"/>
              </a:ext>
            </a:extLst>
          </p:cNvPr>
          <p:cNvSpPr>
            <a:spLocks xmlns:a="http://schemas.openxmlformats.org/drawingml/2006/main" noGrp="1"/>
          </p:cNvSpPr>
          <p:nvPr/>
        </p:nvSpPr>
        <p:spPr>
          <a:xfrm xmlns:a="http://schemas.openxmlformats.org/drawingml/2006/main">
            <a:off x="666750" y="54483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Each translated band has half-width 5 kHz. Hence the IF BPF passbands are</a:t>
            </a:r>
          </a:p>
        </p:txBody>
      </p:sp>
      <p:pic>
        <p:nvPicPr>
          <p:cNvPr id="19" name="ex6-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9f6cfb6ce3194bc0">
            <a:extLst>
              <a:ext uri="{96DAC541-7B7A-43D3-8B79-37D633B846F1}">
                <ns0:svgBlip xmlns:ns0="http://schemas.microsoft.com/office/drawing/2016/SVG/main" r:embed="rIdVectorexercise_formula_14"/>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20" name="ex6-lo-rule" descr="f_{c,k}-f_{\mathrm{LO},k}=f_{\mathrm{IF}}\quad\Rightarrow\quad f_{\mathrm{LO},k}=f_{c,k}-20\ \mathrm{kHz}"/>
          <p:cNvPicPr>
            <a:picLocks xmlns:a="http://schemas.openxmlformats.org/drawingml/2006/main" noChangeAspect="1"/>
          </p:cNvPicPr>
          <p:nvPr/>
        </p:nvPicPr>
        <p:blipFill>
          <a:blip xmlns:r="http://schemas.openxmlformats.org/officeDocument/2006/relationships" xmlns:a="http://schemas.openxmlformats.org/drawingml/2006/main" r:embed="R2fd02fe9fabb4924">
            <a:extLst>
              <a:ext uri="{96DAC541-7B7A-43D3-8B79-37D633B846F1}">
                <ns1:svgBlip xmlns:ns1="http://schemas.microsoft.com/office/drawing/2016/SVG/main" r:embed="rIdVectorexercise_formula_15"/>
              </a:ext>
            </a:extLst>
          </a:blip>
          <a:stretch xmlns:a="http://schemas.openxmlformats.org/drawingml/2006/main"/>
        </p:blipFill>
        <p:spPr>
          <a:xfrm xmlns:a="http://schemas.openxmlformats.org/drawingml/2006/main">
            <a:off x="952500" y="4522708"/>
            <a:ext cx="5572125" cy="241459"/>
          </a:xfrm>
          <a:prstGeom xmlns:a="http://schemas.openxmlformats.org/drawingml/2006/main" prst="rect">
            <a:avLst/>
          </a:prstGeom>
        </p:spPr>
      </p:pic>
      <p:pic>
        <p:nvPicPr>
          <p:cNvPr id="21" name="ex6-lo-values" descr="f_{\mathrm{LO},1}=80-20=60,\quad f_{\mathrm{LO},2}=120-20=100,\quad f_{\mathrm{LO},3}=160-20=140\ \mathrm{kHz}"/>
          <p:cNvPicPr>
            <a:picLocks xmlns:a="http://schemas.openxmlformats.org/drawingml/2006/main" noChangeAspect="1"/>
          </p:cNvPicPr>
          <p:nvPr/>
        </p:nvPicPr>
        <p:blipFill>
          <a:blip xmlns:r="http://schemas.openxmlformats.org/officeDocument/2006/relationships" xmlns:a="http://schemas.openxmlformats.org/drawingml/2006/main" r:embed="R4f60204f95634892">
            <a:extLst>
              <a:ext uri="{96DAC541-7B7A-43D3-8B79-37D633B846F1}">
                <ns2:svgBlip xmlns:ns2="http://schemas.microsoft.com/office/drawing/2016/SVG/main" r:embed="rIdVectorexercise_formula_16"/>
              </a:ext>
            </a:extLst>
          </a:blip>
          <a:stretch xmlns:a="http://schemas.openxmlformats.org/drawingml/2006/main"/>
        </p:blipFill>
        <p:spPr>
          <a:xfrm xmlns:a="http://schemas.openxmlformats.org/drawingml/2006/main">
            <a:off x="952500" y="4932283"/>
            <a:ext cx="9559290" cy="241459"/>
          </a:xfrm>
          <a:prstGeom xmlns:a="http://schemas.openxmlformats.org/drawingml/2006/main" prst="rect">
            <a:avLst/>
          </a:prstGeom>
        </p:spPr>
      </p:pic>
      <p:pic>
        <p:nvPicPr>
          <p:cNvPr id="22" name="ex6-ifbands" descr="20-5\leq|f|\leq20+5\quad\Rightarrow\quad15\leq|f|\leq25\ \mathrm{kHz}"/>
          <p:cNvPicPr>
            <a:picLocks xmlns:a="http://schemas.openxmlformats.org/drawingml/2006/main" noChangeAspect="1"/>
          </p:cNvPicPr>
          <p:nvPr/>
        </p:nvPicPr>
        <p:blipFill>
          <a:blip xmlns:r="http://schemas.openxmlformats.org/officeDocument/2006/relationships" xmlns:a="http://schemas.openxmlformats.org/drawingml/2006/main" r:embed="R4fa69c4e468a4201">
            <a:extLst>
              <a:ext uri="{96DAC541-7B7A-43D3-8B79-37D633B846F1}">
                <ns3:svgBlip xmlns:ns3="http://schemas.microsoft.com/office/drawing/2016/SVG/main" r:embed="rIdVectorexercise_formula_17"/>
              </a:ext>
            </a:extLst>
          </a:blip>
          <a:stretch xmlns:a="http://schemas.openxmlformats.org/drawingml/2006/main"/>
        </p:blipFill>
        <p:spPr>
          <a:xfrm xmlns:a="http://schemas.openxmlformats.org/drawingml/2006/main">
            <a:off x="952500" y="5911036"/>
            <a:ext cx="5770245" cy="246102"/>
          </a:xfrm>
          <a:prstGeom xmlns:a="http://schemas.openxmlformats.org/drawingml/2006/main" prst="rect">
            <a:avLst/>
          </a:prstGeom>
        </p:spPr>
      </p:pic>
    </p:spTree>
    <p:extLst>
      <p:ext uri="{BB962C8B-B14F-4D97-AF65-F5344CB8AC3E}">
        <p14:creationId xmlns:p14="http://schemas.microsoft.com/office/powerpoint/2010/main" val="40143593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loop_exercise_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x7-title">
            <ns0:hlinkClick xmlns:ns0="http://schemas.openxmlformats.org/drawingml/2006/main" xmlns:ns1="http://schemas.openxmlformats.org/officeDocument/2006/relationships" ns1:id="rIdExerciseLink12" action="ppaction://hlinksldjump"/>
            <a:extLst xmlns:a="http://schemas.openxmlformats.org/drawingml/2006/main">
              <a:ext uri="{FF2B5EF4-FFF2-40B4-BE49-F238E27FC236}">
                <a16:creationId xmlns:a16="http://schemas.microsoft.com/office/drawing/2014/main" id="{83FEE48E-AD36-48CC-94C0-565147BE2396}"/>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7-subtitle">
            <a:extLst xmlns:a="http://schemas.openxmlformats.org/drawingml/2006/main">
              <a:ext uri="{FF2B5EF4-FFF2-40B4-BE49-F238E27FC236}">
                <a16:creationId xmlns:a16="http://schemas.microsoft.com/office/drawing/2014/main" id="{47F86C5E-30F0-411F-9B01-92310C4FF141}"/>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7-question">
            <a:extLst xmlns:a="http://schemas.openxmlformats.org/drawingml/2006/main">
              <a:ext uri="{FF2B5EF4-FFF2-40B4-BE49-F238E27FC236}">
                <a16:creationId xmlns:a16="http://schemas.microsoft.com/office/drawing/2014/main" id="{69AAB530-14CF-4554-8B50-2A9778662EF8}"/>
              </a:ext>
            </a:extLst>
          </p:cNvPr>
          <p:cNvSpPr>
            <a:spLocks xmlns:a="http://schemas.openxmlformats.org/drawingml/2006/main" noGrp="1"/>
          </p:cNvSpPr>
          <p:nvPr/>
        </p:nvSpPr>
        <p:spPr>
          <a:xfrm xmlns:a="http://schemas.openxmlformats.org/drawingml/2006/main">
            <a:off x="666750" y="1533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(b)  Derive the IF signal in each selected branch.</a:t>
            </a:r>
          </a:p>
        </p:txBody>
      </p:sp>
      <p:pic>
        <p:nvPicPr>
          <p:cNvPr id="16" name="ex7-loop"/>
          <p:cNvPicPr>
            <a:picLocks xmlns:a="http://schemas.openxmlformats.org/drawingml/2006/main" noChangeAspect="1"/>
          </p:cNvPicPr>
          <p:nvPr/>
        </p:nvPicPr>
        <p:blipFill>
          <a:blip xmlns:r="http://schemas.openxmlformats.org/officeDocument/2006/relationships" xmlns:a="http://schemas.openxmlformats.org/drawingml/2006/main" r:embed="R90ac70a4eb444d5d"/>
          <a:stretch xmlns:a="http://schemas.openxmlformats.org/drawingml/2006/main"/>
        </p:blipFill>
        <p:spPr>
          <a:xfrm xmlns:a="http://schemas.openxmlformats.org/drawingml/2006/main">
            <a:off x="666750" y="1952625"/>
            <a:ext cx="10858500" cy="2000250"/>
          </a:xfrm>
          <a:prstGeom xmlns:a="http://schemas.openxmlformats.org/drawingml/2006/main" prst="rect">
            <a:avLst/>
          </a:prstGeom>
        </p:spPr>
      </p:pic>
      <p:sp>
        <p:nvSpPr>
          <p:cNvPr id="5" name="ex7-reason1">
            <a:extLst xmlns:a="http://schemas.openxmlformats.org/drawingml/2006/main">
              <a:ext uri="{FF2B5EF4-FFF2-40B4-BE49-F238E27FC236}">
                <a16:creationId xmlns:a16="http://schemas.microsoft.com/office/drawing/2014/main" id="{56370F41-8FB0-41AD-A81E-3484F0D67CC2}"/>
              </a:ext>
            </a:extLst>
          </p:cNvPr>
          <p:cNvSpPr>
            <a:spLocks xmlns:a="http://schemas.openxmlformats.org/drawingml/2006/main" noGrp="1"/>
          </p:cNvSpPr>
          <p:nvPr/>
        </p:nvSpPr>
        <p:spPr>
          <a:xfrm xmlns:a="http://schemas.openxmlformats.org/drawingml/2006/main">
            <a:off x="666750" y="40957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Multiplying the selected signal by its LO and expanding the product gives</a:t>
            </a:r>
          </a:p>
        </p:txBody>
      </p:sp>
      <p:sp>
        <p:nvSpPr>
          <p:cNvPr id="6" name="ex7-reason2">
            <a:extLst xmlns:a="http://schemas.openxmlformats.org/drawingml/2006/main">
              <a:ext uri="{FF2B5EF4-FFF2-40B4-BE49-F238E27FC236}">
                <a16:creationId xmlns:a16="http://schemas.microsoft.com/office/drawing/2014/main" id="{EDAEA666-0754-4C7F-9C63-697FBDAB01F9}"/>
              </a:ext>
            </a:extLst>
          </p:cNvPr>
          <p:cNvSpPr>
            <a:spLocks xmlns:a="http://schemas.openxmlformats.org/drawingml/2006/main" noGrp="1"/>
          </p:cNvSpPr>
          <p:nvPr/>
        </p:nvSpPr>
        <p:spPr>
          <a:xfrm xmlns:a="http://schemas.openxmlformats.org/drawingml/2006/main">
            <a:off x="666750" y="53721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The sum-frequency centers are 140, 220 and 300 kHz, outside the IF passbands.</a:t>
            </a:r>
          </a:p>
        </p:txBody>
      </p:sp>
      <p:sp>
        <p:nvSpPr>
          <p:cNvPr id="7" name="ex7-reason2b">
            <a:extLst xmlns:a="http://schemas.openxmlformats.org/drawingml/2006/main">
              <a:ext uri="{FF2B5EF4-FFF2-40B4-BE49-F238E27FC236}">
                <a16:creationId xmlns:a16="http://schemas.microsoft.com/office/drawing/2014/main" id="{CA047B4A-0161-4246-9319-D9C6A717DB56}"/>
              </a:ext>
            </a:extLst>
          </p:cNvPr>
          <p:cNvSpPr>
            <a:spLocks xmlns:a="http://schemas.openxmlformats.org/drawingml/2006/main" noGrp="1"/>
          </p:cNvSpPr>
          <p:nvPr/>
        </p:nvSpPr>
        <p:spPr>
          <a:xfrm xmlns:a="http://schemas.openxmlformats.org/drawingml/2006/main">
            <a:off x="666750" y="568642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The IF BPF rejects these terms and retains the term centered at 20 kHz:</a:t>
            </a:r>
          </a:p>
        </p:txBody>
      </p:sp>
      <p:pic>
        <p:nvPicPr>
          <p:cNvPr id="21" name="ex7-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adcfc74bf95342bc">
            <a:extLst>
              <a:ext uri="{96DAC541-7B7A-43D3-8B79-37D633B846F1}">
                <ns0:svgBlip xmlns:ns0="http://schemas.microsoft.com/office/drawing/2016/SVG/main" r:embed="rIdVectorexercise_formula_18"/>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22" name="ex7-v" descr="v_k(t)=2s_k(t)\cos(2\pi f_{\mathrm{LO},k}t)"/>
          <p:cNvPicPr>
            <a:picLocks xmlns:a="http://schemas.openxmlformats.org/drawingml/2006/main" noChangeAspect="1"/>
          </p:cNvPicPr>
          <p:nvPr/>
        </p:nvPicPr>
        <p:blipFill>
          <a:blip xmlns:r="http://schemas.openxmlformats.org/officeDocument/2006/relationships" xmlns:a="http://schemas.openxmlformats.org/drawingml/2006/main" r:embed="R0ba94d176cda410d">
            <a:extLst>
              <a:ext uri="{96DAC541-7B7A-43D3-8B79-37D633B846F1}">
                <ns1:svgBlip xmlns:ns1="http://schemas.microsoft.com/office/drawing/2016/SVG/main" r:embed="rIdVectorexercise_formula_19"/>
              </a:ext>
            </a:extLst>
          </a:blip>
          <a:stretch xmlns:a="http://schemas.openxmlformats.org/drawingml/2006/main"/>
        </p:blipFill>
        <p:spPr>
          <a:xfrm xmlns:a="http://schemas.openxmlformats.org/drawingml/2006/main">
            <a:off x="952500" y="4525268"/>
            <a:ext cx="3343275" cy="255389"/>
          </a:xfrm>
          <a:prstGeom xmlns:a="http://schemas.openxmlformats.org/drawingml/2006/main" prst="rect">
            <a:avLst/>
          </a:prstGeom>
        </p:spPr>
      </p:pic>
      <p:pic>
        <p:nvPicPr>
          <p:cNvPr id="23" name="ex7-v-cont" descr="=m_k(t)\cos(2\pi\cdot20{,}000t)+m_k(t)\cos[2\pi(f_{c,k}+f_{\mathrm{LO},k})t]"/>
          <p:cNvPicPr>
            <a:picLocks xmlns:a="http://schemas.openxmlformats.org/drawingml/2006/main" noChangeAspect="1"/>
          </p:cNvPicPr>
          <p:nvPr/>
        </p:nvPicPr>
        <p:blipFill>
          <a:blip xmlns:r="http://schemas.openxmlformats.org/officeDocument/2006/relationships" xmlns:a="http://schemas.openxmlformats.org/drawingml/2006/main" r:embed="Rc09d5ae368de46e0">
            <a:extLst>
              <a:ext uri="{96DAC541-7B7A-43D3-8B79-37D633B846F1}">
                <ns2:svgBlip xmlns:ns2="http://schemas.microsoft.com/office/drawing/2016/SVG/main" r:embed="rIdVectorexercise_formula_20"/>
              </a:ext>
            </a:extLst>
          </a:blip>
          <a:stretch xmlns:a="http://schemas.openxmlformats.org/drawingml/2006/main"/>
        </p:blipFill>
        <p:spPr>
          <a:xfrm xmlns:a="http://schemas.openxmlformats.org/drawingml/2006/main">
            <a:off x="1640908" y="4906268"/>
            <a:ext cx="6637020" cy="255389"/>
          </a:xfrm>
          <a:prstGeom xmlns:a="http://schemas.openxmlformats.org/drawingml/2006/main" prst="rect">
            <a:avLst/>
          </a:prstGeom>
        </p:spPr>
      </p:pic>
      <p:pic>
        <p:nvPicPr>
          <p:cNvPr id="24" name="ex7-sif" descr="s_{\mathrm{IF},k}(t)=\mathrm{BPF}\{v_k(t)\}=m_k(t)\cos(2\pi\cdot20{,}000t)"/>
          <p:cNvPicPr>
            <a:picLocks xmlns:a="http://schemas.openxmlformats.org/drawingml/2006/main" noChangeAspect="1"/>
          </p:cNvPicPr>
          <p:nvPr/>
        </p:nvPicPr>
        <p:blipFill>
          <a:blip xmlns:r="http://schemas.openxmlformats.org/officeDocument/2006/relationships" xmlns:a="http://schemas.openxmlformats.org/drawingml/2006/main" r:embed="Rbf6305af31d94bec">
            <a:extLst>
              <a:ext uri="{96DAC541-7B7A-43D3-8B79-37D633B846F1}">
                <ns3:svgBlip xmlns:ns3="http://schemas.microsoft.com/office/drawing/2016/SVG/main" r:embed="rIdVectorexercise_formula_21"/>
              </a:ext>
            </a:extLst>
          </a:blip>
          <a:stretch xmlns:a="http://schemas.openxmlformats.org/drawingml/2006/main"/>
        </p:blipFill>
        <p:spPr>
          <a:xfrm xmlns:a="http://schemas.openxmlformats.org/drawingml/2006/main">
            <a:off x="952500" y="6163568"/>
            <a:ext cx="5844540" cy="255389"/>
          </a:xfrm>
          <a:prstGeom xmlns:a="http://schemas.openxmlformats.org/drawingml/2006/main" prst="rect">
            <a:avLst/>
          </a:prstGeom>
        </p:spPr>
      </p:pic>
    </p:spTree>
    <p:extLst>
      <p:ext uri="{BB962C8B-B14F-4D97-AF65-F5344CB8AC3E}">
        <p14:creationId xmlns:p14="http://schemas.microsoft.com/office/powerpoint/2010/main" val="144845322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loop_exercise_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x8-title">
            <ns0:hlinkClick xmlns:ns0="http://schemas.openxmlformats.org/drawingml/2006/main" xmlns:ns1="http://schemas.openxmlformats.org/officeDocument/2006/relationships" ns1:id="rIdExerciseLink14" action="ppaction://hlinksldjump"/>
            <a:extLst xmlns:a="http://schemas.openxmlformats.org/drawingml/2006/main">
              <a:ext uri="{FF2B5EF4-FFF2-40B4-BE49-F238E27FC236}">
                <a16:creationId xmlns:a16="http://schemas.microsoft.com/office/drawing/2014/main" id="{7390B61D-2918-4B79-979E-C8C25A74D8C2}"/>
              </a:ext>
            </a:extLst>
          </p:cNvPr>
          <p:cNvSpPr>
            <a:spLocks xmlns:a="http://schemas.openxmlformats.org/drawingml/2006/main" noGrp="1"/>
          </p:cNvSpPr>
          <p:nvPr/>
        </p:nvSpPr>
        <p:spPr>
          <a:xfrm xmlns:a="http://schemas.openxmlformats.org/drawingml/2006/main">
            <a:off x="666750" y="2381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ex8-subtitle">
            <a:extLst xmlns:a="http://schemas.openxmlformats.org/drawingml/2006/main">
              <a:ext uri="{FF2B5EF4-FFF2-40B4-BE49-F238E27FC236}">
                <a16:creationId xmlns:a16="http://schemas.microsoft.com/office/drawing/2014/main" id="{34A82F61-5946-4D1C-8347-6C001AB4B98E}"/>
              </a:ext>
            </a:extLst>
          </p:cNvPr>
          <p:cNvSpPr>
            <a:spLocks xmlns:a="http://schemas.openxmlformats.org/drawingml/2006/main" noGrp="1"/>
          </p:cNvSpPr>
          <p:nvPr/>
        </p:nvSpPr>
        <p:spPr>
          <a:xfrm xmlns:a="http://schemas.openxmlformats.org/drawingml/2006/main">
            <a:off x="666750" y="666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Exercise</a:t>
            </a:r>
          </a:p>
        </p:txBody>
      </p:sp>
      <p:sp>
        <p:nvSpPr>
          <p:cNvPr id="3" name="ex8-question">
            <a:extLst xmlns:a="http://schemas.openxmlformats.org/drawingml/2006/main">
              <a:ext uri="{FF2B5EF4-FFF2-40B4-BE49-F238E27FC236}">
                <a16:creationId xmlns:a16="http://schemas.microsoft.com/office/drawing/2014/main" id="{37CEA0FE-72E4-445C-A911-AF8E8FD20321}"/>
              </a:ext>
            </a:extLst>
          </p:cNvPr>
          <p:cNvSpPr>
            <a:spLocks xmlns:a="http://schemas.openxmlformats.org/drawingml/2006/main" noGrp="1"/>
          </p:cNvSpPr>
          <p:nvPr/>
        </p:nvSpPr>
        <p:spPr>
          <a:xfrm xmlns:a="http://schemas.openxmlformats.org/drawingml/2006/main">
            <a:off x="666750" y="1533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(b)  Recover each message from its IF signal.</a:t>
            </a:r>
          </a:p>
        </p:txBody>
      </p:sp>
      <p:pic>
        <p:nvPicPr>
          <p:cNvPr id="15" name="ex8-loop"/>
          <p:cNvPicPr>
            <a:picLocks xmlns:a="http://schemas.openxmlformats.org/drawingml/2006/main" noChangeAspect="1"/>
          </p:cNvPicPr>
          <p:nvPr/>
        </p:nvPicPr>
        <p:blipFill>
          <a:blip xmlns:r="http://schemas.openxmlformats.org/officeDocument/2006/relationships" xmlns:a="http://schemas.openxmlformats.org/drawingml/2006/main" r:embed="R5f73a1d36c5c4fde"/>
          <a:stretch xmlns:a="http://schemas.openxmlformats.org/drawingml/2006/main"/>
        </p:blipFill>
        <p:spPr>
          <a:xfrm xmlns:a="http://schemas.openxmlformats.org/drawingml/2006/main">
            <a:off x="666750" y="1952625"/>
            <a:ext cx="10858500" cy="2000250"/>
          </a:xfrm>
          <a:prstGeom xmlns:a="http://schemas.openxmlformats.org/drawingml/2006/main" prst="rect">
            <a:avLst/>
          </a:prstGeom>
        </p:spPr>
      </p:pic>
      <p:sp>
        <p:nvSpPr>
          <p:cNvPr id="5" name="ex8-reason1">
            <a:extLst xmlns:a="http://schemas.openxmlformats.org/drawingml/2006/main">
              <a:ext uri="{FF2B5EF4-FFF2-40B4-BE49-F238E27FC236}">
                <a16:creationId xmlns:a16="http://schemas.microsoft.com/office/drawing/2014/main" id="{8DA0AEB4-D1A3-4672-AB8D-F4733414D8BC}"/>
              </a:ext>
            </a:extLst>
          </p:cNvPr>
          <p:cNvSpPr>
            <a:spLocks xmlns:a="http://schemas.openxmlformats.org/drawingml/2006/main" noGrp="1"/>
          </p:cNvSpPr>
          <p:nvPr/>
        </p:nvSpPr>
        <p:spPr>
          <a:xfrm xmlns:a="http://schemas.openxmlformats.org/drawingml/2006/main">
            <a:off x="666750" y="41148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Next, coherently demodulate the IF signal at 20 kHz:</a:t>
            </a:r>
          </a:p>
        </p:txBody>
      </p:sp>
      <p:sp>
        <p:nvSpPr>
          <p:cNvPr id="6" name="ex8-reason2">
            <a:extLst xmlns:a="http://schemas.openxmlformats.org/drawingml/2006/main">
              <a:ext uri="{FF2B5EF4-FFF2-40B4-BE49-F238E27FC236}">
                <a16:creationId xmlns:a16="http://schemas.microsoft.com/office/drawing/2014/main" id="{59607A29-6BA5-42BF-AF91-3E949875668F}"/>
              </a:ext>
            </a:extLst>
          </p:cNvPr>
          <p:cNvSpPr>
            <a:spLocks xmlns:a="http://schemas.openxmlformats.org/drawingml/2006/main" noGrp="1"/>
          </p:cNvSpPr>
          <p:nvPr/>
        </p:nvSpPr>
        <p:spPr>
          <a:xfrm xmlns:a="http://schemas.openxmlformats.org/drawingml/2006/main">
            <a:off x="666750" y="50673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The second term occupies [35,45] and [-45,-35] kHz, outside the message band.</a:t>
            </a:r>
          </a:p>
        </p:txBody>
      </p:sp>
      <p:sp>
        <p:nvSpPr>
          <p:cNvPr id="7" name="ex8-reason2b">
            <a:extLst xmlns:a="http://schemas.openxmlformats.org/drawingml/2006/main">
              <a:ext uri="{FF2B5EF4-FFF2-40B4-BE49-F238E27FC236}">
                <a16:creationId xmlns:a16="http://schemas.microsoft.com/office/drawing/2014/main" id="{C5A28BE7-1659-4CEB-A5B0-4F0723BEDC1B}"/>
              </a:ext>
            </a:extLst>
          </p:cNvPr>
          <p:cNvSpPr>
            <a:spLocks xmlns:a="http://schemas.openxmlformats.org/drawingml/2006/main" noGrp="1"/>
          </p:cNvSpPr>
          <p:nvPr/>
        </p:nvSpPr>
        <p:spPr>
          <a:xfrm xmlns:a="http://schemas.openxmlformats.org/drawingml/2006/main">
            <a:off x="666750" y="54006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A 5 kHz LPF rejects it while passing the message. Thus, with unit overall gain,</a:t>
            </a:r>
          </a:p>
        </p:txBody>
      </p:sp>
      <p:pic>
        <p:nvPicPr>
          <p:cNvPr id="20" name="ex8-given" descr="W_1=W_2=W_3=5\,\mathrm{kHz},\quad(f_{c,1},f_{c,2},f_{c,3})=(80,120,160)\,\mathrm{kHz},\quad A_c=1"/>
          <p:cNvPicPr>
            <a:picLocks xmlns:a="http://schemas.openxmlformats.org/drawingml/2006/main" noChangeAspect="1"/>
          </p:cNvPicPr>
          <p:nvPr/>
        </p:nvPicPr>
        <p:blipFill>
          <a:blip xmlns:r="http://schemas.openxmlformats.org/officeDocument/2006/relationships" xmlns:a="http://schemas.openxmlformats.org/drawingml/2006/main" r:embed="R1d4e599a7a9a48ab">
            <a:extLst>
              <a:ext uri="{96DAC541-7B7A-43D3-8B79-37D633B846F1}">
                <ns0:svgBlip xmlns:ns0="http://schemas.microsoft.com/office/drawing/2016/SVG/main" r:embed="rIdVectorexercise_formula_22"/>
              </a:ext>
            </a:extLst>
          </a:blip>
          <a:stretch xmlns:a="http://schemas.openxmlformats.org/drawingml/2006/main"/>
        </p:blipFill>
        <p:spPr>
          <a:xfrm xmlns:a="http://schemas.openxmlformats.org/drawingml/2006/main">
            <a:off x="666750" y="1158478"/>
            <a:ext cx="8183880" cy="235744"/>
          </a:xfrm>
          <a:prstGeom xmlns:a="http://schemas.openxmlformats.org/drawingml/2006/main" prst="rect">
            <a:avLst/>
          </a:prstGeom>
        </p:spPr>
      </p:pic>
      <p:pic>
        <p:nvPicPr>
          <p:cNvPr id="21" name="ex8-u" descr="u_k(t)=2s_{\mathrm{IF},k}(t)\cos(2\pi\cdot20{,}000t)=m_k(t)+m_k(t)\cos(2\pi\cdot40{,}000t)"/>
          <p:cNvPicPr>
            <a:picLocks xmlns:a="http://schemas.openxmlformats.org/drawingml/2006/main" noChangeAspect="1"/>
          </p:cNvPicPr>
          <p:nvPr/>
        </p:nvPicPr>
        <p:blipFill>
          <a:blip xmlns:r="http://schemas.openxmlformats.org/officeDocument/2006/relationships" xmlns:a="http://schemas.openxmlformats.org/drawingml/2006/main" r:embed="Reaf82c4593de4737">
            <a:extLst>
              <a:ext uri="{96DAC541-7B7A-43D3-8B79-37D633B846F1}">
                <ns1:svgBlip xmlns:ns1="http://schemas.microsoft.com/office/drawing/2016/SVG/main" r:embed="rIdVectorexercise_formula_23"/>
              </a:ext>
            </a:extLst>
          </a:blip>
          <a:stretch xmlns:a="http://schemas.openxmlformats.org/drawingml/2006/main"/>
        </p:blipFill>
        <p:spPr>
          <a:xfrm xmlns:a="http://schemas.openxmlformats.org/drawingml/2006/main">
            <a:off x="952500" y="4572893"/>
            <a:ext cx="8221980" cy="255389"/>
          </a:xfrm>
          <a:prstGeom xmlns:a="http://schemas.openxmlformats.org/drawingml/2006/main" prst="rect">
            <a:avLst/>
          </a:prstGeom>
        </p:spPr>
      </p:pic>
      <p:pic>
        <p:nvPicPr>
          <p:cNvPr id="22" name="ex8-result" descr="\widetilde m_k(t)=\mathrm{LPF}_{|f|\leq5\,\mathrm{kHz}}\{u_k(t)\}=m_k(t),\quad k=1,2,3"/>
          <p:cNvPicPr>
            <a:picLocks xmlns:a="http://schemas.openxmlformats.org/drawingml/2006/main" noChangeAspect="1"/>
          </p:cNvPicPr>
          <p:nvPr/>
        </p:nvPicPr>
        <p:blipFill>
          <a:blip xmlns:r="http://schemas.openxmlformats.org/officeDocument/2006/relationships" xmlns:a="http://schemas.openxmlformats.org/drawingml/2006/main" r:embed="R861ca53fe293487c">
            <a:extLst>
              <a:ext uri="{96DAC541-7B7A-43D3-8B79-37D633B846F1}">
                <ns2:svgBlip xmlns:ns2="http://schemas.microsoft.com/office/drawing/2016/SVG/main" r:embed="rIdVectorexercise_formula_24"/>
              </a:ext>
            </a:extLst>
          </a:blip>
          <a:stretch xmlns:a="http://schemas.openxmlformats.org/drawingml/2006/main"/>
        </p:blipFill>
        <p:spPr>
          <a:xfrm xmlns:a="http://schemas.openxmlformats.org/drawingml/2006/main">
            <a:off x="952500" y="5917704"/>
            <a:ext cx="6166485" cy="270867"/>
          </a:xfrm>
          <a:prstGeom xmlns:a="http://schemas.openxmlformats.org/drawingml/2006/main" prst="rect">
            <a:avLst/>
          </a:prstGeom>
        </p:spPr>
      </p:pic>
    </p:spTree>
    <p:extLst>
      <p:ext uri="{BB962C8B-B14F-4D97-AF65-F5344CB8AC3E}">
        <p14:creationId xmlns:p14="http://schemas.microsoft.com/office/powerpoint/2010/main" val="49907295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methods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title">
            <ns0:hlinkClick xmlns:ns0="http://schemas.openxmlformats.org/drawingml/2006/main" xmlns:ns1="http://schemas.openxmlformats.org/officeDocument/2006/relationships" ns1:id="rIdOverviewLink0" action="ppaction://hlinksldjump"/>
            <a:extLst xmlns:a="http://schemas.openxmlformats.org/drawingml/2006/main">
              <a:ext uri="{FF2B5EF4-FFF2-40B4-BE49-F238E27FC236}">
                <a16:creationId xmlns:a16="http://schemas.microsoft.com/office/drawing/2014/main" id="{E1F4AE97-933D-4B7F-95F5-686C8A197225}"/>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FDM</a:t>
            </a:r>
          </a:p>
        </p:txBody>
      </p:sp>
      <p:sp>
        <p:nvSpPr>
          <p:cNvPr id="2" name="chosen-modulation">
            <a:extLst xmlns:a="http://schemas.openxmlformats.org/drawingml/2006/main">
              <a:ext uri="{FF2B5EF4-FFF2-40B4-BE49-F238E27FC236}">
                <a16:creationId xmlns:a16="http://schemas.microsoft.com/office/drawing/2014/main" id="{A6E39CD9-076D-452D-BC93-3FC77C49B11C}"/>
              </a:ext>
            </a:extLst>
          </p:cNvPr>
          <p:cNvSpPr>
            <a:spLocks xmlns:a="http://schemas.openxmlformats.org/drawingml/2006/main" noGrp="1"/>
          </p:cNvSpPr>
          <p:nvPr/>
        </p:nvSpPr>
        <p:spPr>
          <a:xfrm xmlns:a="http://schemas.openxmlformats.org/drawingml/2006/main">
            <a:off x="8620125" y="276225"/>
            <a:ext cx="290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FDM + DSB-SC</a:t>
            </a:r>
          </a:p>
        </p:txBody>
      </p:sp>
      <p:sp>
        <p:nvSpPr>
          <p:cNvPr id="3" name="subset">
            <a:extLst xmlns:a="http://schemas.openxmlformats.org/drawingml/2006/main">
              <a:ext uri="{FF2B5EF4-FFF2-40B4-BE49-F238E27FC236}">
                <a16:creationId xmlns:a16="http://schemas.microsoft.com/office/drawing/2014/main" id="{40491080-9C95-46FD-BCD6-4D4E407F7A3C}"/>
              </a:ext>
            </a:extLst>
          </p:cNvPr>
          <p:cNvSpPr>
            <a:spLocks xmlns:a="http://schemas.openxmlformats.org/drawingml/2006/main" noGrp="1"/>
          </p:cNvSpPr>
          <p:nvPr/>
        </p:nvSpPr>
        <p:spPr>
          <a:xfrm xmlns:a="http://schemas.openxmlformats.org/drawingml/2006/main">
            <a:off x="4838700" y="895350"/>
            <a:ext cx="2305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Three channels shown</a:t>
            </a:r>
          </a:p>
        </p:txBody>
      </p:sp>
      <p:sp>
        <p:nvSpPr>
          <p:cNvPr id="4" name="flow-modulate-line">
            <a:extLst xmlns:a="http://schemas.openxmlformats.org/drawingml/2006/main">
              <a:ext uri="{FF2B5EF4-FFF2-40B4-BE49-F238E27FC236}">
                <a16:creationId xmlns:a16="http://schemas.microsoft.com/office/drawing/2014/main" id="{412E69E3-94A6-47CF-9CD3-628ECD415FFC}"/>
              </a:ext>
            </a:extLst>
          </p:cNvPr>
          <p:cNvSpPr>
            <a:spLocks xmlns:a="http://schemas.openxmlformats.org/drawingml/2006/main" noGrp="1"/>
          </p:cNvSpPr>
          <p:nvPr/>
        </p:nvSpPr>
        <p:spPr>
          <a:xfrm xmlns:a="http://schemas.openxmlformats.org/drawingml/2006/main">
            <a:off x="2276475" y="1571625"/>
            <a:ext cx="409575"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5" name="flow-modulate-head">
            <a:extLst xmlns:a="http://schemas.openxmlformats.org/drawingml/2006/main">
              <a:ext uri="{FF2B5EF4-FFF2-40B4-BE49-F238E27FC236}">
                <a16:creationId xmlns:a16="http://schemas.microsoft.com/office/drawing/2014/main" id="{FA751138-0349-4BF0-9D8C-CD34EBB079DA}"/>
              </a:ext>
            </a:extLst>
          </p:cNvPr>
          <p:cNvSpPr>
            <a:spLocks xmlns:a="http://schemas.openxmlformats.org/drawingml/2006/main" noGrp="1"/>
          </p:cNvSpPr>
          <p:nvPr/>
        </p:nvSpPr>
        <p:spPr>
          <a:xfrm xmlns:a="http://schemas.openxmlformats.org/drawingml/2006/main" rot="5400000">
            <a:off x="2667000" y="1533525"/>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op-modulate">
            <ns0:hlinkClick xmlns:ns0="http://schemas.openxmlformats.org/drawingml/2006/main" xmlns:ns1="http://schemas.openxmlformats.org/officeDocument/2006/relationships" ns1:id="rIdOverviewLink1" action="ppaction://hlinksldjump"/>
            <a:extLst xmlns:a="http://schemas.openxmlformats.org/drawingml/2006/main">
              <a:ext uri="{FF2B5EF4-FFF2-40B4-BE49-F238E27FC236}">
                <a16:creationId xmlns:a16="http://schemas.microsoft.com/office/drawing/2014/main" id="{1E64576E-4DA8-4251-B6AF-FF74DB3A7A75}"/>
              </a:ext>
            </a:extLst>
          </p:cNvPr>
          <p:cNvSpPr>
            <a:spLocks xmlns:a="http://schemas.openxmlformats.org/drawingml/2006/main" noGrp="1"/>
          </p:cNvSpPr>
          <p:nvPr/>
        </p:nvSpPr>
        <p:spPr>
          <a:xfrm xmlns:a="http://schemas.openxmlformats.org/drawingml/2006/main">
            <a:off x="1743075" y="1857375"/>
            <a:ext cx="1276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202020"/>
                </a:solidFill>
                <a:latin typeface="Times New Roman"/>
                <a:ea typeface="Times New Roman"/>
                <a:cs typeface="Times New Roman"/>
              </a:defRPr>
            </a:pPr>
            <a:r>
              <a:rPr sz="1800" b="0" i="0">
                <a:solidFill>
                  <a:srgbClr val="202020"/>
                </a:solidFill>
                <a:latin typeface="Times New Roman"/>
                <a:ea typeface="Times New Roman"/>
                <a:cs typeface="Times New Roman"/>
              </a:rPr>
              <a:t>Modulate</a:t>
            </a:r>
          </a:p>
        </p:txBody>
      </p:sp>
      <p:sp>
        <p:nvSpPr>
          <p:cNvPr id="7" name="flow-add-line">
            <a:extLst xmlns:a="http://schemas.openxmlformats.org/drawingml/2006/main">
              <a:ext uri="{FF2B5EF4-FFF2-40B4-BE49-F238E27FC236}">
                <a16:creationId xmlns:a16="http://schemas.microsoft.com/office/drawing/2014/main" id="{4CFAFF3D-EFC6-422A-90BE-0C9043540CDA}"/>
              </a:ext>
            </a:extLst>
          </p:cNvPr>
          <p:cNvSpPr>
            <a:spLocks xmlns:a="http://schemas.openxmlformats.org/drawingml/2006/main" noGrp="1"/>
          </p:cNvSpPr>
          <p:nvPr/>
        </p:nvSpPr>
        <p:spPr>
          <a:xfrm xmlns:a="http://schemas.openxmlformats.org/drawingml/2006/main">
            <a:off x="4467225" y="1571625"/>
            <a:ext cx="485775"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8" name="flow-add-head">
            <a:extLst xmlns:a="http://schemas.openxmlformats.org/drawingml/2006/main">
              <a:ext uri="{FF2B5EF4-FFF2-40B4-BE49-F238E27FC236}">
                <a16:creationId xmlns:a16="http://schemas.microsoft.com/office/drawing/2014/main" id="{60BCDAAC-BE35-4B72-934B-DE4ED1004FB1}"/>
              </a:ext>
            </a:extLst>
          </p:cNvPr>
          <p:cNvSpPr>
            <a:spLocks xmlns:a="http://schemas.openxmlformats.org/drawingml/2006/main" noGrp="1"/>
          </p:cNvSpPr>
          <p:nvPr/>
        </p:nvSpPr>
        <p:spPr>
          <a:xfrm xmlns:a="http://schemas.openxmlformats.org/drawingml/2006/main" rot="5400000">
            <a:off x="4933950" y="1533525"/>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9" name="op-add">
            <a:extLst xmlns:a="http://schemas.openxmlformats.org/drawingml/2006/main">
              <a:ext uri="{FF2B5EF4-FFF2-40B4-BE49-F238E27FC236}">
                <a16:creationId xmlns:a16="http://schemas.microsoft.com/office/drawing/2014/main" id="{2A05D91C-3174-45B3-AF71-CA53832C8CAF}"/>
              </a:ext>
            </a:extLst>
          </p:cNvPr>
          <p:cNvSpPr>
            <a:spLocks xmlns:a="http://schemas.openxmlformats.org/drawingml/2006/main" noGrp="1"/>
          </p:cNvSpPr>
          <p:nvPr/>
        </p:nvSpPr>
        <p:spPr>
          <a:xfrm xmlns:a="http://schemas.openxmlformats.org/drawingml/2006/main">
            <a:off x="4105275" y="1857375"/>
            <a:ext cx="1276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202020"/>
                </a:solidFill>
                <a:latin typeface="Times New Roman"/>
                <a:ea typeface="Times New Roman"/>
                <a:cs typeface="Times New Roman"/>
              </a:defRPr>
            </a:pPr>
            <a:r>
              <a:rPr sz="1800" b="0" i="0">
                <a:solidFill>
                  <a:srgbClr val="202020"/>
                </a:solidFill>
                <a:latin typeface="Times New Roman"/>
                <a:ea typeface="Times New Roman"/>
                <a:cs typeface="Times New Roman"/>
              </a:rPr>
              <a:t>Add</a:t>
            </a:r>
          </a:p>
        </p:txBody>
      </p:sp>
      <p:sp>
        <p:nvSpPr>
          <p:cNvPr id="10" name="flow-select-line">
            <a:extLst xmlns:a="http://schemas.openxmlformats.org/drawingml/2006/main">
              <a:ext uri="{FF2B5EF4-FFF2-40B4-BE49-F238E27FC236}">
                <a16:creationId xmlns:a16="http://schemas.microsoft.com/office/drawing/2014/main" id="{6E3B0BEB-80E2-4558-9384-090D3B580B16}"/>
              </a:ext>
            </a:extLst>
          </p:cNvPr>
          <p:cNvSpPr>
            <a:spLocks xmlns:a="http://schemas.openxmlformats.org/drawingml/2006/main" noGrp="1"/>
          </p:cNvSpPr>
          <p:nvPr/>
        </p:nvSpPr>
        <p:spPr>
          <a:xfrm xmlns:a="http://schemas.openxmlformats.org/drawingml/2006/main">
            <a:off x="7172325" y="1571625"/>
            <a:ext cx="36195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11" name="flow-select-head">
            <a:extLst xmlns:a="http://schemas.openxmlformats.org/drawingml/2006/main">
              <a:ext uri="{FF2B5EF4-FFF2-40B4-BE49-F238E27FC236}">
                <a16:creationId xmlns:a16="http://schemas.microsoft.com/office/drawing/2014/main" id="{D4EEB874-FE55-4088-814B-595A91AA82C5}"/>
              </a:ext>
            </a:extLst>
          </p:cNvPr>
          <p:cNvSpPr>
            <a:spLocks xmlns:a="http://schemas.openxmlformats.org/drawingml/2006/main" noGrp="1"/>
          </p:cNvSpPr>
          <p:nvPr/>
        </p:nvSpPr>
        <p:spPr>
          <a:xfrm xmlns:a="http://schemas.openxmlformats.org/drawingml/2006/main" rot="5400000">
            <a:off x="7515225" y="1533525"/>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2" name="op-select">
            <ns0:hlinkClick xmlns:ns0="http://schemas.openxmlformats.org/drawingml/2006/main" xmlns:ns1="http://schemas.openxmlformats.org/officeDocument/2006/relationships" ns1:id="rIdOverviewLink3" action="ppaction://hlinksldjump"/>
            <a:extLst xmlns:a="http://schemas.openxmlformats.org/drawingml/2006/main">
              <a:ext uri="{FF2B5EF4-FFF2-40B4-BE49-F238E27FC236}">
                <a16:creationId xmlns:a16="http://schemas.microsoft.com/office/drawing/2014/main" id="{B4735835-8DCF-4BF2-B62C-CBDD1F9CA2F4}"/>
              </a:ext>
            </a:extLst>
          </p:cNvPr>
          <p:cNvSpPr>
            <a:spLocks xmlns:a="http://schemas.openxmlformats.org/drawingml/2006/main" noGrp="1"/>
          </p:cNvSpPr>
          <p:nvPr/>
        </p:nvSpPr>
        <p:spPr>
          <a:xfrm xmlns:a="http://schemas.openxmlformats.org/drawingml/2006/main">
            <a:off x="6743700" y="1857375"/>
            <a:ext cx="1276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202020"/>
                </a:solidFill>
                <a:latin typeface="Times New Roman"/>
                <a:ea typeface="Times New Roman"/>
                <a:cs typeface="Times New Roman"/>
              </a:defRPr>
            </a:pPr>
            <a:r>
              <a:rPr sz="1800" b="0" i="0">
                <a:solidFill>
                  <a:srgbClr val="202020"/>
                </a:solidFill>
                <a:latin typeface="Times New Roman"/>
                <a:ea typeface="Times New Roman"/>
                <a:cs typeface="Times New Roman"/>
              </a:rPr>
              <a:t>Select</a:t>
            </a:r>
          </a:p>
        </p:txBody>
      </p:sp>
      <p:sp>
        <p:nvSpPr>
          <p:cNvPr id="13" name="flow-demodulate-line">
            <a:extLst xmlns:a="http://schemas.openxmlformats.org/drawingml/2006/main">
              <a:ext uri="{FF2B5EF4-FFF2-40B4-BE49-F238E27FC236}">
                <a16:creationId xmlns:a16="http://schemas.microsoft.com/office/drawing/2014/main" id="{CF24E354-43FB-47E9-BAA0-0353B42CA67E}"/>
              </a:ext>
            </a:extLst>
          </p:cNvPr>
          <p:cNvSpPr>
            <a:spLocks xmlns:a="http://schemas.openxmlformats.org/drawingml/2006/main" noGrp="1"/>
          </p:cNvSpPr>
          <p:nvPr/>
        </p:nvSpPr>
        <p:spPr>
          <a:xfrm xmlns:a="http://schemas.openxmlformats.org/drawingml/2006/main">
            <a:off x="9344025" y="1571625"/>
            <a:ext cx="47625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14" name="flow-demodulate-head">
            <a:extLst xmlns:a="http://schemas.openxmlformats.org/drawingml/2006/main">
              <a:ext uri="{FF2B5EF4-FFF2-40B4-BE49-F238E27FC236}">
                <a16:creationId xmlns:a16="http://schemas.microsoft.com/office/drawing/2014/main" id="{E5D382A3-709A-40B3-A678-E9DD7CB0C37F}"/>
              </a:ext>
            </a:extLst>
          </p:cNvPr>
          <p:cNvSpPr>
            <a:spLocks xmlns:a="http://schemas.openxmlformats.org/drawingml/2006/main" noGrp="1"/>
          </p:cNvSpPr>
          <p:nvPr/>
        </p:nvSpPr>
        <p:spPr>
          <a:xfrm xmlns:a="http://schemas.openxmlformats.org/drawingml/2006/main" rot="5400000">
            <a:off x="9801225" y="1533525"/>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op-demodulate">
            <ns0:hlinkClick xmlns:ns0="http://schemas.openxmlformats.org/drawingml/2006/main" xmlns:ns1="http://schemas.openxmlformats.org/officeDocument/2006/relationships" ns1:id="rIdOverviewLink2" action="ppaction://hlinksldjump"/>
            <a:extLst xmlns:a="http://schemas.openxmlformats.org/drawingml/2006/main">
              <a:ext uri="{FF2B5EF4-FFF2-40B4-BE49-F238E27FC236}">
                <a16:creationId xmlns:a16="http://schemas.microsoft.com/office/drawing/2014/main" id="{49E79D49-D3DF-4A9B-B049-50D844A6742C}"/>
              </a:ext>
            </a:extLst>
          </p:cNvPr>
          <p:cNvSpPr>
            <a:spLocks xmlns:a="http://schemas.openxmlformats.org/drawingml/2006/main" noGrp="1"/>
          </p:cNvSpPr>
          <p:nvPr/>
        </p:nvSpPr>
        <p:spPr>
          <a:xfrm xmlns:a="http://schemas.openxmlformats.org/drawingml/2006/main">
            <a:off x="8953500" y="1857375"/>
            <a:ext cx="1276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202020"/>
                </a:solidFill>
                <a:latin typeface="Times New Roman"/>
                <a:ea typeface="Times New Roman"/>
                <a:cs typeface="Times New Roman"/>
              </a:defRPr>
            </a:pPr>
            <a:r>
              <a:rPr sz="1800" b="0" i="0">
                <a:solidFill>
                  <a:srgbClr val="202020"/>
                </a:solidFill>
                <a:latin typeface="Times New Roman"/>
                <a:ea typeface="Times New Roman"/>
                <a:cs typeface="Times New Roman"/>
              </a:rPr>
              <a:t>Demodulate</a:t>
            </a:r>
          </a:p>
        </p:txBody>
      </p:sp>
      <p:sp>
        <p:nvSpPr>
          <p:cNvPr id="16" name="transmitted">
            <a:extLst xmlns:a="http://schemas.openxmlformats.org/drawingml/2006/main">
              <a:ext uri="{FF2B5EF4-FFF2-40B4-BE49-F238E27FC236}">
                <a16:creationId xmlns:a16="http://schemas.microsoft.com/office/drawing/2014/main" id="{28E96384-21CE-46C4-95C1-E6D72AF48B43}"/>
              </a:ext>
            </a:extLst>
          </p:cNvPr>
          <p:cNvSpPr>
            <a:spLocks xmlns:a="http://schemas.openxmlformats.org/drawingml/2006/main" noGrp="1"/>
          </p:cNvSpPr>
          <p:nvPr/>
        </p:nvSpPr>
        <p:spPr>
          <a:xfrm xmlns:a="http://schemas.openxmlformats.org/drawingml/2006/main">
            <a:off x="5105400" y="2419350"/>
            <a:ext cx="1981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Transmitted signal</a:t>
            </a:r>
          </a:p>
        </p:txBody>
      </p:sp>
      <p:sp>
        <p:nvSpPr>
          <p:cNvPr id="17" name="receive-method">
            <a:extLst xmlns:a="http://schemas.openxmlformats.org/drawingml/2006/main">
              <a:ext uri="{FF2B5EF4-FFF2-40B4-BE49-F238E27FC236}">
                <a16:creationId xmlns:a16="http://schemas.microsoft.com/office/drawing/2014/main" id="{904E73CE-F97F-4565-826E-A83B58ECEF86}"/>
              </a:ext>
            </a:extLst>
          </p:cNvPr>
          <p:cNvSpPr>
            <a:spLocks xmlns:a="http://schemas.openxmlformats.org/drawingml/2006/main" noGrp="1"/>
          </p:cNvSpPr>
          <p:nvPr/>
        </p:nvSpPr>
        <p:spPr>
          <a:xfrm xmlns:a="http://schemas.openxmlformats.org/drawingml/2006/main">
            <a:off x="7381875" y="223837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BPF</a:t>
            </a:r>
          </a:p>
        </p:txBody>
      </p:sp>
      <p:sp>
        <p:nvSpPr>
          <p:cNvPr id="18" name="recover-method">
            <a:extLst xmlns:a="http://schemas.openxmlformats.org/drawingml/2006/main">
              <a:ext uri="{FF2B5EF4-FFF2-40B4-BE49-F238E27FC236}">
                <a16:creationId xmlns:a16="http://schemas.microsoft.com/office/drawing/2014/main" id="{5A94E429-8677-4D64-A4D8-1D4326C0E365}"/>
              </a:ext>
            </a:extLst>
          </p:cNvPr>
          <p:cNvSpPr>
            <a:spLocks xmlns:a="http://schemas.openxmlformats.org/drawingml/2006/main" noGrp="1"/>
          </p:cNvSpPr>
          <p:nvPr/>
        </p:nvSpPr>
        <p:spPr>
          <a:xfrm xmlns:a="http://schemas.openxmlformats.org/drawingml/2006/main">
            <a:off x="9144000" y="22383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Mix + LPF</a:t>
            </a:r>
          </a:p>
        </p:txBody>
      </p:sp>
      <p:sp>
        <p:nvSpPr>
          <p:cNvPr id="19" name="axis-0-0-axis-line">
            <a:extLst xmlns:a="http://schemas.openxmlformats.org/drawingml/2006/main">
              <a:ext uri="{FF2B5EF4-FFF2-40B4-BE49-F238E27FC236}">
                <a16:creationId xmlns:a16="http://schemas.microsoft.com/office/drawing/2014/main" id="{B67E1E37-67B5-4AE6-ABDF-2D24087E0D93}"/>
              </a:ext>
            </a:extLst>
          </p:cNvPr>
          <p:cNvSpPr>
            <a:spLocks xmlns:a="http://schemas.openxmlformats.org/drawingml/2006/main" noGrp="1"/>
          </p:cNvSpPr>
          <p:nvPr/>
        </p:nvSpPr>
        <p:spPr>
          <a:xfrm xmlns:a="http://schemas.openxmlformats.org/drawingml/2006/main">
            <a:off x="685800" y="304800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20" name="axis-0-0-axis-head">
            <a:extLst xmlns:a="http://schemas.openxmlformats.org/drawingml/2006/main">
              <a:ext uri="{FF2B5EF4-FFF2-40B4-BE49-F238E27FC236}">
                <a16:creationId xmlns:a16="http://schemas.microsoft.com/office/drawing/2014/main" id="{63080EC3-3BAE-42CE-89B8-188429ECA5A2}"/>
              </a:ext>
            </a:extLst>
          </p:cNvPr>
          <p:cNvSpPr>
            <a:spLocks xmlns:a="http://schemas.openxmlformats.org/drawingml/2006/main" noGrp="1"/>
          </p:cNvSpPr>
          <p:nvPr/>
        </p:nvSpPr>
        <p:spPr>
          <a:xfrm xmlns:a="http://schemas.openxmlformats.org/drawingml/2006/main" rot="5400000">
            <a:off x="2114550" y="30099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1" name="axis-0-1-axis-line">
            <a:extLst xmlns:a="http://schemas.openxmlformats.org/drawingml/2006/main">
              <a:ext uri="{FF2B5EF4-FFF2-40B4-BE49-F238E27FC236}">
                <a16:creationId xmlns:a16="http://schemas.microsoft.com/office/drawing/2014/main" id="{21F18283-C3EE-4396-B56E-6384D134E738}"/>
              </a:ext>
            </a:extLst>
          </p:cNvPr>
          <p:cNvSpPr>
            <a:spLocks xmlns:a="http://schemas.openxmlformats.org/drawingml/2006/main" noGrp="1"/>
          </p:cNvSpPr>
          <p:nvPr/>
        </p:nvSpPr>
        <p:spPr>
          <a:xfrm xmlns:a="http://schemas.openxmlformats.org/drawingml/2006/main">
            <a:off x="685800" y="447675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22" name="axis-0-1-axis-head">
            <a:extLst xmlns:a="http://schemas.openxmlformats.org/drawingml/2006/main">
              <a:ext uri="{FF2B5EF4-FFF2-40B4-BE49-F238E27FC236}">
                <a16:creationId xmlns:a16="http://schemas.microsoft.com/office/drawing/2014/main" id="{7DE5F645-B5BF-49CC-A12F-F613A2AB71FD}"/>
              </a:ext>
            </a:extLst>
          </p:cNvPr>
          <p:cNvSpPr>
            <a:spLocks xmlns:a="http://schemas.openxmlformats.org/drawingml/2006/main" noGrp="1"/>
          </p:cNvSpPr>
          <p:nvPr/>
        </p:nvSpPr>
        <p:spPr>
          <a:xfrm xmlns:a="http://schemas.openxmlformats.org/drawingml/2006/main" rot="5400000">
            <a:off x="2114550" y="443865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3" name="axis-0-2-axis-line">
            <a:extLst xmlns:a="http://schemas.openxmlformats.org/drawingml/2006/main">
              <a:ext uri="{FF2B5EF4-FFF2-40B4-BE49-F238E27FC236}">
                <a16:creationId xmlns:a16="http://schemas.microsoft.com/office/drawing/2014/main" id="{7A34ECD0-1EB7-4574-A136-7AAE32E596A8}"/>
              </a:ext>
            </a:extLst>
          </p:cNvPr>
          <p:cNvSpPr>
            <a:spLocks xmlns:a="http://schemas.openxmlformats.org/drawingml/2006/main" noGrp="1"/>
          </p:cNvSpPr>
          <p:nvPr/>
        </p:nvSpPr>
        <p:spPr>
          <a:xfrm xmlns:a="http://schemas.openxmlformats.org/drawingml/2006/main">
            <a:off x="685800" y="590550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24" name="axis-0-2-axis-head">
            <a:extLst xmlns:a="http://schemas.openxmlformats.org/drawingml/2006/main">
              <a:ext uri="{FF2B5EF4-FFF2-40B4-BE49-F238E27FC236}">
                <a16:creationId xmlns:a16="http://schemas.microsoft.com/office/drawing/2014/main" id="{E9873526-F203-4338-9CF9-546D015CDA71}"/>
              </a:ext>
            </a:extLst>
          </p:cNvPr>
          <p:cNvSpPr>
            <a:spLocks xmlns:a="http://schemas.openxmlformats.org/drawingml/2006/main" noGrp="1"/>
          </p:cNvSpPr>
          <p:nvPr/>
        </p:nvSpPr>
        <p:spPr>
          <a:xfrm xmlns:a="http://schemas.openxmlformats.org/drawingml/2006/main" rot="5400000">
            <a:off x="2114550" y="58674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5" name="axis-1-0-axis-line">
            <a:extLst xmlns:a="http://schemas.openxmlformats.org/drawingml/2006/main">
              <a:ext uri="{FF2B5EF4-FFF2-40B4-BE49-F238E27FC236}">
                <a16:creationId xmlns:a16="http://schemas.microsoft.com/office/drawing/2014/main" id="{46155DC0-3143-4912-BF37-75163226EE33}"/>
              </a:ext>
            </a:extLst>
          </p:cNvPr>
          <p:cNvSpPr>
            <a:spLocks xmlns:a="http://schemas.openxmlformats.org/drawingml/2006/main" noGrp="1"/>
          </p:cNvSpPr>
          <p:nvPr/>
        </p:nvSpPr>
        <p:spPr>
          <a:xfrm xmlns:a="http://schemas.openxmlformats.org/drawingml/2006/main">
            <a:off x="2819400" y="304800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26" name="axis-1-0-axis-head">
            <a:extLst xmlns:a="http://schemas.openxmlformats.org/drawingml/2006/main">
              <a:ext uri="{FF2B5EF4-FFF2-40B4-BE49-F238E27FC236}">
                <a16:creationId xmlns:a16="http://schemas.microsoft.com/office/drawing/2014/main" id="{423E6F91-3879-4C83-9F12-A5C537EB140D}"/>
              </a:ext>
            </a:extLst>
          </p:cNvPr>
          <p:cNvSpPr>
            <a:spLocks xmlns:a="http://schemas.openxmlformats.org/drawingml/2006/main" noGrp="1"/>
          </p:cNvSpPr>
          <p:nvPr/>
        </p:nvSpPr>
        <p:spPr>
          <a:xfrm xmlns:a="http://schemas.openxmlformats.org/drawingml/2006/main" rot="5400000">
            <a:off x="4248150" y="30099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7" name="axis-1-1-axis-line">
            <a:extLst xmlns:a="http://schemas.openxmlformats.org/drawingml/2006/main">
              <a:ext uri="{FF2B5EF4-FFF2-40B4-BE49-F238E27FC236}">
                <a16:creationId xmlns:a16="http://schemas.microsoft.com/office/drawing/2014/main" id="{82CBE65A-0CEE-4EFD-B99C-1BC7E72750B7}"/>
              </a:ext>
            </a:extLst>
          </p:cNvPr>
          <p:cNvSpPr>
            <a:spLocks xmlns:a="http://schemas.openxmlformats.org/drawingml/2006/main" noGrp="1"/>
          </p:cNvSpPr>
          <p:nvPr/>
        </p:nvSpPr>
        <p:spPr>
          <a:xfrm xmlns:a="http://schemas.openxmlformats.org/drawingml/2006/main">
            <a:off x="2819400" y="447675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28" name="axis-1-1-axis-head">
            <a:extLst xmlns:a="http://schemas.openxmlformats.org/drawingml/2006/main">
              <a:ext uri="{FF2B5EF4-FFF2-40B4-BE49-F238E27FC236}">
                <a16:creationId xmlns:a16="http://schemas.microsoft.com/office/drawing/2014/main" id="{E954EF27-574F-46A0-86F5-FAFA04926048}"/>
              </a:ext>
            </a:extLst>
          </p:cNvPr>
          <p:cNvSpPr>
            <a:spLocks xmlns:a="http://schemas.openxmlformats.org/drawingml/2006/main" noGrp="1"/>
          </p:cNvSpPr>
          <p:nvPr/>
        </p:nvSpPr>
        <p:spPr>
          <a:xfrm xmlns:a="http://schemas.openxmlformats.org/drawingml/2006/main" rot="5400000">
            <a:off x="4248150" y="443865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9" name="axis-1-2-axis-line">
            <a:extLst xmlns:a="http://schemas.openxmlformats.org/drawingml/2006/main">
              <a:ext uri="{FF2B5EF4-FFF2-40B4-BE49-F238E27FC236}">
                <a16:creationId xmlns:a16="http://schemas.microsoft.com/office/drawing/2014/main" id="{9990BB73-AB3C-4791-875C-D8572189E105}"/>
              </a:ext>
            </a:extLst>
          </p:cNvPr>
          <p:cNvSpPr>
            <a:spLocks xmlns:a="http://schemas.openxmlformats.org/drawingml/2006/main" noGrp="1"/>
          </p:cNvSpPr>
          <p:nvPr/>
        </p:nvSpPr>
        <p:spPr>
          <a:xfrm xmlns:a="http://schemas.openxmlformats.org/drawingml/2006/main">
            <a:off x="2819400" y="590550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30" name="axis-1-2-axis-head">
            <a:extLst xmlns:a="http://schemas.openxmlformats.org/drawingml/2006/main">
              <a:ext uri="{FF2B5EF4-FFF2-40B4-BE49-F238E27FC236}">
                <a16:creationId xmlns:a16="http://schemas.microsoft.com/office/drawing/2014/main" id="{8590D3B3-BF55-44EC-8855-8AA9EDF70B9A}"/>
              </a:ext>
            </a:extLst>
          </p:cNvPr>
          <p:cNvSpPr>
            <a:spLocks xmlns:a="http://schemas.openxmlformats.org/drawingml/2006/main" noGrp="1"/>
          </p:cNvSpPr>
          <p:nvPr/>
        </p:nvSpPr>
        <p:spPr>
          <a:xfrm xmlns:a="http://schemas.openxmlformats.org/drawingml/2006/main" rot="5400000">
            <a:off x="4248150" y="58674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1" name="composite-axis-line">
            <a:extLst xmlns:a="http://schemas.openxmlformats.org/drawingml/2006/main">
              <a:ext uri="{FF2B5EF4-FFF2-40B4-BE49-F238E27FC236}">
                <a16:creationId xmlns:a16="http://schemas.microsoft.com/office/drawing/2014/main" id="{D3F3CEAC-F156-4D67-999E-51B32CC47FC5}"/>
              </a:ext>
            </a:extLst>
          </p:cNvPr>
          <p:cNvSpPr>
            <a:spLocks xmlns:a="http://schemas.openxmlformats.org/drawingml/2006/main" noGrp="1"/>
          </p:cNvSpPr>
          <p:nvPr/>
        </p:nvSpPr>
        <p:spPr>
          <a:xfrm xmlns:a="http://schemas.openxmlformats.org/drawingml/2006/main">
            <a:off x="5143500" y="4476750"/>
            <a:ext cx="1828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32" name="composite-axis-head">
            <a:extLst xmlns:a="http://schemas.openxmlformats.org/drawingml/2006/main">
              <a:ext uri="{FF2B5EF4-FFF2-40B4-BE49-F238E27FC236}">
                <a16:creationId xmlns:a16="http://schemas.microsoft.com/office/drawing/2014/main" id="{2B13AB82-44AC-49B7-8E20-7DED0CC6ED07}"/>
              </a:ext>
            </a:extLst>
          </p:cNvPr>
          <p:cNvSpPr>
            <a:spLocks xmlns:a="http://schemas.openxmlformats.org/drawingml/2006/main" noGrp="1"/>
          </p:cNvSpPr>
          <p:nvPr/>
        </p:nvSpPr>
        <p:spPr>
          <a:xfrm xmlns:a="http://schemas.openxmlformats.org/drawingml/2006/main" rot="5400000">
            <a:off x="6953250" y="443865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3" name="axis-3-0-axis-line">
            <a:extLst xmlns:a="http://schemas.openxmlformats.org/drawingml/2006/main">
              <a:ext uri="{FF2B5EF4-FFF2-40B4-BE49-F238E27FC236}">
                <a16:creationId xmlns:a16="http://schemas.microsoft.com/office/drawing/2014/main" id="{2D184323-2572-424C-A921-89F289A6C8D8}"/>
              </a:ext>
            </a:extLst>
          </p:cNvPr>
          <p:cNvSpPr>
            <a:spLocks xmlns:a="http://schemas.openxmlformats.org/drawingml/2006/main" noGrp="1"/>
          </p:cNvSpPr>
          <p:nvPr/>
        </p:nvSpPr>
        <p:spPr>
          <a:xfrm xmlns:a="http://schemas.openxmlformats.org/drawingml/2006/main">
            <a:off x="7715250" y="304800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34" name="axis-3-0-axis-head">
            <a:extLst xmlns:a="http://schemas.openxmlformats.org/drawingml/2006/main">
              <a:ext uri="{FF2B5EF4-FFF2-40B4-BE49-F238E27FC236}">
                <a16:creationId xmlns:a16="http://schemas.microsoft.com/office/drawing/2014/main" id="{7A19415C-8BBF-4889-9180-A622967A02E6}"/>
              </a:ext>
            </a:extLst>
          </p:cNvPr>
          <p:cNvSpPr>
            <a:spLocks xmlns:a="http://schemas.openxmlformats.org/drawingml/2006/main" noGrp="1"/>
          </p:cNvSpPr>
          <p:nvPr/>
        </p:nvSpPr>
        <p:spPr>
          <a:xfrm xmlns:a="http://schemas.openxmlformats.org/drawingml/2006/main" rot="5400000">
            <a:off x="9144000" y="30099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5" name="axis-3-1-axis-line">
            <a:extLst xmlns:a="http://schemas.openxmlformats.org/drawingml/2006/main">
              <a:ext uri="{FF2B5EF4-FFF2-40B4-BE49-F238E27FC236}">
                <a16:creationId xmlns:a16="http://schemas.microsoft.com/office/drawing/2014/main" id="{68D4F276-4BD0-48CD-82B8-EF9F5F8EC8D6}"/>
              </a:ext>
            </a:extLst>
          </p:cNvPr>
          <p:cNvSpPr>
            <a:spLocks xmlns:a="http://schemas.openxmlformats.org/drawingml/2006/main" noGrp="1"/>
          </p:cNvSpPr>
          <p:nvPr/>
        </p:nvSpPr>
        <p:spPr>
          <a:xfrm xmlns:a="http://schemas.openxmlformats.org/drawingml/2006/main">
            <a:off x="7715250" y="447675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36" name="axis-3-1-axis-head">
            <a:extLst xmlns:a="http://schemas.openxmlformats.org/drawingml/2006/main">
              <a:ext uri="{FF2B5EF4-FFF2-40B4-BE49-F238E27FC236}">
                <a16:creationId xmlns:a16="http://schemas.microsoft.com/office/drawing/2014/main" id="{EE2AC6F8-1586-4B85-B5FF-50686A14109F}"/>
              </a:ext>
            </a:extLst>
          </p:cNvPr>
          <p:cNvSpPr>
            <a:spLocks xmlns:a="http://schemas.openxmlformats.org/drawingml/2006/main" noGrp="1"/>
          </p:cNvSpPr>
          <p:nvPr/>
        </p:nvSpPr>
        <p:spPr>
          <a:xfrm xmlns:a="http://schemas.openxmlformats.org/drawingml/2006/main" rot="5400000">
            <a:off x="9144000" y="443865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7" name="axis-3-2-axis-line">
            <a:extLst xmlns:a="http://schemas.openxmlformats.org/drawingml/2006/main">
              <a:ext uri="{FF2B5EF4-FFF2-40B4-BE49-F238E27FC236}">
                <a16:creationId xmlns:a16="http://schemas.microsoft.com/office/drawing/2014/main" id="{593C9C85-7151-4B76-8398-464674472616}"/>
              </a:ext>
            </a:extLst>
          </p:cNvPr>
          <p:cNvSpPr>
            <a:spLocks xmlns:a="http://schemas.openxmlformats.org/drawingml/2006/main" noGrp="1"/>
          </p:cNvSpPr>
          <p:nvPr/>
        </p:nvSpPr>
        <p:spPr>
          <a:xfrm xmlns:a="http://schemas.openxmlformats.org/drawingml/2006/main">
            <a:off x="7715250" y="590550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38" name="axis-3-2-axis-head">
            <a:extLst xmlns:a="http://schemas.openxmlformats.org/drawingml/2006/main">
              <a:ext uri="{FF2B5EF4-FFF2-40B4-BE49-F238E27FC236}">
                <a16:creationId xmlns:a16="http://schemas.microsoft.com/office/drawing/2014/main" id="{7C2E55A2-DF02-4EB5-BF91-099D5EF18636}"/>
              </a:ext>
            </a:extLst>
          </p:cNvPr>
          <p:cNvSpPr>
            <a:spLocks xmlns:a="http://schemas.openxmlformats.org/drawingml/2006/main" noGrp="1"/>
          </p:cNvSpPr>
          <p:nvPr/>
        </p:nvSpPr>
        <p:spPr>
          <a:xfrm xmlns:a="http://schemas.openxmlformats.org/drawingml/2006/main" rot="5400000">
            <a:off x="9144000" y="58674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9" name="axis-4-0-axis-line">
            <a:extLst xmlns:a="http://schemas.openxmlformats.org/drawingml/2006/main">
              <a:ext uri="{FF2B5EF4-FFF2-40B4-BE49-F238E27FC236}">
                <a16:creationId xmlns:a16="http://schemas.microsoft.com/office/drawing/2014/main" id="{5D295BCD-2B5A-4774-AD28-88AFBB2CF215}"/>
              </a:ext>
            </a:extLst>
          </p:cNvPr>
          <p:cNvSpPr>
            <a:spLocks xmlns:a="http://schemas.openxmlformats.org/drawingml/2006/main" noGrp="1"/>
          </p:cNvSpPr>
          <p:nvPr/>
        </p:nvSpPr>
        <p:spPr>
          <a:xfrm xmlns:a="http://schemas.openxmlformats.org/drawingml/2006/main">
            <a:off x="10001250" y="304800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40" name="axis-4-0-axis-head">
            <a:extLst xmlns:a="http://schemas.openxmlformats.org/drawingml/2006/main">
              <a:ext uri="{FF2B5EF4-FFF2-40B4-BE49-F238E27FC236}">
                <a16:creationId xmlns:a16="http://schemas.microsoft.com/office/drawing/2014/main" id="{4F0CF692-34C9-407E-A8DA-E8270FC843E5}"/>
              </a:ext>
            </a:extLst>
          </p:cNvPr>
          <p:cNvSpPr>
            <a:spLocks xmlns:a="http://schemas.openxmlformats.org/drawingml/2006/main" noGrp="1"/>
          </p:cNvSpPr>
          <p:nvPr/>
        </p:nvSpPr>
        <p:spPr>
          <a:xfrm xmlns:a="http://schemas.openxmlformats.org/drawingml/2006/main" rot="5400000">
            <a:off x="11430000" y="30099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1" name="axis-4-1-axis-line">
            <a:extLst xmlns:a="http://schemas.openxmlformats.org/drawingml/2006/main">
              <a:ext uri="{FF2B5EF4-FFF2-40B4-BE49-F238E27FC236}">
                <a16:creationId xmlns:a16="http://schemas.microsoft.com/office/drawing/2014/main" id="{E1C249D5-C379-4BC9-987C-6C3CFEA6C41C}"/>
              </a:ext>
            </a:extLst>
          </p:cNvPr>
          <p:cNvSpPr>
            <a:spLocks xmlns:a="http://schemas.openxmlformats.org/drawingml/2006/main" noGrp="1"/>
          </p:cNvSpPr>
          <p:nvPr/>
        </p:nvSpPr>
        <p:spPr>
          <a:xfrm xmlns:a="http://schemas.openxmlformats.org/drawingml/2006/main">
            <a:off x="10001250" y="447675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42" name="axis-4-1-axis-head">
            <a:extLst xmlns:a="http://schemas.openxmlformats.org/drawingml/2006/main">
              <a:ext uri="{FF2B5EF4-FFF2-40B4-BE49-F238E27FC236}">
                <a16:creationId xmlns:a16="http://schemas.microsoft.com/office/drawing/2014/main" id="{DF67BBAF-E54C-4EA7-8E0F-AA233374B45D}"/>
              </a:ext>
            </a:extLst>
          </p:cNvPr>
          <p:cNvSpPr>
            <a:spLocks xmlns:a="http://schemas.openxmlformats.org/drawingml/2006/main" noGrp="1"/>
          </p:cNvSpPr>
          <p:nvPr/>
        </p:nvSpPr>
        <p:spPr>
          <a:xfrm xmlns:a="http://schemas.openxmlformats.org/drawingml/2006/main" rot="5400000">
            <a:off x="11430000" y="443865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3" name="axis-4-2-axis-line">
            <a:extLst xmlns:a="http://schemas.openxmlformats.org/drawingml/2006/main">
              <a:ext uri="{FF2B5EF4-FFF2-40B4-BE49-F238E27FC236}">
                <a16:creationId xmlns:a16="http://schemas.microsoft.com/office/drawing/2014/main" id="{6148F888-94EE-452E-A142-2F5678ADAA0D}"/>
              </a:ext>
            </a:extLst>
          </p:cNvPr>
          <p:cNvSpPr>
            <a:spLocks xmlns:a="http://schemas.openxmlformats.org/drawingml/2006/main" noGrp="1"/>
          </p:cNvSpPr>
          <p:nvPr/>
        </p:nvSpPr>
        <p:spPr>
          <a:xfrm xmlns:a="http://schemas.openxmlformats.org/drawingml/2006/main">
            <a:off x="10001250" y="5905500"/>
            <a:ext cx="1447800" cy="17145"/>
          </a:xfrm>
          <a:prstGeom xmlns:a="http://schemas.openxmlformats.org/drawingml/2006/main" prst="rect">
            <a:avLst/>
          </a:prstGeom>
          <a:solidFill xmlns:a="http://schemas.openxmlformats.org/drawingml/2006/main">
            <a:srgbClr val="333333"/>
          </a:solidFill>
          <a:ln xmlns:a="http://schemas.openxmlformats.org/drawingml/2006/main" w="0">
            <a:noFill/>
          </a:ln>
        </p:spPr>
      </p:sp>
      <p:sp>
        <p:nvSpPr>
          <p:cNvPr id="44" name="axis-4-2-axis-head">
            <a:extLst xmlns:a="http://schemas.openxmlformats.org/drawingml/2006/main">
              <a:ext uri="{FF2B5EF4-FFF2-40B4-BE49-F238E27FC236}">
                <a16:creationId xmlns:a16="http://schemas.microsoft.com/office/drawing/2014/main" id="{DCEE78E2-4BAF-4F55-82C6-E5B63128D5CB}"/>
              </a:ext>
            </a:extLst>
          </p:cNvPr>
          <p:cNvSpPr>
            <a:spLocks xmlns:a="http://schemas.openxmlformats.org/drawingml/2006/main" noGrp="1"/>
          </p:cNvSpPr>
          <p:nvPr/>
        </p:nvSpPr>
        <p:spPr>
          <a:xfrm xmlns:a="http://schemas.openxmlformats.org/drawingml/2006/main" rot="5400000">
            <a:off x="11430000" y="5867400"/>
            <a:ext cx="95250" cy="9525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5" name="message-0">
            <a:extLst xmlns:a="http://schemas.openxmlformats.org/drawingml/2006/main">
              <a:ext uri="{FF2B5EF4-FFF2-40B4-BE49-F238E27FC236}">
                <a16:creationId xmlns:a16="http://schemas.microsoft.com/office/drawing/2014/main" id="{3B7E3D18-6DFB-4616-AA0D-72989E1D3C81}"/>
              </a:ext>
            </a:extLst>
          </p:cNvPr>
          <p:cNvSpPr>
            <a:spLocks xmlns:a="http://schemas.openxmlformats.org/drawingml/2006/main" noGrp="1"/>
          </p:cNvSpPr>
          <p:nvPr/>
        </p:nvSpPr>
        <p:spPr>
          <a:xfrm xmlns:a="http://schemas.openxmlformats.org/drawingml/2006/main">
            <a:off x="1366838" y="2381250"/>
            <a:ext cx="161925" cy="666750"/>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46" name="message-1">
            <a:extLst xmlns:a="http://schemas.openxmlformats.org/drawingml/2006/main">
              <a:ext uri="{FF2B5EF4-FFF2-40B4-BE49-F238E27FC236}">
                <a16:creationId xmlns:a16="http://schemas.microsoft.com/office/drawing/2014/main" id="{5A8032A3-3C7F-4274-ABCC-4BF177C83AE8}"/>
              </a:ext>
            </a:extLst>
          </p:cNvPr>
          <p:cNvSpPr>
            <a:spLocks xmlns:a="http://schemas.openxmlformats.org/drawingml/2006/main" noGrp="1"/>
          </p:cNvSpPr>
          <p:nvPr/>
        </p:nvSpPr>
        <p:spPr>
          <a:xfrm xmlns:a="http://schemas.openxmlformats.org/drawingml/2006/main">
            <a:off x="1366838" y="3810000"/>
            <a:ext cx="161925" cy="666750"/>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47" name="message-2">
            <a:extLst xmlns:a="http://schemas.openxmlformats.org/drawingml/2006/main">
              <a:ext uri="{FF2B5EF4-FFF2-40B4-BE49-F238E27FC236}">
                <a16:creationId xmlns:a16="http://schemas.microsoft.com/office/drawing/2014/main" id="{709B3B25-2279-457F-8369-6A0B54A88113}"/>
              </a:ext>
            </a:extLst>
          </p:cNvPr>
          <p:cNvSpPr>
            <a:spLocks xmlns:a="http://schemas.openxmlformats.org/drawingml/2006/main" noGrp="1"/>
          </p:cNvSpPr>
          <p:nvPr/>
        </p:nvSpPr>
        <p:spPr>
          <a:xfrm xmlns:a="http://schemas.openxmlformats.org/drawingml/2006/main">
            <a:off x="1366838" y="5238750"/>
            <a:ext cx="161925" cy="666750"/>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48" name="modulated-0--1">
            <a:extLst xmlns:a="http://schemas.openxmlformats.org/drawingml/2006/main">
              <a:ext uri="{FF2B5EF4-FFF2-40B4-BE49-F238E27FC236}">
                <a16:creationId xmlns:a16="http://schemas.microsoft.com/office/drawing/2014/main" id="{4EB98F57-E2CC-4B78-B9BF-57FCECDC10BD}"/>
              </a:ext>
            </a:extLst>
          </p:cNvPr>
          <p:cNvSpPr>
            <a:spLocks xmlns:a="http://schemas.openxmlformats.org/drawingml/2006/main" noGrp="1"/>
          </p:cNvSpPr>
          <p:nvPr/>
        </p:nvSpPr>
        <p:spPr>
          <a:xfrm xmlns:a="http://schemas.openxmlformats.org/drawingml/2006/main">
            <a:off x="3309938" y="2714625"/>
            <a:ext cx="161925" cy="333375"/>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49" name="modulated-0-1">
            <a:extLst xmlns:a="http://schemas.openxmlformats.org/drawingml/2006/main">
              <a:ext uri="{FF2B5EF4-FFF2-40B4-BE49-F238E27FC236}">
                <a16:creationId xmlns:a16="http://schemas.microsoft.com/office/drawing/2014/main" id="{982FA8F5-9970-41D8-A419-8B05E38B6964}"/>
              </a:ext>
            </a:extLst>
          </p:cNvPr>
          <p:cNvSpPr>
            <a:spLocks xmlns:a="http://schemas.openxmlformats.org/drawingml/2006/main" noGrp="1"/>
          </p:cNvSpPr>
          <p:nvPr/>
        </p:nvSpPr>
        <p:spPr>
          <a:xfrm xmlns:a="http://schemas.openxmlformats.org/drawingml/2006/main">
            <a:off x="3690938" y="2714625"/>
            <a:ext cx="161925" cy="333375"/>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50" name="modulated-1--1">
            <a:extLst xmlns:a="http://schemas.openxmlformats.org/drawingml/2006/main">
              <a:ext uri="{FF2B5EF4-FFF2-40B4-BE49-F238E27FC236}">
                <a16:creationId xmlns:a16="http://schemas.microsoft.com/office/drawing/2014/main" id="{86F3FDA1-1ABB-4D02-AB3D-156252E3658E}"/>
              </a:ext>
            </a:extLst>
          </p:cNvPr>
          <p:cNvSpPr>
            <a:spLocks xmlns:a="http://schemas.openxmlformats.org/drawingml/2006/main" noGrp="1"/>
          </p:cNvSpPr>
          <p:nvPr/>
        </p:nvSpPr>
        <p:spPr>
          <a:xfrm xmlns:a="http://schemas.openxmlformats.org/drawingml/2006/main">
            <a:off x="3119438" y="4143375"/>
            <a:ext cx="161925" cy="333375"/>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51" name="modulated-1-1">
            <a:extLst xmlns:a="http://schemas.openxmlformats.org/drawingml/2006/main">
              <a:ext uri="{FF2B5EF4-FFF2-40B4-BE49-F238E27FC236}">
                <a16:creationId xmlns:a16="http://schemas.microsoft.com/office/drawing/2014/main" id="{E8F97E3D-E27F-4C56-8AA2-827EE2FE2ADA}"/>
              </a:ext>
            </a:extLst>
          </p:cNvPr>
          <p:cNvSpPr>
            <a:spLocks xmlns:a="http://schemas.openxmlformats.org/drawingml/2006/main" noGrp="1"/>
          </p:cNvSpPr>
          <p:nvPr/>
        </p:nvSpPr>
        <p:spPr>
          <a:xfrm xmlns:a="http://schemas.openxmlformats.org/drawingml/2006/main">
            <a:off x="3881438" y="4143375"/>
            <a:ext cx="161925" cy="333375"/>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52" name="modulated-2--1">
            <a:extLst xmlns:a="http://schemas.openxmlformats.org/drawingml/2006/main">
              <a:ext uri="{FF2B5EF4-FFF2-40B4-BE49-F238E27FC236}">
                <a16:creationId xmlns:a16="http://schemas.microsoft.com/office/drawing/2014/main" id="{117017B5-D2C3-443E-A838-0EB56ABD80DC}"/>
              </a:ext>
            </a:extLst>
          </p:cNvPr>
          <p:cNvSpPr>
            <a:spLocks xmlns:a="http://schemas.openxmlformats.org/drawingml/2006/main" noGrp="1"/>
          </p:cNvSpPr>
          <p:nvPr/>
        </p:nvSpPr>
        <p:spPr>
          <a:xfrm xmlns:a="http://schemas.openxmlformats.org/drawingml/2006/main">
            <a:off x="2928938" y="5572125"/>
            <a:ext cx="161925" cy="333375"/>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53" name="modulated-2-1">
            <a:extLst xmlns:a="http://schemas.openxmlformats.org/drawingml/2006/main">
              <a:ext uri="{FF2B5EF4-FFF2-40B4-BE49-F238E27FC236}">
                <a16:creationId xmlns:a16="http://schemas.microsoft.com/office/drawing/2014/main" id="{E12EF601-1B43-47E4-BDDF-A92FF1266771}"/>
              </a:ext>
            </a:extLst>
          </p:cNvPr>
          <p:cNvSpPr>
            <a:spLocks xmlns:a="http://schemas.openxmlformats.org/drawingml/2006/main" noGrp="1"/>
          </p:cNvSpPr>
          <p:nvPr/>
        </p:nvSpPr>
        <p:spPr>
          <a:xfrm xmlns:a="http://schemas.openxmlformats.org/drawingml/2006/main">
            <a:off x="4071938" y="5572125"/>
            <a:ext cx="161925" cy="333375"/>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54" name="combined-0--1">
            <a:extLst xmlns:a="http://schemas.openxmlformats.org/drawingml/2006/main">
              <a:ext uri="{FF2B5EF4-FFF2-40B4-BE49-F238E27FC236}">
                <a16:creationId xmlns:a16="http://schemas.microsoft.com/office/drawing/2014/main" id="{F8CD8F03-6134-4F0D-AC8F-5F30B5F11779}"/>
              </a:ext>
            </a:extLst>
          </p:cNvPr>
          <p:cNvSpPr>
            <a:spLocks xmlns:a="http://schemas.openxmlformats.org/drawingml/2006/main" noGrp="1"/>
          </p:cNvSpPr>
          <p:nvPr/>
        </p:nvSpPr>
        <p:spPr>
          <a:xfrm xmlns:a="http://schemas.openxmlformats.org/drawingml/2006/main">
            <a:off x="5756672" y="4143375"/>
            <a:ext cx="202406" cy="333375"/>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55" name="combined-0-1">
            <a:extLst xmlns:a="http://schemas.openxmlformats.org/drawingml/2006/main">
              <a:ext uri="{FF2B5EF4-FFF2-40B4-BE49-F238E27FC236}">
                <a16:creationId xmlns:a16="http://schemas.microsoft.com/office/drawing/2014/main" id="{1986D56B-7EF7-4AA9-A698-C716123BA15A}"/>
              </a:ext>
            </a:extLst>
          </p:cNvPr>
          <p:cNvSpPr>
            <a:spLocks xmlns:a="http://schemas.openxmlformats.org/drawingml/2006/main" noGrp="1"/>
          </p:cNvSpPr>
          <p:nvPr/>
        </p:nvSpPr>
        <p:spPr>
          <a:xfrm xmlns:a="http://schemas.openxmlformats.org/drawingml/2006/main">
            <a:off x="6232922" y="4143375"/>
            <a:ext cx="202406" cy="333375"/>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56" name="combined-1--1">
            <a:extLst xmlns:a="http://schemas.openxmlformats.org/drawingml/2006/main">
              <a:ext uri="{FF2B5EF4-FFF2-40B4-BE49-F238E27FC236}">
                <a16:creationId xmlns:a16="http://schemas.microsoft.com/office/drawing/2014/main" id="{522C8F8C-13F1-4E6C-B2CB-50C436B91621}"/>
              </a:ext>
            </a:extLst>
          </p:cNvPr>
          <p:cNvSpPr>
            <a:spLocks xmlns:a="http://schemas.openxmlformats.org/drawingml/2006/main" noGrp="1"/>
          </p:cNvSpPr>
          <p:nvPr/>
        </p:nvSpPr>
        <p:spPr>
          <a:xfrm xmlns:a="http://schemas.openxmlformats.org/drawingml/2006/main">
            <a:off x="5518547" y="4143375"/>
            <a:ext cx="202406" cy="333375"/>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57" name="combined-1-1">
            <a:extLst xmlns:a="http://schemas.openxmlformats.org/drawingml/2006/main">
              <a:ext uri="{FF2B5EF4-FFF2-40B4-BE49-F238E27FC236}">
                <a16:creationId xmlns:a16="http://schemas.microsoft.com/office/drawing/2014/main" id="{7F677766-D8A6-45D7-83C2-CB23E6582897}"/>
              </a:ext>
            </a:extLst>
          </p:cNvPr>
          <p:cNvSpPr>
            <a:spLocks xmlns:a="http://schemas.openxmlformats.org/drawingml/2006/main" noGrp="1"/>
          </p:cNvSpPr>
          <p:nvPr/>
        </p:nvSpPr>
        <p:spPr>
          <a:xfrm xmlns:a="http://schemas.openxmlformats.org/drawingml/2006/main">
            <a:off x="6471047" y="4143375"/>
            <a:ext cx="202406" cy="333375"/>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58" name="combined-2--1">
            <a:extLst xmlns:a="http://schemas.openxmlformats.org/drawingml/2006/main">
              <a:ext uri="{FF2B5EF4-FFF2-40B4-BE49-F238E27FC236}">
                <a16:creationId xmlns:a16="http://schemas.microsoft.com/office/drawing/2014/main" id="{63829A04-7665-466A-A348-54E12E7BB071}"/>
              </a:ext>
            </a:extLst>
          </p:cNvPr>
          <p:cNvSpPr>
            <a:spLocks xmlns:a="http://schemas.openxmlformats.org/drawingml/2006/main" noGrp="1"/>
          </p:cNvSpPr>
          <p:nvPr/>
        </p:nvSpPr>
        <p:spPr>
          <a:xfrm xmlns:a="http://schemas.openxmlformats.org/drawingml/2006/main">
            <a:off x="5280422" y="4143375"/>
            <a:ext cx="202406" cy="333375"/>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59" name="combined-2-1">
            <a:extLst xmlns:a="http://schemas.openxmlformats.org/drawingml/2006/main">
              <a:ext uri="{FF2B5EF4-FFF2-40B4-BE49-F238E27FC236}">
                <a16:creationId xmlns:a16="http://schemas.microsoft.com/office/drawing/2014/main" id="{DCF4D00D-2B08-4BF1-9100-2F5C1175188C}"/>
              </a:ext>
            </a:extLst>
          </p:cNvPr>
          <p:cNvSpPr>
            <a:spLocks xmlns:a="http://schemas.openxmlformats.org/drawingml/2006/main" noGrp="1"/>
          </p:cNvSpPr>
          <p:nvPr/>
        </p:nvSpPr>
        <p:spPr>
          <a:xfrm xmlns:a="http://schemas.openxmlformats.org/drawingml/2006/main">
            <a:off x="6709172" y="4143375"/>
            <a:ext cx="202406" cy="333375"/>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60" name="selected-0--1">
            <a:extLst xmlns:a="http://schemas.openxmlformats.org/drawingml/2006/main">
              <a:ext uri="{FF2B5EF4-FFF2-40B4-BE49-F238E27FC236}">
                <a16:creationId xmlns:a16="http://schemas.microsoft.com/office/drawing/2014/main" id="{2EA54FE6-C331-450B-A374-12496C0EB4D2}"/>
              </a:ext>
            </a:extLst>
          </p:cNvPr>
          <p:cNvSpPr>
            <a:spLocks xmlns:a="http://schemas.openxmlformats.org/drawingml/2006/main" noGrp="1"/>
          </p:cNvSpPr>
          <p:nvPr/>
        </p:nvSpPr>
        <p:spPr>
          <a:xfrm xmlns:a="http://schemas.openxmlformats.org/drawingml/2006/main">
            <a:off x="8205788" y="2714625"/>
            <a:ext cx="161925" cy="333375"/>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61" name="selected-0-1">
            <a:extLst xmlns:a="http://schemas.openxmlformats.org/drawingml/2006/main">
              <a:ext uri="{FF2B5EF4-FFF2-40B4-BE49-F238E27FC236}">
                <a16:creationId xmlns:a16="http://schemas.microsoft.com/office/drawing/2014/main" id="{0F09AB78-5497-4026-8519-D4B0AF163271}"/>
              </a:ext>
            </a:extLst>
          </p:cNvPr>
          <p:cNvSpPr>
            <a:spLocks xmlns:a="http://schemas.openxmlformats.org/drawingml/2006/main" noGrp="1"/>
          </p:cNvSpPr>
          <p:nvPr/>
        </p:nvSpPr>
        <p:spPr>
          <a:xfrm xmlns:a="http://schemas.openxmlformats.org/drawingml/2006/main">
            <a:off x="8586788" y="2714625"/>
            <a:ext cx="161925" cy="333375"/>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62" name="selected-1--1">
            <a:extLst xmlns:a="http://schemas.openxmlformats.org/drawingml/2006/main">
              <a:ext uri="{FF2B5EF4-FFF2-40B4-BE49-F238E27FC236}">
                <a16:creationId xmlns:a16="http://schemas.microsoft.com/office/drawing/2014/main" id="{0F64B01B-0693-4ED4-956F-FF335C00862B}"/>
              </a:ext>
            </a:extLst>
          </p:cNvPr>
          <p:cNvSpPr>
            <a:spLocks xmlns:a="http://schemas.openxmlformats.org/drawingml/2006/main" noGrp="1"/>
          </p:cNvSpPr>
          <p:nvPr/>
        </p:nvSpPr>
        <p:spPr>
          <a:xfrm xmlns:a="http://schemas.openxmlformats.org/drawingml/2006/main">
            <a:off x="8015288" y="4143375"/>
            <a:ext cx="161925" cy="333375"/>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63" name="selected-1-1">
            <a:extLst xmlns:a="http://schemas.openxmlformats.org/drawingml/2006/main">
              <a:ext uri="{FF2B5EF4-FFF2-40B4-BE49-F238E27FC236}">
                <a16:creationId xmlns:a16="http://schemas.microsoft.com/office/drawing/2014/main" id="{0A8A12EF-C550-4BA4-B7E6-2B7C50BB1C69}"/>
              </a:ext>
            </a:extLst>
          </p:cNvPr>
          <p:cNvSpPr>
            <a:spLocks xmlns:a="http://schemas.openxmlformats.org/drawingml/2006/main" noGrp="1"/>
          </p:cNvSpPr>
          <p:nvPr/>
        </p:nvSpPr>
        <p:spPr>
          <a:xfrm xmlns:a="http://schemas.openxmlformats.org/drawingml/2006/main">
            <a:off x="8777288" y="4143375"/>
            <a:ext cx="161925" cy="333375"/>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64" name="selected-2--1">
            <a:extLst xmlns:a="http://schemas.openxmlformats.org/drawingml/2006/main">
              <a:ext uri="{FF2B5EF4-FFF2-40B4-BE49-F238E27FC236}">
                <a16:creationId xmlns:a16="http://schemas.microsoft.com/office/drawing/2014/main" id="{00073A9E-445D-4B39-A881-6EBD862BCB07}"/>
              </a:ext>
            </a:extLst>
          </p:cNvPr>
          <p:cNvSpPr>
            <a:spLocks xmlns:a="http://schemas.openxmlformats.org/drawingml/2006/main" noGrp="1"/>
          </p:cNvSpPr>
          <p:nvPr/>
        </p:nvSpPr>
        <p:spPr>
          <a:xfrm xmlns:a="http://schemas.openxmlformats.org/drawingml/2006/main">
            <a:off x="7824788" y="5572125"/>
            <a:ext cx="161925" cy="333375"/>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65" name="selected-2-1">
            <a:extLst xmlns:a="http://schemas.openxmlformats.org/drawingml/2006/main">
              <a:ext uri="{FF2B5EF4-FFF2-40B4-BE49-F238E27FC236}">
                <a16:creationId xmlns:a16="http://schemas.microsoft.com/office/drawing/2014/main" id="{94F5E3D2-05F6-4859-9EF1-B0CD6FD40BE7}"/>
              </a:ext>
            </a:extLst>
          </p:cNvPr>
          <p:cNvSpPr>
            <a:spLocks xmlns:a="http://schemas.openxmlformats.org/drawingml/2006/main" noGrp="1"/>
          </p:cNvSpPr>
          <p:nvPr/>
        </p:nvSpPr>
        <p:spPr>
          <a:xfrm xmlns:a="http://schemas.openxmlformats.org/drawingml/2006/main">
            <a:off x="8967788" y="5572125"/>
            <a:ext cx="161925" cy="333375"/>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66" name="contribution-0--1">
            <a:extLst xmlns:a="http://schemas.openxmlformats.org/drawingml/2006/main">
              <a:ext uri="{FF2B5EF4-FFF2-40B4-BE49-F238E27FC236}">
                <a16:creationId xmlns:a16="http://schemas.microsoft.com/office/drawing/2014/main" id="{0AC03650-D51C-4977-B27E-BECAC26AEFB0}"/>
              </a:ext>
            </a:extLst>
          </p:cNvPr>
          <p:cNvSpPr>
            <a:spLocks xmlns:a="http://schemas.openxmlformats.org/drawingml/2006/main" noGrp="1"/>
          </p:cNvSpPr>
          <p:nvPr/>
        </p:nvSpPr>
        <p:spPr>
          <a:xfrm xmlns:a="http://schemas.openxmlformats.org/drawingml/2006/main">
            <a:off x="10682288" y="2714625"/>
            <a:ext cx="161925" cy="333375"/>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67" name="contribution-0-1">
            <a:extLst xmlns:a="http://schemas.openxmlformats.org/drawingml/2006/main">
              <a:ext uri="{FF2B5EF4-FFF2-40B4-BE49-F238E27FC236}">
                <a16:creationId xmlns:a16="http://schemas.microsoft.com/office/drawing/2014/main" id="{B73FCAEA-2EAF-47C0-AAD8-F0FE9823C7A5}"/>
              </a:ext>
            </a:extLst>
          </p:cNvPr>
          <p:cNvSpPr>
            <a:spLocks xmlns:a="http://schemas.openxmlformats.org/drawingml/2006/main" noGrp="1"/>
          </p:cNvSpPr>
          <p:nvPr/>
        </p:nvSpPr>
        <p:spPr>
          <a:xfrm xmlns:a="http://schemas.openxmlformats.org/drawingml/2006/main">
            <a:off x="10682288" y="2714625"/>
            <a:ext cx="161925" cy="333375"/>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68" name="recovered-0">
            <a:extLst xmlns:a="http://schemas.openxmlformats.org/drawingml/2006/main">
              <a:ext uri="{FF2B5EF4-FFF2-40B4-BE49-F238E27FC236}">
                <a16:creationId xmlns:a16="http://schemas.microsoft.com/office/drawing/2014/main" id="{C8266495-BBF6-4CB6-B86F-7CF7D0B19046}"/>
              </a:ext>
            </a:extLst>
          </p:cNvPr>
          <p:cNvSpPr>
            <a:spLocks xmlns:a="http://schemas.openxmlformats.org/drawingml/2006/main" noGrp="1"/>
          </p:cNvSpPr>
          <p:nvPr/>
        </p:nvSpPr>
        <p:spPr>
          <a:xfrm xmlns:a="http://schemas.openxmlformats.org/drawingml/2006/main">
            <a:off x="10682288" y="2381250"/>
            <a:ext cx="161925" cy="666750"/>
          </a:xfrm>
          <a:prstGeom xmlns:a="http://schemas.openxmlformats.org/drawingml/2006/main" prst="triangle">
            <a:avLst/>
          </a:prstGeom>
          <a:solidFill xmlns:a="http://schemas.openxmlformats.org/drawingml/2006/main">
            <a:srgbClr val="444444"/>
          </a:solidFill>
          <a:ln xmlns:a="http://schemas.openxmlformats.org/drawingml/2006/main" w="10478">
            <a:solidFill>
              <a:srgbClr val="202020"/>
            </a:solidFill>
          </a:ln>
        </p:spPr>
      </p:sp>
      <p:sp>
        <p:nvSpPr>
          <p:cNvPr id="69" name="contribution-1--1">
            <a:extLst xmlns:a="http://schemas.openxmlformats.org/drawingml/2006/main">
              <a:ext uri="{FF2B5EF4-FFF2-40B4-BE49-F238E27FC236}">
                <a16:creationId xmlns:a16="http://schemas.microsoft.com/office/drawing/2014/main" id="{DCE12B1F-0496-42F6-961A-73244BA048C1}"/>
              </a:ext>
            </a:extLst>
          </p:cNvPr>
          <p:cNvSpPr>
            <a:spLocks xmlns:a="http://schemas.openxmlformats.org/drawingml/2006/main" noGrp="1"/>
          </p:cNvSpPr>
          <p:nvPr/>
        </p:nvSpPr>
        <p:spPr>
          <a:xfrm xmlns:a="http://schemas.openxmlformats.org/drawingml/2006/main">
            <a:off x="10682288" y="4143375"/>
            <a:ext cx="161925" cy="333375"/>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70" name="contribution-1-1">
            <a:extLst xmlns:a="http://schemas.openxmlformats.org/drawingml/2006/main">
              <a:ext uri="{FF2B5EF4-FFF2-40B4-BE49-F238E27FC236}">
                <a16:creationId xmlns:a16="http://schemas.microsoft.com/office/drawing/2014/main" id="{FB9690F5-4D48-49B0-800E-C0B5D31EA6A1}"/>
              </a:ext>
            </a:extLst>
          </p:cNvPr>
          <p:cNvSpPr>
            <a:spLocks xmlns:a="http://schemas.openxmlformats.org/drawingml/2006/main" noGrp="1"/>
          </p:cNvSpPr>
          <p:nvPr/>
        </p:nvSpPr>
        <p:spPr>
          <a:xfrm xmlns:a="http://schemas.openxmlformats.org/drawingml/2006/main">
            <a:off x="10682288" y="4143375"/>
            <a:ext cx="161925" cy="333375"/>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71" name="recovered-1">
            <a:extLst xmlns:a="http://schemas.openxmlformats.org/drawingml/2006/main">
              <a:ext uri="{FF2B5EF4-FFF2-40B4-BE49-F238E27FC236}">
                <a16:creationId xmlns:a16="http://schemas.microsoft.com/office/drawing/2014/main" id="{15C78BDA-63C6-45EA-9B7F-52486235C575}"/>
              </a:ext>
            </a:extLst>
          </p:cNvPr>
          <p:cNvSpPr>
            <a:spLocks xmlns:a="http://schemas.openxmlformats.org/drawingml/2006/main" noGrp="1"/>
          </p:cNvSpPr>
          <p:nvPr/>
        </p:nvSpPr>
        <p:spPr>
          <a:xfrm xmlns:a="http://schemas.openxmlformats.org/drawingml/2006/main">
            <a:off x="10682288" y="3810000"/>
            <a:ext cx="161925" cy="666750"/>
          </a:xfrm>
          <a:prstGeom xmlns:a="http://schemas.openxmlformats.org/drawingml/2006/main" prst="triangle">
            <a:avLst/>
          </a:prstGeom>
          <a:solidFill xmlns:a="http://schemas.openxmlformats.org/drawingml/2006/main">
            <a:srgbClr val="999999"/>
          </a:solidFill>
          <a:ln xmlns:a="http://schemas.openxmlformats.org/drawingml/2006/main" w="10478">
            <a:solidFill>
              <a:srgbClr val="202020"/>
            </a:solidFill>
          </a:ln>
        </p:spPr>
      </p:sp>
      <p:sp>
        <p:nvSpPr>
          <p:cNvPr id="72" name="contribution-2--1">
            <a:extLst xmlns:a="http://schemas.openxmlformats.org/drawingml/2006/main">
              <a:ext uri="{FF2B5EF4-FFF2-40B4-BE49-F238E27FC236}">
                <a16:creationId xmlns:a16="http://schemas.microsoft.com/office/drawing/2014/main" id="{E6628C24-380C-44AC-A5A8-4DE9390802DF}"/>
              </a:ext>
            </a:extLst>
          </p:cNvPr>
          <p:cNvSpPr>
            <a:spLocks xmlns:a="http://schemas.openxmlformats.org/drawingml/2006/main" noGrp="1"/>
          </p:cNvSpPr>
          <p:nvPr/>
        </p:nvSpPr>
        <p:spPr>
          <a:xfrm xmlns:a="http://schemas.openxmlformats.org/drawingml/2006/main">
            <a:off x="10682288" y="5572125"/>
            <a:ext cx="161925" cy="333375"/>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73" name="contribution-2-1">
            <a:extLst xmlns:a="http://schemas.openxmlformats.org/drawingml/2006/main">
              <a:ext uri="{FF2B5EF4-FFF2-40B4-BE49-F238E27FC236}">
                <a16:creationId xmlns:a16="http://schemas.microsoft.com/office/drawing/2014/main" id="{5F0CBB07-B271-4A88-AEF0-FB09C008E58A}"/>
              </a:ext>
            </a:extLst>
          </p:cNvPr>
          <p:cNvSpPr>
            <a:spLocks xmlns:a="http://schemas.openxmlformats.org/drawingml/2006/main" noGrp="1"/>
          </p:cNvSpPr>
          <p:nvPr/>
        </p:nvSpPr>
        <p:spPr>
          <a:xfrm xmlns:a="http://schemas.openxmlformats.org/drawingml/2006/main">
            <a:off x="10682288" y="5572125"/>
            <a:ext cx="161925" cy="333375"/>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74" name="recovered-2">
            <a:extLst xmlns:a="http://schemas.openxmlformats.org/drawingml/2006/main">
              <a:ext uri="{FF2B5EF4-FFF2-40B4-BE49-F238E27FC236}">
                <a16:creationId xmlns:a16="http://schemas.microsoft.com/office/drawing/2014/main" id="{F27BEE2D-3019-4835-8E05-FF6F078518ED}"/>
              </a:ext>
            </a:extLst>
          </p:cNvPr>
          <p:cNvSpPr>
            <a:spLocks xmlns:a="http://schemas.openxmlformats.org/drawingml/2006/main" noGrp="1"/>
          </p:cNvSpPr>
          <p:nvPr/>
        </p:nvSpPr>
        <p:spPr>
          <a:xfrm xmlns:a="http://schemas.openxmlformats.org/drawingml/2006/main">
            <a:off x="10682288" y="5238750"/>
            <a:ext cx="161925" cy="666750"/>
          </a:xfrm>
          <a:prstGeom xmlns:a="http://schemas.openxmlformats.org/drawingml/2006/main" prst="triangle">
            <a:avLst/>
          </a:prstGeom>
          <a:solidFill xmlns:a="http://schemas.openxmlformats.org/drawingml/2006/main">
            <a:srgbClr val="D0D0D0"/>
          </a:solidFill>
          <a:ln xmlns:a="http://schemas.openxmlformats.org/drawingml/2006/main" w="10478">
            <a:solidFill>
              <a:srgbClr val="202020"/>
            </a:solidFill>
          </a:ln>
        </p:spPr>
      </p:sp>
      <p:sp>
        <p:nvSpPr>
          <p:cNvPr id="75" name="am-review">
            <ns0:hlinkClick xmlns:ns0="http://schemas.openxmlformats.org/drawingml/2006/main" xmlns:ns1="http://schemas.openxmlformats.org/officeDocument/2006/relationships" ns1:id="rIdOverviewLink4" action="ppaction://hlinksldjump"/>
            <a:extLst xmlns:a="http://schemas.openxmlformats.org/drawingml/2006/main">
              <a:ext uri="{FF2B5EF4-FFF2-40B4-BE49-F238E27FC236}">
                <a16:creationId xmlns:a16="http://schemas.microsoft.com/office/drawing/2014/main" id="{B8F13681-39D0-4DDE-B096-DA76F5548279}"/>
              </a:ext>
            </a:extLst>
          </p:cNvPr>
          <p:cNvSpPr>
            <a:spLocks xmlns:a="http://schemas.openxmlformats.org/drawingml/2006/main" noGrp="1"/>
          </p:cNvSpPr>
          <p:nvPr/>
        </p:nvSpPr>
        <p:spPr>
          <a:xfrm xmlns:a="http://schemas.openxmlformats.org/drawingml/2006/main">
            <a:off x="666750" y="62769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AM Review</a:t>
            </a:r>
          </a:p>
        </p:txBody>
      </p:sp>
      <p:pic>
        <p:nvPicPr>
          <p:cNvPr id="196" name="node-0" descr="m_1,m_2,m_3">
            <ns0:hlinkClick xmlns:ns0="http://schemas.openxmlformats.org/drawingml/2006/main" xmlns:ns1="http://schemas.openxmlformats.org/officeDocument/2006/relationships" ns1:id="rIdNav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0">
            <a:extLst>
              <a:ext uri="{96DAC541-7B7A-43D3-8B79-37D633B846F1}">
                <ns0:svgBlip xmlns:ns0="http://schemas.microsoft.com/office/drawing/2016/SVG/main" r:embed="rIdOverviewSvg0"/>
              </a:ext>
            </a:extLst>
          </a:blip>
          <a:stretch xmlns:a="http://schemas.openxmlformats.org/drawingml/2006/main"/>
        </p:blipFill>
        <p:spPr>
          <a:xfrm xmlns:a="http://schemas.openxmlformats.org/drawingml/2006/main">
            <a:off x="816769" y="1477417"/>
            <a:ext cx="1262063" cy="150316"/>
          </a:xfrm>
          <a:prstGeom xmlns:a="http://schemas.openxmlformats.org/drawingml/2006/main" prst="rect">
            <a:avLst/>
          </a:prstGeom>
        </p:spPr>
      </p:pic>
      <p:pic>
        <p:nvPicPr>
          <p:cNvPr id="197" name="node-1" descr="s_1,s_2,s_3">
            <ns0:hlinkClick xmlns:ns0="http://schemas.openxmlformats.org/drawingml/2006/main" xmlns:ns1="http://schemas.openxmlformats.org/officeDocument/2006/relationships" ns1:id="rIdOverviewLink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1">
            <a:extLst>
              <a:ext uri="{96DAC541-7B7A-43D3-8B79-37D633B846F1}">
                <ns1:svgBlip xmlns:ns1="http://schemas.microsoft.com/office/drawing/2016/SVG/main" r:embed="rIdOverviewSvg1"/>
              </a:ext>
            </a:extLst>
          </a:blip>
          <a:stretch xmlns:a="http://schemas.openxmlformats.org/drawingml/2006/main"/>
        </p:blipFill>
        <p:spPr>
          <a:xfrm xmlns:a="http://schemas.openxmlformats.org/drawingml/2006/main">
            <a:off x="3128963" y="1477417"/>
            <a:ext cx="904875" cy="150316"/>
          </a:xfrm>
          <a:prstGeom xmlns:a="http://schemas.openxmlformats.org/drawingml/2006/main" prst="rect">
            <a:avLst/>
          </a:prstGeom>
        </p:spPr>
      </p:pic>
      <p:pic>
        <p:nvPicPr>
          <p:cNvPr id="198" name="node-2" descr="s(t)">
            <ns0:hlinkClick xmlns:ns0="http://schemas.openxmlformats.org/drawingml/2006/main" xmlns:ns1="http://schemas.openxmlformats.org/officeDocument/2006/relationships" ns1:id="rIdOverviewLink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2">
            <a:extLst>
              <a:ext uri="{96DAC541-7B7A-43D3-8B79-37D633B846F1}">
                <ns2:svgBlip xmlns:ns2="http://schemas.microsoft.com/office/drawing/2016/SVG/main" r:embed="rIdOverviewSvg2"/>
              </a:ext>
            </a:extLst>
          </a:blip>
          <a:stretch xmlns:a="http://schemas.openxmlformats.org/drawingml/2006/main"/>
        </p:blipFill>
        <p:spPr>
          <a:xfrm xmlns:a="http://schemas.openxmlformats.org/drawingml/2006/main">
            <a:off x="5821680" y="1399985"/>
            <a:ext cx="548640" cy="305181"/>
          </a:xfrm>
          <a:prstGeom xmlns:a="http://schemas.openxmlformats.org/drawingml/2006/main" prst="rect">
            <a:avLst/>
          </a:prstGeom>
        </p:spPr>
      </p:pic>
      <p:pic>
        <p:nvPicPr>
          <p:cNvPr id="199" name="node-3" descr="s_1,s_2,s_3">
            <ns0:hlinkClick xmlns:ns0="http://schemas.openxmlformats.org/drawingml/2006/main" xmlns:ns1="http://schemas.openxmlformats.org/officeDocument/2006/relationships" ns1:id="rIdOverviewLink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3">
            <a:extLst>
              <a:ext uri="{96DAC541-7B7A-43D3-8B79-37D633B846F1}">
                <ns3:svgBlip xmlns:ns3="http://schemas.microsoft.com/office/drawing/2016/SVG/main" r:embed="rIdOverviewSvg3"/>
              </a:ext>
            </a:extLst>
          </a:blip>
          <a:stretch xmlns:a="http://schemas.openxmlformats.org/drawingml/2006/main"/>
        </p:blipFill>
        <p:spPr>
          <a:xfrm xmlns:a="http://schemas.openxmlformats.org/drawingml/2006/main">
            <a:off x="8024813" y="1477417"/>
            <a:ext cx="904875" cy="150316"/>
          </a:xfrm>
          <a:prstGeom xmlns:a="http://schemas.openxmlformats.org/drawingml/2006/main" prst="rect">
            <a:avLst/>
          </a:prstGeom>
        </p:spPr>
      </p:pic>
      <p:pic>
        <p:nvPicPr>
          <p:cNvPr id="200" name="node-4" descr="m_1,m_2,m_3">
            <ns0:hlinkClick xmlns:ns0="http://schemas.openxmlformats.org/drawingml/2006/main" xmlns:ns1="http://schemas.openxmlformats.org/officeDocument/2006/relationships" ns1:id="rIdNav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4">
            <a:extLst>
              <a:ext uri="{96DAC541-7B7A-43D3-8B79-37D633B846F1}">
                <ns4:svgBlip xmlns:ns4="http://schemas.microsoft.com/office/drawing/2016/SVG/main" r:embed="rIdOverviewSvg4"/>
              </a:ext>
            </a:extLst>
          </a:blip>
          <a:stretch xmlns:a="http://schemas.openxmlformats.org/drawingml/2006/main"/>
        </p:blipFill>
        <p:spPr>
          <a:xfrm xmlns:a="http://schemas.openxmlformats.org/drawingml/2006/main">
            <a:off x="10132219" y="1477417"/>
            <a:ext cx="1262063" cy="150316"/>
          </a:xfrm>
          <a:prstGeom xmlns:a="http://schemas.openxmlformats.org/drawingml/2006/main" prst="rect">
            <a:avLst/>
          </a:prstGeom>
        </p:spPr>
      </p:pic>
      <p:pic>
        <p:nvPicPr>
          <p:cNvPr id="201" name="axis-0-0-zero" descr="0"/>
          <p:cNvPicPr>
            <a:picLocks xmlns:a="http://schemas.openxmlformats.org/drawingml/2006/main" noChangeAspect="1"/>
          </p:cNvPicPr>
          <p:nvPr/>
        </p:nvPicPr>
        <p:blipFill>
          <a:blip xmlns:r="http://schemas.openxmlformats.org/officeDocument/2006/relationships" xmlns:a="http://schemas.openxmlformats.org/drawingml/2006/main" r:embed="rIdOverviewPng5">
            <a:extLst>
              <a:ext uri="{96DAC541-7B7A-43D3-8B79-37D633B846F1}">
                <ns5:svgBlip xmlns:ns5="http://schemas.microsoft.com/office/drawing/2016/SVG/main" r:embed="rIdOverviewSvg5"/>
              </a:ext>
            </a:extLst>
          </a:blip>
          <a:stretch xmlns:a="http://schemas.openxmlformats.org/drawingml/2006/main"/>
        </p:blipFill>
        <p:spPr>
          <a:xfrm xmlns:a="http://schemas.openxmlformats.org/drawingml/2006/main">
            <a:off x="1396365" y="3176195"/>
            <a:ext cx="102870" cy="115086"/>
          </a:xfrm>
          <a:prstGeom xmlns:a="http://schemas.openxmlformats.org/drawingml/2006/main" prst="rect">
            <a:avLst/>
          </a:prstGeom>
        </p:spPr>
      </p:pic>
      <p:pic>
        <p:nvPicPr>
          <p:cNvPr id="202" name="axis-0-0-f" descr="f"/>
          <p:cNvPicPr>
            <a:picLocks xmlns:a="http://schemas.openxmlformats.org/drawingml/2006/main" noChangeAspect="1"/>
          </p:cNvPicPr>
          <p:nvPr/>
        </p:nvPicPr>
        <p:blipFill>
          <a:blip xmlns:r="http://schemas.openxmlformats.org/officeDocument/2006/relationships" xmlns:a="http://schemas.openxmlformats.org/drawingml/2006/main" r:embed="rIdOverviewPng6">
            <a:extLst>
              <a:ext uri="{96DAC541-7B7A-43D3-8B79-37D633B846F1}">
                <ns6:svgBlip xmlns:ns6="http://schemas.microsoft.com/office/drawing/2016/SVG/main" r:embed="rIdOverviewSvg6"/>
              </a:ext>
            </a:extLst>
          </a:blip>
          <a:stretch xmlns:a="http://schemas.openxmlformats.org/drawingml/2006/main"/>
        </p:blipFill>
        <p:spPr>
          <a:xfrm xmlns:a="http://schemas.openxmlformats.org/drawingml/2006/main">
            <a:off x="2238375" y="2878663"/>
            <a:ext cx="85725" cy="129123"/>
          </a:xfrm>
          <a:prstGeom xmlns:a="http://schemas.openxmlformats.org/drawingml/2006/main" prst="rect">
            <a:avLst/>
          </a:prstGeom>
        </p:spPr>
      </p:pic>
      <p:pic>
        <p:nvPicPr>
          <p:cNvPr id="203" name="label-0-0" descr="M_1(f)">
            <ns0:hlinkClick xmlns:ns0="http://schemas.openxmlformats.org/drawingml/2006/main" xmlns:ns1="http://schemas.openxmlformats.org/officeDocument/2006/relationships" ns1:id="rIdOverviewLink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7">
            <a:extLst>
              <a:ext uri="{96DAC541-7B7A-43D3-8B79-37D633B846F1}">
                <ns7:svgBlip xmlns:ns7="http://schemas.microsoft.com/office/drawing/2016/SVG/main" r:embed="rIdOverviewSvg7"/>
              </a:ext>
            </a:extLst>
          </a:blip>
          <a:stretch xmlns:a="http://schemas.openxmlformats.org/drawingml/2006/main"/>
        </p:blipFill>
        <p:spPr>
          <a:xfrm xmlns:a="http://schemas.openxmlformats.org/drawingml/2006/main">
            <a:off x="1116330" y="2078593"/>
            <a:ext cx="662940" cy="224314"/>
          </a:xfrm>
          <a:prstGeom xmlns:a="http://schemas.openxmlformats.org/drawingml/2006/main" prst="rect">
            <a:avLst/>
          </a:prstGeom>
        </p:spPr>
      </p:pic>
      <p:pic>
        <p:nvPicPr>
          <p:cNvPr id="204" name="axis-0-1-zero" descr="0"/>
          <p:cNvPicPr>
            <a:picLocks xmlns:a="http://schemas.openxmlformats.org/drawingml/2006/main" noChangeAspect="1"/>
          </p:cNvPicPr>
          <p:nvPr/>
        </p:nvPicPr>
        <p:blipFill>
          <a:blip xmlns:r="http://schemas.openxmlformats.org/officeDocument/2006/relationships" xmlns:a="http://schemas.openxmlformats.org/drawingml/2006/main" r:embed="rIdOverviewPng8">
            <a:extLst>
              <a:ext uri="{96DAC541-7B7A-43D3-8B79-37D633B846F1}">
                <ns8:svgBlip xmlns:ns8="http://schemas.microsoft.com/office/drawing/2016/SVG/main" r:embed="rIdOverviewSvg8"/>
              </a:ext>
            </a:extLst>
          </a:blip>
          <a:stretch xmlns:a="http://schemas.openxmlformats.org/drawingml/2006/main"/>
        </p:blipFill>
        <p:spPr>
          <a:xfrm xmlns:a="http://schemas.openxmlformats.org/drawingml/2006/main">
            <a:off x="1396365" y="4604945"/>
            <a:ext cx="102870" cy="115086"/>
          </a:xfrm>
          <a:prstGeom xmlns:a="http://schemas.openxmlformats.org/drawingml/2006/main" prst="rect">
            <a:avLst/>
          </a:prstGeom>
        </p:spPr>
      </p:pic>
      <p:pic>
        <p:nvPicPr>
          <p:cNvPr id="205" name="axis-0-1-f" descr="f"/>
          <p:cNvPicPr>
            <a:picLocks xmlns:a="http://schemas.openxmlformats.org/drawingml/2006/main" noChangeAspect="1"/>
          </p:cNvPicPr>
          <p:nvPr/>
        </p:nvPicPr>
        <p:blipFill>
          <a:blip xmlns:r="http://schemas.openxmlformats.org/officeDocument/2006/relationships" xmlns:a="http://schemas.openxmlformats.org/drawingml/2006/main" r:embed="rIdOverviewPng9">
            <a:extLst>
              <a:ext uri="{96DAC541-7B7A-43D3-8B79-37D633B846F1}">
                <ns9:svgBlip xmlns:ns9="http://schemas.microsoft.com/office/drawing/2016/SVG/main" r:embed="rIdOverviewSvg9"/>
              </a:ext>
            </a:extLst>
          </a:blip>
          <a:stretch xmlns:a="http://schemas.openxmlformats.org/drawingml/2006/main"/>
        </p:blipFill>
        <p:spPr>
          <a:xfrm xmlns:a="http://schemas.openxmlformats.org/drawingml/2006/main">
            <a:off x="2238375" y="4307413"/>
            <a:ext cx="85725" cy="129123"/>
          </a:xfrm>
          <a:prstGeom xmlns:a="http://schemas.openxmlformats.org/drawingml/2006/main" prst="rect">
            <a:avLst/>
          </a:prstGeom>
        </p:spPr>
      </p:pic>
      <p:pic>
        <p:nvPicPr>
          <p:cNvPr id="206" name="label-0-1" descr="M_2(f)">
            <ns0:hlinkClick xmlns:ns0="http://schemas.openxmlformats.org/drawingml/2006/main" xmlns:ns1="http://schemas.openxmlformats.org/officeDocument/2006/relationships" ns1:id="rIdOverviewLink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10">
            <a:extLst>
              <a:ext uri="{96DAC541-7B7A-43D3-8B79-37D633B846F1}">
                <ns10:svgBlip xmlns:ns10="http://schemas.microsoft.com/office/drawing/2016/SVG/main" r:embed="rIdOverviewSvg10"/>
              </a:ext>
            </a:extLst>
          </a:blip>
          <a:stretch xmlns:a="http://schemas.openxmlformats.org/drawingml/2006/main"/>
        </p:blipFill>
        <p:spPr>
          <a:xfrm xmlns:a="http://schemas.openxmlformats.org/drawingml/2006/main">
            <a:off x="1116330" y="3507343"/>
            <a:ext cx="662940" cy="224314"/>
          </a:xfrm>
          <a:prstGeom xmlns:a="http://schemas.openxmlformats.org/drawingml/2006/main" prst="rect">
            <a:avLst/>
          </a:prstGeom>
        </p:spPr>
      </p:pic>
      <p:pic>
        <p:nvPicPr>
          <p:cNvPr id="207" name="axis-0-2-zero" descr="0"/>
          <p:cNvPicPr>
            <a:picLocks xmlns:a="http://schemas.openxmlformats.org/drawingml/2006/main" noChangeAspect="1"/>
          </p:cNvPicPr>
          <p:nvPr/>
        </p:nvPicPr>
        <p:blipFill>
          <a:blip xmlns:r="http://schemas.openxmlformats.org/officeDocument/2006/relationships" xmlns:a="http://schemas.openxmlformats.org/drawingml/2006/main" r:embed="rIdOverviewPng11">
            <a:extLst>
              <a:ext uri="{96DAC541-7B7A-43D3-8B79-37D633B846F1}">
                <ns11:svgBlip xmlns:ns11="http://schemas.microsoft.com/office/drawing/2016/SVG/main" r:embed="rIdOverviewSvg11"/>
              </a:ext>
            </a:extLst>
          </a:blip>
          <a:stretch xmlns:a="http://schemas.openxmlformats.org/drawingml/2006/main"/>
        </p:blipFill>
        <p:spPr>
          <a:xfrm xmlns:a="http://schemas.openxmlformats.org/drawingml/2006/main">
            <a:off x="1396365" y="6033695"/>
            <a:ext cx="102870" cy="115086"/>
          </a:xfrm>
          <a:prstGeom xmlns:a="http://schemas.openxmlformats.org/drawingml/2006/main" prst="rect">
            <a:avLst/>
          </a:prstGeom>
        </p:spPr>
      </p:pic>
      <p:pic>
        <p:nvPicPr>
          <p:cNvPr id="208" name="axis-0-2-f" descr="f"/>
          <p:cNvPicPr>
            <a:picLocks xmlns:a="http://schemas.openxmlformats.org/drawingml/2006/main" noChangeAspect="1"/>
          </p:cNvPicPr>
          <p:nvPr/>
        </p:nvPicPr>
        <p:blipFill>
          <a:blip xmlns:r="http://schemas.openxmlformats.org/officeDocument/2006/relationships" xmlns:a="http://schemas.openxmlformats.org/drawingml/2006/main" r:embed="rIdOverviewPng12">
            <a:extLst>
              <a:ext uri="{96DAC541-7B7A-43D3-8B79-37D633B846F1}">
                <ns12:svgBlip xmlns:ns12="http://schemas.microsoft.com/office/drawing/2016/SVG/main" r:embed="rIdOverviewSvg12"/>
              </a:ext>
            </a:extLst>
          </a:blip>
          <a:stretch xmlns:a="http://schemas.openxmlformats.org/drawingml/2006/main"/>
        </p:blipFill>
        <p:spPr>
          <a:xfrm xmlns:a="http://schemas.openxmlformats.org/drawingml/2006/main">
            <a:off x="2238375" y="5736163"/>
            <a:ext cx="85725" cy="129123"/>
          </a:xfrm>
          <a:prstGeom xmlns:a="http://schemas.openxmlformats.org/drawingml/2006/main" prst="rect">
            <a:avLst/>
          </a:prstGeom>
        </p:spPr>
      </p:pic>
      <p:pic>
        <p:nvPicPr>
          <p:cNvPr id="209" name="label-0-2" descr="M_3(f)">
            <ns0:hlinkClick xmlns:ns0="http://schemas.openxmlformats.org/drawingml/2006/main" xmlns:ns1="http://schemas.openxmlformats.org/officeDocument/2006/relationships" ns1:id="rIdOverviewLink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13">
            <a:extLst>
              <a:ext uri="{96DAC541-7B7A-43D3-8B79-37D633B846F1}">
                <ns13:svgBlip xmlns:ns13="http://schemas.microsoft.com/office/drawing/2016/SVG/main" r:embed="rIdOverviewSvg13"/>
              </a:ext>
            </a:extLst>
          </a:blip>
          <a:stretch xmlns:a="http://schemas.openxmlformats.org/drawingml/2006/main"/>
        </p:blipFill>
        <p:spPr>
          <a:xfrm xmlns:a="http://schemas.openxmlformats.org/drawingml/2006/main">
            <a:off x="1116330" y="4936093"/>
            <a:ext cx="662940" cy="224314"/>
          </a:xfrm>
          <a:prstGeom xmlns:a="http://schemas.openxmlformats.org/drawingml/2006/main" prst="rect">
            <a:avLst/>
          </a:prstGeom>
        </p:spPr>
      </p:pic>
      <p:pic>
        <p:nvPicPr>
          <p:cNvPr id="210" name="axis-1-0-zero" descr="0"/>
          <p:cNvPicPr>
            <a:picLocks xmlns:a="http://schemas.openxmlformats.org/drawingml/2006/main" noChangeAspect="1"/>
          </p:cNvPicPr>
          <p:nvPr/>
        </p:nvPicPr>
        <p:blipFill>
          <a:blip xmlns:r="http://schemas.openxmlformats.org/officeDocument/2006/relationships" xmlns:a="http://schemas.openxmlformats.org/drawingml/2006/main" r:embed="rIdOverviewPng14">
            <a:extLst>
              <a:ext uri="{96DAC541-7B7A-43D3-8B79-37D633B846F1}">
                <ns14:svgBlip xmlns:ns14="http://schemas.microsoft.com/office/drawing/2016/SVG/main" r:embed="rIdOverviewSvg14"/>
              </a:ext>
            </a:extLst>
          </a:blip>
          <a:stretch xmlns:a="http://schemas.openxmlformats.org/drawingml/2006/main"/>
        </p:blipFill>
        <p:spPr>
          <a:xfrm xmlns:a="http://schemas.openxmlformats.org/drawingml/2006/main">
            <a:off x="3529965" y="3176195"/>
            <a:ext cx="102870" cy="115086"/>
          </a:xfrm>
          <a:prstGeom xmlns:a="http://schemas.openxmlformats.org/drawingml/2006/main" prst="rect">
            <a:avLst/>
          </a:prstGeom>
        </p:spPr>
      </p:pic>
      <p:pic>
        <p:nvPicPr>
          <p:cNvPr id="211" name="axis-1-0-f" descr="f"/>
          <p:cNvPicPr>
            <a:picLocks xmlns:a="http://schemas.openxmlformats.org/drawingml/2006/main" noChangeAspect="1"/>
          </p:cNvPicPr>
          <p:nvPr/>
        </p:nvPicPr>
        <p:blipFill>
          <a:blip xmlns:r="http://schemas.openxmlformats.org/officeDocument/2006/relationships" xmlns:a="http://schemas.openxmlformats.org/drawingml/2006/main" r:embed="rIdOverviewPng15">
            <a:extLst>
              <a:ext uri="{96DAC541-7B7A-43D3-8B79-37D633B846F1}">
                <ns15:svgBlip xmlns:ns15="http://schemas.microsoft.com/office/drawing/2016/SVG/main" r:embed="rIdOverviewSvg15"/>
              </a:ext>
            </a:extLst>
          </a:blip>
          <a:stretch xmlns:a="http://schemas.openxmlformats.org/drawingml/2006/main"/>
        </p:blipFill>
        <p:spPr>
          <a:xfrm xmlns:a="http://schemas.openxmlformats.org/drawingml/2006/main">
            <a:off x="4371975" y="2878663"/>
            <a:ext cx="85725" cy="129123"/>
          </a:xfrm>
          <a:prstGeom xmlns:a="http://schemas.openxmlformats.org/drawingml/2006/main" prst="rect">
            <a:avLst/>
          </a:prstGeom>
        </p:spPr>
      </p:pic>
      <p:pic>
        <p:nvPicPr>
          <p:cNvPr id="212" name="label-1-0" descr="S_1(f)">
            <ns0:hlinkClick xmlns:ns0="http://schemas.openxmlformats.org/drawingml/2006/main" xmlns:ns1="http://schemas.openxmlformats.org/officeDocument/2006/relationships" ns1:id="rIdOverviewLink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16">
            <a:extLst>
              <a:ext uri="{96DAC541-7B7A-43D3-8B79-37D633B846F1}">
                <ns16:svgBlip xmlns:ns16="http://schemas.microsoft.com/office/drawing/2016/SVG/main" r:embed="rIdOverviewSvg16"/>
              </a:ext>
            </a:extLst>
          </a:blip>
          <a:stretch xmlns:a="http://schemas.openxmlformats.org/drawingml/2006/main"/>
        </p:blipFill>
        <p:spPr>
          <a:xfrm xmlns:a="http://schemas.openxmlformats.org/drawingml/2006/main">
            <a:off x="3295650" y="2076450"/>
            <a:ext cx="571500" cy="228600"/>
          </a:xfrm>
          <a:prstGeom xmlns:a="http://schemas.openxmlformats.org/drawingml/2006/main" prst="rect">
            <a:avLst/>
          </a:prstGeom>
        </p:spPr>
      </p:pic>
      <p:pic>
        <p:nvPicPr>
          <p:cNvPr id="213" name="axis-1-1-zero" descr="0"/>
          <p:cNvPicPr>
            <a:picLocks xmlns:a="http://schemas.openxmlformats.org/drawingml/2006/main" noChangeAspect="1"/>
          </p:cNvPicPr>
          <p:nvPr/>
        </p:nvPicPr>
        <p:blipFill>
          <a:blip xmlns:r="http://schemas.openxmlformats.org/officeDocument/2006/relationships" xmlns:a="http://schemas.openxmlformats.org/drawingml/2006/main" r:embed="rIdOverviewPng17">
            <a:extLst>
              <a:ext uri="{96DAC541-7B7A-43D3-8B79-37D633B846F1}">
                <ns17:svgBlip xmlns:ns17="http://schemas.microsoft.com/office/drawing/2016/SVG/main" r:embed="rIdOverviewSvg17"/>
              </a:ext>
            </a:extLst>
          </a:blip>
          <a:stretch xmlns:a="http://schemas.openxmlformats.org/drawingml/2006/main"/>
        </p:blipFill>
        <p:spPr>
          <a:xfrm xmlns:a="http://schemas.openxmlformats.org/drawingml/2006/main">
            <a:off x="3529965" y="4604945"/>
            <a:ext cx="102870" cy="115086"/>
          </a:xfrm>
          <a:prstGeom xmlns:a="http://schemas.openxmlformats.org/drawingml/2006/main" prst="rect">
            <a:avLst/>
          </a:prstGeom>
        </p:spPr>
      </p:pic>
      <p:pic>
        <p:nvPicPr>
          <p:cNvPr id="214" name="axis-1-1-f" descr="f"/>
          <p:cNvPicPr>
            <a:picLocks xmlns:a="http://schemas.openxmlformats.org/drawingml/2006/main" noChangeAspect="1"/>
          </p:cNvPicPr>
          <p:nvPr/>
        </p:nvPicPr>
        <p:blipFill>
          <a:blip xmlns:r="http://schemas.openxmlformats.org/officeDocument/2006/relationships" xmlns:a="http://schemas.openxmlformats.org/drawingml/2006/main" r:embed="rIdOverviewPng18">
            <a:extLst>
              <a:ext uri="{96DAC541-7B7A-43D3-8B79-37D633B846F1}">
                <ns18:svgBlip xmlns:ns18="http://schemas.microsoft.com/office/drawing/2016/SVG/main" r:embed="rIdOverviewSvg18"/>
              </a:ext>
            </a:extLst>
          </a:blip>
          <a:stretch xmlns:a="http://schemas.openxmlformats.org/drawingml/2006/main"/>
        </p:blipFill>
        <p:spPr>
          <a:xfrm xmlns:a="http://schemas.openxmlformats.org/drawingml/2006/main">
            <a:off x="4371975" y="4307413"/>
            <a:ext cx="85725" cy="129123"/>
          </a:xfrm>
          <a:prstGeom xmlns:a="http://schemas.openxmlformats.org/drawingml/2006/main" prst="rect">
            <a:avLst/>
          </a:prstGeom>
        </p:spPr>
      </p:pic>
      <p:pic>
        <p:nvPicPr>
          <p:cNvPr id="215" name="label-1-1" descr="S_2(f)">
            <ns0:hlinkClick xmlns:ns0="http://schemas.openxmlformats.org/drawingml/2006/main" xmlns:ns1="http://schemas.openxmlformats.org/officeDocument/2006/relationships" ns1:id="rIdOverviewLink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19">
            <a:extLst>
              <a:ext uri="{96DAC541-7B7A-43D3-8B79-37D633B846F1}">
                <ns19:svgBlip xmlns:ns19="http://schemas.microsoft.com/office/drawing/2016/SVG/main" r:embed="rIdOverviewSvg19"/>
              </a:ext>
            </a:extLst>
          </a:blip>
          <a:stretch xmlns:a="http://schemas.openxmlformats.org/drawingml/2006/main"/>
        </p:blipFill>
        <p:spPr>
          <a:xfrm xmlns:a="http://schemas.openxmlformats.org/drawingml/2006/main">
            <a:off x="3295650" y="3505200"/>
            <a:ext cx="571500" cy="228600"/>
          </a:xfrm>
          <a:prstGeom xmlns:a="http://schemas.openxmlformats.org/drawingml/2006/main" prst="rect">
            <a:avLst/>
          </a:prstGeom>
        </p:spPr>
      </p:pic>
      <p:pic>
        <p:nvPicPr>
          <p:cNvPr id="216" name="axis-1-2-zero" descr="0"/>
          <p:cNvPicPr>
            <a:picLocks xmlns:a="http://schemas.openxmlformats.org/drawingml/2006/main" noChangeAspect="1"/>
          </p:cNvPicPr>
          <p:nvPr/>
        </p:nvPicPr>
        <p:blipFill>
          <a:blip xmlns:r="http://schemas.openxmlformats.org/officeDocument/2006/relationships" xmlns:a="http://schemas.openxmlformats.org/drawingml/2006/main" r:embed="rIdOverviewPng20">
            <a:extLst>
              <a:ext uri="{96DAC541-7B7A-43D3-8B79-37D633B846F1}">
                <ns20:svgBlip xmlns:ns20="http://schemas.microsoft.com/office/drawing/2016/SVG/main" r:embed="rIdOverviewSvg20"/>
              </a:ext>
            </a:extLst>
          </a:blip>
          <a:stretch xmlns:a="http://schemas.openxmlformats.org/drawingml/2006/main"/>
        </p:blipFill>
        <p:spPr>
          <a:xfrm xmlns:a="http://schemas.openxmlformats.org/drawingml/2006/main">
            <a:off x="3529965" y="6033695"/>
            <a:ext cx="102870" cy="115086"/>
          </a:xfrm>
          <a:prstGeom xmlns:a="http://schemas.openxmlformats.org/drawingml/2006/main" prst="rect">
            <a:avLst/>
          </a:prstGeom>
        </p:spPr>
      </p:pic>
      <p:pic>
        <p:nvPicPr>
          <p:cNvPr id="217" name="axis-1-2-f" descr="f"/>
          <p:cNvPicPr>
            <a:picLocks xmlns:a="http://schemas.openxmlformats.org/drawingml/2006/main" noChangeAspect="1"/>
          </p:cNvPicPr>
          <p:nvPr/>
        </p:nvPicPr>
        <p:blipFill>
          <a:blip xmlns:r="http://schemas.openxmlformats.org/officeDocument/2006/relationships" xmlns:a="http://schemas.openxmlformats.org/drawingml/2006/main" r:embed="rIdOverviewPng21">
            <a:extLst>
              <a:ext uri="{96DAC541-7B7A-43D3-8B79-37D633B846F1}">
                <ns21:svgBlip xmlns:ns21="http://schemas.microsoft.com/office/drawing/2016/SVG/main" r:embed="rIdOverviewSvg21"/>
              </a:ext>
            </a:extLst>
          </a:blip>
          <a:stretch xmlns:a="http://schemas.openxmlformats.org/drawingml/2006/main"/>
        </p:blipFill>
        <p:spPr>
          <a:xfrm xmlns:a="http://schemas.openxmlformats.org/drawingml/2006/main">
            <a:off x="4371975" y="5736163"/>
            <a:ext cx="85725" cy="129123"/>
          </a:xfrm>
          <a:prstGeom xmlns:a="http://schemas.openxmlformats.org/drawingml/2006/main" prst="rect">
            <a:avLst/>
          </a:prstGeom>
        </p:spPr>
      </p:pic>
      <p:pic>
        <p:nvPicPr>
          <p:cNvPr id="218" name="label-1-2" descr="S_3(f)">
            <ns0:hlinkClick xmlns:ns0="http://schemas.openxmlformats.org/drawingml/2006/main" xmlns:ns1="http://schemas.openxmlformats.org/officeDocument/2006/relationships" ns1:id="rIdOverviewLink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22">
            <a:extLst>
              <a:ext uri="{96DAC541-7B7A-43D3-8B79-37D633B846F1}">
                <ns22:svgBlip xmlns:ns22="http://schemas.microsoft.com/office/drawing/2016/SVG/main" r:embed="rIdOverviewSvg22"/>
              </a:ext>
            </a:extLst>
          </a:blip>
          <a:stretch xmlns:a="http://schemas.openxmlformats.org/drawingml/2006/main"/>
        </p:blipFill>
        <p:spPr>
          <a:xfrm xmlns:a="http://schemas.openxmlformats.org/drawingml/2006/main">
            <a:off x="3295650" y="4933950"/>
            <a:ext cx="571500" cy="228600"/>
          </a:xfrm>
          <a:prstGeom xmlns:a="http://schemas.openxmlformats.org/drawingml/2006/main" prst="rect">
            <a:avLst/>
          </a:prstGeom>
        </p:spPr>
      </p:pic>
      <p:pic>
        <p:nvPicPr>
          <p:cNvPr id="219" name="composite-zero" descr="0"/>
          <p:cNvPicPr>
            <a:picLocks xmlns:a="http://schemas.openxmlformats.org/drawingml/2006/main" noChangeAspect="1"/>
          </p:cNvPicPr>
          <p:nvPr/>
        </p:nvPicPr>
        <p:blipFill>
          <a:blip xmlns:r="http://schemas.openxmlformats.org/officeDocument/2006/relationships" xmlns:a="http://schemas.openxmlformats.org/drawingml/2006/main" r:embed="rIdOverviewPng23">
            <a:extLst>
              <a:ext uri="{96DAC541-7B7A-43D3-8B79-37D633B846F1}">
                <ns23:svgBlip xmlns:ns23="http://schemas.microsoft.com/office/drawing/2016/SVG/main" r:embed="rIdOverviewSvg23"/>
              </a:ext>
            </a:extLst>
          </a:blip>
          <a:stretch xmlns:a="http://schemas.openxmlformats.org/drawingml/2006/main"/>
        </p:blipFill>
        <p:spPr>
          <a:xfrm xmlns:a="http://schemas.openxmlformats.org/drawingml/2006/main">
            <a:off x="6044565" y="4604945"/>
            <a:ext cx="102870" cy="115086"/>
          </a:xfrm>
          <a:prstGeom xmlns:a="http://schemas.openxmlformats.org/drawingml/2006/main" prst="rect">
            <a:avLst/>
          </a:prstGeom>
        </p:spPr>
      </p:pic>
      <p:pic>
        <p:nvPicPr>
          <p:cNvPr id="220" name="composite-f" descr="f"/>
          <p:cNvPicPr>
            <a:picLocks xmlns:a="http://schemas.openxmlformats.org/drawingml/2006/main" noChangeAspect="1"/>
          </p:cNvPicPr>
          <p:nvPr/>
        </p:nvPicPr>
        <p:blipFill>
          <a:blip xmlns:r="http://schemas.openxmlformats.org/officeDocument/2006/relationships" xmlns:a="http://schemas.openxmlformats.org/drawingml/2006/main" r:embed="rIdOverviewPng24">
            <a:extLst>
              <a:ext uri="{96DAC541-7B7A-43D3-8B79-37D633B846F1}">
                <ns24:svgBlip xmlns:ns24="http://schemas.microsoft.com/office/drawing/2016/SVG/main" r:embed="rIdOverviewSvg24"/>
              </a:ext>
            </a:extLst>
          </a:blip>
          <a:stretch xmlns:a="http://schemas.openxmlformats.org/drawingml/2006/main"/>
        </p:blipFill>
        <p:spPr>
          <a:xfrm xmlns:a="http://schemas.openxmlformats.org/drawingml/2006/main">
            <a:off x="7077075" y="4307413"/>
            <a:ext cx="85725" cy="129123"/>
          </a:xfrm>
          <a:prstGeom xmlns:a="http://schemas.openxmlformats.org/drawingml/2006/main" prst="rect">
            <a:avLst/>
          </a:prstGeom>
        </p:spPr>
      </p:pic>
      <p:pic>
        <p:nvPicPr>
          <p:cNvPr id="221" name="composite-label" descr="S(f)">
            <ns0:hlinkClick xmlns:ns0="http://schemas.openxmlformats.org/drawingml/2006/main" xmlns:ns1="http://schemas.openxmlformats.org/officeDocument/2006/relationships" ns1:id="rIdOverviewLink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25">
            <a:extLst>
              <a:ext uri="{96DAC541-7B7A-43D3-8B79-37D633B846F1}">
                <ns25:svgBlip xmlns:ns25="http://schemas.microsoft.com/office/drawing/2016/SVG/main" r:embed="rIdOverviewSvg25"/>
              </a:ext>
            </a:extLst>
          </a:blip>
          <a:stretch xmlns:a="http://schemas.openxmlformats.org/drawingml/2006/main"/>
        </p:blipFill>
        <p:spPr>
          <a:xfrm xmlns:a="http://schemas.openxmlformats.org/drawingml/2006/main">
            <a:off x="5857875" y="3700463"/>
            <a:ext cx="476250" cy="238125"/>
          </a:xfrm>
          <a:prstGeom xmlns:a="http://schemas.openxmlformats.org/drawingml/2006/main" prst="rect">
            <a:avLst/>
          </a:prstGeom>
        </p:spPr>
      </p:pic>
      <p:pic>
        <p:nvPicPr>
          <p:cNvPr id="222" name="axis-3-0-zero" descr="0"/>
          <p:cNvPicPr>
            <a:picLocks xmlns:a="http://schemas.openxmlformats.org/drawingml/2006/main" noChangeAspect="1"/>
          </p:cNvPicPr>
          <p:nvPr/>
        </p:nvPicPr>
        <p:blipFill>
          <a:blip xmlns:r="http://schemas.openxmlformats.org/officeDocument/2006/relationships" xmlns:a="http://schemas.openxmlformats.org/drawingml/2006/main" r:embed="rIdOverviewPng26">
            <a:extLst>
              <a:ext uri="{96DAC541-7B7A-43D3-8B79-37D633B846F1}">
                <ns26:svgBlip xmlns:ns26="http://schemas.microsoft.com/office/drawing/2016/SVG/main" r:embed="rIdOverviewSvg26"/>
              </a:ext>
            </a:extLst>
          </a:blip>
          <a:stretch xmlns:a="http://schemas.openxmlformats.org/drawingml/2006/main"/>
        </p:blipFill>
        <p:spPr>
          <a:xfrm xmlns:a="http://schemas.openxmlformats.org/drawingml/2006/main">
            <a:off x="8425815" y="3176195"/>
            <a:ext cx="102870" cy="115086"/>
          </a:xfrm>
          <a:prstGeom xmlns:a="http://schemas.openxmlformats.org/drawingml/2006/main" prst="rect">
            <a:avLst/>
          </a:prstGeom>
        </p:spPr>
      </p:pic>
      <p:pic>
        <p:nvPicPr>
          <p:cNvPr id="223" name="axis-3-0-f" descr="f"/>
          <p:cNvPicPr>
            <a:picLocks xmlns:a="http://schemas.openxmlformats.org/drawingml/2006/main" noChangeAspect="1"/>
          </p:cNvPicPr>
          <p:nvPr/>
        </p:nvPicPr>
        <p:blipFill>
          <a:blip xmlns:r="http://schemas.openxmlformats.org/officeDocument/2006/relationships" xmlns:a="http://schemas.openxmlformats.org/drawingml/2006/main" r:embed="rIdOverviewPng27">
            <a:extLst>
              <a:ext uri="{96DAC541-7B7A-43D3-8B79-37D633B846F1}">
                <ns27:svgBlip xmlns:ns27="http://schemas.microsoft.com/office/drawing/2016/SVG/main" r:embed="rIdOverviewSvg27"/>
              </a:ext>
            </a:extLst>
          </a:blip>
          <a:stretch xmlns:a="http://schemas.openxmlformats.org/drawingml/2006/main"/>
        </p:blipFill>
        <p:spPr>
          <a:xfrm xmlns:a="http://schemas.openxmlformats.org/drawingml/2006/main">
            <a:off x="9267825" y="2878663"/>
            <a:ext cx="85725" cy="129123"/>
          </a:xfrm>
          <a:prstGeom xmlns:a="http://schemas.openxmlformats.org/drawingml/2006/main" prst="rect">
            <a:avLst/>
          </a:prstGeom>
        </p:spPr>
      </p:pic>
      <p:pic>
        <p:nvPicPr>
          <p:cNvPr id="224" name="label-3-0" descr="S_1(f)">
            <ns0:hlinkClick xmlns:ns0="http://schemas.openxmlformats.org/drawingml/2006/main" xmlns:ns1="http://schemas.openxmlformats.org/officeDocument/2006/relationships" ns1:id="rIdOverviewLink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28">
            <a:extLst>
              <a:ext uri="{96DAC541-7B7A-43D3-8B79-37D633B846F1}">
                <ns28:svgBlip xmlns:ns28="http://schemas.microsoft.com/office/drawing/2016/SVG/main" r:embed="rIdOverviewSvg28"/>
              </a:ext>
            </a:extLst>
          </a:blip>
          <a:stretch xmlns:a="http://schemas.openxmlformats.org/drawingml/2006/main"/>
        </p:blipFill>
        <p:spPr>
          <a:xfrm xmlns:a="http://schemas.openxmlformats.org/drawingml/2006/main">
            <a:off x="8191500" y="2076450"/>
            <a:ext cx="571500" cy="228600"/>
          </a:xfrm>
          <a:prstGeom xmlns:a="http://schemas.openxmlformats.org/drawingml/2006/main" prst="rect">
            <a:avLst/>
          </a:prstGeom>
        </p:spPr>
      </p:pic>
      <p:pic>
        <p:nvPicPr>
          <p:cNvPr id="225" name="axis-3-1-zero" descr="0"/>
          <p:cNvPicPr>
            <a:picLocks xmlns:a="http://schemas.openxmlformats.org/drawingml/2006/main" noChangeAspect="1"/>
          </p:cNvPicPr>
          <p:nvPr/>
        </p:nvPicPr>
        <p:blipFill>
          <a:blip xmlns:r="http://schemas.openxmlformats.org/officeDocument/2006/relationships" xmlns:a="http://schemas.openxmlformats.org/drawingml/2006/main" r:embed="rIdOverviewPng29">
            <a:extLst>
              <a:ext uri="{96DAC541-7B7A-43D3-8B79-37D633B846F1}">
                <ns29:svgBlip xmlns:ns29="http://schemas.microsoft.com/office/drawing/2016/SVG/main" r:embed="rIdOverviewSvg29"/>
              </a:ext>
            </a:extLst>
          </a:blip>
          <a:stretch xmlns:a="http://schemas.openxmlformats.org/drawingml/2006/main"/>
        </p:blipFill>
        <p:spPr>
          <a:xfrm xmlns:a="http://schemas.openxmlformats.org/drawingml/2006/main">
            <a:off x="8425815" y="4604945"/>
            <a:ext cx="102870" cy="115086"/>
          </a:xfrm>
          <a:prstGeom xmlns:a="http://schemas.openxmlformats.org/drawingml/2006/main" prst="rect">
            <a:avLst/>
          </a:prstGeom>
        </p:spPr>
      </p:pic>
      <p:pic>
        <p:nvPicPr>
          <p:cNvPr id="226" name="axis-3-1-f" descr="f"/>
          <p:cNvPicPr>
            <a:picLocks xmlns:a="http://schemas.openxmlformats.org/drawingml/2006/main" noChangeAspect="1"/>
          </p:cNvPicPr>
          <p:nvPr/>
        </p:nvPicPr>
        <p:blipFill>
          <a:blip xmlns:r="http://schemas.openxmlformats.org/officeDocument/2006/relationships" xmlns:a="http://schemas.openxmlformats.org/drawingml/2006/main" r:embed="rIdOverviewPng30">
            <a:extLst>
              <a:ext uri="{96DAC541-7B7A-43D3-8B79-37D633B846F1}">
                <ns30:svgBlip xmlns:ns30="http://schemas.microsoft.com/office/drawing/2016/SVG/main" r:embed="rIdOverviewSvg30"/>
              </a:ext>
            </a:extLst>
          </a:blip>
          <a:stretch xmlns:a="http://schemas.openxmlformats.org/drawingml/2006/main"/>
        </p:blipFill>
        <p:spPr>
          <a:xfrm xmlns:a="http://schemas.openxmlformats.org/drawingml/2006/main">
            <a:off x="9267825" y="4307413"/>
            <a:ext cx="85725" cy="129123"/>
          </a:xfrm>
          <a:prstGeom xmlns:a="http://schemas.openxmlformats.org/drawingml/2006/main" prst="rect">
            <a:avLst/>
          </a:prstGeom>
        </p:spPr>
      </p:pic>
      <p:pic>
        <p:nvPicPr>
          <p:cNvPr id="227" name="label-3-1" descr="S_2(f)">
            <ns0:hlinkClick xmlns:ns0="http://schemas.openxmlformats.org/drawingml/2006/main" xmlns:ns1="http://schemas.openxmlformats.org/officeDocument/2006/relationships" ns1:id="rIdOverviewLink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31">
            <a:extLst>
              <a:ext uri="{96DAC541-7B7A-43D3-8B79-37D633B846F1}">
                <ns31:svgBlip xmlns:ns31="http://schemas.microsoft.com/office/drawing/2016/SVG/main" r:embed="rIdOverviewSvg31"/>
              </a:ext>
            </a:extLst>
          </a:blip>
          <a:stretch xmlns:a="http://schemas.openxmlformats.org/drawingml/2006/main"/>
        </p:blipFill>
        <p:spPr>
          <a:xfrm xmlns:a="http://schemas.openxmlformats.org/drawingml/2006/main">
            <a:off x="8191500" y="3505200"/>
            <a:ext cx="571500" cy="228600"/>
          </a:xfrm>
          <a:prstGeom xmlns:a="http://schemas.openxmlformats.org/drawingml/2006/main" prst="rect">
            <a:avLst/>
          </a:prstGeom>
        </p:spPr>
      </p:pic>
      <p:pic>
        <p:nvPicPr>
          <p:cNvPr id="228" name="axis-3-2-zero" descr="0"/>
          <p:cNvPicPr>
            <a:picLocks xmlns:a="http://schemas.openxmlformats.org/drawingml/2006/main" noChangeAspect="1"/>
          </p:cNvPicPr>
          <p:nvPr/>
        </p:nvPicPr>
        <p:blipFill>
          <a:blip xmlns:r="http://schemas.openxmlformats.org/officeDocument/2006/relationships" xmlns:a="http://schemas.openxmlformats.org/drawingml/2006/main" r:embed="rIdOverviewPng32">
            <a:extLst>
              <a:ext uri="{96DAC541-7B7A-43D3-8B79-37D633B846F1}">
                <ns32:svgBlip xmlns:ns32="http://schemas.microsoft.com/office/drawing/2016/SVG/main" r:embed="rIdOverviewSvg32"/>
              </a:ext>
            </a:extLst>
          </a:blip>
          <a:stretch xmlns:a="http://schemas.openxmlformats.org/drawingml/2006/main"/>
        </p:blipFill>
        <p:spPr>
          <a:xfrm xmlns:a="http://schemas.openxmlformats.org/drawingml/2006/main">
            <a:off x="8425815" y="6033695"/>
            <a:ext cx="102870" cy="115086"/>
          </a:xfrm>
          <a:prstGeom xmlns:a="http://schemas.openxmlformats.org/drawingml/2006/main" prst="rect">
            <a:avLst/>
          </a:prstGeom>
        </p:spPr>
      </p:pic>
      <p:pic>
        <p:nvPicPr>
          <p:cNvPr id="229" name="axis-3-2-f" descr="f"/>
          <p:cNvPicPr>
            <a:picLocks xmlns:a="http://schemas.openxmlformats.org/drawingml/2006/main" noChangeAspect="1"/>
          </p:cNvPicPr>
          <p:nvPr/>
        </p:nvPicPr>
        <p:blipFill>
          <a:blip xmlns:r="http://schemas.openxmlformats.org/officeDocument/2006/relationships" xmlns:a="http://schemas.openxmlformats.org/drawingml/2006/main" r:embed="rIdOverviewPng33">
            <a:extLst>
              <a:ext uri="{96DAC541-7B7A-43D3-8B79-37D633B846F1}">
                <ns33:svgBlip xmlns:ns33="http://schemas.microsoft.com/office/drawing/2016/SVG/main" r:embed="rIdOverviewSvg33"/>
              </a:ext>
            </a:extLst>
          </a:blip>
          <a:stretch xmlns:a="http://schemas.openxmlformats.org/drawingml/2006/main"/>
        </p:blipFill>
        <p:spPr>
          <a:xfrm xmlns:a="http://schemas.openxmlformats.org/drawingml/2006/main">
            <a:off x="9267825" y="5736163"/>
            <a:ext cx="85725" cy="129123"/>
          </a:xfrm>
          <a:prstGeom xmlns:a="http://schemas.openxmlformats.org/drawingml/2006/main" prst="rect">
            <a:avLst/>
          </a:prstGeom>
        </p:spPr>
      </p:pic>
      <p:pic>
        <p:nvPicPr>
          <p:cNvPr id="230" name="label-3-2" descr="S_3(f)">
            <ns0:hlinkClick xmlns:ns0="http://schemas.openxmlformats.org/drawingml/2006/main" xmlns:ns1="http://schemas.openxmlformats.org/officeDocument/2006/relationships" ns1:id="rIdOverviewLink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34">
            <a:extLst>
              <a:ext uri="{96DAC541-7B7A-43D3-8B79-37D633B846F1}">
                <ns34:svgBlip xmlns:ns34="http://schemas.microsoft.com/office/drawing/2016/SVG/main" r:embed="rIdOverviewSvg34"/>
              </a:ext>
            </a:extLst>
          </a:blip>
          <a:stretch xmlns:a="http://schemas.openxmlformats.org/drawingml/2006/main"/>
        </p:blipFill>
        <p:spPr>
          <a:xfrm xmlns:a="http://schemas.openxmlformats.org/drawingml/2006/main">
            <a:off x="8191500" y="4933950"/>
            <a:ext cx="571500" cy="228600"/>
          </a:xfrm>
          <a:prstGeom xmlns:a="http://schemas.openxmlformats.org/drawingml/2006/main" prst="rect">
            <a:avLst/>
          </a:prstGeom>
        </p:spPr>
      </p:pic>
      <p:pic>
        <p:nvPicPr>
          <p:cNvPr id="231" name="axis-4-0-zero" descr="0"/>
          <p:cNvPicPr>
            <a:picLocks xmlns:a="http://schemas.openxmlformats.org/drawingml/2006/main" noChangeAspect="1"/>
          </p:cNvPicPr>
          <p:nvPr/>
        </p:nvPicPr>
        <p:blipFill>
          <a:blip xmlns:r="http://schemas.openxmlformats.org/officeDocument/2006/relationships" xmlns:a="http://schemas.openxmlformats.org/drawingml/2006/main" r:embed="rIdOverviewPng35">
            <a:extLst>
              <a:ext uri="{96DAC541-7B7A-43D3-8B79-37D633B846F1}">
                <ns35:svgBlip xmlns:ns35="http://schemas.microsoft.com/office/drawing/2016/SVG/main" r:embed="rIdOverviewSvg35"/>
              </a:ext>
            </a:extLst>
          </a:blip>
          <a:stretch xmlns:a="http://schemas.openxmlformats.org/drawingml/2006/main"/>
        </p:blipFill>
        <p:spPr>
          <a:xfrm xmlns:a="http://schemas.openxmlformats.org/drawingml/2006/main">
            <a:off x="10711815" y="3176195"/>
            <a:ext cx="102870" cy="115086"/>
          </a:xfrm>
          <a:prstGeom xmlns:a="http://schemas.openxmlformats.org/drawingml/2006/main" prst="rect">
            <a:avLst/>
          </a:prstGeom>
        </p:spPr>
      </p:pic>
      <p:pic>
        <p:nvPicPr>
          <p:cNvPr id="232" name="axis-4-0-f" descr="f"/>
          <p:cNvPicPr>
            <a:picLocks xmlns:a="http://schemas.openxmlformats.org/drawingml/2006/main" noChangeAspect="1"/>
          </p:cNvPicPr>
          <p:nvPr/>
        </p:nvPicPr>
        <p:blipFill>
          <a:blip xmlns:r="http://schemas.openxmlformats.org/officeDocument/2006/relationships" xmlns:a="http://schemas.openxmlformats.org/drawingml/2006/main" r:embed="rIdOverviewPng36">
            <a:extLst>
              <a:ext uri="{96DAC541-7B7A-43D3-8B79-37D633B846F1}">
                <ns36:svgBlip xmlns:ns36="http://schemas.microsoft.com/office/drawing/2016/SVG/main" r:embed="rIdOverviewSvg36"/>
              </a:ext>
            </a:extLst>
          </a:blip>
          <a:stretch xmlns:a="http://schemas.openxmlformats.org/drawingml/2006/main"/>
        </p:blipFill>
        <p:spPr>
          <a:xfrm xmlns:a="http://schemas.openxmlformats.org/drawingml/2006/main">
            <a:off x="11553825" y="2878663"/>
            <a:ext cx="85725" cy="129123"/>
          </a:xfrm>
          <a:prstGeom xmlns:a="http://schemas.openxmlformats.org/drawingml/2006/main" prst="rect">
            <a:avLst/>
          </a:prstGeom>
        </p:spPr>
      </p:pic>
      <p:pic>
        <p:nvPicPr>
          <p:cNvPr id="233" name="label-4-0" descr="M_1(f)">
            <ns0:hlinkClick xmlns:ns0="http://schemas.openxmlformats.org/drawingml/2006/main" xmlns:ns1="http://schemas.openxmlformats.org/officeDocument/2006/relationships" ns1:id="rIdNav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37">
            <a:extLst>
              <a:ext uri="{96DAC541-7B7A-43D3-8B79-37D633B846F1}">
                <ns37:svgBlip xmlns:ns37="http://schemas.microsoft.com/office/drawing/2016/SVG/main" r:embed="rIdOverviewSvg37"/>
              </a:ext>
            </a:extLst>
          </a:blip>
          <a:stretch xmlns:a="http://schemas.openxmlformats.org/drawingml/2006/main"/>
        </p:blipFill>
        <p:spPr>
          <a:xfrm xmlns:a="http://schemas.openxmlformats.org/drawingml/2006/main">
            <a:off x="10431780" y="2078593"/>
            <a:ext cx="662940" cy="224314"/>
          </a:xfrm>
          <a:prstGeom xmlns:a="http://schemas.openxmlformats.org/drawingml/2006/main" prst="rect">
            <a:avLst/>
          </a:prstGeom>
        </p:spPr>
      </p:pic>
      <p:pic>
        <p:nvPicPr>
          <p:cNvPr id="234" name="axis-4-1-zero" descr="0"/>
          <p:cNvPicPr>
            <a:picLocks xmlns:a="http://schemas.openxmlformats.org/drawingml/2006/main" noChangeAspect="1"/>
          </p:cNvPicPr>
          <p:nvPr/>
        </p:nvPicPr>
        <p:blipFill>
          <a:blip xmlns:r="http://schemas.openxmlformats.org/officeDocument/2006/relationships" xmlns:a="http://schemas.openxmlformats.org/drawingml/2006/main" r:embed="rIdOverviewPng38">
            <a:extLst>
              <a:ext uri="{96DAC541-7B7A-43D3-8B79-37D633B846F1}">
                <ns38:svgBlip xmlns:ns38="http://schemas.microsoft.com/office/drawing/2016/SVG/main" r:embed="rIdOverviewSvg38"/>
              </a:ext>
            </a:extLst>
          </a:blip>
          <a:stretch xmlns:a="http://schemas.openxmlformats.org/drawingml/2006/main"/>
        </p:blipFill>
        <p:spPr>
          <a:xfrm xmlns:a="http://schemas.openxmlformats.org/drawingml/2006/main">
            <a:off x="10711815" y="4604945"/>
            <a:ext cx="102870" cy="115086"/>
          </a:xfrm>
          <a:prstGeom xmlns:a="http://schemas.openxmlformats.org/drawingml/2006/main" prst="rect">
            <a:avLst/>
          </a:prstGeom>
        </p:spPr>
      </p:pic>
      <p:pic>
        <p:nvPicPr>
          <p:cNvPr id="235" name="axis-4-1-f" descr="f"/>
          <p:cNvPicPr>
            <a:picLocks xmlns:a="http://schemas.openxmlformats.org/drawingml/2006/main" noChangeAspect="1"/>
          </p:cNvPicPr>
          <p:nvPr/>
        </p:nvPicPr>
        <p:blipFill>
          <a:blip xmlns:r="http://schemas.openxmlformats.org/officeDocument/2006/relationships" xmlns:a="http://schemas.openxmlformats.org/drawingml/2006/main" r:embed="rIdOverviewPng39">
            <a:extLst>
              <a:ext uri="{96DAC541-7B7A-43D3-8B79-37D633B846F1}">
                <ns39:svgBlip xmlns:ns39="http://schemas.microsoft.com/office/drawing/2016/SVG/main" r:embed="rIdOverviewSvg39"/>
              </a:ext>
            </a:extLst>
          </a:blip>
          <a:stretch xmlns:a="http://schemas.openxmlformats.org/drawingml/2006/main"/>
        </p:blipFill>
        <p:spPr>
          <a:xfrm xmlns:a="http://schemas.openxmlformats.org/drawingml/2006/main">
            <a:off x="11553825" y="4307413"/>
            <a:ext cx="85725" cy="129123"/>
          </a:xfrm>
          <a:prstGeom xmlns:a="http://schemas.openxmlformats.org/drawingml/2006/main" prst="rect">
            <a:avLst/>
          </a:prstGeom>
        </p:spPr>
      </p:pic>
      <p:pic>
        <p:nvPicPr>
          <p:cNvPr id="236" name="label-4-1" descr="M_2(f)">
            <ns0:hlinkClick xmlns:ns0="http://schemas.openxmlformats.org/drawingml/2006/main" xmlns:ns1="http://schemas.openxmlformats.org/officeDocument/2006/relationships" ns1:id="rIdNav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40">
            <a:extLst>
              <a:ext uri="{96DAC541-7B7A-43D3-8B79-37D633B846F1}">
                <ns40:svgBlip xmlns:ns40="http://schemas.microsoft.com/office/drawing/2016/SVG/main" r:embed="rIdOverviewSvg40"/>
              </a:ext>
            </a:extLst>
          </a:blip>
          <a:stretch xmlns:a="http://schemas.openxmlformats.org/drawingml/2006/main"/>
        </p:blipFill>
        <p:spPr>
          <a:xfrm xmlns:a="http://schemas.openxmlformats.org/drawingml/2006/main">
            <a:off x="10431780" y="3507343"/>
            <a:ext cx="662940" cy="224314"/>
          </a:xfrm>
          <a:prstGeom xmlns:a="http://schemas.openxmlformats.org/drawingml/2006/main" prst="rect">
            <a:avLst/>
          </a:prstGeom>
        </p:spPr>
      </p:pic>
      <p:pic>
        <p:nvPicPr>
          <p:cNvPr id="237" name="axis-4-2-zero" descr="0"/>
          <p:cNvPicPr>
            <a:picLocks xmlns:a="http://schemas.openxmlformats.org/drawingml/2006/main" noChangeAspect="1"/>
          </p:cNvPicPr>
          <p:nvPr/>
        </p:nvPicPr>
        <p:blipFill>
          <a:blip xmlns:r="http://schemas.openxmlformats.org/officeDocument/2006/relationships" xmlns:a="http://schemas.openxmlformats.org/drawingml/2006/main" r:embed="rIdOverviewPng41">
            <a:extLst>
              <a:ext uri="{96DAC541-7B7A-43D3-8B79-37D633B846F1}">
                <ns41:svgBlip xmlns:ns41="http://schemas.microsoft.com/office/drawing/2016/SVG/main" r:embed="rIdOverviewSvg41"/>
              </a:ext>
            </a:extLst>
          </a:blip>
          <a:stretch xmlns:a="http://schemas.openxmlformats.org/drawingml/2006/main"/>
        </p:blipFill>
        <p:spPr>
          <a:xfrm xmlns:a="http://schemas.openxmlformats.org/drawingml/2006/main">
            <a:off x="10711815" y="6033695"/>
            <a:ext cx="102870" cy="115086"/>
          </a:xfrm>
          <a:prstGeom xmlns:a="http://schemas.openxmlformats.org/drawingml/2006/main" prst="rect">
            <a:avLst/>
          </a:prstGeom>
        </p:spPr>
      </p:pic>
      <p:pic>
        <p:nvPicPr>
          <p:cNvPr id="238" name="axis-4-2-f" descr="f"/>
          <p:cNvPicPr>
            <a:picLocks xmlns:a="http://schemas.openxmlformats.org/drawingml/2006/main" noChangeAspect="1"/>
          </p:cNvPicPr>
          <p:nvPr/>
        </p:nvPicPr>
        <p:blipFill>
          <a:blip xmlns:r="http://schemas.openxmlformats.org/officeDocument/2006/relationships" xmlns:a="http://schemas.openxmlformats.org/drawingml/2006/main" r:embed="rIdOverviewPng42">
            <a:extLst>
              <a:ext uri="{96DAC541-7B7A-43D3-8B79-37D633B846F1}">
                <ns42:svgBlip xmlns:ns42="http://schemas.microsoft.com/office/drawing/2016/SVG/main" r:embed="rIdOverviewSvg42"/>
              </a:ext>
            </a:extLst>
          </a:blip>
          <a:stretch xmlns:a="http://schemas.openxmlformats.org/drawingml/2006/main"/>
        </p:blipFill>
        <p:spPr>
          <a:xfrm xmlns:a="http://schemas.openxmlformats.org/drawingml/2006/main">
            <a:off x="11553825" y="5736163"/>
            <a:ext cx="85725" cy="129123"/>
          </a:xfrm>
          <a:prstGeom xmlns:a="http://schemas.openxmlformats.org/drawingml/2006/main" prst="rect">
            <a:avLst/>
          </a:prstGeom>
        </p:spPr>
      </p:pic>
      <p:pic>
        <p:nvPicPr>
          <p:cNvPr id="239" name="label-4-2" descr="M_3(f)">
            <ns0:hlinkClick xmlns:ns0="http://schemas.openxmlformats.org/drawingml/2006/main" xmlns:ns1="http://schemas.openxmlformats.org/officeDocument/2006/relationships" ns1:id="rIdNav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IdOverviewPng43">
            <a:extLst>
              <a:ext uri="{96DAC541-7B7A-43D3-8B79-37D633B846F1}">
                <ns43:svgBlip xmlns:ns43="http://schemas.microsoft.com/office/drawing/2016/SVG/main" r:embed="rIdOverviewSvg43"/>
              </a:ext>
            </a:extLst>
          </a:blip>
          <a:stretch xmlns:a="http://schemas.openxmlformats.org/drawingml/2006/main"/>
        </p:blipFill>
        <p:spPr>
          <a:xfrm xmlns:a="http://schemas.openxmlformats.org/drawingml/2006/main">
            <a:off x="10431780" y="4936093"/>
            <a:ext cx="662940" cy="224314"/>
          </a:xfrm>
          <a:prstGeom xmlns:a="http://schemas.openxmlformats.org/drawingml/2006/main" prst="rect">
            <a:avLst/>
          </a:prstGeom>
        </p:spPr>
      </p:pic>
      <p:pic>
        <p:nvPicPr>
          <p:cNvPr id="240" name="sum-equation" descr="s(t)=s_1(t)+s_2(t)+s_3(t)"/>
          <p:cNvPicPr>
            <a:picLocks xmlns:a="http://schemas.openxmlformats.org/drawingml/2006/main" noChangeAspect="1"/>
          </p:cNvPicPr>
          <p:nvPr/>
        </p:nvPicPr>
        <p:blipFill>
          <a:blip xmlns:r="http://schemas.openxmlformats.org/officeDocument/2006/relationships" xmlns:a="http://schemas.openxmlformats.org/drawingml/2006/main" r:embed="rIdOverviewPng44">
            <a:extLst>
              <a:ext uri="{96DAC541-7B7A-43D3-8B79-37D633B846F1}">
                <ns44:svgBlip xmlns:ns44="http://schemas.microsoft.com/office/drawing/2016/SVG/main" r:embed="rIdOverviewSvg44"/>
              </a:ext>
            </a:extLst>
          </a:blip>
          <a:stretch xmlns:a="http://schemas.openxmlformats.org/drawingml/2006/main"/>
        </p:blipFill>
        <p:spPr>
          <a:xfrm xmlns:a="http://schemas.openxmlformats.org/drawingml/2006/main">
            <a:off x="4300538" y="6191250"/>
            <a:ext cx="3590925" cy="276225"/>
          </a:xfrm>
          <a:prstGeom xmlns:a="http://schemas.openxmlformats.org/drawingml/2006/main" prst="rect">
            <a:avLst/>
          </a:prstGeom>
        </p:spPr>
      </p:pic>
    </p:spTree>
    <p:extLst>
      <p:ext uri="{BB962C8B-B14F-4D97-AF65-F5344CB8AC3E}">
        <p14:creationId xmlns:p14="http://schemas.microsoft.com/office/powerpoint/2010/main" val="7908210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200"/>
                                        <p:tgtEl>
                                          <p:spTgt spid="48"/>
                                        </p:tgtEl>
                                      </p:cBhvr>
                                    </p:animEffect>
                                    <p:animMotion origin="layout" pathEditMode="relative" path="M -0.15937500 -0.02430556 L 0.00000000 0.00000000 E">
                                      <p:cBhvr>
                                        <p:cTn id="8" dur="700" fill="hold"/>
                                        <p:tgtEl>
                                          <p:spTgt spid="48"/>
                                        </p:tgtEl>
                                        <p:attrNameLst>
                                          <p:attrName>ppt_x</p:attrName>
                                          <p:attrName>ppt_y</p:attrName>
                                        </p:attrNameLst>
                                      </p:cBhvr>
                                    </p:animMotion>
                                    <p:animScale zoomContents="1">
                                      <p:cBhvr>
                                        <p:cTn id="9" dur="700" fill="hold"/>
                                        <p:tgtEl>
                                          <p:spTgt spid="48"/>
                                        </p:tgtEl>
                                      </p:cBhvr>
                                      <p:from x="100000" y="200000"/>
                                      <p:to x="100000" y="100000"/>
                                    </p:animScale>
                                  </p:childTnLst>
                                </p:cTn>
                              </p:par>
                              <p:par>
                                <p:cTn id="10" presetID="10" presetClass="entr" presetSubtype="0" fill="hold" nodeType="with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200"/>
                                        <p:tgtEl>
                                          <p:spTgt spid="49"/>
                                        </p:tgtEl>
                                      </p:cBhvr>
                                    </p:animEffect>
                                    <p:animMotion origin="layout" pathEditMode="relative" path="M -0.19062500 -0.02430556 L 0.00000000 0.00000000 E">
                                      <p:cBhvr>
                                        <p:cTn id="13" dur="700" fill="hold"/>
                                        <p:tgtEl>
                                          <p:spTgt spid="49"/>
                                        </p:tgtEl>
                                        <p:attrNameLst>
                                          <p:attrName>ppt_x</p:attrName>
                                          <p:attrName>ppt_y</p:attrName>
                                        </p:attrNameLst>
                                      </p:cBhvr>
                                    </p:animMotion>
                                    <p:animScale zoomContents="1">
                                      <p:cBhvr>
                                        <p:cTn id="14" dur="700" fill="hold"/>
                                        <p:tgtEl>
                                          <p:spTgt spid="49"/>
                                        </p:tgtEl>
                                      </p:cBhvr>
                                      <p:from x="100000" y="200000"/>
                                      <p:to x="100000" y="100000"/>
                                    </p:animScale>
                                  </p:childTnLst>
                                </p:cTn>
                              </p:par>
                              <p:par>
                                <p:cTn id="15" presetID="10"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200"/>
                                        <p:tgtEl>
                                          <p:spTgt spid="50"/>
                                        </p:tgtEl>
                                      </p:cBhvr>
                                    </p:animEffect>
                                    <p:animMotion origin="layout" pathEditMode="relative" path="M -0.14375000 -0.02430556 L 0.00000000 0.00000000 E">
                                      <p:cBhvr>
                                        <p:cTn id="18" dur="700" fill="hold"/>
                                        <p:tgtEl>
                                          <p:spTgt spid="50"/>
                                        </p:tgtEl>
                                        <p:attrNameLst>
                                          <p:attrName>ppt_x</p:attrName>
                                          <p:attrName>ppt_y</p:attrName>
                                        </p:attrNameLst>
                                      </p:cBhvr>
                                    </p:animMotion>
                                    <p:animScale zoomContents="1">
                                      <p:cBhvr>
                                        <p:cTn id="19" dur="700" fill="hold"/>
                                        <p:tgtEl>
                                          <p:spTgt spid="50"/>
                                        </p:tgtEl>
                                      </p:cBhvr>
                                      <p:from x="100000" y="200000"/>
                                      <p:to x="100000" y="100000"/>
                                    </p:animScale>
                                  </p:childTnLst>
                                </p:cTn>
                              </p:par>
                              <p:par>
                                <p:cTn id="20" presetID="10" presetClass="entr" presetSubtype="0" fill="hold"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200"/>
                                        <p:tgtEl>
                                          <p:spTgt spid="51"/>
                                        </p:tgtEl>
                                      </p:cBhvr>
                                    </p:animEffect>
                                    <p:animMotion origin="layout" pathEditMode="relative" path="M -0.20625000 -0.02430556 L 0.00000000 0.00000000 E">
                                      <p:cBhvr>
                                        <p:cTn id="23" dur="700" fill="hold"/>
                                        <p:tgtEl>
                                          <p:spTgt spid="51"/>
                                        </p:tgtEl>
                                        <p:attrNameLst>
                                          <p:attrName>ppt_x</p:attrName>
                                          <p:attrName>ppt_y</p:attrName>
                                        </p:attrNameLst>
                                      </p:cBhvr>
                                    </p:animMotion>
                                    <p:animScale zoomContents="1">
                                      <p:cBhvr>
                                        <p:cTn id="24" dur="700" fill="hold"/>
                                        <p:tgtEl>
                                          <p:spTgt spid="51"/>
                                        </p:tgtEl>
                                      </p:cBhvr>
                                      <p:from x="100000" y="200000"/>
                                      <p:to x="100000" y="100000"/>
                                    </p:animScale>
                                  </p:childTnLst>
                                </p:cTn>
                              </p:par>
                              <p:par>
                                <p:cTn id="25" presetID="10"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200"/>
                                        <p:tgtEl>
                                          <p:spTgt spid="52"/>
                                        </p:tgtEl>
                                      </p:cBhvr>
                                    </p:animEffect>
                                    <p:animMotion origin="layout" pathEditMode="relative" path="M -0.12812500 -0.02430556 L 0.00000000 0.00000000 E">
                                      <p:cBhvr>
                                        <p:cTn id="28" dur="700" fill="hold"/>
                                        <p:tgtEl>
                                          <p:spTgt spid="52"/>
                                        </p:tgtEl>
                                        <p:attrNameLst>
                                          <p:attrName>ppt_x</p:attrName>
                                          <p:attrName>ppt_y</p:attrName>
                                        </p:attrNameLst>
                                      </p:cBhvr>
                                    </p:animMotion>
                                    <p:animScale zoomContents="1">
                                      <p:cBhvr>
                                        <p:cTn id="29" dur="700" fill="hold"/>
                                        <p:tgtEl>
                                          <p:spTgt spid="52"/>
                                        </p:tgtEl>
                                      </p:cBhvr>
                                      <p:from x="100000" y="200000"/>
                                      <p:to x="100000" y="100000"/>
                                    </p:animScale>
                                  </p:childTnLst>
                                </p:cTn>
                              </p:par>
                              <p:par>
                                <p:cTn id="30" presetID="10" presetClass="entr" presetSubtype="0" fill="hold" nodeType="with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fade">
                                      <p:cBhvr>
                                        <p:cTn id="32" dur="200"/>
                                        <p:tgtEl>
                                          <p:spTgt spid="53"/>
                                        </p:tgtEl>
                                      </p:cBhvr>
                                    </p:animEffect>
                                    <p:animMotion origin="layout" pathEditMode="relative" path="M -0.22187500 -0.02430556 L 0.00000000 0.00000000 E">
                                      <p:cBhvr>
                                        <p:cTn id="33" dur="700" fill="hold"/>
                                        <p:tgtEl>
                                          <p:spTgt spid="53"/>
                                        </p:tgtEl>
                                        <p:attrNameLst>
                                          <p:attrName>ppt_x</p:attrName>
                                          <p:attrName>ppt_y</p:attrName>
                                        </p:attrNameLst>
                                      </p:cBhvr>
                                    </p:animMotion>
                                    <p:animScale zoomContents="1">
                                      <p:cBhvr>
                                        <p:cTn id="34" dur="700" fill="hold"/>
                                        <p:tgtEl>
                                          <p:spTgt spid="53"/>
                                        </p:tgtEl>
                                      </p:cBhvr>
                                      <p:from x="100000" y="200000"/>
                                      <p:to x="100000" y="100000"/>
                                    </p:animScale>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200"/>
                                        <p:tgtEl>
                                          <p:spTgt spid="54"/>
                                        </p:tgtEl>
                                      </p:cBhvr>
                                    </p:animEffect>
                                    <p:animMotion origin="layout" pathEditMode="relative" path="M -0.20234371 -0.20833333 L 0.00000000 0.00000000 E">
                                      <p:cBhvr>
                                        <p:cTn id="40" dur="700" fill="hold"/>
                                        <p:tgtEl>
                                          <p:spTgt spid="54"/>
                                        </p:tgtEl>
                                        <p:attrNameLst>
                                          <p:attrName>ppt_x</p:attrName>
                                          <p:attrName>ppt_y</p:attrName>
                                        </p:attrNameLst>
                                      </p:cBhvr>
                                    </p:animMotion>
                                    <p:animScale zoomContents="1">
                                      <p:cBhvr>
                                        <p:cTn id="41" dur="700" fill="hold"/>
                                        <p:tgtEl>
                                          <p:spTgt spid="54"/>
                                        </p:tgtEl>
                                      </p:cBhvr>
                                      <p:from x="80000" y="100000"/>
                                      <p:to x="100000" y="100000"/>
                                    </p:animScale>
                                  </p:childTnLst>
                                </p:cTn>
                              </p:par>
                              <p:par>
                                <p:cTn id="42" presetID="10" presetClass="entr" presetSubtype="0"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200"/>
                                        <p:tgtEl>
                                          <p:spTgt spid="55"/>
                                        </p:tgtEl>
                                      </p:cBhvr>
                                    </p:animEffect>
                                    <p:animMotion origin="layout" pathEditMode="relative" path="M -0.21015621 -0.20833333 L 0.00000000 0.00000000 E">
                                      <p:cBhvr>
                                        <p:cTn id="45" dur="700" fill="hold"/>
                                        <p:tgtEl>
                                          <p:spTgt spid="55"/>
                                        </p:tgtEl>
                                        <p:attrNameLst>
                                          <p:attrName>ppt_x</p:attrName>
                                          <p:attrName>ppt_y</p:attrName>
                                        </p:attrNameLst>
                                      </p:cBhvr>
                                    </p:animMotion>
                                    <p:animScale zoomContents="1">
                                      <p:cBhvr>
                                        <p:cTn id="46" dur="700" fill="hold"/>
                                        <p:tgtEl>
                                          <p:spTgt spid="55"/>
                                        </p:tgtEl>
                                      </p:cBhvr>
                                      <p:from x="80000" y="100000"/>
                                      <p:to x="100000" y="100000"/>
                                    </p:animScale>
                                  </p:childTnLst>
                                </p:cTn>
                              </p:par>
                              <p:par>
                                <p:cTn id="47" presetID="10" presetClass="entr" presetSubtype="0" fill="hold" nodeType="with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200"/>
                                        <p:tgtEl>
                                          <p:spTgt spid="56"/>
                                        </p:tgtEl>
                                      </p:cBhvr>
                                    </p:animEffect>
                                    <p:animMotion origin="layout" pathEditMode="relative" path="M -0.19843746 0.00000000 L 0.00000000 0.00000000 E">
                                      <p:cBhvr>
                                        <p:cTn id="50" dur="700" fill="hold"/>
                                        <p:tgtEl>
                                          <p:spTgt spid="56"/>
                                        </p:tgtEl>
                                        <p:attrNameLst>
                                          <p:attrName>ppt_x</p:attrName>
                                          <p:attrName>ppt_y</p:attrName>
                                        </p:attrNameLst>
                                      </p:cBhvr>
                                    </p:animMotion>
                                    <p:animScale zoomContents="1">
                                      <p:cBhvr>
                                        <p:cTn id="51" dur="700" fill="hold"/>
                                        <p:tgtEl>
                                          <p:spTgt spid="56"/>
                                        </p:tgtEl>
                                      </p:cBhvr>
                                      <p:from x="80000" y="100000"/>
                                      <p:to x="100000" y="100000"/>
                                    </p:animScale>
                                  </p:childTnLst>
                                </p:cTn>
                              </p:par>
                              <p:par>
                                <p:cTn id="52" presetID="10" presetClass="entr" presetSubtype="0" fill="hold" nodeType="with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200"/>
                                        <p:tgtEl>
                                          <p:spTgt spid="57"/>
                                        </p:tgtEl>
                                      </p:cBhvr>
                                    </p:animEffect>
                                    <p:animMotion origin="layout" pathEditMode="relative" path="M -0.21406246 0.00000000 L 0.00000000 0.00000000 E">
                                      <p:cBhvr>
                                        <p:cTn id="55" dur="700" fill="hold"/>
                                        <p:tgtEl>
                                          <p:spTgt spid="57"/>
                                        </p:tgtEl>
                                        <p:attrNameLst>
                                          <p:attrName>ppt_x</p:attrName>
                                          <p:attrName>ppt_y</p:attrName>
                                        </p:attrNameLst>
                                      </p:cBhvr>
                                    </p:animMotion>
                                    <p:animScale zoomContents="1">
                                      <p:cBhvr>
                                        <p:cTn id="56" dur="700" fill="hold"/>
                                        <p:tgtEl>
                                          <p:spTgt spid="57"/>
                                        </p:tgtEl>
                                      </p:cBhvr>
                                      <p:from x="80000" y="100000"/>
                                      <p:to x="100000" y="100000"/>
                                    </p:animScale>
                                  </p:childTnLst>
                                </p:cTn>
                              </p:par>
                              <p:par>
                                <p:cTn id="57" presetID="10" presetClass="entr" presetSubtype="0" fill="hold" nodeType="withEffect">
                                  <p:stCondLst>
                                    <p:cond delay="0"/>
                                  </p:stCondLst>
                                  <p:childTnLst>
                                    <p:set>
                                      <p:cBhvr>
                                        <p:cTn id="58" dur="1" fill="hold">
                                          <p:stCondLst>
                                            <p:cond delay="0"/>
                                          </p:stCondLst>
                                        </p:cTn>
                                        <p:tgtEl>
                                          <p:spTgt spid="58"/>
                                        </p:tgtEl>
                                        <p:attrNameLst>
                                          <p:attrName>style.visibility</p:attrName>
                                        </p:attrNameLst>
                                      </p:cBhvr>
                                      <p:to>
                                        <p:strVal val="visible"/>
                                      </p:to>
                                    </p:set>
                                    <p:animEffect transition="in" filter="fade">
                                      <p:cBhvr>
                                        <p:cTn id="59" dur="200"/>
                                        <p:tgtEl>
                                          <p:spTgt spid="58"/>
                                        </p:tgtEl>
                                      </p:cBhvr>
                                    </p:animEffect>
                                    <p:animMotion origin="layout" pathEditMode="relative" path="M -0.19453121 0.20833333 L 0.00000000 0.00000000 E">
                                      <p:cBhvr>
                                        <p:cTn id="60" dur="700" fill="hold"/>
                                        <p:tgtEl>
                                          <p:spTgt spid="58"/>
                                        </p:tgtEl>
                                        <p:attrNameLst>
                                          <p:attrName>ppt_x</p:attrName>
                                          <p:attrName>ppt_y</p:attrName>
                                        </p:attrNameLst>
                                      </p:cBhvr>
                                    </p:animMotion>
                                    <p:animScale zoomContents="1">
                                      <p:cBhvr>
                                        <p:cTn id="61" dur="700" fill="hold"/>
                                        <p:tgtEl>
                                          <p:spTgt spid="58"/>
                                        </p:tgtEl>
                                      </p:cBhvr>
                                      <p:from x="80000" y="100000"/>
                                      <p:to x="100000" y="100000"/>
                                    </p:animScale>
                                  </p:childTnLst>
                                </p:cTn>
                              </p:par>
                              <p:par>
                                <p:cTn id="62" presetID="10" presetClass="entr" presetSubtype="0" fill="hold" nodeType="withEffect">
                                  <p:stCondLst>
                                    <p:cond delay="0"/>
                                  </p:stCondLst>
                                  <p:childTnLst>
                                    <p:set>
                                      <p:cBhvr>
                                        <p:cTn id="63" dur="1" fill="hold">
                                          <p:stCondLst>
                                            <p:cond delay="0"/>
                                          </p:stCondLst>
                                        </p:cTn>
                                        <p:tgtEl>
                                          <p:spTgt spid="59"/>
                                        </p:tgtEl>
                                        <p:attrNameLst>
                                          <p:attrName>style.visibility</p:attrName>
                                        </p:attrNameLst>
                                      </p:cBhvr>
                                      <p:to>
                                        <p:strVal val="visible"/>
                                      </p:to>
                                    </p:set>
                                    <p:animEffect transition="in" filter="fade">
                                      <p:cBhvr>
                                        <p:cTn id="64" dur="200"/>
                                        <p:tgtEl>
                                          <p:spTgt spid="59"/>
                                        </p:tgtEl>
                                      </p:cBhvr>
                                    </p:animEffect>
                                    <p:animMotion origin="layout" pathEditMode="relative" path="M -0.21796871 0.20833333 L 0.00000000 0.00000000 E">
                                      <p:cBhvr>
                                        <p:cTn id="65" dur="700" fill="hold"/>
                                        <p:tgtEl>
                                          <p:spTgt spid="59"/>
                                        </p:tgtEl>
                                        <p:attrNameLst>
                                          <p:attrName>ppt_x</p:attrName>
                                          <p:attrName>ppt_y</p:attrName>
                                        </p:attrNameLst>
                                      </p:cBhvr>
                                    </p:animMotion>
                                    <p:animScale zoomContents="1">
                                      <p:cBhvr>
                                        <p:cTn id="66" dur="700" fill="hold"/>
                                        <p:tgtEl>
                                          <p:spTgt spid="59"/>
                                        </p:tgtEl>
                                      </p:cBhvr>
                                      <p:from x="80000" y="100000"/>
                                      <p:to x="100000" y="100000"/>
                                    </p:animScale>
                                  </p:childTnLst>
                                </p:cTn>
                              </p:par>
                              <p:par>
                                <p:cTn id="67" presetID="10" presetClass="entr" presetSubtype="0" fill="hold" nodeType="withEffect">
                                  <p:stCondLst>
                                    <p:cond delay="0"/>
                                  </p:stCondLst>
                                  <p:childTnLst>
                                    <p:set>
                                      <p:cBhvr>
                                        <p:cTn id="68" dur="1" fill="hold">
                                          <p:stCondLst>
                                            <p:cond delay="0"/>
                                          </p:stCondLst>
                                        </p:cTn>
                                        <p:tgtEl>
                                          <p:spTgt spid="240"/>
                                        </p:tgtEl>
                                        <p:attrNameLst>
                                          <p:attrName>style.visibility</p:attrName>
                                        </p:attrNameLst>
                                      </p:cBhvr>
                                      <p:to>
                                        <p:strVal val="visible"/>
                                      </p:to>
                                    </p:set>
                                    <p:animEffect transition="in" filter="fade">
                                      <p:cBhvr>
                                        <p:cTn id="69" dur="400"/>
                                        <p:tgtEl>
                                          <p:spTgt spid="240"/>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60"/>
                                        </p:tgtEl>
                                        <p:attrNameLst>
                                          <p:attrName>style.visibility</p:attrName>
                                        </p:attrNameLst>
                                      </p:cBhvr>
                                      <p:to>
                                        <p:strVal val="visible"/>
                                      </p:to>
                                    </p:set>
                                    <p:animEffect transition="in" filter="fade">
                                      <p:cBhvr>
                                        <p:cTn id="74" dur="200"/>
                                        <p:tgtEl>
                                          <p:spTgt spid="60"/>
                                        </p:tgtEl>
                                      </p:cBhvr>
                                    </p:animEffect>
                                    <p:animMotion origin="layout" pathEditMode="relative" path="M -0.19921879 0.20833333 L 0.00000000 0.00000000 E">
                                      <p:cBhvr>
                                        <p:cTn id="75" dur="700" fill="hold"/>
                                        <p:tgtEl>
                                          <p:spTgt spid="60"/>
                                        </p:tgtEl>
                                        <p:attrNameLst>
                                          <p:attrName>ppt_x</p:attrName>
                                          <p:attrName>ppt_y</p:attrName>
                                        </p:attrNameLst>
                                      </p:cBhvr>
                                    </p:animMotion>
                                    <p:animScale zoomContents="1">
                                      <p:cBhvr>
                                        <p:cTn id="76" dur="700" fill="hold"/>
                                        <p:tgtEl>
                                          <p:spTgt spid="60"/>
                                        </p:tgtEl>
                                      </p:cBhvr>
                                      <p:from x="125000" y="100000"/>
                                      <p:to x="100000" y="100000"/>
                                    </p:animScale>
                                  </p:childTnLst>
                                </p:cTn>
                              </p:par>
                              <p:par>
                                <p:cTn id="77" presetID="10" presetClass="entr" presetSubtype="0" fill="hold" nodeType="withEffect">
                                  <p:stCondLst>
                                    <p:cond delay="0"/>
                                  </p:stCondLst>
                                  <p:childTnLst>
                                    <p:set>
                                      <p:cBhvr>
                                        <p:cTn id="78" dur="1" fill="hold">
                                          <p:stCondLst>
                                            <p:cond delay="0"/>
                                          </p:stCondLst>
                                        </p:cTn>
                                        <p:tgtEl>
                                          <p:spTgt spid="61"/>
                                        </p:tgtEl>
                                        <p:attrNameLst>
                                          <p:attrName>style.visibility</p:attrName>
                                        </p:attrNameLst>
                                      </p:cBhvr>
                                      <p:to>
                                        <p:strVal val="visible"/>
                                      </p:to>
                                    </p:set>
                                    <p:animEffect transition="in" filter="fade">
                                      <p:cBhvr>
                                        <p:cTn id="79" dur="200"/>
                                        <p:tgtEl>
                                          <p:spTgt spid="61"/>
                                        </p:tgtEl>
                                      </p:cBhvr>
                                    </p:animEffect>
                                    <p:animMotion origin="layout" pathEditMode="relative" path="M -0.19140629 0.20833333 L 0.00000000 0.00000000 E">
                                      <p:cBhvr>
                                        <p:cTn id="80" dur="700" fill="hold"/>
                                        <p:tgtEl>
                                          <p:spTgt spid="61"/>
                                        </p:tgtEl>
                                        <p:attrNameLst>
                                          <p:attrName>ppt_x</p:attrName>
                                          <p:attrName>ppt_y</p:attrName>
                                        </p:attrNameLst>
                                      </p:cBhvr>
                                    </p:animMotion>
                                    <p:animScale zoomContents="1">
                                      <p:cBhvr>
                                        <p:cTn id="81" dur="700" fill="hold"/>
                                        <p:tgtEl>
                                          <p:spTgt spid="61"/>
                                        </p:tgtEl>
                                      </p:cBhvr>
                                      <p:from x="125000" y="100000"/>
                                      <p:to x="100000" y="100000"/>
                                    </p:animScale>
                                  </p:childTnLst>
                                </p:cTn>
                              </p:par>
                              <p:par>
                                <p:cTn id="82" presetID="10" presetClass="entr" presetSubtype="0" fill="hold" nodeType="with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fade">
                                      <p:cBhvr>
                                        <p:cTn id="84" dur="200"/>
                                        <p:tgtEl>
                                          <p:spTgt spid="62"/>
                                        </p:tgtEl>
                                      </p:cBhvr>
                                    </p:animEffect>
                                    <p:animMotion origin="layout" pathEditMode="relative" path="M -0.20312504 0.00000000 L 0.00000000 0.00000000 E">
                                      <p:cBhvr>
                                        <p:cTn id="85" dur="700" fill="hold"/>
                                        <p:tgtEl>
                                          <p:spTgt spid="62"/>
                                        </p:tgtEl>
                                        <p:attrNameLst>
                                          <p:attrName>ppt_x</p:attrName>
                                          <p:attrName>ppt_y</p:attrName>
                                        </p:attrNameLst>
                                      </p:cBhvr>
                                    </p:animMotion>
                                    <p:animScale zoomContents="1">
                                      <p:cBhvr>
                                        <p:cTn id="86" dur="700" fill="hold"/>
                                        <p:tgtEl>
                                          <p:spTgt spid="62"/>
                                        </p:tgtEl>
                                      </p:cBhvr>
                                      <p:from x="125000" y="100000"/>
                                      <p:to x="100000" y="100000"/>
                                    </p:animScale>
                                  </p:childTnLst>
                                </p:cTn>
                              </p:par>
                              <p:par>
                                <p:cTn id="87" presetID="10" presetClass="entr" presetSubtype="0" fill="hold" nodeType="withEffect">
                                  <p:stCondLst>
                                    <p:cond delay="0"/>
                                  </p:stCondLst>
                                  <p:childTnLst>
                                    <p:set>
                                      <p:cBhvr>
                                        <p:cTn id="88" dur="1" fill="hold">
                                          <p:stCondLst>
                                            <p:cond delay="0"/>
                                          </p:stCondLst>
                                        </p:cTn>
                                        <p:tgtEl>
                                          <p:spTgt spid="63"/>
                                        </p:tgtEl>
                                        <p:attrNameLst>
                                          <p:attrName>style.visibility</p:attrName>
                                        </p:attrNameLst>
                                      </p:cBhvr>
                                      <p:to>
                                        <p:strVal val="visible"/>
                                      </p:to>
                                    </p:set>
                                    <p:animEffect transition="in" filter="fade">
                                      <p:cBhvr>
                                        <p:cTn id="89" dur="200"/>
                                        <p:tgtEl>
                                          <p:spTgt spid="63"/>
                                        </p:tgtEl>
                                      </p:cBhvr>
                                    </p:animEffect>
                                    <p:animMotion origin="layout" pathEditMode="relative" path="M -0.18750004 0.00000000 L 0.00000000 0.00000000 E">
                                      <p:cBhvr>
                                        <p:cTn id="90" dur="700" fill="hold"/>
                                        <p:tgtEl>
                                          <p:spTgt spid="63"/>
                                        </p:tgtEl>
                                        <p:attrNameLst>
                                          <p:attrName>ppt_x</p:attrName>
                                          <p:attrName>ppt_y</p:attrName>
                                        </p:attrNameLst>
                                      </p:cBhvr>
                                    </p:animMotion>
                                    <p:animScale zoomContents="1">
                                      <p:cBhvr>
                                        <p:cTn id="91" dur="700" fill="hold"/>
                                        <p:tgtEl>
                                          <p:spTgt spid="63"/>
                                        </p:tgtEl>
                                      </p:cBhvr>
                                      <p:from x="125000" y="100000"/>
                                      <p:to x="100000" y="100000"/>
                                    </p:animScale>
                                  </p:childTnLst>
                                </p:cTn>
                              </p:par>
                              <p:par>
                                <p:cTn id="92" presetID="10" presetClass="entr" presetSubtype="0" fill="hold"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200"/>
                                        <p:tgtEl>
                                          <p:spTgt spid="64"/>
                                        </p:tgtEl>
                                      </p:cBhvr>
                                    </p:animEffect>
                                    <p:animMotion origin="layout" pathEditMode="relative" path="M -0.20703129 -0.20833333 L 0.00000000 0.00000000 E">
                                      <p:cBhvr>
                                        <p:cTn id="95" dur="700" fill="hold"/>
                                        <p:tgtEl>
                                          <p:spTgt spid="64"/>
                                        </p:tgtEl>
                                        <p:attrNameLst>
                                          <p:attrName>ppt_x</p:attrName>
                                          <p:attrName>ppt_y</p:attrName>
                                        </p:attrNameLst>
                                      </p:cBhvr>
                                    </p:animMotion>
                                    <p:animScale zoomContents="1">
                                      <p:cBhvr>
                                        <p:cTn id="96" dur="700" fill="hold"/>
                                        <p:tgtEl>
                                          <p:spTgt spid="64"/>
                                        </p:tgtEl>
                                      </p:cBhvr>
                                      <p:from x="125000" y="100000"/>
                                      <p:to x="100000" y="100000"/>
                                    </p:animScale>
                                  </p:childTnLst>
                                </p:cTn>
                              </p:par>
                              <p:par>
                                <p:cTn id="97" presetID="10" presetClass="entr" presetSubtype="0" fill="hold" nodeType="withEffect">
                                  <p:stCondLst>
                                    <p:cond delay="0"/>
                                  </p:stCondLst>
                                  <p:childTnLst>
                                    <p:set>
                                      <p:cBhvr>
                                        <p:cTn id="98" dur="1" fill="hold">
                                          <p:stCondLst>
                                            <p:cond delay="0"/>
                                          </p:stCondLst>
                                        </p:cTn>
                                        <p:tgtEl>
                                          <p:spTgt spid="65"/>
                                        </p:tgtEl>
                                        <p:attrNameLst>
                                          <p:attrName>style.visibility</p:attrName>
                                        </p:attrNameLst>
                                      </p:cBhvr>
                                      <p:to>
                                        <p:strVal val="visible"/>
                                      </p:to>
                                    </p:set>
                                    <p:animEffect transition="in" filter="fade">
                                      <p:cBhvr>
                                        <p:cTn id="99" dur="200"/>
                                        <p:tgtEl>
                                          <p:spTgt spid="65"/>
                                        </p:tgtEl>
                                      </p:cBhvr>
                                    </p:animEffect>
                                    <p:animMotion origin="layout" pathEditMode="relative" path="M -0.18359379 -0.20833333 L 0.00000000 0.00000000 E">
                                      <p:cBhvr>
                                        <p:cTn id="100" dur="700" fill="hold"/>
                                        <p:tgtEl>
                                          <p:spTgt spid="65"/>
                                        </p:tgtEl>
                                        <p:attrNameLst>
                                          <p:attrName>ppt_x</p:attrName>
                                          <p:attrName>ppt_y</p:attrName>
                                        </p:attrNameLst>
                                      </p:cBhvr>
                                    </p:animMotion>
                                    <p:animScale zoomContents="1">
                                      <p:cBhvr>
                                        <p:cTn id="101" dur="700" fill="hold"/>
                                        <p:tgtEl>
                                          <p:spTgt spid="65"/>
                                        </p:tgtEl>
                                      </p:cBhvr>
                                      <p:from x="125000" y="100000"/>
                                      <p:to x="100000" y="100000"/>
                                    </p:animScale>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200"/>
                                        <p:tgtEl>
                                          <p:spTgt spid="66"/>
                                        </p:tgtEl>
                                      </p:cBhvr>
                                    </p:animEffect>
                                    <p:animMotion origin="layout" pathEditMode="relative" path="M -0.20312500 0.00000000 L 0.00000000 0.00000000 E">
                                      <p:cBhvr>
                                        <p:cTn id="107" dur="700" fill="hold"/>
                                        <p:tgtEl>
                                          <p:spTgt spid="66"/>
                                        </p:tgtEl>
                                        <p:attrNameLst>
                                          <p:attrName>ppt_x</p:attrName>
                                          <p:attrName>ppt_y</p:attrName>
                                        </p:attrNameLst>
                                      </p:cBhvr>
                                    </p:animMotion>
                                    <p:animScale zoomContents="1">
                                      <p:cBhvr>
                                        <p:cTn id="108" dur="700" fill="hold"/>
                                        <p:tgtEl>
                                          <p:spTgt spid="66"/>
                                        </p:tgtEl>
                                      </p:cBhvr>
                                      <p:from x="100000" y="100000"/>
                                      <p:to x="100000" y="100000"/>
                                    </p:animScale>
                                  </p:childTnLst>
                                </p:cTn>
                              </p:par>
                              <p:par>
                                <p:cTn id="109" presetID="10" presetClass="entr" presetSubtype="0" fill="hold" nodeType="withEffect">
                                  <p:stCondLst>
                                    <p:cond delay="0"/>
                                  </p:stCondLst>
                                  <p:childTnLst>
                                    <p:set>
                                      <p:cBhvr>
                                        <p:cTn id="110" dur="1" fill="hold">
                                          <p:stCondLst>
                                            <p:cond delay="0"/>
                                          </p:stCondLst>
                                        </p:cTn>
                                        <p:tgtEl>
                                          <p:spTgt spid="67"/>
                                        </p:tgtEl>
                                        <p:attrNameLst>
                                          <p:attrName>style.visibility</p:attrName>
                                        </p:attrNameLst>
                                      </p:cBhvr>
                                      <p:to>
                                        <p:strVal val="visible"/>
                                      </p:to>
                                    </p:set>
                                    <p:animEffect transition="in" filter="fade">
                                      <p:cBhvr>
                                        <p:cTn id="111" dur="200"/>
                                        <p:tgtEl>
                                          <p:spTgt spid="67"/>
                                        </p:tgtEl>
                                      </p:cBhvr>
                                    </p:animEffect>
                                    <p:animMotion origin="layout" pathEditMode="relative" path="M -0.17187500 0.00000000 L 0.00000000 0.00000000 E">
                                      <p:cBhvr>
                                        <p:cTn id="112" dur="700" fill="hold"/>
                                        <p:tgtEl>
                                          <p:spTgt spid="67"/>
                                        </p:tgtEl>
                                        <p:attrNameLst>
                                          <p:attrName>ppt_x</p:attrName>
                                          <p:attrName>ppt_y</p:attrName>
                                        </p:attrNameLst>
                                      </p:cBhvr>
                                    </p:animMotion>
                                    <p:animScale zoomContents="1">
                                      <p:cBhvr>
                                        <p:cTn id="113" dur="700" fill="hold"/>
                                        <p:tgtEl>
                                          <p:spTgt spid="67"/>
                                        </p:tgtEl>
                                      </p:cBhvr>
                                      <p:from x="100000" y="100000"/>
                                      <p:to x="100000" y="100000"/>
                                    </p:animScale>
                                  </p:childTnLst>
                                </p:cTn>
                              </p:par>
                              <p:par>
                                <p:cTn id="114" presetID="10" presetClass="entr" presetSubtype="0" fill="hold" nodeType="withEffect">
                                  <p:stCondLst>
                                    <p:cond delay="720"/>
                                  </p:stCondLst>
                                  <p:childTnLst>
                                    <p:set>
                                      <p:cBhvr>
                                        <p:cTn id="115" dur="1" fill="hold">
                                          <p:stCondLst>
                                            <p:cond delay="0"/>
                                          </p:stCondLst>
                                        </p:cTn>
                                        <p:tgtEl>
                                          <p:spTgt spid="68"/>
                                        </p:tgtEl>
                                        <p:attrNameLst>
                                          <p:attrName>style.visibility</p:attrName>
                                        </p:attrNameLst>
                                      </p:cBhvr>
                                      <p:to>
                                        <p:strVal val="visible"/>
                                      </p:to>
                                    </p:set>
                                    <p:animEffect transition="in" filter="fade">
                                      <p:cBhvr>
                                        <p:cTn id="116" dur="400"/>
                                        <p:tgtEl>
                                          <p:spTgt spid="68"/>
                                        </p:tgtEl>
                                      </p:cBhvr>
                                    </p:animEffect>
                                  </p:childTnLst>
                                </p:cTn>
                              </p:par>
                              <p:par>
                                <p:cTn id="117" presetID="10" presetClass="entr" presetSubtype="0" fill="hold" nodeType="withEffect">
                                  <p:stCondLst>
                                    <p:cond delay="0"/>
                                  </p:stCondLst>
                                  <p:childTnLst>
                                    <p:set>
                                      <p:cBhvr>
                                        <p:cTn id="118" dur="1" fill="hold">
                                          <p:stCondLst>
                                            <p:cond delay="0"/>
                                          </p:stCondLst>
                                        </p:cTn>
                                        <p:tgtEl>
                                          <p:spTgt spid="69"/>
                                        </p:tgtEl>
                                        <p:attrNameLst>
                                          <p:attrName>style.visibility</p:attrName>
                                        </p:attrNameLst>
                                      </p:cBhvr>
                                      <p:to>
                                        <p:strVal val="visible"/>
                                      </p:to>
                                    </p:set>
                                    <p:animEffect transition="in" filter="fade">
                                      <p:cBhvr>
                                        <p:cTn id="119" dur="200"/>
                                        <p:tgtEl>
                                          <p:spTgt spid="69"/>
                                        </p:tgtEl>
                                      </p:cBhvr>
                                    </p:animEffect>
                                    <p:animMotion origin="layout" pathEditMode="relative" path="M -0.21875000 0.00000000 L 0.00000000 0.00000000 E">
                                      <p:cBhvr>
                                        <p:cTn id="120" dur="700" fill="hold"/>
                                        <p:tgtEl>
                                          <p:spTgt spid="69"/>
                                        </p:tgtEl>
                                        <p:attrNameLst>
                                          <p:attrName>ppt_x</p:attrName>
                                          <p:attrName>ppt_y</p:attrName>
                                        </p:attrNameLst>
                                      </p:cBhvr>
                                    </p:animMotion>
                                    <p:animScale zoomContents="1">
                                      <p:cBhvr>
                                        <p:cTn id="121" dur="700" fill="hold"/>
                                        <p:tgtEl>
                                          <p:spTgt spid="69"/>
                                        </p:tgtEl>
                                      </p:cBhvr>
                                      <p:from x="100000" y="100000"/>
                                      <p:to x="100000" y="100000"/>
                                    </p:animScale>
                                  </p:childTnLst>
                                </p:cTn>
                              </p:par>
                              <p:par>
                                <p:cTn id="122" presetID="10" presetClass="entr" presetSubtype="0" fill="hold" nodeType="withEffect">
                                  <p:stCondLst>
                                    <p:cond delay="0"/>
                                  </p:stCondLst>
                                  <p:childTnLst>
                                    <p:set>
                                      <p:cBhvr>
                                        <p:cTn id="123" dur="1" fill="hold">
                                          <p:stCondLst>
                                            <p:cond delay="0"/>
                                          </p:stCondLst>
                                        </p:cTn>
                                        <p:tgtEl>
                                          <p:spTgt spid="70"/>
                                        </p:tgtEl>
                                        <p:attrNameLst>
                                          <p:attrName>style.visibility</p:attrName>
                                        </p:attrNameLst>
                                      </p:cBhvr>
                                      <p:to>
                                        <p:strVal val="visible"/>
                                      </p:to>
                                    </p:set>
                                    <p:animEffect transition="in" filter="fade">
                                      <p:cBhvr>
                                        <p:cTn id="124" dur="200"/>
                                        <p:tgtEl>
                                          <p:spTgt spid="70"/>
                                        </p:tgtEl>
                                      </p:cBhvr>
                                    </p:animEffect>
                                    <p:animMotion origin="layout" pathEditMode="relative" path="M -0.15625000 0.00000000 L 0.00000000 0.00000000 E">
                                      <p:cBhvr>
                                        <p:cTn id="125" dur="700" fill="hold"/>
                                        <p:tgtEl>
                                          <p:spTgt spid="70"/>
                                        </p:tgtEl>
                                        <p:attrNameLst>
                                          <p:attrName>ppt_x</p:attrName>
                                          <p:attrName>ppt_y</p:attrName>
                                        </p:attrNameLst>
                                      </p:cBhvr>
                                    </p:animMotion>
                                    <p:animScale zoomContents="1">
                                      <p:cBhvr>
                                        <p:cTn id="126" dur="700" fill="hold"/>
                                        <p:tgtEl>
                                          <p:spTgt spid="70"/>
                                        </p:tgtEl>
                                      </p:cBhvr>
                                      <p:from x="100000" y="100000"/>
                                      <p:to x="100000" y="100000"/>
                                    </p:animScale>
                                  </p:childTnLst>
                                </p:cTn>
                              </p:par>
                              <p:par>
                                <p:cTn id="127" presetID="10" presetClass="entr" presetSubtype="0" fill="hold" nodeType="withEffect">
                                  <p:stCondLst>
                                    <p:cond delay="720"/>
                                  </p:stCondLst>
                                  <p:childTnLst>
                                    <p:set>
                                      <p:cBhvr>
                                        <p:cTn id="128" dur="1" fill="hold">
                                          <p:stCondLst>
                                            <p:cond delay="0"/>
                                          </p:stCondLst>
                                        </p:cTn>
                                        <p:tgtEl>
                                          <p:spTgt spid="71"/>
                                        </p:tgtEl>
                                        <p:attrNameLst>
                                          <p:attrName>style.visibility</p:attrName>
                                        </p:attrNameLst>
                                      </p:cBhvr>
                                      <p:to>
                                        <p:strVal val="visible"/>
                                      </p:to>
                                    </p:set>
                                    <p:animEffect transition="in" filter="fade">
                                      <p:cBhvr>
                                        <p:cTn id="129" dur="400"/>
                                        <p:tgtEl>
                                          <p:spTgt spid="71"/>
                                        </p:tgtEl>
                                      </p:cBhvr>
                                    </p:animEffect>
                                  </p:childTnLst>
                                </p:cTn>
                              </p:par>
                              <p:par>
                                <p:cTn id="130" presetID="10" presetClass="entr" presetSubtype="0" fill="hold" nodeType="withEffect">
                                  <p:stCondLst>
                                    <p:cond delay="0"/>
                                  </p:stCondLst>
                                  <p:childTnLst>
                                    <p:set>
                                      <p:cBhvr>
                                        <p:cTn id="131" dur="1" fill="hold">
                                          <p:stCondLst>
                                            <p:cond delay="0"/>
                                          </p:stCondLst>
                                        </p:cTn>
                                        <p:tgtEl>
                                          <p:spTgt spid="72"/>
                                        </p:tgtEl>
                                        <p:attrNameLst>
                                          <p:attrName>style.visibility</p:attrName>
                                        </p:attrNameLst>
                                      </p:cBhvr>
                                      <p:to>
                                        <p:strVal val="visible"/>
                                      </p:to>
                                    </p:set>
                                    <p:animEffect transition="in" filter="fade">
                                      <p:cBhvr>
                                        <p:cTn id="132" dur="200"/>
                                        <p:tgtEl>
                                          <p:spTgt spid="72"/>
                                        </p:tgtEl>
                                      </p:cBhvr>
                                    </p:animEffect>
                                    <p:animMotion origin="layout" pathEditMode="relative" path="M -0.23437500 0.00000000 L 0.00000000 0.00000000 E">
                                      <p:cBhvr>
                                        <p:cTn id="133" dur="700" fill="hold"/>
                                        <p:tgtEl>
                                          <p:spTgt spid="72"/>
                                        </p:tgtEl>
                                        <p:attrNameLst>
                                          <p:attrName>ppt_x</p:attrName>
                                          <p:attrName>ppt_y</p:attrName>
                                        </p:attrNameLst>
                                      </p:cBhvr>
                                    </p:animMotion>
                                    <p:animScale zoomContents="1">
                                      <p:cBhvr>
                                        <p:cTn id="134" dur="700" fill="hold"/>
                                        <p:tgtEl>
                                          <p:spTgt spid="72"/>
                                        </p:tgtEl>
                                      </p:cBhvr>
                                      <p:from x="100000" y="100000"/>
                                      <p:to x="100000" y="100000"/>
                                    </p:animScale>
                                  </p:childTnLst>
                                </p:cTn>
                              </p:par>
                              <p:par>
                                <p:cTn id="135" presetID="10" presetClass="entr" presetSubtype="0" fill="hold" nodeType="withEffect">
                                  <p:stCondLst>
                                    <p:cond delay="0"/>
                                  </p:stCondLst>
                                  <p:childTnLst>
                                    <p:set>
                                      <p:cBhvr>
                                        <p:cTn id="136" dur="1" fill="hold">
                                          <p:stCondLst>
                                            <p:cond delay="0"/>
                                          </p:stCondLst>
                                        </p:cTn>
                                        <p:tgtEl>
                                          <p:spTgt spid="73"/>
                                        </p:tgtEl>
                                        <p:attrNameLst>
                                          <p:attrName>style.visibility</p:attrName>
                                        </p:attrNameLst>
                                      </p:cBhvr>
                                      <p:to>
                                        <p:strVal val="visible"/>
                                      </p:to>
                                    </p:set>
                                    <p:animEffect transition="in" filter="fade">
                                      <p:cBhvr>
                                        <p:cTn id="137" dur="200"/>
                                        <p:tgtEl>
                                          <p:spTgt spid="73"/>
                                        </p:tgtEl>
                                      </p:cBhvr>
                                    </p:animEffect>
                                    <p:animMotion origin="layout" pathEditMode="relative" path="M -0.14062500 0.00000000 L 0.00000000 0.00000000 E">
                                      <p:cBhvr>
                                        <p:cTn id="138" dur="700" fill="hold"/>
                                        <p:tgtEl>
                                          <p:spTgt spid="73"/>
                                        </p:tgtEl>
                                        <p:attrNameLst>
                                          <p:attrName>ppt_x</p:attrName>
                                          <p:attrName>ppt_y</p:attrName>
                                        </p:attrNameLst>
                                      </p:cBhvr>
                                    </p:animMotion>
                                    <p:animScale zoomContents="1">
                                      <p:cBhvr>
                                        <p:cTn id="139" dur="700" fill="hold"/>
                                        <p:tgtEl>
                                          <p:spTgt spid="73"/>
                                        </p:tgtEl>
                                      </p:cBhvr>
                                      <p:from x="100000" y="100000"/>
                                      <p:to x="100000" y="100000"/>
                                    </p:animScale>
                                  </p:childTnLst>
                                </p:cTn>
                              </p:par>
                              <p:par>
                                <p:cTn id="140" presetID="10" presetClass="entr" presetSubtype="0" fill="hold" nodeType="withEffect">
                                  <p:stCondLst>
                                    <p:cond delay="720"/>
                                  </p:stCondLst>
                                  <p:childTnLst>
                                    <p:set>
                                      <p:cBhvr>
                                        <p:cTn id="141" dur="1" fill="hold">
                                          <p:stCondLst>
                                            <p:cond delay="0"/>
                                          </p:stCondLst>
                                        </p:cTn>
                                        <p:tgtEl>
                                          <p:spTgt spid="74"/>
                                        </p:tgtEl>
                                        <p:attrNameLst>
                                          <p:attrName>style.visibility</p:attrName>
                                        </p:attrNameLst>
                                      </p:cBhvr>
                                      <p:to>
                                        <p:strVal val="visible"/>
                                      </p:to>
                                    </p:set>
                                    <p:animEffect transition="in" filter="fade">
                                      <p:cBhvr>
                                        <p:cTn id="142"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recap-title">
            <ns0:hlinkClick xmlns:ns0="http://schemas.openxmlformats.org/drawingml/2006/main" xmlns:ns1="http://schemas.openxmlformats.org/officeDocument/2006/relationships" ns1:id="rIdmethods_Link14" action="ppaction://hlinksldjump"/>
            <a:extLst xmlns:a="http://schemas.openxmlformats.org/drawingml/2006/main">
              <a:ext uri="{FF2B5EF4-FFF2-40B4-BE49-F238E27FC236}">
                <a16:creationId xmlns:a16="http://schemas.microsoft.com/office/drawing/2014/main" id="{BAF00A3D-BB8E-45F8-A78A-E3C9BCC93A8C}"/>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4" action="ppaction://hlinksldjump"/>
              </a:rPr>
              <a:t>DSB-SC</a:t>
            </a:r>
          </a:p>
        </p:txBody>
      </p:sp>
      <p:sp>
        <p:nvSpPr>
          <p:cNvPr id="2" name="!!recap-route-tx-line">
            <a:extLst xmlns:a="http://schemas.openxmlformats.org/drawingml/2006/main">
              <a:ext uri="{FF2B5EF4-FFF2-40B4-BE49-F238E27FC236}">
                <a16:creationId xmlns:a16="http://schemas.microsoft.com/office/drawing/2014/main" id="{98573537-DE73-44C1-9005-363AADF0ED3B}"/>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recap-route-tx-head">
            <a:extLst xmlns:a="http://schemas.openxmlformats.org/drawingml/2006/main">
              <a:ext uri="{FF2B5EF4-FFF2-40B4-BE49-F238E27FC236}">
                <a16:creationId xmlns:a16="http://schemas.microsoft.com/office/drawing/2014/main" id="{FFC8439F-4829-4A13-915F-6236C2802D86}"/>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recap-route-rx-line">
            <a:extLst xmlns:a="http://schemas.openxmlformats.org/drawingml/2006/main">
              <a:ext uri="{FF2B5EF4-FFF2-40B4-BE49-F238E27FC236}">
                <a16:creationId xmlns:a16="http://schemas.microsoft.com/office/drawing/2014/main" id="{F721A6CA-68A4-41FF-92BE-FF7123598A65}"/>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recap-route-rx-head">
            <a:extLst xmlns:a="http://schemas.openxmlformats.org/drawingml/2006/main">
              <a:ext uri="{FF2B5EF4-FFF2-40B4-BE49-F238E27FC236}">
                <a16:creationId xmlns:a16="http://schemas.microsoft.com/office/drawing/2014/main" id="{99D8FC83-D685-4E8A-A62B-13E8CE7085FE}"/>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recap-recap-send-g0-r0-axis-line">
            <a:extLst xmlns:a="http://schemas.openxmlformats.org/drawingml/2006/main">
              <a:ext uri="{FF2B5EF4-FFF2-40B4-BE49-F238E27FC236}">
                <a16:creationId xmlns:a16="http://schemas.microsoft.com/office/drawing/2014/main" id="{F6274F64-F59C-405C-9798-1CC583749039}"/>
              </a:ext>
            </a:extLst>
          </p:cNvPr>
          <p:cNvSpPr>
            <a:spLocks xmlns:a="http://schemas.openxmlformats.org/drawingml/2006/main" noGrp="1"/>
          </p:cNvSpPr>
          <p:nvPr/>
        </p:nvSpPr>
        <p:spPr>
          <a:xfrm xmlns:a="http://schemas.openxmlformats.org/drawingml/2006/main">
            <a:off x="2476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7" name="!!recap-recap-send-g0-r0-axis-head">
            <a:extLst xmlns:a="http://schemas.openxmlformats.org/drawingml/2006/main">
              <a:ext uri="{FF2B5EF4-FFF2-40B4-BE49-F238E27FC236}">
                <a16:creationId xmlns:a16="http://schemas.microsoft.com/office/drawing/2014/main" id="{BF6633AD-DACF-4A94-A355-102318651068}"/>
              </a:ext>
            </a:extLst>
          </p:cNvPr>
          <p:cNvSpPr>
            <a:spLocks xmlns:a="http://schemas.openxmlformats.org/drawingml/2006/main" noGrp="1"/>
          </p:cNvSpPr>
          <p:nvPr/>
        </p:nvSpPr>
        <p:spPr>
          <a:xfrm xmlns:a="http://schemas.openxmlformats.org/drawingml/2006/main" rot="5400000">
            <a:off x="5143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8" name="!!recap-recap-send-g0-r0-tick0">
            <a:extLst xmlns:a="http://schemas.openxmlformats.org/drawingml/2006/main">
              <a:ext uri="{FF2B5EF4-FFF2-40B4-BE49-F238E27FC236}">
                <a16:creationId xmlns:a16="http://schemas.microsoft.com/office/drawing/2014/main" id="{B460B266-615B-4E8C-98FA-DFED8AF5679F}"/>
              </a:ext>
            </a:extLst>
          </p:cNvPr>
          <p:cNvSpPr>
            <a:spLocks xmlns:a="http://schemas.openxmlformats.org/drawingml/2006/main" noGrp="1"/>
          </p:cNvSpPr>
          <p:nvPr/>
        </p:nvSpPr>
        <p:spPr>
          <a:xfrm xmlns:a="http://schemas.openxmlformats.org/drawingml/2006/main">
            <a:off x="36933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recap-recap-send-g0-r0-tick1">
            <a:extLst xmlns:a="http://schemas.openxmlformats.org/drawingml/2006/main">
              <a:ext uri="{FF2B5EF4-FFF2-40B4-BE49-F238E27FC236}">
                <a16:creationId xmlns:a16="http://schemas.microsoft.com/office/drawing/2014/main" id="{F90257E2-EBF5-4F4C-B0E0-D3BAAA183B06}"/>
              </a:ext>
            </a:extLst>
          </p:cNvPr>
          <p:cNvSpPr>
            <a:spLocks xmlns:a="http://schemas.openxmlformats.org/drawingml/2006/main" noGrp="1"/>
          </p:cNvSpPr>
          <p:nvPr/>
        </p:nvSpPr>
        <p:spPr>
          <a:xfrm xmlns:a="http://schemas.openxmlformats.org/drawingml/2006/main">
            <a:off x="3867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recap-recap-send-g0-r0-tick2">
            <a:extLst xmlns:a="http://schemas.openxmlformats.org/drawingml/2006/main">
              <a:ext uri="{FF2B5EF4-FFF2-40B4-BE49-F238E27FC236}">
                <a16:creationId xmlns:a16="http://schemas.microsoft.com/office/drawing/2014/main" id="{343DDEF6-22F7-4663-BFF2-CDEA09852D26}"/>
              </a:ext>
            </a:extLst>
          </p:cNvPr>
          <p:cNvSpPr>
            <a:spLocks xmlns:a="http://schemas.openxmlformats.org/drawingml/2006/main" noGrp="1"/>
          </p:cNvSpPr>
          <p:nvPr/>
        </p:nvSpPr>
        <p:spPr>
          <a:xfrm xmlns:a="http://schemas.openxmlformats.org/drawingml/2006/main">
            <a:off x="40409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recap-recap-send-g1-r0-axis-line">
            <a:extLst xmlns:a="http://schemas.openxmlformats.org/drawingml/2006/main">
              <a:ext uri="{FF2B5EF4-FFF2-40B4-BE49-F238E27FC236}">
                <a16:creationId xmlns:a16="http://schemas.microsoft.com/office/drawing/2014/main" id="{C0DEC8F2-2510-453D-BE8D-2C04B6079B58}"/>
              </a:ext>
            </a:extLst>
          </p:cNvPr>
          <p:cNvSpPr>
            <a:spLocks xmlns:a="http://schemas.openxmlformats.org/drawingml/2006/main" noGrp="1"/>
          </p:cNvSpPr>
          <p:nvPr/>
        </p:nvSpPr>
        <p:spPr>
          <a:xfrm xmlns:a="http://schemas.openxmlformats.org/drawingml/2006/main">
            <a:off x="64770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recap-recap-send-g1-r0-axis-head">
            <a:extLst xmlns:a="http://schemas.openxmlformats.org/drawingml/2006/main">
              <a:ext uri="{FF2B5EF4-FFF2-40B4-BE49-F238E27FC236}">
                <a16:creationId xmlns:a16="http://schemas.microsoft.com/office/drawing/2014/main" id="{4753F45E-B9B8-43EC-A0DE-959B4696BF78}"/>
              </a:ext>
            </a:extLst>
          </p:cNvPr>
          <p:cNvSpPr>
            <a:spLocks xmlns:a="http://schemas.openxmlformats.org/drawingml/2006/main" noGrp="1"/>
          </p:cNvSpPr>
          <p:nvPr/>
        </p:nvSpPr>
        <p:spPr>
          <a:xfrm xmlns:a="http://schemas.openxmlformats.org/drawingml/2006/main" rot="5400000">
            <a:off x="91440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3" name="!!recap-recap-send-g1-r0-tick0">
            <a:extLst xmlns:a="http://schemas.openxmlformats.org/drawingml/2006/main">
              <a:ext uri="{FF2B5EF4-FFF2-40B4-BE49-F238E27FC236}">
                <a16:creationId xmlns:a16="http://schemas.microsoft.com/office/drawing/2014/main" id="{FAA53E47-AF40-4808-9B38-F09981688705}"/>
              </a:ext>
            </a:extLst>
          </p:cNvPr>
          <p:cNvSpPr>
            <a:spLocks xmlns:a="http://schemas.openxmlformats.org/drawingml/2006/main" noGrp="1"/>
          </p:cNvSpPr>
          <p:nvPr/>
        </p:nvSpPr>
        <p:spPr>
          <a:xfrm xmlns:a="http://schemas.openxmlformats.org/drawingml/2006/main">
            <a:off x="7346156"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recap-recap-send-g1-r0-tick1">
            <a:extLst xmlns:a="http://schemas.openxmlformats.org/drawingml/2006/main">
              <a:ext uri="{FF2B5EF4-FFF2-40B4-BE49-F238E27FC236}">
                <a16:creationId xmlns:a16="http://schemas.microsoft.com/office/drawing/2014/main" id="{FDB980C4-17B6-404F-847D-885979AC8821}"/>
              </a:ext>
            </a:extLst>
          </p:cNvPr>
          <p:cNvSpPr>
            <a:spLocks xmlns:a="http://schemas.openxmlformats.org/drawingml/2006/main" noGrp="1"/>
          </p:cNvSpPr>
          <p:nvPr/>
        </p:nvSpPr>
        <p:spPr>
          <a:xfrm xmlns:a="http://schemas.openxmlformats.org/drawingml/2006/main">
            <a:off x="78676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recap-recap-send-g1-r0-tick2">
            <a:extLst xmlns:a="http://schemas.openxmlformats.org/drawingml/2006/main">
              <a:ext uri="{FF2B5EF4-FFF2-40B4-BE49-F238E27FC236}">
                <a16:creationId xmlns:a16="http://schemas.microsoft.com/office/drawing/2014/main" id="{D787A14A-EE49-4551-936B-C42F01A03E14}"/>
              </a:ext>
            </a:extLst>
          </p:cNvPr>
          <p:cNvSpPr>
            <a:spLocks xmlns:a="http://schemas.openxmlformats.org/drawingml/2006/main" noGrp="1"/>
          </p:cNvSpPr>
          <p:nvPr/>
        </p:nvSpPr>
        <p:spPr>
          <a:xfrm xmlns:a="http://schemas.openxmlformats.org/drawingml/2006/main">
            <a:off x="8389144"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recap-recap-send-g0-c">
            <a:extLst xmlns:a="http://schemas.openxmlformats.org/drawingml/2006/main">
              <a:ext uri="{FF2B5EF4-FFF2-40B4-BE49-F238E27FC236}">
                <a16:creationId xmlns:a16="http://schemas.microsoft.com/office/drawing/2014/main" id="{A7E2D053-6F47-4CCB-B727-D98E0A04F56D}"/>
              </a:ext>
            </a:extLst>
          </p:cNvPr>
          <p:cNvSpPr>
            <a:spLocks xmlns:a="http://schemas.openxmlformats.org/drawingml/2006/main" noGrp="1"/>
          </p:cNvSpPr>
          <p:nvPr/>
        </p:nvSpPr>
        <p:spPr>
          <a:xfrm xmlns:a="http://schemas.openxmlformats.org/drawingml/2006/main">
            <a:off x="3693319" y="3000375"/>
            <a:ext cx="347663" cy="523875"/>
          </a:xfrm>
          <a:custGeom xmlns:a="http://schemas.openxmlformats.org/drawingml/2006/main">
            <a:pathLst>
              <a:path w="347663" h="523875">
                <a:moveTo>
                  <a:pt x="0" y="523875"/>
                </a:moveTo>
                <a:lnTo>
                  <a:pt x="173831" y="0"/>
                </a:lnTo>
                <a:lnTo>
                  <a:pt x="347663" y="523875"/>
                </a:lnTo>
                <a:close/>
              </a:path>
            </a:pathLst>
          </a:custGeom>
          <a:solidFill xmlns:a="http://schemas.openxmlformats.org/drawingml/2006/main">
            <a:srgbClr val="535353"/>
          </a:solidFill>
          <a:ln xmlns:a="http://schemas.openxmlformats.org/drawingml/2006/main" w="10478">
            <a:solidFill>
              <a:srgbClr val="202020"/>
            </a:solidFill>
          </a:ln>
        </p:spPr>
      </p:sp>
      <p:sp>
        <p:nvSpPr>
          <p:cNvPr id="17" name="!!recap-recap-send-arrow-line">
            <a:extLst xmlns:a="http://schemas.openxmlformats.org/drawingml/2006/main">
              <a:ext uri="{FF2B5EF4-FFF2-40B4-BE49-F238E27FC236}">
                <a16:creationId xmlns:a16="http://schemas.microsoft.com/office/drawing/2014/main" id="{44C24EBE-C9E2-4C67-AB40-10C39413D76A}"/>
              </a:ext>
            </a:extLst>
          </p:cNvPr>
          <p:cNvSpPr>
            <a:spLocks xmlns:a="http://schemas.openxmlformats.org/drawingml/2006/main" noGrp="1"/>
          </p:cNvSpPr>
          <p:nvPr/>
        </p:nvSpPr>
        <p:spPr>
          <a:xfrm xmlns:a="http://schemas.openxmlformats.org/drawingml/2006/main">
            <a:off x="54864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8" name="!!recap-recap-send-arrow-head">
            <a:extLst xmlns:a="http://schemas.openxmlformats.org/drawingml/2006/main">
              <a:ext uri="{FF2B5EF4-FFF2-40B4-BE49-F238E27FC236}">
                <a16:creationId xmlns:a16="http://schemas.microsoft.com/office/drawing/2014/main" id="{E708380B-722A-48D4-9584-3BC7ABB2FEA5}"/>
              </a:ext>
            </a:extLst>
          </p:cNvPr>
          <p:cNvSpPr>
            <a:spLocks xmlns:a="http://schemas.openxmlformats.org/drawingml/2006/main" noGrp="1"/>
          </p:cNvSpPr>
          <p:nvPr/>
        </p:nvSpPr>
        <p:spPr>
          <a:xfrm xmlns:a="http://schemas.openxmlformats.org/drawingml/2006/main" rot="5400000">
            <a:off x="61341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9" name="!!recap-recap-send-g1-bn">
            <a:extLst xmlns:a="http://schemas.openxmlformats.org/drawingml/2006/main">
              <a:ext uri="{FF2B5EF4-FFF2-40B4-BE49-F238E27FC236}">
                <a16:creationId xmlns:a16="http://schemas.microsoft.com/office/drawing/2014/main" id="{BC5D3CB8-F109-477D-8A50-D33D01EC2DF4}"/>
              </a:ext>
            </a:extLst>
          </p:cNvPr>
          <p:cNvSpPr>
            <a:spLocks xmlns:a="http://schemas.openxmlformats.org/drawingml/2006/main" noGrp="1"/>
          </p:cNvSpPr>
          <p:nvPr/>
        </p:nvSpPr>
        <p:spPr>
          <a:xfrm xmlns:a="http://schemas.openxmlformats.org/drawingml/2006/main">
            <a:off x="7172325" y="3262313"/>
            <a:ext cx="347663" cy="261938"/>
          </a:xfrm>
          <a:custGeom xmlns:a="http://schemas.openxmlformats.org/drawingml/2006/main">
            <a:pathLst>
              <a:path w="347663" h="261938">
                <a:moveTo>
                  <a:pt x="0" y="261938"/>
                </a:moveTo>
                <a:lnTo>
                  <a:pt x="173831" y="0"/>
                </a:lnTo>
                <a:lnTo>
                  <a:pt x="347663"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0" name="!!recap-recap-send-g1-bp">
            <a:extLst xmlns:a="http://schemas.openxmlformats.org/drawingml/2006/main">
              <a:ext uri="{FF2B5EF4-FFF2-40B4-BE49-F238E27FC236}">
                <a16:creationId xmlns:a16="http://schemas.microsoft.com/office/drawing/2014/main" id="{23B10B93-514E-427F-9569-34DA1A488875}"/>
              </a:ext>
            </a:extLst>
          </p:cNvPr>
          <p:cNvSpPr>
            <a:spLocks xmlns:a="http://schemas.openxmlformats.org/drawingml/2006/main" noGrp="1"/>
          </p:cNvSpPr>
          <p:nvPr/>
        </p:nvSpPr>
        <p:spPr>
          <a:xfrm xmlns:a="http://schemas.openxmlformats.org/drawingml/2006/main">
            <a:off x="8215313" y="3262313"/>
            <a:ext cx="347663" cy="261938"/>
          </a:xfrm>
          <a:custGeom xmlns:a="http://schemas.openxmlformats.org/drawingml/2006/main">
            <a:pathLst>
              <a:path w="347663" h="261938">
                <a:moveTo>
                  <a:pt x="0" y="261938"/>
                </a:moveTo>
                <a:lnTo>
                  <a:pt x="173831" y="0"/>
                </a:lnTo>
                <a:lnTo>
                  <a:pt x="347663" y="261938"/>
                </a:lnTo>
                <a:close/>
              </a:path>
            </a:pathLst>
          </a:custGeom>
          <a:solidFill xmlns:a="http://schemas.openxmlformats.org/drawingml/2006/main">
            <a:srgbClr val="535353"/>
          </a:solidFill>
          <a:ln xmlns:a="http://schemas.openxmlformats.org/drawingml/2006/main" w="10478">
            <a:solidFill>
              <a:srgbClr val="202020"/>
            </a:solidFill>
          </a:ln>
        </p:spPr>
      </p:sp>
      <p:pic>
        <p:nvPicPr>
          <p:cNvPr id="57" name="!!recap-route-m" descr="m(t)">
            <ns0:hlinkClick xmlns:ns0="http://schemas.openxmlformats.org/drawingml/2006/main" xmlns:ns1="http://schemas.openxmlformats.org/officeDocument/2006/relationships" ns1:id="rIdmethods_Link1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126752ac25c4d96">
            <a:extLst>
              <a:ext uri="{96DAC541-7B7A-43D3-8B79-37D633B846F1}">
                <ns0:svgBlip xmlns:ns0="http://schemas.microsoft.com/office/drawing/2016/SVG/main" r:embed="rIdVectormf00025"/>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58" name="!!recap-route-s" descr="s(t)">
            <ns0:hlinkClick xmlns:ns0="http://schemas.openxmlformats.org/drawingml/2006/main" xmlns:ns1="http://schemas.openxmlformats.org/officeDocument/2006/relationships" ns1:id="rIdmethods_Link16"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ec9c77848ea9494f">
            <a:extLst>
              <a:ext uri="{96DAC541-7B7A-43D3-8B79-37D633B846F1}">
                <ns1:svgBlip xmlns:ns1="http://schemas.microsoft.com/office/drawing/2016/SVG/main" r:embed="rIdVectormf00026"/>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59" name="!!recap-route-restored" descr="m(t)">
            <ns0:hlinkClick xmlns:ns0="http://schemas.openxmlformats.org/drawingml/2006/main" xmlns:ns1="http://schemas.openxmlformats.org/officeDocument/2006/relationships" ns1:id="rIdmethods_Link1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46baee1a9eb4229">
            <a:extLst>
              <a:ext uri="{96DAC541-7B7A-43D3-8B79-37D633B846F1}">
                <ns2:svgBlip xmlns:ns2="http://schemas.microsoft.com/office/drawing/2016/SVG/main" r:embed="rIdVectormf00027"/>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60" name="!!recap-recap-send-g0-r0-domain" descr="f"/>
          <p:cNvPicPr>
            <a:picLocks xmlns:a="http://schemas.openxmlformats.org/drawingml/2006/main" noChangeAspect="1"/>
          </p:cNvPicPr>
          <p:nvPr/>
        </p:nvPicPr>
        <p:blipFill>
          <a:blip xmlns:r="http://schemas.openxmlformats.org/officeDocument/2006/relationships" xmlns:a="http://schemas.openxmlformats.org/drawingml/2006/main" r:embed="R7293f9414ef44260">
            <a:extLst>
              <a:ext uri="{96DAC541-7B7A-43D3-8B79-37D633B846F1}">
                <ns3:svgBlip xmlns:ns3="http://schemas.microsoft.com/office/drawing/2016/SVG/main" r:embed="rIdVectormf00028"/>
              </a:ext>
            </a:extLst>
          </a:blip>
          <a:stretch xmlns:a="http://schemas.openxmlformats.org/drawingml/2006/main"/>
        </p:blipFill>
        <p:spPr>
          <a:xfrm xmlns:a="http://schemas.openxmlformats.org/drawingml/2006/main">
            <a:off x="5279873" y="3311843"/>
            <a:ext cx="79678" cy="120015"/>
          </a:xfrm>
          <a:prstGeom xmlns:a="http://schemas.openxmlformats.org/drawingml/2006/main" prst="rect">
            <a:avLst/>
          </a:prstGeom>
        </p:spPr>
      </p:pic>
      <p:pic>
        <p:nvPicPr>
          <p:cNvPr id="61" name="!!recap-recap-send-g0-r0-ticklabel0" descr="-W"/>
          <p:cNvPicPr>
            <a:picLocks xmlns:a="http://schemas.openxmlformats.org/drawingml/2006/main" noChangeAspect="1"/>
          </p:cNvPicPr>
          <p:nvPr/>
        </p:nvPicPr>
        <p:blipFill>
          <a:blip xmlns:r="http://schemas.openxmlformats.org/officeDocument/2006/relationships" xmlns:a="http://schemas.openxmlformats.org/drawingml/2006/main" r:embed="Rc121c583bd704576">
            <a:extLst>
              <a:ext uri="{96DAC541-7B7A-43D3-8B79-37D633B846F1}">
                <ns4:svgBlip xmlns:ns4="http://schemas.microsoft.com/office/drawing/2016/SVG/main" r:embed="rIdVectormf00029"/>
              </a:ext>
            </a:extLst>
          </a:blip>
          <a:stretch xmlns:a="http://schemas.openxmlformats.org/drawingml/2006/main"/>
        </p:blipFill>
        <p:spPr>
          <a:xfrm xmlns:a="http://schemas.openxmlformats.org/drawingml/2006/main">
            <a:off x="3517419" y="3646170"/>
            <a:ext cx="351800" cy="137160"/>
          </a:xfrm>
          <a:prstGeom xmlns:a="http://schemas.openxmlformats.org/drawingml/2006/main" prst="rect">
            <a:avLst/>
          </a:prstGeom>
        </p:spPr>
      </p:pic>
      <p:pic>
        <p:nvPicPr>
          <p:cNvPr id="62" name="!!recap-recap-send-g0-r0-ticklabel1" descr="0"/>
          <p:cNvPicPr>
            <a:picLocks xmlns:a="http://schemas.openxmlformats.org/drawingml/2006/main" noChangeAspect="1"/>
          </p:cNvPicPr>
          <p:nvPr/>
        </p:nvPicPr>
        <p:blipFill>
          <a:blip xmlns:r="http://schemas.openxmlformats.org/officeDocument/2006/relationships" xmlns:a="http://schemas.openxmlformats.org/drawingml/2006/main" r:embed="R2a1de64499c04e93">
            <a:extLst>
              <a:ext uri="{96DAC541-7B7A-43D3-8B79-37D633B846F1}">
                <ns5:svgBlip xmlns:ns5="http://schemas.microsoft.com/office/drawing/2016/SVG/main" r:embed="rIdVectormf00030"/>
              </a:ext>
            </a:extLst>
          </a:blip>
          <a:stretch xmlns:a="http://schemas.openxmlformats.org/drawingml/2006/main"/>
        </p:blipFill>
        <p:spPr>
          <a:xfrm xmlns:a="http://schemas.openxmlformats.org/drawingml/2006/main">
            <a:off x="3821175" y="3863340"/>
            <a:ext cx="91951" cy="102870"/>
          </a:xfrm>
          <a:prstGeom xmlns:a="http://schemas.openxmlformats.org/drawingml/2006/main" prst="rect">
            <a:avLst/>
          </a:prstGeom>
        </p:spPr>
      </p:pic>
      <p:pic>
        <p:nvPicPr>
          <p:cNvPr id="63" name="!!recap-recap-send-g0-r0-ticklabel2" descr="W"/>
          <p:cNvPicPr>
            <a:picLocks xmlns:a="http://schemas.openxmlformats.org/drawingml/2006/main" noChangeAspect="1"/>
          </p:cNvPicPr>
          <p:nvPr/>
        </p:nvPicPr>
        <p:blipFill>
          <a:blip xmlns:r="http://schemas.openxmlformats.org/officeDocument/2006/relationships" xmlns:a="http://schemas.openxmlformats.org/drawingml/2006/main" r:embed="R19f71dce80fe46b2">
            <a:extLst>
              <a:ext uri="{96DAC541-7B7A-43D3-8B79-37D633B846F1}">
                <ns6:svgBlip xmlns:ns6="http://schemas.microsoft.com/office/drawing/2016/SVG/main" r:embed="rIdVectormf00031"/>
              </a:ext>
            </a:extLst>
          </a:blip>
          <a:stretch xmlns:a="http://schemas.openxmlformats.org/drawingml/2006/main"/>
        </p:blipFill>
        <p:spPr>
          <a:xfrm xmlns:a="http://schemas.openxmlformats.org/drawingml/2006/main">
            <a:off x="3938111" y="3656243"/>
            <a:ext cx="205740" cy="117015"/>
          </a:xfrm>
          <a:prstGeom xmlns:a="http://schemas.openxmlformats.org/drawingml/2006/main" prst="rect">
            <a:avLst/>
          </a:prstGeom>
        </p:spPr>
      </p:pic>
      <p:pic>
        <p:nvPicPr>
          <p:cNvPr id="64" name="!!recap-recap-send-g0-r0-label" descr="\textstyle M(f)"/>
          <p:cNvPicPr>
            <a:picLocks xmlns:a="http://schemas.openxmlformats.org/drawingml/2006/main" noChangeAspect="1"/>
          </p:cNvPicPr>
          <p:nvPr/>
        </p:nvPicPr>
        <p:blipFill>
          <a:blip xmlns:r="http://schemas.openxmlformats.org/officeDocument/2006/relationships" xmlns:a="http://schemas.openxmlformats.org/drawingml/2006/main" r:embed="R3ac53ee054694e5b">
            <a:extLst>
              <a:ext uri="{96DAC541-7B7A-43D3-8B79-37D633B846F1}">
                <ns7:svgBlip xmlns:ns7="http://schemas.microsoft.com/office/drawing/2016/SVG/main" r:embed="rIdVectormf00032"/>
              </a:ext>
            </a:extLst>
          </a:blip>
          <a:stretch xmlns:a="http://schemas.openxmlformats.org/drawingml/2006/main"/>
        </p:blipFill>
        <p:spPr>
          <a:xfrm xmlns:a="http://schemas.openxmlformats.org/drawingml/2006/main">
            <a:off x="2476500" y="2383215"/>
            <a:ext cx="502920" cy="205621"/>
          </a:xfrm>
          <a:prstGeom xmlns:a="http://schemas.openxmlformats.org/drawingml/2006/main" prst="rect">
            <a:avLst/>
          </a:prstGeom>
        </p:spPr>
      </p:pic>
      <p:pic>
        <p:nvPicPr>
          <p:cNvPr id="65" name="!!recap-recap-send-g1-r0-domain" descr="f"/>
          <p:cNvPicPr>
            <a:picLocks xmlns:a="http://schemas.openxmlformats.org/drawingml/2006/main" noChangeAspect="1"/>
          </p:cNvPicPr>
          <p:nvPr/>
        </p:nvPicPr>
        <p:blipFill>
          <a:blip xmlns:r="http://schemas.openxmlformats.org/officeDocument/2006/relationships" xmlns:a="http://schemas.openxmlformats.org/drawingml/2006/main" r:embed="R0d4d859727d843cc">
            <a:extLst>
              <a:ext uri="{96DAC541-7B7A-43D3-8B79-37D633B846F1}">
                <ns8:svgBlip xmlns:ns8="http://schemas.microsoft.com/office/drawing/2016/SVG/main" r:embed="rIdVectormf00033"/>
              </a:ext>
            </a:extLst>
          </a:blip>
          <a:stretch xmlns:a="http://schemas.openxmlformats.org/drawingml/2006/main"/>
        </p:blipFill>
        <p:spPr>
          <a:xfrm xmlns:a="http://schemas.openxmlformats.org/drawingml/2006/main">
            <a:off x="9280373" y="3311843"/>
            <a:ext cx="79678" cy="120015"/>
          </a:xfrm>
          <a:prstGeom xmlns:a="http://schemas.openxmlformats.org/drawingml/2006/main" prst="rect">
            <a:avLst/>
          </a:prstGeom>
        </p:spPr>
      </p:pic>
      <p:pic>
        <p:nvPicPr>
          <p:cNvPr id="66" name="!!recap-recap-send-g1-r0-ticklabel0" descr="-f_c"/>
          <p:cNvPicPr>
            <a:picLocks xmlns:a="http://schemas.openxmlformats.org/drawingml/2006/main" noChangeAspect="1"/>
          </p:cNvPicPr>
          <p:nvPr/>
        </p:nvPicPr>
        <p:blipFill>
          <a:blip xmlns:r="http://schemas.openxmlformats.org/officeDocument/2006/relationships" xmlns:a="http://schemas.openxmlformats.org/drawingml/2006/main" r:embed="Rd062d95992d94bea">
            <a:extLst>
              <a:ext uri="{96DAC541-7B7A-43D3-8B79-37D633B846F1}">
                <ns9:svgBlip xmlns:ns9="http://schemas.microsoft.com/office/drawing/2016/SVG/main" r:embed="rIdVectormf00034"/>
              </a:ext>
            </a:extLst>
          </a:blip>
          <a:stretch xmlns:a="http://schemas.openxmlformats.org/drawingml/2006/main"/>
        </p:blipFill>
        <p:spPr>
          <a:xfrm xmlns:a="http://schemas.openxmlformats.org/drawingml/2006/main">
            <a:off x="7212342" y="3646170"/>
            <a:ext cx="267629" cy="137160"/>
          </a:xfrm>
          <a:prstGeom xmlns:a="http://schemas.openxmlformats.org/drawingml/2006/main" prst="rect">
            <a:avLst/>
          </a:prstGeom>
        </p:spPr>
      </p:pic>
      <p:pic>
        <p:nvPicPr>
          <p:cNvPr id="67" name="!!recap-recap-send-g1-r0-ticklabel1" descr="0"/>
          <p:cNvPicPr>
            <a:picLocks xmlns:a="http://schemas.openxmlformats.org/drawingml/2006/main" noChangeAspect="1"/>
          </p:cNvPicPr>
          <p:nvPr/>
        </p:nvPicPr>
        <p:blipFill>
          <a:blip xmlns:r="http://schemas.openxmlformats.org/officeDocument/2006/relationships" xmlns:a="http://schemas.openxmlformats.org/drawingml/2006/main" r:embed="R411538d39182472d">
            <a:extLst>
              <a:ext uri="{96DAC541-7B7A-43D3-8B79-37D633B846F1}">
                <ns10:svgBlip xmlns:ns10="http://schemas.microsoft.com/office/drawing/2016/SVG/main" r:embed="rIdVectormf00035"/>
              </a:ext>
            </a:extLst>
          </a:blip>
          <a:stretch xmlns:a="http://schemas.openxmlformats.org/drawingml/2006/main"/>
        </p:blipFill>
        <p:spPr>
          <a:xfrm xmlns:a="http://schemas.openxmlformats.org/drawingml/2006/main">
            <a:off x="7821675" y="3663315"/>
            <a:ext cx="91951" cy="102870"/>
          </a:xfrm>
          <a:prstGeom xmlns:a="http://schemas.openxmlformats.org/drawingml/2006/main" prst="rect">
            <a:avLst/>
          </a:prstGeom>
        </p:spPr>
      </p:pic>
      <p:pic>
        <p:nvPicPr>
          <p:cNvPr id="68" name="!!recap-recap-send-g1-r0-ticklabel2" descr="f_c"/>
          <p:cNvPicPr>
            <a:picLocks xmlns:a="http://schemas.openxmlformats.org/drawingml/2006/main" noChangeAspect="1"/>
          </p:cNvPicPr>
          <p:nvPr/>
        </p:nvPicPr>
        <p:blipFill>
          <a:blip xmlns:r="http://schemas.openxmlformats.org/officeDocument/2006/relationships" xmlns:a="http://schemas.openxmlformats.org/drawingml/2006/main" r:embed="Rfc9ebfee8f5b4f00">
            <a:extLst>
              <a:ext uri="{96DAC541-7B7A-43D3-8B79-37D633B846F1}">
                <ns11:svgBlip xmlns:ns11="http://schemas.microsoft.com/office/drawing/2016/SVG/main" r:embed="rIdVectormf00036"/>
              </a:ext>
            </a:extLst>
          </a:blip>
          <a:stretch xmlns:a="http://schemas.openxmlformats.org/drawingml/2006/main"/>
        </p:blipFill>
        <p:spPr>
          <a:xfrm xmlns:a="http://schemas.openxmlformats.org/drawingml/2006/main">
            <a:off x="8327843" y="3646170"/>
            <a:ext cx="122601" cy="137160"/>
          </a:xfrm>
          <a:prstGeom xmlns:a="http://schemas.openxmlformats.org/drawingml/2006/main" prst="rect">
            <a:avLst/>
          </a:prstGeom>
        </p:spPr>
      </p:pic>
      <p:pic>
        <p:nvPicPr>
          <p:cNvPr id="69" name="!!recap-recap-send-g1-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728d8358138e4af9">
            <a:extLst>
              <a:ext uri="{96DAC541-7B7A-43D3-8B79-37D633B846F1}">
                <ns12:svgBlip xmlns:ns12="http://schemas.microsoft.com/office/drawing/2016/SVG/main" r:embed="rIdVectormf00037"/>
              </a:ext>
            </a:extLst>
          </a:blip>
          <a:stretch xmlns:a="http://schemas.openxmlformats.org/drawingml/2006/main"/>
        </p:blipFill>
        <p:spPr>
          <a:xfrm xmlns:a="http://schemas.openxmlformats.org/drawingml/2006/main">
            <a:off x="6477000" y="2381250"/>
            <a:ext cx="419100" cy="209550"/>
          </a:xfrm>
          <a:prstGeom xmlns:a="http://schemas.openxmlformats.org/drawingml/2006/main" prst="rect">
            <a:avLst/>
          </a:prstGeom>
        </p:spPr>
      </p:pic>
      <p:pic>
        <p:nvPicPr>
          <p:cNvPr id="70" name="!!recap-recap-send-math" descr="\textstyle \times\cos(2\pi f_ct)"/>
          <p:cNvPicPr>
            <a:picLocks xmlns:a="http://schemas.openxmlformats.org/drawingml/2006/main" noChangeAspect="1"/>
          </p:cNvPicPr>
          <p:nvPr/>
        </p:nvPicPr>
        <p:blipFill>
          <a:blip xmlns:r="http://schemas.openxmlformats.org/officeDocument/2006/relationships" xmlns:a="http://schemas.openxmlformats.org/drawingml/2006/main" r:embed="R54016bb86d964347">
            <a:extLst>
              <a:ext uri="{96DAC541-7B7A-43D3-8B79-37D633B846F1}">
                <ns13:svgBlip xmlns:ns13="http://schemas.microsoft.com/office/drawing/2016/SVG/main" r:embed="rIdVectormf00038"/>
              </a:ext>
            </a:extLst>
          </a:blip>
          <a:stretch xmlns:a="http://schemas.openxmlformats.org/drawingml/2006/main"/>
        </p:blipFill>
        <p:spPr>
          <a:xfrm xmlns:a="http://schemas.openxmlformats.org/drawingml/2006/main">
            <a:off x="5181600" y="3009900"/>
            <a:ext cx="1371600" cy="228600"/>
          </a:xfrm>
          <a:prstGeom xmlns:a="http://schemas.openxmlformats.org/drawingml/2006/main" prst="rect">
            <a:avLst/>
          </a:prstGeom>
        </p:spPr>
      </p:pic>
      <p:pic>
        <p:nvPicPr>
          <p:cNvPr id="71" name="!!recap-dense-equation-0" descr="\textstyle m(t)\longleftrightarrow M(f)"/>
          <p:cNvPicPr>
            <a:picLocks xmlns:a="http://schemas.openxmlformats.org/drawingml/2006/main" noChangeAspect="1"/>
          </p:cNvPicPr>
          <p:nvPr/>
        </p:nvPicPr>
        <p:blipFill>
          <a:blip xmlns:r="http://schemas.openxmlformats.org/officeDocument/2006/relationships" xmlns:a="http://schemas.openxmlformats.org/drawingml/2006/main" r:embed="Radd280282be34f44">
            <a:extLst>
              <a:ext uri="{96DAC541-7B7A-43D3-8B79-37D633B846F1}">
                <ns14:svgBlip xmlns:ns14="http://schemas.microsoft.com/office/drawing/2016/SVG/main" r:embed="rIdVectormf00039"/>
              </a:ext>
            </a:extLst>
          </a:blip>
          <a:stretch xmlns:a="http://schemas.openxmlformats.org/drawingml/2006/main"/>
        </p:blipFill>
        <p:spPr>
          <a:xfrm xmlns:a="http://schemas.openxmlformats.org/drawingml/2006/main">
            <a:off x="2514600" y="5069205"/>
            <a:ext cx="1857375" cy="247650"/>
          </a:xfrm>
          <a:prstGeom xmlns:a="http://schemas.openxmlformats.org/drawingml/2006/main" prst="rect">
            <a:avLst/>
          </a:prstGeom>
        </p:spPr>
      </p:pic>
      <p:pic>
        <p:nvPicPr>
          <p:cNvPr id="72" name="!!recap-dense-equation-1" descr="\textstyle s(t)=m(t)\cos(2\pi f_ct)"/>
          <p:cNvPicPr>
            <a:picLocks xmlns:a="http://schemas.openxmlformats.org/drawingml/2006/main" noChangeAspect="1"/>
          </p:cNvPicPr>
          <p:nvPr/>
        </p:nvPicPr>
        <p:blipFill>
          <a:blip xmlns:r="http://schemas.openxmlformats.org/officeDocument/2006/relationships" xmlns:a="http://schemas.openxmlformats.org/drawingml/2006/main" r:embed="Rcf83f37c0ccd485a">
            <a:extLst>
              <a:ext uri="{96DAC541-7B7A-43D3-8B79-37D633B846F1}">
                <ns15:svgBlip xmlns:ns15="http://schemas.microsoft.com/office/drawing/2016/SVG/main" r:embed="rIdVectormf00040"/>
              </a:ext>
            </a:extLst>
          </a:blip>
          <a:stretch xmlns:a="http://schemas.openxmlformats.org/drawingml/2006/main"/>
        </p:blipFill>
        <p:spPr>
          <a:xfrm xmlns:a="http://schemas.openxmlformats.org/drawingml/2006/main">
            <a:off x="2514600" y="5508129"/>
            <a:ext cx="2649855" cy="246102"/>
          </a:xfrm>
          <a:prstGeom xmlns:a="http://schemas.openxmlformats.org/drawingml/2006/main" prst="rect">
            <a:avLst/>
          </a:prstGeom>
        </p:spPr>
      </p:pic>
    </p:spTree>
    <p:extLst>
      <p:ext uri="{BB962C8B-B14F-4D97-AF65-F5344CB8AC3E}">
        <p14:creationId xmlns:p14="http://schemas.microsoft.com/office/powerpoint/2010/main" val="67607870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fade">
                                      <p:cBhvr>
                                        <p:cTn id="13" dur="400"/>
                                        <p:tgtEl>
                                          <p:spTgt spid="70"/>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200"/>
                                        <p:tgtEl>
                                          <p:spTgt spid="19"/>
                                        </p:tgtEl>
                                      </p:cBhvr>
                                    </p:animEffect>
                                    <p:animMotion origin="layout" pathEditMode="relative" path="M -0.28535154 -0.01909733 L 0.00000000 0.00000000 E">
                                      <p:cBhvr>
                                        <p:cTn id="17" dur="700" fill="hold"/>
                                        <p:tgtEl>
                                          <p:spTgt spid="19"/>
                                        </p:tgtEl>
                                        <p:attrNameLst>
                                          <p:attrName>ppt_x</p:attrName>
                                          <p:attrName>ppt_y</p:attrName>
                                        </p:attrNameLst>
                                      </p:cBhvr>
                                    </p:animMotion>
                                    <p:animScale zoomContents="1">
                                      <p:cBhvr>
                                        <p:cTn id="18" dur="700" fill="hold"/>
                                        <p:tgtEl>
                                          <p:spTgt spid="19"/>
                                        </p:tgtEl>
                                      </p:cBhvr>
                                      <p:from x="100000" y="200000"/>
                                      <p:to x="100000" y="100000"/>
                                    </p:animScale>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200"/>
                                        <p:tgtEl>
                                          <p:spTgt spid="20"/>
                                        </p:tgtEl>
                                      </p:cBhvr>
                                    </p:animEffect>
                                    <p:animMotion origin="layout" pathEditMode="relative" path="M -0.37089846 -0.01909733 L 0.00000000 0.00000000 E">
                                      <p:cBhvr>
                                        <p:cTn id="22" dur="700" fill="hold"/>
                                        <p:tgtEl>
                                          <p:spTgt spid="20"/>
                                        </p:tgtEl>
                                        <p:attrNameLst>
                                          <p:attrName>ppt_x</p:attrName>
                                          <p:attrName>ppt_y</p:attrName>
                                        </p:attrNameLst>
                                      </p:cBhvr>
                                    </p:animMotion>
                                    <p:animScale zoomContents="1">
                                      <p:cBhvr>
                                        <p:cTn id="23" dur="700" fill="hold"/>
                                        <p:tgtEl>
                                          <p:spTgt spid="20"/>
                                        </p:tgtEl>
                                      </p:cBhvr>
                                      <p:from x="100000" y="200000"/>
                                      <p:to x="100000" y="100000"/>
                                    </p:animScale>
                                  </p:childTnLst>
                                </p:cTn>
                              </p:par>
                              <p:par>
                                <p:cTn id="24" presetID="10" presetClass="entr" presetSubtype="0" fill="hold" nodeType="withEffect">
                                  <p:stCondLst>
                                    <p:cond delay="0"/>
                                  </p:stCondLst>
                                  <p:childTnLst>
                                    <p:set>
                                      <p:cBhvr>
                                        <p:cTn id="25" dur="1" fill="hold">
                                          <p:stCondLst>
                                            <p:cond delay="0"/>
                                          </p:stCondLst>
                                        </p:cTn>
                                        <p:tgtEl>
                                          <p:spTgt spid="72"/>
                                        </p:tgtEl>
                                        <p:attrNameLst>
                                          <p:attrName>style.visibility</p:attrName>
                                        </p:attrNameLst>
                                      </p:cBhvr>
                                      <p:to>
                                        <p:strVal val="visible"/>
                                      </p:to>
                                    </p:set>
                                    <p:animEffect transition="in" filter="fade">
                                      <p:cBhvr>
                                        <p:cTn id="26"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recap-title">
            <ns0:hlinkClick xmlns:ns0="http://schemas.openxmlformats.org/drawingml/2006/main" xmlns:ns1="http://schemas.openxmlformats.org/officeDocument/2006/relationships" ns1:id="rIdmethods_Link18" action="ppaction://hlinksldjump"/>
            <a:extLst xmlns:a="http://schemas.openxmlformats.org/drawingml/2006/main">
              <a:ext uri="{FF2B5EF4-FFF2-40B4-BE49-F238E27FC236}">
                <a16:creationId xmlns:a16="http://schemas.microsoft.com/office/drawing/2014/main" id="{38CADBBC-CFC3-4B10-8E47-7A9A017C0682}"/>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8" action="ppaction://hlinksldjump"/>
              </a:rPr>
              <a:t>DSB-SC</a:t>
            </a:r>
          </a:p>
        </p:txBody>
      </p:sp>
      <p:sp>
        <p:nvSpPr>
          <p:cNvPr id="2" name="!!recap-route-tx-line">
            <a:extLst xmlns:a="http://schemas.openxmlformats.org/drawingml/2006/main">
              <a:ext uri="{FF2B5EF4-FFF2-40B4-BE49-F238E27FC236}">
                <a16:creationId xmlns:a16="http://schemas.microsoft.com/office/drawing/2014/main" id="{933555A7-4235-475F-8D0A-406BE4FE4B95}"/>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recap-route-tx-head">
            <a:extLst xmlns:a="http://schemas.openxmlformats.org/drawingml/2006/main">
              <a:ext uri="{FF2B5EF4-FFF2-40B4-BE49-F238E27FC236}">
                <a16:creationId xmlns:a16="http://schemas.microsoft.com/office/drawing/2014/main" id="{334B571D-999B-438F-94E0-D69DB48A6647}"/>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recap-route-rx-line">
            <a:extLst xmlns:a="http://schemas.openxmlformats.org/drawingml/2006/main">
              <a:ext uri="{FF2B5EF4-FFF2-40B4-BE49-F238E27FC236}">
                <a16:creationId xmlns:a16="http://schemas.microsoft.com/office/drawing/2014/main" id="{698F6CF1-872F-4905-B358-50293064D86F}"/>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recap-route-rx-head">
            <a:extLst xmlns:a="http://schemas.openxmlformats.org/drawingml/2006/main">
              <a:ext uri="{FF2B5EF4-FFF2-40B4-BE49-F238E27FC236}">
                <a16:creationId xmlns:a16="http://schemas.microsoft.com/office/drawing/2014/main" id="{D3EF3B8F-8513-40A4-BE91-4D9DFD10935F}"/>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recap-recap-mix-g0-r0-axis-line">
            <a:extLst xmlns:a="http://schemas.openxmlformats.org/drawingml/2006/main">
              <a:ext uri="{FF2B5EF4-FFF2-40B4-BE49-F238E27FC236}">
                <a16:creationId xmlns:a16="http://schemas.microsoft.com/office/drawing/2014/main" id="{FAE3BF52-68D7-4A0F-A5BD-624FEB5E3116}"/>
              </a:ext>
            </a:extLst>
          </p:cNvPr>
          <p:cNvSpPr>
            <a:spLocks xmlns:a="http://schemas.openxmlformats.org/drawingml/2006/main" noGrp="1"/>
          </p:cNvSpPr>
          <p:nvPr/>
        </p:nvSpPr>
        <p:spPr>
          <a:xfrm xmlns:a="http://schemas.openxmlformats.org/drawingml/2006/main">
            <a:off x="571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7" name="!!recap-recap-mix-g0-r0-axis-head">
            <a:extLst xmlns:a="http://schemas.openxmlformats.org/drawingml/2006/main">
              <a:ext uri="{FF2B5EF4-FFF2-40B4-BE49-F238E27FC236}">
                <a16:creationId xmlns:a16="http://schemas.microsoft.com/office/drawing/2014/main" id="{D0473633-0C7C-4250-9857-A55797727641}"/>
              </a:ext>
            </a:extLst>
          </p:cNvPr>
          <p:cNvSpPr>
            <a:spLocks xmlns:a="http://schemas.openxmlformats.org/drawingml/2006/main" noGrp="1"/>
          </p:cNvSpPr>
          <p:nvPr/>
        </p:nvSpPr>
        <p:spPr>
          <a:xfrm xmlns:a="http://schemas.openxmlformats.org/drawingml/2006/main" rot="5400000">
            <a:off x="3238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8" name="!!recap-recap-mix-g0-r0-tick0">
            <a:extLst xmlns:a="http://schemas.openxmlformats.org/drawingml/2006/main">
              <a:ext uri="{FF2B5EF4-FFF2-40B4-BE49-F238E27FC236}">
                <a16:creationId xmlns:a16="http://schemas.microsoft.com/office/drawing/2014/main" id="{EA1B49D9-100C-4C77-A79E-C0EC7019BE02}"/>
              </a:ext>
            </a:extLst>
          </p:cNvPr>
          <p:cNvSpPr>
            <a:spLocks xmlns:a="http://schemas.openxmlformats.org/drawingml/2006/main" noGrp="1"/>
          </p:cNvSpPr>
          <p:nvPr/>
        </p:nvSpPr>
        <p:spPr>
          <a:xfrm xmlns:a="http://schemas.openxmlformats.org/drawingml/2006/main">
            <a:off x="1440656"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recap-recap-mix-g0-r0-tick1">
            <a:extLst xmlns:a="http://schemas.openxmlformats.org/drawingml/2006/main">
              <a:ext uri="{FF2B5EF4-FFF2-40B4-BE49-F238E27FC236}">
                <a16:creationId xmlns:a16="http://schemas.microsoft.com/office/drawing/2014/main" id="{1531408E-ECF1-4BFC-A525-28B7C9B40474}"/>
              </a:ext>
            </a:extLst>
          </p:cNvPr>
          <p:cNvSpPr>
            <a:spLocks xmlns:a="http://schemas.openxmlformats.org/drawingml/2006/main" noGrp="1"/>
          </p:cNvSpPr>
          <p:nvPr/>
        </p:nvSpPr>
        <p:spPr>
          <a:xfrm xmlns:a="http://schemas.openxmlformats.org/drawingml/2006/main">
            <a:off x="1962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recap-recap-mix-g0-r0-tick2">
            <a:extLst xmlns:a="http://schemas.openxmlformats.org/drawingml/2006/main">
              <a:ext uri="{FF2B5EF4-FFF2-40B4-BE49-F238E27FC236}">
                <a16:creationId xmlns:a16="http://schemas.microsoft.com/office/drawing/2014/main" id="{18DED320-8652-42BC-984F-B5946B280FD4}"/>
              </a:ext>
            </a:extLst>
          </p:cNvPr>
          <p:cNvSpPr>
            <a:spLocks xmlns:a="http://schemas.openxmlformats.org/drawingml/2006/main" noGrp="1"/>
          </p:cNvSpPr>
          <p:nvPr/>
        </p:nvSpPr>
        <p:spPr>
          <a:xfrm xmlns:a="http://schemas.openxmlformats.org/drawingml/2006/main">
            <a:off x="2483644"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recap-recap-mix-g1-r0-axis-line">
            <a:extLst xmlns:a="http://schemas.openxmlformats.org/drawingml/2006/main">
              <a:ext uri="{FF2B5EF4-FFF2-40B4-BE49-F238E27FC236}">
                <a16:creationId xmlns:a16="http://schemas.microsoft.com/office/drawing/2014/main" id="{DE04967F-5558-4393-B020-EC57ACE3AA8D}"/>
              </a:ext>
            </a:extLst>
          </p:cNvPr>
          <p:cNvSpPr>
            <a:spLocks xmlns:a="http://schemas.openxmlformats.org/drawingml/2006/main" noGrp="1"/>
          </p:cNvSpPr>
          <p:nvPr/>
        </p:nvSpPr>
        <p:spPr>
          <a:xfrm xmlns:a="http://schemas.openxmlformats.org/drawingml/2006/main">
            <a:off x="45720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recap-recap-mix-g1-r0-axis-head">
            <a:extLst xmlns:a="http://schemas.openxmlformats.org/drawingml/2006/main">
              <a:ext uri="{FF2B5EF4-FFF2-40B4-BE49-F238E27FC236}">
                <a16:creationId xmlns:a16="http://schemas.microsoft.com/office/drawing/2014/main" id="{F010CD0E-F1B7-4D85-B028-A8AD0BB4A8DD}"/>
              </a:ext>
            </a:extLst>
          </p:cNvPr>
          <p:cNvSpPr>
            <a:spLocks xmlns:a="http://schemas.openxmlformats.org/drawingml/2006/main" noGrp="1"/>
          </p:cNvSpPr>
          <p:nvPr/>
        </p:nvSpPr>
        <p:spPr>
          <a:xfrm xmlns:a="http://schemas.openxmlformats.org/drawingml/2006/main" rot="5400000">
            <a:off x="72390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3" name="!!recap-recap-mix-g1-r0-tick0">
            <a:extLst xmlns:a="http://schemas.openxmlformats.org/drawingml/2006/main">
              <a:ext uri="{FF2B5EF4-FFF2-40B4-BE49-F238E27FC236}">
                <a16:creationId xmlns:a16="http://schemas.microsoft.com/office/drawing/2014/main" id="{8A9FAE59-E0FD-456C-A140-F0F9C7B17D1D}"/>
              </a:ext>
            </a:extLst>
          </p:cNvPr>
          <p:cNvSpPr>
            <a:spLocks xmlns:a="http://schemas.openxmlformats.org/drawingml/2006/main" noGrp="1"/>
          </p:cNvSpPr>
          <p:nvPr/>
        </p:nvSpPr>
        <p:spPr>
          <a:xfrm xmlns:a="http://schemas.openxmlformats.org/drawingml/2006/main">
            <a:off x="4919663"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recap-recap-mix-g1-r0-tick1">
            <a:extLst xmlns:a="http://schemas.openxmlformats.org/drawingml/2006/main">
              <a:ext uri="{FF2B5EF4-FFF2-40B4-BE49-F238E27FC236}">
                <a16:creationId xmlns:a16="http://schemas.microsoft.com/office/drawing/2014/main" id="{6D1947B5-6405-4B38-A649-1FB6599D9F9F}"/>
              </a:ext>
            </a:extLst>
          </p:cNvPr>
          <p:cNvSpPr>
            <a:spLocks xmlns:a="http://schemas.openxmlformats.org/drawingml/2006/main" noGrp="1"/>
          </p:cNvSpPr>
          <p:nvPr/>
        </p:nvSpPr>
        <p:spPr>
          <a:xfrm xmlns:a="http://schemas.openxmlformats.org/drawingml/2006/main">
            <a:off x="59626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recap-recap-mix-g1-r0-tick2">
            <a:extLst xmlns:a="http://schemas.openxmlformats.org/drawingml/2006/main">
              <a:ext uri="{FF2B5EF4-FFF2-40B4-BE49-F238E27FC236}">
                <a16:creationId xmlns:a16="http://schemas.microsoft.com/office/drawing/2014/main" id="{3FD6C007-4C73-40F6-BB61-B08844D2EAC3}"/>
              </a:ext>
            </a:extLst>
          </p:cNvPr>
          <p:cNvSpPr>
            <a:spLocks xmlns:a="http://schemas.openxmlformats.org/drawingml/2006/main" noGrp="1"/>
          </p:cNvSpPr>
          <p:nvPr/>
        </p:nvSpPr>
        <p:spPr>
          <a:xfrm xmlns:a="http://schemas.openxmlformats.org/drawingml/2006/main">
            <a:off x="7005638"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recap-recap-mix-g2-r0-axis-line">
            <a:extLst xmlns:a="http://schemas.openxmlformats.org/drawingml/2006/main">
              <a:ext uri="{FF2B5EF4-FFF2-40B4-BE49-F238E27FC236}">
                <a16:creationId xmlns:a16="http://schemas.microsoft.com/office/drawing/2014/main" id="{A2E17C78-32AE-433E-AEA7-FD54B1BFF7C3}"/>
              </a:ext>
            </a:extLst>
          </p:cNvPr>
          <p:cNvSpPr>
            <a:spLocks xmlns:a="http://schemas.openxmlformats.org/drawingml/2006/main" noGrp="1"/>
          </p:cNvSpPr>
          <p:nvPr/>
        </p:nvSpPr>
        <p:spPr>
          <a:xfrm xmlns:a="http://schemas.openxmlformats.org/drawingml/2006/main">
            <a:off x="8572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recap-recap-mix-g2-r0-axis-head">
            <a:extLst xmlns:a="http://schemas.openxmlformats.org/drawingml/2006/main">
              <a:ext uri="{FF2B5EF4-FFF2-40B4-BE49-F238E27FC236}">
                <a16:creationId xmlns:a16="http://schemas.microsoft.com/office/drawing/2014/main" id="{59090078-733B-483C-A572-8C147D20CDD8}"/>
              </a:ext>
            </a:extLst>
          </p:cNvPr>
          <p:cNvSpPr>
            <a:spLocks xmlns:a="http://schemas.openxmlformats.org/drawingml/2006/main" noGrp="1"/>
          </p:cNvSpPr>
          <p:nvPr/>
        </p:nvSpPr>
        <p:spPr>
          <a:xfrm xmlns:a="http://schemas.openxmlformats.org/drawingml/2006/main" rot="5400000">
            <a:off x="11239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8" name="!!recap-recap-mix-g2-r0-tick0">
            <a:extLst xmlns:a="http://schemas.openxmlformats.org/drawingml/2006/main">
              <a:ext uri="{FF2B5EF4-FFF2-40B4-BE49-F238E27FC236}">
                <a16:creationId xmlns:a16="http://schemas.microsoft.com/office/drawing/2014/main" id="{35261FEB-E001-4233-A37A-EC688ED8E39A}"/>
              </a:ext>
            </a:extLst>
          </p:cNvPr>
          <p:cNvSpPr>
            <a:spLocks xmlns:a="http://schemas.openxmlformats.org/drawingml/2006/main" noGrp="1"/>
          </p:cNvSpPr>
          <p:nvPr/>
        </p:nvSpPr>
        <p:spPr>
          <a:xfrm xmlns:a="http://schemas.openxmlformats.org/drawingml/2006/main">
            <a:off x="97893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recap-recap-mix-g2-r0-tick1">
            <a:extLst xmlns:a="http://schemas.openxmlformats.org/drawingml/2006/main">
              <a:ext uri="{FF2B5EF4-FFF2-40B4-BE49-F238E27FC236}">
                <a16:creationId xmlns:a16="http://schemas.microsoft.com/office/drawing/2014/main" id="{205851F6-7D4B-46EF-84B9-53DF84A8272A}"/>
              </a:ext>
            </a:extLst>
          </p:cNvPr>
          <p:cNvSpPr>
            <a:spLocks xmlns:a="http://schemas.openxmlformats.org/drawingml/2006/main" noGrp="1"/>
          </p:cNvSpPr>
          <p:nvPr/>
        </p:nvSpPr>
        <p:spPr>
          <a:xfrm xmlns:a="http://schemas.openxmlformats.org/drawingml/2006/main">
            <a:off x="9963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recap-recap-mix-g2-r0-tick2">
            <a:extLst xmlns:a="http://schemas.openxmlformats.org/drawingml/2006/main">
              <a:ext uri="{FF2B5EF4-FFF2-40B4-BE49-F238E27FC236}">
                <a16:creationId xmlns:a16="http://schemas.microsoft.com/office/drawing/2014/main" id="{66B270A3-A82C-4F11-85F4-7A86A2AEE984}"/>
              </a:ext>
            </a:extLst>
          </p:cNvPr>
          <p:cNvSpPr>
            <a:spLocks xmlns:a="http://schemas.openxmlformats.org/drawingml/2006/main" noGrp="1"/>
          </p:cNvSpPr>
          <p:nvPr/>
        </p:nvSpPr>
        <p:spPr>
          <a:xfrm xmlns:a="http://schemas.openxmlformats.org/drawingml/2006/main">
            <a:off x="101369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recap-recap-mix-g0-bn">
            <a:extLst xmlns:a="http://schemas.openxmlformats.org/drawingml/2006/main">
              <a:ext uri="{FF2B5EF4-FFF2-40B4-BE49-F238E27FC236}">
                <a16:creationId xmlns:a16="http://schemas.microsoft.com/office/drawing/2014/main" id="{2B7EC5EF-9B78-4D6D-BE0F-78ED41DE1FC1}"/>
              </a:ext>
            </a:extLst>
          </p:cNvPr>
          <p:cNvSpPr>
            <a:spLocks xmlns:a="http://schemas.openxmlformats.org/drawingml/2006/main" noGrp="1"/>
          </p:cNvSpPr>
          <p:nvPr/>
        </p:nvSpPr>
        <p:spPr>
          <a:xfrm xmlns:a="http://schemas.openxmlformats.org/drawingml/2006/main">
            <a:off x="1266825" y="3262313"/>
            <a:ext cx="347663" cy="261938"/>
          </a:xfrm>
          <a:custGeom xmlns:a="http://schemas.openxmlformats.org/drawingml/2006/main">
            <a:pathLst>
              <a:path w="347663" h="261938">
                <a:moveTo>
                  <a:pt x="0" y="261938"/>
                </a:moveTo>
                <a:lnTo>
                  <a:pt x="173831" y="0"/>
                </a:lnTo>
                <a:lnTo>
                  <a:pt x="347663"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2" name="!!recap-recap-mix-g0-bp">
            <a:extLst xmlns:a="http://schemas.openxmlformats.org/drawingml/2006/main">
              <a:ext uri="{FF2B5EF4-FFF2-40B4-BE49-F238E27FC236}">
                <a16:creationId xmlns:a16="http://schemas.microsoft.com/office/drawing/2014/main" id="{C6C1603B-E463-4636-8B1E-1F37772A0626}"/>
              </a:ext>
            </a:extLst>
          </p:cNvPr>
          <p:cNvSpPr>
            <a:spLocks xmlns:a="http://schemas.openxmlformats.org/drawingml/2006/main" noGrp="1"/>
          </p:cNvSpPr>
          <p:nvPr/>
        </p:nvSpPr>
        <p:spPr>
          <a:xfrm xmlns:a="http://schemas.openxmlformats.org/drawingml/2006/main">
            <a:off x="2309813" y="3262313"/>
            <a:ext cx="347663" cy="261938"/>
          </a:xfrm>
          <a:custGeom xmlns:a="http://schemas.openxmlformats.org/drawingml/2006/main">
            <a:pathLst>
              <a:path w="347663" h="261938">
                <a:moveTo>
                  <a:pt x="0" y="261938"/>
                </a:moveTo>
                <a:lnTo>
                  <a:pt x="173831" y="0"/>
                </a:lnTo>
                <a:lnTo>
                  <a:pt x="347663"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3" name="!!recap-recap-mix-arrow-line">
            <a:extLst xmlns:a="http://schemas.openxmlformats.org/drawingml/2006/main">
              <a:ext uri="{FF2B5EF4-FFF2-40B4-BE49-F238E27FC236}">
                <a16:creationId xmlns:a16="http://schemas.microsoft.com/office/drawing/2014/main" id="{D5D1020E-3449-4748-A3C7-5B4CF868F298}"/>
              </a:ext>
            </a:extLst>
          </p:cNvPr>
          <p:cNvSpPr>
            <a:spLocks xmlns:a="http://schemas.openxmlformats.org/drawingml/2006/main" noGrp="1"/>
          </p:cNvSpPr>
          <p:nvPr/>
        </p:nvSpPr>
        <p:spPr>
          <a:xfrm xmlns:a="http://schemas.openxmlformats.org/drawingml/2006/main">
            <a:off x="35814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4" name="!!recap-recap-mix-arrow-head">
            <a:extLst xmlns:a="http://schemas.openxmlformats.org/drawingml/2006/main">
              <a:ext uri="{FF2B5EF4-FFF2-40B4-BE49-F238E27FC236}">
                <a16:creationId xmlns:a16="http://schemas.microsoft.com/office/drawing/2014/main" id="{3D1DC7A6-9BD4-4F1B-9248-3DC88B9DEDAA}"/>
              </a:ext>
            </a:extLst>
          </p:cNvPr>
          <p:cNvSpPr>
            <a:spLocks xmlns:a="http://schemas.openxmlformats.org/drawingml/2006/main" noGrp="1"/>
          </p:cNvSpPr>
          <p:nvPr/>
        </p:nvSpPr>
        <p:spPr>
          <a:xfrm xmlns:a="http://schemas.openxmlformats.org/drawingml/2006/main" rot="5400000">
            <a:off x="42291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5" name="!!recap-recap-mix-g1-in-n">
            <a:extLst xmlns:a="http://schemas.openxmlformats.org/drawingml/2006/main">
              <a:ext uri="{FF2B5EF4-FFF2-40B4-BE49-F238E27FC236}">
                <a16:creationId xmlns:a16="http://schemas.microsoft.com/office/drawing/2014/main" id="{FD73B75E-D301-4288-A21F-D72C7D78A93A}"/>
              </a:ext>
            </a:extLst>
          </p:cNvPr>
          <p:cNvSpPr>
            <a:spLocks xmlns:a="http://schemas.openxmlformats.org/drawingml/2006/main" noGrp="1"/>
          </p:cNvSpPr>
          <p:nvPr/>
        </p:nvSpPr>
        <p:spPr>
          <a:xfrm xmlns:a="http://schemas.openxmlformats.org/drawingml/2006/main">
            <a:off x="5788819" y="3262313"/>
            <a:ext cx="347663" cy="261938"/>
          </a:xfrm>
          <a:custGeom xmlns:a="http://schemas.openxmlformats.org/drawingml/2006/main">
            <a:pathLst>
              <a:path w="347663" h="261938">
                <a:moveTo>
                  <a:pt x="0" y="261938"/>
                </a:moveTo>
                <a:lnTo>
                  <a:pt x="173831" y="0"/>
                </a:lnTo>
                <a:lnTo>
                  <a:pt x="347663"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6" name="!!recap-recap-mix-g1-in-p">
            <a:extLst xmlns:a="http://schemas.openxmlformats.org/drawingml/2006/main">
              <a:ext uri="{FF2B5EF4-FFF2-40B4-BE49-F238E27FC236}">
                <a16:creationId xmlns:a16="http://schemas.microsoft.com/office/drawing/2014/main" id="{FBF9F6F1-4292-42A9-9FDF-EB868E1D71FE}"/>
              </a:ext>
            </a:extLst>
          </p:cNvPr>
          <p:cNvSpPr>
            <a:spLocks xmlns:a="http://schemas.openxmlformats.org/drawingml/2006/main" noGrp="1"/>
          </p:cNvSpPr>
          <p:nvPr/>
        </p:nvSpPr>
        <p:spPr>
          <a:xfrm xmlns:a="http://schemas.openxmlformats.org/drawingml/2006/main">
            <a:off x="5788819" y="3262313"/>
            <a:ext cx="347663" cy="261938"/>
          </a:xfrm>
          <a:custGeom xmlns:a="http://schemas.openxmlformats.org/drawingml/2006/main">
            <a:pathLst>
              <a:path w="347663" h="261938">
                <a:moveTo>
                  <a:pt x="0" y="261938"/>
                </a:moveTo>
                <a:lnTo>
                  <a:pt x="173831" y="0"/>
                </a:lnTo>
                <a:lnTo>
                  <a:pt x="347663"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7" name="!!recap-recap-mix-g1-c">
            <a:extLst xmlns:a="http://schemas.openxmlformats.org/drawingml/2006/main">
              <a:ext uri="{FF2B5EF4-FFF2-40B4-BE49-F238E27FC236}">
                <a16:creationId xmlns:a16="http://schemas.microsoft.com/office/drawing/2014/main" id="{A50017BD-A462-4502-B73E-A0BDC739EC64}"/>
              </a:ext>
            </a:extLst>
          </p:cNvPr>
          <p:cNvSpPr>
            <a:spLocks xmlns:a="http://schemas.openxmlformats.org/drawingml/2006/main" noGrp="1"/>
          </p:cNvSpPr>
          <p:nvPr/>
        </p:nvSpPr>
        <p:spPr>
          <a:xfrm xmlns:a="http://schemas.openxmlformats.org/drawingml/2006/main">
            <a:off x="5788819" y="3000375"/>
            <a:ext cx="347663" cy="523875"/>
          </a:xfrm>
          <a:custGeom xmlns:a="http://schemas.openxmlformats.org/drawingml/2006/main">
            <a:pathLst>
              <a:path w="347663" h="523875">
                <a:moveTo>
                  <a:pt x="0" y="523875"/>
                </a:moveTo>
                <a:lnTo>
                  <a:pt x="173831" y="0"/>
                </a:lnTo>
                <a:lnTo>
                  <a:pt x="347663" y="523875"/>
                </a:lnTo>
                <a:close/>
              </a:path>
            </a:pathLst>
          </a:custGeom>
          <a:solidFill xmlns:a="http://schemas.openxmlformats.org/drawingml/2006/main">
            <a:srgbClr val="535353"/>
          </a:solidFill>
          <a:ln xmlns:a="http://schemas.openxmlformats.org/drawingml/2006/main" w="10478">
            <a:solidFill>
              <a:srgbClr val="202020"/>
            </a:solidFill>
          </a:ln>
        </p:spPr>
      </p:sp>
      <p:sp>
        <p:nvSpPr>
          <p:cNvPr id="28" name="!!recap-recap-mix-g1-hn">
            <a:extLst xmlns:a="http://schemas.openxmlformats.org/drawingml/2006/main">
              <a:ext uri="{FF2B5EF4-FFF2-40B4-BE49-F238E27FC236}">
                <a16:creationId xmlns:a16="http://schemas.microsoft.com/office/drawing/2014/main" id="{7491F03A-EAE4-4247-8E12-D4B4FD569C4A}"/>
              </a:ext>
            </a:extLst>
          </p:cNvPr>
          <p:cNvSpPr>
            <a:spLocks xmlns:a="http://schemas.openxmlformats.org/drawingml/2006/main" noGrp="1"/>
          </p:cNvSpPr>
          <p:nvPr/>
        </p:nvSpPr>
        <p:spPr>
          <a:xfrm xmlns:a="http://schemas.openxmlformats.org/drawingml/2006/main">
            <a:off x="4745831" y="3262313"/>
            <a:ext cx="347663" cy="261938"/>
          </a:xfrm>
          <a:custGeom xmlns:a="http://schemas.openxmlformats.org/drawingml/2006/main">
            <a:pathLst>
              <a:path w="347663" h="261938">
                <a:moveTo>
                  <a:pt x="0" y="261938"/>
                </a:moveTo>
                <a:lnTo>
                  <a:pt x="173831" y="0"/>
                </a:lnTo>
                <a:lnTo>
                  <a:pt x="347663" y="261938"/>
                </a:lnTo>
                <a:close/>
              </a:path>
            </a:pathLst>
          </a:custGeom>
          <a:solidFill xmlns:a="http://schemas.openxmlformats.org/drawingml/2006/main">
            <a:srgbClr val="BBBBBB"/>
          </a:solidFill>
          <a:ln xmlns:a="http://schemas.openxmlformats.org/drawingml/2006/main" w="10478">
            <a:solidFill>
              <a:srgbClr val="202020"/>
            </a:solidFill>
          </a:ln>
        </p:spPr>
      </p:sp>
      <p:sp>
        <p:nvSpPr>
          <p:cNvPr id="29" name="!!recap-recap-mix-g1-hp">
            <a:extLst xmlns:a="http://schemas.openxmlformats.org/drawingml/2006/main">
              <a:ext uri="{FF2B5EF4-FFF2-40B4-BE49-F238E27FC236}">
                <a16:creationId xmlns:a16="http://schemas.microsoft.com/office/drawing/2014/main" id="{D754406A-DA9A-48F7-B11C-9007EF570643}"/>
              </a:ext>
            </a:extLst>
          </p:cNvPr>
          <p:cNvSpPr>
            <a:spLocks xmlns:a="http://schemas.openxmlformats.org/drawingml/2006/main" noGrp="1"/>
          </p:cNvSpPr>
          <p:nvPr/>
        </p:nvSpPr>
        <p:spPr>
          <a:xfrm xmlns:a="http://schemas.openxmlformats.org/drawingml/2006/main">
            <a:off x="6831806" y="3262313"/>
            <a:ext cx="347663" cy="261938"/>
          </a:xfrm>
          <a:custGeom xmlns:a="http://schemas.openxmlformats.org/drawingml/2006/main">
            <a:pathLst>
              <a:path w="347663" h="261938">
                <a:moveTo>
                  <a:pt x="0" y="261938"/>
                </a:moveTo>
                <a:lnTo>
                  <a:pt x="173831" y="0"/>
                </a:lnTo>
                <a:lnTo>
                  <a:pt x="347663" y="261938"/>
                </a:lnTo>
                <a:close/>
              </a:path>
            </a:pathLst>
          </a:custGeom>
          <a:solidFill xmlns:a="http://schemas.openxmlformats.org/drawingml/2006/main">
            <a:srgbClr val="BBBBBB"/>
          </a:solidFill>
          <a:ln xmlns:a="http://schemas.openxmlformats.org/drawingml/2006/main" w="10478">
            <a:solidFill>
              <a:srgbClr val="202020"/>
            </a:solidFill>
          </a:ln>
        </p:spPr>
      </p:sp>
      <p:sp>
        <p:nvSpPr>
          <p:cNvPr id="30" name="!!recap-recap-lpf-arrow-line">
            <a:extLst xmlns:a="http://schemas.openxmlformats.org/drawingml/2006/main">
              <a:ext uri="{FF2B5EF4-FFF2-40B4-BE49-F238E27FC236}">
                <a16:creationId xmlns:a16="http://schemas.microsoft.com/office/drawing/2014/main" id="{F4E281DB-4C43-4125-AEC8-5A8B16821E01}"/>
              </a:ext>
            </a:extLst>
          </p:cNvPr>
          <p:cNvSpPr>
            <a:spLocks xmlns:a="http://schemas.openxmlformats.org/drawingml/2006/main" noGrp="1"/>
          </p:cNvSpPr>
          <p:nvPr/>
        </p:nvSpPr>
        <p:spPr>
          <a:xfrm xmlns:a="http://schemas.openxmlformats.org/drawingml/2006/main">
            <a:off x="75819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1" name="!!recap-recap-lpf-arrow-head">
            <a:extLst xmlns:a="http://schemas.openxmlformats.org/drawingml/2006/main">
              <a:ext uri="{FF2B5EF4-FFF2-40B4-BE49-F238E27FC236}">
                <a16:creationId xmlns:a16="http://schemas.microsoft.com/office/drawing/2014/main" id="{08962075-C824-461D-8519-169E6EB49544}"/>
              </a:ext>
            </a:extLst>
          </p:cNvPr>
          <p:cNvSpPr>
            <a:spLocks xmlns:a="http://schemas.openxmlformats.org/drawingml/2006/main" noGrp="1"/>
          </p:cNvSpPr>
          <p:nvPr/>
        </p:nvSpPr>
        <p:spPr>
          <a:xfrm xmlns:a="http://schemas.openxmlformats.org/drawingml/2006/main" rot="5400000">
            <a:off x="82296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2" name="!!recap-recap-lpf-label">
            <a:extLst xmlns:a="http://schemas.openxmlformats.org/drawingml/2006/main">
              <a:ext uri="{FF2B5EF4-FFF2-40B4-BE49-F238E27FC236}">
                <a16:creationId xmlns:a16="http://schemas.microsoft.com/office/drawing/2014/main" id="{FB93E0E8-84B1-48A9-8812-3D1AE1B01CFF}"/>
              </a:ext>
            </a:extLst>
          </p:cNvPr>
          <p:cNvSpPr>
            <a:spLocks xmlns:a="http://schemas.openxmlformats.org/drawingml/2006/main" noGrp="1"/>
          </p:cNvSpPr>
          <p:nvPr/>
        </p:nvSpPr>
        <p:spPr>
          <a:xfrm xmlns:a="http://schemas.openxmlformats.org/drawingml/2006/main">
            <a:off x="7058025" y="29908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LPF</a:t>
            </a:r>
          </a:p>
        </p:txBody>
      </p:sp>
      <p:sp>
        <p:nvSpPr>
          <p:cNvPr id="33" name="!!recap-recap-mix-g1-r0-filter0">
            <a:extLst xmlns:a="http://schemas.openxmlformats.org/drawingml/2006/main">
              <a:ext uri="{FF2B5EF4-FFF2-40B4-BE49-F238E27FC236}">
                <a16:creationId xmlns:a16="http://schemas.microsoft.com/office/drawing/2014/main" id="{06739297-6DF3-4EF9-A114-845AED6DDB11}"/>
              </a:ext>
            </a:extLst>
          </p:cNvPr>
          <p:cNvSpPr>
            <a:spLocks xmlns:a="http://schemas.openxmlformats.org/drawingml/2006/main" noGrp="1"/>
          </p:cNvSpPr>
          <p:nvPr/>
        </p:nvSpPr>
        <p:spPr>
          <a:xfrm xmlns:a="http://schemas.openxmlformats.org/drawingml/2006/main">
            <a:off x="5788819" y="2905125"/>
            <a:ext cx="347663" cy="733425"/>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4" name="!!recap-recap-mix-g2-c">
            <a:extLst xmlns:a="http://schemas.openxmlformats.org/drawingml/2006/main">
              <a:ext uri="{FF2B5EF4-FFF2-40B4-BE49-F238E27FC236}">
                <a16:creationId xmlns:a16="http://schemas.microsoft.com/office/drawing/2014/main" id="{84B8AE87-4BF0-4417-9FDC-FA896C17180A}"/>
              </a:ext>
            </a:extLst>
          </p:cNvPr>
          <p:cNvSpPr>
            <a:spLocks xmlns:a="http://schemas.openxmlformats.org/drawingml/2006/main" noGrp="1"/>
          </p:cNvSpPr>
          <p:nvPr/>
        </p:nvSpPr>
        <p:spPr>
          <a:xfrm xmlns:a="http://schemas.openxmlformats.org/drawingml/2006/main">
            <a:off x="9789319" y="3000375"/>
            <a:ext cx="347663" cy="523875"/>
          </a:xfrm>
          <a:custGeom xmlns:a="http://schemas.openxmlformats.org/drawingml/2006/main">
            <a:pathLst>
              <a:path w="347663" h="523875">
                <a:moveTo>
                  <a:pt x="0" y="523875"/>
                </a:moveTo>
                <a:lnTo>
                  <a:pt x="173831" y="0"/>
                </a:lnTo>
                <a:lnTo>
                  <a:pt x="347663" y="523875"/>
                </a:lnTo>
                <a:close/>
              </a:path>
            </a:pathLst>
          </a:custGeom>
          <a:solidFill xmlns:a="http://schemas.openxmlformats.org/drawingml/2006/main">
            <a:srgbClr val="535353"/>
          </a:solidFill>
          <a:ln xmlns:a="http://schemas.openxmlformats.org/drawingml/2006/main" w="10478">
            <a:solidFill>
              <a:srgbClr val="202020"/>
            </a:solidFill>
          </a:ln>
        </p:spPr>
      </p:sp>
      <p:pic>
        <p:nvPicPr>
          <p:cNvPr id="93" name="!!recap-route-m" descr="m(t)">
            <ns0:hlinkClick xmlns:ns0="http://schemas.openxmlformats.org/drawingml/2006/main" xmlns:ns1="http://schemas.openxmlformats.org/officeDocument/2006/relationships" ns1:id="rIdmethods_Link1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66aeaa17c30487b">
            <a:extLst>
              <a:ext uri="{96DAC541-7B7A-43D3-8B79-37D633B846F1}">
                <ns0:svgBlip xmlns:ns0="http://schemas.microsoft.com/office/drawing/2016/SVG/main" r:embed="rIdVectormf00041"/>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94" name="!!recap-route-s" descr="s(t)">
            <ns0:hlinkClick xmlns:ns0="http://schemas.openxmlformats.org/drawingml/2006/main" xmlns:ns1="http://schemas.openxmlformats.org/officeDocument/2006/relationships" ns1:id="rIdmethods_Link20"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67ac2301bf14b37">
            <a:extLst>
              <a:ext uri="{96DAC541-7B7A-43D3-8B79-37D633B846F1}">
                <ns1:svgBlip xmlns:ns1="http://schemas.microsoft.com/office/drawing/2016/SVG/main" r:embed="rIdVectormf00042"/>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95" name="!!recap-route-restored" descr="m(t)">
            <ns0:hlinkClick xmlns:ns0="http://schemas.openxmlformats.org/drawingml/2006/main" xmlns:ns1="http://schemas.openxmlformats.org/officeDocument/2006/relationships" ns1:id="rIdmethods_Link2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95b32341df134fe9">
            <a:extLst>
              <a:ext uri="{96DAC541-7B7A-43D3-8B79-37D633B846F1}">
                <ns2:svgBlip xmlns:ns2="http://schemas.microsoft.com/office/drawing/2016/SVG/main" r:embed="rIdVectormf00043"/>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96" name="!!recap-recap-mix-g0-r0-domain" descr="f"/>
          <p:cNvPicPr>
            <a:picLocks xmlns:a="http://schemas.openxmlformats.org/drawingml/2006/main" noChangeAspect="1"/>
          </p:cNvPicPr>
          <p:nvPr/>
        </p:nvPicPr>
        <p:blipFill>
          <a:blip xmlns:r="http://schemas.openxmlformats.org/officeDocument/2006/relationships" xmlns:a="http://schemas.openxmlformats.org/drawingml/2006/main" r:embed="R242ad00aa9da475a">
            <a:extLst>
              <a:ext uri="{96DAC541-7B7A-43D3-8B79-37D633B846F1}">
                <ns3:svgBlip xmlns:ns3="http://schemas.microsoft.com/office/drawing/2016/SVG/main" r:embed="rIdVectormf00044"/>
              </a:ext>
            </a:extLst>
          </a:blip>
          <a:stretch xmlns:a="http://schemas.openxmlformats.org/drawingml/2006/main"/>
        </p:blipFill>
        <p:spPr>
          <a:xfrm xmlns:a="http://schemas.openxmlformats.org/drawingml/2006/main">
            <a:off x="3374873" y="3311843"/>
            <a:ext cx="79678" cy="120015"/>
          </a:xfrm>
          <a:prstGeom xmlns:a="http://schemas.openxmlformats.org/drawingml/2006/main" prst="rect">
            <a:avLst/>
          </a:prstGeom>
        </p:spPr>
      </p:pic>
      <p:pic>
        <p:nvPicPr>
          <p:cNvPr id="97" name="!!recap-recap-mix-g0-r0-ticklabel0" descr="-f_c"/>
          <p:cNvPicPr>
            <a:picLocks xmlns:a="http://schemas.openxmlformats.org/drawingml/2006/main" noChangeAspect="1"/>
          </p:cNvPicPr>
          <p:nvPr/>
        </p:nvPicPr>
        <p:blipFill>
          <a:blip xmlns:r="http://schemas.openxmlformats.org/officeDocument/2006/relationships" xmlns:a="http://schemas.openxmlformats.org/drawingml/2006/main" r:embed="R6b1b46a898bd44c8">
            <a:extLst>
              <a:ext uri="{96DAC541-7B7A-43D3-8B79-37D633B846F1}">
                <ns4:svgBlip xmlns:ns4="http://schemas.microsoft.com/office/drawing/2016/SVG/main" r:embed="rIdVectormf00045"/>
              </a:ext>
            </a:extLst>
          </a:blip>
          <a:stretch xmlns:a="http://schemas.openxmlformats.org/drawingml/2006/main"/>
        </p:blipFill>
        <p:spPr>
          <a:xfrm xmlns:a="http://schemas.openxmlformats.org/drawingml/2006/main">
            <a:off x="1306842" y="3646170"/>
            <a:ext cx="267629" cy="137160"/>
          </a:xfrm>
          <a:prstGeom xmlns:a="http://schemas.openxmlformats.org/drawingml/2006/main" prst="rect">
            <a:avLst/>
          </a:prstGeom>
        </p:spPr>
      </p:pic>
      <p:pic>
        <p:nvPicPr>
          <p:cNvPr id="98" name="!!recap-recap-mix-g0-r0-ticklabel1" descr="0"/>
          <p:cNvPicPr>
            <a:picLocks xmlns:a="http://schemas.openxmlformats.org/drawingml/2006/main" noChangeAspect="1"/>
          </p:cNvPicPr>
          <p:nvPr/>
        </p:nvPicPr>
        <p:blipFill>
          <a:blip xmlns:r="http://schemas.openxmlformats.org/officeDocument/2006/relationships" xmlns:a="http://schemas.openxmlformats.org/drawingml/2006/main" r:embed="Rfbcfdf51659f4840">
            <a:extLst>
              <a:ext uri="{96DAC541-7B7A-43D3-8B79-37D633B846F1}">
                <ns5:svgBlip xmlns:ns5="http://schemas.microsoft.com/office/drawing/2016/SVG/main" r:embed="rIdVectormf00046"/>
              </a:ext>
            </a:extLst>
          </a:blip>
          <a:stretch xmlns:a="http://schemas.openxmlformats.org/drawingml/2006/main"/>
        </p:blipFill>
        <p:spPr>
          <a:xfrm xmlns:a="http://schemas.openxmlformats.org/drawingml/2006/main">
            <a:off x="1916175" y="3663315"/>
            <a:ext cx="91951" cy="102870"/>
          </a:xfrm>
          <a:prstGeom xmlns:a="http://schemas.openxmlformats.org/drawingml/2006/main" prst="rect">
            <a:avLst/>
          </a:prstGeom>
        </p:spPr>
      </p:pic>
      <p:pic>
        <p:nvPicPr>
          <p:cNvPr id="99" name="!!recap-recap-mix-g0-r0-ticklabel2" descr="f_c"/>
          <p:cNvPicPr>
            <a:picLocks xmlns:a="http://schemas.openxmlformats.org/drawingml/2006/main" noChangeAspect="1"/>
          </p:cNvPicPr>
          <p:nvPr/>
        </p:nvPicPr>
        <p:blipFill>
          <a:blip xmlns:r="http://schemas.openxmlformats.org/officeDocument/2006/relationships" xmlns:a="http://schemas.openxmlformats.org/drawingml/2006/main" r:embed="Rb658977c05b544a6">
            <a:extLst>
              <a:ext uri="{96DAC541-7B7A-43D3-8B79-37D633B846F1}">
                <ns6:svgBlip xmlns:ns6="http://schemas.microsoft.com/office/drawing/2016/SVG/main" r:embed="rIdVectormf00047"/>
              </a:ext>
            </a:extLst>
          </a:blip>
          <a:stretch xmlns:a="http://schemas.openxmlformats.org/drawingml/2006/main"/>
        </p:blipFill>
        <p:spPr>
          <a:xfrm xmlns:a="http://schemas.openxmlformats.org/drawingml/2006/main">
            <a:off x="2422343" y="3646170"/>
            <a:ext cx="122601" cy="137160"/>
          </a:xfrm>
          <a:prstGeom xmlns:a="http://schemas.openxmlformats.org/drawingml/2006/main" prst="rect">
            <a:avLst/>
          </a:prstGeom>
        </p:spPr>
      </p:pic>
      <p:pic>
        <p:nvPicPr>
          <p:cNvPr id="100" name="!!recap-recap-mix-g0-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25ac3da2a4704e68">
            <a:extLst>
              <a:ext uri="{96DAC541-7B7A-43D3-8B79-37D633B846F1}">
                <ns7:svgBlip xmlns:ns7="http://schemas.microsoft.com/office/drawing/2016/SVG/main" r:embed="rIdVectormf00048"/>
              </a:ext>
            </a:extLst>
          </a:blip>
          <a:stretch xmlns:a="http://schemas.openxmlformats.org/drawingml/2006/main"/>
        </p:blipFill>
        <p:spPr>
          <a:xfrm xmlns:a="http://schemas.openxmlformats.org/drawingml/2006/main">
            <a:off x="571500" y="2381250"/>
            <a:ext cx="419100" cy="209550"/>
          </a:xfrm>
          <a:prstGeom xmlns:a="http://schemas.openxmlformats.org/drawingml/2006/main" prst="rect">
            <a:avLst/>
          </a:prstGeom>
        </p:spPr>
      </p:pic>
      <p:pic>
        <p:nvPicPr>
          <p:cNvPr id="101" name="!!recap-recap-mix-g1-r0-domain" descr="f"/>
          <p:cNvPicPr>
            <a:picLocks xmlns:a="http://schemas.openxmlformats.org/drawingml/2006/main" noChangeAspect="1"/>
          </p:cNvPicPr>
          <p:nvPr/>
        </p:nvPicPr>
        <p:blipFill>
          <a:blip xmlns:r="http://schemas.openxmlformats.org/officeDocument/2006/relationships" xmlns:a="http://schemas.openxmlformats.org/drawingml/2006/main" r:embed="R835ea0dad4fc486a">
            <a:extLst>
              <a:ext uri="{96DAC541-7B7A-43D3-8B79-37D633B846F1}">
                <ns8:svgBlip xmlns:ns8="http://schemas.microsoft.com/office/drawing/2016/SVG/main" r:embed="rIdVectormf00049"/>
              </a:ext>
            </a:extLst>
          </a:blip>
          <a:stretch xmlns:a="http://schemas.openxmlformats.org/drawingml/2006/main"/>
        </p:blipFill>
        <p:spPr>
          <a:xfrm xmlns:a="http://schemas.openxmlformats.org/drawingml/2006/main">
            <a:off x="7375373" y="3311843"/>
            <a:ext cx="79678" cy="120015"/>
          </a:xfrm>
          <a:prstGeom xmlns:a="http://schemas.openxmlformats.org/drawingml/2006/main" prst="rect">
            <a:avLst/>
          </a:prstGeom>
        </p:spPr>
      </p:pic>
      <p:pic>
        <p:nvPicPr>
          <p:cNvPr id="102" name="!!recap-recap-mix-g1-r0-ticklabel0" descr="-2f_c"/>
          <p:cNvPicPr>
            <a:picLocks xmlns:a="http://schemas.openxmlformats.org/drawingml/2006/main" noChangeAspect="1"/>
          </p:cNvPicPr>
          <p:nvPr/>
        </p:nvPicPr>
        <p:blipFill>
          <a:blip xmlns:r="http://schemas.openxmlformats.org/officeDocument/2006/relationships" xmlns:a="http://schemas.openxmlformats.org/drawingml/2006/main" r:embed="R0dd533740f0a4bd0">
            <a:extLst>
              <a:ext uri="{96DAC541-7B7A-43D3-8B79-37D633B846F1}">
                <ns9:svgBlip xmlns:ns9="http://schemas.microsoft.com/office/drawing/2016/SVG/main" r:embed="rIdVectormf00050"/>
              </a:ext>
            </a:extLst>
          </a:blip>
          <a:stretch xmlns:a="http://schemas.openxmlformats.org/drawingml/2006/main"/>
        </p:blipFill>
        <p:spPr>
          <a:xfrm xmlns:a="http://schemas.openxmlformats.org/drawingml/2006/main">
            <a:off x="4738158" y="3646170"/>
            <a:ext cx="363010" cy="137160"/>
          </a:xfrm>
          <a:prstGeom xmlns:a="http://schemas.openxmlformats.org/drawingml/2006/main" prst="rect">
            <a:avLst/>
          </a:prstGeom>
        </p:spPr>
      </p:pic>
      <p:pic>
        <p:nvPicPr>
          <p:cNvPr id="103" name="!!recap-recap-mix-g1-r0-ticklabel1" descr="0"/>
          <p:cNvPicPr>
            <a:picLocks xmlns:a="http://schemas.openxmlformats.org/drawingml/2006/main" noChangeAspect="1"/>
          </p:cNvPicPr>
          <p:nvPr/>
        </p:nvPicPr>
        <p:blipFill>
          <a:blip xmlns:r="http://schemas.openxmlformats.org/officeDocument/2006/relationships" xmlns:a="http://schemas.openxmlformats.org/drawingml/2006/main" r:embed="R27769e8767b94df4">
            <a:extLst>
              <a:ext uri="{96DAC541-7B7A-43D3-8B79-37D633B846F1}">
                <ns10:svgBlip xmlns:ns10="http://schemas.microsoft.com/office/drawing/2016/SVG/main" r:embed="rIdVectormf00051"/>
              </a:ext>
            </a:extLst>
          </a:blip>
          <a:stretch xmlns:a="http://schemas.openxmlformats.org/drawingml/2006/main"/>
        </p:blipFill>
        <p:spPr>
          <a:xfrm xmlns:a="http://schemas.openxmlformats.org/drawingml/2006/main">
            <a:off x="5916675" y="3663315"/>
            <a:ext cx="91951" cy="102870"/>
          </a:xfrm>
          <a:prstGeom xmlns:a="http://schemas.openxmlformats.org/drawingml/2006/main" prst="rect">
            <a:avLst/>
          </a:prstGeom>
        </p:spPr>
      </p:pic>
      <p:pic>
        <p:nvPicPr>
          <p:cNvPr id="104" name="!!recap-recap-mix-g1-r0-ticklabel2" descr="2f_c"/>
          <p:cNvPicPr>
            <a:picLocks xmlns:a="http://schemas.openxmlformats.org/drawingml/2006/main" noChangeAspect="1"/>
          </p:cNvPicPr>
          <p:nvPr/>
        </p:nvPicPr>
        <p:blipFill>
          <a:blip xmlns:r="http://schemas.openxmlformats.org/officeDocument/2006/relationships" xmlns:a="http://schemas.openxmlformats.org/drawingml/2006/main" r:embed="Red768b2293dc493b">
            <a:extLst>
              <a:ext uri="{96DAC541-7B7A-43D3-8B79-37D633B846F1}">
                <ns11:svgBlip xmlns:ns11="http://schemas.microsoft.com/office/drawing/2016/SVG/main" r:embed="rIdVectormf00052"/>
              </a:ext>
            </a:extLst>
          </a:blip>
          <a:stretch xmlns:a="http://schemas.openxmlformats.org/drawingml/2006/main"/>
        </p:blipFill>
        <p:spPr>
          <a:xfrm xmlns:a="http://schemas.openxmlformats.org/drawingml/2006/main">
            <a:off x="6897531" y="3646170"/>
            <a:ext cx="216213" cy="137160"/>
          </a:xfrm>
          <a:prstGeom xmlns:a="http://schemas.openxmlformats.org/drawingml/2006/main" prst="rect">
            <a:avLst/>
          </a:prstGeom>
        </p:spPr>
      </p:pic>
      <p:pic>
        <p:nvPicPr>
          <p:cNvPr id="105" name="!!recap-recap-mix-g1-r0-label" descr="\textstyle U(f)"/>
          <p:cNvPicPr>
            <a:picLocks xmlns:a="http://schemas.openxmlformats.org/drawingml/2006/main" noChangeAspect="1"/>
          </p:cNvPicPr>
          <p:nvPr/>
        </p:nvPicPr>
        <p:blipFill>
          <a:blip xmlns:r="http://schemas.openxmlformats.org/officeDocument/2006/relationships" xmlns:a="http://schemas.openxmlformats.org/drawingml/2006/main" r:embed="R54d69ded14ab4643">
            <a:extLst>
              <a:ext uri="{96DAC541-7B7A-43D3-8B79-37D633B846F1}">
                <ns12:svgBlip xmlns:ns12="http://schemas.microsoft.com/office/drawing/2016/SVG/main" r:embed="rIdVectormf00053"/>
              </a:ext>
            </a:extLst>
          </a:blip>
          <a:stretch xmlns:a="http://schemas.openxmlformats.org/drawingml/2006/main"/>
        </p:blipFill>
        <p:spPr>
          <a:xfrm xmlns:a="http://schemas.openxmlformats.org/drawingml/2006/main">
            <a:off x="4572000" y="2383215"/>
            <a:ext cx="461010" cy="205621"/>
          </a:xfrm>
          <a:prstGeom xmlns:a="http://schemas.openxmlformats.org/drawingml/2006/main" prst="rect">
            <a:avLst/>
          </a:prstGeom>
        </p:spPr>
      </p:pic>
      <p:pic>
        <p:nvPicPr>
          <p:cNvPr id="106" name="!!recap-recap-mix-g2-r0-domain" descr="f"/>
          <p:cNvPicPr>
            <a:picLocks xmlns:a="http://schemas.openxmlformats.org/drawingml/2006/main" noChangeAspect="1"/>
          </p:cNvPicPr>
          <p:nvPr/>
        </p:nvPicPr>
        <p:blipFill>
          <a:blip xmlns:r="http://schemas.openxmlformats.org/officeDocument/2006/relationships" xmlns:a="http://schemas.openxmlformats.org/drawingml/2006/main" r:embed="Rdc519998a56b41cd">
            <a:extLst>
              <a:ext uri="{96DAC541-7B7A-43D3-8B79-37D633B846F1}">
                <ns13:svgBlip xmlns:ns13="http://schemas.microsoft.com/office/drawing/2016/SVG/main" r:embed="rIdVectormf00054"/>
              </a:ext>
            </a:extLst>
          </a:blip>
          <a:stretch xmlns:a="http://schemas.openxmlformats.org/drawingml/2006/main"/>
        </p:blipFill>
        <p:spPr>
          <a:xfrm xmlns:a="http://schemas.openxmlformats.org/drawingml/2006/main">
            <a:off x="11375873" y="3311843"/>
            <a:ext cx="79678" cy="120015"/>
          </a:xfrm>
          <a:prstGeom xmlns:a="http://schemas.openxmlformats.org/drawingml/2006/main" prst="rect">
            <a:avLst/>
          </a:prstGeom>
        </p:spPr>
      </p:pic>
      <p:pic>
        <p:nvPicPr>
          <p:cNvPr id="107" name="!!recap-recap-mix-g2-r0-ticklabel0" descr="-W"/>
          <p:cNvPicPr>
            <a:picLocks xmlns:a="http://schemas.openxmlformats.org/drawingml/2006/main" noChangeAspect="1"/>
          </p:cNvPicPr>
          <p:nvPr/>
        </p:nvPicPr>
        <p:blipFill>
          <a:blip xmlns:r="http://schemas.openxmlformats.org/officeDocument/2006/relationships" xmlns:a="http://schemas.openxmlformats.org/drawingml/2006/main" r:embed="Rd3535a32c9be4e64">
            <a:extLst>
              <a:ext uri="{96DAC541-7B7A-43D3-8B79-37D633B846F1}">
                <ns14:svgBlip xmlns:ns14="http://schemas.microsoft.com/office/drawing/2016/SVG/main" r:embed="rIdVectormf00055"/>
              </a:ext>
            </a:extLst>
          </a:blip>
          <a:stretch xmlns:a="http://schemas.openxmlformats.org/drawingml/2006/main"/>
        </p:blipFill>
        <p:spPr>
          <a:xfrm xmlns:a="http://schemas.openxmlformats.org/drawingml/2006/main">
            <a:off x="9613419" y="3646170"/>
            <a:ext cx="351800" cy="137160"/>
          </a:xfrm>
          <a:prstGeom xmlns:a="http://schemas.openxmlformats.org/drawingml/2006/main" prst="rect">
            <a:avLst/>
          </a:prstGeom>
        </p:spPr>
      </p:pic>
      <p:pic>
        <p:nvPicPr>
          <p:cNvPr id="108" name="!!recap-recap-mix-g2-r0-ticklabel1" descr="0"/>
          <p:cNvPicPr>
            <a:picLocks xmlns:a="http://schemas.openxmlformats.org/drawingml/2006/main" noChangeAspect="1"/>
          </p:cNvPicPr>
          <p:nvPr/>
        </p:nvPicPr>
        <p:blipFill>
          <a:blip xmlns:r="http://schemas.openxmlformats.org/officeDocument/2006/relationships" xmlns:a="http://schemas.openxmlformats.org/drawingml/2006/main" r:embed="R24a86051a3f04f66">
            <a:extLst>
              <a:ext uri="{96DAC541-7B7A-43D3-8B79-37D633B846F1}">
                <ns15:svgBlip xmlns:ns15="http://schemas.microsoft.com/office/drawing/2016/SVG/main" r:embed="rIdVectormf00056"/>
              </a:ext>
            </a:extLst>
          </a:blip>
          <a:stretch xmlns:a="http://schemas.openxmlformats.org/drawingml/2006/main"/>
        </p:blipFill>
        <p:spPr>
          <a:xfrm xmlns:a="http://schemas.openxmlformats.org/drawingml/2006/main">
            <a:off x="9917175" y="3863340"/>
            <a:ext cx="91951" cy="102870"/>
          </a:xfrm>
          <a:prstGeom xmlns:a="http://schemas.openxmlformats.org/drawingml/2006/main" prst="rect">
            <a:avLst/>
          </a:prstGeom>
        </p:spPr>
      </p:pic>
      <p:pic>
        <p:nvPicPr>
          <p:cNvPr id="109" name="!!recap-recap-mix-g2-r0-ticklabel2" descr="W"/>
          <p:cNvPicPr>
            <a:picLocks xmlns:a="http://schemas.openxmlformats.org/drawingml/2006/main" noChangeAspect="1"/>
          </p:cNvPicPr>
          <p:nvPr/>
        </p:nvPicPr>
        <p:blipFill>
          <a:blip xmlns:r="http://schemas.openxmlformats.org/officeDocument/2006/relationships" xmlns:a="http://schemas.openxmlformats.org/drawingml/2006/main" r:embed="R52fee7eb30e3411c">
            <a:extLst>
              <a:ext uri="{96DAC541-7B7A-43D3-8B79-37D633B846F1}">
                <ns16:svgBlip xmlns:ns16="http://schemas.microsoft.com/office/drawing/2016/SVG/main" r:embed="rIdVectormf00057"/>
              </a:ext>
            </a:extLst>
          </a:blip>
          <a:stretch xmlns:a="http://schemas.openxmlformats.org/drawingml/2006/main"/>
        </p:blipFill>
        <p:spPr>
          <a:xfrm xmlns:a="http://schemas.openxmlformats.org/drawingml/2006/main">
            <a:off x="10034111" y="3656243"/>
            <a:ext cx="205740" cy="117015"/>
          </a:xfrm>
          <a:prstGeom xmlns:a="http://schemas.openxmlformats.org/drawingml/2006/main" prst="rect">
            <a:avLst/>
          </a:prstGeom>
        </p:spPr>
      </p:pic>
      <p:pic>
        <p:nvPicPr>
          <p:cNvPr id="110" name="!!recap-recap-mix-g2-r0-label" descr="\textstyle M(f)"/>
          <p:cNvPicPr>
            <a:picLocks xmlns:a="http://schemas.openxmlformats.org/drawingml/2006/main" noChangeAspect="1"/>
          </p:cNvPicPr>
          <p:nvPr/>
        </p:nvPicPr>
        <p:blipFill>
          <a:blip xmlns:r="http://schemas.openxmlformats.org/officeDocument/2006/relationships" xmlns:a="http://schemas.openxmlformats.org/drawingml/2006/main" r:embed="R0e9eeb4a031840de">
            <a:extLst>
              <a:ext uri="{96DAC541-7B7A-43D3-8B79-37D633B846F1}">
                <ns17:svgBlip xmlns:ns17="http://schemas.microsoft.com/office/drawing/2016/SVG/main" r:embed="rIdVectormf00058"/>
              </a:ext>
            </a:extLst>
          </a:blip>
          <a:stretch xmlns:a="http://schemas.openxmlformats.org/drawingml/2006/main"/>
        </p:blipFill>
        <p:spPr>
          <a:xfrm xmlns:a="http://schemas.openxmlformats.org/drawingml/2006/main">
            <a:off x="8572500" y="2383215"/>
            <a:ext cx="502920" cy="205621"/>
          </a:xfrm>
          <a:prstGeom xmlns:a="http://schemas.openxmlformats.org/drawingml/2006/main" prst="rect">
            <a:avLst/>
          </a:prstGeom>
        </p:spPr>
      </p:pic>
      <p:pic>
        <p:nvPicPr>
          <p:cNvPr id="111" name="!!recap-recap-mix-math" descr="\textstyle \times2\cos(2\pi f_ct)"/>
          <p:cNvPicPr>
            <a:picLocks xmlns:a="http://schemas.openxmlformats.org/drawingml/2006/main" noChangeAspect="1"/>
          </p:cNvPicPr>
          <p:nvPr/>
        </p:nvPicPr>
        <p:blipFill>
          <a:blip xmlns:r="http://schemas.openxmlformats.org/officeDocument/2006/relationships" xmlns:a="http://schemas.openxmlformats.org/drawingml/2006/main" r:embed="R16d8a7ac36414a74">
            <a:extLst>
              <a:ext uri="{96DAC541-7B7A-43D3-8B79-37D633B846F1}">
                <ns18:svgBlip xmlns:ns18="http://schemas.microsoft.com/office/drawing/2016/SVG/main" r:embed="rIdVectormf00059"/>
              </a:ext>
            </a:extLst>
          </a:blip>
          <a:stretch xmlns:a="http://schemas.openxmlformats.org/drawingml/2006/main"/>
        </p:blipFill>
        <p:spPr>
          <a:xfrm xmlns:a="http://schemas.openxmlformats.org/drawingml/2006/main">
            <a:off x="3208020" y="3009900"/>
            <a:ext cx="1508760" cy="228600"/>
          </a:xfrm>
          <a:prstGeom xmlns:a="http://schemas.openxmlformats.org/drawingml/2006/main" prst="rect">
            <a:avLst/>
          </a:prstGeom>
        </p:spPr>
      </p:pic>
      <p:pic>
        <p:nvPicPr>
          <p:cNvPr id="112" name="!!recap-recap-lpf-condition" descr="|f|\leq W&lt;f_c"/>
          <p:cNvPicPr>
            <a:picLocks xmlns:a="http://schemas.openxmlformats.org/drawingml/2006/main" noChangeAspect="1"/>
          </p:cNvPicPr>
          <p:nvPr/>
        </p:nvPicPr>
        <p:blipFill>
          <a:blip xmlns:r="http://schemas.openxmlformats.org/officeDocument/2006/relationships" xmlns:a="http://schemas.openxmlformats.org/drawingml/2006/main" r:embed="R31bd18dca76243bb">
            <a:extLst>
              <a:ext uri="{96DAC541-7B7A-43D3-8B79-37D633B846F1}">
                <ns19:svgBlip xmlns:ns19="http://schemas.microsoft.com/office/drawing/2016/SVG/main" r:embed="rIdVectormf00060"/>
              </a:ext>
            </a:extLst>
          </a:blip>
          <a:stretch xmlns:a="http://schemas.openxmlformats.org/drawingml/2006/main"/>
        </p:blipFill>
        <p:spPr>
          <a:xfrm xmlns:a="http://schemas.openxmlformats.org/drawingml/2006/main">
            <a:off x="7352824" y="2653338"/>
            <a:ext cx="1220153" cy="198775"/>
          </a:xfrm>
          <a:prstGeom xmlns:a="http://schemas.openxmlformats.org/drawingml/2006/main" prst="rect">
            <a:avLst/>
          </a:prstGeom>
        </p:spPr>
      </p:pic>
      <p:pic>
        <p:nvPicPr>
          <p:cNvPr id="113" name="!!recap-dense-equation-0" descr="\textstyle m(t)\longleftrightarrow M(f)"/>
          <p:cNvPicPr>
            <a:picLocks xmlns:a="http://schemas.openxmlformats.org/drawingml/2006/main" noChangeAspect="1"/>
          </p:cNvPicPr>
          <p:nvPr/>
        </p:nvPicPr>
        <p:blipFill>
          <a:blip xmlns:r="http://schemas.openxmlformats.org/officeDocument/2006/relationships" xmlns:a="http://schemas.openxmlformats.org/drawingml/2006/main" r:embed="R843057e3bd1a4428">
            <a:extLst>
              <a:ext uri="{96DAC541-7B7A-43D3-8B79-37D633B846F1}">
                <ns20:svgBlip xmlns:ns20="http://schemas.microsoft.com/office/drawing/2016/SVG/main" r:embed="rIdVectormf00061"/>
              </a:ext>
            </a:extLst>
          </a:blip>
          <a:stretch xmlns:a="http://schemas.openxmlformats.org/drawingml/2006/main"/>
        </p:blipFill>
        <p:spPr>
          <a:xfrm xmlns:a="http://schemas.openxmlformats.org/drawingml/2006/main">
            <a:off x="609600" y="4631055"/>
            <a:ext cx="1857375" cy="247650"/>
          </a:xfrm>
          <a:prstGeom xmlns:a="http://schemas.openxmlformats.org/drawingml/2006/main" prst="rect">
            <a:avLst/>
          </a:prstGeom>
        </p:spPr>
      </p:pic>
      <p:pic>
        <p:nvPicPr>
          <p:cNvPr id="114" name="!!recap-dense-equation-1" descr="\textstyle s(t)=m(t)\cos(2\pi f_ct)"/>
          <p:cNvPicPr>
            <a:picLocks xmlns:a="http://schemas.openxmlformats.org/drawingml/2006/main" noChangeAspect="1"/>
          </p:cNvPicPr>
          <p:nvPr/>
        </p:nvPicPr>
        <p:blipFill>
          <a:blip xmlns:r="http://schemas.openxmlformats.org/officeDocument/2006/relationships" xmlns:a="http://schemas.openxmlformats.org/drawingml/2006/main" r:embed="Reaf2757e9cf245d3">
            <a:extLst>
              <a:ext uri="{96DAC541-7B7A-43D3-8B79-37D633B846F1}">
                <ns21:svgBlip xmlns:ns21="http://schemas.microsoft.com/office/drawing/2016/SVG/main" r:embed="rIdVectormf00062"/>
              </a:ext>
            </a:extLst>
          </a:blip>
          <a:stretch xmlns:a="http://schemas.openxmlformats.org/drawingml/2006/main"/>
        </p:blipFill>
        <p:spPr>
          <a:xfrm xmlns:a="http://schemas.openxmlformats.org/drawingml/2006/main">
            <a:off x="609600" y="5069979"/>
            <a:ext cx="2649855" cy="246102"/>
          </a:xfrm>
          <a:prstGeom xmlns:a="http://schemas.openxmlformats.org/drawingml/2006/main" prst="rect">
            <a:avLst/>
          </a:prstGeom>
        </p:spPr>
      </p:pic>
      <p:pic>
        <p:nvPicPr>
          <p:cNvPr id="115" name="!!recap-dense-equation-2" descr="\textstyle u(t)=2s(t)\cos(2\pi f_ct)=m(t)+m(t)\cos(4\pi f_ct)"/>
          <p:cNvPicPr>
            <a:picLocks xmlns:a="http://schemas.openxmlformats.org/drawingml/2006/main" noChangeAspect="1"/>
          </p:cNvPicPr>
          <p:nvPr/>
        </p:nvPicPr>
        <p:blipFill>
          <a:blip xmlns:r="http://schemas.openxmlformats.org/officeDocument/2006/relationships" xmlns:a="http://schemas.openxmlformats.org/drawingml/2006/main" r:embed="Rc34d666411624670">
            <a:extLst>
              <a:ext uri="{96DAC541-7B7A-43D3-8B79-37D633B846F1}">
                <ns22:svgBlip xmlns:ns22="http://schemas.microsoft.com/office/drawing/2016/SVG/main" r:embed="rIdVectormf00063"/>
              </a:ext>
            </a:extLst>
          </a:blip>
          <a:stretch xmlns:a="http://schemas.openxmlformats.org/drawingml/2006/main"/>
        </p:blipFill>
        <p:spPr>
          <a:xfrm xmlns:a="http://schemas.openxmlformats.org/drawingml/2006/main">
            <a:off x="609600" y="5507355"/>
            <a:ext cx="5844540" cy="247650"/>
          </a:xfrm>
          <a:prstGeom xmlns:a="http://schemas.openxmlformats.org/drawingml/2006/main" prst="rect">
            <a:avLst/>
          </a:prstGeom>
        </p:spPr>
      </p:pic>
      <p:pic>
        <p:nvPicPr>
          <p:cNvPr id="116" name="!!recap-dense-equation-3" descr="\textstyle \mathrm{LPF}\{u(t)\}=m(t)"/>
          <p:cNvPicPr>
            <a:picLocks xmlns:a="http://schemas.openxmlformats.org/drawingml/2006/main" noChangeAspect="1"/>
          </p:cNvPicPr>
          <p:nvPr/>
        </p:nvPicPr>
        <p:blipFill>
          <a:blip xmlns:r="http://schemas.openxmlformats.org/officeDocument/2006/relationships" xmlns:a="http://schemas.openxmlformats.org/drawingml/2006/main" r:embed="R5b8a1f5cde6e45e1">
            <a:extLst>
              <a:ext uri="{96DAC541-7B7A-43D3-8B79-37D633B846F1}">
                <ns23:svgBlip xmlns:ns23="http://schemas.microsoft.com/office/drawing/2016/SVG/main" r:embed="rIdVectormf00064"/>
              </a:ext>
            </a:extLst>
          </a:blip>
          <a:stretch xmlns:a="http://schemas.openxmlformats.org/drawingml/2006/main"/>
        </p:blipFill>
        <p:spPr>
          <a:xfrm xmlns:a="http://schemas.openxmlformats.org/drawingml/2006/main">
            <a:off x="609600" y="5946279"/>
            <a:ext cx="2253615" cy="246102"/>
          </a:xfrm>
          <a:prstGeom xmlns:a="http://schemas.openxmlformats.org/drawingml/2006/main" prst="rect">
            <a:avLst/>
          </a:prstGeom>
        </p:spPr>
      </p:pic>
    </p:spTree>
    <p:extLst>
      <p:ext uri="{BB962C8B-B14F-4D97-AF65-F5344CB8AC3E}">
        <p14:creationId xmlns:p14="http://schemas.microsoft.com/office/powerpoint/2010/main" val="158351582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par>
                                <p:cTn id="11" presetID="10" presetClass="entr" presetSubtype="0" fill="hold" nodeType="with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fade">
                                      <p:cBhvr>
                                        <p:cTn id="13" dur="400"/>
                                        <p:tgtEl>
                                          <p:spTgt spid="111"/>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00"/>
                                        <p:tgtEl>
                                          <p:spTgt spid="25"/>
                                        </p:tgtEl>
                                      </p:cBhvr>
                                    </p:animEffect>
                                    <p:animMotion origin="layout" pathEditMode="relative" path="M -0.37089846 0.00000000 L 0.00000000 0.00000000 E">
                                      <p:cBhvr>
                                        <p:cTn id="17" dur="700" fill="hold"/>
                                        <p:tgtEl>
                                          <p:spTgt spid="25"/>
                                        </p:tgtEl>
                                        <p:attrNameLst>
                                          <p:attrName>ppt_x</p:attrName>
                                          <p:attrName>ppt_y</p:attrName>
                                        </p:attrNameLst>
                                      </p:cBhvr>
                                    </p:animMotion>
                                    <p:animScale zoomContents="1">
                                      <p:cBhvr>
                                        <p:cTn id="18" dur="700" fill="hold"/>
                                        <p:tgtEl>
                                          <p:spTgt spid="25"/>
                                        </p:tgtEl>
                                      </p:cBhvr>
                                      <p:from x="100000" y="100000"/>
                                      <p:to x="100000" y="100000"/>
                                    </p:animScale>
                                  </p:childTnLst>
                                </p:cTn>
                              </p:par>
                              <p:par>
                                <p:cTn id="19" presetID="10"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200"/>
                                        <p:tgtEl>
                                          <p:spTgt spid="26"/>
                                        </p:tgtEl>
                                      </p:cBhvr>
                                    </p:animEffect>
                                    <p:animMotion origin="layout" pathEditMode="relative" path="M -0.28535154 0.00000000 L 0.00000000 0.00000000 E">
                                      <p:cBhvr>
                                        <p:cTn id="22" dur="700" fill="hold"/>
                                        <p:tgtEl>
                                          <p:spTgt spid="26"/>
                                        </p:tgtEl>
                                        <p:attrNameLst>
                                          <p:attrName>ppt_x</p:attrName>
                                          <p:attrName>ppt_y</p:attrName>
                                        </p:attrNameLst>
                                      </p:cBhvr>
                                    </p:animMotion>
                                    <p:animScale zoomContents="1">
                                      <p:cBhvr>
                                        <p:cTn id="23" dur="700" fill="hold"/>
                                        <p:tgtEl>
                                          <p:spTgt spid="26"/>
                                        </p:tgtEl>
                                      </p:cBhvr>
                                      <p:from x="100000" y="100000"/>
                                      <p:to x="100000" y="100000"/>
                                    </p:animScale>
                                  </p:childTnLst>
                                </p:cTn>
                              </p:par>
                              <p:par>
                                <p:cTn id="24" presetID="10" presetClass="entr" presetSubtype="0" fill="hold" nodeType="withEffect">
                                  <p:stCondLst>
                                    <p:cond delay="70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200"/>
                                        <p:tgtEl>
                                          <p:spTgt spid="28"/>
                                        </p:tgtEl>
                                      </p:cBhvr>
                                    </p:animEffect>
                                    <p:animMotion origin="layout" pathEditMode="relative" path="M -0.28535154 0.00000000 L 0.00000000 0.00000000 E">
                                      <p:cBhvr>
                                        <p:cTn id="30" dur="700" fill="hold"/>
                                        <p:tgtEl>
                                          <p:spTgt spid="28"/>
                                        </p:tgtEl>
                                        <p:attrNameLst>
                                          <p:attrName>ppt_x</p:attrName>
                                          <p:attrName>ppt_y</p:attrName>
                                        </p:attrNameLst>
                                      </p:cBhvr>
                                    </p:animMotion>
                                    <p:animScale zoomContents="1">
                                      <p:cBhvr>
                                        <p:cTn id="31" dur="700" fill="hold"/>
                                        <p:tgtEl>
                                          <p:spTgt spid="28"/>
                                        </p:tgtEl>
                                      </p:cBhvr>
                                      <p:from x="100000" y="100000"/>
                                      <p:to x="100000" y="100000"/>
                                    </p:animScale>
                                  </p:childTnLst>
                                </p:cTn>
                              </p:par>
                              <p:par>
                                <p:cTn id="32" presetID="10" presetClass="entr" presetSubtype="0"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00"/>
                                        <p:tgtEl>
                                          <p:spTgt spid="29"/>
                                        </p:tgtEl>
                                      </p:cBhvr>
                                    </p:animEffect>
                                    <p:animMotion origin="layout" pathEditMode="relative" path="M -0.37089838 0.00000000 L 0.00000000 0.00000000 E">
                                      <p:cBhvr>
                                        <p:cTn id="35" dur="700" fill="hold"/>
                                        <p:tgtEl>
                                          <p:spTgt spid="29"/>
                                        </p:tgtEl>
                                        <p:attrNameLst>
                                          <p:attrName>ppt_x</p:attrName>
                                          <p:attrName>ppt_y</p:attrName>
                                        </p:attrNameLst>
                                      </p:cBhvr>
                                    </p:animMotion>
                                    <p:animScale zoomContents="1">
                                      <p:cBhvr>
                                        <p:cTn id="36" dur="700" fill="hold"/>
                                        <p:tgtEl>
                                          <p:spTgt spid="29"/>
                                        </p:tgtEl>
                                      </p:cBhvr>
                                      <p:from x="100000" y="100000"/>
                                      <p:to x="100000" y="100000"/>
                                    </p:animScale>
                                  </p:childTnLst>
                                </p:cTn>
                              </p:par>
                              <p:par>
                                <p:cTn id="37" presetID="10" presetClass="entr" presetSubtype="0" fill="hold" nodeType="withEffect">
                                  <p:stCondLst>
                                    <p:cond delay="0"/>
                                  </p:stCondLst>
                                  <p:childTnLst>
                                    <p:set>
                                      <p:cBhvr>
                                        <p:cTn id="38" dur="1" fill="hold">
                                          <p:stCondLst>
                                            <p:cond delay="0"/>
                                          </p:stCondLst>
                                        </p:cTn>
                                        <p:tgtEl>
                                          <p:spTgt spid="115"/>
                                        </p:tgtEl>
                                        <p:attrNameLst>
                                          <p:attrName>style.visibility</p:attrName>
                                        </p:attrNameLst>
                                      </p:cBhvr>
                                      <p:to>
                                        <p:strVal val="visible"/>
                                      </p:to>
                                    </p:set>
                                    <p:animEffect transition="in" filter="fade">
                                      <p:cBhvr>
                                        <p:cTn id="39" dur="400"/>
                                        <p:tgtEl>
                                          <p:spTgt spid="1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400"/>
                                        <p:tgtEl>
                                          <p:spTgt spid="30"/>
                                        </p:tgtEl>
                                      </p:cBhvr>
                                    </p:animEffect>
                                  </p:childTnLst>
                                </p:cTn>
                              </p:par>
                              <p:par>
                                <p:cTn id="45" presetID="10"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400"/>
                                        <p:tgtEl>
                                          <p:spTgt spid="31"/>
                                        </p:tgtEl>
                                      </p:cBhvr>
                                    </p:animEffect>
                                  </p:childTnLst>
                                </p:cTn>
                              </p:par>
                              <p:par>
                                <p:cTn id="48" presetID="10"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00"/>
                                        <p:tgtEl>
                                          <p:spTgt spid="32"/>
                                        </p:tgtEl>
                                      </p:cBhvr>
                                    </p:animEffect>
                                  </p:childTnLst>
                                </p:cTn>
                              </p:par>
                              <p:par>
                                <p:cTn id="51" presetID="10" presetClass="entr" presetSubtype="0" fill="hold" nodeType="withEffect">
                                  <p:stCondLst>
                                    <p:cond delay="0"/>
                                  </p:stCondLst>
                                  <p:childTnLst>
                                    <p:set>
                                      <p:cBhvr>
                                        <p:cTn id="52" dur="1" fill="hold">
                                          <p:stCondLst>
                                            <p:cond delay="0"/>
                                          </p:stCondLst>
                                        </p:cTn>
                                        <p:tgtEl>
                                          <p:spTgt spid="112"/>
                                        </p:tgtEl>
                                        <p:attrNameLst>
                                          <p:attrName>style.visibility</p:attrName>
                                        </p:attrNameLst>
                                      </p:cBhvr>
                                      <p:to>
                                        <p:strVal val="visible"/>
                                      </p:to>
                                    </p:set>
                                    <p:animEffect transition="in" filter="fade">
                                      <p:cBhvr>
                                        <p:cTn id="53" dur="400"/>
                                        <p:tgtEl>
                                          <p:spTgt spid="112"/>
                                        </p:tgtEl>
                                      </p:cBhvr>
                                    </p:animEffect>
                                  </p:childTnLst>
                                </p:cTn>
                              </p:par>
                              <p:par>
                                <p:cTn id="54" presetID="10" presetClass="entr" presetSubtype="0" fill="hold"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200"/>
                                        <p:tgtEl>
                                          <p:spTgt spid="34"/>
                                        </p:tgtEl>
                                      </p:cBhvr>
                                    </p:animEffect>
                                    <p:animMotion origin="layout" pathEditMode="relative" path="M -0.32812500 0.00000000 L 0.00000000 0.00000000 E">
                                      <p:cBhvr>
                                        <p:cTn id="62" dur="700" fill="hold"/>
                                        <p:tgtEl>
                                          <p:spTgt spid="34"/>
                                        </p:tgtEl>
                                        <p:attrNameLst>
                                          <p:attrName>ppt_x</p:attrName>
                                          <p:attrName>ppt_y</p:attrName>
                                        </p:attrNameLst>
                                      </p:cBhvr>
                                    </p:animMotion>
                                    <p:animScale zoomContents="1">
                                      <p:cBhvr>
                                        <p:cTn id="63" dur="700" fill="hold"/>
                                        <p:tgtEl>
                                          <p:spTgt spid="34"/>
                                        </p:tgtEl>
                                      </p:cBhvr>
                                      <p:from x="100000" y="100000"/>
                                      <p:to x="100000" y="100000"/>
                                    </p:animScale>
                                  </p:childTnLst>
                                </p:cTn>
                              </p:par>
                              <p:par>
                                <p:cTn id="64" presetID="10" presetClass="entr" presetSubtype="0" fill="hold" nodeType="withEffect">
                                  <p:stCondLst>
                                    <p:cond delay="0"/>
                                  </p:stCondLst>
                                  <p:childTnLst>
                                    <p:set>
                                      <p:cBhvr>
                                        <p:cTn id="65" dur="1" fill="hold">
                                          <p:stCondLst>
                                            <p:cond delay="0"/>
                                          </p:stCondLst>
                                        </p:cTn>
                                        <p:tgtEl>
                                          <p:spTgt spid="116"/>
                                        </p:tgtEl>
                                        <p:attrNameLst>
                                          <p:attrName>style.visibility</p:attrName>
                                        </p:attrNameLst>
                                      </p:cBhvr>
                                      <p:to>
                                        <p:strVal val="visible"/>
                                      </p:to>
                                    </p:set>
                                    <p:animEffect transition="in" filter="fade">
                                      <p:cBhvr>
                                        <p:cTn id="66" dur="4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methods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8" name="!!fdm-title">
            <ns0:hlinkClick xmlns:ns0="http://schemas.openxmlformats.org/drawingml/2006/main" xmlns:ns1="http://schemas.openxmlformats.org/officeDocument/2006/relationships" ns1:id="rIdmethods_Link22"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22" action="ppaction://hlinksldjump"/>
              </a:rPr>
              <a:t>FDM</a:t>
            </a:r>
          </a:p>
        </p:txBody>
      </p:sp>
      <p:sp>
        <p:nvSpPr>
          <p:cNvPr id="2" name="!!fdm-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 baseband signals</a:t>
            </a:r>
          </a:p>
        </p:txBody>
      </p:sp>
      <p:sp>
        <p:nvSpPr>
          <p:cNvPr id="3" name="!!fdm-route-tx-line">
            <a:extLst xmlns:a="http://schemas.openxmlformats.org/drawingml/2006/main">
              <a:ext uri="{FF2B5EF4-FFF2-40B4-BE49-F238E27FC236}">
                <a16:creationId xmlns:a16="http://schemas.microsoft.com/office/drawing/2014/main" id="{F629FC9B-D705-47E3-AD28-C011026C4699}"/>
              </a:ext>
            </a:extLst>
          </p:cNvPr>
          <p:cNvSpPr>
            <a:spLocks xmlns:a="http://schemas.openxmlformats.org/drawingml/2006/main" noGrp="1"/>
          </p:cNvSpPr>
          <p:nvPr/>
        </p:nvSpPr>
        <p:spPr>
          <a:xfrm xmlns:a="http://schemas.openxmlformats.org/drawingml/2006/main">
            <a:off x="3800475" y="1381125"/>
            <a:ext cx="115252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fdm-route-tx-head">
            <a:extLst xmlns:a="http://schemas.openxmlformats.org/drawingml/2006/main">
              <a:ext uri="{FF2B5EF4-FFF2-40B4-BE49-F238E27FC236}">
                <a16:creationId xmlns:a16="http://schemas.microsoft.com/office/drawing/2014/main" id="{27D50E51-86B3-45BB-8D74-94E809561781}"/>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fdm-route-rx-line">
            <a:extLst xmlns:a="http://schemas.openxmlformats.org/drawingml/2006/main">
              <a:ext uri="{FF2B5EF4-FFF2-40B4-BE49-F238E27FC236}">
                <a16:creationId xmlns:a16="http://schemas.microsoft.com/office/drawing/2014/main" id="{B85DDF0E-FAC8-4158-A777-1DBAB305D822}"/>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fdm-route-rx-head">
            <a:extLst xmlns:a="http://schemas.openxmlformats.org/drawingml/2006/main">
              <a:ext uri="{FF2B5EF4-FFF2-40B4-BE49-F238E27FC236}">
                <a16:creationId xmlns:a16="http://schemas.microsoft.com/office/drawing/2014/main" id="{BD608C39-C427-4DA9-B5DF-3524F44F8C1E}"/>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fdm-fdm-modulate-g0-r0-axis-line">
            <a:extLst xmlns:a="http://schemas.openxmlformats.org/drawingml/2006/main">
              <a:ext uri="{FF2B5EF4-FFF2-40B4-BE49-F238E27FC236}">
                <a16:creationId xmlns:a16="http://schemas.microsoft.com/office/drawing/2014/main" id="{AD4207A9-9A47-43AD-92BE-B496A3F5912A}"/>
              </a:ext>
            </a:extLst>
          </p:cNvPr>
          <p:cNvSpPr>
            <a:spLocks xmlns:a="http://schemas.openxmlformats.org/drawingml/2006/main" noGrp="1"/>
          </p:cNvSpPr>
          <p:nvPr/>
        </p:nvSpPr>
        <p:spPr>
          <a:xfrm xmlns:a="http://schemas.openxmlformats.org/drawingml/2006/main">
            <a:off x="571500" y="2828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fdm-fdm-modulate-g0-r0-axis-head">
            <a:extLst xmlns:a="http://schemas.openxmlformats.org/drawingml/2006/main">
              <a:ext uri="{FF2B5EF4-FFF2-40B4-BE49-F238E27FC236}">
                <a16:creationId xmlns:a16="http://schemas.microsoft.com/office/drawing/2014/main" id="{FE352621-F2C7-47AB-BD7F-6C203937F7FD}"/>
              </a:ext>
            </a:extLst>
          </p:cNvPr>
          <p:cNvSpPr>
            <a:spLocks xmlns:a="http://schemas.openxmlformats.org/drawingml/2006/main" noGrp="1"/>
          </p:cNvSpPr>
          <p:nvPr/>
        </p:nvSpPr>
        <p:spPr>
          <a:xfrm xmlns:a="http://schemas.openxmlformats.org/drawingml/2006/main" rot="5400000">
            <a:off x="3238500" y="2781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fdm-fdm-modulate-g0-r0-tick0">
            <a:extLst xmlns:a="http://schemas.openxmlformats.org/drawingml/2006/main">
              <a:ext uri="{FF2B5EF4-FFF2-40B4-BE49-F238E27FC236}">
                <a16:creationId xmlns:a16="http://schemas.microsoft.com/office/drawing/2014/main" id="{30153B92-5813-4D4E-85EF-0B143EF34667}"/>
              </a:ext>
            </a:extLst>
          </p:cNvPr>
          <p:cNvSpPr>
            <a:spLocks xmlns:a="http://schemas.openxmlformats.org/drawingml/2006/main" noGrp="1"/>
          </p:cNvSpPr>
          <p:nvPr/>
        </p:nvSpPr>
        <p:spPr>
          <a:xfrm xmlns:a="http://schemas.openxmlformats.org/drawingml/2006/main">
            <a:off x="1962150" y="28289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fdm-fdm-modulate-g0-r1-axis-line">
            <a:extLst xmlns:a="http://schemas.openxmlformats.org/drawingml/2006/main">
              <a:ext uri="{FF2B5EF4-FFF2-40B4-BE49-F238E27FC236}">
                <a16:creationId xmlns:a16="http://schemas.microsoft.com/office/drawing/2014/main" id="{05CD7328-C1B3-46B1-8F7D-C365639D3FCF}"/>
              </a:ext>
            </a:extLst>
          </p:cNvPr>
          <p:cNvSpPr>
            <a:spLocks xmlns:a="http://schemas.openxmlformats.org/drawingml/2006/main" noGrp="1"/>
          </p:cNvSpPr>
          <p:nvPr/>
        </p:nvSpPr>
        <p:spPr>
          <a:xfrm xmlns:a="http://schemas.openxmlformats.org/drawingml/2006/main">
            <a:off x="571500" y="36671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fdm-fdm-modulate-g0-r1-axis-head">
            <a:extLst xmlns:a="http://schemas.openxmlformats.org/drawingml/2006/main">
              <a:ext uri="{FF2B5EF4-FFF2-40B4-BE49-F238E27FC236}">
                <a16:creationId xmlns:a16="http://schemas.microsoft.com/office/drawing/2014/main" id="{F1A747CF-20BD-436D-85B3-1E5C7EC9D42F}"/>
              </a:ext>
            </a:extLst>
          </p:cNvPr>
          <p:cNvSpPr>
            <a:spLocks xmlns:a="http://schemas.openxmlformats.org/drawingml/2006/main" noGrp="1"/>
          </p:cNvSpPr>
          <p:nvPr/>
        </p:nvSpPr>
        <p:spPr>
          <a:xfrm xmlns:a="http://schemas.openxmlformats.org/drawingml/2006/main" rot="5400000">
            <a:off x="3238500" y="36195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fdm-fdm-modulate-g0-r1-tick0">
            <a:extLst xmlns:a="http://schemas.openxmlformats.org/drawingml/2006/main">
              <a:ext uri="{FF2B5EF4-FFF2-40B4-BE49-F238E27FC236}">
                <a16:creationId xmlns:a16="http://schemas.microsoft.com/office/drawing/2014/main" id="{12D89E2A-CA32-4311-B8BD-E1560C2F0021}"/>
              </a:ext>
            </a:extLst>
          </p:cNvPr>
          <p:cNvSpPr>
            <a:spLocks xmlns:a="http://schemas.openxmlformats.org/drawingml/2006/main" noGrp="1"/>
          </p:cNvSpPr>
          <p:nvPr/>
        </p:nvSpPr>
        <p:spPr>
          <a:xfrm xmlns:a="http://schemas.openxmlformats.org/drawingml/2006/main">
            <a:off x="1962150" y="36671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fdm-fdm-modulate-g0-r2-axis-line">
            <a:extLst xmlns:a="http://schemas.openxmlformats.org/drawingml/2006/main">
              <a:ext uri="{FF2B5EF4-FFF2-40B4-BE49-F238E27FC236}">
                <a16:creationId xmlns:a16="http://schemas.microsoft.com/office/drawing/2014/main" id="{A06789E4-30AD-4522-9E27-1077F9EDBD59}"/>
              </a:ext>
            </a:extLst>
          </p:cNvPr>
          <p:cNvSpPr>
            <a:spLocks xmlns:a="http://schemas.openxmlformats.org/drawingml/2006/main" noGrp="1"/>
          </p:cNvSpPr>
          <p:nvPr/>
        </p:nvSpPr>
        <p:spPr>
          <a:xfrm xmlns:a="http://schemas.openxmlformats.org/drawingml/2006/main">
            <a:off x="571500" y="45053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fdm-fdm-modulate-g0-r2-axis-head">
            <a:extLst xmlns:a="http://schemas.openxmlformats.org/drawingml/2006/main">
              <a:ext uri="{FF2B5EF4-FFF2-40B4-BE49-F238E27FC236}">
                <a16:creationId xmlns:a16="http://schemas.microsoft.com/office/drawing/2014/main" id="{A467164E-FC70-4E07-AA16-A843183A5396}"/>
              </a:ext>
            </a:extLst>
          </p:cNvPr>
          <p:cNvSpPr>
            <a:spLocks xmlns:a="http://schemas.openxmlformats.org/drawingml/2006/main" noGrp="1"/>
          </p:cNvSpPr>
          <p:nvPr/>
        </p:nvSpPr>
        <p:spPr>
          <a:xfrm xmlns:a="http://schemas.openxmlformats.org/drawingml/2006/main" rot="5400000">
            <a:off x="3238500" y="44577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5" name="!!fdm-fdm-modulate-g0-r2-tick0">
            <a:extLst xmlns:a="http://schemas.openxmlformats.org/drawingml/2006/main">
              <a:ext uri="{FF2B5EF4-FFF2-40B4-BE49-F238E27FC236}">
                <a16:creationId xmlns:a16="http://schemas.microsoft.com/office/drawing/2014/main" id="{1D823FC7-D6E9-48CA-B0AD-40FD2B62BD28}"/>
              </a:ext>
            </a:extLst>
          </p:cNvPr>
          <p:cNvSpPr>
            <a:spLocks xmlns:a="http://schemas.openxmlformats.org/drawingml/2006/main" noGrp="1"/>
          </p:cNvSpPr>
          <p:nvPr/>
        </p:nvSpPr>
        <p:spPr>
          <a:xfrm xmlns:a="http://schemas.openxmlformats.org/drawingml/2006/main">
            <a:off x="1962150" y="45053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fdm-fdm-modulate-g1-r0-axis-line">
            <a:extLst xmlns:a="http://schemas.openxmlformats.org/drawingml/2006/main">
              <a:ext uri="{FF2B5EF4-FFF2-40B4-BE49-F238E27FC236}">
                <a16:creationId xmlns:a16="http://schemas.microsoft.com/office/drawing/2014/main" id="{68C4FFE9-E139-4A3F-AC0C-C8F434AAD3B2}"/>
              </a:ext>
            </a:extLst>
          </p:cNvPr>
          <p:cNvSpPr>
            <a:spLocks xmlns:a="http://schemas.openxmlformats.org/drawingml/2006/main" noGrp="1"/>
          </p:cNvSpPr>
          <p:nvPr/>
        </p:nvSpPr>
        <p:spPr>
          <a:xfrm xmlns:a="http://schemas.openxmlformats.org/drawingml/2006/main">
            <a:off x="4572000" y="2828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fdm-fdm-modulate-g1-r0-axis-head">
            <a:extLst xmlns:a="http://schemas.openxmlformats.org/drawingml/2006/main">
              <a:ext uri="{FF2B5EF4-FFF2-40B4-BE49-F238E27FC236}">
                <a16:creationId xmlns:a16="http://schemas.microsoft.com/office/drawing/2014/main" id="{50AEBB4F-79F3-4EFD-B1C8-D72888A355DC}"/>
              </a:ext>
            </a:extLst>
          </p:cNvPr>
          <p:cNvSpPr>
            <a:spLocks xmlns:a="http://schemas.openxmlformats.org/drawingml/2006/main" noGrp="1"/>
          </p:cNvSpPr>
          <p:nvPr/>
        </p:nvSpPr>
        <p:spPr>
          <a:xfrm xmlns:a="http://schemas.openxmlformats.org/drawingml/2006/main" rot="5400000">
            <a:off x="7239000" y="2781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8" name="!!fdm-fdm-modulate-g1-r0-tick0">
            <a:extLst xmlns:a="http://schemas.openxmlformats.org/drawingml/2006/main">
              <a:ext uri="{FF2B5EF4-FFF2-40B4-BE49-F238E27FC236}">
                <a16:creationId xmlns:a16="http://schemas.microsoft.com/office/drawing/2014/main" id="{AD93FB9F-086B-454A-BD5E-1F86B66CBDE9}"/>
              </a:ext>
            </a:extLst>
          </p:cNvPr>
          <p:cNvSpPr>
            <a:spLocks xmlns:a="http://schemas.openxmlformats.org/drawingml/2006/main" noGrp="1"/>
          </p:cNvSpPr>
          <p:nvPr/>
        </p:nvSpPr>
        <p:spPr>
          <a:xfrm xmlns:a="http://schemas.openxmlformats.org/drawingml/2006/main">
            <a:off x="5664654" y="28289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fdm-fdm-modulate-g1-r0-tick1">
            <a:extLst xmlns:a="http://schemas.openxmlformats.org/drawingml/2006/main">
              <a:ext uri="{FF2B5EF4-FFF2-40B4-BE49-F238E27FC236}">
                <a16:creationId xmlns:a16="http://schemas.microsoft.com/office/drawing/2014/main" id="{A7E3B1B3-E8BB-4997-9487-F94EC604646F}"/>
              </a:ext>
            </a:extLst>
          </p:cNvPr>
          <p:cNvSpPr>
            <a:spLocks xmlns:a="http://schemas.openxmlformats.org/drawingml/2006/main" noGrp="1"/>
          </p:cNvSpPr>
          <p:nvPr/>
        </p:nvSpPr>
        <p:spPr>
          <a:xfrm xmlns:a="http://schemas.openxmlformats.org/drawingml/2006/main">
            <a:off x="5962650" y="28289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fdm-fdm-modulate-g1-r0-tick2">
            <a:extLst xmlns:a="http://schemas.openxmlformats.org/drawingml/2006/main">
              <a:ext uri="{FF2B5EF4-FFF2-40B4-BE49-F238E27FC236}">
                <a16:creationId xmlns:a16="http://schemas.microsoft.com/office/drawing/2014/main" id="{49C84970-5559-43B7-9647-2AF310F1ED36}"/>
              </a:ext>
            </a:extLst>
          </p:cNvPr>
          <p:cNvSpPr>
            <a:spLocks xmlns:a="http://schemas.openxmlformats.org/drawingml/2006/main" noGrp="1"/>
          </p:cNvSpPr>
          <p:nvPr/>
        </p:nvSpPr>
        <p:spPr>
          <a:xfrm xmlns:a="http://schemas.openxmlformats.org/drawingml/2006/main">
            <a:off x="6260646" y="28289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fdm-fdm-modulate-g1-r1-axis-line">
            <a:extLst xmlns:a="http://schemas.openxmlformats.org/drawingml/2006/main">
              <a:ext uri="{FF2B5EF4-FFF2-40B4-BE49-F238E27FC236}">
                <a16:creationId xmlns:a16="http://schemas.microsoft.com/office/drawing/2014/main" id="{FB1E6F81-AC60-48CF-A940-9EBB32BE6DF2}"/>
              </a:ext>
            </a:extLst>
          </p:cNvPr>
          <p:cNvSpPr>
            <a:spLocks xmlns:a="http://schemas.openxmlformats.org/drawingml/2006/main" noGrp="1"/>
          </p:cNvSpPr>
          <p:nvPr/>
        </p:nvSpPr>
        <p:spPr>
          <a:xfrm xmlns:a="http://schemas.openxmlformats.org/drawingml/2006/main">
            <a:off x="4572000" y="36671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fdm-fdm-modulate-g1-r1-axis-head">
            <a:extLst xmlns:a="http://schemas.openxmlformats.org/drawingml/2006/main">
              <a:ext uri="{FF2B5EF4-FFF2-40B4-BE49-F238E27FC236}">
                <a16:creationId xmlns:a16="http://schemas.microsoft.com/office/drawing/2014/main" id="{FF1E9A46-02CB-4AA8-B1AA-D4D5199BB7F1}"/>
              </a:ext>
            </a:extLst>
          </p:cNvPr>
          <p:cNvSpPr>
            <a:spLocks xmlns:a="http://schemas.openxmlformats.org/drawingml/2006/main" noGrp="1"/>
          </p:cNvSpPr>
          <p:nvPr/>
        </p:nvSpPr>
        <p:spPr>
          <a:xfrm xmlns:a="http://schemas.openxmlformats.org/drawingml/2006/main" rot="5400000">
            <a:off x="7239000" y="36195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3" name="!!fdm-fdm-modulate-g1-r1-tick0">
            <a:extLst xmlns:a="http://schemas.openxmlformats.org/drawingml/2006/main">
              <a:ext uri="{FF2B5EF4-FFF2-40B4-BE49-F238E27FC236}">
                <a16:creationId xmlns:a16="http://schemas.microsoft.com/office/drawing/2014/main" id="{453BF526-30F3-4888-BCDD-7FD0A1BF0957}"/>
              </a:ext>
            </a:extLst>
          </p:cNvPr>
          <p:cNvSpPr>
            <a:spLocks xmlns:a="http://schemas.openxmlformats.org/drawingml/2006/main" noGrp="1"/>
          </p:cNvSpPr>
          <p:nvPr/>
        </p:nvSpPr>
        <p:spPr>
          <a:xfrm xmlns:a="http://schemas.openxmlformats.org/drawingml/2006/main">
            <a:off x="5366657" y="36671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fdm-fdm-modulate-g1-r1-tick1">
            <a:extLst xmlns:a="http://schemas.openxmlformats.org/drawingml/2006/main">
              <a:ext uri="{FF2B5EF4-FFF2-40B4-BE49-F238E27FC236}">
                <a16:creationId xmlns:a16="http://schemas.microsoft.com/office/drawing/2014/main" id="{9813BF7D-EDF8-400A-A7C0-9950E4955CB9}"/>
              </a:ext>
            </a:extLst>
          </p:cNvPr>
          <p:cNvSpPr>
            <a:spLocks xmlns:a="http://schemas.openxmlformats.org/drawingml/2006/main" noGrp="1"/>
          </p:cNvSpPr>
          <p:nvPr/>
        </p:nvSpPr>
        <p:spPr>
          <a:xfrm xmlns:a="http://schemas.openxmlformats.org/drawingml/2006/main">
            <a:off x="5962650" y="36671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fdm-fdm-modulate-g1-r1-tick2">
            <a:extLst xmlns:a="http://schemas.openxmlformats.org/drawingml/2006/main">
              <a:ext uri="{FF2B5EF4-FFF2-40B4-BE49-F238E27FC236}">
                <a16:creationId xmlns:a16="http://schemas.microsoft.com/office/drawing/2014/main" id="{923E99A8-746B-4B34-B517-027AF8BD3DDD}"/>
              </a:ext>
            </a:extLst>
          </p:cNvPr>
          <p:cNvSpPr>
            <a:spLocks xmlns:a="http://schemas.openxmlformats.org/drawingml/2006/main" noGrp="1"/>
          </p:cNvSpPr>
          <p:nvPr/>
        </p:nvSpPr>
        <p:spPr>
          <a:xfrm xmlns:a="http://schemas.openxmlformats.org/drawingml/2006/main">
            <a:off x="6558643" y="36671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fdm-fdm-modulate-g1-r2-axis-line">
            <a:extLst xmlns:a="http://schemas.openxmlformats.org/drawingml/2006/main">
              <a:ext uri="{FF2B5EF4-FFF2-40B4-BE49-F238E27FC236}">
                <a16:creationId xmlns:a16="http://schemas.microsoft.com/office/drawing/2014/main" id="{C5048030-ADA8-4CDE-AC25-39D07839BCAB}"/>
              </a:ext>
            </a:extLst>
          </p:cNvPr>
          <p:cNvSpPr>
            <a:spLocks xmlns:a="http://schemas.openxmlformats.org/drawingml/2006/main" noGrp="1"/>
          </p:cNvSpPr>
          <p:nvPr/>
        </p:nvSpPr>
        <p:spPr>
          <a:xfrm xmlns:a="http://schemas.openxmlformats.org/drawingml/2006/main">
            <a:off x="4572000" y="45053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fdm-fdm-modulate-g1-r2-axis-head">
            <a:extLst xmlns:a="http://schemas.openxmlformats.org/drawingml/2006/main">
              <a:ext uri="{FF2B5EF4-FFF2-40B4-BE49-F238E27FC236}">
                <a16:creationId xmlns:a16="http://schemas.microsoft.com/office/drawing/2014/main" id="{A500F001-E1B7-4B06-95E1-32B8E5EEEE8F}"/>
              </a:ext>
            </a:extLst>
          </p:cNvPr>
          <p:cNvSpPr>
            <a:spLocks xmlns:a="http://schemas.openxmlformats.org/drawingml/2006/main" noGrp="1"/>
          </p:cNvSpPr>
          <p:nvPr/>
        </p:nvSpPr>
        <p:spPr>
          <a:xfrm xmlns:a="http://schemas.openxmlformats.org/drawingml/2006/main" rot="5400000">
            <a:off x="7239000" y="44577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8" name="!!fdm-fdm-modulate-g1-r2-tick0">
            <a:extLst xmlns:a="http://schemas.openxmlformats.org/drawingml/2006/main">
              <a:ext uri="{FF2B5EF4-FFF2-40B4-BE49-F238E27FC236}">
                <a16:creationId xmlns:a16="http://schemas.microsoft.com/office/drawing/2014/main" id="{836DDB0A-678D-451C-A5F0-E3F73FEF6414}"/>
              </a:ext>
            </a:extLst>
          </p:cNvPr>
          <p:cNvSpPr>
            <a:spLocks xmlns:a="http://schemas.openxmlformats.org/drawingml/2006/main" noGrp="1"/>
          </p:cNvSpPr>
          <p:nvPr/>
        </p:nvSpPr>
        <p:spPr>
          <a:xfrm xmlns:a="http://schemas.openxmlformats.org/drawingml/2006/main">
            <a:off x="5068661" y="45053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fdm-fdm-modulate-g1-r2-tick1">
            <a:extLst xmlns:a="http://schemas.openxmlformats.org/drawingml/2006/main">
              <a:ext uri="{FF2B5EF4-FFF2-40B4-BE49-F238E27FC236}">
                <a16:creationId xmlns:a16="http://schemas.microsoft.com/office/drawing/2014/main" id="{D65D68EF-0E07-43B2-9BDC-88B56A80784A}"/>
              </a:ext>
            </a:extLst>
          </p:cNvPr>
          <p:cNvSpPr>
            <a:spLocks xmlns:a="http://schemas.openxmlformats.org/drawingml/2006/main" noGrp="1"/>
          </p:cNvSpPr>
          <p:nvPr/>
        </p:nvSpPr>
        <p:spPr>
          <a:xfrm xmlns:a="http://schemas.openxmlformats.org/drawingml/2006/main">
            <a:off x="5962650" y="45053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fdm-fdm-modulate-g1-r2-tick2">
            <a:extLst xmlns:a="http://schemas.openxmlformats.org/drawingml/2006/main">
              <a:ext uri="{FF2B5EF4-FFF2-40B4-BE49-F238E27FC236}">
                <a16:creationId xmlns:a16="http://schemas.microsoft.com/office/drawing/2014/main" id="{E2C936DA-7155-47A8-8776-194BFDE60C28}"/>
              </a:ext>
            </a:extLst>
          </p:cNvPr>
          <p:cNvSpPr>
            <a:spLocks xmlns:a="http://schemas.openxmlformats.org/drawingml/2006/main" noGrp="1"/>
          </p:cNvSpPr>
          <p:nvPr/>
        </p:nvSpPr>
        <p:spPr>
          <a:xfrm xmlns:a="http://schemas.openxmlformats.org/drawingml/2006/main">
            <a:off x="6856639" y="45053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1" name="!!fdm-fdm-modulate-g2-r0-axis-line">
            <a:extLst xmlns:a="http://schemas.openxmlformats.org/drawingml/2006/main">
              <a:ext uri="{FF2B5EF4-FFF2-40B4-BE49-F238E27FC236}">
                <a16:creationId xmlns:a16="http://schemas.microsoft.com/office/drawing/2014/main" id="{1B18BBEA-BB08-430E-BB91-D0A121469339}"/>
              </a:ext>
            </a:extLst>
          </p:cNvPr>
          <p:cNvSpPr>
            <a:spLocks xmlns:a="http://schemas.openxmlformats.org/drawingml/2006/main" noGrp="1"/>
          </p:cNvSpPr>
          <p:nvPr/>
        </p:nvSpPr>
        <p:spPr>
          <a:xfrm xmlns:a="http://schemas.openxmlformats.org/drawingml/2006/main">
            <a:off x="8572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2" name="!!fdm-fdm-modulate-g2-r0-axis-head">
            <a:extLst xmlns:a="http://schemas.openxmlformats.org/drawingml/2006/main">
              <a:ext uri="{FF2B5EF4-FFF2-40B4-BE49-F238E27FC236}">
                <a16:creationId xmlns:a16="http://schemas.microsoft.com/office/drawing/2014/main" id="{2472212B-9D75-4231-B0A9-6E20F49F6BA4}"/>
              </a:ext>
            </a:extLst>
          </p:cNvPr>
          <p:cNvSpPr>
            <a:spLocks xmlns:a="http://schemas.openxmlformats.org/drawingml/2006/main" noGrp="1"/>
          </p:cNvSpPr>
          <p:nvPr/>
        </p:nvSpPr>
        <p:spPr>
          <a:xfrm xmlns:a="http://schemas.openxmlformats.org/drawingml/2006/main" rot="5400000">
            <a:off x="11239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3" name="!!fdm-fdm-modulate-g2-r0-tick0">
            <a:extLst xmlns:a="http://schemas.openxmlformats.org/drawingml/2006/main">
              <a:ext uri="{FF2B5EF4-FFF2-40B4-BE49-F238E27FC236}">
                <a16:creationId xmlns:a16="http://schemas.microsoft.com/office/drawing/2014/main" id="{73C89891-1814-4B6C-8F5F-F7B3778066C0}"/>
              </a:ext>
            </a:extLst>
          </p:cNvPr>
          <p:cNvSpPr>
            <a:spLocks xmlns:a="http://schemas.openxmlformats.org/drawingml/2006/main" noGrp="1"/>
          </p:cNvSpPr>
          <p:nvPr/>
        </p:nvSpPr>
        <p:spPr>
          <a:xfrm xmlns:a="http://schemas.openxmlformats.org/drawingml/2006/main">
            <a:off x="9665154"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4" name="!!fdm-fdm-modulate-g2-r0-tick1">
            <a:extLst xmlns:a="http://schemas.openxmlformats.org/drawingml/2006/main">
              <a:ext uri="{FF2B5EF4-FFF2-40B4-BE49-F238E27FC236}">
                <a16:creationId xmlns:a16="http://schemas.microsoft.com/office/drawing/2014/main" id="{15588BC5-AB1F-4842-B0BA-B90CA5D1BD2C}"/>
              </a:ext>
            </a:extLst>
          </p:cNvPr>
          <p:cNvSpPr>
            <a:spLocks xmlns:a="http://schemas.openxmlformats.org/drawingml/2006/main" noGrp="1"/>
          </p:cNvSpPr>
          <p:nvPr/>
        </p:nvSpPr>
        <p:spPr>
          <a:xfrm xmlns:a="http://schemas.openxmlformats.org/drawingml/2006/main">
            <a:off x="10261146"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5" name="!!fdm-fdm-modulate-g2-r0-tick2">
            <a:extLst xmlns:a="http://schemas.openxmlformats.org/drawingml/2006/main">
              <a:ext uri="{FF2B5EF4-FFF2-40B4-BE49-F238E27FC236}">
                <a16:creationId xmlns:a16="http://schemas.microsoft.com/office/drawing/2014/main" id="{5F7564D3-147C-49D4-B6E9-DA73A29FE70B}"/>
              </a:ext>
            </a:extLst>
          </p:cNvPr>
          <p:cNvSpPr>
            <a:spLocks xmlns:a="http://schemas.openxmlformats.org/drawingml/2006/main" noGrp="1"/>
          </p:cNvSpPr>
          <p:nvPr/>
        </p:nvSpPr>
        <p:spPr>
          <a:xfrm xmlns:a="http://schemas.openxmlformats.org/drawingml/2006/main">
            <a:off x="9367157"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6" name="!!fdm-fdm-modulate-g2-r0-tick3">
            <a:extLst xmlns:a="http://schemas.openxmlformats.org/drawingml/2006/main">
              <a:ext uri="{FF2B5EF4-FFF2-40B4-BE49-F238E27FC236}">
                <a16:creationId xmlns:a16="http://schemas.microsoft.com/office/drawing/2014/main" id="{4CEA721B-D0F5-4CB0-9DEF-445091CE5B57}"/>
              </a:ext>
            </a:extLst>
          </p:cNvPr>
          <p:cNvSpPr>
            <a:spLocks xmlns:a="http://schemas.openxmlformats.org/drawingml/2006/main" noGrp="1"/>
          </p:cNvSpPr>
          <p:nvPr/>
        </p:nvSpPr>
        <p:spPr>
          <a:xfrm xmlns:a="http://schemas.openxmlformats.org/drawingml/2006/main">
            <a:off x="10559143"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7" name="!!fdm-fdm-modulate-g2-r0-tick4">
            <a:extLst xmlns:a="http://schemas.openxmlformats.org/drawingml/2006/main">
              <a:ext uri="{FF2B5EF4-FFF2-40B4-BE49-F238E27FC236}">
                <a16:creationId xmlns:a16="http://schemas.microsoft.com/office/drawing/2014/main" id="{A40B0A4D-6529-4BAD-969A-F04D23A8849A}"/>
              </a:ext>
            </a:extLst>
          </p:cNvPr>
          <p:cNvSpPr>
            <a:spLocks xmlns:a="http://schemas.openxmlformats.org/drawingml/2006/main" noGrp="1"/>
          </p:cNvSpPr>
          <p:nvPr/>
        </p:nvSpPr>
        <p:spPr>
          <a:xfrm xmlns:a="http://schemas.openxmlformats.org/drawingml/2006/main">
            <a:off x="9069161"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8" name="!!fdm-fdm-modulate-g2-r0-tick5">
            <a:extLst xmlns:a="http://schemas.openxmlformats.org/drawingml/2006/main">
              <a:ext uri="{FF2B5EF4-FFF2-40B4-BE49-F238E27FC236}">
                <a16:creationId xmlns:a16="http://schemas.microsoft.com/office/drawing/2014/main" id="{B25E492E-1B37-4B0F-8F2F-B32F2F38637B}"/>
              </a:ext>
            </a:extLst>
          </p:cNvPr>
          <p:cNvSpPr>
            <a:spLocks xmlns:a="http://schemas.openxmlformats.org/drawingml/2006/main" noGrp="1"/>
          </p:cNvSpPr>
          <p:nvPr/>
        </p:nvSpPr>
        <p:spPr>
          <a:xfrm xmlns:a="http://schemas.openxmlformats.org/drawingml/2006/main">
            <a:off x="10857139"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9" name="!!fdm-fdm-modulate-g0-0-c">
            <a:extLst xmlns:a="http://schemas.openxmlformats.org/drawingml/2006/main">
              <a:ext uri="{FF2B5EF4-FFF2-40B4-BE49-F238E27FC236}">
                <a16:creationId xmlns:a16="http://schemas.microsoft.com/office/drawing/2014/main" id="{FAC1EE07-E555-47C7-B209-AC791731EEA6}"/>
              </a:ext>
            </a:extLst>
          </p:cNvPr>
          <p:cNvSpPr>
            <a:spLocks xmlns:a="http://schemas.openxmlformats.org/drawingml/2006/main" noGrp="1"/>
          </p:cNvSpPr>
          <p:nvPr/>
        </p:nvSpPr>
        <p:spPr>
          <a:xfrm xmlns:a="http://schemas.openxmlformats.org/drawingml/2006/main">
            <a:off x="1852885" y="2388870"/>
            <a:ext cx="218531" cy="440055"/>
          </a:xfrm>
          <a:custGeom xmlns:a="http://schemas.openxmlformats.org/drawingml/2006/main">
            <a:pathLst>
              <a:path w="218531" h="440055">
                <a:moveTo>
                  <a:pt x="0" y="440055"/>
                </a:moveTo>
                <a:lnTo>
                  <a:pt x="109265" y="0"/>
                </a:lnTo>
                <a:lnTo>
                  <a:pt x="218531" y="440055"/>
                </a:lnTo>
                <a:close/>
              </a:path>
            </a:pathLst>
          </a:custGeom>
          <a:solidFill xmlns:a="http://schemas.openxmlformats.org/drawingml/2006/main">
            <a:srgbClr val="AAAAAA"/>
          </a:solidFill>
          <a:ln xmlns:a="http://schemas.openxmlformats.org/drawingml/2006/main" w="10478">
            <a:solidFill>
              <a:srgbClr val="202020"/>
            </a:solidFill>
          </a:ln>
        </p:spPr>
      </p:sp>
      <p:sp>
        <p:nvSpPr>
          <p:cNvPr id="40" name="!!fdm-fdm-modulate-g0-1-c">
            <a:extLst xmlns:a="http://schemas.openxmlformats.org/drawingml/2006/main">
              <a:ext uri="{FF2B5EF4-FFF2-40B4-BE49-F238E27FC236}">
                <a16:creationId xmlns:a16="http://schemas.microsoft.com/office/drawing/2014/main" id="{CCC022CA-43D9-4FDC-BFA8-89FE969C1824}"/>
              </a:ext>
            </a:extLst>
          </p:cNvPr>
          <p:cNvSpPr>
            <a:spLocks xmlns:a="http://schemas.openxmlformats.org/drawingml/2006/main" noGrp="1"/>
          </p:cNvSpPr>
          <p:nvPr/>
        </p:nvSpPr>
        <p:spPr>
          <a:xfrm xmlns:a="http://schemas.openxmlformats.org/drawingml/2006/main">
            <a:off x="1852885" y="3080385"/>
            <a:ext cx="218531" cy="586740"/>
          </a:xfrm>
          <a:custGeom xmlns:a="http://schemas.openxmlformats.org/drawingml/2006/main">
            <a:pathLst>
              <a:path w="218531" h="586740">
                <a:moveTo>
                  <a:pt x="0" y="586740"/>
                </a:moveTo>
                <a:lnTo>
                  <a:pt x="109265" y="0"/>
                </a:lnTo>
                <a:lnTo>
                  <a:pt x="218531" y="586740"/>
                </a:lnTo>
                <a:close/>
              </a:path>
            </a:pathLst>
          </a:custGeom>
          <a:solidFill xmlns:a="http://schemas.openxmlformats.org/drawingml/2006/main">
            <a:srgbClr val="333333"/>
          </a:solidFill>
          <a:ln xmlns:a="http://schemas.openxmlformats.org/drawingml/2006/main" w="10478">
            <a:solidFill>
              <a:srgbClr val="202020"/>
            </a:solidFill>
          </a:ln>
        </p:spPr>
      </p:sp>
      <p:sp>
        <p:nvSpPr>
          <p:cNvPr id="41" name="!!fdm-fdm-modulate-g0-2-c">
            <a:extLst xmlns:a="http://schemas.openxmlformats.org/drawingml/2006/main">
              <a:ext uri="{FF2B5EF4-FFF2-40B4-BE49-F238E27FC236}">
                <a16:creationId xmlns:a16="http://schemas.microsoft.com/office/drawing/2014/main" id="{B03A2083-7A59-4D45-A294-28BAEC54DCE2}"/>
              </a:ext>
            </a:extLst>
          </p:cNvPr>
          <p:cNvSpPr>
            <a:spLocks xmlns:a="http://schemas.openxmlformats.org/drawingml/2006/main" noGrp="1"/>
          </p:cNvSpPr>
          <p:nvPr/>
        </p:nvSpPr>
        <p:spPr>
          <a:xfrm xmlns:a="http://schemas.openxmlformats.org/drawingml/2006/main">
            <a:off x="1852885" y="4128135"/>
            <a:ext cx="218531" cy="377190"/>
          </a:xfrm>
          <a:custGeom xmlns:a="http://schemas.openxmlformats.org/drawingml/2006/main">
            <a:pathLst>
              <a:path w="218531" h="377190">
                <a:moveTo>
                  <a:pt x="0" y="377190"/>
                </a:moveTo>
                <a:lnTo>
                  <a:pt x="109265" y="0"/>
                </a:lnTo>
                <a:lnTo>
                  <a:pt x="218531" y="377190"/>
                </a:lnTo>
                <a:close/>
              </a:path>
            </a:pathLst>
          </a:custGeom>
          <a:solidFill xmlns:a="http://schemas.openxmlformats.org/drawingml/2006/main">
            <a:srgbClr val="CCCCCC"/>
          </a:solidFill>
          <a:ln xmlns:a="http://schemas.openxmlformats.org/drawingml/2006/main" w="10478">
            <a:solidFill>
              <a:srgbClr val="202020"/>
            </a:solidFill>
          </a:ln>
        </p:spPr>
      </p:sp>
      <p:sp>
        <p:nvSpPr>
          <p:cNvPr id="42" name="!!fdm-fdm-modulate-arrow-line">
            <a:extLst xmlns:a="http://schemas.openxmlformats.org/drawingml/2006/main">
              <a:ext uri="{FF2B5EF4-FFF2-40B4-BE49-F238E27FC236}">
                <a16:creationId xmlns:a16="http://schemas.microsoft.com/office/drawing/2014/main" id="{B85A10A4-8A60-464F-8970-D133745222EF}"/>
              </a:ext>
            </a:extLst>
          </p:cNvPr>
          <p:cNvSpPr>
            <a:spLocks xmlns:a="http://schemas.openxmlformats.org/drawingml/2006/main" noGrp="1"/>
          </p:cNvSpPr>
          <p:nvPr/>
        </p:nvSpPr>
        <p:spPr>
          <a:xfrm xmlns:a="http://schemas.openxmlformats.org/drawingml/2006/main">
            <a:off x="3581400" y="36671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3" name="!!fdm-fdm-modulate-arrow-head">
            <a:extLst xmlns:a="http://schemas.openxmlformats.org/drawingml/2006/main">
              <a:ext uri="{FF2B5EF4-FFF2-40B4-BE49-F238E27FC236}">
                <a16:creationId xmlns:a16="http://schemas.microsoft.com/office/drawing/2014/main" id="{77EB3AE9-C25C-494F-AA6F-A2C5577D0F21}"/>
              </a:ext>
            </a:extLst>
          </p:cNvPr>
          <p:cNvSpPr>
            <a:spLocks xmlns:a="http://schemas.openxmlformats.org/drawingml/2006/main" noGrp="1"/>
          </p:cNvSpPr>
          <p:nvPr/>
        </p:nvSpPr>
        <p:spPr>
          <a:xfrm xmlns:a="http://schemas.openxmlformats.org/drawingml/2006/main" rot="5400000">
            <a:off x="4229100" y="3619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4" name="!!fdm-fdm-modulate-label">
            <a:extLst xmlns:a="http://schemas.openxmlformats.org/drawingml/2006/main">
              <a:ext uri="{FF2B5EF4-FFF2-40B4-BE49-F238E27FC236}">
                <a16:creationId xmlns:a16="http://schemas.microsoft.com/office/drawing/2014/main" id="{4D0E63D7-B05B-4BE6-8028-99557D3AF3F0}"/>
              </a:ext>
            </a:extLst>
          </p:cNvPr>
          <p:cNvSpPr>
            <a:spLocks xmlns:a="http://schemas.openxmlformats.org/drawingml/2006/main" noGrp="1"/>
          </p:cNvSpPr>
          <p:nvPr/>
        </p:nvSpPr>
        <p:spPr>
          <a:xfrm xmlns:a="http://schemas.openxmlformats.org/drawingml/2006/main">
            <a:off x="3057525" y="33051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Modulate</a:t>
            </a:r>
          </a:p>
        </p:txBody>
      </p:sp>
      <p:sp>
        <p:nvSpPr>
          <p:cNvPr id="45" name="!!fdm-fdm-modulate-g1-0-bn">
            <a:extLst xmlns:a="http://schemas.openxmlformats.org/drawingml/2006/main">
              <a:ext uri="{FF2B5EF4-FFF2-40B4-BE49-F238E27FC236}">
                <a16:creationId xmlns:a16="http://schemas.microsoft.com/office/drawing/2014/main" id="{F3E357B9-524E-4AF0-80D9-52551D2FABED}"/>
              </a:ext>
            </a:extLst>
          </p:cNvPr>
          <p:cNvSpPr>
            <a:spLocks xmlns:a="http://schemas.openxmlformats.org/drawingml/2006/main" noGrp="1"/>
          </p:cNvSpPr>
          <p:nvPr/>
        </p:nvSpPr>
        <p:spPr>
          <a:xfrm xmlns:a="http://schemas.openxmlformats.org/drawingml/2006/main">
            <a:off x="5555388" y="2608898"/>
            <a:ext cx="218531" cy="220027"/>
          </a:xfrm>
          <a:custGeom xmlns:a="http://schemas.openxmlformats.org/drawingml/2006/main">
            <a:pathLst>
              <a:path w="218531" h="220027">
                <a:moveTo>
                  <a:pt x="0" y="220027"/>
                </a:moveTo>
                <a:lnTo>
                  <a:pt x="109265" y="0"/>
                </a:lnTo>
                <a:lnTo>
                  <a:pt x="218531" y="220027"/>
                </a:lnTo>
                <a:close/>
              </a:path>
            </a:pathLst>
          </a:custGeom>
          <a:solidFill xmlns:a="http://schemas.openxmlformats.org/drawingml/2006/main">
            <a:srgbClr val="AAAAAA"/>
          </a:solidFill>
          <a:ln xmlns:a="http://schemas.openxmlformats.org/drawingml/2006/main" w="10478">
            <a:solidFill>
              <a:srgbClr val="202020"/>
            </a:solidFill>
          </a:ln>
        </p:spPr>
      </p:sp>
      <p:sp>
        <p:nvSpPr>
          <p:cNvPr id="46" name="!!fdm-fdm-modulate-g1-0-bp">
            <a:extLst xmlns:a="http://schemas.openxmlformats.org/drawingml/2006/main">
              <a:ext uri="{FF2B5EF4-FFF2-40B4-BE49-F238E27FC236}">
                <a16:creationId xmlns:a16="http://schemas.microsoft.com/office/drawing/2014/main" id="{A56BE402-D7C7-47D4-907C-BE56462AFE6F}"/>
              </a:ext>
            </a:extLst>
          </p:cNvPr>
          <p:cNvSpPr>
            <a:spLocks xmlns:a="http://schemas.openxmlformats.org/drawingml/2006/main" noGrp="1"/>
          </p:cNvSpPr>
          <p:nvPr/>
        </p:nvSpPr>
        <p:spPr>
          <a:xfrm xmlns:a="http://schemas.openxmlformats.org/drawingml/2006/main">
            <a:off x="6151381" y="2608898"/>
            <a:ext cx="218531" cy="220027"/>
          </a:xfrm>
          <a:custGeom xmlns:a="http://schemas.openxmlformats.org/drawingml/2006/main">
            <a:pathLst>
              <a:path w="218531" h="220027">
                <a:moveTo>
                  <a:pt x="0" y="220027"/>
                </a:moveTo>
                <a:lnTo>
                  <a:pt x="109265" y="0"/>
                </a:lnTo>
                <a:lnTo>
                  <a:pt x="218531" y="220027"/>
                </a:lnTo>
                <a:close/>
              </a:path>
            </a:pathLst>
          </a:custGeom>
          <a:solidFill xmlns:a="http://schemas.openxmlformats.org/drawingml/2006/main">
            <a:srgbClr val="AAAAAA"/>
          </a:solidFill>
          <a:ln xmlns:a="http://schemas.openxmlformats.org/drawingml/2006/main" w="10478">
            <a:solidFill>
              <a:srgbClr val="202020"/>
            </a:solidFill>
          </a:ln>
        </p:spPr>
      </p:sp>
      <p:sp>
        <p:nvSpPr>
          <p:cNvPr id="47" name="!!fdm-fdm-modulate-g1-1-bn">
            <a:extLst xmlns:a="http://schemas.openxmlformats.org/drawingml/2006/main">
              <a:ext uri="{FF2B5EF4-FFF2-40B4-BE49-F238E27FC236}">
                <a16:creationId xmlns:a16="http://schemas.microsoft.com/office/drawing/2014/main" id="{4165109F-B93A-40CF-AC8F-293A55B3CC8F}"/>
              </a:ext>
            </a:extLst>
          </p:cNvPr>
          <p:cNvSpPr>
            <a:spLocks xmlns:a="http://schemas.openxmlformats.org/drawingml/2006/main" noGrp="1"/>
          </p:cNvSpPr>
          <p:nvPr/>
        </p:nvSpPr>
        <p:spPr>
          <a:xfrm xmlns:a="http://schemas.openxmlformats.org/drawingml/2006/main">
            <a:off x="5257392" y="3373755"/>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333333"/>
          </a:solidFill>
          <a:ln xmlns:a="http://schemas.openxmlformats.org/drawingml/2006/main" w="10478">
            <a:solidFill>
              <a:srgbClr val="202020"/>
            </a:solidFill>
          </a:ln>
        </p:spPr>
      </p:sp>
      <p:sp>
        <p:nvSpPr>
          <p:cNvPr id="48" name="!!fdm-fdm-modulate-g1-1-bp">
            <a:extLst xmlns:a="http://schemas.openxmlformats.org/drawingml/2006/main">
              <a:ext uri="{FF2B5EF4-FFF2-40B4-BE49-F238E27FC236}">
                <a16:creationId xmlns:a16="http://schemas.microsoft.com/office/drawing/2014/main" id="{FA0156AD-711A-4203-9858-345DF0CEF1F3}"/>
              </a:ext>
            </a:extLst>
          </p:cNvPr>
          <p:cNvSpPr>
            <a:spLocks xmlns:a="http://schemas.openxmlformats.org/drawingml/2006/main" noGrp="1"/>
          </p:cNvSpPr>
          <p:nvPr/>
        </p:nvSpPr>
        <p:spPr>
          <a:xfrm xmlns:a="http://schemas.openxmlformats.org/drawingml/2006/main">
            <a:off x="6449378" y="3373755"/>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333333"/>
          </a:solidFill>
          <a:ln xmlns:a="http://schemas.openxmlformats.org/drawingml/2006/main" w="10478">
            <a:solidFill>
              <a:srgbClr val="202020"/>
            </a:solidFill>
          </a:ln>
        </p:spPr>
      </p:sp>
      <p:sp>
        <p:nvSpPr>
          <p:cNvPr id="49" name="!!fdm-fdm-modulate-g1-2-bn">
            <a:extLst xmlns:a="http://schemas.openxmlformats.org/drawingml/2006/main">
              <a:ext uri="{FF2B5EF4-FFF2-40B4-BE49-F238E27FC236}">
                <a16:creationId xmlns:a16="http://schemas.microsoft.com/office/drawing/2014/main" id="{8D669533-BF70-4776-A96A-526B449E297B}"/>
              </a:ext>
            </a:extLst>
          </p:cNvPr>
          <p:cNvSpPr>
            <a:spLocks xmlns:a="http://schemas.openxmlformats.org/drawingml/2006/main" noGrp="1"/>
          </p:cNvSpPr>
          <p:nvPr/>
        </p:nvSpPr>
        <p:spPr>
          <a:xfrm xmlns:a="http://schemas.openxmlformats.org/drawingml/2006/main">
            <a:off x="4959395" y="4316730"/>
            <a:ext cx="218531" cy="188595"/>
          </a:xfrm>
          <a:custGeom xmlns:a="http://schemas.openxmlformats.org/drawingml/2006/main">
            <a:pathLst>
              <a:path w="218531" h="188595">
                <a:moveTo>
                  <a:pt x="0" y="188595"/>
                </a:moveTo>
                <a:lnTo>
                  <a:pt x="109265" y="0"/>
                </a:lnTo>
                <a:lnTo>
                  <a:pt x="218531" y="188595"/>
                </a:lnTo>
                <a:close/>
              </a:path>
            </a:pathLst>
          </a:custGeom>
          <a:solidFill xmlns:a="http://schemas.openxmlformats.org/drawingml/2006/main">
            <a:srgbClr val="CCCCCC"/>
          </a:solidFill>
          <a:ln xmlns:a="http://schemas.openxmlformats.org/drawingml/2006/main" w="10478">
            <a:solidFill>
              <a:srgbClr val="202020"/>
            </a:solidFill>
          </a:ln>
        </p:spPr>
      </p:sp>
      <p:sp>
        <p:nvSpPr>
          <p:cNvPr id="50" name="!!fdm-fdm-modulate-g1-2-bp">
            <a:extLst xmlns:a="http://schemas.openxmlformats.org/drawingml/2006/main">
              <a:ext uri="{FF2B5EF4-FFF2-40B4-BE49-F238E27FC236}">
                <a16:creationId xmlns:a16="http://schemas.microsoft.com/office/drawing/2014/main" id="{BFE70EF9-F18B-4FB8-8526-017CC0EE5DF5}"/>
              </a:ext>
            </a:extLst>
          </p:cNvPr>
          <p:cNvSpPr>
            <a:spLocks xmlns:a="http://schemas.openxmlformats.org/drawingml/2006/main" noGrp="1"/>
          </p:cNvSpPr>
          <p:nvPr/>
        </p:nvSpPr>
        <p:spPr>
          <a:xfrm xmlns:a="http://schemas.openxmlformats.org/drawingml/2006/main">
            <a:off x="6747374" y="4316730"/>
            <a:ext cx="218531" cy="188595"/>
          </a:xfrm>
          <a:custGeom xmlns:a="http://schemas.openxmlformats.org/drawingml/2006/main">
            <a:pathLst>
              <a:path w="218531" h="188595">
                <a:moveTo>
                  <a:pt x="0" y="188595"/>
                </a:moveTo>
                <a:lnTo>
                  <a:pt x="109265" y="0"/>
                </a:lnTo>
                <a:lnTo>
                  <a:pt x="218531" y="188595"/>
                </a:lnTo>
                <a:close/>
              </a:path>
            </a:pathLst>
          </a:custGeom>
          <a:solidFill xmlns:a="http://schemas.openxmlformats.org/drawingml/2006/main">
            <a:srgbClr val="CCCCCC"/>
          </a:solidFill>
          <a:ln xmlns:a="http://schemas.openxmlformats.org/drawingml/2006/main" w="10478">
            <a:solidFill>
              <a:srgbClr val="202020"/>
            </a:solidFill>
          </a:ln>
        </p:spPr>
      </p:sp>
      <p:sp>
        <p:nvSpPr>
          <p:cNvPr id="51" name="!!fdm-fdm-add-arrow-line">
            <a:extLst xmlns:a="http://schemas.openxmlformats.org/drawingml/2006/main">
              <a:ext uri="{FF2B5EF4-FFF2-40B4-BE49-F238E27FC236}">
                <a16:creationId xmlns:a16="http://schemas.microsoft.com/office/drawing/2014/main" id="{D4A34D35-E31E-4D35-BC4D-F90501564B08}"/>
              </a:ext>
            </a:extLst>
          </p:cNvPr>
          <p:cNvSpPr>
            <a:spLocks xmlns:a="http://schemas.openxmlformats.org/drawingml/2006/main" noGrp="1"/>
          </p:cNvSpPr>
          <p:nvPr/>
        </p:nvSpPr>
        <p:spPr>
          <a:xfrm xmlns:a="http://schemas.openxmlformats.org/drawingml/2006/main">
            <a:off x="7581900" y="36671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2" name="!!fdm-fdm-add-arrow-head">
            <a:extLst xmlns:a="http://schemas.openxmlformats.org/drawingml/2006/main">
              <a:ext uri="{FF2B5EF4-FFF2-40B4-BE49-F238E27FC236}">
                <a16:creationId xmlns:a16="http://schemas.microsoft.com/office/drawing/2014/main" id="{7E19B6FB-03F8-44FA-8B42-024ABDF230F7}"/>
              </a:ext>
            </a:extLst>
          </p:cNvPr>
          <p:cNvSpPr>
            <a:spLocks xmlns:a="http://schemas.openxmlformats.org/drawingml/2006/main" noGrp="1"/>
          </p:cNvSpPr>
          <p:nvPr/>
        </p:nvSpPr>
        <p:spPr>
          <a:xfrm xmlns:a="http://schemas.openxmlformats.org/drawingml/2006/main" rot="5400000">
            <a:off x="8229600" y="3619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3" name="!!fdm-fdm-modulate-g2-b0n">
            <a:extLst xmlns:a="http://schemas.openxmlformats.org/drawingml/2006/main">
              <a:ext uri="{FF2B5EF4-FFF2-40B4-BE49-F238E27FC236}">
                <a16:creationId xmlns:a16="http://schemas.microsoft.com/office/drawing/2014/main" id="{1B619B26-38FF-46FA-825B-4D4A892BA777}"/>
              </a:ext>
            </a:extLst>
          </p:cNvPr>
          <p:cNvSpPr>
            <a:spLocks xmlns:a="http://schemas.openxmlformats.org/drawingml/2006/main" noGrp="1"/>
          </p:cNvSpPr>
          <p:nvPr/>
        </p:nvSpPr>
        <p:spPr>
          <a:xfrm xmlns:a="http://schemas.openxmlformats.org/drawingml/2006/main">
            <a:off x="9555888" y="3589973"/>
            <a:ext cx="218531" cy="220028"/>
          </a:xfrm>
          <a:custGeom xmlns:a="http://schemas.openxmlformats.org/drawingml/2006/main">
            <a:pathLst>
              <a:path w="218531" h="220028">
                <a:moveTo>
                  <a:pt x="0" y="220028"/>
                </a:moveTo>
                <a:lnTo>
                  <a:pt x="109265" y="0"/>
                </a:lnTo>
                <a:lnTo>
                  <a:pt x="218531" y="220028"/>
                </a:lnTo>
                <a:close/>
              </a:path>
            </a:pathLst>
          </a:custGeom>
          <a:solidFill xmlns:a="http://schemas.openxmlformats.org/drawingml/2006/main">
            <a:srgbClr val="AAAAAA"/>
          </a:solidFill>
          <a:ln xmlns:a="http://schemas.openxmlformats.org/drawingml/2006/main" w="10478">
            <a:solidFill>
              <a:srgbClr val="202020"/>
            </a:solidFill>
          </a:ln>
        </p:spPr>
      </p:sp>
      <p:sp>
        <p:nvSpPr>
          <p:cNvPr id="54" name="!!fdm-fdm-modulate-g2-b0p">
            <a:extLst xmlns:a="http://schemas.openxmlformats.org/drawingml/2006/main">
              <a:ext uri="{FF2B5EF4-FFF2-40B4-BE49-F238E27FC236}">
                <a16:creationId xmlns:a16="http://schemas.microsoft.com/office/drawing/2014/main" id="{1153ADF1-2F60-4C6E-A2C2-8BE588BD1045}"/>
              </a:ext>
            </a:extLst>
          </p:cNvPr>
          <p:cNvSpPr>
            <a:spLocks xmlns:a="http://schemas.openxmlformats.org/drawingml/2006/main" noGrp="1"/>
          </p:cNvSpPr>
          <p:nvPr/>
        </p:nvSpPr>
        <p:spPr>
          <a:xfrm xmlns:a="http://schemas.openxmlformats.org/drawingml/2006/main">
            <a:off x="10151881" y="3589973"/>
            <a:ext cx="218531" cy="220028"/>
          </a:xfrm>
          <a:custGeom xmlns:a="http://schemas.openxmlformats.org/drawingml/2006/main">
            <a:pathLst>
              <a:path w="218531" h="220028">
                <a:moveTo>
                  <a:pt x="0" y="220028"/>
                </a:moveTo>
                <a:lnTo>
                  <a:pt x="109265" y="0"/>
                </a:lnTo>
                <a:lnTo>
                  <a:pt x="218531" y="220028"/>
                </a:lnTo>
                <a:close/>
              </a:path>
            </a:pathLst>
          </a:custGeom>
          <a:solidFill xmlns:a="http://schemas.openxmlformats.org/drawingml/2006/main">
            <a:srgbClr val="AAAAAA"/>
          </a:solidFill>
          <a:ln xmlns:a="http://schemas.openxmlformats.org/drawingml/2006/main" w="10478">
            <a:solidFill>
              <a:srgbClr val="202020"/>
            </a:solidFill>
          </a:ln>
        </p:spPr>
      </p:sp>
      <p:sp>
        <p:nvSpPr>
          <p:cNvPr id="55" name="!!fdm-fdm-modulate-g2-b1n">
            <a:extLst xmlns:a="http://schemas.openxmlformats.org/drawingml/2006/main">
              <a:ext uri="{FF2B5EF4-FFF2-40B4-BE49-F238E27FC236}">
                <a16:creationId xmlns:a16="http://schemas.microsoft.com/office/drawing/2014/main" id="{193FCCB9-6DD3-4C60-AF51-FD8AE32BD160}"/>
              </a:ext>
            </a:extLst>
          </p:cNvPr>
          <p:cNvSpPr>
            <a:spLocks xmlns:a="http://schemas.openxmlformats.org/drawingml/2006/main" noGrp="1"/>
          </p:cNvSpPr>
          <p:nvPr/>
        </p:nvSpPr>
        <p:spPr>
          <a:xfrm xmlns:a="http://schemas.openxmlformats.org/drawingml/2006/main">
            <a:off x="9257892" y="3516630"/>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333333"/>
          </a:solidFill>
          <a:ln xmlns:a="http://schemas.openxmlformats.org/drawingml/2006/main" w="10478">
            <a:solidFill>
              <a:srgbClr val="202020"/>
            </a:solidFill>
          </a:ln>
        </p:spPr>
      </p:sp>
      <p:sp>
        <p:nvSpPr>
          <p:cNvPr id="56" name="!!fdm-fdm-modulate-g2-b1p">
            <a:extLst xmlns:a="http://schemas.openxmlformats.org/drawingml/2006/main">
              <a:ext uri="{FF2B5EF4-FFF2-40B4-BE49-F238E27FC236}">
                <a16:creationId xmlns:a16="http://schemas.microsoft.com/office/drawing/2014/main" id="{E3B65713-AE12-46B1-B43C-0C2CED3DAD1C}"/>
              </a:ext>
            </a:extLst>
          </p:cNvPr>
          <p:cNvSpPr>
            <a:spLocks xmlns:a="http://schemas.openxmlformats.org/drawingml/2006/main" noGrp="1"/>
          </p:cNvSpPr>
          <p:nvPr/>
        </p:nvSpPr>
        <p:spPr>
          <a:xfrm xmlns:a="http://schemas.openxmlformats.org/drawingml/2006/main">
            <a:off x="10449878" y="3516630"/>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333333"/>
          </a:solidFill>
          <a:ln xmlns:a="http://schemas.openxmlformats.org/drawingml/2006/main" w="10478">
            <a:solidFill>
              <a:srgbClr val="202020"/>
            </a:solidFill>
          </a:ln>
        </p:spPr>
      </p:sp>
      <p:sp>
        <p:nvSpPr>
          <p:cNvPr id="57" name="!!fdm-fdm-modulate-g2-b2n">
            <a:extLst xmlns:a="http://schemas.openxmlformats.org/drawingml/2006/main">
              <a:ext uri="{FF2B5EF4-FFF2-40B4-BE49-F238E27FC236}">
                <a16:creationId xmlns:a16="http://schemas.microsoft.com/office/drawing/2014/main" id="{EDA7556C-3EC2-4ABA-A464-B8D464405C72}"/>
              </a:ext>
            </a:extLst>
          </p:cNvPr>
          <p:cNvSpPr>
            <a:spLocks xmlns:a="http://schemas.openxmlformats.org/drawingml/2006/main" noGrp="1"/>
          </p:cNvSpPr>
          <p:nvPr/>
        </p:nvSpPr>
        <p:spPr>
          <a:xfrm xmlns:a="http://schemas.openxmlformats.org/drawingml/2006/main">
            <a:off x="8959895" y="3621405"/>
            <a:ext cx="218531" cy="188595"/>
          </a:xfrm>
          <a:custGeom xmlns:a="http://schemas.openxmlformats.org/drawingml/2006/main">
            <a:pathLst>
              <a:path w="218531" h="188595">
                <a:moveTo>
                  <a:pt x="0" y="188595"/>
                </a:moveTo>
                <a:lnTo>
                  <a:pt x="109265" y="0"/>
                </a:lnTo>
                <a:lnTo>
                  <a:pt x="218531" y="188595"/>
                </a:lnTo>
                <a:close/>
              </a:path>
            </a:pathLst>
          </a:custGeom>
          <a:solidFill xmlns:a="http://schemas.openxmlformats.org/drawingml/2006/main">
            <a:srgbClr val="CCCCCC"/>
          </a:solidFill>
          <a:ln xmlns:a="http://schemas.openxmlformats.org/drawingml/2006/main" w="10478">
            <a:solidFill>
              <a:srgbClr val="202020"/>
            </a:solidFill>
          </a:ln>
        </p:spPr>
      </p:sp>
      <p:sp>
        <p:nvSpPr>
          <p:cNvPr id="58" name="!!fdm-fdm-modulate-g2-b2p">
            <a:extLst xmlns:a="http://schemas.openxmlformats.org/drawingml/2006/main">
              <a:ext uri="{FF2B5EF4-FFF2-40B4-BE49-F238E27FC236}">
                <a16:creationId xmlns:a16="http://schemas.microsoft.com/office/drawing/2014/main" id="{B62BCDD4-5420-41D9-9FC8-A81068B21C88}"/>
              </a:ext>
            </a:extLst>
          </p:cNvPr>
          <p:cNvSpPr>
            <a:spLocks xmlns:a="http://schemas.openxmlformats.org/drawingml/2006/main" noGrp="1"/>
          </p:cNvSpPr>
          <p:nvPr/>
        </p:nvSpPr>
        <p:spPr>
          <a:xfrm xmlns:a="http://schemas.openxmlformats.org/drawingml/2006/main">
            <a:off x="10747874" y="3621405"/>
            <a:ext cx="218531" cy="188595"/>
          </a:xfrm>
          <a:custGeom xmlns:a="http://schemas.openxmlformats.org/drawingml/2006/main">
            <a:pathLst>
              <a:path w="218531" h="188595">
                <a:moveTo>
                  <a:pt x="0" y="188595"/>
                </a:moveTo>
                <a:lnTo>
                  <a:pt x="109265" y="0"/>
                </a:lnTo>
                <a:lnTo>
                  <a:pt x="218531" y="188595"/>
                </a:lnTo>
                <a:close/>
              </a:path>
            </a:pathLst>
          </a:custGeom>
          <a:solidFill xmlns:a="http://schemas.openxmlformats.org/drawingml/2006/main">
            <a:srgbClr val="CCCCCC"/>
          </a:solidFill>
          <a:ln xmlns:a="http://schemas.openxmlformats.org/drawingml/2006/main" w="10478">
            <a:solidFill>
              <a:srgbClr val="202020"/>
            </a:solidFill>
          </a:ln>
        </p:spPr>
      </p:sp>
      <p:pic>
        <p:nvPicPr>
          <p:cNvPr id="156" name="!!fdm-route-m" descr="m_1,m_2,m_3">
            <ns0:hlinkClick xmlns:ns0="http://schemas.openxmlformats.org/drawingml/2006/main" xmlns:ns1="http://schemas.openxmlformats.org/officeDocument/2006/relationships" ns1:id="rIdmethods_Link2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3d12645efb6446a">
            <a:extLst>
              <a:ext uri="{96DAC541-7B7A-43D3-8B79-37D633B846F1}">
                <ns0:svgBlip xmlns:ns0="http://schemas.microsoft.com/office/drawing/2016/SVG/main" r:embed="rIdVectormf00065"/>
              </a:ext>
            </a:extLst>
          </a:blip>
          <a:stretch xmlns:a="http://schemas.openxmlformats.org/drawingml/2006/main"/>
        </p:blipFill>
        <p:spPr>
          <a:xfrm xmlns:a="http://schemas.openxmlformats.org/drawingml/2006/main">
            <a:off x="1714028" y="1273295"/>
            <a:ext cx="1810693" cy="215660"/>
          </a:xfrm>
          <a:prstGeom xmlns:a="http://schemas.openxmlformats.org/drawingml/2006/main" prst="rect">
            <a:avLst/>
          </a:prstGeom>
        </p:spPr>
      </p:pic>
      <p:pic>
        <p:nvPicPr>
          <p:cNvPr id="157" name="!!fdm-route-s" descr="s(t)">
            <ns0:hlinkClick xmlns:ns0="http://schemas.openxmlformats.org/drawingml/2006/main" xmlns:ns1="http://schemas.openxmlformats.org/officeDocument/2006/relationships" ns1:id="rIdmethods_Link2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9ac6b914377545da">
            <a:extLst>
              <a:ext uri="{96DAC541-7B7A-43D3-8B79-37D633B846F1}">
                <ns1:svgBlip xmlns:ns1="http://schemas.microsoft.com/office/drawing/2016/SVG/main" r:embed="rIdVectormf00066"/>
              </a:ext>
            </a:extLst>
          </a:blip>
          <a:stretch xmlns:a="http://schemas.openxmlformats.org/drawingml/2006/main"/>
        </p:blipFill>
        <p:spPr>
          <a:xfrm xmlns:a="http://schemas.openxmlformats.org/drawingml/2006/main">
            <a:off x="5736404" y="1181100"/>
            <a:ext cx="719191" cy="400050"/>
          </a:xfrm>
          <a:prstGeom xmlns:a="http://schemas.openxmlformats.org/drawingml/2006/main" prst="rect">
            <a:avLst/>
          </a:prstGeom>
        </p:spPr>
      </p:pic>
      <p:pic>
        <p:nvPicPr>
          <p:cNvPr id="158" name="!!fdm-route-restored" descr="m_2(t)">
            <ns0:hlinkClick xmlns:ns0="http://schemas.openxmlformats.org/drawingml/2006/main" xmlns:ns1="http://schemas.openxmlformats.org/officeDocument/2006/relationships" ns1:id="rIdmethods_Link2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94de5d50e9f4b90">
            <a:extLst>
              <a:ext uri="{96DAC541-7B7A-43D3-8B79-37D633B846F1}">
                <ns2:svgBlip xmlns:ns2="http://schemas.microsoft.com/office/drawing/2016/SVG/main" r:embed="rIdVectormf00067"/>
              </a:ext>
            </a:extLst>
          </a:blip>
          <a:stretch xmlns:a="http://schemas.openxmlformats.org/drawingml/2006/main"/>
        </p:blipFill>
        <p:spPr>
          <a:xfrm xmlns:a="http://schemas.openxmlformats.org/drawingml/2006/main">
            <a:off x="9012555" y="1181100"/>
            <a:ext cx="1120140" cy="400050"/>
          </a:xfrm>
          <a:prstGeom xmlns:a="http://schemas.openxmlformats.org/drawingml/2006/main" prst="rect">
            <a:avLst/>
          </a:prstGeom>
        </p:spPr>
      </p:pic>
      <p:pic>
        <p:nvPicPr>
          <p:cNvPr id="159" name="!!fdm-fdm-modulate-g0-r0-domain" descr="f"/>
          <p:cNvPicPr>
            <a:picLocks xmlns:a="http://schemas.openxmlformats.org/drawingml/2006/main" noChangeAspect="1"/>
          </p:cNvPicPr>
          <p:nvPr/>
        </p:nvPicPr>
        <p:blipFill>
          <a:blip xmlns:r="http://schemas.openxmlformats.org/officeDocument/2006/relationships" xmlns:a="http://schemas.openxmlformats.org/drawingml/2006/main" r:embed="Rd11ec4b836ca4d68">
            <a:extLst>
              <a:ext uri="{96DAC541-7B7A-43D3-8B79-37D633B846F1}">
                <ns3:svgBlip xmlns:ns3="http://schemas.microsoft.com/office/drawing/2016/SVG/main" r:embed="rIdVectormf00068"/>
              </a:ext>
            </a:extLst>
          </a:blip>
          <a:stretch xmlns:a="http://schemas.openxmlformats.org/drawingml/2006/main"/>
        </p:blipFill>
        <p:spPr>
          <a:xfrm xmlns:a="http://schemas.openxmlformats.org/drawingml/2006/main">
            <a:off x="3374873" y="2616518"/>
            <a:ext cx="79678" cy="120015"/>
          </a:xfrm>
          <a:prstGeom xmlns:a="http://schemas.openxmlformats.org/drawingml/2006/main" prst="rect">
            <a:avLst/>
          </a:prstGeom>
        </p:spPr>
      </p:pic>
      <p:pic>
        <p:nvPicPr>
          <p:cNvPr id="160" name="!!fdm-fdm-modulate-g0-r0-ticklabel0" descr="0"/>
          <p:cNvPicPr>
            <a:picLocks xmlns:a="http://schemas.openxmlformats.org/drawingml/2006/main" noChangeAspect="1"/>
          </p:cNvPicPr>
          <p:nvPr/>
        </p:nvPicPr>
        <p:blipFill>
          <a:blip xmlns:r="http://schemas.openxmlformats.org/officeDocument/2006/relationships" xmlns:a="http://schemas.openxmlformats.org/drawingml/2006/main" r:embed="R3d328c2a20a548da">
            <a:extLst>
              <a:ext uri="{96DAC541-7B7A-43D3-8B79-37D633B846F1}">
                <ns4:svgBlip xmlns:ns4="http://schemas.microsoft.com/office/drawing/2016/SVG/main" r:embed="rIdVectormf00069"/>
              </a:ext>
            </a:extLst>
          </a:blip>
          <a:stretch xmlns:a="http://schemas.openxmlformats.org/drawingml/2006/main"/>
        </p:blipFill>
        <p:spPr>
          <a:xfrm xmlns:a="http://schemas.openxmlformats.org/drawingml/2006/main">
            <a:off x="1916175" y="2967990"/>
            <a:ext cx="91951" cy="102870"/>
          </a:xfrm>
          <a:prstGeom xmlns:a="http://schemas.openxmlformats.org/drawingml/2006/main" prst="rect">
            <a:avLst/>
          </a:prstGeom>
        </p:spPr>
      </p:pic>
      <p:pic>
        <p:nvPicPr>
          <p:cNvPr id="161" name="!!fdm-fdm-modulate-g0-r0-label" descr="\textstyle M_1(f)"/>
          <p:cNvPicPr>
            <a:picLocks xmlns:a="http://schemas.openxmlformats.org/drawingml/2006/main" noChangeAspect="1"/>
          </p:cNvPicPr>
          <p:nvPr/>
        </p:nvPicPr>
        <p:blipFill>
          <a:blip xmlns:r="http://schemas.openxmlformats.org/officeDocument/2006/relationships" xmlns:a="http://schemas.openxmlformats.org/drawingml/2006/main" r:embed="R26d5fd1bac874a37">
            <a:extLst>
              <a:ext uri="{96DAC541-7B7A-43D3-8B79-37D633B846F1}">
                <ns5:svgBlip xmlns:ns5="http://schemas.microsoft.com/office/drawing/2016/SVG/main" r:embed="rIdVectormf00070"/>
              </a:ext>
            </a:extLst>
          </a:blip>
          <a:stretch xmlns:a="http://schemas.openxmlformats.org/drawingml/2006/main"/>
        </p:blipFill>
        <p:spPr>
          <a:xfrm xmlns:a="http://schemas.openxmlformats.org/drawingml/2006/main">
            <a:off x="571500" y="2268915"/>
            <a:ext cx="607695" cy="205621"/>
          </a:xfrm>
          <a:prstGeom xmlns:a="http://schemas.openxmlformats.org/drawingml/2006/main" prst="rect">
            <a:avLst/>
          </a:prstGeom>
        </p:spPr>
      </p:pic>
      <p:pic>
        <p:nvPicPr>
          <p:cNvPr id="162" name="!!fdm-fdm-modulate-g0-r1-domain" descr="f"/>
          <p:cNvPicPr>
            <a:picLocks xmlns:a="http://schemas.openxmlformats.org/drawingml/2006/main" noChangeAspect="1"/>
          </p:cNvPicPr>
          <p:nvPr/>
        </p:nvPicPr>
        <p:blipFill>
          <a:blip xmlns:r="http://schemas.openxmlformats.org/officeDocument/2006/relationships" xmlns:a="http://schemas.openxmlformats.org/drawingml/2006/main" r:embed="R8549d2fa755b4dac">
            <a:extLst>
              <a:ext uri="{96DAC541-7B7A-43D3-8B79-37D633B846F1}">
                <ns6:svgBlip xmlns:ns6="http://schemas.microsoft.com/office/drawing/2016/SVG/main" r:embed="rIdVectormf00071"/>
              </a:ext>
            </a:extLst>
          </a:blip>
          <a:stretch xmlns:a="http://schemas.openxmlformats.org/drawingml/2006/main"/>
        </p:blipFill>
        <p:spPr>
          <a:xfrm xmlns:a="http://schemas.openxmlformats.org/drawingml/2006/main">
            <a:off x="3374873" y="3454718"/>
            <a:ext cx="79678" cy="120015"/>
          </a:xfrm>
          <a:prstGeom xmlns:a="http://schemas.openxmlformats.org/drawingml/2006/main" prst="rect">
            <a:avLst/>
          </a:prstGeom>
        </p:spPr>
      </p:pic>
      <p:pic>
        <p:nvPicPr>
          <p:cNvPr id="163" name="!!fdm-fdm-modulate-g0-r1-ticklabel0" descr="0"/>
          <p:cNvPicPr>
            <a:picLocks xmlns:a="http://schemas.openxmlformats.org/drawingml/2006/main" noChangeAspect="1"/>
          </p:cNvPicPr>
          <p:nvPr/>
        </p:nvPicPr>
        <p:blipFill>
          <a:blip xmlns:r="http://schemas.openxmlformats.org/officeDocument/2006/relationships" xmlns:a="http://schemas.openxmlformats.org/drawingml/2006/main" r:embed="R2d49a8a6cfe5458d">
            <a:extLst>
              <a:ext uri="{96DAC541-7B7A-43D3-8B79-37D633B846F1}">
                <ns7:svgBlip xmlns:ns7="http://schemas.microsoft.com/office/drawing/2016/SVG/main" r:embed="rIdVectormf00072"/>
              </a:ext>
            </a:extLst>
          </a:blip>
          <a:stretch xmlns:a="http://schemas.openxmlformats.org/drawingml/2006/main"/>
        </p:blipFill>
        <p:spPr>
          <a:xfrm xmlns:a="http://schemas.openxmlformats.org/drawingml/2006/main">
            <a:off x="1916175" y="3806190"/>
            <a:ext cx="91951" cy="102870"/>
          </a:xfrm>
          <a:prstGeom xmlns:a="http://schemas.openxmlformats.org/drawingml/2006/main" prst="rect">
            <a:avLst/>
          </a:prstGeom>
        </p:spPr>
      </p:pic>
      <p:pic>
        <p:nvPicPr>
          <p:cNvPr id="164" name="!!fdm-fdm-modulate-g0-r1-label" descr="\textstyle M_2(f)"/>
          <p:cNvPicPr>
            <a:picLocks xmlns:a="http://schemas.openxmlformats.org/drawingml/2006/main" noChangeAspect="1"/>
          </p:cNvPicPr>
          <p:nvPr/>
        </p:nvPicPr>
        <p:blipFill>
          <a:blip xmlns:r="http://schemas.openxmlformats.org/officeDocument/2006/relationships" xmlns:a="http://schemas.openxmlformats.org/drawingml/2006/main" r:embed="Rf9cdd2b350b34d9b">
            <a:extLst>
              <a:ext uri="{96DAC541-7B7A-43D3-8B79-37D633B846F1}">
                <ns8:svgBlip xmlns:ns8="http://schemas.microsoft.com/office/drawing/2016/SVG/main" r:embed="rIdVectormf00073"/>
              </a:ext>
            </a:extLst>
          </a:blip>
          <a:stretch xmlns:a="http://schemas.openxmlformats.org/drawingml/2006/main"/>
        </p:blipFill>
        <p:spPr>
          <a:xfrm xmlns:a="http://schemas.openxmlformats.org/drawingml/2006/main">
            <a:off x="571500" y="3107115"/>
            <a:ext cx="607695" cy="205621"/>
          </a:xfrm>
          <a:prstGeom xmlns:a="http://schemas.openxmlformats.org/drawingml/2006/main" prst="rect">
            <a:avLst/>
          </a:prstGeom>
        </p:spPr>
      </p:pic>
      <p:pic>
        <p:nvPicPr>
          <p:cNvPr id="165" name="!!fdm-fdm-modulate-g0-r2-domain" descr="f"/>
          <p:cNvPicPr>
            <a:picLocks xmlns:a="http://schemas.openxmlformats.org/drawingml/2006/main" noChangeAspect="1"/>
          </p:cNvPicPr>
          <p:nvPr/>
        </p:nvPicPr>
        <p:blipFill>
          <a:blip xmlns:r="http://schemas.openxmlformats.org/officeDocument/2006/relationships" xmlns:a="http://schemas.openxmlformats.org/drawingml/2006/main" r:embed="R0e8783fba4ad46ff">
            <a:extLst>
              <a:ext uri="{96DAC541-7B7A-43D3-8B79-37D633B846F1}">
                <ns9:svgBlip xmlns:ns9="http://schemas.microsoft.com/office/drawing/2016/SVG/main" r:embed="rIdVectormf00074"/>
              </a:ext>
            </a:extLst>
          </a:blip>
          <a:stretch xmlns:a="http://schemas.openxmlformats.org/drawingml/2006/main"/>
        </p:blipFill>
        <p:spPr>
          <a:xfrm xmlns:a="http://schemas.openxmlformats.org/drawingml/2006/main">
            <a:off x="3374873" y="4292918"/>
            <a:ext cx="79678" cy="120015"/>
          </a:xfrm>
          <a:prstGeom xmlns:a="http://schemas.openxmlformats.org/drawingml/2006/main" prst="rect">
            <a:avLst/>
          </a:prstGeom>
        </p:spPr>
      </p:pic>
      <p:pic>
        <p:nvPicPr>
          <p:cNvPr id="166" name="!!fdm-fdm-modulate-g0-r2-ticklabel0" descr="0"/>
          <p:cNvPicPr>
            <a:picLocks xmlns:a="http://schemas.openxmlformats.org/drawingml/2006/main" noChangeAspect="1"/>
          </p:cNvPicPr>
          <p:nvPr/>
        </p:nvPicPr>
        <p:blipFill>
          <a:blip xmlns:r="http://schemas.openxmlformats.org/officeDocument/2006/relationships" xmlns:a="http://schemas.openxmlformats.org/drawingml/2006/main" r:embed="R04d05e3c8ae24c3f">
            <a:extLst>
              <a:ext uri="{96DAC541-7B7A-43D3-8B79-37D633B846F1}">
                <ns10:svgBlip xmlns:ns10="http://schemas.microsoft.com/office/drawing/2016/SVG/main" r:embed="rIdVectormf00075"/>
              </a:ext>
            </a:extLst>
          </a:blip>
          <a:stretch xmlns:a="http://schemas.openxmlformats.org/drawingml/2006/main"/>
        </p:blipFill>
        <p:spPr>
          <a:xfrm xmlns:a="http://schemas.openxmlformats.org/drawingml/2006/main">
            <a:off x="1916175" y="4644390"/>
            <a:ext cx="91951" cy="102870"/>
          </a:xfrm>
          <a:prstGeom xmlns:a="http://schemas.openxmlformats.org/drawingml/2006/main" prst="rect">
            <a:avLst/>
          </a:prstGeom>
        </p:spPr>
      </p:pic>
      <p:pic>
        <p:nvPicPr>
          <p:cNvPr id="167" name="!!fdm-fdm-modulate-g0-r2-label" descr="\textstyle M_3(f)"/>
          <p:cNvPicPr>
            <a:picLocks xmlns:a="http://schemas.openxmlformats.org/drawingml/2006/main" noChangeAspect="1"/>
          </p:cNvPicPr>
          <p:nvPr/>
        </p:nvPicPr>
        <p:blipFill>
          <a:blip xmlns:r="http://schemas.openxmlformats.org/officeDocument/2006/relationships" xmlns:a="http://schemas.openxmlformats.org/drawingml/2006/main" r:embed="R0eac63d45ac54862">
            <a:extLst>
              <a:ext uri="{96DAC541-7B7A-43D3-8B79-37D633B846F1}">
                <ns11:svgBlip xmlns:ns11="http://schemas.microsoft.com/office/drawing/2016/SVG/main" r:embed="rIdVectormf00076"/>
              </a:ext>
            </a:extLst>
          </a:blip>
          <a:stretch xmlns:a="http://schemas.openxmlformats.org/drawingml/2006/main"/>
        </p:blipFill>
        <p:spPr>
          <a:xfrm xmlns:a="http://schemas.openxmlformats.org/drawingml/2006/main">
            <a:off x="571500" y="3945315"/>
            <a:ext cx="607695" cy="205621"/>
          </a:xfrm>
          <a:prstGeom xmlns:a="http://schemas.openxmlformats.org/drawingml/2006/main" prst="rect">
            <a:avLst/>
          </a:prstGeom>
        </p:spPr>
      </p:pic>
      <p:pic>
        <p:nvPicPr>
          <p:cNvPr id="168" name="!!fdm-fdm-modulate-g1-r0-domain" descr="f"/>
          <p:cNvPicPr>
            <a:picLocks xmlns:a="http://schemas.openxmlformats.org/drawingml/2006/main" noChangeAspect="1"/>
          </p:cNvPicPr>
          <p:nvPr/>
        </p:nvPicPr>
        <p:blipFill>
          <a:blip xmlns:r="http://schemas.openxmlformats.org/officeDocument/2006/relationships" xmlns:a="http://schemas.openxmlformats.org/drawingml/2006/main" r:embed="R6cd492470588471b">
            <a:extLst>
              <a:ext uri="{96DAC541-7B7A-43D3-8B79-37D633B846F1}">
                <ns12:svgBlip xmlns:ns12="http://schemas.microsoft.com/office/drawing/2016/SVG/main" r:embed="rIdVectormf00077"/>
              </a:ext>
            </a:extLst>
          </a:blip>
          <a:stretch xmlns:a="http://schemas.openxmlformats.org/drawingml/2006/main"/>
        </p:blipFill>
        <p:spPr>
          <a:xfrm xmlns:a="http://schemas.openxmlformats.org/drawingml/2006/main">
            <a:off x="7375373" y="2616518"/>
            <a:ext cx="79678" cy="120015"/>
          </a:xfrm>
          <a:prstGeom xmlns:a="http://schemas.openxmlformats.org/drawingml/2006/main" prst="rect">
            <a:avLst/>
          </a:prstGeom>
        </p:spPr>
      </p:pic>
      <p:pic>
        <p:nvPicPr>
          <p:cNvPr id="169" name="!!fdm-fdm-modulate-g1-r0-ticklabel0" descr="-f_{c,1}"/>
          <p:cNvPicPr>
            <a:picLocks xmlns:a="http://schemas.openxmlformats.org/drawingml/2006/main" noChangeAspect="1"/>
          </p:cNvPicPr>
          <p:nvPr/>
        </p:nvPicPr>
        <p:blipFill>
          <a:blip xmlns:r="http://schemas.openxmlformats.org/officeDocument/2006/relationships" xmlns:a="http://schemas.openxmlformats.org/drawingml/2006/main" r:embed="R0f4bb3c95e0949d0">
            <a:extLst>
              <a:ext uri="{96DAC541-7B7A-43D3-8B79-37D633B846F1}">
                <ns13:svgBlip xmlns:ns13="http://schemas.microsoft.com/office/drawing/2016/SVG/main" r:embed="rIdVectormf00078"/>
              </a:ext>
            </a:extLst>
          </a:blip>
          <a:stretch xmlns:a="http://schemas.openxmlformats.org/drawingml/2006/main"/>
        </p:blipFill>
        <p:spPr>
          <a:xfrm xmlns:a="http://schemas.openxmlformats.org/drawingml/2006/main">
            <a:off x="5458914" y="2933700"/>
            <a:ext cx="411480" cy="171450"/>
          </a:xfrm>
          <a:prstGeom xmlns:a="http://schemas.openxmlformats.org/drawingml/2006/main" prst="rect">
            <a:avLst/>
          </a:prstGeom>
        </p:spPr>
      </p:pic>
      <p:pic>
        <p:nvPicPr>
          <p:cNvPr id="170" name="!!fdm-fdm-modulate-g1-r0-ticklabel1" descr="0"/>
          <p:cNvPicPr>
            <a:picLocks xmlns:a="http://schemas.openxmlformats.org/drawingml/2006/main" noChangeAspect="1"/>
          </p:cNvPicPr>
          <p:nvPr/>
        </p:nvPicPr>
        <p:blipFill>
          <a:blip xmlns:r="http://schemas.openxmlformats.org/officeDocument/2006/relationships" xmlns:a="http://schemas.openxmlformats.org/drawingml/2006/main" r:embed="Rf36a181762844865">
            <a:extLst>
              <a:ext uri="{96DAC541-7B7A-43D3-8B79-37D633B846F1}">
                <ns14:svgBlip xmlns:ns14="http://schemas.microsoft.com/office/drawing/2016/SVG/main" r:embed="rIdVectormf00079"/>
              </a:ext>
            </a:extLst>
          </a:blip>
          <a:stretch xmlns:a="http://schemas.openxmlformats.org/drawingml/2006/main"/>
        </p:blipFill>
        <p:spPr>
          <a:xfrm xmlns:a="http://schemas.openxmlformats.org/drawingml/2006/main">
            <a:off x="5916675" y="3168015"/>
            <a:ext cx="91951" cy="102870"/>
          </a:xfrm>
          <a:prstGeom xmlns:a="http://schemas.openxmlformats.org/drawingml/2006/main" prst="rect">
            <a:avLst/>
          </a:prstGeom>
        </p:spPr>
      </p:pic>
      <p:pic>
        <p:nvPicPr>
          <p:cNvPr id="171" name="!!fdm-fdm-modulate-g1-r0-ticklabel2" descr="f_{c,1}"/>
          <p:cNvPicPr>
            <a:picLocks xmlns:a="http://schemas.openxmlformats.org/drawingml/2006/main" noChangeAspect="1"/>
          </p:cNvPicPr>
          <p:nvPr/>
        </p:nvPicPr>
        <p:blipFill>
          <a:blip xmlns:r="http://schemas.openxmlformats.org/officeDocument/2006/relationships" xmlns:a="http://schemas.openxmlformats.org/drawingml/2006/main" r:embed="Rc7f388d4acbf4626">
            <a:extLst>
              <a:ext uri="{96DAC541-7B7A-43D3-8B79-37D633B846F1}">
                <ns15:svgBlip xmlns:ns15="http://schemas.microsoft.com/office/drawing/2016/SVG/main" r:embed="rIdVectormf00080"/>
              </a:ext>
            </a:extLst>
          </a:blip>
          <a:stretch xmlns:a="http://schemas.openxmlformats.org/drawingml/2006/main"/>
        </p:blipFill>
        <p:spPr>
          <a:xfrm xmlns:a="http://schemas.openxmlformats.org/drawingml/2006/main">
            <a:off x="6132460" y="2933700"/>
            <a:ext cx="256374" cy="171450"/>
          </a:xfrm>
          <a:prstGeom xmlns:a="http://schemas.openxmlformats.org/drawingml/2006/main" prst="rect">
            <a:avLst/>
          </a:prstGeom>
        </p:spPr>
      </p:pic>
      <p:pic>
        <p:nvPicPr>
          <p:cNvPr id="172" name="!!fdm-fdm-modulate-g1-r0-label" descr="\textstyle S_1(f)"/>
          <p:cNvPicPr>
            <a:picLocks xmlns:a="http://schemas.openxmlformats.org/drawingml/2006/main" noChangeAspect="1"/>
          </p:cNvPicPr>
          <p:nvPr/>
        </p:nvPicPr>
        <p:blipFill>
          <a:blip xmlns:r="http://schemas.openxmlformats.org/officeDocument/2006/relationships" xmlns:a="http://schemas.openxmlformats.org/drawingml/2006/main" r:embed="Rfacf1f86fb6147e2">
            <a:extLst>
              <a:ext uri="{96DAC541-7B7A-43D3-8B79-37D633B846F1}">
                <ns16:svgBlip xmlns:ns16="http://schemas.microsoft.com/office/drawing/2016/SVG/main" r:embed="rIdVectormf00081"/>
              </a:ext>
            </a:extLst>
          </a:blip>
          <a:stretch xmlns:a="http://schemas.openxmlformats.org/drawingml/2006/main"/>
        </p:blipFill>
        <p:spPr>
          <a:xfrm xmlns:a="http://schemas.openxmlformats.org/drawingml/2006/main">
            <a:off x="4572000" y="2266950"/>
            <a:ext cx="523875" cy="209550"/>
          </a:xfrm>
          <a:prstGeom xmlns:a="http://schemas.openxmlformats.org/drawingml/2006/main" prst="rect">
            <a:avLst/>
          </a:prstGeom>
        </p:spPr>
      </p:pic>
      <p:pic>
        <p:nvPicPr>
          <p:cNvPr id="173" name="!!fdm-fdm-modulate-g1-r1-domain" descr="f"/>
          <p:cNvPicPr>
            <a:picLocks xmlns:a="http://schemas.openxmlformats.org/drawingml/2006/main" noChangeAspect="1"/>
          </p:cNvPicPr>
          <p:nvPr/>
        </p:nvPicPr>
        <p:blipFill>
          <a:blip xmlns:r="http://schemas.openxmlformats.org/officeDocument/2006/relationships" xmlns:a="http://schemas.openxmlformats.org/drawingml/2006/main" r:embed="Rd1ea3f8e707c451a">
            <a:extLst>
              <a:ext uri="{96DAC541-7B7A-43D3-8B79-37D633B846F1}">
                <ns17:svgBlip xmlns:ns17="http://schemas.microsoft.com/office/drawing/2016/SVG/main" r:embed="rIdVectormf00082"/>
              </a:ext>
            </a:extLst>
          </a:blip>
          <a:stretch xmlns:a="http://schemas.openxmlformats.org/drawingml/2006/main"/>
        </p:blipFill>
        <p:spPr>
          <a:xfrm xmlns:a="http://schemas.openxmlformats.org/drawingml/2006/main">
            <a:off x="7375373" y="3454718"/>
            <a:ext cx="79678" cy="120015"/>
          </a:xfrm>
          <a:prstGeom xmlns:a="http://schemas.openxmlformats.org/drawingml/2006/main" prst="rect">
            <a:avLst/>
          </a:prstGeom>
        </p:spPr>
      </p:pic>
      <p:pic>
        <p:nvPicPr>
          <p:cNvPr id="174" name="!!fdm-fdm-modulate-g1-r1-ticklabel0" descr="-f_{c,2}"/>
          <p:cNvPicPr>
            <a:picLocks xmlns:a="http://schemas.openxmlformats.org/drawingml/2006/main" noChangeAspect="1"/>
          </p:cNvPicPr>
          <p:nvPr/>
        </p:nvPicPr>
        <p:blipFill>
          <a:blip xmlns:r="http://schemas.openxmlformats.org/officeDocument/2006/relationships" xmlns:a="http://schemas.openxmlformats.org/drawingml/2006/main" r:embed="R07a6b015401b45cd">
            <a:extLst>
              <a:ext uri="{96DAC541-7B7A-43D3-8B79-37D633B846F1}">
                <ns18:svgBlip xmlns:ns18="http://schemas.microsoft.com/office/drawing/2016/SVG/main" r:embed="rIdVectormf00083"/>
              </a:ext>
            </a:extLst>
          </a:blip>
          <a:stretch xmlns:a="http://schemas.openxmlformats.org/drawingml/2006/main"/>
        </p:blipFill>
        <p:spPr>
          <a:xfrm xmlns:a="http://schemas.openxmlformats.org/drawingml/2006/main">
            <a:off x="5160917" y="3771900"/>
            <a:ext cx="411480" cy="171450"/>
          </a:xfrm>
          <a:prstGeom xmlns:a="http://schemas.openxmlformats.org/drawingml/2006/main" prst="rect">
            <a:avLst/>
          </a:prstGeom>
        </p:spPr>
      </p:pic>
      <p:pic>
        <p:nvPicPr>
          <p:cNvPr id="175" name="!!fdm-fdm-modulate-g1-r1-ticklabel1" descr="0"/>
          <p:cNvPicPr>
            <a:picLocks xmlns:a="http://schemas.openxmlformats.org/drawingml/2006/main" noChangeAspect="1"/>
          </p:cNvPicPr>
          <p:nvPr/>
        </p:nvPicPr>
        <p:blipFill>
          <a:blip xmlns:r="http://schemas.openxmlformats.org/officeDocument/2006/relationships" xmlns:a="http://schemas.openxmlformats.org/drawingml/2006/main" r:embed="Rd5f1d3d6c85e4166">
            <a:extLst>
              <a:ext uri="{96DAC541-7B7A-43D3-8B79-37D633B846F1}">
                <ns19:svgBlip xmlns:ns19="http://schemas.microsoft.com/office/drawing/2016/SVG/main" r:embed="rIdVectormf00084"/>
              </a:ext>
            </a:extLst>
          </a:blip>
          <a:stretch xmlns:a="http://schemas.openxmlformats.org/drawingml/2006/main"/>
        </p:blipFill>
        <p:spPr>
          <a:xfrm xmlns:a="http://schemas.openxmlformats.org/drawingml/2006/main">
            <a:off x="5916675" y="3806190"/>
            <a:ext cx="91951" cy="102870"/>
          </a:xfrm>
          <a:prstGeom xmlns:a="http://schemas.openxmlformats.org/drawingml/2006/main" prst="rect">
            <a:avLst/>
          </a:prstGeom>
        </p:spPr>
      </p:pic>
      <p:pic>
        <p:nvPicPr>
          <p:cNvPr id="176" name="!!fdm-fdm-modulate-g1-r1-ticklabel2" descr="f_{c,2}"/>
          <p:cNvPicPr>
            <a:picLocks xmlns:a="http://schemas.openxmlformats.org/drawingml/2006/main" noChangeAspect="1"/>
          </p:cNvPicPr>
          <p:nvPr/>
        </p:nvPicPr>
        <p:blipFill>
          <a:blip xmlns:r="http://schemas.openxmlformats.org/officeDocument/2006/relationships" xmlns:a="http://schemas.openxmlformats.org/drawingml/2006/main" r:embed="Re871af22c2f145b6">
            <a:extLst>
              <a:ext uri="{96DAC541-7B7A-43D3-8B79-37D633B846F1}">
                <ns20:svgBlip xmlns:ns20="http://schemas.microsoft.com/office/drawing/2016/SVG/main" r:embed="rIdVectormf00085"/>
              </a:ext>
            </a:extLst>
          </a:blip>
          <a:stretch xmlns:a="http://schemas.openxmlformats.org/drawingml/2006/main"/>
        </p:blipFill>
        <p:spPr>
          <a:xfrm xmlns:a="http://schemas.openxmlformats.org/drawingml/2006/main">
            <a:off x="6430456" y="3771900"/>
            <a:ext cx="256374" cy="171450"/>
          </a:xfrm>
          <a:prstGeom xmlns:a="http://schemas.openxmlformats.org/drawingml/2006/main" prst="rect">
            <a:avLst/>
          </a:prstGeom>
        </p:spPr>
      </p:pic>
      <p:pic>
        <p:nvPicPr>
          <p:cNvPr id="177" name="!!fdm-fdm-modulate-g1-r1-label" descr="\textstyle S_2(f)"/>
          <p:cNvPicPr>
            <a:picLocks xmlns:a="http://schemas.openxmlformats.org/drawingml/2006/main" noChangeAspect="1"/>
          </p:cNvPicPr>
          <p:nvPr/>
        </p:nvPicPr>
        <p:blipFill>
          <a:blip xmlns:r="http://schemas.openxmlformats.org/officeDocument/2006/relationships" xmlns:a="http://schemas.openxmlformats.org/drawingml/2006/main" r:embed="R630181e5bb97436b">
            <a:extLst>
              <a:ext uri="{96DAC541-7B7A-43D3-8B79-37D633B846F1}">
                <ns21:svgBlip xmlns:ns21="http://schemas.microsoft.com/office/drawing/2016/SVG/main" r:embed="rIdVectormf00086"/>
              </a:ext>
            </a:extLst>
          </a:blip>
          <a:stretch xmlns:a="http://schemas.openxmlformats.org/drawingml/2006/main"/>
        </p:blipFill>
        <p:spPr>
          <a:xfrm xmlns:a="http://schemas.openxmlformats.org/drawingml/2006/main">
            <a:off x="4572000" y="3040380"/>
            <a:ext cx="523875" cy="209550"/>
          </a:xfrm>
          <a:prstGeom xmlns:a="http://schemas.openxmlformats.org/drawingml/2006/main" prst="rect">
            <a:avLst/>
          </a:prstGeom>
        </p:spPr>
      </p:pic>
      <p:pic>
        <p:nvPicPr>
          <p:cNvPr id="178" name="!!fdm-fdm-modulate-g1-r2-domain" descr="f"/>
          <p:cNvPicPr>
            <a:picLocks xmlns:a="http://schemas.openxmlformats.org/drawingml/2006/main" noChangeAspect="1"/>
          </p:cNvPicPr>
          <p:nvPr/>
        </p:nvPicPr>
        <p:blipFill>
          <a:blip xmlns:r="http://schemas.openxmlformats.org/officeDocument/2006/relationships" xmlns:a="http://schemas.openxmlformats.org/drawingml/2006/main" r:embed="R72eeaa631cd8459c">
            <a:extLst>
              <a:ext uri="{96DAC541-7B7A-43D3-8B79-37D633B846F1}">
                <ns22:svgBlip xmlns:ns22="http://schemas.microsoft.com/office/drawing/2016/SVG/main" r:embed="rIdVectormf00087"/>
              </a:ext>
            </a:extLst>
          </a:blip>
          <a:stretch xmlns:a="http://schemas.openxmlformats.org/drawingml/2006/main"/>
        </p:blipFill>
        <p:spPr>
          <a:xfrm xmlns:a="http://schemas.openxmlformats.org/drawingml/2006/main">
            <a:off x="7375373" y="4292918"/>
            <a:ext cx="79678" cy="120015"/>
          </a:xfrm>
          <a:prstGeom xmlns:a="http://schemas.openxmlformats.org/drawingml/2006/main" prst="rect">
            <a:avLst/>
          </a:prstGeom>
        </p:spPr>
      </p:pic>
      <p:pic>
        <p:nvPicPr>
          <p:cNvPr id="179" name="!!fdm-fdm-modulate-g1-r2-ticklabel0" descr="-f_{c,3}"/>
          <p:cNvPicPr>
            <a:picLocks xmlns:a="http://schemas.openxmlformats.org/drawingml/2006/main" noChangeAspect="1"/>
          </p:cNvPicPr>
          <p:nvPr/>
        </p:nvPicPr>
        <p:blipFill>
          <a:blip xmlns:r="http://schemas.openxmlformats.org/officeDocument/2006/relationships" xmlns:a="http://schemas.openxmlformats.org/drawingml/2006/main" r:embed="Rcd78e179cf524b60">
            <a:extLst>
              <a:ext uri="{96DAC541-7B7A-43D3-8B79-37D633B846F1}">
                <ns23:svgBlip xmlns:ns23="http://schemas.microsoft.com/office/drawing/2016/SVG/main" r:embed="rIdVectormf00088"/>
              </a:ext>
            </a:extLst>
          </a:blip>
          <a:stretch xmlns:a="http://schemas.openxmlformats.org/drawingml/2006/main"/>
        </p:blipFill>
        <p:spPr>
          <a:xfrm xmlns:a="http://schemas.openxmlformats.org/drawingml/2006/main">
            <a:off x="4862921" y="4610100"/>
            <a:ext cx="411480" cy="171450"/>
          </a:xfrm>
          <a:prstGeom xmlns:a="http://schemas.openxmlformats.org/drawingml/2006/main" prst="rect">
            <a:avLst/>
          </a:prstGeom>
        </p:spPr>
      </p:pic>
      <p:pic>
        <p:nvPicPr>
          <p:cNvPr id="180" name="!!fdm-fdm-modulate-g1-r2-ticklabel1" descr="0"/>
          <p:cNvPicPr>
            <a:picLocks xmlns:a="http://schemas.openxmlformats.org/drawingml/2006/main" noChangeAspect="1"/>
          </p:cNvPicPr>
          <p:nvPr/>
        </p:nvPicPr>
        <p:blipFill>
          <a:blip xmlns:r="http://schemas.openxmlformats.org/officeDocument/2006/relationships" xmlns:a="http://schemas.openxmlformats.org/drawingml/2006/main" r:embed="R8962e6b6b8f94b5f">
            <a:extLst>
              <a:ext uri="{96DAC541-7B7A-43D3-8B79-37D633B846F1}">
                <ns24:svgBlip xmlns:ns24="http://schemas.microsoft.com/office/drawing/2016/SVG/main" r:embed="rIdVectormf00089"/>
              </a:ext>
            </a:extLst>
          </a:blip>
          <a:stretch xmlns:a="http://schemas.openxmlformats.org/drawingml/2006/main"/>
        </p:blipFill>
        <p:spPr>
          <a:xfrm xmlns:a="http://schemas.openxmlformats.org/drawingml/2006/main">
            <a:off x="5916675" y="4644390"/>
            <a:ext cx="91951" cy="102870"/>
          </a:xfrm>
          <a:prstGeom xmlns:a="http://schemas.openxmlformats.org/drawingml/2006/main" prst="rect">
            <a:avLst/>
          </a:prstGeom>
        </p:spPr>
      </p:pic>
      <p:pic>
        <p:nvPicPr>
          <p:cNvPr id="181" name="!!fdm-fdm-modulate-g1-r2-ticklabel2" descr="f_{c,3}"/>
          <p:cNvPicPr>
            <a:picLocks xmlns:a="http://schemas.openxmlformats.org/drawingml/2006/main" noChangeAspect="1"/>
          </p:cNvPicPr>
          <p:nvPr/>
        </p:nvPicPr>
        <p:blipFill>
          <a:blip xmlns:r="http://schemas.openxmlformats.org/officeDocument/2006/relationships" xmlns:a="http://schemas.openxmlformats.org/drawingml/2006/main" r:embed="Rb61aaf4593bc4a26">
            <a:extLst>
              <a:ext uri="{96DAC541-7B7A-43D3-8B79-37D633B846F1}">
                <ns25:svgBlip xmlns:ns25="http://schemas.microsoft.com/office/drawing/2016/SVG/main" r:embed="rIdVectormf00090"/>
              </a:ext>
            </a:extLst>
          </a:blip>
          <a:stretch xmlns:a="http://schemas.openxmlformats.org/drawingml/2006/main"/>
        </p:blipFill>
        <p:spPr>
          <a:xfrm xmlns:a="http://schemas.openxmlformats.org/drawingml/2006/main">
            <a:off x="6728452" y="4610100"/>
            <a:ext cx="256374" cy="171450"/>
          </a:xfrm>
          <a:prstGeom xmlns:a="http://schemas.openxmlformats.org/drawingml/2006/main" prst="rect">
            <a:avLst/>
          </a:prstGeom>
        </p:spPr>
      </p:pic>
      <p:pic>
        <p:nvPicPr>
          <p:cNvPr id="182" name="!!fdm-fdm-modulate-g1-r2-label" descr="\textstyle S_3(f)"/>
          <p:cNvPicPr>
            <a:picLocks xmlns:a="http://schemas.openxmlformats.org/drawingml/2006/main" noChangeAspect="1"/>
          </p:cNvPicPr>
          <p:nvPr/>
        </p:nvPicPr>
        <p:blipFill>
          <a:blip xmlns:r="http://schemas.openxmlformats.org/officeDocument/2006/relationships" xmlns:a="http://schemas.openxmlformats.org/drawingml/2006/main" r:embed="R38b33e42568049aa">
            <a:extLst>
              <a:ext uri="{96DAC541-7B7A-43D3-8B79-37D633B846F1}">
                <ns26:svgBlip xmlns:ns26="http://schemas.microsoft.com/office/drawing/2016/SVG/main" r:embed="rIdVectormf00091"/>
              </a:ext>
            </a:extLst>
          </a:blip>
          <a:stretch xmlns:a="http://schemas.openxmlformats.org/drawingml/2006/main"/>
        </p:blipFill>
        <p:spPr>
          <a:xfrm xmlns:a="http://schemas.openxmlformats.org/drawingml/2006/main">
            <a:off x="4572000" y="3943350"/>
            <a:ext cx="523875" cy="209550"/>
          </a:xfrm>
          <a:prstGeom xmlns:a="http://schemas.openxmlformats.org/drawingml/2006/main" prst="rect">
            <a:avLst/>
          </a:prstGeom>
        </p:spPr>
      </p:pic>
      <p:pic>
        <p:nvPicPr>
          <p:cNvPr id="183" name="!!fdm-fdm-modulate-g2-r0-domain" descr="f"/>
          <p:cNvPicPr>
            <a:picLocks xmlns:a="http://schemas.openxmlformats.org/drawingml/2006/main" noChangeAspect="1"/>
          </p:cNvPicPr>
          <p:nvPr/>
        </p:nvPicPr>
        <p:blipFill>
          <a:blip xmlns:r="http://schemas.openxmlformats.org/officeDocument/2006/relationships" xmlns:a="http://schemas.openxmlformats.org/drawingml/2006/main" r:embed="Rbc00bc6730994eb3">
            <a:extLst>
              <a:ext uri="{96DAC541-7B7A-43D3-8B79-37D633B846F1}">
                <ns27:svgBlip xmlns:ns27="http://schemas.microsoft.com/office/drawing/2016/SVG/main" r:embed="rIdVectormf00092"/>
              </a:ext>
            </a:extLst>
          </a:blip>
          <a:stretch xmlns:a="http://schemas.openxmlformats.org/drawingml/2006/main"/>
        </p:blipFill>
        <p:spPr>
          <a:xfrm xmlns:a="http://schemas.openxmlformats.org/drawingml/2006/main">
            <a:off x="11375873" y="3597593"/>
            <a:ext cx="79678" cy="120015"/>
          </a:xfrm>
          <a:prstGeom xmlns:a="http://schemas.openxmlformats.org/drawingml/2006/main" prst="rect">
            <a:avLst/>
          </a:prstGeom>
        </p:spPr>
      </p:pic>
      <p:pic>
        <p:nvPicPr>
          <p:cNvPr id="184" name="!!fdm-fdm-modulate-g2-r0-ticklabel0" descr="-f_{c,1}"/>
          <p:cNvPicPr>
            <a:picLocks xmlns:a="http://schemas.openxmlformats.org/drawingml/2006/main" noChangeAspect="1"/>
          </p:cNvPicPr>
          <p:nvPr/>
        </p:nvPicPr>
        <p:blipFill>
          <a:blip xmlns:r="http://schemas.openxmlformats.org/officeDocument/2006/relationships" xmlns:a="http://schemas.openxmlformats.org/drawingml/2006/main" r:embed="Ra441e229e135417e">
            <a:extLst>
              <a:ext uri="{96DAC541-7B7A-43D3-8B79-37D633B846F1}">
                <ns28:svgBlip xmlns:ns28="http://schemas.microsoft.com/office/drawing/2016/SVG/main" r:embed="rIdVectormf00093"/>
              </a:ext>
            </a:extLst>
          </a:blip>
          <a:stretch xmlns:a="http://schemas.openxmlformats.org/drawingml/2006/main"/>
        </p:blipFill>
        <p:spPr>
          <a:xfrm xmlns:a="http://schemas.openxmlformats.org/drawingml/2006/main">
            <a:off x="9459414" y="3914775"/>
            <a:ext cx="411480" cy="171450"/>
          </a:xfrm>
          <a:prstGeom xmlns:a="http://schemas.openxmlformats.org/drawingml/2006/main" prst="rect">
            <a:avLst/>
          </a:prstGeom>
        </p:spPr>
      </p:pic>
      <p:pic>
        <p:nvPicPr>
          <p:cNvPr id="185" name="!!fdm-fdm-modulate-g2-r0-ticklabel1" descr="f_{c,1}"/>
          <p:cNvPicPr>
            <a:picLocks xmlns:a="http://schemas.openxmlformats.org/drawingml/2006/main" noChangeAspect="1"/>
          </p:cNvPicPr>
          <p:nvPr/>
        </p:nvPicPr>
        <p:blipFill>
          <a:blip xmlns:r="http://schemas.openxmlformats.org/officeDocument/2006/relationships" xmlns:a="http://schemas.openxmlformats.org/drawingml/2006/main" r:embed="Rb515cf91e3b14f14">
            <a:extLst>
              <a:ext uri="{96DAC541-7B7A-43D3-8B79-37D633B846F1}">
                <ns29:svgBlip xmlns:ns29="http://schemas.microsoft.com/office/drawing/2016/SVG/main" r:embed="rIdVectormf00094"/>
              </a:ext>
            </a:extLst>
          </a:blip>
          <a:stretch xmlns:a="http://schemas.openxmlformats.org/drawingml/2006/main"/>
        </p:blipFill>
        <p:spPr>
          <a:xfrm xmlns:a="http://schemas.openxmlformats.org/drawingml/2006/main">
            <a:off x="10132960" y="3914775"/>
            <a:ext cx="256374" cy="171450"/>
          </a:xfrm>
          <a:prstGeom xmlns:a="http://schemas.openxmlformats.org/drawingml/2006/main" prst="rect">
            <a:avLst/>
          </a:prstGeom>
        </p:spPr>
      </p:pic>
      <p:pic>
        <p:nvPicPr>
          <p:cNvPr id="186" name="!!fdm-fdm-modulate-g2-r0-ticklabel2" descr="-f_{c,2}"/>
          <p:cNvPicPr>
            <a:picLocks xmlns:a="http://schemas.openxmlformats.org/drawingml/2006/main" noChangeAspect="1"/>
          </p:cNvPicPr>
          <p:nvPr/>
        </p:nvPicPr>
        <p:blipFill>
          <a:blip xmlns:r="http://schemas.openxmlformats.org/officeDocument/2006/relationships" xmlns:a="http://schemas.openxmlformats.org/drawingml/2006/main" r:embed="R6d2bbf98c57e4fed">
            <a:extLst>
              <a:ext uri="{96DAC541-7B7A-43D3-8B79-37D633B846F1}">
                <ns30:svgBlip xmlns:ns30="http://schemas.microsoft.com/office/drawing/2016/SVG/main" r:embed="rIdVectormf00095"/>
              </a:ext>
            </a:extLst>
          </a:blip>
          <a:stretch xmlns:a="http://schemas.openxmlformats.org/drawingml/2006/main"/>
        </p:blipFill>
        <p:spPr>
          <a:xfrm xmlns:a="http://schemas.openxmlformats.org/drawingml/2006/main">
            <a:off x="9161417" y="4114800"/>
            <a:ext cx="411480" cy="171450"/>
          </a:xfrm>
          <a:prstGeom xmlns:a="http://schemas.openxmlformats.org/drawingml/2006/main" prst="rect">
            <a:avLst/>
          </a:prstGeom>
        </p:spPr>
      </p:pic>
      <p:pic>
        <p:nvPicPr>
          <p:cNvPr id="187" name="!!fdm-fdm-modulate-g2-r0-ticklabel3" descr="f_{c,2}"/>
          <p:cNvPicPr>
            <a:picLocks xmlns:a="http://schemas.openxmlformats.org/drawingml/2006/main" noChangeAspect="1"/>
          </p:cNvPicPr>
          <p:nvPr/>
        </p:nvPicPr>
        <p:blipFill>
          <a:blip xmlns:r="http://schemas.openxmlformats.org/officeDocument/2006/relationships" xmlns:a="http://schemas.openxmlformats.org/drawingml/2006/main" r:embed="R5dec4864470c4a7d">
            <a:extLst>
              <a:ext uri="{96DAC541-7B7A-43D3-8B79-37D633B846F1}">
                <ns31:svgBlip xmlns:ns31="http://schemas.microsoft.com/office/drawing/2016/SVG/main" r:embed="rIdVectormf00096"/>
              </a:ext>
            </a:extLst>
          </a:blip>
          <a:stretch xmlns:a="http://schemas.openxmlformats.org/drawingml/2006/main"/>
        </p:blipFill>
        <p:spPr>
          <a:xfrm xmlns:a="http://schemas.openxmlformats.org/drawingml/2006/main">
            <a:off x="10430956" y="4114800"/>
            <a:ext cx="256374" cy="171450"/>
          </a:xfrm>
          <a:prstGeom xmlns:a="http://schemas.openxmlformats.org/drawingml/2006/main" prst="rect">
            <a:avLst/>
          </a:prstGeom>
        </p:spPr>
      </p:pic>
      <p:pic>
        <p:nvPicPr>
          <p:cNvPr id="188" name="!!fdm-fdm-modulate-g2-r0-ticklabel4" descr="-f_{c,3}"/>
          <p:cNvPicPr>
            <a:picLocks xmlns:a="http://schemas.openxmlformats.org/drawingml/2006/main" noChangeAspect="1"/>
          </p:cNvPicPr>
          <p:nvPr/>
        </p:nvPicPr>
        <p:blipFill>
          <a:blip xmlns:r="http://schemas.openxmlformats.org/officeDocument/2006/relationships" xmlns:a="http://schemas.openxmlformats.org/drawingml/2006/main" r:embed="Rb9895661363742e5">
            <a:extLst>
              <a:ext uri="{96DAC541-7B7A-43D3-8B79-37D633B846F1}">
                <ns32:svgBlip xmlns:ns32="http://schemas.microsoft.com/office/drawing/2016/SVG/main" r:embed="rIdVectormf00097"/>
              </a:ext>
            </a:extLst>
          </a:blip>
          <a:stretch xmlns:a="http://schemas.openxmlformats.org/drawingml/2006/main"/>
        </p:blipFill>
        <p:spPr>
          <a:xfrm xmlns:a="http://schemas.openxmlformats.org/drawingml/2006/main">
            <a:off x="8863421" y="3914775"/>
            <a:ext cx="411480" cy="171450"/>
          </a:xfrm>
          <a:prstGeom xmlns:a="http://schemas.openxmlformats.org/drawingml/2006/main" prst="rect">
            <a:avLst/>
          </a:prstGeom>
        </p:spPr>
      </p:pic>
      <p:pic>
        <p:nvPicPr>
          <p:cNvPr id="189" name="!!fdm-fdm-modulate-g2-r0-ticklabel5" descr="f_{c,3}"/>
          <p:cNvPicPr>
            <a:picLocks xmlns:a="http://schemas.openxmlformats.org/drawingml/2006/main" noChangeAspect="1"/>
          </p:cNvPicPr>
          <p:nvPr/>
        </p:nvPicPr>
        <p:blipFill>
          <a:blip xmlns:r="http://schemas.openxmlformats.org/officeDocument/2006/relationships" xmlns:a="http://schemas.openxmlformats.org/drawingml/2006/main" r:embed="R16ef32dbab8b4355">
            <a:extLst>
              <a:ext uri="{96DAC541-7B7A-43D3-8B79-37D633B846F1}">
                <ns33:svgBlip xmlns:ns33="http://schemas.microsoft.com/office/drawing/2016/SVG/main" r:embed="rIdVectormf00098"/>
              </a:ext>
            </a:extLst>
          </a:blip>
          <a:stretch xmlns:a="http://schemas.openxmlformats.org/drawingml/2006/main"/>
        </p:blipFill>
        <p:spPr>
          <a:xfrm xmlns:a="http://schemas.openxmlformats.org/drawingml/2006/main">
            <a:off x="10728952" y="3914775"/>
            <a:ext cx="256374" cy="171450"/>
          </a:xfrm>
          <a:prstGeom xmlns:a="http://schemas.openxmlformats.org/drawingml/2006/main" prst="rect">
            <a:avLst/>
          </a:prstGeom>
        </p:spPr>
      </p:pic>
      <p:pic>
        <p:nvPicPr>
          <p:cNvPr id="190" name="!!fdm-fdm-modulate-g2-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1ca9d55bc4a7489f">
            <a:extLst>
              <a:ext uri="{96DAC541-7B7A-43D3-8B79-37D633B846F1}">
                <ns34:svgBlip xmlns:ns34="http://schemas.microsoft.com/office/drawing/2016/SVG/main" r:embed="rIdVectormf00099"/>
              </a:ext>
            </a:extLst>
          </a:blip>
          <a:stretch xmlns:a="http://schemas.openxmlformats.org/drawingml/2006/main"/>
        </p:blipFill>
        <p:spPr>
          <a:xfrm xmlns:a="http://schemas.openxmlformats.org/drawingml/2006/main">
            <a:off x="8572500" y="2667000"/>
            <a:ext cx="419100" cy="209550"/>
          </a:xfrm>
          <a:prstGeom xmlns:a="http://schemas.openxmlformats.org/drawingml/2006/main" prst="rect">
            <a:avLst/>
          </a:prstGeom>
        </p:spPr>
      </p:pic>
      <p:pic>
        <p:nvPicPr>
          <p:cNvPr id="191" name="!!fdm-fdm-add-math" descr="\textstyle +"/>
          <p:cNvPicPr>
            <a:picLocks xmlns:a="http://schemas.openxmlformats.org/drawingml/2006/main" noChangeAspect="1"/>
          </p:cNvPicPr>
          <p:nvPr/>
        </p:nvPicPr>
        <p:blipFill>
          <a:blip xmlns:r="http://schemas.openxmlformats.org/officeDocument/2006/relationships" xmlns:a="http://schemas.openxmlformats.org/drawingml/2006/main" r:embed="Radf278ee51b64763">
            <a:extLst>
              <a:ext uri="{96DAC541-7B7A-43D3-8B79-37D633B846F1}">
                <ns35:svgBlip xmlns:ns35="http://schemas.microsoft.com/office/drawing/2016/SVG/main" r:embed="rIdVectormf00100"/>
              </a:ext>
            </a:extLst>
          </a:blip>
          <a:stretch xmlns:a="http://schemas.openxmlformats.org/drawingml/2006/main"/>
        </p:blipFill>
        <p:spPr>
          <a:xfrm xmlns:a="http://schemas.openxmlformats.org/drawingml/2006/main">
            <a:off x="7860030" y="3350443"/>
            <a:ext cx="205740" cy="176165"/>
          </a:xfrm>
          <a:prstGeom xmlns:a="http://schemas.openxmlformats.org/drawingml/2006/main" prst="rect">
            <a:avLst/>
          </a:prstGeom>
        </p:spPr>
      </p:pic>
      <p:pic>
        <p:nvPicPr>
          <p:cNvPr id="192" name="!!fdm-dense-equation-0" descr="\textstyle m_1(t),\quad m_2(t),\quad m_3(t)"/>
          <p:cNvPicPr>
            <a:picLocks xmlns:a="http://schemas.openxmlformats.org/drawingml/2006/main" noChangeAspect="1"/>
          </p:cNvPicPr>
          <p:nvPr/>
        </p:nvPicPr>
        <p:blipFill>
          <a:blip xmlns:r="http://schemas.openxmlformats.org/officeDocument/2006/relationships" xmlns:a="http://schemas.openxmlformats.org/drawingml/2006/main" r:embed="Ra0f26b572b84499e">
            <a:extLst>
              <a:ext uri="{96DAC541-7B7A-43D3-8B79-37D633B846F1}">
                <ns36:svgBlip xmlns:ns36="http://schemas.microsoft.com/office/drawing/2016/SVG/main" r:embed="rIdVectormf00101"/>
              </a:ext>
            </a:extLst>
          </a:blip>
          <a:stretch xmlns:a="http://schemas.openxmlformats.org/drawingml/2006/main"/>
        </p:blipFill>
        <p:spPr>
          <a:xfrm xmlns:a="http://schemas.openxmlformats.org/drawingml/2006/main">
            <a:off x="609600" y="5305425"/>
            <a:ext cx="2897505" cy="247650"/>
          </a:xfrm>
          <a:prstGeom xmlns:a="http://schemas.openxmlformats.org/drawingml/2006/main" prst="rect">
            <a:avLst/>
          </a:prstGeom>
        </p:spPr>
      </p:pic>
      <p:pic>
        <p:nvPicPr>
          <p:cNvPr id="193" name="!!fdm-dense-equation-1" descr="\textstyle s_k(t)=A_cm_k(t)\cos(2\pi f_{c,k}t),\qquad A_c=1,\quad f_{c,k+1}-f_{c,k}\geq2W"/>
          <p:cNvPicPr>
            <a:picLocks xmlns:a="http://schemas.openxmlformats.org/drawingml/2006/main" noChangeAspect="1"/>
          </p:cNvPicPr>
          <p:nvPr/>
        </p:nvPicPr>
        <p:blipFill>
          <a:blip xmlns:r="http://schemas.openxmlformats.org/officeDocument/2006/relationships" xmlns:a="http://schemas.openxmlformats.org/drawingml/2006/main" r:embed="R4c5368d02c89442e">
            <a:extLst>
              <a:ext uri="{96DAC541-7B7A-43D3-8B79-37D633B846F1}">
                <ns37:svgBlip xmlns:ns37="http://schemas.microsoft.com/office/drawing/2016/SVG/main" r:embed="rIdVectormf00102"/>
              </a:ext>
            </a:extLst>
          </a:blip>
          <a:stretch xmlns:a="http://schemas.openxmlformats.org/drawingml/2006/main"/>
        </p:blipFill>
        <p:spPr>
          <a:xfrm xmlns:a="http://schemas.openxmlformats.org/drawingml/2006/main">
            <a:off x="724420" y="5695950"/>
            <a:ext cx="7348451" cy="247650"/>
          </a:xfrm>
          <a:prstGeom xmlns:a="http://schemas.openxmlformats.org/drawingml/2006/main" prst="rect">
            <a:avLst/>
          </a:prstGeom>
        </p:spPr>
      </p:pic>
      <p:pic>
        <p:nvPicPr>
          <p:cNvPr id="194" name="!!fdm-dense-equation-2" descr="\textstyle s(t)=s_1(t)+s_2(t)+s_3(t)"/>
          <p:cNvPicPr>
            <a:picLocks xmlns:a="http://schemas.openxmlformats.org/drawingml/2006/main" noChangeAspect="1"/>
          </p:cNvPicPr>
          <p:nvPr/>
        </p:nvPicPr>
        <p:blipFill>
          <a:blip xmlns:r="http://schemas.openxmlformats.org/officeDocument/2006/relationships" xmlns:a="http://schemas.openxmlformats.org/drawingml/2006/main" r:embed="R7b0b63cce0c944a9">
            <a:extLst>
              <a:ext uri="{96DAC541-7B7A-43D3-8B79-37D633B846F1}">
                <ns38:svgBlip xmlns:ns38="http://schemas.microsoft.com/office/drawing/2016/SVG/main" r:embed="rIdVectormf00103"/>
              </a:ext>
            </a:extLst>
          </a:blip>
          <a:stretch xmlns:a="http://schemas.openxmlformats.org/drawingml/2006/main"/>
        </p:blipFill>
        <p:spPr>
          <a:xfrm xmlns:a="http://schemas.openxmlformats.org/drawingml/2006/main">
            <a:off x="609600" y="6086475"/>
            <a:ext cx="3219450" cy="247650"/>
          </a:xfrm>
          <a:prstGeom xmlns:a="http://schemas.openxmlformats.org/drawingml/2006/main" prst="rect">
            <a:avLst/>
          </a:prstGeom>
        </p:spPr>
      </p:pic>
    </p:spTree>
    <p:extLst>
      <p:ext uri="{BB962C8B-B14F-4D97-AF65-F5344CB8AC3E}">
        <p14:creationId xmlns:p14="http://schemas.microsoft.com/office/powerpoint/2010/main" val="185963550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400"/>
                                        <p:tgtEl>
                                          <p:spTgt spid="42"/>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400"/>
                                        <p:tgtEl>
                                          <p:spTgt spid="43"/>
                                        </p:tgtEl>
                                      </p:cBhvr>
                                    </p:animEffec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400"/>
                                        <p:tgtEl>
                                          <p:spTgt spid="44"/>
                                        </p:tgtEl>
                                      </p:cBhvr>
                                    </p:animEffect>
                                  </p:childTnLst>
                                </p:cTn>
                              </p:par>
                              <p:par>
                                <p:cTn id="14" presetID="10" presetClass="entr" presetSubtype="0" fill="hold"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200"/>
                                        <p:tgtEl>
                                          <p:spTgt spid="45"/>
                                        </p:tgtEl>
                                      </p:cBhvr>
                                    </p:animEffect>
                                    <p:animMotion origin="layout" pathEditMode="relative" path="M -0.30368299 -0.01604170 L 0.00000000 0.00000000 E">
                                      <p:cBhvr>
                                        <p:cTn id="17" dur="700" fill="hold"/>
                                        <p:tgtEl>
                                          <p:spTgt spid="45"/>
                                        </p:tgtEl>
                                        <p:attrNameLst>
                                          <p:attrName>ppt_x</p:attrName>
                                          <p:attrName>ppt_y</p:attrName>
                                        </p:attrNameLst>
                                      </p:cBhvr>
                                    </p:animMotion>
                                    <p:animScale zoomContents="1">
                                      <p:cBhvr>
                                        <p:cTn id="18" dur="700" fill="hold"/>
                                        <p:tgtEl>
                                          <p:spTgt spid="45"/>
                                        </p:tgtEl>
                                      </p:cBhvr>
                                      <p:from x="100000" y="200000"/>
                                      <p:to x="100000" y="100000"/>
                                    </p:animScale>
                                  </p:childTnLst>
                                </p:cTn>
                              </p:par>
                              <p:par>
                                <p:cTn id="19" presetID="10"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200"/>
                                        <p:tgtEl>
                                          <p:spTgt spid="46"/>
                                        </p:tgtEl>
                                      </p:cBhvr>
                                    </p:animEffect>
                                    <p:animMotion origin="layout" pathEditMode="relative" path="M -0.35256693 -0.01604170 L 0.00000000 0.00000000 E">
                                      <p:cBhvr>
                                        <p:cTn id="22" dur="700" fill="hold"/>
                                        <p:tgtEl>
                                          <p:spTgt spid="46"/>
                                        </p:tgtEl>
                                        <p:attrNameLst>
                                          <p:attrName>ppt_x</p:attrName>
                                          <p:attrName>ppt_y</p:attrName>
                                        </p:attrNameLst>
                                      </p:cBhvr>
                                    </p:animMotion>
                                    <p:animScale zoomContents="1">
                                      <p:cBhvr>
                                        <p:cTn id="23" dur="700" fill="hold"/>
                                        <p:tgtEl>
                                          <p:spTgt spid="46"/>
                                        </p:tgtEl>
                                      </p:cBhvr>
                                      <p:from x="100000" y="200000"/>
                                      <p:to x="100000" y="100000"/>
                                    </p:animScale>
                                  </p:childTnLst>
                                </p:cTn>
                              </p:par>
                              <p:par>
                                <p:cTn id="24" presetID="10" presetClass="entr" presetSubtype="0" fill="hold"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200"/>
                                        <p:tgtEl>
                                          <p:spTgt spid="47"/>
                                        </p:tgtEl>
                                      </p:cBhvr>
                                    </p:animEffect>
                                    <p:animMotion origin="layout" pathEditMode="relative" path="M -0.27924106 -0.02138889 L 0.00000000 0.00000000 E">
                                      <p:cBhvr>
                                        <p:cTn id="27" dur="700" fill="hold"/>
                                        <p:tgtEl>
                                          <p:spTgt spid="47"/>
                                        </p:tgtEl>
                                        <p:attrNameLst>
                                          <p:attrName>ppt_x</p:attrName>
                                          <p:attrName>ppt_y</p:attrName>
                                        </p:attrNameLst>
                                      </p:cBhvr>
                                    </p:animMotion>
                                    <p:animScale zoomContents="1">
                                      <p:cBhvr>
                                        <p:cTn id="28" dur="700" fill="hold"/>
                                        <p:tgtEl>
                                          <p:spTgt spid="47"/>
                                        </p:tgtEl>
                                      </p:cBhvr>
                                      <p:from x="100000" y="200000"/>
                                      <p:to x="100000" y="100000"/>
                                    </p:animScale>
                                  </p:childTnLst>
                                </p:cTn>
                              </p:par>
                              <p:par>
                                <p:cTn id="29" presetID="10"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200"/>
                                        <p:tgtEl>
                                          <p:spTgt spid="48"/>
                                        </p:tgtEl>
                                      </p:cBhvr>
                                    </p:animEffect>
                                    <p:animMotion origin="layout" pathEditMode="relative" path="M -0.37700894 -0.02138889 L 0.00000000 0.00000000 E">
                                      <p:cBhvr>
                                        <p:cTn id="32" dur="700" fill="hold"/>
                                        <p:tgtEl>
                                          <p:spTgt spid="48"/>
                                        </p:tgtEl>
                                        <p:attrNameLst>
                                          <p:attrName>ppt_x</p:attrName>
                                          <p:attrName>ppt_y</p:attrName>
                                        </p:attrNameLst>
                                      </p:cBhvr>
                                    </p:animMotion>
                                    <p:animScale zoomContents="1">
                                      <p:cBhvr>
                                        <p:cTn id="33" dur="700" fill="hold"/>
                                        <p:tgtEl>
                                          <p:spTgt spid="48"/>
                                        </p:tgtEl>
                                      </p:cBhvr>
                                      <p:from x="100000" y="200000"/>
                                      <p:to x="100000" y="100000"/>
                                    </p:animScale>
                                  </p:childTnLst>
                                </p:cTn>
                              </p:par>
                              <p:par>
                                <p:cTn id="34" presetID="10" presetClass="entr" presetSubtype="0" fill="hold" nodeType="with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fade">
                                      <p:cBhvr>
                                        <p:cTn id="36" dur="200"/>
                                        <p:tgtEl>
                                          <p:spTgt spid="49"/>
                                        </p:tgtEl>
                                      </p:cBhvr>
                                    </p:animEffect>
                                    <p:animMotion origin="layout" pathEditMode="relative" path="M -0.25479905 -0.01375000 L 0.00000000 0.00000000 E">
                                      <p:cBhvr>
                                        <p:cTn id="37" dur="700" fill="hold"/>
                                        <p:tgtEl>
                                          <p:spTgt spid="49"/>
                                        </p:tgtEl>
                                        <p:attrNameLst>
                                          <p:attrName>ppt_x</p:attrName>
                                          <p:attrName>ppt_y</p:attrName>
                                        </p:attrNameLst>
                                      </p:cBhvr>
                                    </p:animMotion>
                                    <p:animScale zoomContents="1">
                                      <p:cBhvr>
                                        <p:cTn id="38" dur="700" fill="hold"/>
                                        <p:tgtEl>
                                          <p:spTgt spid="49"/>
                                        </p:tgtEl>
                                      </p:cBhvr>
                                      <p:from x="100000" y="200000"/>
                                      <p:to x="100000" y="100000"/>
                                    </p:animScale>
                                  </p:childTnLst>
                                </p:cTn>
                              </p:par>
                              <p:par>
                                <p:cTn id="39" presetID="10"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200"/>
                                        <p:tgtEl>
                                          <p:spTgt spid="50"/>
                                        </p:tgtEl>
                                      </p:cBhvr>
                                    </p:animEffect>
                                    <p:animMotion origin="layout" pathEditMode="relative" path="M -0.40145087 -0.01375000 L 0.00000000 0.00000000 E">
                                      <p:cBhvr>
                                        <p:cTn id="42" dur="700" fill="hold"/>
                                        <p:tgtEl>
                                          <p:spTgt spid="50"/>
                                        </p:tgtEl>
                                        <p:attrNameLst>
                                          <p:attrName>ppt_x</p:attrName>
                                          <p:attrName>ppt_y</p:attrName>
                                        </p:attrNameLst>
                                      </p:cBhvr>
                                    </p:animMotion>
                                    <p:animScale zoomContents="1">
                                      <p:cBhvr>
                                        <p:cTn id="43" dur="700" fill="hold"/>
                                        <p:tgtEl>
                                          <p:spTgt spid="50"/>
                                        </p:tgtEl>
                                      </p:cBhvr>
                                      <p:from x="100000" y="200000"/>
                                      <p:to x="100000" y="100000"/>
                                    </p:animScale>
                                  </p:childTnLst>
                                </p:cTn>
                              </p:par>
                              <p:par>
                                <p:cTn id="44" presetID="10" presetClass="entr" presetSubtype="0" fill="hold" nodeType="withEffect">
                                  <p:stCondLst>
                                    <p:cond delay="0"/>
                                  </p:stCondLst>
                                  <p:childTnLst>
                                    <p:set>
                                      <p:cBhvr>
                                        <p:cTn id="45" dur="1" fill="hold">
                                          <p:stCondLst>
                                            <p:cond delay="0"/>
                                          </p:stCondLst>
                                        </p:cTn>
                                        <p:tgtEl>
                                          <p:spTgt spid="193"/>
                                        </p:tgtEl>
                                        <p:attrNameLst>
                                          <p:attrName>style.visibility</p:attrName>
                                        </p:attrNameLst>
                                      </p:cBhvr>
                                      <p:to>
                                        <p:strVal val="visible"/>
                                      </p:to>
                                    </p:set>
                                    <p:animEffect transition="in" filter="fade">
                                      <p:cBhvr>
                                        <p:cTn id="46" dur="400"/>
                                        <p:tgtEl>
                                          <p:spTgt spid="19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400"/>
                                        <p:tgtEl>
                                          <p:spTgt spid="51"/>
                                        </p:tgtEl>
                                      </p:cBhvr>
                                    </p:animEffect>
                                  </p:childTnLst>
                                </p:cTn>
                              </p:par>
                              <p:par>
                                <p:cTn id="52" presetID="10" presetClass="entr" presetSubtype="0" fill="hold" nodeType="with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fade">
                                      <p:cBhvr>
                                        <p:cTn id="54" dur="400"/>
                                        <p:tgtEl>
                                          <p:spTgt spid="52"/>
                                        </p:tgtEl>
                                      </p:cBhvr>
                                    </p:animEffect>
                                  </p:childTnLst>
                                </p:cTn>
                              </p:par>
                              <p:par>
                                <p:cTn id="55" presetID="10" presetClass="entr" presetSubtype="0" fill="hold" nodeType="withEffect">
                                  <p:stCondLst>
                                    <p:cond delay="0"/>
                                  </p:stCondLst>
                                  <p:childTnLst>
                                    <p:set>
                                      <p:cBhvr>
                                        <p:cTn id="56" dur="1" fill="hold">
                                          <p:stCondLst>
                                            <p:cond delay="0"/>
                                          </p:stCondLst>
                                        </p:cTn>
                                        <p:tgtEl>
                                          <p:spTgt spid="191"/>
                                        </p:tgtEl>
                                        <p:attrNameLst>
                                          <p:attrName>style.visibility</p:attrName>
                                        </p:attrNameLst>
                                      </p:cBhvr>
                                      <p:to>
                                        <p:strVal val="visible"/>
                                      </p:to>
                                    </p:set>
                                    <p:animEffect transition="in" filter="fade">
                                      <p:cBhvr>
                                        <p:cTn id="57" dur="400"/>
                                        <p:tgtEl>
                                          <p:spTgt spid="191"/>
                                        </p:tgtEl>
                                      </p:cBhvr>
                                    </p:animEffect>
                                  </p:childTnLst>
                                </p:cTn>
                              </p:par>
                              <p:par>
                                <p:cTn id="58" presetID="10" presetClass="entr" presetSubtype="0" fill="hold" nodeType="with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200"/>
                                        <p:tgtEl>
                                          <p:spTgt spid="53"/>
                                        </p:tgtEl>
                                      </p:cBhvr>
                                    </p:animEffect>
                                    <p:animMotion origin="layout" pathEditMode="relative" path="M -0.32812500 -0.14305563 L 0.00000000 0.00000000 E">
                                      <p:cBhvr>
                                        <p:cTn id="61" dur="700" fill="hold"/>
                                        <p:tgtEl>
                                          <p:spTgt spid="53"/>
                                        </p:tgtEl>
                                        <p:attrNameLst>
                                          <p:attrName>ppt_x</p:attrName>
                                          <p:attrName>ppt_y</p:attrName>
                                        </p:attrNameLst>
                                      </p:cBhvr>
                                    </p:animMotion>
                                    <p:animScale zoomContents="1">
                                      <p:cBhvr>
                                        <p:cTn id="62" dur="700" fill="hold"/>
                                        <p:tgtEl>
                                          <p:spTgt spid="53"/>
                                        </p:tgtEl>
                                      </p:cBhvr>
                                      <p:from x="100000" y="100000"/>
                                      <p:to x="100000" y="100000"/>
                                    </p:animScale>
                                  </p:childTnLst>
                                </p:cTn>
                              </p:par>
                              <p:par>
                                <p:cTn id="63" presetID="10" presetClass="entr" presetSubtype="0" fill="hold" nodeType="with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fade">
                                      <p:cBhvr>
                                        <p:cTn id="65" dur="200"/>
                                        <p:tgtEl>
                                          <p:spTgt spid="54"/>
                                        </p:tgtEl>
                                      </p:cBhvr>
                                    </p:animEffect>
                                    <p:animMotion origin="layout" pathEditMode="relative" path="M -0.32812500 -0.14305563 L 0.00000000 0.00000000 E">
                                      <p:cBhvr>
                                        <p:cTn id="66" dur="700" fill="hold"/>
                                        <p:tgtEl>
                                          <p:spTgt spid="54"/>
                                        </p:tgtEl>
                                        <p:attrNameLst>
                                          <p:attrName>ppt_x</p:attrName>
                                          <p:attrName>ppt_y</p:attrName>
                                        </p:attrNameLst>
                                      </p:cBhvr>
                                    </p:animMotion>
                                    <p:animScale zoomContents="1">
                                      <p:cBhvr>
                                        <p:cTn id="67" dur="700" fill="hold"/>
                                        <p:tgtEl>
                                          <p:spTgt spid="54"/>
                                        </p:tgtEl>
                                      </p:cBhvr>
                                      <p:from x="100000" y="100000"/>
                                      <p:to x="100000" y="100000"/>
                                    </p:animScale>
                                  </p:childTnLst>
                                </p:cTn>
                              </p:par>
                              <p:par>
                                <p:cTn id="68" presetID="10" presetClass="entr" presetSubtype="0" fill="hold" nodeType="with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fade">
                                      <p:cBhvr>
                                        <p:cTn id="70" dur="200"/>
                                        <p:tgtEl>
                                          <p:spTgt spid="55"/>
                                        </p:tgtEl>
                                      </p:cBhvr>
                                    </p:animEffect>
                                    <p:animMotion origin="layout" pathEditMode="relative" path="M -0.32812500 -0.02083333 L 0.00000000 0.00000000 E">
                                      <p:cBhvr>
                                        <p:cTn id="71" dur="700" fill="hold"/>
                                        <p:tgtEl>
                                          <p:spTgt spid="55"/>
                                        </p:tgtEl>
                                        <p:attrNameLst>
                                          <p:attrName>ppt_x</p:attrName>
                                          <p:attrName>ppt_y</p:attrName>
                                        </p:attrNameLst>
                                      </p:cBhvr>
                                    </p:animMotion>
                                    <p:animScale zoomContents="1">
                                      <p:cBhvr>
                                        <p:cTn id="72" dur="700" fill="hold"/>
                                        <p:tgtEl>
                                          <p:spTgt spid="55"/>
                                        </p:tgtEl>
                                      </p:cBhvr>
                                      <p:from x="100000" y="100000"/>
                                      <p:to x="100000" y="100000"/>
                                    </p:animScale>
                                  </p:childTnLst>
                                </p:cTn>
                              </p:par>
                              <p:par>
                                <p:cTn id="73" presetID="10" presetClass="entr" presetSubtype="0" fill="hold" nodeType="withEffect">
                                  <p:stCondLst>
                                    <p:cond delay="0"/>
                                  </p:stCondLst>
                                  <p:childTnLst>
                                    <p:set>
                                      <p:cBhvr>
                                        <p:cTn id="74" dur="1" fill="hold">
                                          <p:stCondLst>
                                            <p:cond delay="0"/>
                                          </p:stCondLst>
                                        </p:cTn>
                                        <p:tgtEl>
                                          <p:spTgt spid="56"/>
                                        </p:tgtEl>
                                        <p:attrNameLst>
                                          <p:attrName>style.visibility</p:attrName>
                                        </p:attrNameLst>
                                      </p:cBhvr>
                                      <p:to>
                                        <p:strVal val="visible"/>
                                      </p:to>
                                    </p:set>
                                    <p:animEffect transition="in" filter="fade">
                                      <p:cBhvr>
                                        <p:cTn id="75" dur="200"/>
                                        <p:tgtEl>
                                          <p:spTgt spid="56"/>
                                        </p:tgtEl>
                                      </p:cBhvr>
                                    </p:animEffect>
                                    <p:animMotion origin="layout" pathEditMode="relative" path="M -0.32812500 -0.02083333 L 0.00000000 0.00000000 E">
                                      <p:cBhvr>
                                        <p:cTn id="76" dur="700" fill="hold"/>
                                        <p:tgtEl>
                                          <p:spTgt spid="56"/>
                                        </p:tgtEl>
                                        <p:attrNameLst>
                                          <p:attrName>ppt_x</p:attrName>
                                          <p:attrName>ppt_y</p:attrName>
                                        </p:attrNameLst>
                                      </p:cBhvr>
                                    </p:animMotion>
                                    <p:animScale zoomContents="1">
                                      <p:cBhvr>
                                        <p:cTn id="77" dur="700" fill="hold"/>
                                        <p:tgtEl>
                                          <p:spTgt spid="56"/>
                                        </p:tgtEl>
                                      </p:cBhvr>
                                      <p:from x="100000" y="100000"/>
                                      <p:to x="100000" y="100000"/>
                                    </p:animScale>
                                  </p:childTnLst>
                                </p:cTn>
                              </p:par>
                              <p:par>
                                <p:cTn id="78" presetID="10" presetClass="entr" presetSubtype="0" fill="hold" nodeType="with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fade">
                                      <p:cBhvr>
                                        <p:cTn id="80" dur="200"/>
                                        <p:tgtEl>
                                          <p:spTgt spid="57"/>
                                        </p:tgtEl>
                                      </p:cBhvr>
                                    </p:animEffect>
                                    <p:animMotion origin="layout" pathEditMode="relative" path="M -0.32812500 0.10138889 L 0.00000000 0.00000000 E">
                                      <p:cBhvr>
                                        <p:cTn id="81" dur="700" fill="hold"/>
                                        <p:tgtEl>
                                          <p:spTgt spid="57"/>
                                        </p:tgtEl>
                                        <p:attrNameLst>
                                          <p:attrName>ppt_x</p:attrName>
                                          <p:attrName>ppt_y</p:attrName>
                                        </p:attrNameLst>
                                      </p:cBhvr>
                                    </p:animMotion>
                                    <p:animScale zoomContents="1">
                                      <p:cBhvr>
                                        <p:cTn id="82" dur="700" fill="hold"/>
                                        <p:tgtEl>
                                          <p:spTgt spid="57"/>
                                        </p:tgtEl>
                                      </p:cBhvr>
                                      <p:from x="100000" y="100000"/>
                                      <p:to x="100000" y="100000"/>
                                    </p:animScale>
                                  </p:childTnLst>
                                </p:cTn>
                              </p:par>
                              <p:par>
                                <p:cTn id="83" presetID="10" presetClass="entr" presetSubtype="0" fill="hold" nodeType="with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200"/>
                                        <p:tgtEl>
                                          <p:spTgt spid="58"/>
                                        </p:tgtEl>
                                      </p:cBhvr>
                                    </p:animEffect>
                                    <p:animMotion origin="layout" pathEditMode="relative" path="M -0.32812500 0.10138889 L 0.00000000 0.00000000 E">
                                      <p:cBhvr>
                                        <p:cTn id="86" dur="700" fill="hold"/>
                                        <p:tgtEl>
                                          <p:spTgt spid="58"/>
                                        </p:tgtEl>
                                        <p:attrNameLst>
                                          <p:attrName>ppt_x</p:attrName>
                                          <p:attrName>ppt_y</p:attrName>
                                        </p:attrNameLst>
                                      </p:cBhvr>
                                    </p:animMotion>
                                    <p:animScale zoomContents="1">
                                      <p:cBhvr>
                                        <p:cTn id="87" dur="700" fill="hold"/>
                                        <p:tgtEl>
                                          <p:spTgt spid="58"/>
                                        </p:tgtEl>
                                      </p:cBhvr>
                                      <p:from x="100000" y="100000"/>
                                      <p:to x="100000" y="100000"/>
                                    </p:animScale>
                                  </p:childTnLst>
                                </p:cTn>
                              </p:par>
                              <p:par>
                                <p:cTn id="88" presetID="10" presetClass="entr" presetSubtype="0" fill="hold" nodeType="withEffect">
                                  <p:stCondLst>
                                    <p:cond delay="0"/>
                                  </p:stCondLst>
                                  <p:childTnLst>
                                    <p:set>
                                      <p:cBhvr>
                                        <p:cTn id="89" dur="1" fill="hold">
                                          <p:stCondLst>
                                            <p:cond delay="0"/>
                                          </p:stCondLst>
                                        </p:cTn>
                                        <p:tgtEl>
                                          <p:spTgt spid="194"/>
                                        </p:tgtEl>
                                        <p:attrNameLst>
                                          <p:attrName>style.visibility</p:attrName>
                                        </p:attrNameLst>
                                      </p:cBhvr>
                                      <p:to>
                                        <p:strVal val="visible"/>
                                      </p:to>
                                    </p:set>
                                    <p:animEffect transition="in" filter="fade">
                                      <p:cBhvr>
                                        <p:cTn id="90" dur="400"/>
                                        <p:tgtEl>
                                          <p:spTgt spid="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methods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fdm-title">
            <ns0:hlinkClick xmlns:ns0="http://schemas.openxmlformats.org/drawingml/2006/main" xmlns:ns1="http://schemas.openxmlformats.org/officeDocument/2006/relationships" ns1:id="rIdmethods_Link26" action="ppaction://hlinksldjump"/>
            <a:extLst xmlns:a="http://schemas.openxmlformats.org/drawingml/2006/main">
              <a:ext uri="{FF2B5EF4-FFF2-40B4-BE49-F238E27FC236}">
                <a16:creationId xmlns:a16="http://schemas.microsoft.com/office/drawing/2014/main" id="{DFE67AF9-4529-4BDF-9D6C-2637DEC46E61}"/>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26" action="ppaction://hlinksldjump"/>
              </a:rPr>
              <a:t>FDM</a:t>
            </a:r>
          </a:p>
        </p:txBody>
      </p:sp>
      <p:sp>
        <p:nvSpPr>
          <p:cNvPr id="2" name="!!fdm-subtitle">
            <a:extLst xmlns:a="http://schemas.openxmlformats.org/drawingml/2006/main">
              <a:ext uri="{FF2B5EF4-FFF2-40B4-BE49-F238E27FC236}">
                <a16:creationId xmlns:a16="http://schemas.microsoft.com/office/drawing/2014/main" id="{CD6A66E7-9EF9-43B7-8BF5-7D34A51F7DC1}"/>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 baseband signals</a:t>
            </a:r>
          </a:p>
        </p:txBody>
      </p:sp>
      <p:sp>
        <p:nvSpPr>
          <p:cNvPr id="3" name="!!fdm-route-tx-line">
            <a:extLst xmlns:a="http://schemas.openxmlformats.org/drawingml/2006/main">
              <a:ext uri="{FF2B5EF4-FFF2-40B4-BE49-F238E27FC236}">
                <a16:creationId xmlns:a16="http://schemas.microsoft.com/office/drawing/2014/main" id="{524787AD-B3B6-4CA5-8A8A-40E1D478BFA5}"/>
              </a:ext>
            </a:extLst>
          </p:cNvPr>
          <p:cNvSpPr>
            <a:spLocks xmlns:a="http://schemas.openxmlformats.org/drawingml/2006/main" noGrp="1"/>
          </p:cNvSpPr>
          <p:nvPr/>
        </p:nvSpPr>
        <p:spPr>
          <a:xfrm xmlns:a="http://schemas.openxmlformats.org/drawingml/2006/main">
            <a:off x="3800475" y="1381125"/>
            <a:ext cx="1152525"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fdm-route-tx-head">
            <a:extLst xmlns:a="http://schemas.openxmlformats.org/drawingml/2006/main">
              <a:ext uri="{FF2B5EF4-FFF2-40B4-BE49-F238E27FC236}">
                <a16:creationId xmlns:a16="http://schemas.microsoft.com/office/drawing/2014/main" id="{4DC09BD7-0834-4744-92A0-E968FCD62FEA}"/>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fdm-route-rx-line">
            <a:extLst xmlns:a="http://schemas.openxmlformats.org/drawingml/2006/main">
              <a:ext uri="{FF2B5EF4-FFF2-40B4-BE49-F238E27FC236}">
                <a16:creationId xmlns:a16="http://schemas.microsoft.com/office/drawing/2014/main" id="{5FFE3F20-BAF8-4A8D-86CB-9F86CE1636A9}"/>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fdm-route-rx-head">
            <a:extLst xmlns:a="http://schemas.openxmlformats.org/drawingml/2006/main">
              <a:ext uri="{FF2B5EF4-FFF2-40B4-BE49-F238E27FC236}">
                <a16:creationId xmlns:a16="http://schemas.microsoft.com/office/drawing/2014/main" id="{4816903A-9C1D-4A13-BB95-990F1E23FF70}"/>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fdm-fdm-select-g0-r0-axis-line">
            <a:extLst xmlns:a="http://schemas.openxmlformats.org/drawingml/2006/main">
              <a:ext uri="{FF2B5EF4-FFF2-40B4-BE49-F238E27FC236}">
                <a16:creationId xmlns:a16="http://schemas.microsoft.com/office/drawing/2014/main" id="{BC372CE5-B931-4E3D-9FD6-D905F6370B15}"/>
              </a:ext>
            </a:extLst>
          </p:cNvPr>
          <p:cNvSpPr>
            <a:spLocks xmlns:a="http://schemas.openxmlformats.org/drawingml/2006/main" noGrp="1"/>
          </p:cNvSpPr>
          <p:nvPr/>
        </p:nvSpPr>
        <p:spPr>
          <a:xfrm xmlns:a="http://schemas.openxmlformats.org/drawingml/2006/main">
            <a:off x="571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fdm-fdm-select-g0-r0-axis-head">
            <a:extLst xmlns:a="http://schemas.openxmlformats.org/drawingml/2006/main">
              <a:ext uri="{FF2B5EF4-FFF2-40B4-BE49-F238E27FC236}">
                <a16:creationId xmlns:a16="http://schemas.microsoft.com/office/drawing/2014/main" id="{57C51931-A507-45BA-A597-3B59DBF5FC85}"/>
              </a:ext>
            </a:extLst>
          </p:cNvPr>
          <p:cNvSpPr>
            <a:spLocks xmlns:a="http://schemas.openxmlformats.org/drawingml/2006/main" noGrp="1"/>
          </p:cNvSpPr>
          <p:nvPr/>
        </p:nvSpPr>
        <p:spPr>
          <a:xfrm xmlns:a="http://schemas.openxmlformats.org/drawingml/2006/main" rot="5400000">
            <a:off x="3238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fdm-fdm-select-g0-r0-tick0">
            <a:extLst xmlns:a="http://schemas.openxmlformats.org/drawingml/2006/main">
              <a:ext uri="{FF2B5EF4-FFF2-40B4-BE49-F238E27FC236}">
                <a16:creationId xmlns:a16="http://schemas.microsoft.com/office/drawing/2014/main" id="{7107E9DC-CEEF-44D7-A5B0-5DF370086255}"/>
              </a:ext>
            </a:extLst>
          </p:cNvPr>
          <p:cNvSpPr>
            <a:spLocks xmlns:a="http://schemas.openxmlformats.org/drawingml/2006/main" noGrp="1"/>
          </p:cNvSpPr>
          <p:nvPr/>
        </p:nvSpPr>
        <p:spPr>
          <a:xfrm xmlns:a="http://schemas.openxmlformats.org/drawingml/2006/main">
            <a:off x="1664154"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fdm-fdm-select-g0-r0-tick1">
            <a:extLst xmlns:a="http://schemas.openxmlformats.org/drawingml/2006/main">
              <a:ext uri="{FF2B5EF4-FFF2-40B4-BE49-F238E27FC236}">
                <a16:creationId xmlns:a16="http://schemas.microsoft.com/office/drawing/2014/main" id="{ACA65C44-FC01-4B93-AE3E-E199C9E9848C}"/>
              </a:ext>
            </a:extLst>
          </p:cNvPr>
          <p:cNvSpPr>
            <a:spLocks xmlns:a="http://schemas.openxmlformats.org/drawingml/2006/main" noGrp="1"/>
          </p:cNvSpPr>
          <p:nvPr/>
        </p:nvSpPr>
        <p:spPr>
          <a:xfrm xmlns:a="http://schemas.openxmlformats.org/drawingml/2006/main">
            <a:off x="2260146"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fdm-fdm-select-g0-r0-tick2">
            <a:extLst xmlns:a="http://schemas.openxmlformats.org/drawingml/2006/main">
              <a:ext uri="{FF2B5EF4-FFF2-40B4-BE49-F238E27FC236}">
                <a16:creationId xmlns:a16="http://schemas.microsoft.com/office/drawing/2014/main" id="{AA354234-2D5E-42E4-9671-211ECABFF13F}"/>
              </a:ext>
            </a:extLst>
          </p:cNvPr>
          <p:cNvSpPr>
            <a:spLocks xmlns:a="http://schemas.openxmlformats.org/drawingml/2006/main" noGrp="1"/>
          </p:cNvSpPr>
          <p:nvPr/>
        </p:nvSpPr>
        <p:spPr>
          <a:xfrm xmlns:a="http://schemas.openxmlformats.org/drawingml/2006/main">
            <a:off x="1366157"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fdm-fdm-select-g0-r0-tick3">
            <a:extLst xmlns:a="http://schemas.openxmlformats.org/drawingml/2006/main">
              <a:ext uri="{FF2B5EF4-FFF2-40B4-BE49-F238E27FC236}">
                <a16:creationId xmlns:a16="http://schemas.microsoft.com/office/drawing/2014/main" id="{01F88142-668E-43D9-84FC-387177012597}"/>
              </a:ext>
            </a:extLst>
          </p:cNvPr>
          <p:cNvSpPr>
            <a:spLocks xmlns:a="http://schemas.openxmlformats.org/drawingml/2006/main" noGrp="1"/>
          </p:cNvSpPr>
          <p:nvPr/>
        </p:nvSpPr>
        <p:spPr>
          <a:xfrm xmlns:a="http://schemas.openxmlformats.org/drawingml/2006/main">
            <a:off x="2558143"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fdm-fdm-select-g0-r0-tick4">
            <a:extLst xmlns:a="http://schemas.openxmlformats.org/drawingml/2006/main">
              <a:ext uri="{FF2B5EF4-FFF2-40B4-BE49-F238E27FC236}">
                <a16:creationId xmlns:a16="http://schemas.microsoft.com/office/drawing/2014/main" id="{8B7BEB2F-BB83-4628-971E-9594AA41FCC8}"/>
              </a:ext>
            </a:extLst>
          </p:cNvPr>
          <p:cNvSpPr>
            <a:spLocks xmlns:a="http://schemas.openxmlformats.org/drawingml/2006/main" noGrp="1"/>
          </p:cNvSpPr>
          <p:nvPr/>
        </p:nvSpPr>
        <p:spPr>
          <a:xfrm xmlns:a="http://schemas.openxmlformats.org/drawingml/2006/main">
            <a:off x="1068161"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fdm-fdm-select-g0-r0-tick5">
            <a:extLst xmlns:a="http://schemas.openxmlformats.org/drawingml/2006/main">
              <a:ext uri="{FF2B5EF4-FFF2-40B4-BE49-F238E27FC236}">
                <a16:creationId xmlns:a16="http://schemas.microsoft.com/office/drawing/2014/main" id="{C5EA331B-BFC0-495B-B241-FB209AD33128}"/>
              </a:ext>
            </a:extLst>
          </p:cNvPr>
          <p:cNvSpPr>
            <a:spLocks xmlns:a="http://schemas.openxmlformats.org/drawingml/2006/main" noGrp="1"/>
          </p:cNvSpPr>
          <p:nvPr/>
        </p:nvSpPr>
        <p:spPr>
          <a:xfrm xmlns:a="http://schemas.openxmlformats.org/drawingml/2006/main">
            <a:off x="2856139"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fdm-fdm-select-g1-r0-axis-line">
            <a:extLst xmlns:a="http://schemas.openxmlformats.org/drawingml/2006/main">
              <a:ext uri="{FF2B5EF4-FFF2-40B4-BE49-F238E27FC236}">
                <a16:creationId xmlns:a16="http://schemas.microsoft.com/office/drawing/2014/main" id="{EFCC1AEA-EC71-40FE-A3F8-F0DC5FFA5655}"/>
              </a:ext>
            </a:extLst>
          </p:cNvPr>
          <p:cNvSpPr>
            <a:spLocks xmlns:a="http://schemas.openxmlformats.org/drawingml/2006/main" noGrp="1"/>
          </p:cNvSpPr>
          <p:nvPr/>
        </p:nvSpPr>
        <p:spPr>
          <a:xfrm xmlns:a="http://schemas.openxmlformats.org/drawingml/2006/main">
            <a:off x="45720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fdm-fdm-select-g1-r0-axis-head">
            <a:extLst xmlns:a="http://schemas.openxmlformats.org/drawingml/2006/main">
              <a:ext uri="{FF2B5EF4-FFF2-40B4-BE49-F238E27FC236}">
                <a16:creationId xmlns:a16="http://schemas.microsoft.com/office/drawing/2014/main" id="{BA999FB8-0B32-466F-AAFF-F04887B89B74}"/>
              </a:ext>
            </a:extLst>
          </p:cNvPr>
          <p:cNvSpPr>
            <a:spLocks xmlns:a="http://schemas.openxmlformats.org/drawingml/2006/main" noGrp="1"/>
          </p:cNvSpPr>
          <p:nvPr/>
        </p:nvSpPr>
        <p:spPr>
          <a:xfrm xmlns:a="http://schemas.openxmlformats.org/drawingml/2006/main" rot="5400000">
            <a:off x="72390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7" name="!!fdm-fdm-select-g1-r0-tick0">
            <a:extLst xmlns:a="http://schemas.openxmlformats.org/drawingml/2006/main">
              <a:ext uri="{FF2B5EF4-FFF2-40B4-BE49-F238E27FC236}">
                <a16:creationId xmlns:a16="http://schemas.microsoft.com/office/drawing/2014/main" id="{7F117B90-27FD-4FBB-BA08-3D4F397A5B50}"/>
              </a:ext>
            </a:extLst>
          </p:cNvPr>
          <p:cNvSpPr>
            <a:spLocks xmlns:a="http://schemas.openxmlformats.org/drawingml/2006/main" noGrp="1"/>
          </p:cNvSpPr>
          <p:nvPr/>
        </p:nvSpPr>
        <p:spPr>
          <a:xfrm xmlns:a="http://schemas.openxmlformats.org/drawingml/2006/main">
            <a:off x="5366657"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fdm-fdm-select-g1-r0-tick1">
            <a:extLst xmlns:a="http://schemas.openxmlformats.org/drawingml/2006/main">
              <a:ext uri="{FF2B5EF4-FFF2-40B4-BE49-F238E27FC236}">
                <a16:creationId xmlns:a16="http://schemas.microsoft.com/office/drawing/2014/main" id="{F7B59A52-EE7E-47A3-A2E8-DF9F07704B92}"/>
              </a:ext>
            </a:extLst>
          </p:cNvPr>
          <p:cNvSpPr>
            <a:spLocks xmlns:a="http://schemas.openxmlformats.org/drawingml/2006/main" noGrp="1"/>
          </p:cNvSpPr>
          <p:nvPr/>
        </p:nvSpPr>
        <p:spPr>
          <a:xfrm xmlns:a="http://schemas.openxmlformats.org/drawingml/2006/main">
            <a:off x="59626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fdm-fdm-select-g1-r0-tick2">
            <a:extLst xmlns:a="http://schemas.openxmlformats.org/drawingml/2006/main">
              <a:ext uri="{FF2B5EF4-FFF2-40B4-BE49-F238E27FC236}">
                <a16:creationId xmlns:a16="http://schemas.microsoft.com/office/drawing/2014/main" id="{117EB77F-48E4-4E91-866A-C51F0D858286}"/>
              </a:ext>
            </a:extLst>
          </p:cNvPr>
          <p:cNvSpPr>
            <a:spLocks xmlns:a="http://schemas.openxmlformats.org/drawingml/2006/main" noGrp="1"/>
          </p:cNvSpPr>
          <p:nvPr/>
        </p:nvSpPr>
        <p:spPr>
          <a:xfrm xmlns:a="http://schemas.openxmlformats.org/drawingml/2006/main">
            <a:off x="6558643"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fdm-fdm-select-g2-r0-axis-line">
            <a:extLst xmlns:a="http://schemas.openxmlformats.org/drawingml/2006/main">
              <a:ext uri="{FF2B5EF4-FFF2-40B4-BE49-F238E27FC236}">
                <a16:creationId xmlns:a16="http://schemas.microsoft.com/office/drawing/2014/main" id="{9C4FB9DF-61E7-421F-8DF8-FD3003FC7584}"/>
              </a:ext>
            </a:extLst>
          </p:cNvPr>
          <p:cNvSpPr>
            <a:spLocks xmlns:a="http://schemas.openxmlformats.org/drawingml/2006/main" noGrp="1"/>
          </p:cNvSpPr>
          <p:nvPr/>
        </p:nvSpPr>
        <p:spPr>
          <a:xfrm xmlns:a="http://schemas.openxmlformats.org/drawingml/2006/main">
            <a:off x="8572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fdm-fdm-select-g2-r0-axis-head">
            <a:extLst xmlns:a="http://schemas.openxmlformats.org/drawingml/2006/main">
              <a:ext uri="{FF2B5EF4-FFF2-40B4-BE49-F238E27FC236}">
                <a16:creationId xmlns:a16="http://schemas.microsoft.com/office/drawing/2014/main" id="{DF2D1D2E-02D8-469F-BC84-1FD7651636B5}"/>
              </a:ext>
            </a:extLst>
          </p:cNvPr>
          <p:cNvSpPr>
            <a:spLocks xmlns:a="http://schemas.openxmlformats.org/drawingml/2006/main" noGrp="1"/>
          </p:cNvSpPr>
          <p:nvPr/>
        </p:nvSpPr>
        <p:spPr>
          <a:xfrm xmlns:a="http://schemas.openxmlformats.org/drawingml/2006/main" rot="5400000">
            <a:off x="11239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2" name="!!fdm-fdm-select-g2-r0-tick0">
            <a:extLst xmlns:a="http://schemas.openxmlformats.org/drawingml/2006/main">
              <a:ext uri="{FF2B5EF4-FFF2-40B4-BE49-F238E27FC236}">
                <a16:creationId xmlns:a16="http://schemas.microsoft.com/office/drawing/2014/main" id="{FB141705-8952-42B1-AB3C-7E2BFA287DE6}"/>
              </a:ext>
            </a:extLst>
          </p:cNvPr>
          <p:cNvSpPr>
            <a:spLocks xmlns:a="http://schemas.openxmlformats.org/drawingml/2006/main" noGrp="1"/>
          </p:cNvSpPr>
          <p:nvPr/>
        </p:nvSpPr>
        <p:spPr>
          <a:xfrm xmlns:a="http://schemas.openxmlformats.org/drawingml/2006/main">
            <a:off x="9963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fdm-fdm-select-g0-b0n">
            <a:extLst xmlns:a="http://schemas.openxmlformats.org/drawingml/2006/main">
              <a:ext uri="{FF2B5EF4-FFF2-40B4-BE49-F238E27FC236}">
                <a16:creationId xmlns:a16="http://schemas.microsoft.com/office/drawing/2014/main" id="{4A4B3866-1BE5-4377-815D-D418B33ECE68}"/>
              </a:ext>
            </a:extLst>
          </p:cNvPr>
          <p:cNvSpPr>
            <a:spLocks xmlns:a="http://schemas.openxmlformats.org/drawingml/2006/main" noGrp="1"/>
          </p:cNvSpPr>
          <p:nvPr/>
        </p:nvSpPr>
        <p:spPr>
          <a:xfrm xmlns:a="http://schemas.openxmlformats.org/drawingml/2006/main">
            <a:off x="1554888" y="3589973"/>
            <a:ext cx="218531" cy="220028"/>
          </a:xfrm>
          <a:custGeom xmlns:a="http://schemas.openxmlformats.org/drawingml/2006/main">
            <a:pathLst>
              <a:path w="218531" h="220028">
                <a:moveTo>
                  <a:pt x="0" y="220028"/>
                </a:moveTo>
                <a:lnTo>
                  <a:pt x="109265" y="0"/>
                </a:lnTo>
                <a:lnTo>
                  <a:pt x="218531" y="220028"/>
                </a:lnTo>
                <a:close/>
              </a:path>
            </a:pathLst>
          </a:custGeom>
          <a:solidFill xmlns:a="http://schemas.openxmlformats.org/drawingml/2006/main">
            <a:srgbClr val="AAAAAA"/>
          </a:solidFill>
          <a:ln xmlns:a="http://schemas.openxmlformats.org/drawingml/2006/main" w="10478">
            <a:solidFill>
              <a:srgbClr val="202020"/>
            </a:solidFill>
          </a:ln>
        </p:spPr>
      </p:sp>
      <p:sp>
        <p:nvSpPr>
          <p:cNvPr id="24" name="!!fdm-fdm-select-g0-b0p">
            <a:extLst xmlns:a="http://schemas.openxmlformats.org/drawingml/2006/main">
              <a:ext uri="{FF2B5EF4-FFF2-40B4-BE49-F238E27FC236}">
                <a16:creationId xmlns:a16="http://schemas.microsoft.com/office/drawing/2014/main" id="{A5E34108-A4CC-41DB-BE5C-6FE4583B9EFE}"/>
              </a:ext>
            </a:extLst>
          </p:cNvPr>
          <p:cNvSpPr>
            <a:spLocks xmlns:a="http://schemas.openxmlformats.org/drawingml/2006/main" noGrp="1"/>
          </p:cNvSpPr>
          <p:nvPr/>
        </p:nvSpPr>
        <p:spPr>
          <a:xfrm xmlns:a="http://schemas.openxmlformats.org/drawingml/2006/main">
            <a:off x="2150881" y="3589973"/>
            <a:ext cx="218531" cy="220028"/>
          </a:xfrm>
          <a:custGeom xmlns:a="http://schemas.openxmlformats.org/drawingml/2006/main">
            <a:pathLst>
              <a:path w="218531" h="220028">
                <a:moveTo>
                  <a:pt x="0" y="220028"/>
                </a:moveTo>
                <a:lnTo>
                  <a:pt x="109265" y="0"/>
                </a:lnTo>
                <a:lnTo>
                  <a:pt x="218531" y="220028"/>
                </a:lnTo>
                <a:close/>
              </a:path>
            </a:pathLst>
          </a:custGeom>
          <a:solidFill xmlns:a="http://schemas.openxmlformats.org/drawingml/2006/main">
            <a:srgbClr val="AAAAAA"/>
          </a:solidFill>
          <a:ln xmlns:a="http://schemas.openxmlformats.org/drawingml/2006/main" w="10478">
            <a:solidFill>
              <a:srgbClr val="202020"/>
            </a:solidFill>
          </a:ln>
        </p:spPr>
      </p:sp>
      <p:sp>
        <p:nvSpPr>
          <p:cNvPr id="25" name="!!fdm-fdm-select-g0-b1n">
            <a:extLst xmlns:a="http://schemas.openxmlformats.org/drawingml/2006/main">
              <a:ext uri="{FF2B5EF4-FFF2-40B4-BE49-F238E27FC236}">
                <a16:creationId xmlns:a16="http://schemas.microsoft.com/office/drawing/2014/main" id="{FB911AD6-F62E-48D3-8213-4D7CF448BE10}"/>
              </a:ext>
            </a:extLst>
          </p:cNvPr>
          <p:cNvSpPr>
            <a:spLocks xmlns:a="http://schemas.openxmlformats.org/drawingml/2006/main" noGrp="1"/>
          </p:cNvSpPr>
          <p:nvPr/>
        </p:nvSpPr>
        <p:spPr>
          <a:xfrm xmlns:a="http://schemas.openxmlformats.org/drawingml/2006/main">
            <a:off x="1256892" y="3516630"/>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333333"/>
          </a:solidFill>
          <a:ln xmlns:a="http://schemas.openxmlformats.org/drawingml/2006/main" w="10478">
            <a:solidFill>
              <a:srgbClr val="202020"/>
            </a:solidFill>
          </a:ln>
        </p:spPr>
      </p:sp>
      <p:sp>
        <p:nvSpPr>
          <p:cNvPr id="26" name="!!fdm-fdm-select-g0-b1p">
            <a:extLst xmlns:a="http://schemas.openxmlformats.org/drawingml/2006/main">
              <a:ext uri="{FF2B5EF4-FFF2-40B4-BE49-F238E27FC236}">
                <a16:creationId xmlns:a16="http://schemas.microsoft.com/office/drawing/2014/main" id="{6C71B8C3-5232-43C4-9F2A-EC6306D1A726}"/>
              </a:ext>
            </a:extLst>
          </p:cNvPr>
          <p:cNvSpPr>
            <a:spLocks xmlns:a="http://schemas.openxmlformats.org/drawingml/2006/main" noGrp="1"/>
          </p:cNvSpPr>
          <p:nvPr/>
        </p:nvSpPr>
        <p:spPr>
          <a:xfrm xmlns:a="http://schemas.openxmlformats.org/drawingml/2006/main">
            <a:off x="2448878" y="3516630"/>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333333"/>
          </a:solidFill>
          <a:ln xmlns:a="http://schemas.openxmlformats.org/drawingml/2006/main" w="10478">
            <a:solidFill>
              <a:srgbClr val="202020"/>
            </a:solidFill>
          </a:ln>
        </p:spPr>
      </p:sp>
      <p:sp>
        <p:nvSpPr>
          <p:cNvPr id="27" name="!!fdm-fdm-select-g0-b2n">
            <a:extLst xmlns:a="http://schemas.openxmlformats.org/drawingml/2006/main">
              <a:ext uri="{FF2B5EF4-FFF2-40B4-BE49-F238E27FC236}">
                <a16:creationId xmlns:a16="http://schemas.microsoft.com/office/drawing/2014/main" id="{73B62344-34CA-4FA5-8D19-28CA7B0F8DCD}"/>
              </a:ext>
            </a:extLst>
          </p:cNvPr>
          <p:cNvSpPr>
            <a:spLocks xmlns:a="http://schemas.openxmlformats.org/drawingml/2006/main" noGrp="1"/>
          </p:cNvSpPr>
          <p:nvPr/>
        </p:nvSpPr>
        <p:spPr>
          <a:xfrm xmlns:a="http://schemas.openxmlformats.org/drawingml/2006/main">
            <a:off x="958895" y="3621405"/>
            <a:ext cx="218531" cy="188595"/>
          </a:xfrm>
          <a:custGeom xmlns:a="http://schemas.openxmlformats.org/drawingml/2006/main">
            <a:pathLst>
              <a:path w="218531" h="188595">
                <a:moveTo>
                  <a:pt x="0" y="188595"/>
                </a:moveTo>
                <a:lnTo>
                  <a:pt x="109265" y="0"/>
                </a:lnTo>
                <a:lnTo>
                  <a:pt x="218531" y="188595"/>
                </a:lnTo>
                <a:close/>
              </a:path>
            </a:pathLst>
          </a:custGeom>
          <a:solidFill xmlns:a="http://schemas.openxmlformats.org/drawingml/2006/main">
            <a:srgbClr val="CCCCCC"/>
          </a:solidFill>
          <a:ln xmlns:a="http://schemas.openxmlformats.org/drawingml/2006/main" w="10478">
            <a:solidFill>
              <a:srgbClr val="202020"/>
            </a:solidFill>
          </a:ln>
        </p:spPr>
      </p:sp>
      <p:sp>
        <p:nvSpPr>
          <p:cNvPr id="28" name="!!fdm-fdm-select-g0-b2p">
            <a:extLst xmlns:a="http://schemas.openxmlformats.org/drawingml/2006/main">
              <a:ext uri="{FF2B5EF4-FFF2-40B4-BE49-F238E27FC236}">
                <a16:creationId xmlns:a16="http://schemas.microsoft.com/office/drawing/2014/main" id="{137E5525-5F45-417D-AB01-DF5BF6608EBA}"/>
              </a:ext>
            </a:extLst>
          </p:cNvPr>
          <p:cNvSpPr>
            <a:spLocks xmlns:a="http://schemas.openxmlformats.org/drawingml/2006/main" noGrp="1"/>
          </p:cNvSpPr>
          <p:nvPr/>
        </p:nvSpPr>
        <p:spPr>
          <a:xfrm xmlns:a="http://schemas.openxmlformats.org/drawingml/2006/main">
            <a:off x="2746874" y="3621405"/>
            <a:ext cx="218531" cy="188595"/>
          </a:xfrm>
          <a:custGeom xmlns:a="http://schemas.openxmlformats.org/drawingml/2006/main">
            <a:pathLst>
              <a:path w="218531" h="188595">
                <a:moveTo>
                  <a:pt x="0" y="188595"/>
                </a:moveTo>
                <a:lnTo>
                  <a:pt x="109265" y="0"/>
                </a:lnTo>
                <a:lnTo>
                  <a:pt x="218531" y="188595"/>
                </a:lnTo>
                <a:close/>
              </a:path>
            </a:pathLst>
          </a:custGeom>
          <a:solidFill xmlns:a="http://schemas.openxmlformats.org/drawingml/2006/main">
            <a:srgbClr val="CCCCCC"/>
          </a:solidFill>
          <a:ln xmlns:a="http://schemas.openxmlformats.org/drawingml/2006/main" w="10478">
            <a:solidFill>
              <a:srgbClr val="202020"/>
            </a:solidFill>
          </a:ln>
        </p:spPr>
      </p:sp>
      <p:sp>
        <p:nvSpPr>
          <p:cNvPr id="29" name="!!fdm-fdm-select-arrow-line">
            <a:extLst xmlns:a="http://schemas.openxmlformats.org/drawingml/2006/main">
              <a:ext uri="{FF2B5EF4-FFF2-40B4-BE49-F238E27FC236}">
                <a16:creationId xmlns:a16="http://schemas.microsoft.com/office/drawing/2014/main" id="{A5253417-A6BC-4117-A139-84D15D95FD49}"/>
              </a:ext>
            </a:extLst>
          </p:cNvPr>
          <p:cNvSpPr>
            <a:spLocks xmlns:a="http://schemas.openxmlformats.org/drawingml/2006/main" noGrp="1"/>
          </p:cNvSpPr>
          <p:nvPr/>
        </p:nvSpPr>
        <p:spPr>
          <a:xfrm xmlns:a="http://schemas.openxmlformats.org/drawingml/2006/main">
            <a:off x="3581400" y="363855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0" name="!!fdm-fdm-select-arrow-head">
            <a:extLst xmlns:a="http://schemas.openxmlformats.org/drawingml/2006/main">
              <a:ext uri="{FF2B5EF4-FFF2-40B4-BE49-F238E27FC236}">
                <a16:creationId xmlns:a16="http://schemas.microsoft.com/office/drawing/2014/main" id="{E4F4D105-8086-40BE-9361-5530757CB5BB}"/>
              </a:ext>
            </a:extLst>
          </p:cNvPr>
          <p:cNvSpPr>
            <a:spLocks xmlns:a="http://schemas.openxmlformats.org/drawingml/2006/main" noGrp="1"/>
          </p:cNvSpPr>
          <p:nvPr/>
        </p:nvSpPr>
        <p:spPr>
          <a:xfrm xmlns:a="http://schemas.openxmlformats.org/drawingml/2006/main" rot="5400000">
            <a:off x="4229100" y="359092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1" name="!!fdm-fdm-select-label">
            <a:extLst xmlns:a="http://schemas.openxmlformats.org/drawingml/2006/main">
              <a:ext uri="{FF2B5EF4-FFF2-40B4-BE49-F238E27FC236}">
                <a16:creationId xmlns:a16="http://schemas.microsoft.com/office/drawing/2014/main" id="{31A31B44-84DB-4D32-9CBB-168381F79B81}"/>
              </a:ext>
            </a:extLst>
          </p:cNvPr>
          <p:cNvSpPr>
            <a:spLocks xmlns:a="http://schemas.openxmlformats.org/drawingml/2006/main" noGrp="1"/>
          </p:cNvSpPr>
          <p:nvPr/>
        </p:nvSpPr>
        <p:spPr>
          <a:xfrm xmlns:a="http://schemas.openxmlformats.org/drawingml/2006/main">
            <a:off x="3057525" y="32766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BPF</a:t>
            </a:r>
          </a:p>
        </p:txBody>
      </p:sp>
      <p:sp>
        <p:nvSpPr>
          <p:cNvPr id="32" name="!!fdm-fdm-select-g0-r0-filter0">
            <a:extLst xmlns:a="http://schemas.openxmlformats.org/drawingml/2006/main">
              <a:ext uri="{FF2B5EF4-FFF2-40B4-BE49-F238E27FC236}">
                <a16:creationId xmlns:a16="http://schemas.microsoft.com/office/drawing/2014/main" id="{1DD4DF4D-00B0-4A55-BB8A-279C84A2173C}"/>
              </a:ext>
            </a:extLst>
          </p:cNvPr>
          <p:cNvSpPr>
            <a:spLocks xmlns:a="http://schemas.openxmlformats.org/drawingml/2006/main" noGrp="1"/>
          </p:cNvSpPr>
          <p:nvPr/>
        </p:nvSpPr>
        <p:spPr>
          <a:xfrm xmlns:a="http://schemas.openxmlformats.org/drawingml/2006/main">
            <a:off x="1256892" y="3421380"/>
            <a:ext cx="218531" cy="502920"/>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3" name="!!fdm-fdm-select-g0-r0-filter1">
            <a:extLst xmlns:a="http://schemas.openxmlformats.org/drawingml/2006/main">
              <a:ext uri="{FF2B5EF4-FFF2-40B4-BE49-F238E27FC236}">
                <a16:creationId xmlns:a16="http://schemas.microsoft.com/office/drawing/2014/main" id="{C36898B9-A1A2-42B2-8DB1-E935196AE148}"/>
              </a:ext>
            </a:extLst>
          </p:cNvPr>
          <p:cNvSpPr>
            <a:spLocks xmlns:a="http://schemas.openxmlformats.org/drawingml/2006/main" noGrp="1"/>
          </p:cNvSpPr>
          <p:nvPr/>
        </p:nvSpPr>
        <p:spPr>
          <a:xfrm xmlns:a="http://schemas.openxmlformats.org/drawingml/2006/main">
            <a:off x="2448878" y="3421380"/>
            <a:ext cx="218531" cy="502920"/>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4" name="!!fdm-fdm-select-g1-bn">
            <a:extLst xmlns:a="http://schemas.openxmlformats.org/drawingml/2006/main">
              <a:ext uri="{FF2B5EF4-FFF2-40B4-BE49-F238E27FC236}">
                <a16:creationId xmlns:a16="http://schemas.microsoft.com/office/drawing/2014/main" id="{5864216D-9874-4050-8918-3FA255CBA747}"/>
              </a:ext>
            </a:extLst>
          </p:cNvPr>
          <p:cNvSpPr>
            <a:spLocks xmlns:a="http://schemas.openxmlformats.org/drawingml/2006/main" noGrp="1"/>
          </p:cNvSpPr>
          <p:nvPr/>
        </p:nvSpPr>
        <p:spPr>
          <a:xfrm xmlns:a="http://schemas.openxmlformats.org/drawingml/2006/main">
            <a:off x="5257392" y="3516630"/>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535353"/>
          </a:solidFill>
          <a:ln xmlns:a="http://schemas.openxmlformats.org/drawingml/2006/main" w="10478">
            <a:solidFill>
              <a:srgbClr val="202020"/>
            </a:solidFill>
          </a:ln>
        </p:spPr>
      </p:sp>
      <p:sp>
        <p:nvSpPr>
          <p:cNvPr id="35" name="!!fdm-fdm-select-g1-bp">
            <a:extLst xmlns:a="http://schemas.openxmlformats.org/drawingml/2006/main">
              <a:ext uri="{FF2B5EF4-FFF2-40B4-BE49-F238E27FC236}">
                <a16:creationId xmlns:a16="http://schemas.microsoft.com/office/drawing/2014/main" id="{7BBBC198-74A6-491E-8A5B-8CFEB5AC8E52}"/>
              </a:ext>
            </a:extLst>
          </p:cNvPr>
          <p:cNvSpPr>
            <a:spLocks xmlns:a="http://schemas.openxmlformats.org/drawingml/2006/main" noGrp="1"/>
          </p:cNvSpPr>
          <p:nvPr/>
        </p:nvSpPr>
        <p:spPr>
          <a:xfrm xmlns:a="http://schemas.openxmlformats.org/drawingml/2006/main">
            <a:off x="6449378" y="3516630"/>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535353"/>
          </a:solidFill>
          <a:ln xmlns:a="http://schemas.openxmlformats.org/drawingml/2006/main" w="10478">
            <a:solidFill>
              <a:srgbClr val="202020"/>
            </a:solidFill>
          </a:ln>
        </p:spPr>
      </p:sp>
      <p:sp>
        <p:nvSpPr>
          <p:cNvPr id="36" name="!!fdm-fdm-recover-arrow-line">
            <a:extLst xmlns:a="http://schemas.openxmlformats.org/drawingml/2006/main">
              <a:ext uri="{FF2B5EF4-FFF2-40B4-BE49-F238E27FC236}">
                <a16:creationId xmlns:a16="http://schemas.microsoft.com/office/drawing/2014/main" id="{6AB1CA51-ADC8-4C44-BDC0-7FB82A87E1B7}"/>
              </a:ext>
            </a:extLst>
          </p:cNvPr>
          <p:cNvSpPr>
            <a:spLocks xmlns:a="http://schemas.openxmlformats.org/drawingml/2006/main" noGrp="1"/>
          </p:cNvSpPr>
          <p:nvPr/>
        </p:nvSpPr>
        <p:spPr>
          <a:xfrm xmlns:a="http://schemas.openxmlformats.org/drawingml/2006/main">
            <a:off x="7581900" y="363855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7" name="!!fdm-fdm-recover-arrow-head">
            <a:extLst xmlns:a="http://schemas.openxmlformats.org/drawingml/2006/main">
              <a:ext uri="{FF2B5EF4-FFF2-40B4-BE49-F238E27FC236}">
                <a16:creationId xmlns:a16="http://schemas.microsoft.com/office/drawing/2014/main" id="{B2F8F1BA-7114-45FE-9D6F-FC4FD15C705D}"/>
              </a:ext>
            </a:extLst>
          </p:cNvPr>
          <p:cNvSpPr>
            <a:spLocks xmlns:a="http://schemas.openxmlformats.org/drawingml/2006/main" noGrp="1"/>
          </p:cNvSpPr>
          <p:nvPr/>
        </p:nvSpPr>
        <p:spPr>
          <a:xfrm xmlns:a="http://schemas.openxmlformats.org/drawingml/2006/main" rot="5400000">
            <a:off x="8229600" y="359092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8" name="!!fdm-fdm-recover-label">
            <a:extLst xmlns:a="http://schemas.openxmlformats.org/drawingml/2006/main">
              <a:ext uri="{FF2B5EF4-FFF2-40B4-BE49-F238E27FC236}">
                <a16:creationId xmlns:a16="http://schemas.microsoft.com/office/drawing/2014/main" id="{48E4B0A1-C3D2-435F-838A-9E581D0C996A}"/>
              </a:ext>
            </a:extLst>
          </p:cNvPr>
          <p:cNvSpPr>
            <a:spLocks xmlns:a="http://schemas.openxmlformats.org/drawingml/2006/main" noGrp="1"/>
          </p:cNvSpPr>
          <p:nvPr/>
        </p:nvSpPr>
        <p:spPr>
          <a:xfrm xmlns:a="http://schemas.openxmlformats.org/drawingml/2006/main">
            <a:off x="7058025" y="32766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Mix + LPF</a:t>
            </a:r>
          </a:p>
        </p:txBody>
      </p:sp>
      <p:sp>
        <p:nvSpPr>
          <p:cNvPr id="39" name="!!fdm-fdm-select-g2-in-n">
            <a:extLst xmlns:a="http://schemas.openxmlformats.org/drawingml/2006/main">
              <a:ext uri="{FF2B5EF4-FFF2-40B4-BE49-F238E27FC236}">
                <a16:creationId xmlns:a16="http://schemas.microsoft.com/office/drawing/2014/main" id="{681A2BCC-DAEE-45D4-B30E-471AEF85B0B9}"/>
              </a:ext>
            </a:extLst>
          </p:cNvPr>
          <p:cNvSpPr>
            <a:spLocks xmlns:a="http://schemas.openxmlformats.org/drawingml/2006/main" noGrp="1"/>
          </p:cNvSpPr>
          <p:nvPr/>
        </p:nvSpPr>
        <p:spPr>
          <a:xfrm xmlns:a="http://schemas.openxmlformats.org/drawingml/2006/main">
            <a:off x="9853885" y="3516630"/>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535353"/>
          </a:solidFill>
          <a:ln xmlns:a="http://schemas.openxmlformats.org/drawingml/2006/main" w="10478">
            <a:solidFill>
              <a:srgbClr val="202020"/>
            </a:solidFill>
          </a:ln>
        </p:spPr>
      </p:sp>
      <p:sp>
        <p:nvSpPr>
          <p:cNvPr id="40" name="!!fdm-fdm-select-g2-in-p">
            <a:extLst xmlns:a="http://schemas.openxmlformats.org/drawingml/2006/main">
              <a:ext uri="{FF2B5EF4-FFF2-40B4-BE49-F238E27FC236}">
                <a16:creationId xmlns:a16="http://schemas.microsoft.com/office/drawing/2014/main" id="{682B4BE0-BFF4-43A8-8FE8-DF259E9E9B72}"/>
              </a:ext>
            </a:extLst>
          </p:cNvPr>
          <p:cNvSpPr>
            <a:spLocks xmlns:a="http://schemas.openxmlformats.org/drawingml/2006/main" noGrp="1"/>
          </p:cNvSpPr>
          <p:nvPr/>
        </p:nvSpPr>
        <p:spPr>
          <a:xfrm xmlns:a="http://schemas.openxmlformats.org/drawingml/2006/main">
            <a:off x="9853885" y="3516630"/>
            <a:ext cx="218531" cy="293370"/>
          </a:xfrm>
          <a:custGeom xmlns:a="http://schemas.openxmlformats.org/drawingml/2006/main">
            <a:pathLst>
              <a:path w="218531" h="293370">
                <a:moveTo>
                  <a:pt x="0" y="293370"/>
                </a:moveTo>
                <a:lnTo>
                  <a:pt x="109265" y="0"/>
                </a:lnTo>
                <a:lnTo>
                  <a:pt x="218531" y="293370"/>
                </a:lnTo>
                <a:close/>
              </a:path>
            </a:pathLst>
          </a:custGeom>
          <a:solidFill xmlns:a="http://schemas.openxmlformats.org/drawingml/2006/main">
            <a:srgbClr val="535353"/>
          </a:solidFill>
          <a:ln xmlns:a="http://schemas.openxmlformats.org/drawingml/2006/main" w="10478">
            <a:solidFill>
              <a:srgbClr val="202020"/>
            </a:solidFill>
          </a:ln>
        </p:spPr>
      </p:sp>
      <p:sp>
        <p:nvSpPr>
          <p:cNvPr id="41" name="!!fdm-fdm-select-g2-c">
            <a:extLst xmlns:a="http://schemas.openxmlformats.org/drawingml/2006/main">
              <a:ext uri="{FF2B5EF4-FFF2-40B4-BE49-F238E27FC236}">
                <a16:creationId xmlns:a16="http://schemas.microsoft.com/office/drawing/2014/main" id="{65ED3313-BBE7-4BDF-BAA8-C510AAEB2371}"/>
              </a:ext>
            </a:extLst>
          </p:cNvPr>
          <p:cNvSpPr>
            <a:spLocks xmlns:a="http://schemas.openxmlformats.org/drawingml/2006/main" noGrp="1"/>
          </p:cNvSpPr>
          <p:nvPr/>
        </p:nvSpPr>
        <p:spPr>
          <a:xfrm xmlns:a="http://schemas.openxmlformats.org/drawingml/2006/main">
            <a:off x="9853885" y="3223260"/>
            <a:ext cx="218531" cy="586740"/>
          </a:xfrm>
          <a:custGeom xmlns:a="http://schemas.openxmlformats.org/drawingml/2006/main">
            <a:pathLst>
              <a:path w="218531" h="586740">
                <a:moveTo>
                  <a:pt x="0" y="586740"/>
                </a:moveTo>
                <a:lnTo>
                  <a:pt x="109265" y="0"/>
                </a:lnTo>
                <a:lnTo>
                  <a:pt x="218531" y="586740"/>
                </a:lnTo>
                <a:close/>
              </a:path>
            </a:pathLst>
          </a:custGeom>
          <a:solidFill xmlns:a="http://schemas.openxmlformats.org/drawingml/2006/main">
            <a:srgbClr val="535353"/>
          </a:solidFill>
          <a:ln xmlns:a="http://schemas.openxmlformats.org/drawingml/2006/main" w="10478">
            <a:solidFill>
              <a:srgbClr val="202020"/>
            </a:solidFill>
          </a:ln>
        </p:spPr>
      </p:sp>
      <p:pic>
        <p:nvPicPr>
          <p:cNvPr id="107" name="!!fdm-route-m" descr="m_1,m_2,m_3">
            <ns0:hlinkClick xmlns:ns0="http://schemas.openxmlformats.org/drawingml/2006/main" xmlns:ns1="http://schemas.openxmlformats.org/officeDocument/2006/relationships" ns1:id="rIdmethods_Link2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15c00974a9064617">
            <a:extLst>
              <a:ext uri="{96DAC541-7B7A-43D3-8B79-37D633B846F1}">
                <ns0:svgBlip xmlns:ns0="http://schemas.microsoft.com/office/drawing/2016/SVG/main" r:embed="rIdVectormf00104"/>
              </a:ext>
            </a:extLst>
          </a:blip>
          <a:stretch xmlns:a="http://schemas.openxmlformats.org/drawingml/2006/main"/>
        </p:blipFill>
        <p:spPr>
          <a:xfrm xmlns:a="http://schemas.openxmlformats.org/drawingml/2006/main">
            <a:off x="1714028" y="1273295"/>
            <a:ext cx="1810693" cy="215660"/>
          </a:xfrm>
          <a:prstGeom xmlns:a="http://schemas.openxmlformats.org/drawingml/2006/main" prst="rect">
            <a:avLst/>
          </a:prstGeom>
        </p:spPr>
      </p:pic>
      <p:pic>
        <p:nvPicPr>
          <p:cNvPr id="108" name="!!fdm-route-s" descr="s(t)">
            <ns0:hlinkClick xmlns:ns0="http://schemas.openxmlformats.org/drawingml/2006/main" xmlns:ns1="http://schemas.openxmlformats.org/officeDocument/2006/relationships" ns1:id="rIdmethods_Link28"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e1ad8e51e8844c43">
            <a:extLst>
              <a:ext uri="{96DAC541-7B7A-43D3-8B79-37D633B846F1}">
                <ns1:svgBlip xmlns:ns1="http://schemas.microsoft.com/office/drawing/2016/SVG/main" r:embed="rIdVectormf00105"/>
              </a:ext>
            </a:extLst>
          </a:blip>
          <a:stretch xmlns:a="http://schemas.openxmlformats.org/drawingml/2006/main"/>
        </p:blipFill>
        <p:spPr>
          <a:xfrm xmlns:a="http://schemas.openxmlformats.org/drawingml/2006/main">
            <a:off x="5736404" y="1181100"/>
            <a:ext cx="719191" cy="400050"/>
          </a:xfrm>
          <a:prstGeom xmlns:a="http://schemas.openxmlformats.org/drawingml/2006/main" prst="rect">
            <a:avLst/>
          </a:prstGeom>
        </p:spPr>
      </p:pic>
      <p:pic>
        <p:nvPicPr>
          <p:cNvPr id="109" name="!!fdm-route-restored" descr="m_2(t)">
            <ns0:hlinkClick xmlns:ns0="http://schemas.openxmlformats.org/drawingml/2006/main" xmlns:ns1="http://schemas.openxmlformats.org/officeDocument/2006/relationships" ns1:id="rIdmethods_Link2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3f086dddee74de7">
            <a:extLst>
              <a:ext uri="{96DAC541-7B7A-43D3-8B79-37D633B846F1}">
                <ns2:svgBlip xmlns:ns2="http://schemas.microsoft.com/office/drawing/2016/SVG/main" r:embed="rIdVectormf00106"/>
              </a:ext>
            </a:extLst>
          </a:blip>
          <a:stretch xmlns:a="http://schemas.openxmlformats.org/drawingml/2006/main"/>
        </p:blipFill>
        <p:spPr>
          <a:xfrm xmlns:a="http://schemas.openxmlformats.org/drawingml/2006/main">
            <a:off x="9012555" y="1181100"/>
            <a:ext cx="1120140" cy="400050"/>
          </a:xfrm>
          <a:prstGeom xmlns:a="http://schemas.openxmlformats.org/drawingml/2006/main" prst="rect">
            <a:avLst/>
          </a:prstGeom>
        </p:spPr>
      </p:pic>
      <p:pic>
        <p:nvPicPr>
          <p:cNvPr id="110" name="!!fdm-fdm-select-g0-r0-domain" descr="f"/>
          <p:cNvPicPr>
            <a:picLocks xmlns:a="http://schemas.openxmlformats.org/drawingml/2006/main" noChangeAspect="1"/>
          </p:cNvPicPr>
          <p:nvPr/>
        </p:nvPicPr>
        <p:blipFill>
          <a:blip xmlns:r="http://schemas.openxmlformats.org/officeDocument/2006/relationships" xmlns:a="http://schemas.openxmlformats.org/drawingml/2006/main" r:embed="Rdb4d5a4722ff4dfc">
            <a:extLst>
              <a:ext uri="{96DAC541-7B7A-43D3-8B79-37D633B846F1}">
                <ns3:svgBlip xmlns:ns3="http://schemas.microsoft.com/office/drawing/2016/SVG/main" r:embed="rIdVectormf00107"/>
              </a:ext>
            </a:extLst>
          </a:blip>
          <a:stretch xmlns:a="http://schemas.openxmlformats.org/drawingml/2006/main"/>
        </p:blipFill>
        <p:spPr>
          <a:xfrm xmlns:a="http://schemas.openxmlformats.org/drawingml/2006/main">
            <a:off x="3374873" y="3597593"/>
            <a:ext cx="79678" cy="120015"/>
          </a:xfrm>
          <a:prstGeom xmlns:a="http://schemas.openxmlformats.org/drawingml/2006/main" prst="rect">
            <a:avLst/>
          </a:prstGeom>
        </p:spPr>
      </p:pic>
      <p:pic>
        <p:nvPicPr>
          <p:cNvPr id="111" name="!!fdm-fdm-select-g0-r0-ticklabel0" descr="-f_{c,1}"/>
          <p:cNvPicPr>
            <a:picLocks xmlns:a="http://schemas.openxmlformats.org/drawingml/2006/main" noChangeAspect="1"/>
          </p:cNvPicPr>
          <p:nvPr/>
        </p:nvPicPr>
        <p:blipFill>
          <a:blip xmlns:r="http://schemas.openxmlformats.org/officeDocument/2006/relationships" xmlns:a="http://schemas.openxmlformats.org/drawingml/2006/main" r:embed="R2b3a1234ea6d49a2">
            <a:extLst>
              <a:ext uri="{96DAC541-7B7A-43D3-8B79-37D633B846F1}">
                <ns4:svgBlip xmlns:ns4="http://schemas.microsoft.com/office/drawing/2016/SVG/main" r:embed="rIdVectormf00108"/>
              </a:ext>
            </a:extLst>
          </a:blip>
          <a:stretch xmlns:a="http://schemas.openxmlformats.org/drawingml/2006/main"/>
        </p:blipFill>
        <p:spPr>
          <a:xfrm xmlns:a="http://schemas.openxmlformats.org/drawingml/2006/main">
            <a:off x="1458414" y="3914775"/>
            <a:ext cx="411480" cy="171450"/>
          </a:xfrm>
          <a:prstGeom xmlns:a="http://schemas.openxmlformats.org/drawingml/2006/main" prst="rect">
            <a:avLst/>
          </a:prstGeom>
        </p:spPr>
      </p:pic>
      <p:pic>
        <p:nvPicPr>
          <p:cNvPr id="112" name="!!fdm-fdm-select-g0-r0-ticklabel1" descr="f_{c,1}"/>
          <p:cNvPicPr>
            <a:picLocks xmlns:a="http://schemas.openxmlformats.org/drawingml/2006/main" noChangeAspect="1"/>
          </p:cNvPicPr>
          <p:nvPr/>
        </p:nvPicPr>
        <p:blipFill>
          <a:blip xmlns:r="http://schemas.openxmlformats.org/officeDocument/2006/relationships" xmlns:a="http://schemas.openxmlformats.org/drawingml/2006/main" r:embed="R8c58ac01a0bd4b36">
            <a:extLst>
              <a:ext uri="{96DAC541-7B7A-43D3-8B79-37D633B846F1}">
                <ns5:svgBlip xmlns:ns5="http://schemas.microsoft.com/office/drawing/2016/SVG/main" r:embed="rIdVectormf00109"/>
              </a:ext>
            </a:extLst>
          </a:blip>
          <a:stretch xmlns:a="http://schemas.openxmlformats.org/drawingml/2006/main"/>
        </p:blipFill>
        <p:spPr>
          <a:xfrm xmlns:a="http://schemas.openxmlformats.org/drawingml/2006/main">
            <a:off x="2131960" y="3914775"/>
            <a:ext cx="256374" cy="171450"/>
          </a:xfrm>
          <a:prstGeom xmlns:a="http://schemas.openxmlformats.org/drawingml/2006/main" prst="rect">
            <a:avLst/>
          </a:prstGeom>
        </p:spPr>
      </p:pic>
      <p:pic>
        <p:nvPicPr>
          <p:cNvPr id="113" name="!!fdm-fdm-select-g0-r0-ticklabel2" descr="-f_{c,2}"/>
          <p:cNvPicPr>
            <a:picLocks xmlns:a="http://schemas.openxmlformats.org/drawingml/2006/main" noChangeAspect="1"/>
          </p:cNvPicPr>
          <p:nvPr/>
        </p:nvPicPr>
        <p:blipFill>
          <a:blip xmlns:r="http://schemas.openxmlformats.org/officeDocument/2006/relationships" xmlns:a="http://schemas.openxmlformats.org/drawingml/2006/main" r:embed="R2f55eed982544c29">
            <a:extLst>
              <a:ext uri="{96DAC541-7B7A-43D3-8B79-37D633B846F1}">
                <ns6:svgBlip xmlns:ns6="http://schemas.microsoft.com/office/drawing/2016/SVG/main" r:embed="rIdVectormf00110"/>
              </a:ext>
            </a:extLst>
          </a:blip>
          <a:stretch xmlns:a="http://schemas.openxmlformats.org/drawingml/2006/main"/>
        </p:blipFill>
        <p:spPr>
          <a:xfrm xmlns:a="http://schemas.openxmlformats.org/drawingml/2006/main">
            <a:off x="1160417" y="4114800"/>
            <a:ext cx="411480" cy="171450"/>
          </a:xfrm>
          <a:prstGeom xmlns:a="http://schemas.openxmlformats.org/drawingml/2006/main" prst="rect">
            <a:avLst/>
          </a:prstGeom>
        </p:spPr>
      </p:pic>
      <p:pic>
        <p:nvPicPr>
          <p:cNvPr id="114" name="!!fdm-fdm-select-g0-r0-ticklabel3" descr="f_{c,2}"/>
          <p:cNvPicPr>
            <a:picLocks xmlns:a="http://schemas.openxmlformats.org/drawingml/2006/main" noChangeAspect="1"/>
          </p:cNvPicPr>
          <p:nvPr/>
        </p:nvPicPr>
        <p:blipFill>
          <a:blip xmlns:r="http://schemas.openxmlformats.org/officeDocument/2006/relationships" xmlns:a="http://schemas.openxmlformats.org/drawingml/2006/main" r:embed="R2900ca33420b4b5d">
            <a:extLst>
              <a:ext uri="{96DAC541-7B7A-43D3-8B79-37D633B846F1}">
                <ns7:svgBlip xmlns:ns7="http://schemas.microsoft.com/office/drawing/2016/SVG/main" r:embed="rIdVectormf00111"/>
              </a:ext>
            </a:extLst>
          </a:blip>
          <a:stretch xmlns:a="http://schemas.openxmlformats.org/drawingml/2006/main"/>
        </p:blipFill>
        <p:spPr>
          <a:xfrm xmlns:a="http://schemas.openxmlformats.org/drawingml/2006/main">
            <a:off x="2429956" y="4114800"/>
            <a:ext cx="256374" cy="171450"/>
          </a:xfrm>
          <a:prstGeom xmlns:a="http://schemas.openxmlformats.org/drawingml/2006/main" prst="rect">
            <a:avLst/>
          </a:prstGeom>
        </p:spPr>
      </p:pic>
      <p:pic>
        <p:nvPicPr>
          <p:cNvPr id="115" name="!!fdm-fdm-select-g0-r0-ticklabel4" descr="-f_{c,3}"/>
          <p:cNvPicPr>
            <a:picLocks xmlns:a="http://schemas.openxmlformats.org/drawingml/2006/main" noChangeAspect="1"/>
          </p:cNvPicPr>
          <p:nvPr/>
        </p:nvPicPr>
        <p:blipFill>
          <a:blip xmlns:r="http://schemas.openxmlformats.org/officeDocument/2006/relationships" xmlns:a="http://schemas.openxmlformats.org/drawingml/2006/main" r:embed="R9da9ef8be3f44b62">
            <a:extLst>
              <a:ext uri="{96DAC541-7B7A-43D3-8B79-37D633B846F1}">
                <ns8:svgBlip xmlns:ns8="http://schemas.microsoft.com/office/drawing/2016/SVG/main" r:embed="rIdVectormf00112"/>
              </a:ext>
            </a:extLst>
          </a:blip>
          <a:stretch xmlns:a="http://schemas.openxmlformats.org/drawingml/2006/main"/>
        </p:blipFill>
        <p:spPr>
          <a:xfrm xmlns:a="http://schemas.openxmlformats.org/drawingml/2006/main">
            <a:off x="862421" y="3914775"/>
            <a:ext cx="411480" cy="171450"/>
          </a:xfrm>
          <a:prstGeom xmlns:a="http://schemas.openxmlformats.org/drawingml/2006/main" prst="rect">
            <a:avLst/>
          </a:prstGeom>
        </p:spPr>
      </p:pic>
      <p:pic>
        <p:nvPicPr>
          <p:cNvPr id="116" name="!!fdm-fdm-select-g0-r0-ticklabel5" descr="f_{c,3}"/>
          <p:cNvPicPr>
            <a:picLocks xmlns:a="http://schemas.openxmlformats.org/drawingml/2006/main" noChangeAspect="1"/>
          </p:cNvPicPr>
          <p:nvPr/>
        </p:nvPicPr>
        <p:blipFill>
          <a:blip xmlns:r="http://schemas.openxmlformats.org/officeDocument/2006/relationships" xmlns:a="http://schemas.openxmlformats.org/drawingml/2006/main" r:embed="R3327887c5d7b4ad8">
            <a:extLst>
              <a:ext uri="{96DAC541-7B7A-43D3-8B79-37D633B846F1}">
                <ns9:svgBlip xmlns:ns9="http://schemas.microsoft.com/office/drawing/2016/SVG/main" r:embed="rIdVectormf00113"/>
              </a:ext>
            </a:extLst>
          </a:blip>
          <a:stretch xmlns:a="http://schemas.openxmlformats.org/drawingml/2006/main"/>
        </p:blipFill>
        <p:spPr>
          <a:xfrm xmlns:a="http://schemas.openxmlformats.org/drawingml/2006/main">
            <a:off x="2727952" y="3914775"/>
            <a:ext cx="256374" cy="171450"/>
          </a:xfrm>
          <a:prstGeom xmlns:a="http://schemas.openxmlformats.org/drawingml/2006/main" prst="rect">
            <a:avLst/>
          </a:prstGeom>
        </p:spPr>
      </p:pic>
      <p:pic>
        <p:nvPicPr>
          <p:cNvPr id="117" name="!!fdm-fdm-select-g0-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9afef140966a4180">
            <a:extLst>
              <a:ext uri="{96DAC541-7B7A-43D3-8B79-37D633B846F1}">
                <ns10:svgBlip xmlns:ns10="http://schemas.microsoft.com/office/drawing/2016/SVG/main" r:embed="rIdVectormf00114"/>
              </a:ext>
            </a:extLst>
          </a:blip>
          <a:stretch xmlns:a="http://schemas.openxmlformats.org/drawingml/2006/main"/>
        </p:blipFill>
        <p:spPr>
          <a:xfrm xmlns:a="http://schemas.openxmlformats.org/drawingml/2006/main">
            <a:off x="571500" y="2667000"/>
            <a:ext cx="419100" cy="209550"/>
          </a:xfrm>
          <a:prstGeom xmlns:a="http://schemas.openxmlformats.org/drawingml/2006/main" prst="rect">
            <a:avLst/>
          </a:prstGeom>
        </p:spPr>
      </p:pic>
      <p:pic>
        <p:nvPicPr>
          <p:cNvPr id="118" name="!!fdm-fdm-select-g1-r0-domain" descr="f"/>
          <p:cNvPicPr>
            <a:picLocks xmlns:a="http://schemas.openxmlformats.org/drawingml/2006/main" noChangeAspect="1"/>
          </p:cNvPicPr>
          <p:nvPr/>
        </p:nvPicPr>
        <p:blipFill>
          <a:blip xmlns:r="http://schemas.openxmlformats.org/officeDocument/2006/relationships" xmlns:a="http://schemas.openxmlformats.org/drawingml/2006/main" r:embed="Rb93c9d2d97e04514">
            <a:extLst>
              <a:ext uri="{96DAC541-7B7A-43D3-8B79-37D633B846F1}">
                <ns11:svgBlip xmlns:ns11="http://schemas.microsoft.com/office/drawing/2016/SVG/main" r:embed="rIdVectormf00115"/>
              </a:ext>
            </a:extLst>
          </a:blip>
          <a:stretch xmlns:a="http://schemas.openxmlformats.org/drawingml/2006/main"/>
        </p:blipFill>
        <p:spPr>
          <a:xfrm xmlns:a="http://schemas.openxmlformats.org/drawingml/2006/main">
            <a:off x="7375373" y="3597593"/>
            <a:ext cx="79678" cy="120015"/>
          </a:xfrm>
          <a:prstGeom xmlns:a="http://schemas.openxmlformats.org/drawingml/2006/main" prst="rect">
            <a:avLst/>
          </a:prstGeom>
        </p:spPr>
      </p:pic>
      <p:pic>
        <p:nvPicPr>
          <p:cNvPr id="119" name="!!fdm-fdm-select-g1-r0-ticklabel0" descr="-f_{c,2}"/>
          <p:cNvPicPr>
            <a:picLocks xmlns:a="http://schemas.openxmlformats.org/drawingml/2006/main" noChangeAspect="1"/>
          </p:cNvPicPr>
          <p:nvPr/>
        </p:nvPicPr>
        <p:blipFill>
          <a:blip xmlns:r="http://schemas.openxmlformats.org/officeDocument/2006/relationships" xmlns:a="http://schemas.openxmlformats.org/drawingml/2006/main" r:embed="Ra99cf5c60d924528">
            <a:extLst>
              <a:ext uri="{96DAC541-7B7A-43D3-8B79-37D633B846F1}">
                <ns12:svgBlip xmlns:ns12="http://schemas.microsoft.com/office/drawing/2016/SVG/main" r:embed="rIdVectormf00116"/>
              </a:ext>
            </a:extLst>
          </a:blip>
          <a:stretch xmlns:a="http://schemas.openxmlformats.org/drawingml/2006/main"/>
        </p:blipFill>
        <p:spPr>
          <a:xfrm xmlns:a="http://schemas.openxmlformats.org/drawingml/2006/main">
            <a:off x="5160917" y="3914775"/>
            <a:ext cx="411480" cy="171450"/>
          </a:xfrm>
          <a:prstGeom xmlns:a="http://schemas.openxmlformats.org/drawingml/2006/main" prst="rect">
            <a:avLst/>
          </a:prstGeom>
        </p:spPr>
      </p:pic>
      <p:pic>
        <p:nvPicPr>
          <p:cNvPr id="120" name="!!fdm-fdm-select-g1-r0-ticklabel1" descr="0"/>
          <p:cNvPicPr>
            <a:picLocks xmlns:a="http://schemas.openxmlformats.org/drawingml/2006/main" noChangeAspect="1"/>
          </p:cNvPicPr>
          <p:nvPr/>
        </p:nvPicPr>
        <p:blipFill>
          <a:blip xmlns:r="http://schemas.openxmlformats.org/officeDocument/2006/relationships" xmlns:a="http://schemas.openxmlformats.org/drawingml/2006/main" r:embed="R04fe0919e7f44548">
            <a:extLst>
              <a:ext uri="{96DAC541-7B7A-43D3-8B79-37D633B846F1}">
                <ns13:svgBlip xmlns:ns13="http://schemas.microsoft.com/office/drawing/2016/SVG/main" r:embed="rIdVectormf00117"/>
              </a:ext>
            </a:extLst>
          </a:blip>
          <a:stretch xmlns:a="http://schemas.openxmlformats.org/drawingml/2006/main"/>
        </p:blipFill>
        <p:spPr>
          <a:xfrm xmlns:a="http://schemas.openxmlformats.org/drawingml/2006/main">
            <a:off x="5916675" y="3949065"/>
            <a:ext cx="91951" cy="102870"/>
          </a:xfrm>
          <a:prstGeom xmlns:a="http://schemas.openxmlformats.org/drawingml/2006/main" prst="rect">
            <a:avLst/>
          </a:prstGeom>
        </p:spPr>
      </p:pic>
      <p:pic>
        <p:nvPicPr>
          <p:cNvPr id="121" name="!!fdm-fdm-select-g1-r0-ticklabel2" descr="f_{c,2}"/>
          <p:cNvPicPr>
            <a:picLocks xmlns:a="http://schemas.openxmlformats.org/drawingml/2006/main" noChangeAspect="1"/>
          </p:cNvPicPr>
          <p:nvPr/>
        </p:nvPicPr>
        <p:blipFill>
          <a:blip xmlns:r="http://schemas.openxmlformats.org/officeDocument/2006/relationships" xmlns:a="http://schemas.openxmlformats.org/drawingml/2006/main" r:embed="R8e565943f66a4fa5">
            <a:extLst>
              <a:ext uri="{96DAC541-7B7A-43D3-8B79-37D633B846F1}">
                <ns14:svgBlip xmlns:ns14="http://schemas.microsoft.com/office/drawing/2016/SVG/main" r:embed="rIdVectormf00118"/>
              </a:ext>
            </a:extLst>
          </a:blip>
          <a:stretch xmlns:a="http://schemas.openxmlformats.org/drawingml/2006/main"/>
        </p:blipFill>
        <p:spPr>
          <a:xfrm xmlns:a="http://schemas.openxmlformats.org/drawingml/2006/main">
            <a:off x="6430456" y="3914775"/>
            <a:ext cx="256374" cy="171450"/>
          </a:xfrm>
          <a:prstGeom xmlns:a="http://schemas.openxmlformats.org/drawingml/2006/main" prst="rect">
            <a:avLst/>
          </a:prstGeom>
        </p:spPr>
      </p:pic>
      <p:pic>
        <p:nvPicPr>
          <p:cNvPr id="122" name="!!fdm-fdm-select-g1-r0-label" descr="\textstyle S_2(f)"/>
          <p:cNvPicPr>
            <a:picLocks xmlns:a="http://schemas.openxmlformats.org/drawingml/2006/main" noChangeAspect="1"/>
          </p:cNvPicPr>
          <p:nvPr/>
        </p:nvPicPr>
        <p:blipFill>
          <a:blip xmlns:r="http://schemas.openxmlformats.org/officeDocument/2006/relationships" xmlns:a="http://schemas.openxmlformats.org/drawingml/2006/main" r:embed="R018d936c93cc49e2">
            <a:extLst>
              <a:ext uri="{96DAC541-7B7A-43D3-8B79-37D633B846F1}">
                <ns15:svgBlip xmlns:ns15="http://schemas.microsoft.com/office/drawing/2016/SVG/main" r:embed="rIdVectormf00119"/>
              </a:ext>
            </a:extLst>
          </a:blip>
          <a:stretch xmlns:a="http://schemas.openxmlformats.org/drawingml/2006/main"/>
        </p:blipFill>
        <p:spPr>
          <a:xfrm xmlns:a="http://schemas.openxmlformats.org/drawingml/2006/main">
            <a:off x="4572000" y="2667000"/>
            <a:ext cx="523875" cy="209550"/>
          </a:xfrm>
          <a:prstGeom xmlns:a="http://schemas.openxmlformats.org/drawingml/2006/main" prst="rect">
            <a:avLst/>
          </a:prstGeom>
        </p:spPr>
      </p:pic>
      <p:pic>
        <p:nvPicPr>
          <p:cNvPr id="123" name="!!fdm-fdm-select-g2-r0-domain" descr="f"/>
          <p:cNvPicPr>
            <a:picLocks xmlns:a="http://schemas.openxmlformats.org/drawingml/2006/main" noChangeAspect="1"/>
          </p:cNvPicPr>
          <p:nvPr/>
        </p:nvPicPr>
        <p:blipFill>
          <a:blip xmlns:r="http://schemas.openxmlformats.org/officeDocument/2006/relationships" xmlns:a="http://schemas.openxmlformats.org/drawingml/2006/main" r:embed="R94e62259571e40fb">
            <a:extLst>
              <a:ext uri="{96DAC541-7B7A-43D3-8B79-37D633B846F1}">
                <ns16:svgBlip xmlns:ns16="http://schemas.microsoft.com/office/drawing/2016/SVG/main" r:embed="rIdVectormf00120"/>
              </a:ext>
            </a:extLst>
          </a:blip>
          <a:stretch xmlns:a="http://schemas.openxmlformats.org/drawingml/2006/main"/>
        </p:blipFill>
        <p:spPr>
          <a:xfrm xmlns:a="http://schemas.openxmlformats.org/drawingml/2006/main">
            <a:off x="11375873" y="3597593"/>
            <a:ext cx="79678" cy="120015"/>
          </a:xfrm>
          <a:prstGeom xmlns:a="http://schemas.openxmlformats.org/drawingml/2006/main" prst="rect">
            <a:avLst/>
          </a:prstGeom>
        </p:spPr>
      </p:pic>
      <p:pic>
        <p:nvPicPr>
          <p:cNvPr id="124" name="!!fdm-fdm-select-g2-r0-ticklabel0" descr="0"/>
          <p:cNvPicPr>
            <a:picLocks xmlns:a="http://schemas.openxmlformats.org/drawingml/2006/main" noChangeAspect="1"/>
          </p:cNvPicPr>
          <p:nvPr/>
        </p:nvPicPr>
        <p:blipFill>
          <a:blip xmlns:r="http://schemas.openxmlformats.org/officeDocument/2006/relationships" xmlns:a="http://schemas.openxmlformats.org/drawingml/2006/main" r:embed="Ra894411a298f413f">
            <a:extLst>
              <a:ext uri="{96DAC541-7B7A-43D3-8B79-37D633B846F1}">
                <ns17:svgBlip xmlns:ns17="http://schemas.microsoft.com/office/drawing/2016/SVG/main" r:embed="rIdVectormf00121"/>
              </a:ext>
            </a:extLst>
          </a:blip>
          <a:stretch xmlns:a="http://schemas.openxmlformats.org/drawingml/2006/main"/>
        </p:blipFill>
        <p:spPr>
          <a:xfrm xmlns:a="http://schemas.openxmlformats.org/drawingml/2006/main">
            <a:off x="9917175" y="3949065"/>
            <a:ext cx="91951" cy="102870"/>
          </a:xfrm>
          <a:prstGeom xmlns:a="http://schemas.openxmlformats.org/drawingml/2006/main" prst="rect">
            <a:avLst/>
          </a:prstGeom>
        </p:spPr>
      </p:pic>
      <p:pic>
        <p:nvPicPr>
          <p:cNvPr id="125" name="!!fdm-fdm-select-g2-r0-label" descr="\textstyle M_2(f)"/>
          <p:cNvPicPr>
            <a:picLocks xmlns:a="http://schemas.openxmlformats.org/drawingml/2006/main" noChangeAspect="1"/>
          </p:cNvPicPr>
          <p:nvPr/>
        </p:nvPicPr>
        <p:blipFill>
          <a:blip xmlns:r="http://schemas.openxmlformats.org/officeDocument/2006/relationships" xmlns:a="http://schemas.openxmlformats.org/drawingml/2006/main" r:embed="R24992291f59149a3">
            <a:extLst>
              <a:ext uri="{96DAC541-7B7A-43D3-8B79-37D633B846F1}">
                <ns18:svgBlip xmlns:ns18="http://schemas.microsoft.com/office/drawing/2016/SVG/main" r:embed="rIdVectormf00122"/>
              </a:ext>
            </a:extLst>
          </a:blip>
          <a:stretch xmlns:a="http://schemas.openxmlformats.org/drawingml/2006/main"/>
        </p:blipFill>
        <p:spPr>
          <a:xfrm xmlns:a="http://schemas.openxmlformats.org/drawingml/2006/main">
            <a:off x="8572500" y="2668965"/>
            <a:ext cx="607695" cy="205621"/>
          </a:xfrm>
          <a:prstGeom xmlns:a="http://schemas.openxmlformats.org/drawingml/2006/main" prst="rect">
            <a:avLst/>
          </a:prstGeom>
        </p:spPr>
      </p:pic>
      <p:pic>
        <p:nvPicPr>
          <p:cNvPr id="126" name="!!fdm-fdm-select-condition" descr="f\approx\pm f_{c,2}"/>
          <p:cNvPicPr>
            <a:picLocks xmlns:a="http://schemas.openxmlformats.org/drawingml/2006/main" noChangeAspect="1"/>
          </p:cNvPicPr>
          <p:nvPr/>
        </p:nvPicPr>
        <p:blipFill>
          <a:blip xmlns:r="http://schemas.openxmlformats.org/officeDocument/2006/relationships" xmlns:a="http://schemas.openxmlformats.org/drawingml/2006/main" r:embed="R831debfafd1a4e35">
            <a:extLst>
              <a:ext uri="{96DAC541-7B7A-43D3-8B79-37D633B846F1}">
                <ns19:svgBlip xmlns:ns19="http://schemas.microsoft.com/office/drawing/2016/SVG/main" r:embed="rIdVectormf00123"/>
              </a:ext>
            </a:extLst>
          </a:blip>
          <a:stretch xmlns:a="http://schemas.openxmlformats.org/drawingml/2006/main"/>
        </p:blipFill>
        <p:spPr>
          <a:xfrm xmlns:a="http://schemas.openxmlformats.org/drawingml/2006/main">
            <a:off x="3532346" y="2941588"/>
            <a:ext cx="860108" cy="193774"/>
          </a:xfrm>
          <a:prstGeom xmlns:a="http://schemas.openxmlformats.org/drawingml/2006/main" prst="rect">
            <a:avLst/>
          </a:prstGeom>
        </p:spPr>
      </p:pic>
      <p:pic>
        <p:nvPicPr>
          <p:cNvPr id="127" name="!!fdm-dense-equation-0" descr="\textstyle s_k(t)=A_cm_k(t)\cos(2\pi f_{c,k}t),\qquad A_c=1,\quad f_{c,k+1}-f_{c,k}\geq2W"/>
          <p:cNvPicPr>
            <a:picLocks xmlns:a="http://schemas.openxmlformats.org/drawingml/2006/main" noChangeAspect="1"/>
          </p:cNvPicPr>
          <p:nvPr/>
        </p:nvPicPr>
        <p:blipFill>
          <a:blip xmlns:r="http://schemas.openxmlformats.org/officeDocument/2006/relationships" xmlns:a="http://schemas.openxmlformats.org/drawingml/2006/main" r:embed="R27c0603b9c8648db">
            <a:extLst>
              <a:ext uri="{96DAC541-7B7A-43D3-8B79-37D633B846F1}">
                <ns20:svgBlip xmlns:ns20="http://schemas.microsoft.com/office/drawing/2016/SVG/main" r:embed="rIdVectormf00124"/>
              </a:ext>
            </a:extLst>
          </a:blip>
          <a:stretch xmlns:a="http://schemas.openxmlformats.org/drawingml/2006/main"/>
        </p:blipFill>
        <p:spPr>
          <a:xfrm xmlns:a="http://schemas.openxmlformats.org/drawingml/2006/main">
            <a:off x="724420" y="4862513"/>
            <a:ext cx="7348451" cy="247650"/>
          </a:xfrm>
          <a:prstGeom xmlns:a="http://schemas.openxmlformats.org/drawingml/2006/main" prst="rect">
            <a:avLst/>
          </a:prstGeom>
        </p:spPr>
      </p:pic>
      <p:pic>
        <p:nvPicPr>
          <p:cNvPr id="128" name="!!fdm-dense-equation-1" descr="\textstyle s(t)=s_1(t)+s_2(t)+s_3(t)"/>
          <p:cNvPicPr>
            <a:picLocks xmlns:a="http://schemas.openxmlformats.org/drawingml/2006/main" noChangeAspect="1"/>
          </p:cNvPicPr>
          <p:nvPr/>
        </p:nvPicPr>
        <p:blipFill>
          <a:blip xmlns:r="http://schemas.openxmlformats.org/officeDocument/2006/relationships" xmlns:a="http://schemas.openxmlformats.org/drawingml/2006/main" r:embed="R28e64d37db174ef4">
            <a:extLst>
              <a:ext uri="{96DAC541-7B7A-43D3-8B79-37D633B846F1}">
                <ns21:svgBlip xmlns:ns21="http://schemas.microsoft.com/office/drawing/2016/SVG/main" r:embed="rIdVectormf00125"/>
              </a:ext>
            </a:extLst>
          </a:blip>
          <a:stretch xmlns:a="http://schemas.openxmlformats.org/drawingml/2006/main"/>
        </p:blipFill>
        <p:spPr>
          <a:xfrm xmlns:a="http://schemas.openxmlformats.org/drawingml/2006/main">
            <a:off x="609600" y="5253038"/>
            <a:ext cx="3219450" cy="247650"/>
          </a:xfrm>
          <a:prstGeom xmlns:a="http://schemas.openxmlformats.org/drawingml/2006/main" prst="rect">
            <a:avLst/>
          </a:prstGeom>
        </p:spPr>
      </p:pic>
      <p:pic>
        <p:nvPicPr>
          <p:cNvPr id="129" name="!!fdm-dense-equation-2" descr="\textstyle s_2(t)=A_cm_2(t)\cos(2\pi f_{c,2}t)"/>
          <p:cNvPicPr>
            <a:picLocks xmlns:a="http://schemas.openxmlformats.org/drawingml/2006/main" noChangeAspect="1"/>
          </p:cNvPicPr>
          <p:nvPr/>
        </p:nvPicPr>
        <p:blipFill>
          <a:blip xmlns:r="http://schemas.openxmlformats.org/officeDocument/2006/relationships" xmlns:a="http://schemas.openxmlformats.org/drawingml/2006/main" r:embed="R29348159c66a42a5">
            <a:extLst>
              <a:ext uri="{96DAC541-7B7A-43D3-8B79-37D633B846F1}">
                <ns22:svgBlip xmlns:ns22="http://schemas.microsoft.com/office/drawing/2016/SVG/main" r:embed="rIdVectormf00126"/>
              </a:ext>
            </a:extLst>
          </a:blip>
          <a:stretch xmlns:a="http://schemas.openxmlformats.org/drawingml/2006/main"/>
        </p:blipFill>
        <p:spPr>
          <a:xfrm xmlns:a="http://schemas.openxmlformats.org/drawingml/2006/main">
            <a:off x="661006" y="5643563"/>
            <a:ext cx="3289993" cy="247650"/>
          </a:xfrm>
          <a:prstGeom xmlns:a="http://schemas.openxmlformats.org/drawingml/2006/main" prst="rect">
            <a:avLst/>
          </a:prstGeom>
        </p:spPr>
      </p:pic>
      <p:pic>
        <p:nvPicPr>
          <p:cNvPr id="130" name="!!fdm-dense-equation-3" descr="\textstyle \mathrm{LPF}\{(2/A_c)s_2(t)\cos(2\pi f_{c,2}t)\}=m_2(t)"/>
          <p:cNvPicPr>
            <a:picLocks xmlns:a="http://schemas.openxmlformats.org/drawingml/2006/main" noChangeAspect="1"/>
          </p:cNvPicPr>
          <p:nvPr/>
        </p:nvPicPr>
        <p:blipFill>
          <a:blip xmlns:r="http://schemas.openxmlformats.org/officeDocument/2006/relationships" xmlns:a="http://schemas.openxmlformats.org/drawingml/2006/main" r:embed="R0428caa3d85e4d77">
            <a:extLst>
              <a:ext uri="{96DAC541-7B7A-43D3-8B79-37D633B846F1}">
                <ns23:svgBlip xmlns:ns23="http://schemas.microsoft.com/office/drawing/2016/SVG/main" r:embed="rIdVectormf00127"/>
              </a:ext>
            </a:extLst>
          </a:blip>
          <a:stretch xmlns:a="http://schemas.openxmlformats.org/drawingml/2006/main"/>
        </p:blipFill>
        <p:spPr>
          <a:xfrm xmlns:a="http://schemas.openxmlformats.org/drawingml/2006/main">
            <a:off x="681268" y="6034088"/>
            <a:ext cx="4586778" cy="247650"/>
          </a:xfrm>
          <a:prstGeom xmlns:a="http://schemas.openxmlformats.org/drawingml/2006/main" prst="rect">
            <a:avLst/>
          </a:prstGeom>
        </p:spPr>
      </p:pic>
    </p:spTree>
    <p:extLst>
      <p:ext uri="{BB962C8B-B14F-4D97-AF65-F5344CB8AC3E}">
        <p14:creationId xmlns:p14="http://schemas.microsoft.com/office/powerpoint/2010/main" val="144888545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400"/>
                                        <p:tgtEl>
                                          <p:spTgt spid="30"/>
                                        </p:tgtEl>
                                      </p:cBhvr>
                                    </p:animEffect>
                                  </p:childTnLst>
                                </p:cTn>
                              </p:par>
                              <p:par>
                                <p:cTn id="11" presetID="10"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400"/>
                                        <p:tgtEl>
                                          <p:spTgt spid="31"/>
                                        </p:tgtEl>
                                      </p:cBhvr>
                                    </p:animEffect>
                                  </p:childTnLst>
                                </p:cTn>
                              </p:par>
                              <p:par>
                                <p:cTn id="14" presetID="10" presetClass="entr" presetSubtype="0" fill="hold" nodeType="withEffect">
                                  <p:stCondLst>
                                    <p:cond delay="0"/>
                                  </p:stCondLst>
                                  <p:childTnLst>
                                    <p:set>
                                      <p:cBhvr>
                                        <p:cTn id="15" dur="1" fill="hold">
                                          <p:stCondLst>
                                            <p:cond delay="0"/>
                                          </p:stCondLst>
                                        </p:cTn>
                                        <p:tgtEl>
                                          <p:spTgt spid="126"/>
                                        </p:tgtEl>
                                        <p:attrNameLst>
                                          <p:attrName>style.visibility</p:attrName>
                                        </p:attrNameLst>
                                      </p:cBhvr>
                                      <p:to>
                                        <p:strVal val="visible"/>
                                      </p:to>
                                    </p:set>
                                    <p:animEffect transition="in" filter="fade">
                                      <p:cBhvr>
                                        <p:cTn id="16" dur="400"/>
                                        <p:tgtEl>
                                          <p:spTgt spid="126"/>
                                        </p:tgtEl>
                                      </p:cBhvr>
                                    </p:animEffect>
                                  </p:childTnLst>
                                </p:cTn>
                              </p:par>
                              <p:par>
                                <p:cTn id="17" presetID="10"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400"/>
                                        <p:tgtEl>
                                          <p:spTgt spid="32"/>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200"/>
                                        <p:tgtEl>
                                          <p:spTgt spid="34"/>
                                        </p:tgtEl>
                                      </p:cBhvr>
                                    </p:animEffect>
                                    <p:animMotion origin="layout" pathEditMode="relative" path="M -0.32812500 0.00000000 L 0.00000000 0.00000000 E">
                                      <p:cBhvr>
                                        <p:cTn id="28" dur="700" fill="hold"/>
                                        <p:tgtEl>
                                          <p:spTgt spid="34"/>
                                        </p:tgtEl>
                                        <p:attrNameLst>
                                          <p:attrName>ppt_x</p:attrName>
                                          <p:attrName>ppt_y</p:attrName>
                                        </p:attrNameLst>
                                      </p:cBhvr>
                                    </p:animMotion>
                                    <p:animScale zoomContents="1">
                                      <p:cBhvr>
                                        <p:cTn id="29" dur="700" fill="hold"/>
                                        <p:tgtEl>
                                          <p:spTgt spid="34"/>
                                        </p:tgtEl>
                                      </p:cBhvr>
                                      <p:from x="100000" y="100000"/>
                                      <p:to x="100000" y="100000"/>
                                    </p:animScale>
                                  </p:childTnLst>
                                </p:cTn>
                              </p:par>
                              <p:par>
                                <p:cTn id="30" presetID="10" presetClass="entr" presetSubtype="0" fill="hold"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200"/>
                                        <p:tgtEl>
                                          <p:spTgt spid="35"/>
                                        </p:tgtEl>
                                      </p:cBhvr>
                                    </p:animEffect>
                                    <p:animMotion origin="layout" pathEditMode="relative" path="M -0.32812500 0.00000000 L 0.00000000 0.00000000 E">
                                      <p:cBhvr>
                                        <p:cTn id="33" dur="700" fill="hold"/>
                                        <p:tgtEl>
                                          <p:spTgt spid="35"/>
                                        </p:tgtEl>
                                        <p:attrNameLst>
                                          <p:attrName>ppt_x</p:attrName>
                                          <p:attrName>ppt_y</p:attrName>
                                        </p:attrNameLst>
                                      </p:cBhvr>
                                    </p:animMotion>
                                    <p:animScale zoomContents="1">
                                      <p:cBhvr>
                                        <p:cTn id="34" dur="700" fill="hold"/>
                                        <p:tgtEl>
                                          <p:spTgt spid="35"/>
                                        </p:tgtEl>
                                      </p:cBhvr>
                                      <p:from x="100000" y="100000"/>
                                      <p:to x="100000" y="100000"/>
                                    </p:animScale>
                                  </p:childTnLst>
                                </p:cTn>
                              </p:par>
                              <p:par>
                                <p:cTn id="35" presetID="10" presetClass="entr" presetSubtype="0" fill="hold" nodeType="withEffect">
                                  <p:stCondLst>
                                    <p:cond delay="0"/>
                                  </p:stCondLst>
                                  <p:childTnLst>
                                    <p:set>
                                      <p:cBhvr>
                                        <p:cTn id="36" dur="1" fill="hold">
                                          <p:stCondLst>
                                            <p:cond delay="0"/>
                                          </p:stCondLst>
                                        </p:cTn>
                                        <p:tgtEl>
                                          <p:spTgt spid="129"/>
                                        </p:tgtEl>
                                        <p:attrNameLst>
                                          <p:attrName>style.visibility</p:attrName>
                                        </p:attrNameLst>
                                      </p:cBhvr>
                                      <p:to>
                                        <p:strVal val="visible"/>
                                      </p:to>
                                    </p:set>
                                    <p:animEffect transition="in" filter="fade">
                                      <p:cBhvr>
                                        <p:cTn id="37" dur="400"/>
                                        <p:tgtEl>
                                          <p:spTgt spid="1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400"/>
                                        <p:tgtEl>
                                          <p:spTgt spid="36"/>
                                        </p:tgtEl>
                                      </p:cBhvr>
                                    </p:animEffect>
                                  </p:childTnLst>
                                </p:cTn>
                              </p:par>
                              <p:par>
                                <p:cTn id="43" presetID="10"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400"/>
                                        <p:tgtEl>
                                          <p:spTgt spid="37"/>
                                        </p:tgtEl>
                                      </p:cBhvr>
                                    </p:animEffect>
                                  </p:childTnLst>
                                </p:cTn>
                              </p:par>
                              <p:par>
                                <p:cTn id="46" presetID="10" presetClass="entr" presetSubtype="0"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fade">
                                      <p:cBhvr>
                                        <p:cTn id="48" dur="400"/>
                                        <p:tgtEl>
                                          <p:spTgt spid="38"/>
                                        </p:tgtEl>
                                      </p:cBhvr>
                                    </p:animEffect>
                                  </p:childTnLst>
                                </p:cTn>
                              </p:par>
                              <p:par>
                                <p:cTn id="49" presetID="10" presetClass="entr" presetSubtype="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200"/>
                                        <p:tgtEl>
                                          <p:spTgt spid="39"/>
                                        </p:tgtEl>
                                      </p:cBhvr>
                                    </p:animEffect>
                                    <p:animMotion origin="layout" pathEditMode="relative" path="M -0.37700894 0.00000000 L 0.00000000 0.00000000 E">
                                      <p:cBhvr>
                                        <p:cTn id="52" dur="700" fill="hold"/>
                                        <p:tgtEl>
                                          <p:spTgt spid="39"/>
                                        </p:tgtEl>
                                        <p:attrNameLst>
                                          <p:attrName>ppt_x</p:attrName>
                                          <p:attrName>ppt_y</p:attrName>
                                        </p:attrNameLst>
                                      </p:cBhvr>
                                    </p:animMotion>
                                    <p:animScale zoomContents="1">
                                      <p:cBhvr>
                                        <p:cTn id="53" dur="700" fill="hold"/>
                                        <p:tgtEl>
                                          <p:spTgt spid="39"/>
                                        </p:tgtEl>
                                      </p:cBhvr>
                                      <p:from x="100000" y="100000"/>
                                      <p:to x="100000" y="100000"/>
                                    </p:animScale>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200"/>
                                        <p:tgtEl>
                                          <p:spTgt spid="40"/>
                                        </p:tgtEl>
                                      </p:cBhvr>
                                    </p:animEffect>
                                    <p:animMotion origin="layout" pathEditMode="relative" path="M -0.27924106 0.00000000 L 0.00000000 0.00000000 E">
                                      <p:cBhvr>
                                        <p:cTn id="57" dur="700" fill="hold"/>
                                        <p:tgtEl>
                                          <p:spTgt spid="40"/>
                                        </p:tgtEl>
                                        <p:attrNameLst>
                                          <p:attrName>ppt_x</p:attrName>
                                          <p:attrName>ppt_y</p:attrName>
                                        </p:attrNameLst>
                                      </p:cBhvr>
                                    </p:animMotion>
                                    <p:animScale zoomContents="1">
                                      <p:cBhvr>
                                        <p:cTn id="58" dur="700" fill="hold"/>
                                        <p:tgtEl>
                                          <p:spTgt spid="40"/>
                                        </p:tgtEl>
                                      </p:cBhvr>
                                      <p:from x="100000" y="100000"/>
                                      <p:to x="100000" y="100000"/>
                                    </p:animScale>
                                  </p:childTnLst>
                                </p:cTn>
                              </p:par>
                              <p:par>
                                <p:cTn id="59" presetID="10" presetClass="entr" presetSubtype="0" fill="hold" nodeType="withEffect">
                                  <p:stCondLst>
                                    <p:cond delay="70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130"/>
                                        </p:tgtEl>
                                        <p:attrNameLst>
                                          <p:attrName>style.visibility</p:attrName>
                                        </p:attrNameLst>
                                      </p:cBhvr>
                                      <p:to>
                                        <p:strVal val="visible"/>
                                      </p:to>
                                    </p:set>
                                    <p:animEffect transition="in" filter="fade">
                                      <p:cBhvr>
                                        <p:cTn id="64" dur="4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8" grpId="0" animBg="1"/>
    </p:bldLst>
  </p:timing>
</p:sld>
</file>

<file path=ppt/slides/methods_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q1-solve-title">
            <ns0:hlinkClick xmlns:ns0="http://schemas.openxmlformats.org/drawingml/2006/main" xmlns:ns1="http://schemas.openxmlformats.org/officeDocument/2006/relationships" ns1:id="rIdmethods_Link30" action="ppaction://hlinksldjump"/>
            <a:extLst xmlns:a="http://schemas.openxmlformats.org/drawingml/2006/main">
              <a:ext uri="{FF2B5EF4-FFF2-40B4-BE49-F238E27FC236}">
                <a16:creationId xmlns:a16="http://schemas.microsoft.com/office/drawing/2014/main" id="{D0431CE0-E29F-42C5-93F6-1CDAC11EB37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30" action="ppaction://hlinksldjump"/>
              </a:rPr>
              <a:t>FDM</a:t>
            </a:r>
          </a:p>
        </p:txBody>
      </p:sp>
      <p:sp>
        <p:nvSpPr>
          <p:cNvPr id="2" name="!!q1-solve-subtitle">
            <a:extLst xmlns:a="http://schemas.openxmlformats.org/drawingml/2006/main">
              <a:ext uri="{FF2B5EF4-FFF2-40B4-BE49-F238E27FC236}">
                <a16:creationId xmlns:a16="http://schemas.microsoft.com/office/drawing/2014/main" id="{B00F92C9-1283-4B0D-AAD8-64BCBC4B94D1}"/>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 baseband signals (example)</a:t>
            </a:r>
          </a:p>
        </p:txBody>
      </p:sp>
      <p:sp>
        <p:nvSpPr>
          <p:cNvPr id="3" name="!!q1-solve-route-tx-line">
            <a:extLst xmlns:a="http://schemas.openxmlformats.org/drawingml/2006/main">
              <a:ext uri="{FF2B5EF4-FFF2-40B4-BE49-F238E27FC236}">
                <a16:creationId xmlns:a16="http://schemas.microsoft.com/office/drawing/2014/main" id="{38536834-7AC0-46C7-BE66-C77E5344A50A}"/>
              </a:ext>
            </a:extLst>
          </p:cNvPr>
          <p:cNvSpPr>
            <a:spLocks xmlns:a="http://schemas.openxmlformats.org/drawingml/2006/main" noGrp="1"/>
          </p:cNvSpPr>
          <p:nvPr/>
        </p:nvSpPr>
        <p:spPr>
          <a:xfrm xmlns:a="http://schemas.openxmlformats.org/drawingml/2006/main">
            <a:off x="3800475" y="1381125"/>
            <a:ext cx="1152525"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q1-solve-route-tx-head">
            <a:extLst xmlns:a="http://schemas.openxmlformats.org/drawingml/2006/main">
              <a:ext uri="{FF2B5EF4-FFF2-40B4-BE49-F238E27FC236}">
                <a16:creationId xmlns:a16="http://schemas.microsoft.com/office/drawing/2014/main" id="{8A6E9032-9070-4278-AA7A-CBCA57C89DDB}"/>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q1-solve-route-rx-line">
            <a:extLst xmlns:a="http://schemas.openxmlformats.org/drawingml/2006/main">
              <a:ext uri="{FF2B5EF4-FFF2-40B4-BE49-F238E27FC236}">
                <a16:creationId xmlns:a16="http://schemas.microsoft.com/office/drawing/2014/main" id="{C055D112-046B-4503-AF4D-26D59BE66160}"/>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q1-solve-route-rx-head">
            <a:extLst xmlns:a="http://schemas.openxmlformats.org/drawingml/2006/main">
              <a:ext uri="{FF2B5EF4-FFF2-40B4-BE49-F238E27FC236}">
                <a16:creationId xmlns:a16="http://schemas.microsoft.com/office/drawing/2014/main" id="{256A1E68-C84E-4018-9B4E-7198F4B670FC}"/>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q1-solve-question">
            <a:extLst xmlns:a="http://schemas.openxmlformats.org/drawingml/2006/main">
              <a:ext uri="{FF2B5EF4-FFF2-40B4-BE49-F238E27FC236}">
                <a16:creationId xmlns:a16="http://schemas.microsoft.com/office/drawing/2014/main" id="{02D1D27D-DDDB-4F11-BAA3-6EA5BC972B74}"/>
              </a:ext>
            </a:extLst>
          </p:cNvPr>
          <p:cNvSpPr>
            <a:spLocks xmlns:a="http://schemas.openxmlformats.org/drawingml/2006/main" noGrp="1"/>
          </p:cNvSpPr>
          <p:nvPr/>
        </p:nvSpPr>
        <p:spPr>
          <a:xfrm xmlns:a="http://schemas.openxmlformats.org/drawingml/2006/main">
            <a:off x="666750" y="17430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Recover the second message.</a:t>
            </a:r>
          </a:p>
        </p:txBody>
      </p:sp>
      <p:sp>
        <p:nvSpPr>
          <p:cNvPr id="8" name="!!q1-solve-question-parts">
            <a:extLst xmlns:a="http://schemas.openxmlformats.org/drawingml/2006/main">
              <a:ext uri="{FF2B5EF4-FFF2-40B4-BE49-F238E27FC236}">
                <a16:creationId xmlns:a16="http://schemas.microsoft.com/office/drawing/2014/main" id="{45A1B0C1-9B44-4DAF-A67F-F694134B5686}"/>
              </a:ext>
            </a:extLst>
          </p:cNvPr>
          <p:cNvSpPr>
            <a:spLocks xmlns:a="http://schemas.openxmlformats.org/drawingml/2006/main" noGrp="1"/>
          </p:cNvSpPr>
          <p:nvPr/>
        </p:nvSpPr>
        <p:spPr>
          <a:xfrm xmlns:a="http://schemas.openxmlformats.org/drawingml/2006/main">
            <a:off x="666750" y="21240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Calculate: BPF passbands, demodulating carrier, and LPF cutoff.</a:t>
            </a:r>
          </a:p>
        </p:txBody>
      </p:sp>
      <p:sp>
        <p:nvSpPr>
          <p:cNvPr id="9" name="!!q1-solve-frequency-unit">
            <a:extLst xmlns:a="http://schemas.openxmlformats.org/drawingml/2006/main">
              <a:ext uri="{FF2B5EF4-FFF2-40B4-BE49-F238E27FC236}">
                <a16:creationId xmlns:a16="http://schemas.microsoft.com/office/drawing/2014/main" id="{1096E248-D587-4939-8DFB-87669BE5FC18}"/>
              </a:ext>
            </a:extLst>
          </p:cNvPr>
          <p:cNvSpPr>
            <a:spLocks xmlns:a="http://schemas.openxmlformats.org/drawingml/2006/main" noGrp="1"/>
          </p:cNvSpPr>
          <p:nvPr/>
        </p:nvSpPr>
        <p:spPr>
          <a:xfrm xmlns:a="http://schemas.openxmlformats.org/drawingml/2006/main">
            <a:off x="10382250" y="28670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i="0">
                <a:solidFill>
                  <a:srgbClr val="202020"/>
                </a:solidFill>
                <a:latin typeface="Times New Roman"/>
                <a:ea typeface="Times New Roman"/>
                <a:cs typeface="Times New Roman"/>
              </a:defRPr>
            </a:pPr>
            <a:r>
              <a:rPr sz="1425" b="0" i="0">
                <a:solidFill>
                  <a:srgbClr val="202020"/>
                </a:solidFill>
                <a:latin typeface="Times New Roman"/>
                <a:ea typeface="Times New Roman"/>
                <a:cs typeface="Times New Roman"/>
              </a:rPr>
              <a:t>f in kHz</a:t>
            </a:r>
          </a:p>
        </p:txBody>
      </p:sp>
      <p:sp>
        <p:nvSpPr>
          <p:cNvPr id="10" name="!!q1-solve-input-axis-line">
            <a:extLst xmlns:a="http://schemas.openxmlformats.org/drawingml/2006/main">
              <a:ext uri="{FF2B5EF4-FFF2-40B4-BE49-F238E27FC236}">
                <a16:creationId xmlns:a16="http://schemas.microsoft.com/office/drawing/2014/main" id="{FF1E1C31-9992-421E-B411-230F48A3BCD4}"/>
              </a:ext>
            </a:extLst>
          </p:cNvPr>
          <p:cNvSpPr>
            <a:spLocks xmlns:a="http://schemas.openxmlformats.org/drawingml/2006/main" noGrp="1"/>
          </p:cNvSpPr>
          <p:nvPr/>
        </p:nvSpPr>
        <p:spPr>
          <a:xfrm xmlns:a="http://schemas.openxmlformats.org/drawingml/2006/main">
            <a:off x="571500" y="3762375"/>
            <a:ext cx="21336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q1-solve-input-axis-head">
            <a:extLst xmlns:a="http://schemas.openxmlformats.org/drawingml/2006/main">
              <a:ext uri="{FF2B5EF4-FFF2-40B4-BE49-F238E27FC236}">
                <a16:creationId xmlns:a16="http://schemas.microsoft.com/office/drawing/2014/main" id="{F2617157-C69B-4673-8B92-1C73F12BA0C6}"/>
              </a:ext>
            </a:extLst>
          </p:cNvPr>
          <p:cNvSpPr>
            <a:spLocks xmlns:a="http://schemas.openxmlformats.org/drawingml/2006/main" noGrp="1"/>
          </p:cNvSpPr>
          <p:nvPr/>
        </p:nvSpPr>
        <p:spPr>
          <a:xfrm xmlns:a="http://schemas.openxmlformats.org/drawingml/2006/main" rot="5400000">
            <a:off x="268605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q1-solve-input-tick0">
            <a:extLst xmlns:a="http://schemas.openxmlformats.org/drawingml/2006/main">
              <a:ext uri="{FF2B5EF4-FFF2-40B4-BE49-F238E27FC236}">
                <a16:creationId xmlns:a16="http://schemas.microsoft.com/office/drawing/2014/main" id="{C9966419-F7E5-40FB-AD6A-6C3DD7E033A7}"/>
              </a:ext>
            </a:extLst>
          </p:cNvPr>
          <p:cNvSpPr>
            <a:spLocks xmlns:a="http://schemas.openxmlformats.org/drawingml/2006/main" noGrp="1"/>
          </p:cNvSpPr>
          <p:nvPr/>
        </p:nvSpPr>
        <p:spPr>
          <a:xfrm xmlns:a="http://schemas.openxmlformats.org/drawingml/2006/main">
            <a:off x="86868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q1-solve-input-tick1">
            <a:extLst xmlns:a="http://schemas.openxmlformats.org/drawingml/2006/main">
              <a:ext uri="{FF2B5EF4-FFF2-40B4-BE49-F238E27FC236}">
                <a16:creationId xmlns:a16="http://schemas.microsoft.com/office/drawing/2014/main" id="{E001A481-BBBA-4BA5-9F58-8762CF7BBB4B}"/>
              </a:ext>
            </a:extLst>
          </p:cNvPr>
          <p:cNvSpPr>
            <a:spLocks xmlns:a="http://schemas.openxmlformats.org/drawingml/2006/main" noGrp="1"/>
          </p:cNvSpPr>
          <p:nvPr/>
        </p:nvSpPr>
        <p:spPr>
          <a:xfrm xmlns:a="http://schemas.openxmlformats.org/drawingml/2006/main">
            <a:off x="109156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q1-solve-input-tick2">
            <a:extLst xmlns:a="http://schemas.openxmlformats.org/drawingml/2006/main">
              <a:ext uri="{FF2B5EF4-FFF2-40B4-BE49-F238E27FC236}">
                <a16:creationId xmlns:a16="http://schemas.microsoft.com/office/drawing/2014/main" id="{4DFB404B-B910-4A75-BDC7-EF5C38BA4A44}"/>
              </a:ext>
            </a:extLst>
          </p:cNvPr>
          <p:cNvSpPr>
            <a:spLocks xmlns:a="http://schemas.openxmlformats.org/drawingml/2006/main" noGrp="1"/>
          </p:cNvSpPr>
          <p:nvPr/>
        </p:nvSpPr>
        <p:spPr>
          <a:xfrm xmlns:a="http://schemas.openxmlformats.org/drawingml/2006/main">
            <a:off x="13144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q1-solve-input-tick3">
            <a:extLst xmlns:a="http://schemas.openxmlformats.org/drawingml/2006/main">
              <a:ext uri="{FF2B5EF4-FFF2-40B4-BE49-F238E27FC236}">
                <a16:creationId xmlns:a16="http://schemas.microsoft.com/office/drawing/2014/main" id="{42104248-9A75-440F-97ED-75BD92BE7F54}"/>
              </a:ext>
            </a:extLst>
          </p:cNvPr>
          <p:cNvSpPr>
            <a:spLocks xmlns:a="http://schemas.openxmlformats.org/drawingml/2006/main" noGrp="1"/>
          </p:cNvSpPr>
          <p:nvPr/>
        </p:nvSpPr>
        <p:spPr>
          <a:xfrm xmlns:a="http://schemas.openxmlformats.org/drawingml/2006/main">
            <a:off x="168592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q1-solve-input-tick4">
            <a:extLst xmlns:a="http://schemas.openxmlformats.org/drawingml/2006/main">
              <a:ext uri="{FF2B5EF4-FFF2-40B4-BE49-F238E27FC236}">
                <a16:creationId xmlns:a16="http://schemas.microsoft.com/office/drawing/2014/main" id="{8DD053F4-56D3-4700-A559-906A3BF2A4CA}"/>
              </a:ext>
            </a:extLst>
          </p:cNvPr>
          <p:cNvSpPr>
            <a:spLocks xmlns:a="http://schemas.openxmlformats.org/drawingml/2006/main" noGrp="1"/>
          </p:cNvSpPr>
          <p:nvPr/>
        </p:nvSpPr>
        <p:spPr>
          <a:xfrm xmlns:a="http://schemas.openxmlformats.org/drawingml/2006/main">
            <a:off x="205740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q1-solve-input-tick5">
            <a:extLst xmlns:a="http://schemas.openxmlformats.org/drawingml/2006/main">
              <a:ext uri="{FF2B5EF4-FFF2-40B4-BE49-F238E27FC236}">
                <a16:creationId xmlns:a16="http://schemas.microsoft.com/office/drawing/2014/main" id="{A3258D91-0D07-421D-A451-7404CDC7E696}"/>
              </a:ext>
            </a:extLst>
          </p:cNvPr>
          <p:cNvSpPr>
            <a:spLocks xmlns:a="http://schemas.openxmlformats.org/drawingml/2006/main" noGrp="1"/>
          </p:cNvSpPr>
          <p:nvPr/>
        </p:nvSpPr>
        <p:spPr>
          <a:xfrm xmlns:a="http://schemas.openxmlformats.org/drawingml/2006/main">
            <a:off x="228028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q1-solve-input-tick6">
            <a:extLst xmlns:a="http://schemas.openxmlformats.org/drawingml/2006/main">
              <a:ext uri="{FF2B5EF4-FFF2-40B4-BE49-F238E27FC236}">
                <a16:creationId xmlns:a16="http://schemas.microsoft.com/office/drawing/2014/main" id="{0D0A4FF3-4FBD-4135-B938-EE31DC00EC11}"/>
              </a:ext>
            </a:extLst>
          </p:cNvPr>
          <p:cNvSpPr>
            <a:spLocks xmlns:a="http://schemas.openxmlformats.org/drawingml/2006/main" noGrp="1"/>
          </p:cNvSpPr>
          <p:nvPr/>
        </p:nvSpPr>
        <p:spPr>
          <a:xfrm xmlns:a="http://schemas.openxmlformats.org/drawingml/2006/main">
            <a:off x="250317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q1-solve-selected-axis-line">
            <a:extLst xmlns:a="http://schemas.openxmlformats.org/drawingml/2006/main">
              <a:ext uri="{FF2B5EF4-FFF2-40B4-BE49-F238E27FC236}">
                <a16:creationId xmlns:a16="http://schemas.microsoft.com/office/drawing/2014/main" id="{1DEE507B-2892-4494-BB01-89D219DB99DB}"/>
              </a:ext>
            </a:extLst>
          </p:cNvPr>
          <p:cNvSpPr>
            <a:spLocks xmlns:a="http://schemas.openxmlformats.org/drawingml/2006/main" noGrp="1"/>
          </p:cNvSpPr>
          <p:nvPr/>
        </p:nvSpPr>
        <p:spPr>
          <a:xfrm xmlns:a="http://schemas.openxmlformats.org/drawingml/2006/main">
            <a:off x="3419475" y="3762375"/>
            <a:ext cx="21336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q1-solve-selected-axis-head">
            <a:extLst xmlns:a="http://schemas.openxmlformats.org/drawingml/2006/main">
              <a:ext uri="{FF2B5EF4-FFF2-40B4-BE49-F238E27FC236}">
                <a16:creationId xmlns:a16="http://schemas.microsoft.com/office/drawing/2014/main" id="{1BE2E5C2-F613-47A6-A6E3-541A2AE65511}"/>
              </a:ext>
            </a:extLst>
          </p:cNvPr>
          <p:cNvSpPr>
            <a:spLocks xmlns:a="http://schemas.openxmlformats.org/drawingml/2006/main" noGrp="1"/>
          </p:cNvSpPr>
          <p:nvPr/>
        </p:nvSpPr>
        <p:spPr>
          <a:xfrm xmlns:a="http://schemas.openxmlformats.org/drawingml/2006/main" rot="5400000">
            <a:off x="5534025"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1" name="!!q1-solve-selected-tick0">
            <a:extLst xmlns:a="http://schemas.openxmlformats.org/drawingml/2006/main">
              <a:ext uri="{FF2B5EF4-FFF2-40B4-BE49-F238E27FC236}">
                <a16:creationId xmlns:a16="http://schemas.microsoft.com/office/drawing/2014/main" id="{6E9FC034-7002-4952-B3A9-B5CF9BE7736F}"/>
              </a:ext>
            </a:extLst>
          </p:cNvPr>
          <p:cNvSpPr>
            <a:spLocks xmlns:a="http://schemas.openxmlformats.org/drawingml/2006/main" noGrp="1"/>
          </p:cNvSpPr>
          <p:nvPr/>
        </p:nvSpPr>
        <p:spPr>
          <a:xfrm xmlns:a="http://schemas.openxmlformats.org/drawingml/2006/main">
            <a:off x="453390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q1-solve-mixed-axis-line">
            <a:extLst xmlns:a="http://schemas.openxmlformats.org/drawingml/2006/main">
              <a:ext uri="{FF2B5EF4-FFF2-40B4-BE49-F238E27FC236}">
                <a16:creationId xmlns:a16="http://schemas.microsoft.com/office/drawing/2014/main" id="{448F3E08-2DA9-434E-925E-78461A01A725}"/>
              </a:ext>
            </a:extLst>
          </p:cNvPr>
          <p:cNvSpPr>
            <a:spLocks xmlns:a="http://schemas.openxmlformats.org/drawingml/2006/main" noGrp="1"/>
          </p:cNvSpPr>
          <p:nvPr/>
        </p:nvSpPr>
        <p:spPr>
          <a:xfrm xmlns:a="http://schemas.openxmlformats.org/drawingml/2006/main">
            <a:off x="6267450" y="3762375"/>
            <a:ext cx="21336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q1-solve-mixed-axis-head">
            <a:extLst xmlns:a="http://schemas.openxmlformats.org/drawingml/2006/main">
              <a:ext uri="{FF2B5EF4-FFF2-40B4-BE49-F238E27FC236}">
                <a16:creationId xmlns:a16="http://schemas.microsoft.com/office/drawing/2014/main" id="{9A7A79B1-94A7-4BE2-8D96-E285D7D46C8F}"/>
              </a:ext>
            </a:extLst>
          </p:cNvPr>
          <p:cNvSpPr>
            <a:spLocks xmlns:a="http://schemas.openxmlformats.org/drawingml/2006/main" noGrp="1"/>
          </p:cNvSpPr>
          <p:nvPr/>
        </p:nvSpPr>
        <p:spPr>
          <a:xfrm xmlns:a="http://schemas.openxmlformats.org/drawingml/2006/main" rot="5400000">
            <a:off x="838200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q1-solve-mixed-tick0">
            <a:extLst xmlns:a="http://schemas.openxmlformats.org/drawingml/2006/main">
              <a:ext uri="{FF2B5EF4-FFF2-40B4-BE49-F238E27FC236}">
                <a16:creationId xmlns:a16="http://schemas.microsoft.com/office/drawing/2014/main" id="{FB5EF919-5E00-4046-9F6C-2EED1F443F65}"/>
              </a:ext>
            </a:extLst>
          </p:cNvPr>
          <p:cNvSpPr>
            <a:spLocks xmlns:a="http://schemas.openxmlformats.org/drawingml/2006/main" noGrp="1"/>
          </p:cNvSpPr>
          <p:nvPr/>
        </p:nvSpPr>
        <p:spPr>
          <a:xfrm xmlns:a="http://schemas.openxmlformats.org/drawingml/2006/main">
            <a:off x="738187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q1-solve-message-axis-line">
            <a:extLst xmlns:a="http://schemas.openxmlformats.org/drawingml/2006/main">
              <a:ext uri="{FF2B5EF4-FFF2-40B4-BE49-F238E27FC236}">
                <a16:creationId xmlns:a16="http://schemas.microsoft.com/office/drawing/2014/main" id="{DA6BD144-C509-4BC0-A946-31D18253425E}"/>
              </a:ext>
            </a:extLst>
          </p:cNvPr>
          <p:cNvSpPr>
            <a:spLocks xmlns:a="http://schemas.openxmlformats.org/drawingml/2006/main" noGrp="1"/>
          </p:cNvSpPr>
          <p:nvPr/>
        </p:nvSpPr>
        <p:spPr>
          <a:xfrm xmlns:a="http://schemas.openxmlformats.org/drawingml/2006/main">
            <a:off x="9115425" y="3762375"/>
            <a:ext cx="21336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q1-solve-message-axis-head">
            <a:extLst xmlns:a="http://schemas.openxmlformats.org/drawingml/2006/main">
              <a:ext uri="{FF2B5EF4-FFF2-40B4-BE49-F238E27FC236}">
                <a16:creationId xmlns:a16="http://schemas.microsoft.com/office/drawing/2014/main" id="{70C9B1A9-781C-4323-AEE0-283747949990}"/>
              </a:ext>
            </a:extLst>
          </p:cNvPr>
          <p:cNvSpPr>
            <a:spLocks xmlns:a="http://schemas.openxmlformats.org/drawingml/2006/main" noGrp="1"/>
          </p:cNvSpPr>
          <p:nvPr/>
        </p:nvSpPr>
        <p:spPr>
          <a:xfrm xmlns:a="http://schemas.openxmlformats.org/drawingml/2006/main" rot="5400000">
            <a:off x="11229975"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7" name="!!q1-solve-message-tick0">
            <a:extLst xmlns:a="http://schemas.openxmlformats.org/drawingml/2006/main">
              <a:ext uri="{FF2B5EF4-FFF2-40B4-BE49-F238E27FC236}">
                <a16:creationId xmlns:a16="http://schemas.microsoft.com/office/drawing/2014/main" id="{4C13A347-060E-4295-A304-65C84C4C5B9B}"/>
              </a:ext>
            </a:extLst>
          </p:cNvPr>
          <p:cNvSpPr>
            <a:spLocks xmlns:a="http://schemas.openxmlformats.org/drawingml/2006/main" noGrp="1"/>
          </p:cNvSpPr>
          <p:nvPr/>
        </p:nvSpPr>
        <p:spPr>
          <a:xfrm xmlns:a="http://schemas.openxmlformats.org/drawingml/2006/main">
            <a:off x="102298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q1-solve-input-44">
            <a:extLst xmlns:a="http://schemas.openxmlformats.org/drawingml/2006/main">
              <a:ext uri="{FF2B5EF4-FFF2-40B4-BE49-F238E27FC236}">
                <a16:creationId xmlns:a16="http://schemas.microsoft.com/office/drawing/2014/main" id="{05BE4F05-A6CE-4A9A-A909-A7375B94C727}"/>
              </a:ext>
            </a:extLst>
          </p:cNvPr>
          <p:cNvSpPr>
            <a:spLocks xmlns:a="http://schemas.openxmlformats.org/drawingml/2006/main" noGrp="1"/>
          </p:cNvSpPr>
          <p:nvPr/>
        </p:nvSpPr>
        <p:spPr>
          <a:xfrm xmlns:a="http://schemas.openxmlformats.org/drawingml/2006/main">
            <a:off x="794385" y="3524250"/>
            <a:ext cx="148590" cy="238125"/>
          </a:xfrm>
          <a:custGeom xmlns:a="http://schemas.openxmlformats.org/drawingml/2006/main">
            <a:pathLst>
              <a:path w="148590" h="238125">
                <a:moveTo>
                  <a:pt x="0" y="238125"/>
                </a:moveTo>
                <a:lnTo>
                  <a:pt x="74295" y="0"/>
                </a:lnTo>
                <a:lnTo>
                  <a:pt x="148590" y="238125"/>
                </a:lnTo>
                <a:close/>
              </a:path>
            </a:pathLst>
          </a:custGeom>
          <a:solidFill xmlns:a="http://schemas.openxmlformats.org/drawingml/2006/main">
            <a:srgbClr val="BBBBBB"/>
          </a:solidFill>
          <a:ln xmlns:a="http://schemas.openxmlformats.org/drawingml/2006/main" w="10478">
            <a:solidFill>
              <a:srgbClr val="202020"/>
            </a:solidFill>
          </a:ln>
        </p:spPr>
      </p:sp>
      <p:sp>
        <p:nvSpPr>
          <p:cNvPr id="29" name="!!q1-solve-input-32">
            <a:extLst xmlns:a="http://schemas.openxmlformats.org/drawingml/2006/main">
              <a:ext uri="{FF2B5EF4-FFF2-40B4-BE49-F238E27FC236}">
                <a16:creationId xmlns:a16="http://schemas.microsoft.com/office/drawing/2014/main" id="{78F87BC8-4D20-469C-BC85-592038A363A1}"/>
              </a:ext>
            </a:extLst>
          </p:cNvPr>
          <p:cNvSpPr>
            <a:spLocks xmlns:a="http://schemas.openxmlformats.org/drawingml/2006/main" noGrp="1"/>
          </p:cNvSpPr>
          <p:nvPr/>
        </p:nvSpPr>
        <p:spPr>
          <a:xfrm xmlns:a="http://schemas.openxmlformats.org/drawingml/2006/main">
            <a:off x="1017270" y="3419475"/>
            <a:ext cx="148590" cy="342900"/>
          </a:xfrm>
          <a:custGeom xmlns:a="http://schemas.openxmlformats.org/drawingml/2006/main">
            <a:pathLst>
              <a:path w="148590" h="342900">
                <a:moveTo>
                  <a:pt x="0" y="342900"/>
                </a:moveTo>
                <a:lnTo>
                  <a:pt x="74295" y="0"/>
                </a:lnTo>
                <a:lnTo>
                  <a:pt x="148590" y="342900"/>
                </a:lnTo>
                <a:close/>
              </a:path>
            </a:pathLst>
          </a:custGeom>
          <a:solidFill xmlns:a="http://schemas.openxmlformats.org/drawingml/2006/main">
            <a:srgbClr val="535353"/>
          </a:solidFill>
          <a:ln xmlns:a="http://schemas.openxmlformats.org/drawingml/2006/main" w="10478">
            <a:solidFill>
              <a:srgbClr val="202020"/>
            </a:solidFill>
          </a:ln>
        </p:spPr>
      </p:sp>
      <p:sp>
        <p:nvSpPr>
          <p:cNvPr id="30" name="!!q1-solve-input-20">
            <a:extLst xmlns:a="http://schemas.openxmlformats.org/drawingml/2006/main">
              <a:ext uri="{FF2B5EF4-FFF2-40B4-BE49-F238E27FC236}">
                <a16:creationId xmlns:a16="http://schemas.microsoft.com/office/drawing/2014/main" id="{7E1BA5F8-1AE0-465A-B76A-927BCEC0BCD0}"/>
              </a:ext>
            </a:extLst>
          </p:cNvPr>
          <p:cNvSpPr>
            <a:spLocks xmlns:a="http://schemas.openxmlformats.org/drawingml/2006/main" noGrp="1"/>
          </p:cNvSpPr>
          <p:nvPr/>
        </p:nvSpPr>
        <p:spPr>
          <a:xfrm xmlns:a="http://schemas.openxmlformats.org/drawingml/2006/main">
            <a:off x="1240155" y="3524250"/>
            <a:ext cx="148590" cy="238125"/>
          </a:xfrm>
          <a:custGeom xmlns:a="http://schemas.openxmlformats.org/drawingml/2006/main">
            <a:pathLst>
              <a:path w="148590" h="238125">
                <a:moveTo>
                  <a:pt x="0" y="238125"/>
                </a:moveTo>
                <a:lnTo>
                  <a:pt x="74295" y="0"/>
                </a:lnTo>
                <a:lnTo>
                  <a:pt x="148590" y="238125"/>
                </a:lnTo>
                <a:close/>
              </a:path>
            </a:pathLst>
          </a:custGeom>
          <a:solidFill xmlns:a="http://schemas.openxmlformats.org/drawingml/2006/main">
            <a:srgbClr val="BBBBBB"/>
          </a:solidFill>
          <a:ln xmlns:a="http://schemas.openxmlformats.org/drawingml/2006/main" w="10478">
            <a:solidFill>
              <a:srgbClr val="202020"/>
            </a:solidFill>
          </a:ln>
        </p:spPr>
      </p:sp>
      <p:sp>
        <p:nvSpPr>
          <p:cNvPr id="31" name="!!q1-solve-input20">
            <a:extLst xmlns:a="http://schemas.openxmlformats.org/drawingml/2006/main">
              <a:ext uri="{FF2B5EF4-FFF2-40B4-BE49-F238E27FC236}">
                <a16:creationId xmlns:a16="http://schemas.microsoft.com/office/drawing/2014/main" id="{F98D2FF0-DAB5-4450-820C-A4AF7D82E587}"/>
              </a:ext>
            </a:extLst>
          </p:cNvPr>
          <p:cNvSpPr>
            <a:spLocks xmlns:a="http://schemas.openxmlformats.org/drawingml/2006/main" noGrp="1"/>
          </p:cNvSpPr>
          <p:nvPr/>
        </p:nvSpPr>
        <p:spPr>
          <a:xfrm xmlns:a="http://schemas.openxmlformats.org/drawingml/2006/main">
            <a:off x="1983105" y="3524250"/>
            <a:ext cx="148590" cy="238125"/>
          </a:xfrm>
          <a:custGeom xmlns:a="http://schemas.openxmlformats.org/drawingml/2006/main">
            <a:pathLst>
              <a:path w="148590" h="238125">
                <a:moveTo>
                  <a:pt x="0" y="238125"/>
                </a:moveTo>
                <a:lnTo>
                  <a:pt x="74295" y="0"/>
                </a:lnTo>
                <a:lnTo>
                  <a:pt x="148590" y="238125"/>
                </a:lnTo>
                <a:close/>
              </a:path>
            </a:pathLst>
          </a:custGeom>
          <a:solidFill xmlns:a="http://schemas.openxmlformats.org/drawingml/2006/main">
            <a:srgbClr val="BBBBBB"/>
          </a:solidFill>
          <a:ln xmlns:a="http://schemas.openxmlformats.org/drawingml/2006/main" w="10478">
            <a:solidFill>
              <a:srgbClr val="202020"/>
            </a:solidFill>
          </a:ln>
        </p:spPr>
      </p:sp>
      <p:sp>
        <p:nvSpPr>
          <p:cNvPr id="32" name="!!q1-solve-input32">
            <a:extLst xmlns:a="http://schemas.openxmlformats.org/drawingml/2006/main">
              <a:ext uri="{FF2B5EF4-FFF2-40B4-BE49-F238E27FC236}">
                <a16:creationId xmlns:a16="http://schemas.microsoft.com/office/drawing/2014/main" id="{54C579FE-DB77-403E-875E-63C457DBECE0}"/>
              </a:ext>
            </a:extLst>
          </p:cNvPr>
          <p:cNvSpPr>
            <a:spLocks xmlns:a="http://schemas.openxmlformats.org/drawingml/2006/main" noGrp="1"/>
          </p:cNvSpPr>
          <p:nvPr/>
        </p:nvSpPr>
        <p:spPr>
          <a:xfrm xmlns:a="http://schemas.openxmlformats.org/drawingml/2006/main">
            <a:off x="2205990" y="3419475"/>
            <a:ext cx="148590" cy="342900"/>
          </a:xfrm>
          <a:custGeom xmlns:a="http://schemas.openxmlformats.org/drawingml/2006/main">
            <a:pathLst>
              <a:path w="148590" h="342900">
                <a:moveTo>
                  <a:pt x="0" y="342900"/>
                </a:moveTo>
                <a:lnTo>
                  <a:pt x="74295" y="0"/>
                </a:lnTo>
                <a:lnTo>
                  <a:pt x="148590" y="342900"/>
                </a:lnTo>
                <a:close/>
              </a:path>
            </a:pathLst>
          </a:custGeom>
          <a:solidFill xmlns:a="http://schemas.openxmlformats.org/drawingml/2006/main">
            <a:srgbClr val="535353"/>
          </a:solidFill>
          <a:ln xmlns:a="http://schemas.openxmlformats.org/drawingml/2006/main" w="10478">
            <a:solidFill>
              <a:srgbClr val="202020"/>
            </a:solidFill>
          </a:ln>
        </p:spPr>
      </p:sp>
      <p:sp>
        <p:nvSpPr>
          <p:cNvPr id="33" name="!!q1-solve-input44">
            <a:extLst xmlns:a="http://schemas.openxmlformats.org/drawingml/2006/main">
              <a:ext uri="{FF2B5EF4-FFF2-40B4-BE49-F238E27FC236}">
                <a16:creationId xmlns:a16="http://schemas.microsoft.com/office/drawing/2014/main" id="{9810A41A-116F-46A4-A03D-2CA6A02920E8}"/>
              </a:ext>
            </a:extLst>
          </p:cNvPr>
          <p:cNvSpPr>
            <a:spLocks xmlns:a="http://schemas.openxmlformats.org/drawingml/2006/main" noGrp="1"/>
          </p:cNvSpPr>
          <p:nvPr/>
        </p:nvSpPr>
        <p:spPr>
          <a:xfrm xmlns:a="http://schemas.openxmlformats.org/drawingml/2006/main">
            <a:off x="2428875" y="3524250"/>
            <a:ext cx="148590" cy="238125"/>
          </a:xfrm>
          <a:custGeom xmlns:a="http://schemas.openxmlformats.org/drawingml/2006/main">
            <a:pathLst>
              <a:path w="148590" h="238125">
                <a:moveTo>
                  <a:pt x="0" y="238125"/>
                </a:moveTo>
                <a:lnTo>
                  <a:pt x="74295" y="0"/>
                </a:lnTo>
                <a:lnTo>
                  <a:pt x="148590" y="238125"/>
                </a:lnTo>
                <a:close/>
              </a:path>
            </a:pathLst>
          </a:custGeom>
          <a:solidFill xmlns:a="http://schemas.openxmlformats.org/drawingml/2006/main">
            <a:srgbClr val="BBBBBB"/>
          </a:solidFill>
          <a:ln xmlns:a="http://schemas.openxmlformats.org/drawingml/2006/main" w="10478">
            <a:solidFill>
              <a:srgbClr val="202020"/>
            </a:solidFill>
          </a:ln>
        </p:spPr>
      </p:sp>
      <p:pic>
        <p:nvPicPr>
          <p:cNvPr id="90" name="!!q1-solve-route-m" descr="m_1,m_2,m_3">
            <ns0:hlinkClick xmlns:ns0="http://schemas.openxmlformats.org/drawingml/2006/main" xmlns:ns1="http://schemas.openxmlformats.org/officeDocument/2006/relationships" ns1:id="rIdmethods_Link3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962bae149cd42d0">
            <a:extLst>
              <a:ext uri="{96DAC541-7B7A-43D3-8B79-37D633B846F1}">
                <ns0:svgBlip xmlns:ns0="http://schemas.microsoft.com/office/drawing/2016/SVG/main" r:embed="rIdVectormf00128"/>
              </a:ext>
            </a:extLst>
          </a:blip>
          <a:stretch xmlns:a="http://schemas.openxmlformats.org/drawingml/2006/main"/>
        </p:blipFill>
        <p:spPr>
          <a:xfrm xmlns:a="http://schemas.openxmlformats.org/drawingml/2006/main">
            <a:off x="1714028" y="1273295"/>
            <a:ext cx="1810693" cy="215660"/>
          </a:xfrm>
          <a:prstGeom xmlns:a="http://schemas.openxmlformats.org/drawingml/2006/main" prst="rect">
            <a:avLst/>
          </a:prstGeom>
        </p:spPr>
      </p:pic>
      <p:pic>
        <p:nvPicPr>
          <p:cNvPr id="91" name="!!q1-solve-route-s" descr="s(t)">
            <ns0:hlinkClick xmlns:ns0="http://schemas.openxmlformats.org/drawingml/2006/main" xmlns:ns1="http://schemas.openxmlformats.org/officeDocument/2006/relationships" ns1:id="rIdmethods_Link3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135ccce60504490b">
            <a:extLst>
              <a:ext uri="{96DAC541-7B7A-43D3-8B79-37D633B846F1}">
                <ns1:svgBlip xmlns:ns1="http://schemas.microsoft.com/office/drawing/2016/SVG/main" r:embed="rIdVectormf00129"/>
              </a:ext>
            </a:extLst>
          </a:blip>
          <a:stretch xmlns:a="http://schemas.openxmlformats.org/drawingml/2006/main"/>
        </p:blipFill>
        <p:spPr>
          <a:xfrm xmlns:a="http://schemas.openxmlformats.org/drawingml/2006/main">
            <a:off x="5736404" y="1181100"/>
            <a:ext cx="719191" cy="400050"/>
          </a:xfrm>
          <a:prstGeom xmlns:a="http://schemas.openxmlformats.org/drawingml/2006/main" prst="rect">
            <a:avLst/>
          </a:prstGeom>
        </p:spPr>
      </p:pic>
      <p:pic>
        <p:nvPicPr>
          <p:cNvPr id="92" name="!!q1-solve-route-restored" descr="m_2(t)">
            <ns0:hlinkClick xmlns:ns0="http://schemas.openxmlformats.org/drawingml/2006/main" xmlns:ns1="http://schemas.openxmlformats.org/officeDocument/2006/relationships" ns1:id="rIdmethods_Link3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b11e25d3dea94a39">
            <a:extLst>
              <a:ext uri="{96DAC541-7B7A-43D3-8B79-37D633B846F1}">
                <ns2:svgBlip xmlns:ns2="http://schemas.microsoft.com/office/drawing/2016/SVG/main" r:embed="rIdVectormf00130"/>
              </a:ext>
            </a:extLst>
          </a:blip>
          <a:stretch xmlns:a="http://schemas.openxmlformats.org/drawingml/2006/main"/>
        </p:blipFill>
        <p:spPr>
          <a:xfrm xmlns:a="http://schemas.openxmlformats.org/drawingml/2006/main">
            <a:off x="9012555" y="1181100"/>
            <a:ext cx="1120140" cy="400050"/>
          </a:xfrm>
          <a:prstGeom xmlns:a="http://schemas.openxmlformats.org/drawingml/2006/main" prst="rect">
            <a:avLst/>
          </a:prstGeom>
        </p:spPr>
      </p:pic>
      <p:pic>
        <p:nvPicPr>
          <p:cNvPr id="93" name="!!q1-solve-given-signal" descr="s_k(t)=A_cm_k(t)\cos(2\pi f_{c,k}t)"/>
          <p:cNvPicPr>
            <a:picLocks xmlns:a="http://schemas.openxmlformats.org/drawingml/2006/main" noChangeAspect="1"/>
          </p:cNvPicPr>
          <p:nvPr/>
        </p:nvPicPr>
        <p:blipFill>
          <a:blip xmlns:r="http://schemas.openxmlformats.org/officeDocument/2006/relationships" xmlns:a="http://schemas.openxmlformats.org/drawingml/2006/main" r:embed="Rf5383e7859834e2e">
            <a:extLst>
              <a:ext uri="{96DAC541-7B7A-43D3-8B79-37D633B846F1}">
                <ns3:svgBlip xmlns:ns3="http://schemas.microsoft.com/office/drawing/2016/SVG/main" r:embed="rIdVectormf00131"/>
              </a:ext>
            </a:extLst>
          </a:blip>
          <a:stretch xmlns:a="http://schemas.openxmlformats.org/drawingml/2006/main"/>
        </p:blipFill>
        <p:spPr>
          <a:xfrm xmlns:a="http://schemas.openxmlformats.org/drawingml/2006/main">
            <a:off x="661381" y="2552700"/>
            <a:ext cx="3314007" cy="247650"/>
          </a:xfrm>
          <a:prstGeom xmlns:a="http://schemas.openxmlformats.org/drawingml/2006/main" prst="rect">
            <a:avLst/>
          </a:prstGeom>
        </p:spPr>
      </p:pic>
      <p:pic>
        <p:nvPicPr>
          <p:cNvPr id="94" name="!!q1-solve-given-bands" descr="W=4\ \mathrm{kHz},\quad f_{c,1},f_{c,2},f_{c,3}=20,32,44\ \mathrm{kHz}"/>
          <p:cNvPicPr>
            <a:picLocks xmlns:a="http://schemas.openxmlformats.org/drawingml/2006/main" noChangeAspect="1"/>
          </p:cNvPicPr>
          <p:nvPr/>
        </p:nvPicPr>
        <p:blipFill>
          <a:blip xmlns:r="http://schemas.openxmlformats.org/officeDocument/2006/relationships" xmlns:a="http://schemas.openxmlformats.org/drawingml/2006/main" r:embed="R42619d3db283455b">
            <a:extLst>
              <a:ext uri="{96DAC541-7B7A-43D3-8B79-37D633B846F1}">
                <ns4:svgBlip xmlns:ns4="http://schemas.microsoft.com/office/drawing/2016/SVG/main" r:embed="rIdVectormf00132"/>
              </a:ext>
            </a:extLst>
          </a:blip>
          <a:stretch xmlns:a="http://schemas.openxmlformats.org/drawingml/2006/main"/>
        </p:blipFill>
        <p:spPr>
          <a:xfrm xmlns:a="http://schemas.openxmlformats.org/drawingml/2006/main">
            <a:off x="5181600" y="2555796"/>
            <a:ext cx="5274945" cy="241459"/>
          </a:xfrm>
          <a:prstGeom xmlns:a="http://schemas.openxmlformats.org/drawingml/2006/main" prst="rect">
            <a:avLst/>
          </a:prstGeom>
        </p:spPr>
      </p:pic>
      <p:pic>
        <p:nvPicPr>
          <p:cNvPr id="95" name="!!q1-solve-input-label" descr="S(f)"/>
          <p:cNvPicPr>
            <a:picLocks xmlns:a="http://schemas.openxmlformats.org/drawingml/2006/main" noChangeAspect="1"/>
          </p:cNvPicPr>
          <p:nvPr/>
        </p:nvPicPr>
        <p:blipFill>
          <a:blip xmlns:r="http://schemas.openxmlformats.org/officeDocument/2006/relationships" xmlns:a="http://schemas.openxmlformats.org/drawingml/2006/main" r:embed="R9df4cab210c5427b">
            <a:extLst>
              <a:ext uri="{96DAC541-7B7A-43D3-8B79-37D633B846F1}">
                <ns5:svgBlip xmlns:ns5="http://schemas.microsoft.com/office/drawing/2016/SVG/main" r:embed="rIdVectormf00133"/>
              </a:ext>
            </a:extLst>
          </a:blip>
          <a:stretch xmlns:a="http://schemas.openxmlformats.org/drawingml/2006/main"/>
        </p:blipFill>
        <p:spPr>
          <a:xfrm xmlns:a="http://schemas.openxmlformats.org/drawingml/2006/main">
            <a:off x="571500" y="2976563"/>
            <a:ext cx="419100" cy="209550"/>
          </a:xfrm>
          <a:prstGeom xmlns:a="http://schemas.openxmlformats.org/drawingml/2006/main" prst="rect">
            <a:avLst/>
          </a:prstGeom>
        </p:spPr>
      </p:pic>
      <p:pic>
        <p:nvPicPr>
          <p:cNvPr id="96" name="!!q1-solve-input-domain" descr="f"/>
          <p:cNvPicPr>
            <a:picLocks xmlns:a="http://schemas.openxmlformats.org/drawingml/2006/main" noChangeAspect="1"/>
          </p:cNvPicPr>
          <p:nvPr/>
        </p:nvPicPr>
        <p:blipFill>
          <a:blip xmlns:r="http://schemas.openxmlformats.org/officeDocument/2006/relationships" xmlns:a="http://schemas.openxmlformats.org/drawingml/2006/main" r:embed="Re323030eb18049ed">
            <a:extLst>
              <a:ext uri="{96DAC541-7B7A-43D3-8B79-37D633B846F1}">
                <ns6:svgBlip xmlns:ns6="http://schemas.microsoft.com/office/drawing/2016/SVG/main" r:embed="rIdVectormf00134"/>
              </a:ext>
            </a:extLst>
          </a:blip>
          <a:stretch xmlns:a="http://schemas.openxmlformats.org/drawingml/2006/main"/>
        </p:blipFill>
        <p:spPr>
          <a:xfrm xmlns:a="http://schemas.openxmlformats.org/drawingml/2006/main">
            <a:off x="2822423" y="3583305"/>
            <a:ext cx="79678" cy="120015"/>
          </a:xfrm>
          <a:prstGeom xmlns:a="http://schemas.openxmlformats.org/drawingml/2006/main" prst="rect">
            <a:avLst/>
          </a:prstGeom>
        </p:spPr>
      </p:pic>
      <p:pic>
        <p:nvPicPr>
          <p:cNvPr id="97" name="!!q1-solve-input-ticklabel0" descr="-44"/>
          <p:cNvPicPr>
            <a:picLocks xmlns:a="http://schemas.openxmlformats.org/drawingml/2006/main" noChangeAspect="1"/>
          </p:cNvPicPr>
          <p:nvPr/>
        </p:nvPicPr>
        <p:blipFill>
          <a:blip xmlns:r="http://schemas.openxmlformats.org/officeDocument/2006/relationships" xmlns:a="http://schemas.openxmlformats.org/drawingml/2006/main" r:embed="Rec80fcea063243ca">
            <a:extLst>
              <a:ext uri="{96DAC541-7B7A-43D3-8B79-37D633B846F1}">
                <ns7:svgBlip xmlns:ns7="http://schemas.microsoft.com/office/drawing/2016/SVG/main" r:embed="rIdVectormf00135"/>
              </a:ext>
            </a:extLst>
          </a:blip>
          <a:stretch xmlns:a="http://schemas.openxmlformats.org/drawingml/2006/main"/>
        </p:blipFill>
        <p:spPr>
          <a:xfrm xmlns:a="http://schemas.openxmlformats.org/drawingml/2006/main">
            <a:off x="697230" y="4063722"/>
            <a:ext cx="342900" cy="130731"/>
          </a:xfrm>
          <a:prstGeom xmlns:a="http://schemas.openxmlformats.org/drawingml/2006/main" prst="rect">
            <a:avLst/>
          </a:prstGeom>
        </p:spPr>
      </p:pic>
      <p:pic>
        <p:nvPicPr>
          <p:cNvPr id="98" name="!!q1-solve-input-ticklabel1" descr="-32"/>
          <p:cNvPicPr>
            <a:picLocks xmlns:a="http://schemas.openxmlformats.org/drawingml/2006/main" noChangeAspect="1"/>
          </p:cNvPicPr>
          <p:nvPr/>
        </p:nvPicPr>
        <p:blipFill>
          <a:blip xmlns:r="http://schemas.openxmlformats.org/officeDocument/2006/relationships" xmlns:a="http://schemas.openxmlformats.org/drawingml/2006/main" r:embed="Rd3b2c5155d164146">
            <a:extLst>
              <a:ext uri="{96DAC541-7B7A-43D3-8B79-37D633B846F1}">
                <ns8:svgBlip xmlns:ns8="http://schemas.microsoft.com/office/drawing/2016/SVG/main" r:embed="rIdVectormf00136"/>
              </a:ext>
            </a:extLst>
          </a:blip>
          <a:stretch xmlns:a="http://schemas.openxmlformats.org/drawingml/2006/main"/>
        </p:blipFill>
        <p:spPr>
          <a:xfrm xmlns:a="http://schemas.openxmlformats.org/drawingml/2006/main">
            <a:off x="920115" y="3873222"/>
            <a:ext cx="342900" cy="130731"/>
          </a:xfrm>
          <a:prstGeom xmlns:a="http://schemas.openxmlformats.org/drawingml/2006/main" prst="rect">
            <a:avLst/>
          </a:prstGeom>
        </p:spPr>
      </p:pic>
      <p:pic>
        <p:nvPicPr>
          <p:cNvPr id="99" name="!!q1-solve-input-ticklabel2" descr="-20"/>
          <p:cNvPicPr>
            <a:picLocks xmlns:a="http://schemas.openxmlformats.org/drawingml/2006/main" noChangeAspect="1"/>
          </p:cNvPicPr>
          <p:nvPr/>
        </p:nvPicPr>
        <p:blipFill>
          <a:blip xmlns:r="http://schemas.openxmlformats.org/officeDocument/2006/relationships" xmlns:a="http://schemas.openxmlformats.org/drawingml/2006/main" r:embed="R51a09473af9a4999">
            <a:extLst>
              <a:ext uri="{96DAC541-7B7A-43D3-8B79-37D633B846F1}">
                <ns9:svgBlip xmlns:ns9="http://schemas.microsoft.com/office/drawing/2016/SVG/main" r:embed="rIdVectormf00137"/>
              </a:ext>
            </a:extLst>
          </a:blip>
          <a:stretch xmlns:a="http://schemas.openxmlformats.org/drawingml/2006/main"/>
        </p:blipFill>
        <p:spPr>
          <a:xfrm xmlns:a="http://schemas.openxmlformats.org/drawingml/2006/main">
            <a:off x="1143000" y="4063722"/>
            <a:ext cx="342900" cy="130731"/>
          </a:xfrm>
          <a:prstGeom xmlns:a="http://schemas.openxmlformats.org/drawingml/2006/main" prst="rect">
            <a:avLst/>
          </a:prstGeom>
        </p:spPr>
      </p:pic>
      <p:pic>
        <p:nvPicPr>
          <p:cNvPr id="100" name="!!q1-solve-input-ticklabel3" descr="0"/>
          <p:cNvPicPr>
            <a:picLocks xmlns:a="http://schemas.openxmlformats.org/drawingml/2006/main" noChangeAspect="1"/>
          </p:cNvPicPr>
          <p:nvPr/>
        </p:nvPicPr>
        <p:blipFill>
          <a:blip xmlns:r="http://schemas.openxmlformats.org/officeDocument/2006/relationships" xmlns:a="http://schemas.openxmlformats.org/drawingml/2006/main" r:embed="Rbb93293b79e34878">
            <a:extLst>
              <a:ext uri="{96DAC541-7B7A-43D3-8B79-37D633B846F1}">
                <ns10:svgBlip xmlns:ns10="http://schemas.microsoft.com/office/drawing/2016/SVG/main" r:embed="rIdVectormf00138"/>
              </a:ext>
            </a:extLst>
          </a:blip>
          <a:stretch xmlns:a="http://schemas.openxmlformats.org/drawingml/2006/main"/>
        </p:blipFill>
        <p:spPr>
          <a:xfrm xmlns:a="http://schemas.openxmlformats.org/drawingml/2006/main">
            <a:off x="1639950" y="3887153"/>
            <a:ext cx="91951" cy="102870"/>
          </a:xfrm>
          <a:prstGeom xmlns:a="http://schemas.openxmlformats.org/drawingml/2006/main" prst="rect">
            <a:avLst/>
          </a:prstGeom>
        </p:spPr>
      </p:pic>
      <p:pic>
        <p:nvPicPr>
          <p:cNvPr id="101" name="!!q1-solve-input-ticklabel4" descr="20"/>
          <p:cNvPicPr>
            <a:picLocks xmlns:a="http://schemas.openxmlformats.org/drawingml/2006/main" noChangeAspect="1"/>
          </p:cNvPicPr>
          <p:nvPr/>
        </p:nvPicPr>
        <p:blipFill>
          <a:blip xmlns:r="http://schemas.openxmlformats.org/officeDocument/2006/relationships" xmlns:a="http://schemas.openxmlformats.org/drawingml/2006/main" r:embed="R1aa3edef0106425c">
            <a:extLst>
              <a:ext uri="{96DAC541-7B7A-43D3-8B79-37D633B846F1}">
                <ns11:svgBlip xmlns:ns11="http://schemas.microsoft.com/office/drawing/2016/SVG/main" r:embed="rIdVectormf00139"/>
              </a:ext>
            </a:extLst>
          </a:blip>
          <a:stretch xmlns:a="http://schemas.openxmlformats.org/drawingml/2006/main"/>
        </p:blipFill>
        <p:spPr>
          <a:xfrm xmlns:a="http://schemas.openxmlformats.org/drawingml/2006/main">
            <a:off x="1965449" y="4077653"/>
            <a:ext cx="183902" cy="102870"/>
          </a:xfrm>
          <a:prstGeom xmlns:a="http://schemas.openxmlformats.org/drawingml/2006/main" prst="rect">
            <a:avLst/>
          </a:prstGeom>
        </p:spPr>
      </p:pic>
      <p:pic>
        <p:nvPicPr>
          <p:cNvPr id="102" name="!!q1-solve-input-ticklabel5" descr="32"/>
          <p:cNvPicPr>
            <a:picLocks xmlns:a="http://schemas.openxmlformats.org/drawingml/2006/main" noChangeAspect="1"/>
          </p:cNvPicPr>
          <p:nvPr/>
        </p:nvPicPr>
        <p:blipFill>
          <a:blip xmlns:r="http://schemas.openxmlformats.org/officeDocument/2006/relationships" xmlns:a="http://schemas.openxmlformats.org/drawingml/2006/main" r:embed="R4bdcf2ca8d6d4eea">
            <a:extLst>
              <a:ext uri="{96DAC541-7B7A-43D3-8B79-37D633B846F1}">
                <ns12:svgBlip xmlns:ns12="http://schemas.microsoft.com/office/drawing/2016/SVG/main" r:embed="rIdVectormf00140"/>
              </a:ext>
            </a:extLst>
          </a:blip>
          <a:stretch xmlns:a="http://schemas.openxmlformats.org/drawingml/2006/main"/>
        </p:blipFill>
        <p:spPr>
          <a:xfrm xmlns:a="http://schemas.openxmlformats.org/drawingml/2006/main">
            <a:off x="2188334" y="3887153"/>
            <a:ext cx="183902" cy="102870"/>
          </a:xfrm>
          <a:prstGeom xmlns:a="http://schemas.openxmlformats.org/drawingml/2006/main" prst="rect">
            <a:avLst/>
          </a:prstGeom>
        </p:spPr>
      </p:pic>
      <p:pic>
        <p:nvPicPr>
          <p:cNvPr id="103" name="!!q1-solve-input-ticklabel6" descr="44"/>
          <p:cNvPicPr>
            <a:picLocks xmlns:a="http://schemas.openxmlformats.org/drawingml/2006/main" noChangeAspect="1"/>
          </p:cNvPicPr>
          <p:nvPr/>
        </p:nvPicPr>
        <p:blipFill>
          <a:blip xmlns:r="http://schemas.openxmlformats.org/officeDocument/2006/relationships" xmlns:a="http://schemas.openxmlformats.org/drawingml/2006/main" r:embed="R00864016196c41d1">
            <a:extLst>
              <a:ext uri="{96DAC541-7B7A-43D3-8B79-37D633B846F1}">
                <ns13:svgBlip xmlns:ns13="http://schemas.microsoft.com/office/drawing/2016/SVG/main" r:embed="rIdVectormf00141"/>
              </a:ext>
            </a:extLst>
          </a:blip>
          <a:stretch xmlns:a="http://schemas.openxmlformats.org/drawingml/2006/main"/>
        </p:blipFill>
        <p:spPr>
          <a:xfrm xmlns:a="http://schemas.openxmlformats.org/drawingml/2006/main">
            <a:off x="2411219" y="4077653"/>
            <a:ext cx="183902" cy="102870"/>
          </a:xfrm>
          <a:prstGeom xmlns:a="http://schemas.openxmlformats.org/drawingml/2006/main" prst="rect">
            <a:avLst/>
          </a:prstGeom>
        </p:spPr>
      </p:pic>
      <p:pic>
        <p:nvPicPr>
          <p:cNvPr id="104" name="!!q1-solve-selected-label" descr="S_2(f)"/>
          <p:cNvPicPr>
            <a:picLocks xmlns:a="http://schemas.openxmlformats.org/drawingml/2006/main" noChangeAspect="1"/>
          </p:cNvPicPr>
          <p:nvPr/>
        </p:nvPicPr>
        <p:blipFill>
          <a:blip xmlns:r="http://schemas.openxmlformats.org/officeDocument/2006/relationships" xmlns:a="http://schemas.openxmlformats.org/drawingml/2006/main" r:embed="R0e3dbc64cbb74d35">
            <a:extLst>
              <a:ext uri="{96DAC541-7B7A-43D3-8B79-37D633B846F1}">
                <ns14:svgBlip xmlns:ns14="http://schemas.microsoft.com/office/drawing/2016/SVG/main" r:embed="rIdVectormf00142"/>
              </a:ext>
            </a:extLst>
          </a:blip>
          <a:stretch xmlns:a="http://schemas.openxmlformats.org/drawingml/2006/main"/>
        </p:blipFill>
        <p:spPr>
          <a:xfrm xmlns:a="http://schemas.openxmlformats.org/drawingml/2006/main">
            <a:off x="3419475" y="2976563"/>
            <a:ext cx="523875" cy="209550"/>
          </a:xfrm>
          <a:prstGeom xmlns:a="http://schemas.openxmlformats.org/drawingml/2006/main" prst="rect">
            <a:avLst/>
          </a:prstGeom>
        </p:spPr>
      </p:pic>
      <p:pic>
        <p:nvPicPr>
          <p:cNvPr id="105" name="!!q1-solve-selected-domain" descr="f"/>
          <p:cNvPicPr>
            <a:picLocks xmlns:a="http://schemas.openxmlformats.org/drawingml/2006/main" noChangeAspect="1"/>
          </p:cNvPicPr>
          <p:nvPr/>
        </p:nvPicPr>
        <p:blipFill>
          <a:blip xmlns:r="http://schemas.openxmlformats.org/officeDocument/2006/relationships" xmlns:a="http://schemas.openxmlformats.org/drawingml/2006/main" r:embed="R480162777d3a4475">
            <a:extLst>
              <a:ext uri="{96DAC541-7B7A-43D3-8B79-37D633B846F1}">
                <ns15:svgBlip xmlns:ns15="http://schemas.microsoft.com/office/drawing/2016/SVG/main" r:embed="rIdVectormf00143"/>
              </a:ext>
            </a:extLst>
          </a:blip>
          <a:stretch xmlns:a="http://schemas.openxmlformats.org/drawingml/2006/main"/>
        </p:blipFill>
        <p:spPr>
          <a:xfrm xmlns:a="http://schemas.openxmlformats.org/drawingml/2006/main">
            <a:off x="5670398" y="3583305"/>
            <a:ext cx="79678" cy="120015"/>
          </a:xfrm>
          <a:prstGeom xmlns:a="http://schemas.openxmlformats.org/drawingml/2006/main" prst="rect">
            <a:avLst/>
          </a:prstGeom>
        </p:spPr>
      </p:pic>
      <p:pic>
        <p:nvPicPr>
          <p:cNvPr id="106" name="!!q1-solve-selected-ticklabel0" descr="0"/>
          <p:cNvPicPr>
            <a:picLocks xmlns:a="http://schemas.openxmlformats.org/drawingml/2006/main" noChangeAspect="1"/>
          </p:cNvPicPr>
          <p:nvPr/>
        </p:nvPicPr>
        <p:blipFill>
          <a:blip xmlns:r="http://schemas.openxmlformats.org/officeDocument/2006/relationships" xmlns:a="http://schemas.openxmlformats.org/drawingml/2006/main" r:embed="Rcd108d7641af44c4">
            <a:extLst>
              <a:ext uri="{96DAC541-7B7A-43D3-8B79-37D633B846F1}">
                <ns16:svgBlip xmlns:ns16="http://schemas.microsoft.com/office/drawing/2016/SVG/main" r:embed="rIdVectormf00144"/>
              </a:ext>
            </a:extLst>
          </a:blip>
          <a:stretch xmlns:a="http://schemas.openxmlformats.org/drawingml/2006/main"/>
        </p:blipFill>
        <p:spPr>
          <a:xfrm xmlns:a="http://schemas.openxmlformats.org/drawingml/2006/main">
            <a:off x="4487925" y="3887153"/>
            <a:ext cx="91951" cy="102870"/>
          </a:xfrm>
          <a:prstGeom xmlns:a="http://schemas.openxmlformats.org/drawingml/2006/main" prst="rect">
            <a:avLst/>
          </a:prstGeom>
        </p:spPr>
      </p:pic>
      <p:pic>
        <p:nvPicPr>
          <p:cNvPr id="107" name="!!q1-solve-mixed-label" descr="U_2(f)"/>
          <p:cNvPicPr>
            <a:picLocks xmlns:a="http://schemas.openxmlformats.org/drawingml/2006/main" noChangeAspect="1"/>
          </p:cNvPicPr>
          <p:nvPr/>
        </p:nvPicPr>
        <p:blipFill>
          <a:blip xmlns:r="http://schemas.openxmlformats.org/officeDocument/2006/relationships" xmlns:a="http://schemas.openxmlformats.org/drawingml/2006/main" r:embed="R791b3a1bd3944cae">
            <a:extLst>
              <a:ext uri="{96DAC541-7B7A-43D3-8B79-37D633B846F1}">
                <ns17:svgBlip xmlns:ns17="http://schemas.microsoft.com/office/drawing/2016/SVG/main" r:embed="rIdVectormf00145"/>
              </a:ext>
            </a:extLst>
          </a:blip>
          <a:stretch xmlns:a="http://schemas.openxmlformats.org/drawingml/2006/main"/>
        </p:blipFill>
        <p:spPr>
          <a:xfrm xmlns:a="http://schemas.openxmlformats.org/drawingml/2006/main">
            <a:off x="6267450" y="2977872"/>
            <a:ext cx="565785" cy="206931"/>
          </a:xfrm>
          <a:prstGeom xmlns:a="http://schemas.openxmlformats.org/drawingml/2006/main" prst="rect">
            <a:avLst/>
          </a:prstGeom>
        </p:spPr>
      </p:pic>
      <p:pic>
        <p:nvPicPr>
          <p:cNvPr id="108" name="!!q1-solve-mixed-domain" descr="f"/>
          <p:cNvPicPr>
            <a:picLocks xmlns:a="http://schemas.openxmlformats.org/drawingml/2006/main" noChangeAspect="1"/>
          </p:cNvPicPr>
          <p:nvPr/>
        </p:nvPicPr>
        <p:blipFill>
          <a:blip xmlns:r="http://schemas.openxmlformats.org/officeDocument/2006/relationships" xmlns:a="http://schemas.openxmlformats.org/drawingml/2006/main" r:embed="Rbea3062554a14e1b">
            <a:extLst>
              <a:ext uri="{96DAC541-7B7A-43D3-8B79-37D633B846F1}">
                <ns18:svgBlip xmlns:ns18="http://schemas.microsoft.com/office/drawing/2016/SVG/main" r:embed="rIdVectormf00146"/>
              </a:ext>
            </a:extLst>
          </a:blip>
          <a:stretch xmlns:a="http://schemas.openxmlformats.org/drawingml/2006/main"/>
        </p:blipFill>
        <p:spPr>
          <a:xfrm xmlns:a="http://schemas.openxmlformats.org/drawingml/2006/main">
            <a:off x="8518373" y="3583305"/>
            <a:ext cx="79678" cy="120015"/>
          </a:xfrm>
          <a:prstGeom xmlns:a="http://schemas.openxmlformats.org/drawingml/2006/main" prst="rect">
            <a:avLst/>
          </a:prstGeom>
        </p:spPr>
      </p:pic>
      <p:pic>
        <p:nvPicPr>
          <p:cNvPr id="109" name="!!q1-solve-mixed-ticklabel0" descr="0"/>
          <p:cNvPicPr>
            <a:picLocks xmlns:a="http://schemas.openxmlformats.org/drawingml/2006/main" noChangeAspect="1"/>
          </p:cNvPicPr>
          <p:nvPr/>
        </p:nvPicPr>
        <p:blipFill>
          <a:blip xmlns:r="http://schemas.openxmlformats.org/officeDocument/2006/relationships" xmlns:a="http://schemas.openxmlformats.org/drawingml/2006/main" r:embed="Rf8633ee320574706">
            <a:extLst>
              <a:ext uri="{96DAC541-7B7A-43D3-8B79-37D633B846F1}">
                <ns19:svgBlip xmlns:ns19="http://schemas.microsoft.com/office/drawing/2016/SVG/main" r:embed="rIdVectormf00147"/>
              </a:ext>
            </a:extLst>
          </a:blip>
          <a:stretch xmlns:a="http://schemas.openxmlformats.org/drawingml/2006/main"/>
        </p:blipFill>
        <p:spPr>
          <a:xfrm xmlns:a="http://schemas.openxmlformats.org/drawingml/2006/main">
            <a:off x="7335900" y="3887153"/>
            <a:ext cx="91951" cy="102870"/>
          </a:xfrm>
          <a:prstGeom xmlns:a="http://schemas.openxmlformats.org/drawingml/2006/main" prst="rect">
            <a:avLst/>
          </a:prstGeom>
        </p:spPr>
      </p:pic>
      <p:pic>
        <p:nvPicPr>
          <p:cNvPr id="110" name="!!q1-solve-message-label" descr="M_2(f)"/>
          <p:cNvPicPr>
            <a:picLocks xmlns:a="http://schemas.openxmlformats.org/drawingml/2006/main" noChangeAspect="1"/>
          </p:cNvPicPr>
          <p:nvPr/>
        </p:nvPicPr>
        <p:blipFill>
          <a:blip xmlns:r="http://schemas.openxmlformats.org/officeDocument/2006/relationships" xmlns:a="http://schemas.openxmlformats.org/drawingml/2006/main" r:embed="Rdfb5b533d0574f4b">
            <a:extLst>
              <a:ext uri="{96DAC541-7B7A-43D3-8B79-37D633B846F1}">
                <ns20:svgBlip xmlns:ns20="http://schemas.microsoft.com/office/drawing/2016/SVG/main" r:embed="rIdVectormf00148"/>
              </a:ext>
            </a:extLst>
          </a:blip>
          <a:stretch xmlns:a="http://schemas.openxmlformats.org/drawingml/2006/main"/>
        </p:blipFill>
        <p:spPr>
          <a:xfrm xmlns:a="http://schemas.openxmlformats.org/drawingml/2006/main">
            <a:off x="9115425" y="2978527"/>
            <a:ext cx="607695" cy="205621"/>
          </a:xfrm>
          <a:prstGeom xmlns:a="http://schemas.openxmlformats.org/drawingml/2006/main" prst="rect">
            <a:avLst/>
          </a:prstGeom>
        </p:spPr>
      </p:pic>
      <p:pic>
        <p:nvPicPr>
          <p:cNvPr id="111" name="!!q1-solve-message-domain" descr="f"/>
          <p:cNvPicPr>
            <a:picLocks xmlns:a="http://schemas.openxmlformats.org/drawingml/2006/main" noChangeAspect="1"/>
          </p:cNvPicPr>
          <p:nvPr/>
        </p:nvPicPr>
        <p:blipFill>
          <a:blip xmlns:r="http://schemas.openxmlformats.org/officeDocument/2006/relationships" xmlns:a="http://schemas.openxmlformats.org/drawingml/2006/main" r:embed="Ra620d9e1a84f4872">
            <a:extLst>
              <a:ext uri="{96DAC541-7B7A-43D3-8B79-37D633B846F1}">
                <ns21:svgBlip xmlns:ns21="http://schemas.microsoft.com/office/drawing/2016/SVG/main" r:embed="rIdVectormf00149"/>
              </a:ext>
            </a:extLst>
          </a:blip>
          <a:stretch xmlns:a="http://schemas.openxmlformats.org/drawingml/2006/main"/>
        </p:blipFill>
        <p:spPr>
          <a:xfrm xmlns:a="http://schemas.openxmlformats.org/drawingml/2006/main">
            <a:off x="11366348" y="3583305"/>
            <a:ext cx="79678" cy="120015"/>
          </a:xfrm>
          <a:prstGeom xmlns:a="http://schemas.openxmlformats.org/drawingml/2006/main" prst="rect">
            <a:avLst/>
          </a:prstGeom>
        </p:spPr>
      </p:pic>
      <p:pic>
        <p:nvPicPr>
          <p:cNvPr id="112" name="!!q1-solve-message-ticklabel0" descr="0"/>
          <p:cNvPicPr>
            <a:picLocks xmlns:a="http://schemas.openxmlformats.org/drawingml/2006/main" noChangeAspect="1"/>
          </p:cNvPicPr>
          <p:nvPr/>
        </p:nvPicPr>
        <p:blipFill>
          <a:blip xmlns:r="http://schemas.openxmlformats.org/officeDocument/2006/relationships" xmlns:a="http://schemas.openxmlformats.org/drawingml/2006/main" r:embed="R269750eafab9461d">
            <a:extLst>
              <a:ext uri="{96DAC541-7B7A-43D3-8B79-37D633B846F1}">
                <ns22:svgBlip xmlns:ns22="http://schemas.microsoft.com/office/drawing/2016/SVG/main" r:embed="rIdVectormf00150"/>
              </a:ext>
            </a:extLst>
          </a:blip>
          <a:stretch xmlns:a="http://schemas.openxmlformats.org/drawingml/2006/main"/>
        </p:blipFill>
        <p:spPr>
          <a:xfrm xmlns:a="http://schemas.openxmlformats.org/drawingml/2006/main">
            <a:off x="10183875" y="3887153"/>
            <a:ext cx="91951" cy="102870"/>
          </a:xfrm>
          <a:prstGeom xmlns:a="http://schemas.openxmlformats.org/drawingml/2006/main" prst="rect">
            <a:avLst/>
          </a:prstGeom>
        </p:spPr>
      </p:pic>
    </p:spTree>
    <p:extLst>
      <p:ext uri="{BB962C8B-B14F-4D97-AF65-F5344CB8AC3E}">
        <p14:creationId xmlns:p14="http://schemas.microsoft.com/office/powerpoint/2010/main" val="1425669848"/>
      </p:ext>
    </p:extLst>
  </p:cSld>
</p:sld>
</file>

<file path=ppt/slides/methods_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 name="!!q1-solve-title">
            <ns0:hlinkClick xmlns:ns0="http://schemas.openxmlformats.org/drawingml/2006/main" xmlns:ns1="http://schemas.openxmlformats.org/officeDocument/2006/relationships" ns1:id="rIdmethods_Link34" action="ppaction://hlinksldjump"/>
            <a:extLst xmlns:a="http://schemas.openxmlformats.org/drawingml/2006/main">
              <a:ext uri="{FF2B5EF4-FFF2-40B4-BE49-F238E27FC236}">
                <a16:creationId xmlns:a16="http://schemas.microsoft.com/office/drawing/2014/main" id="{75B053AD-2FB6-481F-8E7C-20C5F369905B}"/>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34" action="ppaction://hlinksldjump"/>
              </a:rPr>
              <a:t>FDM</a:t>
            </a:r>
          </a:p>
        </p:txBody>
      </p:sp>
      <p:sp>
        <p:nvSpPr>
          <p:cNvPr id="2" name="!!q1-solve-subtitle">
            <a:extLst xmlns:a="http://schemas.openxmlformats.org/drawingml/2006/main">
              <a:ext uri="{FF2B5EF4-FFF2-40B4-BE49-F238E27FC236}">
                <a16:creationId xmlns:a16="http://schemas.microsoft.com/office/drawing/2014/main" id="{F5A1B13E-4C01-46AC-918D-DF82622BB77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 baseband signals (example)</a:t>
            </a:r>
          </a:p>
        </p:txBody>
      </p:sp>
      <p:sp>
        <p:nvSpPr>
          <p:cNvPr id="3" name="!!q1-solve-route-tx-line">
            <a:extLst xmlns:a="http://schemas.openxmlformats.org/drawingml/2006/main">
              <a:ext uri="{FF2B5EF4-FFF2-40B4-BE49-F238E27FC236}">
                <a16:creationId xmlns:a16="http://schemas.microsoft.com/office/drawing/2014/main" id="{355E0B7F-5A06-4BF8-BBA8-FDCDFAFBEAA8}"/>
              </a:ext>
            </a:extLst>
          </p:cNvPr>
          <p:cNvSpPr>
            <a:spLocks xmlns:a="http://schemas.openxmlformats.org/drawingml/2006/main" noGrp="1"/>
          </p:cNvSpPr>
          <p:nvPr/>
        </p:nvSpPr>
        <p:spPr>
          <a:xfrm xmlns:a="http://schemas.openxmlformats.org/drawingml/2006/main">
            <a:off x="3800475" y="1381125"/>
            <a:ext cx="1152525"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q1-solve-route-tx-head">
            <a:extLst xmlns:a="http://schemas.openxmlformats.org/drawingml/2006/main">
              <a:ext uri="{FF2B5EF4-FFF2-40B4-BE49-F238E27FC236}">
                <a16:creationId xmlns:a16="http://schemas.microsoft.com/office/drawing/2014/main" id="{6FDDD245-F9C7-4365-B2CC-DAE04E382BD4}"/>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q1-solve-route-rx-line">
            <a:extLst xmlns:a="http://schemas.openxmlformats.org/drawingml/2006/main">
              <a:ext uri="{FF2B5EF4-FFF2-40B4-BE49-F238E27FC236}">
                <a16:creationId xmlns:a16="http://schemas.microsoft.com/office/drawing/2014/main" id="{1208A436-2F66-4495-9300-E830D6E119D7}"/>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q1-solve-route-rx-head">
            <a:extLst xmlns:a="http://schemas.openxmlformats.org/drawingml/2006/main">
              <a:ext uri="{FF2B5EF4-FFF2-40B4-BE49-F238E27FC236}">
                <a16:creationId xmlns:a16="http://schemas.microsoft.com/office/drawing/2014/main" id="{D72B261F-52DC-46C9-8B12-52E8D05EFF00}"/>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q1-solve-question">
            <a:extLst xmlns:a="http://schemas.openxmlformats.org/drawingml/2006/main">
              <a:ext uri="{FF2B5EF4-FFF2-40B4-BE49-F238E27FC236}">
                <a16:creationId xmlns:a16="http://schemas.microsoft.com/office/drawing/2014/main" id="{385B6C7F-E12D-4D57-84CB-2705B44DF01C}"/>
              </a:ext>
            </a:extLst>
          </p:cNvPr>
          <p:cNvSpPr>
            <a:spLocks xmlns:a="http://schemas.openxmlformats.org/drawingml/2006/main" noGrp="1"/>
          </p:cNvSpPr>
          <p:nvPr/>
        </p:nvSpPr>
        <p:spPr>
          <a:xfrm xmlns:a="http://schemas.openxmlformats.org/drawingml/2006/main">
            <a:off x="666750" y="17430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Recover the second message.</a:t>
            </a:r>
          </a:p>
        </p:txBody>
      </p:sp>
      <p:sp>
        <p:nvSpPr>
          <p:cNvPr id="8" name="!!q1-solve-question-parts">
            <a:extLst xmlns:a="http://schemas.openxmlformats.org/drawingml/2006/main">
              <a:ext uri="{FF2B5EF4-FFF2-40B4-BE49-F238E27FC236}">
                <a16:creationId xmlns:a16="http://schemas.microsoft.com/office/drawing/2014/main" id="{5E6E45B2-ECA4-4C7D-9895-7CBEF9AB33FB}"/>
              </a:ext>
            </a:extLst>
          </p:cNvPr>
          <p:cNvSpPr>
            <a:spLocks xmlns:a="http://schemas.openxmlformats.org/drawingml/2006/main" noGrp="1"/>
          </p:cNvSpPr>
          <p:nvPr/>
        </p:nvSpPr>
        <p:spPr>
          <a:xfrm xmlns:a="http://schemas.openxmlformats.org/drawingml/2006/main">
            <a:off x="666750" y="21240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Calculate: BPF passbands, demodulating carrier, and LPF cutoff.</a:t>
            </a:r>
          </a:p>
        </p:txBody>
      </p:sp>
      <p:sp>
        <p:nvSpPr>
          <p:cNvPr id="9" name="!!q1-solve-frequency-unit">
            <a:extLst xmlns:a="http://schemas.openxmlformats.org/drawingml/2006/main">
              <a:ext uri="{FF2B5EF4-FFF2-40B4-BE49-F238E27FC236}">
                <a16:creationId xmlns:a16="http://schemas.microsoft.com/office/drawing/2014/main" id="{91B2AB36-28CF-4C11-87E5-4205F42AA900}"/>
              </a:ext>
            </a:extLst>
          </p:cNvPr>
          <p:cNvSpPr>
            <a:spLocks xmlns:a="http://schemas.openxmlformats.org/drawingml/2006/main" noGrp="1"/>
          </p:cNvSpPr>
          <p:nvPr/>
        </p:nvSpPr>
        <p:spPr>
          <a:xfrm xmlns:a="http://schemas.openxmlformats.org/drawingml/2006/main">
            <a:off x="10382250" y="28670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i="0">
                <a:solidFill>
                  <a:srgbClr val="202020"/>
                </a:solidFill>
                <a:latin typeface="Times New Roman"/>
                <a:ea typeface="Times New Roman"/>
                <a:cs typeface="Times New Roman"/>
              </a:defRPr>
            </a:pPr>
            <a:r>
              <a:rPr sz="1425" b="0" i="0">
                <a:solidFill>
                  <a:srgbClr val="202020"/>
                </a:solidFill>
                <a:latin typeface="Times New Roman"/>
                <a:ea typeface="Times New Roman"/>
                <a:cs typeface="Times New Roman"/>
              </a:rPr>
              <a:t>f in kHz</a:t>
            </a:r>
          </a:p>
        </p:txBody>
      </p:sp>
      <p:sp>
        <p:nvSpPr>
          <p:cNvPr id="10" name="!!q1-solve-input-axis-line">
            <a:extLst xmlns:a="http://schemas.openxmlformats.org/drawingml/2006/main">
              <a:ext uri="{FF2B5EF4-FFF2-40B4-BE49-F238E27FC236}">
                <a16:creationId xmlns:a16="http://schemas.microsoft.com/office/drawing/2014/main" id="{9A2340C4-7C9D-4389-B9D2-87E0C45C383E}"/>
              </a:ext>
            </a:extLst>
          </p:cNvPr>
          <p:cNvSpPr>
            <a:spLocks xmlns:a="http://schemas.openxmlformats.org/drawingml/2006/main" noGrp="1"/>
          </p:cNvSpPr>
          <p:nvPr/>
        </p:nvSpPr>
        <p:spPr>
          <a:xfrm xmlns:a="http://schemas.openxmlformats.org/drawingml/2006/main">
            <a:off x="571500" y="3762375"/>
            <a:ext cx="21336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q1-solve-input-axis-head">
            <a:extLst xmlns:a="http://schemas.openxmlformats.org/drawingml/2006/main">
              <a:ext uri="{FF2B5EF4-FFF2-40B4-BE49-F238E27FC236}">
                <a16:creationId xmlns:a16="http://schemas.microsoft.com/office/drawing/2014/main" id="{1C9415EB-8A70-43CE-AFCD-CB0F7ADB9BD0}"/>
              </a:ext>
            </a:extLst>
          </p:cNvPr>
          <p:cNvSpPr>
            <a:spLocks xmlns:a="http://schemas.openxmlformats.org/drawingml/2006/main" noGrp="1"/>
          </p:cNvSpPr>
          <p:nvPr/>
        </p:nvSpPr>
        <p:spPr>
          <a:xfrm xmlns:a="http://schemas.openxmlformats.org/drawingml/2006/main" rot="5400000">
            <a:off x="268605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q1-solve-input-tick0">
            <a:extLst xmlns:a="http://schemas.openxmlformats.org/drawingml/2006/main">
              <a:ext uri="{FF2B5EF4-FFF2-40B4-BE49-F238E27FC236}">
                <a16:creationId xmlns:a16="http://schemas.microsoft.com/office/drawing/2014/main" id="{520FC274-6E53-48F3-9062-32F8DBAD5297}"/>
              </a:ext>
            </a:extLst>
          </p:cNvPr>
          <p:cNvSpPr>
            <a:spLocks xmlns:a="http://schemas.openxmlformats.org/drawingml/2006/main" noGrp="1"/>
          </p:cNvSpPr>
          <p:nvPr/>
        </p:nvSpPr>
        <p:spPr>
          <a:xfrm xmlns:a="http://schemas.openxmlformats.org/drawingml/2006/main">
            <a:off x="86868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q1-solve-input-tick1">
            <a:extLst xmlns:a="http://schemas.openxmlformats.org/drawingml/2006/main">
              <a:ext uri="{FF2B5EF4-FFF2-40B4-BE49-F238E27FC236}">
                <a16:creationId xmlns:a16="http://schemas.microsoft.com/office/drawing/2014/main" id="{6FB1D57B-4947-4471-9218-670B48A22C18}"/>
              </a:ext>
            </a:extLst>
          </p:cNvPr>
          <p:cNvSpPr>
            <a:spLocks xmlns:a="http://schemas.openxmlformats.org/drawingml/2006/main" noGrp="1"/>
          </p:cNvSpPr>
          <p:nvPr/>
        </p:nvSpPr>
        <p:spPr>
          <a:xfrm xmlns:a="http://schemas.openxmlformats.org/drawingml/2006/main">
            <a:off x="109156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q1-solve-input-tick2">
            <a:extLst xmlns:a="http://schemas.openxmlformats.org/drawingml/2006/main">
              <a:ext uri="{FF2B5EF4-FFF2-40B4-BE49-F238E27FC236}">
                <a16:creationId xmlns:a16="http://schemas.microsoft.com/office/drawing/2014/main" id="{B11D8515-26B1-40FC-8147-DFC5A99CEF43}"/>
              </a:ext>
            </a:extLst>
          </p:cNvPr>
          <p:cNvSpPr>
            <a:spLocks xmlns:a="http://schemas.openxmlformats.org/drawingml/2006/main" noGrp="1"/>
          </p:cNvSpPr>
          <p:nvPr/>
        </p:nvSpPr>
        <p:spPr>
          <a:xfrm xmlns:a="http://schemas.openxmlformats.org/drawingml/2006/main">
            <a:off x="13144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q1-solve-input-tick3">
            <a:extLst xmlns:a="http://schemas.openxmlformats.org/drawingml/2006/main">
              <a:ext uri="{FF2B5EF4-FFF2-40B4-BE49-F238E27FC236}">
                <a16:creationId xmlns:a16="http://schemas.microsoft.com/office/drawing/2014/main" id="{144C2EDA-71DB-4AC2-9BB6-EF84BCDCB8B6}"/>
              </a:ext>
            </a:extLst>
          </p:cNvPr>
          <p:cNvSpPr>
            <a:spLocks xmlns:a="http://schemas.openxmlformats.org/drawingml/2006/main" noGrp="1"/>
          </p:cNvSpPr>
          <p:nvPr/>
        </p:nvSpPr>
        <p:spPr>
          <a:xfrm xmlns:a="http://schemas.openxmlformats.org/drawingml/2006/main">
            <a:off x="168592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q1-solve-input-tick4">
            <a:extLst xmlns:a="http://schemas.openxmlformats.org/drawingml/2006/main">
              <a:ext uri="{FF2B5EF4-FFF2-40B4-BE49-F238E27FC236}">
                <a16:creationId xmlns:a16="http://schemas.microsoft.com/office/drawing/2014/main" id="{89C63708-3F59-4843-87C8-115CE5D0B29B}"/>
              </a:ext>
            </a:extLst>
          </p:cNvPr>
          <p:cNvSpPr>
            <a:spLocks xmlns:a="http://schemas.openxmlformats.org/drawingml/2006/main" noGrp="1"/>
          </p:cNvSpPr>
          <p:nvPr/>
        </p:nvSpPr>
        <p:spPr>
          <a:xfrm xmlns:a="http://schemas.openxmlformats.org/drawingml/2006/main">
            <a:off x="205740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q1-solve-input-tick5">
            <a:extLst xmlns:a="http://schemas.openxmlformats.org/drawingml/2006/main">
              <a:ext uri="{FF2B5EF4-FFF2-40B4-BE49-F238E27FC236}">
                <a16:creationId xmlns:a16="http://schemas.microsoft.com/office/drawing/2014/main" id="{4A6622C2-8AFA-45ED-BC27-C280FAD43BCA}"/>
              </a:ext>
            </a:extLst>
          </p:cNvPr>
          <p:cNvSpPr>
            <a:spLocks xmlns:a="http://schemas.openxmlformats.org/drawingml/2006/main" noGrp="1"/>
          </p:cNvSpPr>
          <p:nvPr/>
        </p:nvSpPr>
        <p:spPr>
          <a:xfrm xmlns:a="http://schemas.openxmlformats.org/drawingml/2006/main">
            <a:off x="228028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q1-solve-input-tick6">
            <a:extLst xmlns:a="http://schemas.openxmlformats.org/drawingml/2006/main">
              <a:ext uri="{FF2B5EF4-FFF2-40B4-BE49-F238E27FC236}">
                <a16:creationId xmlns:a16="http://schemas.microsoft.com/office/drawing/2014/main" id="{78B8DD8D-96DE-4C59-8F25-FC134C61489C}"/>
              </a:ext>
            </a:extLst>
          </p:cNvPr>
          <p:cNvSpPr>
            <a:spLocks xmlns:a="http://schemas.openxmlformats.org/drawingml/2006/main" noGrp="1"/>
          </p:cNvSpPr>
          <p:nvPr/>
        </p:nvSpPr>
        <p:spPr>
          <a:xfrm xmlns:a="http://schemas.openxmlformats.org/drawingml/2006/main">
            <a:off x="250317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q1-solve-selected-axis-line">
            <a:extLst xmlns:a="http://schemas.openxmlformats.org/drawingml/2006/main">
              <a:ext uri="{FF2B5EF4-FFF2-40B4-BE49-F238E27FC236}">
                <a16:creationId xmlns:a16="http://schemas.microsoft.com/office/drawing/2014/main" id="{F4632C51-3A17-44D9-BF83-077BF75152CD}"/>
              </a:ext>
            </a:extLst>
          </p:cNvPr>
          <p:cNvSpPr>
            <a:spLocks xmlns:a="http://schemas.openxmlformats.org/drawingml/2006/main" noGrp="1"/>
          </p:cNvSpPr>
          <p:nvPr/>
        </p:nvSpPr>
        <p:spPr>
          <a:xfrm xmlns:a="http://schemas.openxmlformats.org/drawingml/2006/main">
            <a:off x="3419475" y="3762375"/>
            <a:ext cx="21336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q1-solve-selected-axis-head">
            <a:extLst xmlns:a="http://schemas.openxmlformats.org/drawingml/2006/main">
              <a:ext uri="{FF2B5EF4-FFF2-40B4-BE49-F238E27FC236}">
                <a16:creationId xmlns:a16="http://schemas.microsoft.com/office/drawing/2014/main" id="{9AD035EB-13A1-477D-9B7B-69186FF615D7}"/>
              </a:ext>
            </a:extLst>
          </p:cNvPr>
          <p:cNvSpPr>
            <a:spLocks xmlns:a="http://schemas.openxmlformats.org/drawingml/2006/main" noGrp="1"/>
          </p:cNvSpPr>
          <p:nvPr/>
        </p:nvSpPr>
        <p:spPr>
          <a:xfrm xmlns:a="http://schemas.openxmlformats.org/drawingml/2006/main" rot="5400000">
            <a:off x="5534025"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1" name="!!q1-solve-selected-tick0">
            <a:extLst xmlns:a="http://schemas.openxmlformats.org/drawingml/2006/main">
              <a:ext uri="{FF2B5EF4-FFF2-40B4-BE49-F238E27FC236}">
                <a16:creationId xmlns:a16="http://schemas.microsoft.com/office/drawing/2014/main" id="{3B96B356-DE7E-4E50-ABE4-3F2C6396AB0C}"/>
              </a:ext>
            </a:extLst>
          </p:cNvPr>
          <p:cNvSpPr>
            <a:spLocks xmlns:a="http://schemas.openxmlformats.org/drawingml/2006/main" noGrp="1"/>
          </p:cNvSpPr>
          <p:nvPr/>
        </p:nvSpPr>
        <p:spPr>
          <a:xfrm xmlns:a="http://schemas.openxmlformats.org/drawingml/2006/main">
            <a:off x="453390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q1-solve-mixed-axis-line">
            <a:extLst xmlns:a="http://schemas.openxmlformats.org/drawingml/2006/main">
              <a:ext uri="{FF2B5EF4-FFF2-40B4-BE49-F238E27FC236}">
                <a16:creationId xmlns:a16="http://schemas.microsoft.com/office/drawing/2014/main" id="{BEEA58F0-7E27-4F6C-AB10-3194E4FBD58B}"/>
              </a:ext>
            </a:extLst>
          </p:cNvPr>
          <p:cNvSpPr>
            <a:spLocks xmlns:a="http://schemas.openxmlformats.org/drawingml/2006/main" noGrp="1"/>
          </p:cNvSpPr>
          <p:nvPr/>
        </p:nvSpPr>
        <p:spPr>
          <a:xfrm xmlns:a="http://schemas.openxmlformats.org/drawingml/2006/main">
            <a:off x="6267450" y="3762375"/>
            <a:ext cx="21336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q1-solve-mixed-axis-head">
            <a:extLst xmlns:a="http://schemas.openxmlformats.org/drawingml/2006/main">
              <a:ext uri="{FF2B5EF4-FFF2-40B4-BE49-F238E27FC236}">
                <a16:creationId xmlns:a16="http://schemas.microsoft.com/office/drawing/2014/main" id="{02337003-67D5-4B65-825A-7318A1B61BD2}"/>
              </a:ext>
            </a:extLst>
          </p:cNvPr>
          <p:cNvSpPr>
            <a:spLocks xmlns:a="http://schemas.openxmlformats.org/drawingml/2006/main" noGrp="1"/>
          </p:cNvSpPr>
          <p:nvPr/>
        </p:nvSpPr>
        <p:spPr>
          <a:xfrm xmlns:a="http://schemas.openxmlformats.org/drawingml/2006/main" rot="5400000">
            <a:off x="838200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q1-solve-mixed-tick0">
            <a:extLst xmlns:a="http://schemas.openxmlformats.org/drawingml/2006/main">
              <a:ext uri="{FF2B5EF4-FFF2-40B4-BE49-F238E27FC236}">
                <a16:creationId xmlns:a16="http://schemas.microsoft.com/office/drawing/2014/main" id="{08E85158-9D7E-4321-BB60-304D31A019E4}"/>
              </a:ext>
            </a:extLst>
          </p:cNvPr>
          <p:cNvSpPr>
            <a:spLocks xmlns:a="http://schemas.openxmlformats.org/drawingml/2006/main" noGrp="1"/>
          </p:cNvSpPr>
          <p:nvPr/>
        </p:nvSpPr>
        <p:spPr>
          <a:xfrm xmlns:a="http://schemas.openxmlformats.org/drawingml/2006/main">
            <a:off x="738187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q1-solve-message-axis-line">
            <a:extLst xmlns:a="http://schemas.openxmlformats.org/drawingml/2006/main">
              <a:ext uri="{FF2B5EF4-FFF2-40B4-BE49-F238E27FC236}">
                <a16:creationId xmlns:a16="http://schemas.microsoft.com/office/drawing/2014/main" id="{67A3A935-133F-4674-968D-59C3D115B87B}"/>
              </a:ext>
            </a:extLst>
          </p:cNvPr>
          <p:cNvSpPr>
            <a:spLocks xmlns:a="http://schemas.openxmlformats.org/drawingml/2006/main" noGrp="1"/>
          </p:cNvSpPr>
          <p:nvPr/>
        </p:nvSpPr>
        <p:spPr>
          <a:xfrm xmlns:a="http://schemas.openxmlformats.org/drawingml/2006/main">
            <a:off x="9115425" y="3762375"/>
            <a:ext cx="21336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q1-solve-message-axis-head">
            <a:extLst xmlns:a="http://schemas.openxmlformats.org/drawingml/2006/main">
              <a:ext uri="{FF2B5EF4-FFF2-40B4-BE49-F238E27FC236}">
                <a16:creationId xmlns:a16="http://schemas.microsoft.com/office/drawing/2014/main" id="{20DF0299-65FB-43D9-88EE-9A969E29290D}"/>
              </a:ext>
            </a:extLst>
          </p:cNvPr>
          <p:cNvSpPr>
            <a:spLocks xmlns:a="http://schemas.openxmlformats.org/drawingml/2006/main" noGrp="1"/>
          </p:cNvSpPr>
          <p:nvPr/>
        </p:nvSpPr>
        <p:spPr>
          <a:xfrm xmlns:a="http://schemas.openxmlformats.org/drawingml/2006/main" rot="5400000">
            <a:off x="11229975"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7" name="!!q1-solve-message-tick0">
            <a:extLst xmlns:a="http://schemas.openxmlformats.org/drawingml/2006/main">
              <a:ext uri="{FF2B5EF4-FFF2-40B4-BE49-F238E27FC236}">
                <a16:creationId xmlns:a16="http://schemas.microsoft.com/office/drawing/2014/main" id="{F4570931-C4E8-4E38-B6DB-BE97D2AB87DF}"/>
              </a:ext>
            </a:extLst>
          </p:cNvPr>
          <p:cNvSpPr>
            <a:spLocks xmlns:a="http://schemas.openxmlformats.org/drawingml/2006/main" noGrp="1"/>
          </p:cNvSpPr>
          <p:nvPr/>
        </p:nvSpPr>
        <p:spPr>
          <a:xfrm xmlns:a="http://schemas.openxmlformats.org/drawingml/2006/main">
            <a:off x="102298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q1-solve-input-44">
            <a:extLst xmlns:a="http://schemas.openxmlformats.org/drawingml/2006/main">
              <a:ext uri="{FF2B5EF4-FFF2-40B4-BE49-F238E27FC236}">
                <a16:creationId xmlns:a16="http://schemas.microsoft.com/office/drawing/2014/main" id="{9822D85C-52DF-49E0-BFA4-6843CCC8128B}"/>
              </a:ext>
            </a:extLst>
          </p:cNvPr>
          <p:cNvSpPr>
            <a:spLocks xmlns:a="http://schemas.openxmlformats.org/drawingml/2006/main" noGrp="1"/>
          </p:cNvSpPr>
          <p:nvPr/>
        </p:nvSpPr>
        <p:spPr>
          <a:xfrm xmlns:a="http://schemas.openxmlformats.org/drawingml/2006/main">
            <a:off x="794385" y="3524250"/>
            <a:ext cx="148590" cy="238125"/>
          </a:xfrm>
          <a:custGeom xmlns:a="http://schemas.openxmlformats.org/drawingml/2006/main">
            <a:pathLst>
              <a:path w="148590" h="238125">
                <a:moveTo>
                  <a:pt x="0" y="238125"/>
                </a:moveTo>
                <a:lnTo>
                  <a:pt x="74295" y="0"/>
                </a:lnTo>
                <a:lnTo>
                  <a:pt x="148590" y="238125"/>
                </a:lnTo>
                <a:close/>
              </a:path>
            </a:pathLst>
          </a:custGeom>
          <a:solidFill xmlns:a="http://schemas.openxmlformats.org/drawingml/2006/main">
            <a:srgbClr val="BBBBBB"/>
          </a:solidFill>
          <a:ln xmlns:a="http://schemas.openxmlformats.org/drawingml/2006/main" w="10478">
            <a:solidFill>
              <a:srgbClr val="202020"/>
            </a:solidFill>
          </a:ln>
        </p:spPr>
      </p:sp>
      <p:sp>
        <p:nvSpPr>
          <p:cNvPr id="29" name="!!q1-solve-input-32">
            <a:extLst xmlns:a="http://schemas.openxmlformats.org/drawingml/2006/main">
              <a:ext uri="{FF2B5EF4-FFF2-40B4-BE49-F238E27FC236}">
                <a16:creationId xmlns:a16="http://schemas.microsoft.com/office/drawing/2014/main" id="{71FB2F31-2AAB-403E-BF71-D768234ECE13}"/>
              </a:ext>
            </a:extLst>
          </p:cNvPr>
          <p:cNvSpPr>
            <a:spLocks xmlns:a="http://schemas.openxmlformats.org/drawingml/2006/main" noGrp="1"/>
          </p:cNvSpPr>
          <p:nvPr/>
        </p:nvSpPr>
        <p:spPr>
          <a:xfrm xmlns:a="http://schemas.openxmlformats.org/drawingml/2006/main">
            <a:off x="1017270" y="3419475"/>
            <a:ext cx="148590" cy="342900"/>
          </a:xfrm>
          <a:custGeom xmlns:a="http://schemas.openxmlformats.org/drawingml/2006/main">
            <a:pathLst>
              <a:path w="148590" h="342900">
                <a:moveTo>
                  <a:pt x="0" y="342900"/>
                </a:moveTo>
                <a:lnTo>
                  <a:pt x="74295" y="0"/>
                </a:lnTo>
                <a:lnTo>
                  <a:pt x="148590" y="342900"/>
                </a:lnTo>
                <a:close/>
              </a:path>
            </a:pathLst>
          </a:custGeom>
          <a:solidFill xmlns:a="http://schemas.openxmlformats.org/drawingml/2006/main">
            <a:srgbClr val="535353"/>
          </a:solidFill>
          <a:ln xmlns:a="http://schemas.openxmlformats.org/drawingml/2006/main" w="10478">
            <a:solidFill>
              <a:srgbClr val="202020"/>
            </a:solidFill>
          </a:ln>
        </p:spPr>
      </p:sp>
      <p:sp>
        <p:nvSpPr>
          <p:cNvPr id="30" name="!!q1-solve-input-20">
            <a:extLst xmlns:a="http://schemas.openxmlformats.org/drawingml/2006/main">
              <a:ext uri="{FF2B5EF4-FFF2-40B4-BE49-F238E27FC236}">
                <a16:creationId xmlns:a16="http://schemas.microsoft.com/office/drawing/2014/main" id="{F4C194A9-FBD2-4E76-B65F-E078DD350181}"/>
              </a:ext>
            </a:extLst>
          </p:cNvPr>
          <p:cNvSpPr>
            <a:spLocks xmlns:a="http://schemas.openxmlformats.org/drawingml/2006/main" noGrp="1"/>
          </p:cNvSpPr>
          <p:nvPr/>
        </p:nvSpPr>
        <p:spPr>
          <a:xfrm xmlns:a="http://schemas.openxmlformats.org/drawingml/2006/main">
            <a:off x="1240155" y="3524250"/>
            <a:ext cx="148590" cy="238125"/>
          </a:xfrm>
          <a:custGeom xmlns:a="http://schemas.openxmlformats.org/drawingml/2006/main">
            <a:pathLst>
              <a:path w="148590" h="238125">
                <a:moveTo>
                  <a:pt x="0" y="238125"/>
                </a:moveTo>
                <a:lnTo>
                  <a:pt x="74295" y="0"/>
                </a:lnTo>
                <a:lnTo>
                  <a:pt x="148590" y="238125"/>
                </a:lnTo>
                <a:close/>
              </a:path>
            </a:pathLst>
          </a:custGeom>
          <a:solidFill xmlns:a="http://schemas.openxmlformats.org/drawingml/2006/main">
            <a:srgbClr val="BBBBBB"/>
          </a:solidFill>
          <a:ln xmlns:a="http://schemas.openxmlformats.org/drawingml/2006/main" w="10478">
            <a:solidFill>
              <a:srgbClr val="202020"/>
            </a:solidFill>
          </a:ln>
        </p:spPr>
      </p:sp>
      <p:sp>
        <p:nvSpPr>
          <p:cNvPr id="31" name="!!q1-solve-input20">
            <a:extLst xmlns:a="http://schemas.openxmlformats.org/drawingml/2006/main">
              <a:ext uri="{FF2B5EF4-FFF2-40B4-BE49-F238E27FC236}">
                <a16:creationId xmlns:a16="http://schemas.microsoft.com/office/drawing/2014/main" id="{0096673E-C48C-4E9A-8D0F-D504161AB63D}"/>
              </a:ext>
            </a:extLst>
          </p:cNvPr>
          <p:cNvSpPr>
            <a:spLocks xmlns:a="http://schemas.openxmlformats.org/drawingml/2006/main" noGrp="1"/>
          </p:cNvSpPr>
          <p:nvPr/>
        </p:nvSpPr>
        <p:spPr>
          <a:xfrm xmlns:a="http://schemas.openxmlformats.org/drawingml/2006/main">
            <a:off x="1983105" y="3524250"/>
            <a:ext cx="148590" cy="238125"/>
          </a:xfrm>
          <a:custGeom xmlns:a="http://schemas.openxmlformats.org/drawingml/2006/main">
            <a:pathLst>
              <a:path w="148590" h="238125">
                <a:moveTo>
                  <a:pt x="0" y="238125"/>
                </a:moveTo>
                <a:lnTo>
                  <a:pt x="74295" y="0"/>
                </a:lnTo>
                <a:lnTo>
                  <a:pt x="148590" y="238125"/>
                </a:lnTo>
                <a:close/>
              </a:path>
            </a:pathLst>
          </a:custGeom>
          <a:solidFill xmlns:a="http://schemas.openxmlformats.org/drawingml/2006/main">
            <a:srgbClr val="BBBBBB"/>
          </a:solidFill>
          <a:ln xmlns:a="http://schemas.openxmlformats.org/drawingml/2006/main" w="10478">
            <a:solidFill>
              <a:srgbClr val="202020"/>
            </a:solidFill>
          </a:ln>
        </p:spPr>
      </p:sp>
      <p:sp>
        <p:nvSpPr>
          <p:cNvPr id="32" name="!!q1-solve-input32">
            <a:extLst xmlns:a="http://schemas.openxmlformats.org/drawingml/2006/main">
              <a:ext uri="{FF2B5EF4-FFF2-40B4-BE49-F238E27FC236}">
                <a16:creationId xmlns:a16="http://schemas.microsoft.com/office/drawing/2014/main" id="{C5FCB0BC-80BB-4C9A-8011-BF071A41550D}"/>
              </a:ext>
            </a:extLst>
          </p:cNvPr>
          <p:cNvSpPr>
            <a:spLocks xmlns:a="http://schemas.openxmlformats.org/drawingml/2006/main" noGrp="1"/>
          </p:cNvSpPr>
          <p:nvPr/>
        </p:nvSpPr>
        <p:spPr>
          <a:xfrm xmlns:a="http://schemas.openxmlformats.org/drawingml/2006/main">
            <a:off x="2205990" y="3419475"/>
            <a:ext cx="148590" cy="342900"/>
          </a:xfrm>
          <a:custGeom xmlns:a="http://schemas.openxmlformats.org/drawingml/2006/main">
            <a:pathLst>
              <a:path w="148590" h="342900">
                <a:moveTo>
                  <a:pt x="0" y="342900"/>
                </a:moveTo>
                <a:lnTo>
                  <a:pt x="74295" y="0"/>
                </a:lnTo>
                <a:lnTo>
                  <a:pt x="148590" y="342900"/>
                </a:lnTo>
                <a:close/>
              </a:path>
            </a:pathLst>
          </a:custGeom>
          <a:solidFill xmlns:a="http://schemas.openxmlformats.org/drawingml/2006/main">
            <a:srgbClr val="535353"/>
          </a:solidFill>
          <a:ln xmlns:a="http://schemas.openxmlformats.org/drawingml/2006/main" w="10478">
            <a:solidFill>
              <a:srgbClr val="202020"/>
            </a:solidFill>
          </a:ln>
        </p:spPr>
      </p:sp>
      <p:sp>
        <p:nvSpPr>
          <p:cNvPr id="33" name="!!q1-solve-input44">
            <a:extLst xmlns:a="http://schemas.openxmlformats.org/drawingml/2006/main">
              <a:ext uri="{FF2B5EF4-FFF2-40B4-BE49-F238E27FC236}">
                <a16:creationId xmlns:a16="http://schemas.microsoft.com/office/drawing/2014/main" id="{39149053-43BF-4DA4-AD07-A3F3C28CC9F1}"/>
              </a:ext>
            </a:extLst>
          </p:cNvPr>
          <p:cNvSpPr>
            <a:spLocks xmlns:a="http://schemas.openxmlformats.org/drawingml/2006/main" noGrp="1"/>
          </p:cNvSpPr>
          <p:nvPr/>
        </p:nvSpPr>
        <p:spPr>
          <a:xfrm xmlns:a="http://schemas.openxmlformats.org/drawingml/2006/main">
            <a:off x="2428875" y="3524250"/>
            <a:ext cx="148590" cy="238125"/>
          </a:xfrm>
          <a:custGeom xmlns:a="http://schemas.openxmlformats.org/drawingml/2006/main">
            <a:pathLst>
              <a:path w="148590" h="238125">
                <a:moveTo>
                  <a:pt x="0" y="238125"/>
                </a:moveTo>
                <a:lnTo>
                  <a:pt x="74295" y="0"/>
                </a:lnTo>
                <a:lnTo>
                  <a:pt x="148590" y="238125"/>
                </a:lnTo>
                <a:close/>
              </a:path>
            </a:pathLst>
          </a:custGeom>
          <a:solidFill xmlns:a="http://schemas.openxmlformats.org/drawingml/2006/main">
            <a:srgbClr val="BBBBBB"/>
          </a:solidFill>
          <a:ln xmlns:a="http://schemas.openxmlformats.org/drawingml/2006/main" w="10478">
            <a:solidFill>
              <a:srgbClr val="202020"/>
            </a:solidFill>
          </a:ln>
        </p:spPr>
      </p:sp>
      <p:sp>
        <p:nvSpPr>
          <p:cNvPr id="34" name="!!q1-solve-bpf-label">
            <a:extLst xmlns:a="http://schemas.openxmlformats.org/drawingml/2006/main">
              <a:ext uri="{FF2B5EF4-FFF2-40B4-BE49-F238E27FC236}">
                <a16:creationId xmlns:a16="http://schemas.microsoft.com/office/drawing/2014/main" id="{24499F7C-9B69-4B2A-9B96-4A9DBEE5FCF1}"/>
              </a:ext>
            </a:extLst>
          </p:cNvPr>
          <p:cNvSpPr>
            <a:spLocks xmlns:a="http://schemas.openxmlformats.org/drawingml/2006/main" noGrp="1"/>
          </p:cNvSpPr>
          <p:nvPr/>
        </p:nvSpPr>
        <p:spPr>
          <a:xfrm xmlns:a="http://schemas.openxmlformats.org/drawingml/2006/main">
            <a:off x="2828925" y="3267075"/>
            <a:ext cx="571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BPF</a:t>
            </a:r>
          </a:p>
        </p:txBody>
      </p:sp>
      <p:sp>
        <p:nvSpPr>
          <p:cNvPr id="35" name="!!q1-solve-bpf-arrow-line">
            <a:extLst xmlns:a="http://schemas.openxmlformats.org/drawingml/2006/main">
              <a:ext uri="{FF2B5EF4-FFF2-40B4-BE49-F238E27FC236}">
                <a16:creationId xmlns:a16="http://schemas.microsoft.com/office/drawing/2014/main" id="{E9099032-D472-41F8-B411-E5A2D9C9792C}"/>
              </a:ext>
            </a:extLst>
          </p:cNvPr>
          <p:cNvSpPr>
            <a:spLocks xmlns:a="http://schemas.openxmlformats.org/drawingml/2006/main" noGrp="1"/>
          </p:cNvSpPr>
          <p:nvPr/>
        </p:nvSpPr>
        <p:spPr>
          <a:xfrm xmlns:a="http://schemas.openxmlformats.org/drawingml/2006/main">
            <a:off x="2952750" y="3629025"/>
            <a:ext cx="2286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6" name="!!q1-solve-bpf-arrow-head">
            <a:extLst xmlns:a="http://schemas.openxmlformats.org/drawingml/2006/main">
              <a:ext uri="{FF2B5EF4-FFF2-40B4-BE49-F238E27FC236}">
                <a16:creationId xmlns:a16="http://schemas.microsoft.com/office/drawing/2014/main" id="{8B339E3C-BC8C-4471-A7E8-E3F53EE16429}"/>
              </a:ext>
            </a:extLst>
          </p:cNvPr>
          <p:cNvSpPr>
            <a:spLocks xmlns:a="http://schemas.openxmlformats.org/drawingml/2006/main" noGrp="1"/>
          </p:cNvSpPr>
          <p:nvPr/>
        </p:nvSpPr>
        <p:spPr>
          <a:xfrm xmlns:a="http://schemas.openxmlformats.org/drawingml/2006/main" rot="5400000">
            <a:off x="3162300" y="35814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7" name="!!q1-solve-select-box0">
            <a:extLst xmlns:a="http://schemas.openxmlformats.org/drawingml/2006/main">
              <a:ext uri="{FF2B5EF4-FFF2-40B4-BE49-F238E27FC236}">
                <a16:creationId xmlns:a16="http://schemas.microsoft.com/office/drawing/2014/main" id="{611EB027-F634-44A3-8AAB-6717FEA56B8E}"/>
              </a:ext>
            </a:extLst>
          </p:cNvPr>
          <p:cNvSpPr>
            <a:spLocks xmlns:a="http://schemas.openxmlformats.org/drawingml/2006/main" noGrp="1"/>
          </p:cNvSpPr>
          <p:nvPr/>
        </p:nvSpPr>
        <p:spPr>
          <a:xfrm xmlns:a="http://schemas.openxmlformats.org/drawingml/2006/main">
            <a:off x="1017270" y="3133725"/>
            <a:ext cx="148590" cy="6762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8" name="!!q1-solve-select-box1">
            <a:extLst xmlns:a="http://schemas.openxmlformats.org/drawingml/2006/main">
              <a:ext uri="{FF2B5EF4-FFF2-40B4-BE49-F238E27FC236}">
                <a16:creationId xmlns:a16="http://schemas.microsoft.com/office/drawing/2014/main" id="{C4C142B5-6A90-4C30-8B54-C4A744C0C343}"/>
              </a:ext>
            </a:extLst>
          </p:cNvPr>
          <p:cNvSpPr>
            <a:spLocks xmlns:a="http://schemas.openxmlformats.org/drawingml/2006/main" noGrp="1"/>
          </p:cNvSpPr>
          <p:nvPr/>
        </p:nvSpPr>
        <p:spPr>
          <a:xfrm xmlns:a="http://schemas.openxmlformats.org/drawingml/2006/main">
            <a:off x="2205990" y="3133725"/>
            <a:ext cx="148590" cy="6762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9" name="!!q1-solve-selected-band-box0">
            <a:extLst xmlns:a="http://schemas.openxmlformats.org/drawingml/2006/main">
              <a:ext uri="{FF2B5EF4-FFF2-40B4-BE49-F238E27FC236}">
                <a16:creationId xmlns:a16="http://schemas.microsoft.com/office/drawing/2014/main" id="{6CF8C857-C4D1-4952-BCB0-1A8696BE51A4}"/>
              </a:ext>
            </a:extLst>
          </p:cNvPr>
          <p:cNvSpPr>
            <a:spLocks xmlns:a="http://schemas.openxmlformats.org/drawingml/2006/main" noGrp="1"/>
          </p:cNvSpPr>
          <p:nvPr/>
        </p:nvSpPr>
        <p:spPr>
          <a:xfrm xmlns:a="http://schemas.openxmlformats.org/drawingml/2006/main">
            <a:off x="3642360" y="3133725"/>
            <a:ext cx="198120" cy="6762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0" name="!!q1-solve-selected-band-box1">
            <a:extLst xmlns:a="http://schemas.openxmlformats.org/drawingml/2006/main">
              <a:ext uri="{FF2B5EF4-FFF2-40B4-BE49-F238E27FC236}">
                <a16:creationId xmlns:a16="http://schemas.microsoft.com/office/drawing/2014/main" id="{F23B19FA-7EF6-4DA3-9BBE-42A1FF68B23F}"/>
              </a:ext>
            </a:extLst>
          </p:cNvPr>
          <p:cNvSpPr>
            <a:spLocks xmlns:a="http://schemas.openxmlformats.org/drawingml/2006/main" noGrp="1"/>
          </p:cNvSpPr>
          <p:nvPr/>
        </p:nvSpPr>
        <p:spPr>
          <a:xfrm xmlns:a="http://schemas.openxmlformats.org/drawingml/2006/main">
            <a:off x="5227320" y="3133725"/>
            <a:ext cx="198120" cy="6762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41" name="!!q1-solve-select-copy-1">
            <a:extLst xmlns:a="http://schemas.openxmlformats.org/drawingml/2006/main">
              <a:ext uri="{FF2B5EF4-FFF2-40B4-BE49-F238E27FC236}">
                <a16:creationId xmlns:a16="http://schemas.microsoft.com/office/drawing/2014/main" id="{D9543376-0224-49BA-8DB3-317420A8A9D1}"/>
              </a:ext>
            </a:extLst>
          </p:cNvPr>
          <p:cNvSpPr>
            <a:spLocks xmlns:a="http://schemas.openxmlformats.org/drawingml/2006/main" noGrp="1"/>
          </p:cNvSpPr>
          <p:nvPr/>
        </p:nvSpPr>
        <p:spPr>
          <a:xfrm xmlns:a="http://schemas.openxmlformats.org/drawingml/2006/main">
            <a:off x="3642360" y="3419475"/>
            <a:ext cx="198120" cy="342900"/>
          </a:xfrm>
          <a:custGeom xmlns:a="http://schemas.openxmlformats.org/drawingml/2006/main">
            <a:pathLst>
              <a:path w="198120" h="342900">
                <a:moveTo>
                  <a:pt x="0" y="342900"/>
                </a:moveTo>
                <a:lnTo>
                  <a:pt x="99060" y="0"/>
                </a:lnTo>
                <a:lnTo>
                  <a:pt x="198120" y="342900"/>
                </a:lnTo>
                <a:close/>
              </a:path>
            </a:pathLst>
          </a:custGeom>
          <a:solidFill xmlns:a="http://schemas.openxmlformats.org/drawingml/2006/main">
            <a:srgbClr val="535353"/>
          </a:solidFill>
          <a:ln xmlns:a="http://schemas.openxmlformats.org/drawingml/2006/main" w="10478">
            <a:solidFill>
              <a:srgbClr val="202020"/>
            </a:solidFill>
          </a:ln>
        </p:spPr>
      </p:sp>
      <p:sp>
        <p:nvSpPr>
          <p:cNvPr id="42" name="!!q1-solve-select-copy1">
            <a:extLst xmlns:a="http://schemas.openxmlformats.org/drawingml/2006/main">
              <a:ext uri="{FF2B5EF4-FFF2-40B4-BE49-F238E27FC236}">
                <a16:creationId xmlns:a16="http://schemas.microsoft.com/office/drawing/2014/main" id="{0687B8C2-93D7-4B03-89E3-801ABDFFCEA6}"/>
              </a:ext>
            </a:extLst>
          </p:cNvPr>
          <p:cNvSpPr>
            <a:spLocks xmlns:a="http://schemas.openxmlformats.org/drawingml/2006/main" noGrp="1"/>
          </p:cNvSpPr>
          <p:nvPr/>
        </p:nvSpPr>
        <p:spPr>
          <a:xfrm xmlns:a="http://schemas.openxmlformats.org/drawingml/2006/main">
            <a:off x="5227320" y="3419475"/>
            <a:ext cx="198120" cy="342900"/>
          </a:xfrm>
          <a:custGeom xmlns:a="http://schemas.openxmlformats.org/drawingml/2006/main">
            <a:pathLst>
              <a:path w="198120" h="342900">
                <a:moveTo>
                  <a:pt x="0" y="342900"/>
                </a:moveTo>
                <a:lnTo>
                  <a:pt x="99060" y="0"/>
                </a:lnTo>
                <a:lnTo>
                  <a:pt x="198120" y="342900"/>
                </a:lnTo>
                <a:close/>
              </a:path>
            </a:pathLst>
          </a:custGeom>
          <a:solidFill xmlns:a="http://schemas.openxmlformats.org/drawingml/2006/main">
            <a:srgbClr val="535353"/>
          </a:solidFill>
          <a:ln xmlns:a="http://schemas.openxmlformats.org/drawingml/2006/main" w="10478">
            <a:solidFill>
              <a:srgbClr val="202020"/>
            </a:solidFill>
          </a:ln>
        </p:spPr>
      </p:sp>
      <p:sp>
        <p:nvSpPr>
          <p:cNvPr id="43" name="!!q1-solve-mixer-label">
            <a:extLst xmlns:a="http://schemas.openxmlformats.org/drawingml/2006/main">
              <a:ext uri="{FF2B5EF4-FFF2-40B4-BE49-F238E27FC236}">
                <a16:creationId xmlns:a16="http://schemas.microsoft.com/office/drawing/2014/main" id="{A6C3461B-3774-4E45-A0DD-9250F9FFF7CC}"/>
              </a:ext>
            </a:extLst>
          </p:cNvPr>
          <p:cNvSpPr>
            <a:spLocks xmlns:a="http://schemas.openxmlformats.org/drawingml/2006/main" noGrp="1"/>
          </p:cNvSpPr>
          <p:nvPr/>
        </p:nvSpPr>
        <p:spPr>
          <a:xfrm xmlns:a="http://schemas.openxmlformats.org/drawingml/2006/main">
            <a:off x="5676900" y="3267075"/>
            <a:ext cx="571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Mix</a:t>
            </a:r>
          </a:p>
        </p:txBody>
      </p:sp>
      <p:sp>
        <p:nvSpPr>
          <p:cNvPr id="44" name="!!q1-solve-mixer-arrow-line">
            <a:extLst xmlns:a="http://schemas.openxmlformats.org/drawingml/2006/main">
              <a:ext uri="{FF2B5EF4-FFF2-40B4-BE49-F238E27FC236}">
                <a16:creationId xmlns:a16="http://schemas.microsoft.com/office/drawing/2014/main" id="{B20F9847-9CED-4CF5-9BE6-2A6F1375A2FF}"/>
              </a:ext>
            </a:extLst>
          </p:cNvPr>
          <p:cNvSpPr>
            <a:spLocks xmlns:a="http://schemas.openxmlformats.org/drawingml/2006/main" noGrp="1"/>
          </p:cNvSpPr>
          <p:nvPr/>
        </p:nvSpPr>
        <p:spPr>
          <a:xfrm xmlns:a="http://schemas.openxmlformats.org/drawingml/2006/main">
            <a:off x="5800725" y="3629025"/>
            <a:ext cx="2286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5" name="!!q1-solve-mixer-arrow-head">
            <a:extLst xmlns:a="http://schemas.openxmlformats.org/drawingml/2006/main">
              <a:ext uri="{FF2B5EF4-FFF2-40B4-BE49-F238E27FC236}">
                <a16:creationId xmlns:a16="http://schemas.microsoft.com/office/drawing/2014/main" id="{B294DBFA-8BF5-4276-BE17-BC2BCE127318}"/>
              </a:ext>
            </a:extLst>
          </p:cNvPr>
          <p:cNvSpPr>
            <a:spLocks xmlns:a="http://schemas.openxmlformats.org/drawingml/2006/main" noGrp="1"/>
          </p:cNvSpPr>
          <p:nvPr/>
        </p:nvSpPr>
        <p:spPr>
          <a:xfrm xmlns:a="http://schemas.openxmlformats.org/drawingml/2006/main" rot="5400000">
            <a:off x="6010275" y="35814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6" name="!!q1-solve-mixed-high-1">
            <a:extLst xmlns:a="http://schemas.openxmlformats.org/drawingml/2006/main">
              <a:ext uri="{FF2B5EF4-FFF2-40B4-BE49-F238E27FC236}">
                <a16:creationId xmlns:a16="http://schemas.microsoft.com/office/drawing/2014/main" id="{69F9618B-92DC-43DD-AD66-1D4CC4F6CFCF}"/>
              </a:ext>
            </a:extLst>
          </p:cNvPr>
          <p:cNvSpPr>
            <a:spLocks xmlns:a="http://schemas.openxmlformats.org/drawingml/2006/main" noGrp="1"/>
          </p:cNvSpPr>
          <p:nvPr/>
        </p:nvSpPr>
        <p:spPr>
          <a:xfrm xmlns:a="http://schemas.openxmlformats.org/drawingml/2006/main">
            <a:off x="6434614" y="3419475"/>
            <a:ext cx="111443" cy="342900"/>
          </a:xfrm>
          <a:custGeom xmlns:a="http://schemas.openxmlformats.org/drawingml/2006/main">
            <a:pathLst>
              <a:path w="111443" h="342900">
                <a:moveTo>
                  <a:pt x="0" y="342900"/>
                </a:moveTo>
                <a:lnTo>
                  <a:pt x="55721" y="0"/>
                </a:lnTo>
                <a:lnTo>
                  <a:pt x="111443" y="342900"/>
                </a:lnTo>
                <a:close/>
              </a:path>
            </a:pathLst>
          </a:custGeom>
          <a:solidFill xmlns:a="http://schemas.openxmlformats.org/drawingml/2006/main">
            <a:srgbClr val="BBBBBB"/>
          </a:solidFill>
          <a:ln xmlns:a="http://schemas.openxmlformats.org/drawingml/2006/main" w="10478">
            <a:solidFill>
              <a:srgbClr val="202020"/>
            </a:solidFill>
          </a:ln>
        </p:spPr>
      </p:sp>
      <p:sp>
        <p:nvSpPr>
          <p:cNvPr id="47" name="!!q1-solve-mixed-base-1">
            <a:extLst xmlns:a="http://schemas.openxmlformats.org/drawingml/2006/main">
              <a:ext uri="{FF2B5EF4-FFF2-40B4-BE49-F238E27FC236}">
                <a16:creationId xmlns:a16="http://schemas.microsoft.com/office/drawing/2014/main" id="{A2B29B3E-C302-4D08-A5EB-73B77DD672E1}"/>
              </a:ext>
            </a:extLst>
          </p:cNvPr>
          <p:cNvSpPr>
            <a:spLocks xmlns:a="http://schemas.openxmlformats.org/drawingml/2006/main" noGrp="1"/>
          </p:cNvSpPr>
          <p:nvPr/>
        </p:nvSpPr>
        <p:spPr>
          <a:xfrm xmlns:a="http://schemas.openxmlformats.org/drawingml/2006/main">
            <a:off x="7326154" y="3076575"/>
            <a:ext cx="111443" cy="685800"/>
          </a:xfrm>
          <a:custGeom xmlns:a="http://schemas.openxmlformats.org/drawingml/2006/main">
            <a:pathLst>
              <a:path w="111443" h="685800">
                <a:moveTo>
                  <a:pt x="0" y="685800"/>
                </a:moveTo>
                <a:lnTo>
                  <a:pt x="55721" y="0"/>
                </a:lnTo>
                <a:lnTo>
                  <a:pt x="111443" y="685800"/>
                </a:lnTo>
                <a:close/>
              </a:path>
            </a:pathLst>
          </a:custGeom>
          <a:solidFill xmlns:a="http://schemas.openxmlformats.org/drawingml/2006/main">
            <a:srgbClr val="535353"/>
          </a:solidFill>
          <a:ln xmlns:a="http://schemas.openxmlformats.org/drawingml/2006/main" w="10478">
            <a:solidFill>
              <a:srgbClr val="202020"/>
            </a:solidFill>
          </a:ln>
        </p:spPr>
      </p:sp>
      <p:sp>
        <p:nvSpPr>
          <p:cNvPr id="48" name="!!q1-solve-mixed-high1">
            <a:extLst xmlns:a="http://schemas.openxmlformats.org/drawingml/2006/main">
              <a:ext uri="{FF2B5EF4-FFF2-40B4-BE49-F238E27FC236}">
                <a16:creationId xmlns:a16="http://schemas.microsoft.com/office/drawing/2014/main" id="{17C6D9FB-9BCF-4C73-B10D-584312638172}"/>
              </a:ext>
            </a:extLst>
          </p:cNvPr>
          <p:cNvSpPr>
            <a:spLocks xmlns:a="http://schemas.openxmlformats.org/drawingml/2006/main" noGrp="1"/>
          </p:cNvSpPr>
          <p:nvPr/>
        </p:nvSpPr>
        <p:spPr>
          <a:xfrm xmlns:a="http://schemas.openxmlformats.org/drawingml/2006/main">
            <a:off x="8217694" y="3419475"/>
            <a:ext cx="111443" cy="342900"/>
          </a:xfrm>
          <a:custGeom xmlns:a="http://schemas.openxmlformats.org/drawingml/2006/main">
            <a:pathLst>
              <a:path w="111443" h="342900">
                <a:moveTo>
                  <a:pt x="0" y="342900"/>
                </a:moveTo>
                <a:lnTo>
                  <a:pt x="55721" y="0"/>
                </a:lnTo>
                <a:lnTo>
                  <a:pt x="111443" y="342900"/>
                </a:lnTo>
                <a:close/>
              </a:path>
            </a:pathLst>
          </a:custGeom>
          <a:solidFill xmlns:a="http://schemas.openxmlformats.org/drawingml/2006/main">
            <a:srgbClr val="BBBBBB"/>
          </a:solidFill>
          <a:ln xmlns:a="http://schemas.openxmlformats.org/drawingml/2006/main" w="10478">
            <a:solidFill>
              <a:srgbClr val="202020"/>
            </a:solidFill>
          </a:ln>
        </p:spPr>
      </p:sp>
      <p:sp>
        <p:nvSpPr>
          <p:cNvPr id="49" name="!!q1-solve-mixed-base1">
            <a:extLst xmlns:a="http://schemas.openxmlformats.org/drawingml/2006/main">
              <a:ext uri="{FF2B5EF4-FFF2-40B4-BE49-F238E27FC236}">
                <a16:creationId xmlns:a16="http://schemas.microsoft.com/office/drawing/2014/main" id="{21B0CB0C-474B-401C-927C-ACA870E6241D}"/>
              </a:ext>
            </a:extLst>
          </p:cNvPr>
          <p:cNvSpPr>
            <a:spLocks xmlns:a="http://schemas.openxmlformats.org/drawingml/2006/main" noGrp="1"/>
          </p:cNvSpPr>
          <p:nvPr/>
        </p:nvSpPr>
        <p:spPr>
          <a:xfrm xmlns:a="http://schemas.openxmlformats.org/drawingml/2006/main">
            <a:off x="7326154" y="3076575"/>
            <a:ext cx="111443" cy="685800"/>
          </a:xfrm>
          <a:custGeom xmlns:a="http://schemas.openxmlformats.org/drawingml/2006/main">
            <a:pathLst>
              <a:path w="111443" h="685800">
                <a:moveTo>
                  <a:pt x="0" y="685800"/>
                </a:moveTo>
                <a:lnTo>
                  <a:pt x="55721" y="0"/>
                </a:lnTo>
                <a:lnTo>
                  <a:pt x="111443" y="685800"/>
                </a:lnTo>
                <a:close/>
              </a:path>
            </a:pathLst>
          </a:custGeom>
          <a:solidFill xmlns:a="http://schemas.openxmlformats.org/drawingml/2006/main">
            <a:srgbClr val="535353"/>
          </a:solidFill>
          <a:ln xmlns:a="http://schemas.openxmlformats.org/drawingml/2006/main" w="10478">
            <a:solidFill>
              <a:srgbClr val="202020"/>
            </a:solidFill>
          </a:ln>
        </p:spPr>
      </p:sp>
      <p:sp>
        <p:nvSpPr>
          <p:cNvPr id="50" name="!!q1-solve-lpf-label">
            <a:extLst xmlns:a="http://schemas.openxmlformats.org/drawingml/2006/main">
              <a:ext uri="{FF2B5EF4-FFF2-40B4-BE49-F238E27FC236}">
                <a16:creationId xmlns:a16="http://schemas.microsoft.com/office/drawing/2014/main" id="{595CE82D-92DF-48BC-838D-305F03110305}"/>
              </a:ext>
            </a:extLst>
          </p:cNvPr>
          <p:cNvSpPr>
            <a:spLocks xmlns:a="http://schemas.openxmlformats.org/drawingml/2006/main" noGrp="1"/>
          </p:cNvSpPr>
          <p:nvPr/>
        </p:nvSpPr>
        <p:spPr>
          <a:xfrm xmlns:a="http://schemas.openxmlformats.org/drawingml/2006/main">
            <a:off x="8524875" y="3267075"/>
            <a:ext cx="571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LPF</a:t>
            </a:r>
          </a:p>
        </p:txBody>
      </p:sp>
      <p:sp>
        <p:nvSpPr>
          <p:cNvPr id="51" name="!!q1-solve-lpf-arrow-line">
            <a:extLst xmlns:a="http://schemas.openxmlformats.org/drawingml/2006/main">
              <a:ext uri="{FF2B5EF4-FFF2-40B4-BE49-F238E27FC236}">
                <a16:creationId xmlns:a16="http://schemas.microsoft.com/office/drawing/2014/main" id="{6B242CE6-57A7-4FC2-AA99-CC9308A1382B}"/>
              </a:ext>
            </a:extLst>
          </p:cNvPr>
          <p:cNvSpPr>
            <a:spLocks xmlns:a="http://schemas.openxmlformats.org/drawingml/2006/main" noGrp="1"/>
          </p:cNvSpPr>
          <p:nvPr/>
        </p:nvSpPr>
        <p:spPr>
          <a:xfrm xmlns:a="http://schemas.openxmlformats.org/drawingml/2006/main">
            <a:off x="8648700" y="3629025"/>
            <a:ext cx="2286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2" name="!!q1-solve-lpf-arrow-head">
            <a:extLst xmlns:a="http://schemas.openxmlformats.org/drawingml/2006/main">
              <a:ext uri="{FF2B5EF4-FFF2-40B4-BE49-F238E27FC236}">
                <a16:creationId xmlns:a16="http://schemas.microsoft.com/office/drawing/2014/main" id="{BE5C4899-A736-4311-8141-F25C7DF88F2C}"/>
              </a:ext>
            </a:extLst>
          </p:cNvPr>
          <p:cNvSpPr>
            <a:spLocks xmlns:a="http://schemas.openxmlformats.org/drawingml/2006/main" noGrp="1"/>
          </p:cNvSpPr>
          <p:nvPr/>
        </p:nvSpPr>
        <p:spPr>
          <a:xfrm xmlns:a="http://schemas.openxmlformats.org/drawingml/2006/main" rot="5400000">
            <a:off x="8858250" y="35814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3" name="!!q1-solve-lowpass-box0">
            <a:extLst xmlns:a="http://schemas.openxmlformats.org/drawingml/2006/main">
              <a:ext uri="{FF2B5EF4-FFF2-40B4-BE49-F238E27FC236}">
                <a16:creationId xmlns:a16="http://schemas.microsoft.com/office/drawing/2014/main" id="{0291140A-CC4D-41DE-98E6-469F2DCB1742}"/>
              </a:ext>
            </a:extLst>
          </p:cNvPr>
          <p:cNvSpPr>
            <a:spLocks xmlns:a="http://schemas.openxmlformats.org/drawingml/2006/main" noGrp="1"/>
          </p:cNvSpPr>
          <p:nvPr/>
        </p:nvSpPr>
        <p:spPr>
          <a:xfrm xmlns:a="http://schemas.openxmlformats.org/drawingml/2006/main">
            <a:off x="7326154" y="3133725"/>
            <a:ext cx="111443" cy="6762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54" name="!!q1-solve-message-copy">
            <a:extLst xmlns:a="http://schemas.openxmlformats.org/drawingml/2006/main">
              <a:ext uri="{FF2B5EF4-FFF2-40B4-BE49-F238E27FC236}">
                <a16:creationId xmlns:a16="http://schemas.microsoft.com/office/drawing/2014/main" id="{9A3984E8-7F77-4CF3-80F2-6E02F065A882}"/>
              </a:ext>
            </a:extLst>
          </p:cNvPr>
          <p:cNvSpPr>
            <a:spLocks xmlns:a="http://schemas.openxmlformats.org/drawingml/2006/main" noGrp="1"/>
          </p:cNvSpPr>
          <p:nvPr/>
        </p:nvSpPr>
        <p:spPr>
          <a:xfrm xmlns:a="http://schemas.openxmlformats.org/drawingml/2006/main">
            <a:off x="9784080" y="3076575"/>
            <a:ext cx="891540" cy="685800"/>
          </a:xfrm>
          <a:custGeom xmlns:a="http://schemas.openxmlformats.org/drawingml/2006/main">
            <a:pathLst>
              <a:path w="891540" h="685800">
                <a:moveTo>
                  <a:pt x="0" y="685800"/>
                </a:moveTo>
                <a:lnTo>
                  <a:pt x="445770" y="0"/>
                </a:lnTo>
                <a:lnTo>
                  <a:pt x="891540" y="685800"/>
                </a:lnTo>
                <a:close/>
              </a:path>
            </a:pathLst>
          </a:custGeom>
          <a:solidFill xmlns:a="http://schemas.openxmlformats.org/drawingml/2006/main">
            <a:srgbClr val="535353"/>
          </a:solidFill>
          <a:ln xmlns:a="http://schemas.openxmlformats.org/drawingml/2006/main" w="10478">
            <a:solidFill>
              <a:srgbClr val="202020"/>
            </a:solidFill>
          </a:ln>
        </p:spPr>
      </p:sp>
      <p:pic>
        <p:nvPicPr>
          <p:cNvPr id="145" name="!!q1-solve-route-m" descr="m_1,m_2,m_3">
            <ns0:hlinkClick xmlns:ns0="http://schemas.openxmlformats.org/drawingml/2006/main" xmlns:ns1="http://schemas.openxmlformats.org/officeDocument/2006/relationships" ns1:id="rIdmethods_Link3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9f0efd96de2e42a2">
            <a:extLst>
              <a:ext uri="{96DAC541-7B7A-43D3-8B79-37D633B846F1}">
                <ns0:svgBlip xmlns:ns0="http://schemas.microsoft.com/office/drawing/2016/SVG/main" r:embed="rIdVectormf00151"/>
              </a:ext>
            </a:extLst>
          </a:blip>
          <a:stretch xmlns:a="http://schemas.openxmlformats.org/drawingml/2006/main"/>
        </p:blipFill>
        <p:spPr>
          <a:xfrm xmlns:a="http://schemas.openxmlformats.org/drawingml/2006/main">
            <a:off x="1714028" y="1273295"/>
            <a:ext cx="1810693" cy="215660"/>
          </a:xfrm>
          <a:prstGeom xmlns:a="http://schemas.openxmlformats.org/drawingml/2006/main" prst="rect">
            <a:avLst/>
          </a:prstGeom>
        </p:spPr>
      </p:pic>
      <p:pic>
        <p:nvPicPr>
          <p:cNvPr id="146" name="!!q1-solve-route-s" descr="s(t)">
            <ns0:hlinkClick xmlns:ns0="http://schemas.openxmlformats.org/drawingml/2006/main" xmlns:ns1="http://schemas.openxmlformats.org/officeDocument/2006/relationships" ns1:id="rIdmethods_Link36"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97cbcab2d97e41b6">
            <a:extLst>
              <a:ext uri="{96DAC541-7B7A-43D3-8B79-37D633B846F1}">
                <ns1:svgBlip xmlns:ns1="http://schemas.microsoft.com/office/drawing/2016/SVG/main" r:embed="rIdVectormf00152"/>
              </a:ext>
            </a:extLst>
          </a:blip>
          <a:stretch xmlns:a="http://schemas.openxmlformats.org/drawingml/2006/main"/>
        </p:blipFill>
        <p:spPr>
          <a:xfrm xmlns:a="http://schemas.openxmlformats.org/drawingml/2006/main">
            <a:off x="5736404" y="1181100"/>
            <a:ext cx="719191" cy="400050"/>
          </a:xfrm>
          <a:prstGeom xmlns:a="http://schemas.openxmlformats.org/drawingml/2006/main" prst="rect">
            <a:avLst/>
          </a:prstGeom>
        </p:spPr>
      </p:pic>
      <p:pic>
        <p:nvPicPr>
          <p:cNvPr id="147" name="!!q1-solve-route-restored" descr="m_2(t)">
            <ns0:hlinkClick xmlns:ns0="http://schemas.openxmlformats.org/drawingml/2006/main" xmlns:ns1="http://schemas.openxmlformats.org/officeDocument/2006/relationships" ns1:id="rIdmethods_Link3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5bc9984e0b24a3c">
            <a:extLst>
              <a:ext uri="{96DAC541-7B7A-43D3-8B79-37D633B846F1}">
                <ns2:svgBlip xmlns:ns2="http://schemas.microsoft.com/office/drawing/2016/SVG/main" r:embed="rIdVectormf00153"/>
              </a:ext>
            </a:extLst>
          </a:blip>
          <a:stretch xmlns:a="http://schemas.openxmlformats.org/drawingml/2006/main"/>
        </p:blipFill>
        <p:spPr>
          <a:xfrm xmlns:a="http://schemas.openxmlformats.org/drawingml/2006/main">
            <a:off x="9012555" y="1181100"/>
            <a:ext cx="1120140" cy="400050"/>
          </a:xfrm>
          <a:prstGeom xmlns:a="http://schemas.openxmlformats.org/drawingml/2006/main" prst="rect">
            <a:avLst/>
          </a:prstGeom>
        </p:spPr>
      </p:pic>
      <p:pic>
        <p:nvPicPr>
          <p:cNvPr id="148" name="!!q1-solve-given-signal" descr="s_k(t)=A_cm_k(t)\cos(2\pi f_{c,k}t)"/>
          <p:cNvPicPr>
            <a:picLocks xmlns:a="http://schemas.openxmlformats.org/drawingml/2006/main" noChangeAspect="1"/>
          </p:cNvPicPr>
          <p:nvPr/>
        </p:nvPicPr>
        <p:blipFill>
          <a:blip xmlns:r="http://schemas.openxmlformats.org/officeDocument/2006/relationships" xmlns:a="http://schemas.openxmlformats.org/drawingml/2006/main" r:embed="Rab6dfea16837462a">
            <a:extLst>
              <a:ext uri="{96DAC541-7B7A-43D3-8B79-37D633B846F1}">
                <ns3:svgBlip xmlns:ns3="http://schemas.microsoft.com/office/drawing/2016/SVG/main" r:embed="rIdVectormf00154"/>
              </a:ext>
            </a:extLst>
          </a:blip>
          <a:stretch xmlns:a="http://schemas.openxmlformats.org/drawingml/2006/main"/>
        </p:blipFill>
        <p:spPr>
          <a:xfrm xmlns:a="http://schemas.openxmlformats.org/drawingml/2006/main">
            <a:off x="661381" y="2552700"/>
            <a:ext cx="3314007" cy="247650"/>
          </a:xfrm>
          <a:prstGeom xmlns:a="http://schemas.openxmlformats.org/drawingml/2006/main" prst="rect">
            <a:avLst/>
          </a:prstGeom>
        </p:spPr>
      </p:pic>
      <p:pic>
        <p:nvPicPr>
          <p:cNvPr id="149" name="!!q1-solve-given-bands" descr="W=4\ \mathrm{kHz},\quad f_{c,1},f_{c,2},f_{c,3}=20,32,44\ \mathrm{kHz}"/>
          <p:cNvPicPr>
            <a:picLocks xmlns:a="http://schemas.openxmlformats.org/drawingml/2006/main" noChangeAspect="1"/>
          </p:cNvPicPr>
          <p:nvPr/>
        </p:nvPicPr>
        <p:blipFill>
          <a:blip xmlns:r="http://schemas.openxmlformats.org/officeDocument/2006/relationships" xmlns:a="http://schemas.openxmlformats.org/drawingml/2006/main" r:embed="R889d4ef264994b9b">
            <a:extLst>
              <a:ext uri="{96DAC541-7B7A-43D3-8B79-37D633B846F1}">
                <ns4:svgBlip xmlns:ns4="http://schemas.microsoft.com/office/drawing/2016/SVG/main" r:embed="rIdVectormf00155"/>
              </a:ext>
            </a:extLst>
          </a:blip>
          <a:stretch xmlns:a="http://schemas.openxmlformats.org/drawingml/2006/main"/>
        </p:blipFill>
        <p:spPr>
          <a:xfrm xmlns:a="http://schemas.openxmlformats.org/drawingml/2006/main">
            <a:off x="5181600" y="2555796"/>
            <a:ext cx="5274945" cy="241459"/>
          </a:xfrm>
          <a:prstGeom xmlns:a="http://schemas.openxmlformats.org/drawingml/2006/main" prst="rect">
            <a:avLst/>
          </a:prstGeom>
        </p:spPr>
      </p:pic>
      <p:pic>
        <p:nvPicPr>
          <p:cNvPr id="150" name="!!q1-solve-input-label" descr="S(f)"/>
          <p:cNvPicPr>
            <a:picLocks xmlns:a="http://schemas.openxmlformats.org/drawingml/2006/main" noChangeAspect="1"/>
          </p:cNvPicPr>
          <p:nvPr/>
        </p:nvPicPr>
        <p:blipFill>
          <a:blip xmlns:r="http://schemas.openxmlformats.org/officeDocument/2006/relationships" xmlns:a="http://schemas.openxmlformats.org/drawingml/2006/main" r:embed="Rd853323569f74d2a">
            <a:extLst>
              <a:ext uri="{96DAC541-7B7A-43D3-8B79-37D633B846F1}">
                <ns5:svgBlip xmlns:ns5="http://schemas.microsoft.com/office/drawing/2016/SVG/main" r:embed="rIdVectormf00156"/>
              </a:ext>
            </a:extLst>
          </a:blip>
          <a:stretch xmlns:a="http://schemas.openxmlformats.org/drawingml/2006/main"/>
        </p:blipFill>
        <p:spPr>
          <a:xfrm xmlns:a="http://schemas.openxmlformats.org/drawingml/2006/main">
            <a:off x="571500" y="2976563"/>
            <a:ext cx="419100" cy="209550"/>
          </a:xfrm>
          <a:prstGeom xmlns:a="http://schemas.openxmlformats.org/drawingml/2006/main" prst="rect">
            <a:avLst/>
          </a:prstGeom>
        </p:spPr>
      </p:pic>
      <p:pic>
        <p:nvPicPr>
          <p:cNvPr id="151" name="!!q1-solve-input-domain" descr="f"/>
          <p:cNvPicPr>
            <a:picLocks xmlns:a="http://schemas.openxmlformats.org/drawingml/2006/main" noChangeAspect="1"/>
          </p:cNvPicPr>
          <p:nvPr/>
        </p:nvPicPr>
        <p:blipFill>
          <a:blip xmlns:r="http://schemas.openxmlformats.org/officeDocument/2006/relationships" xmlns:a="http://schemas.openxmlformats.org/drawingml/2006/main" r:embed="R4ed506658f0e4850">
            <a:extLst>
              <a:ext uri="{96DAC541-7B7A-43D3-8B79-37D633B846F1}">
                <ns6:svgBlip xmlns:ns6="http://schemas.microsoft.com/office/drawing/2016/SVG/main" r:embed="rIdVectormf00157"/>
              </a:ext>
            </a:extLst>
          </a:blip>
          <a:stretch xmlns:a="http://schemas.openxmlformats.org/drawingml/2006/main"/>
        </p:blipFill>
        <p:spPr>
          <a:xfrm xmlns:a="http://schemas.openxmlformats.org/drawingml/2006/main">
            <a:off x="2822423" y="3583305"/>
            <a:ext cx="79678" cy="120015"/>
          </a:xfrm>
          <a:prstGeom xmlns:a="http://schemas.openxmlformats.org/drawingml/2006/main" prst="rect">
            <a:avLst/>
          </a:prstGeom>
        </p:spPr>
      </p:pic>
      <p:pic>
        <p:nvPicPr>
          <p:cNvPr id="152" name="!!q1-solve-input-ticklabel0" descr="-44"/>
          <p:cNvPicPr>
            <a:picLocks xmlns:a="http://schemas.openxmlformats.org/drawingml/2006/main" noChangeAspect="1"/>
          </p:cNvPicPr>
          <p:nvPr/>
        </p:nvPicPr>
        <p:blipFill>
          <a:blip xmlns:r="http://schemas.openxmlformats.org/officeDocument/2006/relationships" xmlns:a="http://schemas.openxmlformats.org/drawingml/2006/main" r:embed="Rb56c656121934c09">
            <a:extLst>
              <a:ext uri="{96DAC541-7B7A-43D3-8B79-37D633B846F1}">
                <ns7:svgBlip xmlns:ns7="http://schemas.microsoft.com/office/drawing/2016/SVG/main" r:embed="rIdVectormf00158"/>
              </a:ext>
            </a:extLst>
          </a:blip>
          <a:stretch xmlns:a="http://schemas.openxmlformats.org/drawingml/2006/main"/>
        </p:blipFill>
        <p:spPr>
          <a:xfrm xmlns:a="http://schemas.openxmlformats.org/drawingml/2006/main">
            <a:off x="697230" y="4063722"/>
            <a:ext cx="342900" cy="130731"/>
          </a:xfrm>
          <a:prstGeom xmlns:a="http://schemas.openxmlformats.org/drawingml/2006/main" prst="rect">
            <a:avLst/>
          </a:prstGeom>
        </p:spPr>
      </p:pic>
      <p:pic>
        <p:nvPicPr>
          <p:cNvPr id="153" name="!!q1-solve-input-ticklabel1" descr="-32"/>
          <p:cNvPicPr>
            <a:picLocks xmlns:a="http://schemas.openxmlformats.org/drawingml/2006/main" noChangeAspect="1"/>
          </p:cNvPicPr>
          <p:nvPr/>
        </p:nvPicPr>
        <p:blipFill>
          <a:blip xmlns:r="http://schemas.openxmlformats.org/officeDocument/2006/relationships" xmlns:a="http://schemas.openxmlformats.org/drawingml/2006/main" r:embed="R6b618eee48d34c93">
            <a:extLst>
              <a:ext uri="{96DAC541-7B7A-43D3-8B79-37D633B846F1}">
                <ns8:svgBlip xmlns:ns8="http://schemas.microsoft.com/office/drawing/2016/SVG/main" r:embed="rIdVectormf00159"/>
              </a:ext>
            </a:extLst>
          </a:blip>
          <a:stretch xmlns:a="http://schemas.openxmlformats.org/drawingml/2006/main"/>
        </p:blipFill>
        <p:spPr>
          <a:xfrm xmlns:a="http://schemas.openxmlformats.org/drawingml/2006/main">
            <a:off x="920115" y="3873222"/>
            <a:ext cx="342900" cy="130731"/>
          </a:xfrm>
          <a:prstGeom xmlns:a="http://schemas.openxmlformats.org/drawingml/2006/main" prst="rect">
            <a:avLst/>
          </a:prstGeom>
        </p:spPr>
      </p:pic>
      <p:pic>
        <p:nvPicPr>
          <p:cNvPr id="154" name="!!q1-solve-input-ticklabel2" descr="-20"/>
          <p:cNvPicPr>
            <a:picLocks xmlns:a="http://schemas.openxmlformats.org/drawingml/2006/main" noChangeAspect="1"/>
          </p:cNvPicPr>
          <p:nvPr/>
        </p:nvPicPr>
        <p:blipFill>
          <a:blip xmlns:r="http://schemas.openxmlformats.org/officeDocument/2006/relationships" xmlns:a="http://schemas.openxmlformats.org/drawingml/2006/main" r:embed="Rbb5715a6d7bf49cc">
            <a:extLst>
              <a:ext uri="{96DAC541-7B7A-43D3-8B79-37D633B846F1}">
                <ns9:svgBlip xmlns:ns9="http://schemas.microsoft.com/office/drawing/2016/SVG/main" r:embed="rIdVectormf00160"/>
              </a:ext>
            </a:extLst>
          </a:blip>
          <a:stretch xmlns:a="http://schemas.openxmlformats.org/drawingml/2006/main"/>
        </p:blipFill>
        <p:spPr>
          <a:xfrm xmlns:a="http://schemas.openxmlformats.org/drawingml/2006/main">
            <a:off x="1143000" y="4063722"/>
            <a:ext cx="342900" cy="130731"/>
          </a:xfrm>
          <a:prstGeom xmlns:a="http://schemas.openxmlformats.org/drawingml/2006/main" prst="rect">
            <a:avLst/>
          </a:prstGeom>
        </p:spPr>
      </p:pic>
      <p:pic>
        <p:nvPicPr>
          <p:cNvPr id="155" name="!!q1-solve-input-ticklabel3" descr="0"/>
          <p:cNvPicPr>
            <a:picLocks xmlns:a="http://schemas.openxmlformats.org/drawingml/2006/main" noChangeAspect="1"/>
          </p:cNvPicPr>
          <p:nvPr/>
        </p:nvPicPr>
        <p:blipFill>
          <a:blip xmlns:r="http://schemas.openxmlformats.org/officeDocument/2006/relationships" xmlns:a="http://schemas.openxmlformats.org/drawingml/2006/main" r:embed="R14ff6f6b81424638">
            <a:extLst>
              <a:ext uri="{96DAC541-7B7A-43D3-8B79-37D633B846F1}">
                <ns10:svgBlip xmlns:ns10="http://schemas.microsoft.com/office/drawing/2016/SVG/main" r:embed="rIdVectormf00161"/>
              </a:ext>
            </a:extLst>
          </a:blip>
          <a:stretch xmlns:a="http://schemas.openxmlformats.org/drawingml/2006/main"/>
        </p:blipFill>
        <p:spPr>
          <a:xfrm xmlns:a="http://schemas.openxmlformats.org/drawingml/2006/main">
            <a:off x="1639950" y="3887153"/>
            <a:ext cx="91951" cy="102870"/>
          </a:xfrm>
          <a:prstGeom xmlns:a="http://schemas.openxmlformats.org/drawingml/2006/main" prst="rect">
            <a:avLst/>
          </a:prstGeom>
        </p:spPr>
      </p:pic>
      <p:pic>
        <p:nvPicPr>
          <p:cNvPr id="156" name="!!q1-solve-input-ticklabel4" descr="20"/>
          <p:cNvPicPr>
            <a:picLocks xmlns:a="http://schemas.openxmlformats.org/drawingml/2006/main" noChangeAspect="1"/>
          </p:cNvPicPr>
          <p:nvPr/>
        </p:nvPicPr>
        <p:blipFill>
          <a:blip xmlns:r="http://schemas.openxmlformats.org/officeDocument/2006/relationships" xmlns:a="http://schemas.openxmlformats.org/drawingml/2006/main" r:embed="R5eff4dfeeb5f47a4">
            <a:extLst>
              <a:ext uri="{96DAC541-7B7A-43D3-8B79-37D633B846F1}">
                <ns11:svgBlip xmlns:ns11="http://schemas.microsoft.com/office/drawing/2016/SVG/main" r:embed="rIdVectormf00162"/>
              </a:ext>
            </a:extLst>
          </a:blip>
          <a:stretch xmlns:a="http://schemas.openxmlformats.org/drawingml/2006/main"/>
        </p:blipFill>
        <p:spPr>
          <a:xfrm xmlns:a="http://schemas.openxmlformats.org/drawingml/2006/main">
            <a:off x="1965449" y="4077653"/>
            <a:ext cx="183902" cy="102870"/>
          </a:xfrm>
          <a:prstGeom xmlns:a="http://schemas.openxmlformats.org/drawingml/2006/main" prst="rect">
            <a:avLst/>
          </a:prstGeom>
        </p:spPr>
      </p:pic>
      <p:pic>
        <p:nvPicPr>
          <p:cNvPr id="157" name="!!q1-solve-input-ticklabel5" descr="32"/>
          <p:cNvPicPr>
            <a:picLocks xmlns:a="http://schemas.openxmlformats.org/drawingml/2006/main" noChangeAspect="1"/>
          </p:cNvPicPr>
          <p:nvPr/>
        </p:nvPicPr>
        <p:blipFill>
          <a:blip xmlns:r="http://schemas.openxmlformats.org/officeDocument/2006/relationships" xmlns:a="http://schemas.openxmlformats.org/drawingml/2006/main" r:embed="R7a1fb7dbba704a23">
            <a:extLst>
              <a:ext uri="{96DAC541-7B7A-43D3-8B79-37D633B846F1}">
                <ns12:svgBlip xmlns:ns12="http://schemas.microsoft.com/office/drawing/2016/SVG/main" r:embed="rIdVectormf00163"/>
              </a:ext>
            </a:extLst>
          </a:blip>
          <a:stretch xmlns:a="http://schemas.openxmlformats.org/drawingml/2006/main"/>
        </p:blipFill>
        <p:spPr>
          <a:xfrm xmlns:a="http://schemas.openxmlformats.org/drawingml/2006/main">
            <a:off x="2188334" y="3887153"/>
            <a:ext cx="183902" cy="102870"/>
          </a:xfrm>
          <a:prstGeom xmlns:a="http://schemas.openxmlformats.org/drawingml/2006/main" prst="rect">
            <a:avLst/>
          </a:prstGeom>
        </p:spPr>
      </p:pic>
      <p:pic>
        <p:nvPicPr>
          <p:cNvPr id="158" name="!!q1-solve-input-ticklabel6" descr="44"/>
          <p:cNvPicPr>
            <a:picLocks xmlns:a="http://schemas.openxmlformats.org/drawingml/2006/main" noChangeAspect="1"/>
          </p:cNvPicPr>
          <p:nvPr/>
        </p:nvPicPr>
        <p:blipFill>
          <a:blip xmlns:r="http://schemas.openxmlformats.org/officeDocument/2006/relationships" xmlns:a="http://schemas.openxmlformats.org/drawingml/2006/main" r:embed="Rac79dd0dcc8545c9">
            <a:extLst>
              <a:ext uri="{96DAC541-7B7A-43D3-8B79-37D633B846F1}">
                <ns13:svgBlip xmlns:ns13="http://schemas.microsoft.com/office/drawing/2016/SVG/main" r:embed="rIdVectormf00164"/>
              </a:ext>
            </a:extLst>
          </a:blip>
          <a:stretch xmlns:a="http://schemas.openxmlformats.org/drawingml/2006/main"/>
        </p:blipFill>
        <p:spPr>
          <a:xfrm xmlns:a="http://schemas.openxmlformats.org/drawingml/2006/main">
            <a:off x="2411219" y="4077653"/>
            <a:ext cx="183902" cy="102870"/>
          </a:xfrm>
          <a:prstGeom xmlns:a="http://schemas.openxmlformats.org/drawingml/2006/main" prst="rect">
            <a:avLst/>
          </a:prstGeom>
        </p:spPr>
      </p:pic>
      <p:pic>
        <p:nvPicPr>
          <p:cNvPr id="159" name="!!q1-solve-selected-label" descr="S_2(f)"/>
          <p:cNvPicPr>
            <a:picLocks xmlns:a="http://schemas.openxmlformats.org/drawingml/2006/main" noChangeAspect="1"/>
          </p:cNvPicPr>
          <p:nvPr/>
        </p:nvPicPr>
        <p:blipFill>
          <a:blip xmlns:r="http://schemas.openxmlformats.org/officeDocument/2006/relationships" xmlns:a="http://schemas.openxmlformats.org/drawingml/2006/main" r:embed="R5c7081a552514d28">
            <a:extLst>
              <a:ext uri="{96DAC541-7B7A-43D3-8B79-37D633B846F1}">
                <ns14:svgBlip xmlns:ns14="http://schemas.microsoft.com/office/drawing/2016/SVG/main" r:embed="rIdVectormf00165"/>
              </a:ext>
            </a:extLst>
          </a:blip>
          <a:stretch xmlns:a="http://schemas.openxmlformats.org/drawingml/2006/main"/>
        </p:blipFill>
        <p:spPr>
          <a:xfrm xmlns:a="http://schemas.openxmlformats.org/drawingml/2006/main">
            <a:off x="3419475" y="2976563"/>
            <a:ext cx="523875" cy="209550"/>
          </a:xfrm>
          <a:prstGeom xmlns:a="http://schemas.openxmlformats.org/drawingml/2006/main" prst="rect">
            <a:avLst/>
          </a:prstGeom>
        </p:spPr>
      </p:pic>
      <p:pic>
        <p:nvPicPr>
          <p:cNvPr id="160" name="!!q1-solve-selected-domain" descr="f"/>
          <p:cNvPicPr>
            <a:picLocks xmlns:a="http://schemas.openxmlformats.org/drawingml/2006/main" noChangeAspect="1"/>
          </p:cNvPicPr>
          <p:nvPr/>
        </p:nvPicPr>
        <p:blipFill>
          <a:blip xmlns:r="http://schemas.openxmlformats.org/officeDocument/2006/relationships" xmlns:a="http://schemas.openxmlformats.org/drawingml/2006/main" r:embed="Rb7f6176f428f4fdb">
            <a:extLst>
              <a:ext uri="{96DAC541-7B7A-43D3-8B79-37D633B846F1}">
                <ns15:svgBlip xmlns:ns15="http://schemas.microsoft.com/office/drawing/2016/SVG/main" r:embed="rIdVectormf00166"/>
              </a:ext>
            </a:extLst>
          </a:blip>
          <a:stretch xmlns:a="http://schemas.openxmlformats.org/drawingml/2006/main"/>
        </p:blipFill>
        <p:spPr>
          <a:xfrm xmlns:a="http://schemas.openxmlformats.org/drawingml/2006/main">
            <a:off x="5670398" y="3583305"/>
            <a:ext cx="79678" cy="120015"/>
          </a:xfrm>
          <a:prstGeom xmlns:a="http://schemas.openxmlformats.org/drawingml/2006/main" prst="rect">
            <a:avLst/>
          </a:prstGeom>
        </p:spPr>
      </p:pic>
      <p:pic>
        <p:nvPicPr>
          <p:cNvPr id="161" name="!!q1-solve-selected-ticklabel0" descr="0"/>
          <p:cNvPicPr>
            <a:picLocks xmlns:a="http://schemas.openxmlformats.org/drawingml/2006/main" noChangeAspect="1"/>
          </p:cNvPicPr>
          <p:nvPr/>
        </p:nvPicPr>
        <p:blipFill>
          <a:blip xmlns:r="http://schemas.openxmlformats.org/officeDocument/2006/relationships" xmlns:a="http://schemas.openxmlformats.org/drawingml/2006/main" r:embed="R852b3736876a498a">
            <a:extLst>
              <a:ext uri="{96DAC541-7B7A-43D3-8B79-37D633B846F1}">
                <ns16:svgBlip xmlns:ns16="http://schemas.microsoft.com/office/drawing/2016/SVG/main" r:embed="rIdVectormf00167"/>
              </a:ext>
            </a:extLst>
          </a:blip>
          <a:stretch xmlns:a="http://schemas.openxmlformats.org/drawingml/2006/main"/>
        </p:blipFill>
        <p:spPr>
          <a:xfrm xmlns:a="http://schemas.openxmlformats.org/drawingml/2006/main">
            <a:off x="4487925" y="3887153"/>
            <a:ext cx="91951" cy="102870"/>
          </a:xfrm>
          <a:prstGeom xmlns:a="http://schemas.openxmlformats.org/drawingml/2006/main" prst="rect">
            <a:avLst/>
          </a:prstGeom>
        </p:spPr>
      </p:pic>
      <p:pic>
        <p:nvPicPr>
          <p:cNvPr id="162" name="!!q1-solve-mixed-label" descr="U_2(f)"/>
          <p:cNvPicPr>
            <a:picLocks xmlns:a="http://schemas.openxmlformats.org/drawingml/2006/main" noChangeAspect="1"/>
          </p:cNvPicPr>
          <p:nvPr/>
        </p:nvPicPr>
        <p:blipFill>
          <a:blip xmlns:r="http://schemas.openxmlformats.org/officeDocument/2006/relationships" xmlns:a="http://schemas.openxmlformats.org/drawingml/2006/main" r:embed="R91aba61f8e474d08">
            <a:extLst>
              <a:ext uri="{96DAC541-7B7A-43D3-8B79-37D633B846F1}">
                <ns17:svgBlip xmlns:ns17="http://schemas.microsoft.com/office/drawing/2016/SVG/main" r:embed="rIdVectormf00168"/>
              </a:ext>
            </a:extLst>
          </a:blip>
          <a:stretch xmlns:a="http://schemas.openxmlformats.org/drawingml/2006/main"/>
        </p:blipFill>
        <p:spPr>
          <a:xfrm xmlns:a="http://schemas.openxmlformats.org/drawingml/2006/main">
            <a:off x="6267450" y="2977872"/>
            <a:ext cx="565785" cy="206931"/>
          </a:xfrm>
          <a:prstGeom xmlns:a="http://schemas.openxmlformats.org/drawingml/2006/main" prst="rect">
            <a:avLst/>
          </a:prstGeom>
        </p:spPr>
      </p:pic>
      <p:pic>
        <p:nvPicPr>
          <p:cNvPr id="163" name="!!q1-solve-mixed-domain" descr="f"/>
          <p:cNvPicPr>
            <a:picLocks xmlns:a="http://schemas.openxmlformats.org/drawingml/2006/main" noChangeAspect="1"/>
          </p:cNvPicPr>
          <p:nvPr/>
        </p:nvPicPr>
        <p:blipFill>
          <a:blip xmlns:r="http://schemas.openxmlformats.org/officeDocument/2006/relationships" xmlns:a="http://schemas.openxmlformats.org/drawingml/2006/main" r:embed="Rdea9232eb62740e6">
            <a:extLst>
              <a:ext uri="{96DAC541-7B7A-43D3-8B79-37D633B846F1}">
                <ns18:svgBlip xmlns:ns18="http://schemas.microsoft.com/office/drawing/2016/SVG/main" r:embed="rIdVectormf00169"/>
              </a:ext>
            </a:extLst>
          </a:blip>
          <a:stretch xmlns:a="http://schemas.openxmlformats.org/drawingml/2006/main"/>
        </p:blipFill>
        <p:spPr>
          <a:xfrm xmlns:a="http://schemas.openxmlformats.org/drawingml/2006/main">
            <a:off x="8518373" y="3583305"/>
            <a:ext cx="79678" cy="120015"/>
          </a:xfrm>
          <a:prstGeom xmlns:a="http://schemas.openxmlformats.org/drawingml/2006/main" prst="rect">
            <a:avLst/>
          </a:prstGeom>
        </p:spPr>
      </p:pic>
      <p:pic>
        <p:nvPicPr>
          <p:cNvPr id="164" name="!!q1-solve-mixed-ticklabel0" descr="0"/>
          <p:cNvPicPr>
            <a:picLocks xmlns:a="http://schemas.openxmlformats.org/drawingml/2006/main" noChangeAspect="1"/>
          </p:cNvPicPr>
          <p:nvPr/>
        </p:nvPicPr>
        <p:blipFill>
          <a:blip xmlns:r="http://schemas.openxmlformats.org/officeDocument/2006/relationships" xmlns:a="http://schemas.openxmlformats.org/drawingml/2006/main" r:embed="Rc5780949b27b45e5">
            <a:extLst>
              <a:ext uri="{96DAC541-7B7A-43D3-8B79-37D633B846F1}">
                <ns19:svgBlip xmlns:ns19="http://schemas.microsoft.com/office/drawing/2016/SVG/main" r:embed="rIdVectormf00170"/>
              </a:ext>
            </a:extLst>
          </a:blip>
          <a:stretch xmlns:a="http://schemas.openxmlformats.org/drawingml/2006/main"/>
        </p:blipFill>
        <p:spPr>
          <a:xfrm xmlns:a="http://schemas.openxmlformats.org/drawingml/2006/main">
            <a:off x="7335900" y="3887153"/>
            <a:ext cx="91951" cy="102870"/>
          </a:xfrm>
          <a:prstGeom xmlns:a="http://schemas.openxmlformats.org/drawingml/2006/main" prst="rect">
            <a:avLst/>
          </a:prstGeom>
        </p:spPr>
      </p:pic>
      <p:pic>
        <p:nvPicPr>
          <p:cNvPr id="165" name="!!q1-solve-message-label" descr="M_2(f)"/>
          <p:cNvPicPr>
            <a:picLocks xmlns:a="http://schemas.openxmlformats.org/drawingml/2006/main" noChangeAspect="1"/>
          </p:cNvPicPr>
          <p:nvPr/>
        </p:nvPicPr>
        <p:blipFill>
          <a:blip xmlns:r="http://schemas.openxmlformats.org/officeDocument/2006/relationships" xmlns:a="http://schemas.openxmlformats.org/drawingml/2006/main" r:embed="R0aeac22f4fda4f4c">
            <a:extLst>
              <a:ext uri="{96DAC541-7B7A-43D3-8B79-37D633B846F1}">
                <ns20:svgBlip xmlns:ns20="http://schemas.microsoft.com/office/drawing/2016/SVG/main" r:embed="rIdVectormf00171"/>
              </a:ext>
            </a:extLst>
          </a:blip>
          <a:stretch xmlns:a="http://schemas.openxmlformats.org/drawingml/2006/main"/>
        </p:blipFill>
        <p:spPr>
          <a:xfrm xmlns:a="http://schemas.openxmlformats.org/drawingml/2006/main">
            <a:off x="9115425" y="2978527"/>
            <a:ext cx="607695" cy="205621"/>
          </a:xfrm>
          <a:prstGeom xmlns:a="http://schemas.openxmlformats.org/drawingml/2006/main" prst="rect">
            <a:avLst/>
          </a:prstGeom>
        </p:spPr>
      </p:pic>
      <p:pic>
        <p:nvPicPr>
          <p:cNvPr id="166" name="!!q1-solve-message-domain" descr="f"/>
          <p:cNvPicPr>
            <a:picLocks xmlns:a="http://schemas.openxmlformats.org/drawingml/2006/main" noChangeAspect="1"/>
          </p:cNvPicPr>
          <p:nvPr/>
        </p:nvPicPr>
        <p:blipFill>
          <a:blip xmlns:r="http://schemas.openxmlformats.org/officeDocument/2006/relationships" xmlns:a="http://schemas.openxmlformats.org/drawingml/2006/main" r:embed="Ra158eb8d9cbc4074">
            <a:extLst>
              <a:ext uri="{96DAC541-7B7A-43D3-8B79-37D633B846F1}">
                <ns21:svgBlip xmlns:ns21="http://schemas.microsoft.com/office/drawing/2016/SVG/main" r:embed="rIdVectormf00172"/>
              </a:ext>
            </a:extLst>
          </a:blip>
          <a:stretch xmlns:a="http://schemas.openxmlformats.org/drawingml/2006/main"/>
        </p:blipFill>
        <p:spPr>
          <a:xfrm xmlns:a="http://schemas.openxmlformats.org/drawingml/2006/main">
            <a:off x="11366348" y="3583305"/>
            <a:ext cx="79678" cy="120015"/>
          </a:xfrm>
          <a:prstGeom xmlns:a="http://schemas.openxmlformats.org/drawingml/2006/main" prst="rect">
            <a:avLst/>
          </a:prstGeom>
        </p:spPr>
      </p:pic>
      <p:pic>
        <p:nvPicPr>
          <p:cNvPr id="167" name="!!q1-solve-message-ticklabel0" descr="0"/>
          <p:cNvPicPr>
            <a:picLocks xmlns:a="http://schemas.openxmlformats.org/drawingml/2006/main" noChangeAspect="1"/>
          </p:cNvPicPr>
          <p:nvPr/>
        </p:nvPicPr>
        <p:blipFill>
          <a:blip xmlns:r="http://schemas.openxmlformats.org/officeDocument/2006/relationships" xmlns:a="http://schemas.openxmlformats.org/drawingml/2006/main" r:embed="R7ac29dcc87594fff">
            <a:extLst>
              <a:ext uri="{96DAC541-7B7A-43D3-8B79-37D633B846F1}">
                <ns22:svgBlip xmlns:ns22="http://schemas.microsoft.com/office/drawing/2016/SVG/main" r:embed="rIdVectormf00173"/>
              </a:ext>
            </a:extLst>
          </a:blip>
          <a:stretch xmlns:a="http://schemas.openxmlformats.org/drawingml/2006/main"/>
        </p:blipFill>
        <p:spPr>
          <a:xfrm xmlns:a="http://schemas.openxmlformats.org/drawingml/2006/main">
            <a:off x="10183875" y="3887153"/>
            <a:ext cx="91951" cy="102870"/>
          </a:xfrm>
          <a:prstGeom xmlns:a="http://schemas.openxmlformats.org/drawingml/2006/main" prst="rect">
            <a:avLst/>
          </a:prstGeom>
        </p:spPr>
      </p:pic>
      <p:pic>
        <p:nvPicPr>
          <p:cNvPr id="168" name="!!q1-solve-bpf-ends-1" descr="[-36,-28]"/>
          <p:cNvPicPr>
            <a:picLocks xmlns:a="http://schemas.openxmlformats.org/drawingml/2006/main" noChangeAspect="1"/>
          </p:cNvPicPr>
          <p:nvPr/>
        </p:nvPicPr>
        <p:blipFill>
          <a:blip xmlns:r="http://schemas.openxmlformats.org/officeDocument/2006/relationships" xmlns:a="http://schemas.openxmlformats.org/drawingml/2006/main" r:embed="Rb1ce430662bd4984">
            <a:extLst>
              <a:ext uri="{96DAC541-7B7A-43D3-8B79-37D633B846F1}">
                <ns23:svgBlip xmlns:ns23="http://schemas.microsoft.com/office/drawing/2016/SVG/main" r:embed="rIdVectormf00174"/>
              </a:ext>
            </a:extLst>
          </a:blip>
          <a:stretch xmlns:a="http://schemas.openxmlformats.org/drawingml/2006/main"/>
        </p:blipFill>
        <p:spPr>
          <a:xfrm xmlns:a="http://schemas.openxmlformats.org/drawingml/2006/main">
            <a:off x="3284220" y="4017901"/>
            <a:ext cx="914400" cy="174747"/>
          </a:xfrm>
          <a:prstGeom xmlns:a="http://schemas.openxmlformats.org/drawingml/2006/main" prst="rect">
            <a:avLst/>
          </a:prstGeom>
        </p:spPr>
      </p:pic>
      <p:pic>
        <p:nvPicPr>
          <p:cNvPr id="169" name="!!q1-solve-bpf-ends1" descr="[28,36]"/>
          <p:cNvPicPr>
            <a:picLocks xmlns:a="http://schemas.openxmlformats.org/drawingml/2006/main" noChangeAspect="1"/>
          </p:cNvPicPr>
          <p:nvPr/>
        </p:nvPicPr>
        <p:blipFill>
          <a:blip xmlns:r="http://schemas.openxmlformats.org/officeDocument/2006/relationships" xmlns:a="http://schemas.openxmlformats.org/drawingml/2006/main" r:embed="Rda36d26af32e4a7d">
            <a:extLst>
              <a:ext uri="{96DAC541-7B7A-43D3-8B79-37D633B846F1}">
                <ns24:svgBlip xmlns:ns24="http://schemas.microsoft.com/office/drawing/2016/SVG/main" r:embed="rIdVectormf00175"/>
              </a:ext>
            </a:extLst>
          </a:blip>
          <a:stretch xmlns:a="http://schemas.openxmlformats.org/drawingml/2006/main"/>
        </p:blipFill>
        <p:spPr>
          <a:xfrm xmlns:a="http://schemas.openxmlformats.org/drawingml/2006/main">
            <a:off x="5018723" y="4015919"/>
            <a:ext cx="615315" cy="178713"/>
          </a:xfrm>
          <a:prstGeom xmlns:a="http://schemas.openxmlformats.org/drawingml/2006/main" prst="rect">
            <a:avLst/>
          </a:prstGeom>
        </p:spPr>
      </p:pic>
      <p:pic>
        <p:nvPicPr>
          <p:cNvPr id="170" name="!!q1-solve-bpf-fact" descr="32\pm4\ \mathrm{kHz}"/>
          <p:cNvPicPr>
            <a:picLocks xmlns:a="http://schemas.openxmlformats.org/drawingml/2006/main" noChangeAspect="1"/>
          </p:cNvPicPr>
          <p:nvPr/>
        </p:nvPicPr>
        <p:blipFill>
          <a:blip xmlns:r="http://schemas.openxmlformats.org/officeDocument/2006/relationships" xmlns:a="http://schemas.openxmlformats.org/drawingml/2006/main" r:embed="R964b526c780b4052">
            <a:extLst>
              <a:ext uri="{96DAC541-7B7A-43D3-8B79-37D633B846F1}">
                <ns25:svgBlip xmlns:ns25="http://schemas.microsoft.com/office/drawing/2016/SVG/main" r:embed="rIdVectormf00176"/>
              </a:ext>
            </a:extLst>
          </a:blip>
          <a:stretch xmlns:a="http://schemas.openxmlformats.org/drawingml/2006/main"/>
        </p:blipFill>
        <p:spPr>
          <a:xfrm xmlns:a="http://schemas.openxmlformats.org/drawingml/2006/main">
            <a:off x="4025900" y="4338638"/>
            <a:ext cx="1016000" cy="152400"/>
          </a:xfrm>
          <a:prstGeom xmlns:a="http://schemas.openxmlformats.org/drawingml/2006/main" prst="rect">
            <a:avLst/>
          </a:prstGeom>
        </p:spPr>
      </p:pic>
      <p:pic>
        <p:nvPicPr>
          <p:cNvPr id="171" name="!!q1-solve-carrier-fact" descr="\frac{2}{A_c}\cos(2\pi\cdot32{,}000t)"/>
          <p:cNvPicPr>
            <a:picLocks xmlns:a="http://schemas.openxmlformats.org/drawingml/2006/main" noChangeAspect="1"/>
          </p:cNvPicPr>
          <p:nvPr/>
        </p:nvPicPr>
        <p:blipFill>
          <a:blip xmlns:r="http://schemas.openxmlformats.org/officeDocument/2006/relationships" xmlns:a="http://schemas.openxmlformats.org/drawingml/2006/main" r:embed="R9065f9f70dc645cd">
            <a:extLst>
              <a:ext uri="{96DAC541-7B7A-43D3-8B79-37D633B846F1}">
                <ns26:svgBlip xmlns:ns26="http://schemas.microsoft.com/office/drawing/2016/SVG/main" r:embed="rIdVectormf00177"/>
              </a:ext>
            </a:extLst>
          </a:blip>
          <a:stretch xmlns:a="http://schemas.openxmlformats.org/drawingml/2006/main"/>
        </p:blipFill>
        <p:spPr>
          <a:xfrm xmlns:a="http://schemas.openxmlformats.org/drawingml/2006/main">
            <a:off x="6719059" y="4258956"/>
            <a:ext cx="1325632" cy="311763"/>
          </a:xfrm>
          <a:prstGeom xmlns:a="http://schemas.openxmlformats.org/drawingml/2006/main" prst="rect">
            <a:avLst/>
          </a:prstGeom>
        </p:spPr>
      </p:pic>
      <p:pic>
        <p:nvPicPr>
          <p:cNvPr id="172" name="!!q1-solve-mixed-tick-64" descr="-64"/>
          <p:cNvPicPr>
            <a:picLocks xmlns:a="http://schemas.openxmlformats.org/drawingml/2006/main" noChangeAspect="1"/>
          </p:cNvPicPr>
          <p:nvPr/>
        </p:nvPicPr>
        <p:blipFill>
          <a:blip xmlns:r="http://schemas.openxmlformats.org/officeDocument/2006/relationships" xmlns:a="http://schemas.openxmlformats.org/drawingml/2006/main" r:embed="Rb58d87695cfb40b8">
            <a:extLst>
              <a:ext uri="{96DAC541-7B7A-43D3-8B79-37D633B846F1}">
                <ns27:svgBlip xmlns:ns27="http://schemas.microsoft.com/office/drawing/2016/SVG/main" r:embed="rIdVectormf00178"/>
              </a:ext>
            </a:extLst>
          </a:blip>
          <a:stretch xmlns:a="http://schemas.openxmlformats.org/drawingml/2006/main"/>
        </p:blipFill>
        <p:spPr>
          <a:xfrm xmlns:a="http://schemas.openxmlformats.org/drawingml/2006/main">
            <a:off x="6318885" y="3873222"/>
            <a:ext cx="342900" cy="130731"/>
          </a:xfrm>
          <a:prstGeom xmlns:a="http://schemas.openxmlformats.org/drawingml/2006/main" prst="rect">
            <a:avLst/>
          </a:prstGeom>
        </p:spPr>
      </p:pic>
      <p:pic>
        <p:nvPicPr>
          <p:cNvPr id="173" name="!!q1-solve-mixed-tick64" descr="64"/>
          <p:cNvPicPr>
            <a:picLocks xmlns:a="http://schemas.openxmlformats.org/drawingml/2006/main" noChangeAspect="1"/>
          </p:cNvPicPr>
          <p:nvPr/>
        </p:nvPicPr>
        <p:blipFill>
          <a:blip xmlns:r="http://schemas.openxmlformats.org/officeDocument/2006/relationships" xmlns:a="http://schemas.openxmlformats.org/drawingml/2006/main" r:embed="R512b99bb46bf44d5">
            <a:extLst>
              <a:ext uri="{96DAC541-7B7A-43D3-8B79-37D633B846F1}">
                <ns28:svgBlip xmlns:ns28="http://schemas.microsoft.com/office/drawing/2016/SVG/main" r:embed="rIdVectormf00179"/>
              </a:ext>
            </a:extLst>
          </a:blip>
          <a:stretch xmlns:a="http://schemas.openxmlformats.org/drawingml/2006/main"/>
        </p:blipFill>
        <p:spPr>
          <a:xfrm xmlns:a="http://schemas.openxmlformats.org/drawingml/2006/main">
            <a:off x="8181464" y="3887153"/>
            <a:ext cx="183902" cy="102870"/>
          </a:xfrm>
          <a:prstGeom xmlns:a="http://schemas.openxmlformats.org/drawingml/2006/main" prst="rect">
            <a:avLst/>
          </a:prstGeom>
        </p:spPr>
      </p:pic>
      <p:pic>
        <p:nvPicPr>
          <p:cNvPr id="174" name="!!q1-solve-lpf-ends" descr="[-4,4]"/>
          <p:cNvPicPr>
            <a:picLocks xmlns:a="http://schemas.openxmlformats.org/drawingml/2006/main" noChangeAspect="1"/>
          </p:cNvPicPr>
          <p:nvPr/>
        </p:nvPicPr>
        <p:blipFill>
          <a:blip xmlns:r="http://schemas.openxmlformats.org/officeDocument/2006/relationships" xmlns:a="http://schemas.openxmlformats.org/drawingml/2006/main" r:embed="R8abdc77feea44cfb">
            <a:extLst>
              <a:ext uri="{96DAC541-7B7A-43D3-8B79-37D633B846F1}">
                <ns29:svgBlip xmlns:ns29="http://schemas.microsoft.com/office/drawing/2016/SVG/main" r:embed="rIdVectormf00180"/>
              </a:ext>
            </a:extLst>
          </a:blip>
          <a:stretch xmlns:a="http://schemas.openxmlformats.org/drawingml/2006/main"/>
        </p:blipFill>
        <p:spPr>
          <a:xfrm xmlns:a="http://schemas.openxmlformats.org/drawingml/2006/main">
            <a:off x="7092315" y="4014788"/>
            <a:ext cx="579120" cy="180975"/>
          </a:xfrm>
          <a:prstGeom xmlns:a="http://schemas.openxmlformats.org/drawingml/2006/main" prst="rect">
            <a:avLst/>
          </a:prstGeom>
        </p:spPr>
      </p:pic>
      <p:pic>
        <p:nvPicPr>
          <p:cNvPr id="175" name="!!q1-solve-message-ends" descr="-4\qquad 4"/>
          <p:cNvPicPr>
            <a:picLocks xmlns:a="http://schemas.openxmlformats.org/drawingml/2006/main" noChangeAspect="1"/>
          </p:cNvPicPr>
          <p:nvPr/>
        </p:nvPicPr>
        <p:blipFill>
          <a:blip xmlns:r="http://schemas.openxmlformats.org/officeDocument/2006/relationships" xmlns:a="http://schemas.openxmlformats.org/drawingml/2006/main" r:embed="Re9bb24459ddc42f3">
            <a:extLst>
              <a:ext uri="{96DAC541-7B7A-43D3-8B79-37D633B846F1}">
                <ns30:svgBlip xmlns:ns30="http://schemas.microsoft.com/office/drawing/2016/SVG/main" r:embed="rIdVectormf00181"/>
              </a:ext>
            </a:extLst>
          </a:blip>
          <a:stretch xmlns:a="http://schemas.openxmlformats.org/drawingml/2006/main"/>
        </p:blipFill>
        <p:spPr>
          <a:xfrm xmlns:a="http://schemas.openxmlformats.org/drawingml/2006/main">
            <a:off x="9840754" y="3978563"/>
            <a:ext cx="778193" cy="139125"/>
          </a:xfrm>
          <a:prstGeom xmlns:a="http://schemas.openxmlformats.org/drawingml/2006/main" prst="rect">
            <a:avLst/>
          </a:prstGeom>
        </p:spPr>
      </p:pic>
      <p:pic>
        <p:nvPicPr>
          <p:cNvPr id="176" name="!!q1-solve-cutoff-fact" descr="f_{LPF}=4\ \mathrm{kHz}"/>
          <p:cNvPicPr>
            <a:picLocks xmlns:a="http://schemas.openxmlformats.org/drawingml/2006/main" noChangeAspect="1"/>
          </p:cNvPicPr>
          <p:nvPr/>
        </p:nvPicPr>
        <p:blipFill>
          <a:blip xmlns:r="http://schemas.openxmlformats.org/officeDocument/2006/relationships" xmlns:a="http://schemas.openxmlformats.org/drawingml/2006/main" r:embed="Rdc007d040a554902">
            <a:extLst>
              <a:ext uri="{96DAC541-7B7A-43D3-8B79-37D633B846F1}">
                <ns31:svgBlip xmlns:ns31="http://schemas.microsoft.com/office/drawing/2016/SVG/main" r:embed="rIdVectormf00182"/>
              </a:ext>
            </a:extLst>
          </a:blip>
          <a:stretch xmlns:a="http://schemas.openxmlformats.org/drawingml/2006/main"/>
        </p:blipFill>
        <p:spPr>
          <a:xfrm xmlns:a="http://schemas.openxmlformats.org/drawingml/2006/main">
            <a:off x="9629349" y="4338638"/>
            <a:ext cx="1201003" cy="152400"/>
          </a:xfrm>
          <a:prstGeom xmlns:a="http://schemas.openxmlformats.org/drawingml/2006/main" prst="rect">
            <a:avLst/>
          </a:prstGeom>
        </p:spPr>
      </p:pic>
      <p:pic>
        <p:nvPicPr>
          <p:cNvPr id="177" name="!!q1-solve-dense-equation-0" descr="\textstyle \mathrm{BPF\ passbands}:\quad[-36,-28],\ [28,36]\ \mathrm{kHz}"/>
          <p:cNvPicPr>
            <a:picLocks xmlns:a="http://schemas.openxmlformats.org/drawingml/2006/main" noChangeAspect="1"/>
          </p:cNvPicPr>
          <p:nvPr/>
        </p:nvPicPr>
        <p:blipFill>
          <a:blip xmlns:r="http://schemas.openxmlformats.org/officeDocument/2006/relationships" xmlns:a="http://schemas.openxmlformats.org/drawingml/2006/main" r:embed="R6505505296584679">
            <a:extLst>
              <a:ext uri="{96DAC541-7B7A-43D3-8B79-37D633B846F1}">
                <ns32:svgBlip xmlns:ns32="http://schemas.microsoft.com/office/drawing/2016/SVG/main" r:embed="rIdVectormf00183"/>
              </a:ext>
            </a:extLst>
          </a:blip>
          <a:stretch xmlns:a="http://schemas.openxmlformats.org/drawingml/2006/main"/>
        </p:blipFill>
        <p:spPr>
          <a:xfrm xmlns:a="http://schemas.openxmlformats.org/drawingml/2006/main">
            <a:off x="609600" y="5005388"/>
            <a:ext cx="5398770" cy="247650"/>
          </a:xfrm>
          <a:prstGeom xmlns:a="http://schemas.openxmlformats.org/drawingml/2006/main" prst="rect">
            <a:avLst/>
          </a:prstGeom>
        </p:spPr>
      </p:pic>
      <p:pic>
        <p:nvPicPr>
          <p:cNvPr id="178" name="!!q1-solve-dense-equation-1" descr="\textstyle \mathrm{Demodulating\ carrier}:\quad\frac{2}{A_c}\cos(2\pi\cdot32{,}000t)"/>
          <p:cNvPicPr>
            <a:picLocks xmlns:a="http://schemas.openxmlformats.org/drawingml/2006/main" noChangeAspect="1"/>
          </p:cNvPicPr>
          <p:nvPr/>
        </p:nvPicPr>
        <p:blipFill>
          <a:blip xmlns:r="http://schemas.openxmlformats.org/officeDocument/2006/relationships" xmlns:a="http://schemas.openxmlformats.org/drawingml/2006/main" r:embed="R2b432f80965d4e28">
            <a:extLst>
              <a:ext uri="{96DAC541-7B7A-43D3-8B79-37D633B846F1}">
                <ns33:svgBlip xmlns:ns33="http://schemas.microsoft.com/office/drawing/2016/SVG/main" r:embed="rIdVectormf00184"/>
              </a:ext>
            </a:extLst>
          </a:blip>
          <a:stretch xmlns:a="http://schemas.openxmlformats.org/drawingml/2006/main"/>
        </p:blipFill>
        <p:spPr>
          <a:xfrm xmlns:a="http://schemas.openxmlformats.org/drawingml/2006/main">
            <a:off x="700309" y="5358765"/>
            <a:ext cx="5390707" cy="321945"/>
          </a:xfrm>
          <a:prstGeom xmlns:a="http://schemas.openxmlformats.org/drawingml/2006/main" prst="rect">
            <a:avLst/>
          </a:prstGeom>
        </p:spPr>
      </p:pic>
      <p:pic>
        <p:nvPicPr>
          <p:cNvPr id="179" name="!!q1-solve-dense-equation-2" descr="\textstyle u_2(t)=\frac{2}{A_c}s_2(t)\cos(2\pi\cdot32{,}000t)=m_2(t)+m_2(t)\cos(2\pi\cdot64{,}000t)"/>
          <p:cNvPicPr>
            <a:picLocks xmlns:a="http://schemas.openxmlformats.org/drawingml/2006/main" noChangeAspect="1"/>
          </p:cNvPicPr>
          <p:nvPr/>
        </p:nvPicPr>
        <p:blipFill>
          <a:blip xmlns:r="http://schemas.openxmlformats.org/officeDocument/2006/relationships" xmlns:a="http://schemas.openxmlformats.org/drawingml/2006/main" r:embed="Rb7be1b9def2c4390">
            <a:extLst>
              <a:ext uri="{96DAC541-7B7A-43D3-8B79-37D633B846F1}">
                <ns34:svgBlip xmlns:ns34="http://schemas.microsoft.com/office/drawing/2016/SVG/main" r:embed="rIdVectormf00185"/>
              </a:ext>
            </a:extLst>
          </a:blip>
          <a:stretch xmlns:a="http://schemas.openxmlformats.org/drawingml/2006/main"/>
        </p:blipFill>
        <p:spPr>
          <a:xfrm xmlns:a="http://schemas.openxmlformats.org/drawingml/2006/main">
            <a:off x="741430" y="5749290"/>
            <a:ext cx="7834494" cy="321945"/>
          </a:xfrm>
          <a:prstGeom xmlns:a="http://schemas.openxmlformats.org/drawingml/2006/main" prst="rect">
            <a:avLst/>
          </a:prstGeom>
        </p:spPr>
      </p:pic>
      <p:pic>
        <p:nvPicPr>
          <p:cNvPr id="180" name="!!q1-solve-dense-equation-3" descr="\textstyle \mathrm{LPF\ cutoff}:\quad4\ \mathrm{kHz},\qquad\mathrm{LPF}\{u_2(t)\}=m_2(t)"/>
          <p:cNvPicPr>
            <a:picLocks xmlns:a="http://schemas.openxmlformats.org/drawingml/2006/main" noChangeAspect="1"/>
          </p:cNvPicPr>
          <p:nvPr/>
        </p:nvPicPr>
        <p:blipFill>
          <a:blip xmlns:r="http://schemas.openxmlformats.org/officeDocument/2006/relationships" xmlns:a="http://schemas.openxmlformats.org/drawingml/2006/main" r:embed="Rad153ac8dc0f4b04">
            <a:extLst>
              <a:ext uri="{96DAC541-7B7A-43D3-8B79-37D633B846F1}">
                <ns35:svgBlip xmlns:ns35="http://schemas.microsoft.com/office/drawing/2016/SVG/main" r:embed="rIdVectormf00186"/>
              </a:ext>
            </a:extLst>
          </a:blip>
          <a:stretch xmlns:a="http://schemas.openxmlformats.org/drawingml/2006/main"/>
        </p:blipFill>
        <p:spPr>
          <a:xfrm xmlns:a="http://schemas.openxmlformats.org/drawingml/2006/main">
            <a:off x="609600" y="6177736"/>
            <a:ext cx="5819775" cy="246102"/>
          </a:xfrm>
          <a:prstGeom xmlns:a="http://schemas.openxmlformats.org/drawingml/2006/main" prst="rect">
            <a:avLst/>
          </a:prstGeom>
        </p:spPr>
      </p:pic>
    </p:spTree>
    <p:extLst>
      <p:ext uri="{BB962C8B-B14F-4D97-AF65-F5344CB8AC3E}">
        <p14:creationId xmlns:p14="http://schemas.microsoft.com/office/powerpoint/2010/main" val="65391674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400"/>
                                        <p:tgtEl>
                                          <p:spTgt spid="35"/>
                                        </p:tgtEl>
                                      </p:cBhvr>
                                    </p:animEffect>
                                  </p:childTnLst>
                                </p:cTn>
                              </p:par>
                              <p:par>
                                <p:cTn id="11" presetID="10"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400"/>
                                        <p:tgtEl>
                                          <p:spTgt spid="36"/>
                                        </p:tgtEl>
                                      </p:cBhvr>
                                    </p:animEffect>
                                  </p:childTnLst>
                                </p:cTn>
                              </p:par>
                              <p:par>
                                <p:cTn id="14" presetID="10" presetClass="entr" presetSubtype="0"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400"/>
                                        <p:tgtEl>
                                          <p:spTgt spid="37"/>
                                        </p:tgtEl>
                                      </p:cBhvr>
                                    </p:animEffect>
                                  </p:childTnLst>
                                </p:cTn>
                              </p:par>
                              <p:par>
                                <p:cTn id="17" presetID="10"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400"/>
                                        <p:tgtEl>
                                          <p:spTgt spid="38"/>
                                        </p:tgtEl>
                                      </p:cBhvr>
                                    </p:animEffect>
                                  </p:childTnLst>
                                </p:cTn>
                              </p:par>
                              <p:par>
                                <p:cTn id="20" presetID="10" presetClass="entr" presetSubtype="0"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400"/>
                                        <p:tgtEl>
                                          <p:spTgt spid="39"/>
                                        </p:tgtEl>
                                      </p:cBhvr>
                                    </p:animEffect>
                                  </p:childTnLst>
                                </p:cTn>
                              </p:par>
                              <p:par>
                                <p:cTn id="23" presetID="10"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400"/>
                                        <p:tgtEl>
                                          <p:spTgt spid="40"/>
                                        </p:tgtEl>
                                      </p:cBhvr>
                                    </p:animEffect>
                                  </p:childTnLst>
                                </p:cTn>
                              </p:par>
                              <p:par>
                                <p:cTn id="26" presetID="10" presetClass="entr" presetSubtype="0" fill="hold" nodeType="withEffect">
                                  <p:stCondLst>
                                    <p:cond delay="0"/>
                                  </p:stCondLst>
                                  <p:childTnLst>
                                    <p:set>
                                      <p:cBhvr>
                                        <p:cTn id="27" dur="1" fill="hold">
                                          <p:stCondLst>
                                            <p:cond delay="0"/>
                                          </p:stCondLst>
                                        </p:cTn>
                                        <p:tgtEl>
                                          <p:spTgt spid="168"/>
                                        </p:tgtEl>
                                        <p:attrNameLst>
                                          <p:attrName>style.visibility</p:attrName>
                                        </p:attrNameLst>
                                      </p:cBhvr>
                                      <p:to>
                                        <p:strVal val="visible"/>
                                      </p:to>
                                    </p:set>
                                    <p:animEffect transition="in" filter="fade">
                                      <p:cBhvr>
                                        <p:cTn id="28" dur="400"/>
                                        <p:tgtEl>
                                          <p:spTgt spid="168"/>
                                        </p:tgtEl>
                                      </p:cBhvr>
                                    </p:animEffect>
                                  </p:childTnLst>
                                </p:cTn>
                              </p:par>
                              <p:par>
                                <p:cTn id="29" presetID="10" presetClass="entr" presetSubtype="0" fill="hold" nodeType="withEffect">
                                  <p:stCondLst>
                                    <p:cond delay="0"/>
                                  </p:stCondLst>
                                  <p:childTnLst>
                                    <p:set>
                                      <p:cBhvr>
                                        <p:cTn id="30" dur="1" fill="hold">
                                          <p:stCondLst>
                                            <p:cond delay="0"/>
                                          </p:stCondLst>
                                        </p:cTn>
                                        <p:tgtEl>
                                          <p:spTgt spid="169"/>
                                        </p:tgtEl>
                                        <p:attrNameLst>
                                          <p:attrName>style.visibility</p:attrName>
                                        </p:attrNameLst>
                                      </p:cBhvr>
                                      <p:to>
                                        <p:strVal val="visible"/>
                                      </p:to>
                                    </p:set>
                                    <p:animEffect transition="in" filter="fade">
                                      <p:cBhvr>
                                        <p:cTn id="31" dur="400"/>
                                        <p:tgtEl>
                                          <p:spTgt spid="169"/>
                                        </p:tgtEl>
                                      </p:cBhvr>
                                    </p:animEffect>
                                  </p:childTnLst>
                                </p:cTn>
                              </p:par>
                              <p:par>
                                <p:cTn id="32" presetID="10" presetClass="entr" presetSubtype="0" fill="hold" nodeType="withEffect">
                                  <p:stCondLst>
                                    <p:cond delay="0"/>
                                  </p:stCondLst>
                                  <p:childTnLst>
                                    <p:set>
                                      <p:cBhvr>
                                        <p:cTn id="33" dur="1" fill="hold">
                                          <p:stCondLst>
                                            <p:cond delay="0"/>
                                          </p:stCondLst>
                                        </p:cTn>
                                        <p:tgtEl>
                                          <p:spTgt spid="170"/>
                                        </p:tgtEl>
                                        <p:attrNameLst>
                                          <p:attrName>style.visibility</p:attrName>
                                        </p:attrNameLst>
                                      </p:cBhvr>
                                      <p:to>
                                        <p:strVal val="visible"/>
                                      </p:to>
                                    </p:set>
                                    <p:animEffect transition="in" filter="fade">
                                      <p:cBhvr>
                                        <p:cTn id="34" dur="400"/>
                                        <p:tgtEl>
                                          <p:spTgt spid="170"/>
                                        </p:tgtEl>
                                      </p:cBhvr>
                                    </p:animEffect>
                                  </p:childTnLst>
                                </p:cTn>
                              </p:par>
                              <p:par>
                                <p:cTn id="35" presetID="10"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200"/>
                                        <p:tgtEl>
                                          <p:spTgt spid="41"/>
                                        </p:tgtEl>
                                      </p:cBhvr>
                                    </p:animEffect>
                                    <p:animMotion origin="layout" pathEditMode="relative" path="M -0.21734375 0.00000000 L 0.00000000 0.00000000 E">
                                      <p:cBhvr>
                                        <p:cTn id="38" dur="700" fill="hold"/>
                                        <p:tgtEl>
                                          <p:spTgt spid="41"/>
                                        </p:tgtEl>
                                        <p:attrNameLst>
                                          <p:attrName>ppt_x</p:attrName>
                                          <p:attrName>ppt_y</p:attrName>
                                        </p:attrNameLst>
                                      </p:cBhvr>
                                    </p:animMotion>
                                    <p:animScale zoomContents="1">
                                      <p:cBhvr>
                                        <p:cTn id="39" dur="700" fill="hold"/>
                                        <p:tgtEl>
                                          <p:spTgt spid="41"/>
                                        </p:tgtEl>
                                      </p:cBhvr>
                                      <p:from x="75000" y="100000"/>
                                      <p:to x="100000" y="100000"/>
                                    </p:animScale>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200"/>
                                        <p:tgtEl>
                                          <p:spTgt spid="42"/>
                                        </p:tgtEl>
                                      </p:cBhvr>
                                    </p:animEffect>
                                    <p:animMotion origin="layout" pathEditMode="relative" path="M -0.24984375 0.00000000 L 0.00000000 0.00000000 E">
                                      <p:cBhvr>
                                        <p:cTn id="43" dur="700" fill="hold"/>
                                        <p:tgtEl>
                                          <p:spTgt spid="42"/>
                                        </p:tgtEl>
                                        <p:attrNameLst>
                                          <p:attrName>ppt_x</p:attrName>
                                          <p:attrName>ppt_y</p:attrName>
                                        </p:attrNameLst>
                                      </p:cBhvr>
                                    </p:animMotion>
                                    <p:animScale zoomContents="1">
                                      <p:cBhvr>
                                        <p:cTn id="44" dur="700" fill="hold"/>
                                        <p:tgtEl>
                                          <p:spTgt spid="42"/>
                                        </p:tgtEl>
                                      </p:cBhvr>
                                      <p:from x="75000" y="100000"/>
                                      <p:to x="100000" y="100000"/>
                                    </p:animScale>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7"/>
                                        </p:tgtEl>
                                        <p:attrNameLst>
                                          <p:attrName>style.visibility</p:attrName>
                                        </p:attrNameLst>
                                      </p:cBhvr>
                                      <p:to>
                                        <p:strVal val="visible"/>
                                      </p:to>
                                    </p:set>
                                    <p:animEffect transition="in" filter="fade">
                                      <p:cBhvr>
                                        <p:cTn id="49" dur="200"/>
                                        <p:tgtEl>
                                          <p:spTgt spid="177"/>
                                        </p:tgtEl>
                                      </p:cBhvr>
                                    </p:animEffect>
                                    <p:animMotion origin="layout" pathEditMode="relative" path="M 0.10046875 -0.10416667 L 0.00000000 0.00000000 E">
                                      <p:cBhvr>
                                        <p:cTn id="50" dur="700" fill="hold"/>
                                        <p:tgtEl>
                                          <p:spTgt spid="177"/>
                                        </p:tgtEl>
                                        <p:attrNameLst>
                                          <p:attrName>ppt_x</p:attrName>
                                          <p:attrName>ppt_y</p:attrName>
                                        </p:attrNameLst>
                                      </p:cBhvr>
                                    </p:animMotion>
                                    <p:animScale zoomContents="1">
                                      <p:cBhvr>
                                        <p:cTn id="51" dur="700" fill="hold"/>
                                        <p:tgtEl>
                                          <p:spTgt spid="177"/>
                                        </p:tgtEl>
                                      </p:cBhvr>
                                      <p:from x="18819" y="18819"/>
                                      <p:to x="100000" y="100000"/>
                                    </p:animScale>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400"/>
                                        <p:tgtEl>
                                          <p:spTgt spid="43"/>
                                        </p:tgtEl>
                                      </p:cBhvr>
                                    </p:animEffect>
                                  </p:childTnLst>
                                </p:cTn>
                              </p:par>
                              <p:par>
                                <p:cTn id="57" presetID="10" presetClass="entr" presetSubtype="0" fill="hold"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400"/>
                                        <p:tgtEl>
                                          <p:spTgt spid="44"/>
                                        </p:tgtEl>
                                      </p:cBhvr>
                                    </p:animEffect>
                                  </p:childTnLst>
                                </p:cTn>
                              </p:par>
                              <p:par>
                                <p:cTn id="60" presetID="10" presetClass="entr" presetSubtype="0" fill="hold" nodeType="with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400"/>
                                        <p:tgtEl>
                                          <p:spTgt spid="45"/>
                                        </p:tgtEl>
                                      </p:cBhvr>
                                    </p:animEffect>
                                  </p:childTnLst>
                                </p:cTn>
                              </p:par>
                              <p:par>
                                <p:cTn id="63" presetID="10" presetClass="entr" presetSubtype="0" fill="hold" nodeType="withEffect">
                                  <p:stCondLst>
                                    <p:cond delay="0"/>
                                  </p:stCondLst>
                                  <p:childTnLst>
                                    <p:set>
                                      <p:cBhvr>
                                        <p:cTn id="64" dur="1" fill="hold">
                                          <p:stCondLst>
                                            <p:cond delay="0"/>
                                          </p:stCondLst>
                                        </p:cTn>
                                        <p:tgtEl>
                                          <p:spTgt spid="171"/>
                                        </p:tgtEl>
                                        <p:attrNameLst>
                                          <p:attrName>style.visibility</p:attrName>
                                        </p:attrNameLst>
                                      </p:cBhvr>
                                      <p:to>
                                        <p:strVal val="visible"/>
                                      </p:to>
                                    </p:set>
                                    <p:animEffect transition="in" filter="fade">
                                      <p:cBhvr>
                                        <p:cTn id="65" dur="400"/>
                                        <p:tgtEl>
                                          <p:spTgt spid="171"/>
                                        </p:tgtEl>
                                      </p:cBhvr>
                                    </p:animEffect>
                                  </p:childTnLst>
                                </p:cTn>
                              </p:par>
                              <p:par>
                                <p:cTn id="66" presetID="10" presetClass="entr" presetSubtype="0" fill="hold" nodeType="withEffect">
                                  <p:stCondLst>
                                    <p:cond delay="0"/>
                                  </p:stCondLst>
                                  <p:childTnLst>
                                    <p:set>
                                      <p:cBhvr>
                                        <p:cTn id="67" dur="1" fill="hold">
                                          <p:stCondLst>
                                            <p:cond delay="0"/>
                                          </p:stCondLst>
                                        </p:cTn>
                                        <p:tgtEl>
                                          <p:spTgt spid="172"/>
                                        </p:tgtEl>
                                        <p:attrNameLst>
                                          <p:attrName>style.visibility</p:attrName>
                                        </p:attrNameLst>
                                      </p:cBhvr>
                                      <p:to>
                                        <p:strVal val="visible"/>
                                      </p:to>
                                    </p:set>
                                    <p:animEffect transition="in" filter="fade">
                                      <p:cBhvr>
                                        <p:cTn id="68" dur="400"/>
                                        <p:tgtEl>
                                          <p:spTgt spid="172"/>
                                        </p:tgtEl>
                                      </p:cBhvr>
                                    </p:animEffect>
                                  </p:childTnLst>
                                </p:cTn>
                              </p:par>
                              <p:par>
                                <p:cTn id="69" presetID="10" presetClass="entr" presetSubtype="0" fill="hold" nodeType="withEffect">
                                  <p:stCondLst>
                                    <p:cond delay="0"/>
                                  </p:stCondLst>
                                  <p:childTnLst>
                                    <p:set>
                                      <p:cBhvr>
                                        <p:cTn id="70" dur="1" fill="hold">
                                          <p:stCondLst>
                                            <p:cond delay="0"/>
                                          </p:stCondLst>
                                        </p:cTn>
                                        <p:tgtEl>
                                          <p:spTgt spid="173"/>
                                        </p:tgtEl>
                                        <p:attrNameLst>
                                          <p:attrName>style.visibility</p:attrName>
                                        </p:attrNameLst>
                                      </p:cBhvr>
                                      <p:to>
                                        <p:strVal val="visible"/>
                                      </p:to>
                                    </p:set>
                                    <p:animEffect transition="in" filter="fade">
                                      <p:cBhvr>
                                        <p:cTn id="71" dur="400"/>
                                        <p:tgtEl>
                                          <p:spTgt spid="173"/>
                                        </p:tgtEl>
                                      </p:cBhvr>
                                    </p:animEffect>
                                  </p:childTnLst>
                                </p:cTn>
                              </p:par>
                              <p:par>
                                <p:cTn id="72" presetID="10" presetClass="entr" presetSubtype="0" fill="hold"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fade">
                                      <p:cBhvr>
                                        <p:cTn id="74" dur="200"/>
                                        <p:tgtEl>
                                          <p:spTgt spid="46"/>
                                        </p:tgtEl>
                                      </p:cBhvr>
                                    </p:animEffect>
                                    <p:animMotion origin="layout" pathEditMode="relative" path="M -0.22546875 0.00000000 L 0.00000000 0.00000000 E">
                                      <p:cBhvr>
                                        <p:cTn id="75" dur="700" fill="hold"/>
                                        <p:tgtEl>
                                          <p:spTgt spid="46"/>
                                        </p:tgtEl>
                                        <p:attrNameLst>
                                          <p:attrName>ppt_x</p:attrName>
                                          <p:attrName>ppt_y</p:attrName>
                                        </p:attrNameLst>
                                      </p:cBhvr>
                                    </p:animMotion>
                                    <p:animScale zoomContents="1">
                                      <p:cBhvr>
                                        <p:cTn id="76" dur="700" fill="hold"/>
                                        <p:tgtEl>
                                          <p:spTgt spid="46"/>
                                        </p:tgtEl>
                                      </p:cBhvr>
                                      <p:from x="177778" y="100000"/>
                                      <p:to x="100000" y="100000"/>
                                    </p:animScale>
                                  </p:childTnLst>
                                </p:cTn>
                              </p:par>
                              <p:par>
                                <p:cTn id="77" presetID="10" presetClass="entr" presetSubtype="0" fill="hold"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200"/>
                                        <p:tgtEl>
                                          <p:spTgt spid="47"/>
                                        </p:tgtEl>
                                      </p:cBhvr>
                                    </p:animEffect>
                                    <p:animMotion origin="layout" pathEditMode="relative" path="M -0.29859375 0.02500000 L 0.00000000 0.00000000 E">
                                      <p:cBhvr>
                                        <p:cTn id="80" dur="700" fill="hold"/>
                                        <p:tgtEl>
                                          <p:spTgt spid="47"/>
                                        </p:tgtEl>
                                        <p:attrNameLst>
                                          <p:attrName>ppt_x</p:attrName>
                                          <p:attrName>ppt_y</p:attrName>
                                        </p:attrNameLst>
                                      </p:cBhvr>
                                    </p:animMotion>
                                    <p:animScale zoomContents="1">
                                      <p:cBhvr>
                                        <p:cTn id="81" dur="700" fill="hold"/>
                                        <p:tgtEl>
                                          <p:spTgt spid="47"/>
                                        </p:tgtEl>
                                      </p:cBhvr>
                                      <p:from x="177778" y="50000"/>
                                      <p:to x="100000" y="100000"/>
                                    </p:animScale>
                                  </p:childTnLst>
                                </p:cTn>
                              </p:par>
                              <p:par>
                                <p:cTn id="82" presetID="10" presetClass="entr" presetSubtype="0" fill="hold" nodeType="with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fade">
                                      <p:cBhvr>
                                        <p:cTn id="84" dur="200"/>
                                        <p:tgtEl>
                                          <p:spTgt spid="48"/>
                                        </p:tgtEl>
                                      </p:cBhvr>
                                    </p:animEffect>
                                    <p:animMotion origin="layout" pathEditMode="relative" path="M -0.24171875 0.00000000 L 0.00000000 0.00000000 E">
                                      <p:cBhvr>
                                        <p:cTn id="85" dur="700" fill="hold"/>
                                        <p:tgtEl>
                                          <p:spTgt spid="48"/>
                                        </p:tgtEl>
                                        <p:attrNameLst>
                                          <p:attrName>ppt_x</p:attrName>
                                          <p:attrName>ppt_y</p:attrName>
                                        </p:attrNameLst>
                                      </p:cBhvr>
                                    </p:animMotion>
                                    <p:animScale zoomContents="1">
                                      <p:cBhvr>
                                        <p:cTn id="86" dur="700" fill="hold"/>
                                        <p:tgtEl>
                                          <p:spTgt spid="48"/>
                                        </p:tgtEl>
                                      </p:cBhvr>
                                      <p:from x="177778" y="100000"/>
                                      <p:to x="100000" y="100000"/>
                                    </p:animScale>
                                  </p:childTnLst>
                                </p:cTn>
                              </p:par>
                              <p:par>
                                <p:cTn id="87" presetID="10" presetClass="entr" presetSubtype="0" fill="hold" nodeType="withEffect">
                                  <p:stCondLst>
                                    <p:cond delay="0"/>
                                  </p:stCondLst>
                                  <p:childTnLst>
                                    <p:set>
                                      <p:cBhvr>
                                        <p:cTn id="88" dur="1" fill="hold">
                                          <p:stCondLst>
                                            <p:cond delay="0"/>
                                          </p:stCondLst>
                                        </p:cTn>
                                        <p:tgtEl>
                                          <p:spTgt spid="49"/>
                                        </p:tgtEl>
                                        <p:attrNameLst>
                                          <p:attrName>style.visibility</p:attrName>
                                        </p:attrNameLst>
                                      </p:cBhvr>
                                      <p:to>
                                        <p:strVal val="visible"/>
                                      </p:to>
                                    </p:set>
                                    <p:animEffect transition="in" filter="fade">
                                      <p:cBhvr>
                                        <p:cTn id="89" dur="200"/>
                                        <p:tgtEl>
                                          <p:spTgt spid="49"/>
                                        </p:tgtEl>
                                      </p:cBhvr>
                                    </p:animEffect>
                                    <p:animMotion origin="layout" pathEditMode="relative" path="M -0.16859375 0.02500000 L 0.00000000 0.00000000 E">
                                      <p:cBhvr>
                                        <p:cTn id="90" dur="700" fill="hold"/>
                                        <p:tgtEl>
                                          <p:spTgt spid="49"/>
                                        </p:tgtEl>
                                        <p:attrNameLst>
                                          <p:attrName>ppt_x</p:attrName>
                                          <p:attrName>ppt_y</p:attrName>
                                        </p:attrNameLst>
                                      </p:cBhvr>
                                    </p:animMotion>
                                    <p:animScale zoomContents="1">
                                      <p:cBhvr>
                                        <p:cTn id="91" dur="700" fill="hold"/>
                                        <p:tgtEl>
                                          <p:spTgt spid="49"/>
                                        </p:tgtEl>
                                      </p:cBhvr>
                                      <p:from x="177778" y="50000"/>
                                      <p:to x="100000" y="100000"/>
                                    </p:animScale>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78"/>
                                        </p:tgtEl>
                                        <p:attrNameLst>
                                          <p:attrName>style.visibility</p:attrName>
                                        </p:attrNameLst>
                                      </p:cBhvr>
                                      <p:to>
                                        <p:strVal val="visible"/>
                                      </p:to>
                                    </p:set>
                                    <p:animEffect transition="in" filter="fade">
                                      <p:cBhvr>
                                        <p:cTn id="96" dur="200"/>
                                        <p:tgtEl>
                                          <p:spTgt spid="178"/>
                                        </p:tgtEl>
                                      </p:cBhvr>
                                    </p:animEffect>
                                    <p:animMotion origin="layout" pathEditMode="relative" path="M 0.32695313 -0.16111111 L 0.00000000 0.00000000 E">
                                      <p:cBhvr>
                                        <p:cTn id="97" dur="700" fill="hold"/>
                                        <p:tgtEl>
                                          <p:spTgt spid="178"/>
                                        </p:tgtEl>
                                        <p:attrNameLst>
                                          <p:attrName>ppt_x</p:attrName>
                                          <p:attrName>ppt_y</p:attrName>
                                        </p:attrNameLst>
                                      </p:cBhvr>
                                    </p:animMotion>
                                    <p:animScale zoomContents="1">
                                      <p:cBhvr>
                                        <p:cTn id="98" dur="700" fill="hold"/>
                                        <p:tgtEl>
                                          <p:spTgt spid="178"/>
                                        </p:tgtEl>
                                      </p:cBhvr>
                                      <p:from x="24591" y="24591"/>
                                      <p:to x="100000" y="100000"/>
                                    </p:animScale>
                                  </p:childTnLst>
                                </p:cTn>
                              </p:par>
                              <p:par>
                                <p:cTn id="99" presetID="10" presetClass="entr" presetSubtype="0" fill="hold" nodeType="withEffect">
                                  <p:stCondLst>
                                    <p:cond delay="0"/>
                                  </p:stCondLst>
                                  <p:childTnLst>
                                    <p:set>
                                      <p:cBhvr>
                                        <p:cTn id="100" dur="1" fill="hold">
                                          <p:stCondLst>
                                            <p:cond delay="0"/>
                                          </p:stCondLst>
                                        </p:cTn>
                                        <p:tgtEl>
                                          <p:spTgt spid="179"/>
                                        </p:tgtEl>
                                        <p:attrNameLst>
                                          <p:attrName>style.visibility</p:attrName>
                                        </p:attrNameLst>
                                      </p:cBhvr>
                                      <p:to>
                                        <p:strVal val="visible"/>
                                      </p:to>
                                    </p:set>
                                    <p:animEffect transition="in" filter="fade">
                                      <p:cBhvr>
                                        <p:cTn id="101" dur="400"/>
                                        <p:tgtEl>
                                          <p:spTgt spid="179"/>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50"/>
                                        </p:tgtEl>
                                        <p:attrNameLst>
                                          <p:attrName>style.visibility</p:attrName>
                                        </p:attrNameLst>
                                      </p:cBhvr>
                                      <p:to>
                                        <p:strVal val="visible"/>
                                      </p:to>
                                    </p:set>
                                    <p:animEffect transition="in" filter="fade">
                                      <p:cBhvr>
                                        <p:cTn id="106" dur="400"/>
                                        <p:tgtEl>
                                          <p:spTgt spid="50"/>
                                        </p:tgtEl>
                                      </p:cBhvr>
                                    </p:animEffect>
                                  </p:childTnLst>
                                </p:cTn>
                              </p:par>
                              <p:par>
                                <p:cTn id="107" presetID="10" presetClass="entr" presetSubtype="0" fill="hold" nodeType="withEffect">
                                  <p:stCondLst>
                                    <p:cond delay="0"/>
                                  </p:stCondLst>
                                  <p:childTnLst>
                                    <p:set>
                                      <p:cBhvr>
                                        <p:cTn id="108" dur="1" fill="hold">
                                          <p:stCondLst>
                                            <p:cond delay="0"/>
                                          </p:stCondLst>
                                        </p:cTn>
                                        <p:tgtEl>
                                          <p:spTgt spid="51"/>
                                        </p:tgtEl>
                                        <p:attrNameLst>
                                          <p:attrName>style.visibility</p:attrName>
                                        </p:attrNameLst>
                                      </p:cBhvr>
                                      <p:to>
                                        <p:strVal val="visible"/>
                                      </p:to>
                                    </p:set>
                                    <p:animEffect transition="in" filter="fade">
                                      <p:cBhvr>
                                        <p:cTn id="109" dur="400"/>
                                        <p:tgtEl>
                                          <p:spTgt spid="51"/>
                                        </p:tgtEl>
                                      </p:cBhvr>
                                    </p:animEffect>
                                  </p:childTnLst>
                                </p:cTn>
                              </p:par>
                              <p:par>
                                <p:cTn id="110" presetID="10" presetClass="entr" presetSubtype="0" fill="hold" nodeType="withEffect">
                                  <p:stCondLst>
                                    <p:cond delay="0"/>
                                  </p:stCondLst>
                                  <p:childTnLst>
                                    <p:set>
                                      <p:cBhvr>
                                        <p:cTn id="111" dur="1" fill="hold">
                                          <p:stCondLst>
                                            <p:cond delay="0"/>
                                          </p:stCondLst>
                                        </p:cTn>
                                        <p:tgtEl>
                                          <p:spTgt spid="52"/>
                                        </p:tgtEl>
                                        <p:attrNameLst>
                                          <p:attrName>style.visibility</p:attrName>
                                        </p:attrNameLst>
                                      </p:cBhvr>
                                      <p:to>
                                        <p:strVal val="visible"/>
                                      </p:to>
                                    </p:set>
                                    <p:animEffect transition="in" filter="fade">
                                      <p:cBhvr>
                                        <p:cTn id="112" dur="400"/>
                                        <p:tgtEl>
                                          <p:spTgt spid="52"/>
                                        </p:tgtEl>
                                      </p:cBhvr>
                                    </p:animEffect>
                                  </p:childTnLst>
                                </p:cTn>
                              </p:par>
                              <p:par>
                                <p:cTn id="113" presetID="10" presetClass="entr" presetSubtype="0" fill="hold" nodeType="withEffect">
                                  <p:stCondLst>
                                    <p:cond delay="0"/>
                                  </p:stCondLst>
                                  <p:childTnLst>
                                    <p:set>
                                      <p:cBhvr>
                                        <p:cTn id="114" dur="1" fill="hold">
                                          <p:stCondLst>
                                            <p:cond delay="0"/>
                                          </p:stCondLst>
                                        </p:cTn>
                                        <p:tgtEl>
                                          <p:spTgt spid="53"/>
                                        </p:tgtEl>
                                        <p:attrNameLst>
                                          <p:attrName>style.visibility</p:attrName>
                                        </p:attrNameLst>
                                      </p:cBhvr>
                                      <p:to>
                                        <p:strVal val="visible"/>
                                      </p:to>
                                    </p:set>
                                    <p:animEffect transition="in" filter="fade">
                                      <p:cBhvr>
                                        <p:cTn id="115" dur="400"/>
                                        <p:tgtEl>
                                          <p:spTgt spid="53"/>
                                        </p:tgtEl>
                                      </p:cBhvr>
                                    </p:animEffect>
                                  </p:childTnLst>
                                </p:cTn>
                              </p:par>
                              <p:par>
                                <p:cTn id="116" presetID="10" presetClass="entr" presetSubtype="0" fill="hold" nodeType="withEffect">
                                  <p:stCondLst>
                                    <p:cond delay="0"/>
                                  </p:stCondLst>
                                  <p:childTnLst>
                                    <p:set>
                                      <p:cBhvr>
                                        <p:cTn id="117" dur="1" fill="hold">
                                          <p:stCondLst>
                                            <p:cond delay="0"/>
                                          </p:stCondLst>
                                        </p:cTn>
                                        <p:tgtEl>
                                          <p:spTgt spid="174"/>
                                        </p:tgtEl>
                                        <p:attrNameLst>
                                          <p:attrName>style.visibility</p:attrName>
                                        </p:attrNameLst>
                                      </p:cBhvr>
                                      <p:to>
                                        <p:strVal val="visible"/>
                                      </p:to>
                                    </p:set>
                                    <p:animEffect transition="in" filter="fade">
                                      <p:cBhvr>
                                        <p:cTn id="118" dur="400"/>
                                        <p:tgtEl>
                                          <p:spTgt spid="174"/>
                                        </p:tgtEl>
                                      </p:cBhvr>
                                    </p:animEffect>
                                  </p:childTnLst>
                                </p:cTn>
                              </p:par>
                              <p:par>
                                <p:cTn id="119" presetID="10" presetClass="entr" presetSubtype="0" fill="hold" nodeType="withEffect">
                                  <p:stCondLst>
                                    <p:cond delay="0"/>
                                  </p:stCondLst>
                                  <p:childTnLst>
                                    <p:set>
                                      <p:cBhvr>
                                        <p:cTn id="120" dur="1" fill="hold">
                                          <p:stCondLst>
                                            <p:cond delay="0"/>
                                          </p:stCondLst>
                                        </p:cTn>
                                        <p:tgtEl>
                                          <p:spTgt spid="175"/>
                                        </p:tgtEl>
                                        <p:attrNameLst>
                                          <p:attrName>style.visibility</p:attrName>
                                        </p:attrNameLst>
                                      </p:cBhvr>
                                      <p:to>
                                        <p:strVal val="visible"/>
                                      </p:to>
                                    </p:set>
                                    <p:animEffect transition="in" filter="fade">
                                      <p:cBhvr>
                                        <p:cTn id="121" dur="400"/>
                                        <p:tgtEl>
                                          <p:spTgt spid="175"/>
                                        </p:tgtEl>
                                      </p:cBhvr>
                                    </p:animEffect>
                                  </p:childTnLst>
                                </p:cTn>
                              </p:par>
                              <p:par>
                                <p:cTn id="122" presetID="10" presetClass="entr" presetSubtype="0" fill="hold" nodeType="withEffect">
                                  <p:stCondLst>
                                    <p:cond delay="0"/>
                                  </p:stCondLst>
                                  <p:childTnLst>
                                    <p:set>
                                      <p:cBhvr>
                                        <p:cTn id="123" dur="1" fill="hold">
                                          <p:stCondLst>
                                            <p:cond delay="0"/>
                                          </p:stCondLst>
                                        </p:cTn>
                                        <p:tgtEl>
                                          <p:spTgt spid="176"/>
                                        </p:tgtEl>
                                        <p:attrNameLst>
                                          <p:attrName>style.visibility</p:attrName>
                                        </p:attrNameLst>
                                      </p:cBhvr>
                                      <p:to>
                                        <p:strVal val="visible"/>
                                      </p:to>
                                    </p:set>
                                    <p:animEffect transition="in" filter="fade">
                                      <p:cBhvr>
                                        <p:cTn id="124" dur="400"/>
                                        <p:tgtEl>
                                          <p:spTgt spid="176"/>
                                        </p:tgtEl>
                                      </p:cBhvr>
                                    </p:animEffect>
                                  </p:childTnLst>
                                </p:cTn>
                              </p:par>
                              <p:par>
                                <p:cTn id="125" presetID="10" presetClass="entr" presetSubtype="0" fill="hold" nodeType="withEffect">
                                  <p:stCondLst>
                                    <p:cond delay="0"/>
                                  </p:stCondLst>
                                  <p:childTnLst>
                                    <p:set>
                                      <p:cBhvr>
                                        <p:cTn id="126" dur="1" fill="hold">
                                          <p:stCondLst>
                                            <p:cond delay="0"/>
                                          </p:stCondLst>
                                        </p:cTn>
                                        <p:tgtEl>
                                          <p:spTgt spid="54"/>
                                        </p:tgtEl>
                                        <p:attrNameLst>
                                          <p:attrName>style.visibility</p:attrName>
                                        </p:attrNameLst>
                                      </p:cBhvr>
                                      <p:to>
                                        <p:strVal val="visible"/>
                                      </p:to>
                                    </p:set>
                                    <p:animEffect transition="in" filter="fade">
                                      <p:cBhvr>
                                        <p:cTn id="127" dur="200"/>
                                        <p:tgtEl>
                                          <p:spTgt spid="54"/>
                                        </p:tgtEl>
                                      </p:cBhvr>
                                    </p:animEffect>
                                    <p:animMotion origin="layout" pathEditMode="relative" path="M -0.23359375 0.00000000 L 0.00000000 0.00000000 E">
                                      <p:cBhvr>
                                        <p:cTn id="128" dur="700" fill="hold"/>
                                        <p:tgtEl>
                                          <p:spTgt spid="54"/>
                                        </p:tgtEl>
                                        <p:attrNameLst>
                                          <p:attrName>ppt_x</p:attrName>
                                          <p:attrName>ppt_y</p:attrName>
                                        </p:attrNameLst>
                                      </p:cBhvr>
                                    </p:animMotion>
                                    <p:animScale zoomContents="1">
                                      <p:cBhvr>
                                        <p:cTn id="129" dur="700" fill="hold"/>
                                        <p:tgtEl>
                                          <p:spTgt spid="54"/>
                                        </p:tgtEl>
                                      </p:cBhvr>
                                      <p:from x="12500" y="100000"/>
                                      <p:to x="100000" y="100000"/>
                                    </p:animScale>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nodeType="clickEffect">
                                  <p:stCondLst>
                                    <p:cond delay="0"/>
                                  </p:stCondLst>
                                  <p:childTnLst>
                                    <p:set>
                                      <p:cBhvr>
                                        <p:cTn id="133" dur="1" fill="hold">
                                          <p:stCondLst>
                                            <p:cond delay="0"/>
                                          </p:stCondLst>
                                        </p:cTn>
                                        <p:tgtEl>
                                          <p:spTgt spid="180"/>
                                        </p:tgtEl>
                                        <p:attrNameLst>
                                          <p:attrName>style.visibility</p:attrName>
                                        </p:attrNameLst>
                                      </p:cBhvr>
                                      <p:to>
                                        <p:strVal val="visible"/>
                                      </p:to>
                                    </p:set>
                                    <p:animEffect transition="in" filter="fade">
                                      <p:cBhvr>
                                        <p:cTn id="134" dur="200"/>
                                        <p:tgtEl>
                                          <p:spTgt spid="180"/>
                                        </p:tgtEl>
                                      </p:cBhvr>
                                    </p:animEffect>
                                    <p:animMotion origin="layout" pathEditMode="relative" path="M 0.55039067 -0.27499985 L 0.00000000 0.00000000 E">
                                      <p:cBhvr>
                                        <p:cTn id="135" dur="700" fill="hold"/>
                                        <p:tgtEl>
                                          <p:spTgt spid="180"/>
                                        </p:tgtEl>
                                        <p:attrNameLst>
                                          <p:attrName>ppt_x</p:attrName>
                                          <p:attrName>ppt_y</p:attrName>
                                        </p:attrNameLst>
                                      </p:cBhvr>
                                    </p:animMotion>
                                    <p:animScale zoomContents="1">
                                      <p:cBhvr>
                                        <p:cTn id="136" dur="700" fill="hold"/>
                                        <p:tgtEl>
                                          <p:spTgt spid="180"/>
                                        </p:tgtEl>
                                      </p:cBhvr>
                                      <p:from x="20637" y="20637"/>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3" grpId="0" animBg="1"/>
      <p:bldP spid="50" grpId="0" animBg="1"/>
    </p:bldLst>
  </p:timing>
</p:sld>
</file>

<file path=ppt/slides/methods_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fdm-ft-title">
            <ns0:hlinkClick xmlns:ns0="http://schemas.openxmlformats.org/drawingml/2006/main" xmlns:ns1="http://schemas.openxmlformats.org/officeDocument/2006/relationships" ns1:id="rIdmethods_Link38" action="ppaction://hlinksldjump"/>
            <a:extLst xmlns:a="http://schemas.openxmlformats.org/drawingml/2006/main">
              <a:ext uri="{FF2B5EF4-FFF2-40B4-BE49-F238E27FC236}">
                <a16:creationId xmlns:a16="http://schemas.microsoft.com/office/drawing/2014/main" id="{71D1E916-65D9-4823-BC34-A729E5010026}"/>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38" action="ppaction://hlinksldjump"/>
              </a:rPr>
              <a:t>FDM</a:t>
            </a:r>
          </a:p>
        </p:txBody>
      </p:sp>
      <p:sp>
        <p:nvSpPr>
          <p:cNvPr id="2" name="!!fdm-ft-subtitle">
            <a:extLst xmlns:a="http://schemas.openxmlformats.org/drawingml/2006/main">
              <a:ext uri="{FF2B5EF4-FFF2-40B4-BE49-F238E27FC236}">
                <a16:creationId xmlns:a16="http://schemas.microsoft.com/office/drawing/2014/main" id="{5E136B81-0AD8-412F-8DCF-BE5AF947B15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One modulated signal</a:t>
            </a:r>
          </a:p>
        </p:txBody>
      </p:sp>
      <p:sp>
        <p:nvSpPr>
          <p:cNvPr id="3" name="!!fdm-ft-route-tx-line">
            <a:extLst xmlns:a="http://schemas.openxmlformats.org/drawingml/2006/main">
              <a:ext uri="{FF2B5EF4-FFF2-40B4-BE49-F238E27FC236}">
                <a16:creationId xmlns:a16="http://schemas.microsoft.com/office/drawing/2014/main" id="{C7D2AE26-5F75-43FC-A66C-243F8C56D89F}"/>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fdm-ft-route-tx-head">
            <a:extLst xmlns:a="http://schemas.openxmlformats.org/drawingml/2006/main">
              <a:ext uri="{FF2B5EF4-FFF2-40B4-BE49-F238E27FC236}">
                <a16:creationId xmlns:a16="http://schemas.microsoft.com/office/drawing/2014/main" id="{85FA93B1-425D-457A-B21F-268A2161C0CB}"/>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fdm-ft-route-rx-line">
            <a:extLst xmlns:a="http://schemas.openxmlformats.org/drawingml/2006/main">
              <a:ext uri="{FF2B5EF4-FFF2-40B4-BE49-F238E27FC236}">
                <a16:creationId xmlns:a16="http://schemas.microsoft.com/office/drawing/2014/main" id="{9843D345-2383-4B55-A5BF-8CE4CD16E12C}"/>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fdm-ft-route-rx-head">
            <a:extLst xmlns:a="http://schemas.openxmlformats.org/drawingml/2006/main">
              <a:ext uri="{FF2B5EF4-FFF2-40B4-BE49-F238E27FC236}">
                <a16:creationId xmlns:a16="http://schemas.microsoft.com/office/drawing/2014/main" id="{785E2229-0D9E-4C61-9B5F-3331036D4E90}"/>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fdm-ft-ft-multiply-g0-r0-axis-line">
            <a:extLst xmlns:a="http://schemas.openxmlformats.org/drawingml/2006/main">
              <a:ext uri="{FF2B5EF4-FFF2-40B4-BE49-F238E27FC236}">
                <a16:creationId xmlns:a16="http://schemas.microsoft.com/office/drawing/2014/main" id="{51676E0B-937D-4E4F-8AA3-FE69EADCB856}"/>
              </a:ext>
            </a:extLst>
          </p:cNvPr>
          <p:cNvSpPr>
            <a:spLocks xmlns:a="http://schemas.openxmlformats.org/drawingml/2006/main" noGrp="1"/>
          </p:cNvSpPr>
          <p:nvPr/>
        </p:nvSpPr>
        <p:spPr>
          <a:xfrm xmlns:a="http://schemas.openxmlformats.org/drawingml/2006/main">
            <a:off x="571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fdm-ft-ft-multiply-g0-r0-axis-head">
            <a:extLst xmlns:a="http://schemas.openxmlformats.org/drawingml/2006/main">
              <a:ext uri="{FF2B5EF4-FFF2-40B4-BE49-F238E27FC236}">
                <a16:creationId xmlns:a16="http://schemas.microsoft.com/office/drawing/2014/main" id="{3ACF2952-BEA8-4F13-BD7B-D88B07BAB0F5}"/>
              </a:ext>
            </a:extLst>
          </p:cNvPr>
          <p:cNvSpPr>
            <a:spLocks xmlns:a="http://schemas.openxmlformats.org/drawingml/2006/main" noGrp="1"/>
          </p:cNvSpPr>
          <p:nvPr/>
        </p:nvSpPr>
        <p:spPr>
          <a:xfrm xmlns:a="http://schemas.openxmlformats.org/drawingml/2006/main" rot="5400000">
            <a:off x="3238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fdm-ft-ft-multiply-g0-r0-tick0">
            <a:extLst xmlns:a="http://schemas.openxmlformats.org/drawingml/2006/main">
              <a:ext uri="{FF2B5EF4-FFF2-40B4-BE49-F238E27FC236}">
                <a16:creationId xmlns:a16="http://schemas.microsoft.com/office/drawing/2014/main" id="{1889E111-A2D1-43CB-BC02-99AE655523B9}"/>
              </a:ext>
            </a:extLst>
          </p:cNvPr>
          <p:cNvSpPr>
            <a:spLocks xmlns:a="http://schemas.openxmlformats.org/drawingml/2006/main" noGrp="1"/>
          </p:cNvSpPr>
          <p:nvPr/>
        </p:nvSpPr>
        <p:spPr>
          <a:xfrm xmlns:a="http://schemas.openxmlformats.org/drawingml/2006/main">
            <a:off x="1344083"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fdm-ft-ft-multiply-g0-r0-tick1">
            <a:extLst xmlns:a="http://schemas.openxmlformats.org/drawingml/2006/main">
              <a:ext uri="{FF2B5EF4-FFF2-40B4-BE49-F238E27FC236}">
                <a16:creationId xmlns:a16="http://schemas.microsoft.com/office/drawing/2014/main" id="{43FC34C3-8FF5-4865-ADBE-7DFD4464106B}"/>
              </a:ext>
            </a:extLst>
          </p:cNvPr>
          <p:cNvSpPr>
            <a:spLocks xmlns:a="http://schemas.openxmlformats.org/drawingml/2006/main" noGrp="1"/>
          </p:cNvSpPr>
          <p:nvPr/>
        </p:nvSpPr>
        <p:spPr>
          <a:xfrm xmlns:a="http://schemas.openxmlformats.org/drawingml/2006/main">
            <a:off x="1962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fdm-ft-ft-multiply-g0-r0-tick2">
            <a:extLst xmlns:a="http://schemas.openxmlformats.org/drawingml/2006/main">
              <a:ext uri="{FF2B5EF4-FFF2-40B4-BE49-F238E27FC236}">
                <a16:creationId xmlns:a16="http://schemas.microsoft.com/office/drawing/2014/main" id="{FA5D59F6-C153-41E5-A3AE-C784D13B22C6}"/>
              </a:ext>
            </a:extLst>
          </p:cNvPr>
          <p:cNvSpPr>
            <a:spLocks xmlns:a="http://schemas.openxmlformats.org/drawingml/2006/main" noGrp="1"/>
          </p:cNvSpPr>
          <p:nvPr/>
        </p:nvSpPr>
        <p:spPr>
          <a:xfrm xmlns:a="http://schemas.openxmlformats.org/drawingml/2006/main">
            <a:off x="2580217"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fdm-ft-ft-multiply-g1-r0-axis-line">
            <a:extLst xmlns:a="http://schemas.openxmlformats.org/drawingml/2006/main">
              <a:ext uri="{FF2B5EF4-FFF2-40B4-BE49-F238E27FC236}">
                <a16:creationId xmlns:a16="http://schemas.microsoft.com/office/drawing/2014/main" id="{9BF89A50-3283-4580-B3E4-1ED23BD87289}"/>
              </a:ext>
            </a:extLst>
          </p:cNvPr>
          <p:cNvSpPr>
            <a:spLocks xmlns:a="http://schemas.openxmlformats.org/drawingml/2006/main" noGrp="1"/>
          </p:cNvSpPr>
          <p:nvPr/>
        </p:nvSpPr>
        <p:spPr>
          <a:xfrm xmlns:a="http://schemas.openxmlformats.org/drawingml/2006/main">
            <a:off x="45720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fdm-ft-ft-multiply-g1-r0-axis-head">
            <a:extLst xmlns:a="http://schemas.openxmlformats.org/drawingml/2006/main">
              <a:ext uri="{FF2B5EF4-FFF2-40B4-BE49-F238E27FC236}">
                <a16:creationId xmlns:a16="http://schemas.microsoft.com/office/drawing/2014/main" id="{53778590-A58A-4753-BAF6-1CADBA5FF4A2}"/>
              </a:ext>
            </a:extLst>
          </p:cNvPr>
          <p:cNvSpPr>
            <a:spLocks xmlns:a="http://schemas.openxmlformats.org/drawingml/2006/main" noGrp="1"/>
          </p:cNvSpPr>
          <p:nvPr/>
        </p:nvSpPr>
        <p:spPr>
          <a:xfrm xmlns:a="http://schemas.openxmlformats.org/drawingml/2006/main" rot="5400000">
            <a:off x="72390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4" name="!!fdm-ft-ft-multiply-g1-r0-tick0">
            <a:extLst xmlns:a="http://schemas.openxmlformats.org/drawingml/2006/main">
              <a:ext uri="{FF2B5EF4-FFF2-40B4-BE49-F238E27FC236}">
                <a16:creationId xmlns:a16="http://schemas.microsoft.com/office/drawing/2014/main" id="{F2235B0F-E875-4475-AC8D-1AF3B0351BA8}"/>
              </a:ext>
            </a:extLst>
          </p:cNvPr>
          <p:cNvSpPr>
            <a:spLocks xmlns:a="http://schemas.openxmlformats.org/drawingml/2006/main" noGrp="1"/>
          </p:cNvSpPr>
          <p:nvPr/>
        </p:nvSpPr>
        <p:spPr>
          <a:xfrm xmlns:a="http://schemas.openxmlformats.org/drawingml/2006/main">
            <a:off x="50355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fdm-ft-ft-multiply-g1-r0-tick1">
            <a:extLst xmlns:a="http://schemas.openxmlformats.org/drawingml/2006/main">
              <a:ext uri="{FF2B5EF4-FFF2-40B4-BE49-F238E27FC236}">
                <a16:creationId xmlns:a16="http://schemas.microsoft.com/office/drawing/2014/main" id="{BB4768F8-556E-4C7B-9E92-09BF236BBE9A}"/>
              </a:ext>
            </a:extLst>
          </p:cNvPr>
          <p:cNvSpPr>
            <a:spLocks xmlns:a="http://schemas.openxmlformats.org/drawingml/2006/main" noGrp="1"/>
          </p:cNvSpPr>
          <p:nvPr/>
        </p:nvSpPr>
        <p:spPr>
          <a:xfrm xmlns:a="http://schemas.openxmlformats.org/drawingml/2006/main">
            <a:off x="5653617"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fdm-ft-ft-multiply-g1-r0-tick2">
            <a:extLst xmlns:a="http://schemas.openxmlformats.org/drawingml/2006/main">
              <a:ext uri="{FF2B5EF4-FFF2-40B4-BE49-F238E27FC236}">
                <a16:creationId xmlns:a16="http://schemas.microsoft.com/office/drawing/2014/main" id="{2EBE7F21-3A96-4EA9-8590-BA89BE54F4C4}"/>
              </a:ext>
            </a:extLst>
          </p:cNvPr>
          <p:cNvSpPr>
            <a:spLocks xmlns:a="http://schemas.openxmlformats.org/drawingml/2006/main" noGrp="1"/>
          </p:cNvSpPr>
          <p:nvPr/>
        </p:nvSpPr>
        <p:spPr>
          <a:xfrm xmlns:a="http://schemas.openxmlformats.org/drawingml/2006/main">
            <a:off x="59626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fdm-ft-ft-multiply-g1-r0-tick3">
            <a:extLst xmlns:a="http://schemas.openxmlformats.org/drawingml/2006/main">
              <a:ext uri="{FF2B5EF4-FFF2-40B4-BE49-F238E27FC236}">
                <a16:creationId xmlns:a16="http://schemas.microsoft.com/office/drawing/2014/main" id="{6621ACB0-512E-47A2-8261-8D732A4DB269}"/>
              </a:ext>
            </a:extLst>
          </p:cNvPr>
          <p:cNvSpPr>
            <a:spLocks xmlns:a="http://schemas.openxmlformats.org/drawingml/2006/main" noGrp="1"/>
          </p:cNvSpPr>
          <p:nvPr/>
        </p:nvSpPr>
        <p:spPr>
          <a:xfrm xmlns:a="http://schemas.openxmlformats.org/drawingml/2006/main">
            <a:off x="6271683"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fdm-ft-ft-multiply-g1-r0-tick4">
            <a:extLst xmlns:a="http://schemas.openxmlformats.org/drawingml/2006/main">
              <a:ext uri="{FF2B5EF4-FFF2-40B4-BE49-F238E27FC236}">
                <a16:creationId xmlns:a16="http://schemas.microsoft.com/office/drawing/2014/main" id="{42369695-85FB-4666-96F3-EA518A3EC6D3}"/>
              </a:ext>
            </a:extLst>
          </p:cNvPr>
          <p:cNvSpPr>
            <a:spLocks xmlns:a="http://schemas.openxmlformats.org/drawingml/2006/main" noGrp="1"/>
          </p:cNvSpPr>
          <p:nvPr/>
        </p:nvSpPr>
        <p:spPr>
          <a:xfrm xmlns:a="http://schemas.openxmlformats.org/drawingml/2006/main">
            <a:off x="68897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fdm-ft-ft-multiply-g2-r0-axis-line">
            <a:extLst xmlns:a="http://schemas.openxmlformats.org/drawingml/2006/main">
              <a:ext uri="{FF2B5EF4-FFF2-40B4-BE49-F238E27FC236}">
                <a16:creationId xmlns:a16="http://schemas.microsoft.com/office/drawing/2014/main" id="{CFD9E774-7AB5-4E3E-A27A-8E37E029B4BF}"/>
              </a:ext>
            </a:extLst>
          </p:cNvPr>
          <p:cNvSpPr>
            <a:spLocks xmlns:a="http://schemas.openxmlformats.org/drawingml/2006/main" noGrp="1"/>
          </p:cNvSpPr>
          <p:nvPr/>
        </p:nvSpPr>
        <p:spPr>
          <a:xfrm xmlns:a="http://schemas.openxmlformats.org/drawingml/2006/main">
            <a:off x="8572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fdm-ft-ft-multiply-g2-r0-axis-head">
            <a:extLst xmlns:a="http://schemas.openxmlformats.org/drawingml/2006/main">
              <a:ext uri="{FF2B5EF4-FFF2-40B4-BE49-F238E27FC236}">
                <a16:creationId xmlns:a16="http://schemas.microsoft.com/office/drawing/2014/main" id="{31DE49F7-2931-4CA6-A6EC-9CC20367AE33}"/>
              </a:ext>
            </a:extLst>
          </p:cNvPr>
          <p:cNvSpPr>
            <a:spLocks xmlns:a="http://schemas.openxmlformats.org/drawingml/2006/main" noGrp="1"/>
          </p:cNvSpPr>
          <p:nvPr/>
        </p:nvSpPr>
        <p:spPr>
          <a:xfrm xmlns:a="http://schemas.openxmlformats.org/drawingml/2006/main" rot="5400000">
            <a:off x="11239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1" name="!!fdm-ft-ft-multiply-g2-r0-tick0">
            <a:extLst xmlns:a="http://schemas.openxmlformats.org/drawingml/2006/main">
              <a:ext uri="{FF2B5EF4-FFF2-40B4-BE49-F238E27FC236}">
                <a16:creationId xmlns:a16="http://schemas.microsoft.com/office/drawing/2014/main" id="{D0676E57-98F9-4B32-A715-E0B612781867}"/>
              </a:ext>
            </a:extLst>
          </p:cNvPr>
          <p:cNvSpPr>
            <a:spLocks xmlns:a="http://schemas.openxmlformats.org/drawingml/2006/main" noGrp="1"/>
          </p:cNvSpPr>
          <p:nvPr/>
        </p:nvSpPr>
        <p:spPr>
          <a:xfrm xmlns:a="http://schemas.openxmlformats.org/drawingml/2006/main">
            <a:off x="9654117"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fdm-ft-ft-multiply-g2-r0-tick1">
            <a:extLst xmlns:a="http://schemas.openxmlformats.org/drawingml/2006/main">
              <a:ext uri="{FF2B5EF4-FFF2-40B4-BE49-F238E27FC236}">
                <a16:creationId xmlns:a16="http://schemas.microsoft.com/office/drawing/2014/main" id="{9CDD8F22-1733-4652-A218-A95DBDC4BB54}"/>
              </a:ext>
            </a:extLst>
          </p:cNvPr>
          <p:cNvSpPr>
            <a:spLocks xmlns:a="http://schemas.openxmlformats.org/drawingml/2006/main" noGrp="1"/>
          </p:cNvSpPr>
          <p:nvPr/>
        </p:nvSpPr>
        <p:spPr>
          <a:xfrm xmlns:a="http://schemas.openxmlformats.org/drawingml/2006/main">
            <a:off x="9963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fdm-ft-ft-multiply-g2-r0-tick2">
            <a:extLst xmlns:a="http://schemas.openxmlformats.org/drawingml/2006/main">
              <a:ext uri="{FF2B5EF4-FFF2-40B4-BE49-F238E27FC236}">
                <a16:creationId xmlns:a16="http://schemas.microsoft.com/office/drawing/2014/main" id="{6720FD17-54BD-41F9-BEA7-AADB5EA10E1F}"/>
              </a:ext>
            </a:extLst>
          </p:cNvPr>
          <p:cNvSpPr>
            <a:spLocks xmlns:a="http://schemas.openxmlformats.org/drawingml/2006/main" noGrp="1"/>
          </p:cNvSpPr>
          <p:nvPr/>
        </p:nvSpPr>
        <p:spPr>
          <a:xfrm xmlns:a="http://schemas.openxmlformats.org/drawingml/2006/main">
            <a:off x="10272183"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fdm-ft-ft-multiply-g0-bn">
            <a:extLst xmlns:a="http://schemas.openxmlformats.org/drawingml/2006/main">
              <a:ext uri="{FF2B5EF4-FFF2-40B4-BE49-F238E27FC236}">
                <a16:creationId xmlns:a16="http://schemas.microsoft.com/office/drawing/2014/main" id="{761A926F-9F29-43F8-911C-471518C4CF7F}"/>
              </a:ext>
            </a:extLst>
          </p:cNvPr>
          <p:cNvSpPr>
            <a:spLocks xmlns:a="http://schemas.openxmlformats.org/drawingml/2006/main" noGrp="1"/>
          </p:cNvSpPr>
          <p:nvPr/>
        </p:nvSpPr>
        <p:spPr>
          <a:xfrm xmlns:a="http://schemas.openxmlformats.org/drawingml/2006/main">
            <a:off x="1266825"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5" name="!!fdm-ft-ft-multiply-g0-bp">
            <a:extLst xmlns:a="http://schemas.openxmlformats.org/drawingml/2006/main">
              <a:ext uri="{FF2B5EF4-FFF2-40B4-BE49-F238E27FC236}">
                <a16:creationId xmlns:a16="http://schemas.microsoft.com/office/drawing/2014/main" id="{5FA8F9C2-5C6E-422B-8623-2D2A144B7BEF}"/>
              </a:ext>
            </a:extLst>
          </p:cNvPr>
          <p:cNvSpPr>
            <a:spLocks xmlns:a="http://schemas.openxmlformats.org/drawingml/2006/main" noGrp="1"/>
          </p:cNvSpPr>
          <p:nvPr/>
        </p:nvSpPr>
        <p:spPr>
          <a:xfrm xmlns:a="http://schemas.openxmlformats.org/drawingml/2006/main">
            <a:off x="2502958"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6" name="!!fdm-ft-ft-multiply-arrow-line">
            <a:extLst xmlns:a="http://schemas.openxmlformats.org/drawingml/2006/main">
              <a:ext uri="{FF2B5EF4-FFF2-40B4-BE49-F238E27FC236}">
                <a16:creationId xmlns:a16="http://schemas.microsoft.com/office/drawing/2014/main" id="{3BFCE574-9F1F-410C-B72B-291C4F06753B}"/>
              </a:ext>
            </a:extLst>
          </p:cNvPr>
          <p:cNvSpPr>
            <a:spLocks xmlns:a="http://schemas.openxmlformats.org/drawingml/2006/main" noGrp="1"/>
          </p:cNvSpPr>
          <p:nvPr/>
        </p:nvSpPr>
        <p:spPr>
          <a:xfrm xmlns:a="http://schemas.openxmlformats.org/drawingml/2006/main">
            <a:off x="3581400" y="363855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7" name="!!fdm-ft-ft-multiply-arrow-head">
            <a:extLst xmlns:a="http://schemas.openxmlformats.org/drawingml/2006/main">
              <a:ext uri="{FF2B5EF4-FFF2-40B4-BE49-F238E27FC236}">
                <a16:creationId xmlns:a16="http://schemas.microsoft.com/office/drawing/2014/main" id="{795A61E1-CFC2-4222-906D-02A960A0595F}"/>
              </a:ext>
            </a:extLst>
          </p:cNvPr>
          <p:cNvSpPr>
            <a:spLocks xmlns:a="http://schemas.openxmlformats.org/drawingml/2006/main" noGrp="1"/>
          </p:cNvSpPr>
          <p:nvPr/>
        </p:nvSpPr>
        <p:spPr>
          <a:xfrm xmlns:a="http://schemas.openxmlformats.org/drawingml/2006/main" rot="5400000">
            <a:off x="4229100" y="359092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8" name="!!fdm-ft-ft-multiply-g1-lon">
            <a:extLst xmlns:a="http://schemas.openxmlformats.org/drawingml/2006/main">
              <a:ext uri="{FF2B5EF4-FFF2-40B4-BE49-F238E27FC236}">
                <a16:creationId xmlns:a16="http://schemas.microsoft.com/office/drawing/2014/main" id="{E6F71BB8-4F7F-49FD-997B-54AECA6FCC70}"/>
              </a:ext>
            </a:extLst>
          </p:cNvPr>
          <p:cNvSpPr>
            <a:spLocks xmlns:a="http://schemas.openxmlformats.org/drawingml/2006/main" noGrp="1"/>
          </p:cNvSpPr>
          <p:nvPr/>
        </p:nvSpPr>
        <p:spPr>
          <a:xfrm xmlns:a="http://schemas.openxmlformats.org/drawingml/2006/main">
            <a:off x="5576358"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9" name="!!fdm-ft-ft-multiply-g1-lop">
            <a:extLst xmlns:a="http://schemas.openxmlformats.org/drawingml/2006/main">
              <a:ext uri="{FF2B5EF4-FFF2-40B4-BE49-F238E27FC236}">
                <a16:creationId xmlns:a16="http://schemas.microsoft.com/office/drawing/2014/main" id="{4230D331-0F62-4038-B20D-6EFF24119F30}"/>
              </a:ext>
            </a:extLst>
          </p:cNvPr>
          <p:cNvSpPr>
            <a:spLocks xmlns:a="http://schemas.openxmlformats.org/drawingml/2006/main" noGrp="1"/>
          </p:cNvSpPr>
          <p:nvPr/>
        </p:nvSpPr>
        <p:spPr>
          <a:xfrm xmlns:a="http://schemas.openxmlformats.org/drawingml/2006/main">
            <a:off x="6194425"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30" name="!!fdm-ft-ft-multiply-g1-hin">
            <a:extLst xmlns:a="http://schemas.openxmlformats.org/drawingml/2006/main">
              <a:ext uri="{FF2B5EF4-FFF2-40B4-BE49-F238E27FC236}">
                <a16:creationId xmlns:a16="http://schemas.microsoft.com/office/drawing/2014/main" id="{8F6464CD-2271-4D5B-B7C0-089A9062656B}"/>
              </a:ext>
            </a:extLst>
          </p:cNvPr>
          <p:cNvSpPr>
            <a:spLocks xmlns:a="http://schemas.openxmlformats.org/drawingml/2006/main" noGrp="1"/>
          </p:cNvSpPr>
          <p:nvPr/>
        </p:nvSpPr>
        <p:spPr>
          <a:xfrm xmlns:a="http://schemas.openxmlformats.org/drawingml/2006/main">
            <a:off x="4958292"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BBBBBB"/>
          </a:solidFill>
          <a:ln xmlns:a="http://schemas.openxmlformats.org/drawingml/2006/main" w="10478">
            <a:solidFill>
              <a:srgbClr val="202020"/>
            </a:solidFill>
          </a:ln>
        </p:spPr>
      </p:sp>
      <p:sp>
        <p:nvSpPr>
          <p:cNvPr id="31" name="!!fdm-ft-ft-multiply-g1-hip">
            <a:extLst xmlns:a="http://schemas.openxmlformats.org/drawingml/2006/main">
              <a:ext uri="{FF2B5EF4-FFF2-40B4-BE49-F238E27FC236}">
                <a16:creationId xmlns:a16="http://schemas.microsoft.com/office/drawing/2014/main" id="{B3831A6D-43E4-4176-9402-DC5E1A0D1FD3}"/>
              </a:ext>
            </a:extLst>
          </p:cNvPr>
          <p:cNvSpPr>
            <a:spLocks xmlns:a="http://schemas.openxmlformats.org/drawingml/2006/main" noGrp="1"/>
          </p:cNvSpPr>
          <p:nvPr/>
        </p:nvSpPr>
        <p:spPr>
          <a:xfrm xmlns:a="http://schemas.openxmlformats.org/drawingml/2006/main">
            <a:off x="6812492"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BBBBBB"/>
          </a:solidFill>
          <a:ln xmlns:a="http://schemas.openxmlformats.org/drawingml/2006/main" w="10478">
            <a:solidFill>
              <a:srgbClr val="202020"/>
            </a:solidFill>
          </a:ln>
        </p:spPr>
      </p:sp>
      <p:sp>
        <p:nvSpPr>
          <p:cNvPr id="32" name="!!fdm-ft-ft-down-arrow-line">
            <a:extLst xmlns:a="http://schemas.openxmlformats.org/drawingml/2006/main">
              <a:ext uri="{FF2B5EF4-FFF2-40B4-BE49-F238E27FC236}">
                <a16:creationId xmlns:a16="http://schemas.microsoft.com/office/drawing/2014/main" id="{7D193441-8F85-4056-8E96-7A0459B06981}"/>
              </a:ext>
            </a:extLst>
          </p:cNvPr>
          <p:cNvSpPr>
            <a:spLocks xmlns:a="http://schemas.openxmlformats.org/drawingml/2006/main" noGrp="1"/>
          </p:cNvSpPr>
          <p:nvPr/>
        </p:nvSpPr>
        <p:spPr>
          <a:xfrm xmlns:a="http://schemas.openxmlformats.org/drawingml/2006/main">
            <a:off x="7581900" y="363855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3" name="!!fdm-ft-ft-down-arrow-head">
            <a:extLst xmlns:a="http://schemas.openxmlformats.org/drawingml/2006/main">
              <a:ext uri="{FF2B5EF4-FFF2-40B4-BE49-F238E27FC236}">
                <a16:creationId xmlns:a16="http://schemas.microsoft.com/office/drawing/2014/main" id="{7EF29E29-2DF4-47E8-B03D-7EDA93BD7C23}"/>
              </a:ext>
            </a:extLst>
          </p:cNvPr>
          <p:cNvSpPr>
            <a:spLocks xmlns:a="http://schemas.openxmlformats.org/drawingml/2006/main" noGrp="1"/>
          </p:cNvSpPr>
          <p:nvPr/>
        </p:nvSpPr>
        <p:spPr>
          <a:xfrm xmlns:a="http://schemas.openxmlformats.org/drawingml/2006/main" rot="5400000">
            <a:off x="8229600" y="359092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4" name="!!fdm-ft-ft-down-label">
            <a:extLst xmlns:a="http://schemas.openxmlformats.org/drawingml/2006/main">
              <a:ext uri="{FF2B5EF4-FFF2-40B4-BE49-F238E27FC236}">
                <a16:creationId xmlns:a16="http://schemas.microsoft.com/office/drawing/2014/main" id="{D0FA2A30-9EA6-4FE9-83E6-1974A946BB94}"/>
              </a:ext>
            </a:extLst>
          </p:cNvPr>
          <p:cNvSpPr>
            <a:spLocks xmlns:a="http://schemas.openxmlformats.org/drawingml/2006/main" noGrp="1"/>
          </p:cNvSpPr>
          <p:nvPr/>
        </p:nvSpPr>
        <p:spPr>
          <a:xfrm xmlns:a="http://schemas.openxmlformats.org/drawingml/2006/main">
            <a:off x="7058025" y="32766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BPF</a:t>
            </a:r>
          </a:p>
        </p:txBody>
      </p:sp>
      <p:sp>
        <p:nvSpPr>
          <p:cNvPr id="35" name="!!fdm-ft-ft-multiply-g1-r0-filter0">
            <a:extLst xmlns:a="http://schemas.openxmlformats.org/drawingml/2006/main">
              <a:ext uri="{FF2B5EF4-FFF2-40B4-BE49-F238E27FC236}">
                <a16:creationId xmlns:a16="http://schemas.microsoft.com/office/drawing/2014/main" id="{4EF13C93-5BE3-4B01-BF79-E762DD8FE17E}"/>
              </a:ext>
            </a:extLst>
          </p:cNvPr>
          <p:cNvSpPr>
            <a:spLocks xmlns:a="http://schemas.openxmlformats.org/drawingml/2006/main" noGrp="1"/>
          </p:cNvSpPr>
          <p:nvPr/>
        </p:nvSpPr>
        <p:spPr>
          <a:xfrm xmlns:a="http://schemas.openxmlformats.org/drawingml/2006/main">
            <a:off x="5576358" y="3452813"/>
            <a:ext cx="154517" cy="471488"/>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6" name="!!fdm-ft-ft-multiply-g1-r0-filter1">
            <a:extLst xmlns:a="http://schemas.openxmlformats.org/drawingml/2006/main">
              <a:ext uri="{FF2B5EF4-FFF2-40B4-BE49-F238E27FC236}">
                <a16:creationId xmlns:a16="http://schemas.microsoft.com/office/drawing/2014/main" id="{E5654FC8-8868-4898-8051-B307CBCA37E3}"/>
              </a:ext>
            </a:extLst>
          </p:cNvPr>
          <p:cNvSpPr>
            <a:spLocks xmlns:a="http://schemas.openxmlformats.org/drawingml/2006/main" noGrp="1"/>
          </p:cNvSpPr>
          <p:nvPr/>
        </p:nvSpPr>
        <p:spPr>
          <a:xfrm xmlns:a="http://schemas.openxmlformats.org/drawingml/2006/main">
            <a:off x="6194425" y="3452813"/>
            <a:ext cx="154517" cy="471488"/>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7" name="!!fdm-ft-ft-multiply-g2-bn">
            <a:extLst xmlns:a="http://schemas.openxmlformats.org/drawingml/2006/main">
              <a:ext uri="{FF2B5EF4-FFF2-40B4-BE49-F238E27FC236}">
                <a16:creationId xmlns:a16="http://schemas.microsoft.com/office/drawing/2014/main" id="{653CBDA9-CD4F-4DA7-BD6C-007AD2EAF473}"/>
              </a:ext>
            </a:extLst>
          </p:cNvPr>
          <p:cNvSpPr>
            <a:spLocks xmlns:a="http://schemas.openxmlformats.org/drawingml/2006/main" noGrp="1"/>
          </p:cNvSpPr>
          <p:nvPr/>
        </p:nvSpPr>
        <p:spPr>
          <a:xfrm xmlns:a="http://schemas.openxmlformats.org/drawingml/2006/main">
            <a:off x="9576858"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38" name="!!fdm-ft-ft-multiply-g2-bp">
            <a:extLst xmlns:a="http://schemas.openxmlformats.org/drawingml/2006/main">
              <a:ext uri="{FF2B5EF4-FFF2-40B4-BE49-F238E27FC236}">
                <a16:creationId xmlns:a16="http://schemas.microsoft.com/office/drawing/2014/main" id="{E83BE4B5-281B-4774-84ED-3B3DAB2E79EE}"/>
              </a:ext>
            </a:extLst>
          </p:cNvPr>
          <p:cNvSpPr>
            <a:spLocks xmlns:a="http://schemas.openxmlformats.org/drawingml/2006/main" noGrp="1"/>
          </p:cNvSpPr>
          <p:nvPr/>
        </p:nvSpPr>
        <p:spPr>
          <a:xfrm xmlns:a="http://schemas.openxmlformats.org/drawingml/2006/main">
            <a:off x="10194925"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pic>
        <p:nvPicPr>
          <p:cNvPr id="104" name="!!fdm-ft-route-m" descr="m(t)">
            <ns0:hlinkClick xmlns:ns0="http://schemas.openxmlformats.org/drawingml/2006/main" xmlns:ns1="http://schemas.openxmlformats.org/officeDocument/2006/relationships" ns1:id="rIdmethods_Link3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51df0a57a22243d4">
            <a:extLst>
              <a:ext uri="{96DAC541-7B7A-43D3-8B79-37D633B846F1}">
                <ns0:svgBlip xmlns:ns0="http://schemas.microsoft.com/office/drawing/2016/SVG/main" r:embed="rIdVectormf00187"/>
              </a:ext>
            </a:extLst>
          </a:blip>
          <a:stretch xmlns:a="http://schemas.openxmlformats.org/drawingml/2006/main"/>
        </p:blipFill>
        <p:spPr>
          <a:xfrm xmlns:a="http://schemas.openxmlformats.org/drawingml/2006/main">
            <a:off x="2159318" y="1181100"/>
            <a:ext cx="920115" cy="400050"/>
          </a:xfrm>
          <a:prstGeom xmlns:a="http://schemas.openxmlformats.org/drawingml/2006/main" prst="rect">
            <a:avLst/>
          </a:prstGeom>
        </p:spPr>
      </p:pic>
      <p:pic>
        <p:nvPicPr>
          <p:cNvPr id="105" name="!!fdm-ft-route-s" descr="s_1(t)">
            <ns0:hlinkClick xmlns:ns0="http://schemas.openxmlformats.org/drawingml/2006/main" xmlns:ns1="http://schemas.openxmlformats.org/officeDocument/2006/relationships" ns1:id="rIdmethods_Link40"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8c5826100238416a">
            <a:extLst>
              <a:ext uri="{96DAC541-7B7A-43D3-8B79-37D633B846F1}">
                <ns1:svgBlip xmlns:ns1="http://schemas.microsoft.com/office/drawing/2016/SVG/main" r:embed="rIdVectormf00188"/>
              </a:ext>
            </a:extLst>
          </a:blip>
          <a:stretch xmlns:a="http://schemas.openxmlformats.org/drawingml/2006/main"/>
        </p:blipFill>
        <p:spPr>
          <a:xfrm xmlns:a="http://schemas.openxmlformats.org/drawingml/2006/main">
            <a:off x="5635943" y="1181100"/>
            <a:ext cx="920115" cy="400050"/>
          </a:xfrm>
          <a:prstGeom xmlns:a="http://schemas.openxmlformats.org/drawingml/2006/main" prst="rect">
            <a:avLst/>
          </a:prstGeom>
        </p:spPr>
      </p:pic>
      <p:pic>
        <p:nvPicPr>
          <p:cNvPr id="106" name="!!fdm-ft-route-restored" descr="m(t)">
            <ns0:hlinkClick xmlns:ns0="http://schemas.openxmlformats.org/drawingml/2006/main" xmlns:ns1="http://schemas.openxmlformats.org/officeDocument/2006/relationships" ns1:id="rIdmethods_Link4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0b5420481bf949bc">
            <a:extLst>
              <a:ext uri="{96DAC541-7B7A-43D3-8B79-37D633B846F1}">
                <ns2:svgBlip xmlns:ns2="http://schemas.microsoft.com/office/drawing/2016/SVG/main" r:embed="rIdVectormf00189"/>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107" name="!!fdm-ft-ft-multiply-g0-r0-domain" descr="f"/>
          <p:cNvPicPr>
            <a:picLocks xmlns:a="http://schemas.openxmlformats.org/drawingml/2006/main" noChangeAspect="1"/>
          </p:cNvPicPr>
          <p:nvPr/>
        </p:nvPicPr>
        <p:blipFill>
          <a:blip xmlns:r="http://schemas.openxmlformats.org/officeDocument/2006/relationships" xmlns:a="http://schemas.openxmlformats.org/drawingml/2006/main" r:embed="Rc0a0d98de87e41ca">
            <a:extLst>
              <a:ext uri="{96DAC541-7B7A-43D3-8B79-37D633B846F1}">
                <ns3:svgBlip xmlns:ns3="http://schemas.microsoft.com/office/drawing/2016/SVG/main" r:embed="rIdVectormf00190"/>
              </a:ext>
            </a:extLst>
          </a:blip>
          <a:stretch xmlns:a="http://schemas.openxmlformats.org/drawingml/2006/main"/>
        </p:blipFill>
        <p:spPr>
          <a:xfrm xmlns:a="http://schemas.openxmlformats.org/drawingml/2006/main">
            <a:off x="3374873" y="3597593"/>
            <a:ext cx="79678" cy="120015"/>
          </a:xfrm>
          <a:prstGeom xmlns:a="http://schemas.openxmlformats.org/drawingml/2006/main" prst="rect">
            <a:avLst/>
          </a:prstGeom>
        </p:spPr>
      </p:pic>
      <p:pic>
        <p:nvPicPr>
          <p:cNvPr id="108" name="!!fdm-ft-ft-multiply-g0-r0-ticklabel0" descr="-f_1"/>
          <p:cNvPicPr>
            <a:picLocks xmlns:a="http://schemas.openxmlformats.org/drawingml/2006/main" noChangeAspect="1"/>
          </p:cNvPicPr>
          <p:nvPr/>
        </p:nvPicPr>
        <p:blipFill>
          <a:blip xmlns:r="http://schemas.openxmlformats.org/officeDocument/2006/relationships" xmlns:a="http://schemas.openxmlformats.org/drawingml/2006/main" r:embed="R6c902b2d9e1f442b">
            <a:extLst>
              <a:ext uri="{96DAC541-7B7A-43D3-8B79-37D633B846F1}">
                <ns4:svgBlip xmlns:ns4="http://schemas.microsoft.com/office/drawing/2016/SVG/main" r:embed="rIdVectormf00191"/>
              </a:ext>
            </a:extLst>
          </a:blip>
          <a:stretch xmlns:a="http://schemas.openxmlformats.org/drawingml/2006/main"/>
        </p:blipFill>
        <p:spPr>
          <a:xfrm xmlns:a="http://schemas.openxmlformats.org/drawingml/2006/main">
            <a:off x="1206061" y="3931920"/>
            <a:ext cx="276045" cy="137160"/>
          </a:xfrm>
          <a:prstGeom xmlns:a="http://schemas.openxmlformats.org/drawingml/2006/main" prst="rect">
            <a:avLst/>
          </a:prstGeom>
        </p:spPr>
      </p:pic>
      <p:pic>
        <p:nvPicPr>
          <p:cNvPr id="109" name="!!fdm-ft-ft-multiply-g0-r0-ticklabel1" descr="0"/>
          <p:cNvPicPr>
            <a:picLocks xmlns:a="http://schemas.openxmlformats.org/drawingml/2006/main" noChangeAspect="1"/>
          </p:cNvPicPr>
          <p:nvPr/>
        </p:nvPicPr>
        <p:blipFill>
          <a:blip xmlns:r="http://schemas.openxmlformats.org/officeDocument/2006/relationships" xmlns:a="http://schemas.openxmlformats.org/drawingml/2006/main" r:embed="R613558a9710e44fe">
            <a:extLst>
              <a:ext uri="{96DAC541-7B7A-43D3-8B79-37D633B846F1}">
                <ns5:svgBlip xmlns:ns5="http://schemas.microsoft.com/office/drawing/2016/SVG/main" r:embed="rIdVectormf00192"/>
              </a:ext>
            </a:extLst>
          </a:blip>
          <a:stretch xmlns:a="http://schemas.openxmlformats.org/drawingml/2006/main"/>
        </p:blipFill>
        <p:spPr>
          <a:xfrm xmlns:a="http://schemas.openxmlformats.org/drawingml/2006/main">
            <a:off x="1916175" y="3949065"/>
            <a:ext cx="91951" cy="102870"/>
          </a:xfrm>
          <a:prstGeom xmlns:a="http://schemas.openxmlformats.org/drawingml/2006/main" prst="rect">
            <a:avLst/>
          </a:prstGeom>
        </p:spPr>
      </p:pic>
      <p:pic>
        <p:nvPicPr>
          <p:cNvPr id="110" name="!!fdm-ft-ft-multiply-g0-r0-ticklabel2" descr="f_1"/>
          <p:cNvPicPr>
            <a:picLocks xmlns:a="http://schemas.openxmlformats.org/drawingml/2006/main" noChangeAspect="1"/>
          </p:cNvPicPr>
          <p:nvPr/>
        </p:nvPicPr>
        <p:blipFill>
          <a:blip xmlns:r="http://schemas.openxmlformats.org/officeDocument/2006/relationships" xmlns:a="http://schemas.openxmlformats.org/drawingml/2006/main" r:embed="R59b605cea55347c5">
            <a:extLst>
              <a:ext uri="{96DAC541-7B7A-43D3-8B79-37D633B846F1}">
                <ns6:svgBlip xmlns:ns6="http://schemas.microsoft.com/office/drawing/2016/SVG/main" r:embed="rIdVectormf00193"/>
              </a:ext>
            </a:extLst>
          </a:blip>
          <a:stretch xmlns:a="http://schemas.openxmlformats.org/drawingml/2006/main"/>
        </p:blipFill>
        <p:spPr>
          <a:xfrm xmlns:a="http://schemas.openxmlformats.org/drawingml/2006/main">
            <a:off x="2514902" y="3931920"/>
            <a:ext cx="130629" cy="137160"/>
          </a:xfrm>
          <a:prstGeom xmlns:a="http://schemas.openxmlformats.org/drawingml/2006/main" prst="rect">
            <a:avLst/>
          </a:prstGeom>
        </p:spPr>
      </p:pic>
      <p:pic>
        <p:nvPicPr>
          <p:cNvPr id="111" name="!!fdm-ft-ft-multiply-g0-r0-label" descr="\textstyle S_1(f)"/>
          <p:cNvPicPr>
            <a:picLocks xmlns:a="http://schemas.openxmlformats.org/drawingml/2006/main" noChangeAspect="1"/>
          </p:cNvPicPr>
          <p:nvPr/>
        </p:nvPicPr>
        <p:blipFill>
          <a:blip xmlns:r="http://schemas.openxmlformats.org/officeDocument/2006/relationships" xmlns:a="http://schemas.openxmlformats.org/drawingml/2006/main" r:embed="Rb59b5a0c75ba46d8">
            <a:extLst>
              <a:ext uri="{96DAC541-7B7A-43D3-8B79-37D633B846F1}">
                <ns7:svgBlip xmlns:ns7="http://schemas.microsoft.com/office/drawing/2016/SVG/main" r:embed="rIdVectormf00194"/>
              </a:ext>
            </a:extLst>
          </a:blip>
          <a:stretch xmlns:a="http://schemas.openxmlformats.org/drawingml/2006/main"/>
        </p:blipFill>
        <p:spPr>
          <a:xfrm xmlns:a="http://schemas.openxmlformats.org/drawingml/2006/main">
            <a:off x="571500" y="2667000"/>
            <a:ext cx="523875" cy="209550"/>
          </a:xfrm>
          <a:prstGeom xmlns:a="http://schemas.openxmlformats.org/drawingml/2006/main" prst="rect">
            <a:avLst/>
          </a:prstGeom>
        </p:spPr>
      </p:pic>
      <p:pic>
        <p:nvPicPr>
          <p:cNvPr id="112" name="!!fdm-ft-ft-multiply-g1-r0-domain" descr="f"/>
          <p:cNvPicPr>
            <a:picLocks xmlns:a="http://schemas.openxmlformats.org/drawingml/2006/main" noChangeAspect="1"/>
          </p:cNvPicPr>
          <p:nvPr/>
        </p:nvPicPr>
        <p:blipFill>
          <a:blip xmlns:r="http://schemas.openxmlformats.org/officeDocument/2006/relationships" xmlns:a="http://schemas.openxmlformats.org/drawingml/2006/main" r:embed="R1208f17f4250493a">
            <a:extLst>
              <a:ext uri="{96DAC541-7B7A-43D3-8B79-37D633B846F1}">
                <ns8:svgBlip xmlns:ns8="http://schemas.microsoft.com/office/drawing/2016/SVG/main" r:embed="rIdVectormf00195"/>
              </a:ext>
            </a:extLst>
          </a:blip>
          <a:stretch xmlns:a="http://schemas.openxmlformats.org/drawingml/2006/main"/>
        </p:blipFill>
        <p:spPr>
          <a:xfrm xmlns:a="http://schemas.openxmlformats.org/drawingml/2006/main">
            <a:off x="7375373" y="3597593"/>
            <a:ext cx="79678" cy="120015"/>
          </a:xfrm>
          <a:prstGeom xmlns:a="http://schemas.openxmlformats.org/drawingml/2006/main" prst="rect">
            <a:avLst/>
          </a:prstGeom>
        </p:spPr>
      </p:pic>
      <p:pic>
        <p:nvPicPr>
          <p:cNvPr id="113" name="!!fdm-ft-ft-multiply-g1-r0-ticklabel0" descr="-(f_1+f_{\ell})"/>
          <p:cNvPicPr>
            <a:picLocks xmlns:a="http://schemas.openxmlformats.org/drawingml/2006/main" noChangeAspect="1"/>
          </p:cNvPicPr>
          <p:nvPr/>
        </p:nvPicPr>
        <p:blipFill>
          <a:blip xmlns:r="http://schemas.openxmlformats.org/officeDocument/2006/relationships" xmlns:a="http://schemas.openxmlformats.org/drawingml/2006/main" r:embed="R9001a348935340d0">
            <a:extLst>
              <a:ext uri="{96DAC541-7B7A-43D3-8B79-37D633B846F1}">
                <ns9:svgBlip xmlns:ns9="http://schemas.microsoft.com/office/drawing/2016/SVG/main" r:embed="rIdVectormf00196"/>
              </a:ext>
            </a:extLst>
          </a:blip>
          <a:stretch xmlns:a="http://schemas.openxmlformats.org/drawingml/2006/main"/>
        </p:blipFill>
        <p:spPr>
          <a:xfrm xmlns:a="http://schemas.openxmlformats.org/drawingml/2006/main">
            <a:off x="4624070" y="3915311"/>
            <a:ext cx="822960" cy="170378"/>
          </a:xfrm>
          <a:prstGeom xmlns:a="http://schemas.openxmlformats.org/drawingml/2006/main" prst="rect">
            <a:avLst/>
          </a:prstGeom>
        </p:spPr>
      </p:pic>
      <p:pic>
        <p:nvPicPr>
          <p:cNvPr id="114" name="!!fdm-ft-ft-multiply-g1-r0-ticklabel1" descr="-(f_1-f_{\ell})"/>
          <p:cNvPicPr>
            <a:picLocks xmlns:a="http://schemas.openxmlformats.org/drawingml/2006/main" noChangeAspect="1"/>
          </p:cNvPicPr>
          <p:nvPr/>
        </p:nvPicPr>
        <p:blipFill>
          <a:blip xmlns:r="http://schemas.openxmlformats.org/officeDocument/2006/relationships" xmlns:a="http://schemas.openxmlformats.org/drawingml/2006/main" r:embed="R92163e6440b54b1a">
            <a:extLst>
              <a:ext uri="{96DAC541-7B7A-43D3-8B79-37D633B846F1}">
                <ns10:svgBlip xmlns:ns10="http://schemas.microsoft.com/office/drawing/2016/SVG/main" r:embed="rIdVectormf00197"/>
              </a:ext>
            </a:extLst>
          </a:blip>
          <a:stretch xmlns:a="http://schemas.openxmlformats.org/drawingml/2006/main"/>
        </p:blipFill>
        <p:spPr>
          <a:xfrm xmlns:a="http://schemas.openxmlformats.org/drawingml/2006/main">
            <a:off x="5242137" y="4115336"/>
            <a:ext cx="822960" cy="170378"/>
          </a:xfrm>
          <a:prstGeom xmlns:a="http://schemas.openxmlformats.org/drawingml/2006/main" prst="rect">
            <a:avLst/>
          </a:prstGeom>
        </p:spPr>
      </p:pic>
      <p:pic>
        <p:nvPicPr>
          <p:cNvPr id="115" name="!!fdm-ft-ft-multiply-g1-r0-ticklabel2" descr="0"/>
          <p:cNvPicPr>
            <a:picLocks xmlns:a="http://schemas.openxmlformats.org/drawingml/2006/main" noChangeAspect="1"/>
          </p:cNvPicPr>
          <p:nvPr/>
        </p:nvPicPr>
        <p:blipFill>
          <a:blip xmlns:r="http://schemas.openxmlformats.org/officeDocument/2006/relationships" xmlns:a="http://schemas.openxmlformats.org/drawingml/2006/main" r:embed="R909255edc7be44f2">
            <a:extLst>
              <a:ext uri="{96DAC541-7B7A-43D3-8B79-37D633B846F1}">
                <ns11:svgBlip xmlns:ns11="http://schemas.microsoft.com/office/drawing/2016/SVG/main" r:embed="rIdVectormf00198"/>
              </a:ext>
            </a:extLst>
          </a:blip>
          <a:stretch xmlns:a="http://schemas.openxmlformats.org/drawingml/2006/main"/>
        </p:blipFill>
        <p:spPr>
          <a:xfrm xmlns:a="http://schemas.openxmlformats.org/drawingml/2006/main">
            <a:off x="5916675" y="4349115"/>
            <a:ext cx="91951" cy="102870"/>
          </a:xfrm>
          <a:prstGeom xmlns:a="http://schemas.openxmlformats.org/drawingml/2006/main" prst="rect">
            <a:avLst/>
          </a:prstGeom>
        </p:spPr>
      </p:pic>
      <p:pic>
        <p:nvPicPr>
          <p:cNvPr id="116" name="!!fdm-ft-ft-multiply-g1-r0-ticklabel3" descr="f_1-f_{\ell}"/>
          <p:cNvPicPr>
            <a:picLocks xmlns:a="http://schemas.openxmlformats.org/drawingml/2006/main" noChangeAspect="1"/>
          </p:cNvPicPr>
          <p:nvPr/>
        </p:nvPicPr>
        <p:blipFill>
          <a:blip xmlns:r="http://schemas.openxmlformats.org/officeDocument/2006/relationships" xmlns:a="http://schemas.openxmlformats.org/drawingml/2006/main" r:embed="R2e5d342a05eb4462">
            <a:extLst>
              <a:ext uri="{96DAC541-7B7A-43D3-8B79-37D633B846F1}">
                <ns12:svgBlip xmlns:ns12="http://schemas.microsoft.com/office/drawing/2016/SVG/main" r:embed="rIdVectormf00199"/>
              </a:ext>
            </a:extLst>
          </a:blip>
          <a:stretch xmlns:a="http://schemas.openxmlformats.org/drawingml/2006/main"/>
        </p:blipFill>
        <p:spPr>
          <a:xfrm xmlns:a="http://schemas.openxmlformats.org/drawingml/2006/main">
            <a:off x="6029636" y="3931920"/>
            <a:ext cx="484094" cy="137160"/>
          </a:xfrm>
          <a:prstGeom xmlns:a="http://schemas.openxmlformats.org/drawingml/2006/main" prst="rect">
            <a:avLst/>
          </a:prstGeom>
        </p:spPr>
      </p:pic>
      <p:pic>
        <p:nvPicPr>
          <p:cNvPr id="117" name="!!fdm-ft-ft-multiply-g1-r0-ticklabel4" descr="f_1+f_{\ell}"/>
          <p:cNvPicPr>
            <a:picLocks xmlns:a="http://schemas.openxmlformats.org/drawingml/2006/main" noChangeAspect="1"/>
          </p:cNvPicPr>
          <p:nvPr/>
        </p:nvPicPr>
        <p:blipFill>
          <a:blip xmlns:r="http://schemas.openxmlformats.org/officeDocument/2006/relationships" xmlns:a="http://schemas.openxmlformats.org/drawingml/2006/main" r:embed="R3b154374c1bf4a5a">
            <a:extLst>
              <a:ext uri="{96DAC541-7B7A-43D3-8B79-37D633B846F1}">
                <ns13:svgBlip xmlns:ns13="http://schemas.microsoft.com/office/drawing/2016/SVG/main" r:embed="rIdVectormf00200"/>
              </a:ext>
            </a:extLst>
          </a:blip>
          <a:stretch xmlns:a="http://schemas.openxmlformats.org/drawingml/2006/main"/>
        </p:blipFill>
        <p:spPr>
          <a:xfrm xmlns:a="http://schemas.openxmlformats.org/drawingml/2006/main">
            <a:off x="6647703" y="3931920"/>
            <a:ext cx="484094" cy="137160"/>
          </a:xfrm>
          <a:prstGeom xmlns:a="http://schemas.openxmlformats.org/drawingml/2006/main" prst="rect">
            <a:avLst/>
          </a:prstGeom>
        </p:spPr>
      </p:pic>
      <p:pic>
        <p:nvPicPr>
          <p:cNvPr id="118" name="!!fdm-ft-ft-multiply-g1-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386593214f464b1c">
            <a:extLst>
              <a:ext uri="{96DAC541-7B7A-43D3-8B79-37D633B846F1}">
                <ns14:svgBlip xmlns:ns14="http://schemas.microsoft.com/office/drawing/2016/SVG/main" r:embed="rIdVectormf00201"/>
              </a:ext>
            </a:extLst>
          </a:blip>
          <a:stretch xmlns:a="http://schemas.openxmlformats.org/drawingml/2006/main"/>
        </p:blipFill>
        <p:spPr>
          <a:xfrm xmlns:a="http://schemas.openxmlformats.org/drawingml/2006/main">
            <a:off x="4572000" y="2667655"/>
            <a:ext cx="481965" cy="208240"/>
          </a:xfrm>
          <a:prstGeom xmlns:a="http://schemas.openxmlformats.org/drawingml/2006/main" prst="rect">
            <a:avLst/>
          </a:prstGeom>
        </p:spPr>
      </p:pic>
      <p:pic>
        <p:nvPicPr>
          <p:cNvPr id="119" name="!!fdm-ft-ft-multiply-g2-r0-domain" descr="f"/>
          <p:cNvPicPr>
            <a:picLocks xmlns:a="http://schemas.openxmlformats.org/drawingml/2006/main" noChangeAspect="1"/>
          </p:cNvPicPr>
          <p:nvPr/>
        </p:nvPicPr>
        <p:blipFill>
          <a:blip xmlns:r="http://schemas.openxmlformats.org/officeDocument/2006/relationships" xmlns:a="http://schemas.openxmlformats.org/drawingml/2006/main" r:embed="R842b9712be744be0">
            <a:extLst>
              <a:ext uri="{96DAC541-7B7A-43D3-8B79-37D633B846F1}">
                <ns15:svgBlip xmlns:ns15="http://schemas.microsoft.com/office/drawing/2016/SVG/main" r:embed="rIdVectormf00202"/>
              </a:ext>
            </a:extLst>
          </a:blip>
          <a:stretch xmlns:a="http://schemas.openxmlformats.org/drawingml/2006/main"/>
        </p:blipFill>
        <p:spPr>
          <a:xfrm xmlns:a="http://schemas.openxmlformats.org/drawingml/2006/main">
            <a:off x="11375873" y="3597593"/>
            <a:ext cx="79678" cy="120015"/>
          </a:xfrm>
          <a:prstGeom xmlns:a="http://schemas.openxmlformats.org/drawingml/2006/main" prst="rect">
            <a:avLst/>
          </a:prstGeom>
        </p:spPr>
      </p:pic>
      <p:pic>
        <p:nvPicPr>
          <p:cNvPr id="120" name="!!fdm-ft-ft-multiply-g2-r0-ticklabel0" descr="-f_2"/>
          <p:cNvPicPr>
            <a:picLocks xmlns:a="http://schemas.openxmlformats.org/drawingml/2006/main" noChangeAspect="1"/>
          </p:cNvPicPr>
          <p:nvPr/>
        </p:nvPicPr>
        <p:blipFill>
          <a:blip xmlns:r="http://schemas.openxmlformats.org/officeDocument/2006/relationships" xmlns:a="http://schemas.openxmlformats.org/drawingml/2006/main" r:embed="R8da0d4e5da8d4856">
            <a:extLst>
              <a:ext uri="{96DAC541-7B7A-43D3-8B79-37D633B846F1}">
                <ns16:svgBlip xmlns:ns16="http://schemas.microsoft.com/office/drawing/2016/SVG/main" r:embed="rIdVectormf00203"/>
              </a:ext>
            </a:extLst>
          </a:blip>
          <a:stretch xmlns:a="http://schemas.openxmlformats.org/drawingml/2006/main"/>
        </p:blipFill>
        <p:spPr>
          <a:xfrm xmlns:a="http://schemas.openxmlformats.org/drawingml/2006/main">
            <a:off x="9516094" y="3931920"/>
            <a:ext cx="276045" cy="137160"/>
          </a:xfrm>
          <a:prstGeom xmlns:a="http://schemas.openxmlformats.org/drawingml/2006/main" prst="rect">
            <a:avLst/>
          </a:prstGeom>
        </p:spPr>
      </p:pic>
      <p:pic>
        <p:nvPicPr>
          <p:cNvPr id="121" name="!!fdm-ft-ft-multiply-g2-r0-ticklabel1" descr="0"/>
          <p:cNvPicPr>
            <a:picLocks xmlns:a="http://schemas.openxmlformats.org/drawingml/2006/main" noChangeAspect="1"/>
          </p:cNvPicPr>
          <p:nvPr/>
        </p:nvPicPr>
        <p:blipFill>
          <a:blip xmlns:r="http://schemas.openxmlformats.org/officeDocument/2006/relationships" xmlns:a="http://schemas.openxmlformats.org/drawingml/2006/main" r:embed="Ra3ffa2cd55094848">
            <a:extLst>
              <a:ext uri="{96DAC541-7B7A-43D3-8B79-37D633B846F1}">
                <ns17:svgBlip xmlns:ns17="http://schemas.microsoft.com/office/drawing/2016/SVG/main" r:embed="rIdVectormf00204"/>
              </a:ext>
            </a:extLst>
          </a:blip>
          <a:stretch xmlns:a="http://schemas.openxmlformats.org/drawingml/2006/main"/>
        </p:blipFill>
        <p:spPr>
          <a:xfrm xmlns:a="http://schemas.openxmlformats.org/drawingml/2006/main">
            <a:off x="9917175" y="3949065"/>
            <a:ext cx="91951" cy="102870"/>
          </a:xfrm>
          <a:prstGeom xmlns:a="http://schemas.openxmlformats.org/drawingml/2006/main" prst="rect">
            <a:avLst/>
          </a:prstGeom>
        </p:spPr>
      </p:pic>
      <p:pic>
        <p:nvPicPr>
          <p:cNvPr id="122" name="!!fdm-ft-ft-multiply-g2-r0-ticklabel2" descr="f_2"/>
          <p:cNvPicPr>
            <a:picLocks xmlns:a="http://schemas.openxmlformats.org/drawingml/2006/main" noChangeAspect="1"/>
          </p:cNvPicPr>
          <p:nvPr/>
        </p:nvPicPr>
        <p:blipFill>
          <a:blip xmlns:r="http://schemas.openxmlformats.org/officeDocument/2006/relationships" xmlns:a="http://schemas.openxmlformats.org/drawingml/2006/main" r:embed="R760bfe3fdb874a0c">
            <a:extLst>
              <a:ext uri="{96DAC541-7B7A-43D3-8B79-37D633B846F1}">
                <ns18:svgBlip xmlns:ns18="http://schemas.microsoft.com/office/drawing/2016/SVG/main" r:embed="rIdVectormf00205"/>
              </a:ext>
            </a:extLst>
          </a:blip>
          <a:stretch xmlns:a="http://schemas.openxmlformats.org/drawingml/2006/main"/>
        </p:blipFill>
        <p:spPr>
          <a:xfrm xmlns:a="http://schemas.openxmlformats.org/drawingml/2006/main">
            <a:off x="10206869" y="3931920"/>
            <a:ext cx="130629" cy="137160"/>
          </a:xfrm>
          <a:prstGeom xmlns:a="http://schemas.openxmlformats.org/drawingml/2006/main" prst="rect">
            <a:avLst/>
          </a:prstGeom>
        </p:spPr>
      </p:pic>
      <p:pic>
        <p:nvPicPr>
          <p:cNvPr id="123" name="!!fdm-ft-ft-multiply-g2-r0-label" descr="\textstyle S_2(f)"/>
          <p:cNvPicPr>
            <a:picLocks xmlns:a="http://schemas.openxmlformats.org/drawingml/2006/main" noChangeAspect="1"/>
          </p:cNvPicPr>
          <p:nvPr/>
        </p:nvPicPr>
        <p:blipFill>
          <a:blip xmlns:r="http://schemas.openxmlformats.org/officeDocument/2006/relationships" xmlns:a="http://schemas.openxmlformats.org/drawingml/2006/main" r:embed="R1fcfea517e9d47fb">
            <a:extLst>
              <a:ext uri="{96DAC541-7B7A-43D3-8B79-37D633B846F1}">
                <ns19:svgBlip xmlns:ns19="http://schemas.microsoft.com/office/drawing/2016/SVG/main" r:embed="rIdVectormf00206"/>
              </a:ext>
            </a:extLst>
          </a:blip>
          <a:stretch xmlns:a="http://schemas.openxmlformats.org/drawingml/2006/main"/>
        </p:blipFill>
        <p:spPr>
          <a:xfrm xmlns:a="http://schemas.openxmlformats.org/drawingml/2006/main">
            <a:off x="8572500" y="2667000"/>
            <a:ext cx="523875" cy="209550"/>
          </a:xfrm>
          <a:prstGeom xmlns:a="http://schemas.openxmlformats.org/drawingml/2006/main" prst="rect">
            <a:avLst/>
          </a:prstGeom>
        </p:spPr>
      </p:pic>
      <p:pic>
        <p:nvPicPr>
          <p:cNvPr id="124" name="!!fdm-ft-ft-multiply-math" descr="\textstyle \times2\cos(2\pi f_{\ell}t)"/>
          <p:cNvPicPr>
            <a:picLocks xmlns:a="http://schemas.openxmlformats.org/drawingml/2006/main" noChangeAspect="1"/>
          </p:cNvPicPr>
          <p:nvPr/>
        </p:nvPicPr>
        <p:blipFill>
          <a:blip xmlns:r="http://schemas.openxmlformats.org/officeDocument/2006/relationships" xmlns:a="http://schemas.openxmlformats.org/drawingml/2006/main" r:embed="Re2773f06430b4ad1">
            <a:extLst>
              <a:ext uri="{96DAC541-7B7A-43D3-8B79-37D633B846F1}">
                <ns20:svgBlip xmlns:ns20="http://schemas.microsoft.com/office/drawing/2016/SVG/main" r:embed="rIdVectormf00207"/>
              </a:ext>
            </a:extLst>
          </a:blip>
          <a:stretch xmlns:a="http://schemas.openxmlformats.org/drawingml/2006/main"/>
        </p:blipFill>
        <p:spPr>
          <a:xfrm xmlns:a="http://schemas.openxmlformats.org/drawingml/2006/main">
            <a:off x="3219450" y="3296364"/>
            <a:ext cx="1485900" cy="227171"/>
          </a:xfrm>
          <a:prstGeom xmlns:a="http://schemas.openxmlformats.org/drawingml/2006/main" prst="rect">
            <a:avLst/>
          </a:prstGeom>
        </p:spPr>
      </p:pic>
      <p:pic>
        <p:nvPicPr>
          <p:cNvPr id="125" name="!!fdm-ft-ft-multiply-condition" descr="f_{\ell}&gt;W"/>
          <p:cNvPicPr>
            <a:picLocks xmlns:a="http://schemas.openxmlformats.org/drawingml/2006/main" noChangeAspect="1"/>
          </p:cNvPicPr>
          <p:nvPr/>
        </p:nvPicPr>
        <p:blipFill>
          <a:blip xmlns:r="http://schemas.openxmlformats.org/officeDocument/2006/relationships" xmlns:a="http://schemas.openxmlformats.org/drawingml/2006/main" r:embed="Rc80a33366e8c41e6">
            <a:extLst>
              <a:ext uri="{96DAC541-7B7A-43D3-8B79-37D633B846F1}">
                <ns21:svgBlip xmlns:ns21="http://schemas.microsoft.com/office/drawing/2016/SVG/main" r:embed="rIdVectormf00208"/>
              </a:ext>
            </a:extLst>
          </a:blip>
          <a:stretch xmlns:a="http://schemas.openxmlformats.org/drawingml/2006/main"/>
        </p:blipFill>
        <p:spPr>
          <a:xfrm xmlns:a="http://schemas.openxmlformats.org/drawingml/2006/main">
            <a:off x="3630507" y="2958465"/>
            <a:ext cx="663787" cy="160020"/>
          </a:xfrm>
          <a:prstGeom xmlns:a="http://schemas.openxmlformats.org/drawingml/2006/main" prst="rect">
            <a:avLst/>
          </a:prstGeom>
        </p:spPr>
      </p:pic>
      <p:pic>
        <p:nvPicPr>
          <p:cNvPr id="126" name="!!fdm-ft-ft-down-condition" descr="f_2=f_1-f_{\ell}&gt;W"/>
          <p:cNvPicPr>
            <a:picLocks xmlns:a="http://schemas.openxmlformats.org/drawingml/2006/main" noChangeAspect="1"/>
          </p:cNvPicPr>
          <p:nvPr/>
        </p:nvPicPr>
        <p:blipFill>
          <a:blip xmlns:r="http://schemas.openxmlformats.org/officeDocument/2006/relationships" xmlns:a="http://schemas.openxmlformats.org/drawingml/2006/main" r:embed="Raad56394c30641ef">
            <a:extLst>
              <a:ext uri="{96DAC541-7B7A-43D3-8B79-37D633B846F1}">
                <ns22:svgBlip xmlns:ns22="http://schemas.microsoft.com/office/drawing/2016/SVG/main" r:embed="rIdVectormf00209"/>
              </a:ext>
            </a:extLst>
          </a:blip>
          <a:stretch xmlns:a="http://schemas.openxmlformats.org/drawingml/2006/main"/>
        </p:blipFill>
        <p:spPr>
          <a:xfrm xmlns:a="http://schemas.openxmlformats.org/drawingml/2006/main">
            <a:off x="7189072" y="2958465"/>
            <a:ext cx="1547656" cy="160020"/>
          </a:xfrm>
          <a:prstGeom xmlns:a="http://schemas.openxmlformats.org/drawingml/2006/main" prst="rect">
            <a:avLst/>
          </a:prstGeom>
        </p:spPr>
      </p:pic>
      <p:pic>
        <p:nvPicPr>
          <p:cNvPr id="127" name="!!fdm-ft-dense-equation-0" descr="\textstyle s_1(t)=m(t)\cos(2\pi f_1t)"/>
          <p:cNvPicPr>
            <a:picLocks xmlns:a="http://schemas.openxmlformats.org/drawingml/2006/main" noChangeAspect="1"/>
          </p:cNvPicPr>
          <p:nvPr/>
        </p:nvPicPr>
        <p:blipFill>
          <a:blip xmlns:r="http://schemas.openxmlformats.org/officeDocument/2006/relationships" xmlns:a="http://schemas.openxmlformats.org/drawingml/2006/main" r:embed="R438e1d47936a4297">
            <a:extLst>
              <a:ext uri="{96DAC541-7B7A-43D3-8B79-37D633B846F1}">
                <ns23:svgBlip xmlns:ns23="http://schemas.microsoft.com/office/drawing/2016/SVG/main" r:embed="rIdVectormf00210"/>
              </a:ext>
            </a:extLst>
          </a:blip>
          <a:stretch xmlns:a="http://schemas.openxmlformats.org/drawingml/2006/main"/>
        </p:blipFill>
        <p:spPr>
          <a:xfrm xmlns:a="http://schemas.openxmlformats.org/drawingml/2006/main">
            <a:off x="609600" y="4945380"/>
            <a:ext cx="2798445" cy="247650"/>
          </a:xfrm>
          <a:prstGeom xmlns:a="http://schemas.openxmlformats.org/drawingml/2006/main" prst="rect">
            <a:avLst/>
          </a:prstGeom>
        </p:spPr>
      </p:pic>
      <p:pic>
        <p:nvPicPr>
          <p:cNvPr id="128" name="!!fdm-ft-dense-equation-1" descr="\textstyle s'(t)=2m(t)\cos(2\pi f_1t)\cos(2\pi f_{\ell}t)"/>
          <p:cNvPicPr>
            <a:picLocks xmlns:a="http://schemas.openxmlformats.org/drawingml/2006/main" noChangeAspect="1"/>
          </p:cNvPicPr>
          <p:nvPr/>
        </p:nvPicPr>
        <p:blipFill>
          <a:blip xmlns:r="http://schemas.openxmlformats.org/officeDocument/2006/relationships" xmlns:a="http://schemas.openxmlformats.org/drawingml/2006/main" r:embed="R2f706269040c4e84">
            <a:extLst>
              <a:ext uri="{96DAC541-7B7A-43D3-8B79-37D633B846F1}">
                <ns24:svgBlip xmlns:ns24="http://schemas.microsoft.com/office/drawing/2016/SVG/main" r:embed="rIdVectormf00211"/>
              </a:ext>
            </a:extLst>
          </a:blip>
          <a:stretch xmlns:a="http://schemas.openxmlformats.org/drawingml/2006/main"/>
        </p:blipFill>
        <p:spPr>
          <a:xfrm xmlns:a="http://schemas.openxmlformats.org/drawingml/2006/main">
            <a:off x="609600" y="5335905"/>
            <a:ext cx="4135755" cy="247650"/>
          </a:xfrm>
          <a:prstGeom xmlns:a="http://schemas.openxmlformats.org/drawingml/2006/main" prst="rect">
            <a:avLst/>
          </a:prstGeom>
        </p:spPr>
      </p:pic>
      <p:pic>
        <p:nvPicPr>
          <p:cNvPr id="129" name="!!fdm-ft-dense-equation-2" descr="\textstyle \phantom{s'(t)}=m(t)\cos[2\pi(f_1-f_{\ell})t]+m(t)\cos[2\pi(f_1+f_{\ell})t]"/>
          <p:cNvPicPr>
            <a:picLocks xmlns:a="http://schemas.openxmlformats.org/drawingml/2006/main" noChangeAspect="1"/>
          </p:cNvPicPr>
          <p:nvPr/>
        </p:nvPicPr>
        <p:blipFill>
          <a:blip xmlns:r="http://schemas.openxmlformats.org/officeDocument/2006/relationships" xmlns:a="http://schemas.openxmlformats.org/drawingml/2006/main" r:embed="R2a8e9ea284984d3b">
            <a:extLst>
              <a:ext uri="{96DAC541-7B7A-43D3-8B79-37D633B846F1}">
                <ns25:svgBlip xmlns:ns25="http://schemas.microsoft.com/office/drawing/2016/SVG/main" r:embed="rIdVectormf00212"/>
              </a:ext>
            </a:extLst>
          </a:blip>
          <a:stretch xmlns:a="http://schemas.openxmlformats.org/drawingml/2006/main"/>
        </p:blipFill>
        <p:spPr>
          <a:xfrm xmlns:a="http://schemas.openxmlformats.org/drawingml/2006/main">
            <a:off x="1210232" y="5727204"/>
            <a:ext cx="5720715" cy="246102"/>
          </a:xfrm>
          <a:prstGeom xmlns:a="http://schemas.openxmlformats.org/drawingml/2006/main" prst="rect">
            <a:avLst/>
          </a:prstGeom>
        </p:spPr>
      </p:pic>
      <p:pic>
        <p:nvPicPr>
          <p:cNvPr id="130" name="!!fdm-ft-dense-equation-3" descr="\textstyle s_2(t)=m(t)\cos(2\pi f_2t),\quad f_2=f_1-f_{\ell}"/>
          <p:cNvPicPr>
            <a:picLocks xmlns:a="http://schemas.openxmlformats.org/drawingml/2006/main" noChangeAspect="1"/>
          </p:cNvPicPr>
          <p:nvPr/>
        </p:nvPicPr>
        <p:blipFill>
          <a:blip xmlns:r="http://schemas.openxmlformats.org/officeDocument/2006/relationships" xmlns:a="http://schemas.openxmlformats.org/drawingml/2006/main" r:embed="R8a7b9f2e45064490">
            <a:extLst>
              <a:ext uri="{96DAC541-7B7A-43D3-8B79-37D633B846F1}">
                <ns26:svgBlip xmlns:ns26="http://schemas.microsoft.com/office/drawing/2016/SVG/main" r:embed="rIdVectormf00213"/>
              </a:ext>
            </a:extLst>
          </a:blip>
          <a:stretch xmlns:a="http://schemas.openxmlformats.org/drawingml/2006/main"/>
        </p:blipFill>
        <p:spPr>
          <a:xfrm xmlns:a="http://schemas.openxmlformats.org/drawingml/2006/main">
            <a:off x="609600" y="6116955"/>
            <a:ext cx="4531995" cy="247650"/>
          </a:xfrm>
          <a:prstGeom xmlns:a="http://schemas.openxmlformats.org/drawingml/2006/main" prst="rect">
            <a:avLst/>
          </a:prstGeom>
        </p:spPr>
      </p:pic>
    </p:spTree>
    <p:extLst>
      <p:ext uri="{BB962C8B-B14F-4D97-AF65-F5344CB8AC3E}">
        <p14:creationId xmlns:p14="http://schemas.microsoft.com/office/powerpoint/2010/main" val="31165100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124"/>
                                        </p:tgtEl>
                                        <p:attrNameLst>
                                          <p:attrName>style.visibility</p:attrName>
                                        </p:attrNameLst>
                                      </p:cBhvr>
                                      <p:to>
                                        <p:strVal val="visible"/>
                                      </p:to>
                                    </p:set>
                                    <p:animEffect transition="in" filter="fade">
                                      <p:cBhvr>
                                        <p:cTn id="13" dur="400"/>
                                        <p:tgtEl>
                                          <p:spTgt spid="124"/>
                                        </p:tgtEl>
                                      </p:cBhvr>
                                    </p:animEffect>
                                  </p:childTnLst>
                                </p:cTn>
                              </p:par>
                              <p:par>
                                <p:cTn id="14" presetID="10" presetClass="entr" presetSubtype="0" fill="hold" nodeType="withEffect">
                                  <p:stCondLst>
                                    <p:cond delay="0"/>
                                  </p:stCondLst>
                                  <p:childTnLst>
                                    <p:set>
                                      <p:cBhvr>
                                        <p:cTn id="15" dur="1" fill="hold">
                                          <p:stCondLst>
                                            <p:cond delay="0"/>
                                          </p:stCondLst>
                                        </p:cTn>
                                        <p:tgtEl>
                                          <p:spTgt spid="125"/>
                                        </p:tgtEl>
                                        <p:attrNameLst>
                                          <p:attrName>style.visibility</p:attrName>
                                        </p:attrNameLst>
                                      </p:cBhvr>
                                      <p:to>
                                        <p:strVal val="visible"/>
                                      </p:to>
                                    </p:set>
                                    <p:animEffect transition="in" filter="fade">
                                      <p:cBhvr>
                                        <p:cTn id="16" dur="400"/>
                                        <p:tgtEl>
                                          <p:spTgt spid="125"/>
                                        </p:tgtEl>
                                      </p:cBhvr>
                                    </p:animEffect>
                                  </p:childTnLst>
                                </p:cTn>
                              </p:par>
                              <p:par>
                                <p:cTn id="17" presetID="10" presetClass="entr" presetSubtype="0" fill="hold" nodeType="withEffect">
                                  <p:stCondLst>
                                    <p:cond delay="0"/>
                                  </p:stCondLst>
                                  <p:childTnLst>
                                    <p:set>
                                      <p:cBhvr>
                                        <p:cTn id="18" dur="1" fill="hold">
                                          <p:stCondLst>
                                            <p:cond delay="0"/>
                                          </p:stCondLst>
                                        </p:cTn>
                                        <p:tgtEl>
                                          <p:spTgt spid="128"/>
                                        </p:tgtEl>
                                        <p:attrNameLst>
                                          <p:attrName>style.visibility</p:attrName>
                                        </p:attrNameLst>
                                      </p:cBhvr>
                                      <p:to>
                                        <p:strVal val="visible"/>
                                      </p:to>
                                    </p:set>
                                    <p:animEffect transition="in" filter="fade">
                                      <p:cBhvr>
                                        <p:cTn id="19" dur="400"/>
                                        <p:tgtEl>
                                          <p:spTgt spid="12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200"/>
                                        <p:tgtEl>
                                          <p:spTgt spid="28"/>
                                        </p:tgtEl>
                                      </p:cBhvr>
                                    </p:animEffect>
                                    <p:animMotion origin="layout" pathEditMode="relative" path="M -0.35347219 0.00000000 L 0.00000000 0.00000000 E">
                                      <p:cBhvr>
                                        <p:cTn id="25" dur="700" fill="hold"/>
                                        <p:tgtEl>
                                          <p:spTgt spid="28"/>
                                        </p:tgtEl>
                                        <p:attrNameLst>
                                          <p:attrName>ppt_x</p:attrName>
                                          <p:attrName>ppt_y</p:attrName>
                                        </p:attrNameLst>
                                      </p:cBhvr>
                                    </p:animMotion>
                                    <p:animScale zoomContents="1">
                                      <p:cBhvr>
                                        <p:cTn id="26" dur="700" fill="hold"/>
                                        <p:tgtEl>
                                          <p:spTgt spid="28"/>
                                        </p:tgtEl>
                                      </p:cBhvr>
                                      <p:from x="100000" y="100000"/>
                                      <p:to x="100000" y="100000"/>
                                    </p:animScale>
                                  </p:childTnLst>
                                </p:cTn>
                              </p:par>
                              <p:par>
                                <p:cTn id="27" presetID="10"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200"/>
                                        <p:tgtEl>
                                          <p:spTgt spid="29"/>
                                        </p:tgtEl>
                                      </p:cBhvr>
                                    </p:animEffect>
                                    <p:animMotion origin="layout" pathEditMode="relative" path="M -0.30277781 0.00000000 L 0.00000000 0.00000000 E">
                                      <p:cBhvr>
                                        <p:cTn id="30" dur="700" fill="hold"/>
                                        <p:tgtEl>
                                          <p:spTgt spid="29"/>
                                        </p:tgtEl>
                                        <p:attrNameLst>
                                          <p:attrName>ppt_x</p:attrName>
                                          <p:attrName>ppt_y</p:attrName>
                                        </p:attrNameLst>
                                      </p:cBhvr>
                                    </p:animMotion>
                                    <p:animScale zoomContents="1">
                                      <p:cBhvr>
                                        <p:cTn id="31" dur="700" fill="hold"/>
                                        <p:tgtEl>
                                          <p:spTgt spid="29"/>
                                        </p:tgtEl>
                                      </p:cBhvr>
                                      <p:from x="100000" y="100000"/>
                                      <p:to x="100000" y="100000"/>
                                    </p:animScale>
                                  </p:childTnLst>
                                </p:cTn>
                              </p:par>
                              <p:par>
                                <p:cTn id="32" presetID="10" presetClass="entr" presetSubtype="0"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200"/>
                                        <p:tgtEl>
                                          <p:spTgt spid="30"/>
                                        </p:tgtEl>
                                      </p:cBhvr>
                                    </p:animEffect>
                                    <p:animMotion origin="layout" pathEditMode="relative" path="M -0.30277781 0.00000000 L 0.00000000 0.00000000 E">
                                      <p:cBhvr>
                                        <p:cTn id="35" dur="700" fill="hold"/>
                                        <p:tgtEl>
                                          <p:spTgt spid="30"/>
                                        </p:tgtEl>
                                        <p:attrNameLst>
                                          <p:attrName>ppt_x</p:attrName>
                                          <p:attrName>ppt_y</p:attrName>
                                        </p:attrNameLst>
                                      </p:cBhvr>
                                    </p:animMotion>
                                    <p:animScale zoomContents="1">
                                      <p:cBhvr>
                                        <p:cTn id="36" dur="700" fill="hold"/>
                                        <p:tgtEl>
                                          <p:spTgt spid="30"/>
                                        </p:tgtEl>
                                      </p:cBhvr>
                                      <p:from x="100000" y="100000"/>
                                      <p:to x="100000" y="100000"/>
                                    </p:animScale>
                                  </p:childTnLst>
                                </p:cTn>
                              </p:par>
                              <p:par>
                                <p:cTn id="37" presetID="10"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200"/>
                                        <p:tgtEl>
                                          <p:spTgt spid="31"/>
                                        </p:tgtEl>
                                      </p:cBhvr>
                                    </p:animEffect>
                                    <p:animMotion origin="layout" pathEditMode="relative" path="M -0.35347228 0.00000000 L 0.00000000 0.00000000 E">
                                      <p:cBhvr>
                                        <p:cTn id="40" dur="700" fill="hold"/>
                                        <p:tgtEl>
                                          <p:spTgt spid="31"/>
                                        </p:tgtEl>
                                        <p:attrNameLst>
                                          <p:attrName>ppt_x</p:attrName>
                                          <p:attrName>ppt_y</p:attrName>
                                        </p:attrNameLst>
                                      </p:cBhvr>
                                    </p:animMotion>
                                    <p:animScale zoomContents="1">
                                      <p:cBhvr>
                                        <p:cTn id="41" dur="700" fill="hold"/>
                                        <p:tgtEl>
                                          <p:spTgt spid="31"/>
                                        </p:tgtEl>
                                      </p:cBhvr>
                                      <p:from x="100000" y="100000"/>
                                      <p:to x="100000" y="100000"/>
                                    </p:animScale>
                                  </p:childTnLst>
                                </p:cTn>
                              </p:par>
                              <p:par>
                                <p:cTn id="42" presetID="10" presetClass="entr" presetSubtype="0" fill="hold" nodeType="withEffect">
                                  <p:stCondLst>
                                    <p:cond delay="0"/>
                                  </p:stCondLst>
                                  <p:childTnLst>
                                    <p:set>
                                      <p:cBhvr>
                                        <p:cTn id="43" dur="1" fill="hold">
                                          <p:stCondLst>
                                            <p:cond delay="0"/>
                                          </p:stCondLst>
                                        </p:cTn>
                                        <p:tgtEl>
                                          <p:spTgt spid="129"/>
                                        </p:tgtEl>
                                        <p:attrNameLst>
                                          <p:attrName>style.visibility</p:attrName>
                                        </p:attrNameLst>
                                      </p:cBhvr>
                                      <p:to>
                                        <p:strVal val="visible"/>
                                      </p:to>
                                    </p:set>
                                    <p:animEffect transition="in" filter="fade">
                                      <p:cBhvr>
                                        <p:cTn id="44" dur="400"/>
                                        <p:tgtEl>
                                          <p:spTgt spid="12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4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400"/>
                                        <p:tgtEl>
                                          <p:spTgt spid="33"/>
                                        </p:tgtEl>
                                      </p:cBhvr>
                                    </p:animEffect>
                                  </p:childTnLst>
                                </p:cTn>
                              </p:par>
                              <p:par>
                                <p:cTn id="53" presetID="10" presetClass="entr" presetSubtype="0" fill="hold"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4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126"/>
                                        </p:tgtEl>
                                        <p:attrNameLst>
                                          <p:attrName>style.visibility</p:attrName>
                                        </p:attrNameLst>
                                      </p:cBhvr>
                                      <p:to>
                                        <p:strVal val="visible"/>
                                      </p:to>
                                    </p:set>
                                    <p:animEffect transition="in" filter="fade">
                                      <p:cBhvr>
                                        <p:cTn id="58" dur="400"/>
                                        <p:tgtEl>
                                          <p:spTgt spid="126"/>
                                        </p:tgtEl>
                                      </p:cBhvr>
                                    </p:animEffect>
                                  </p:childTnLst>
                                </p:cTn>
                              </p:par>
                              <p:par>
                                <p:cTn id="59" presetID="10"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400"/>
                                        <p:tgtEl>
                                          <p:spTgt spid="35"/>
                                        </p:tgtEl>
                                      </p:cBhvr>
                                    </p:animEffect>
                                  </p:childTnLst>
                                </p:cTn>
                              </p:par>
                              <p:par>
                                <p:cTn id="62" presetID="10" presetClass="entr" presetSubtype="0" fill="hold"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400"/>
                                        <p:tgtEl>
                                          <p:spTgt spid="3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200"/>
                                        <p:tgtEl>
                                          <p:spTgt spid="37"/>
                                        </p:tgtEl>
                                      </p:cBhvr>
                                    </p:animEffect>
                                    <p:animMotion origin="layout" pathEditMode="relative" path="M -0.32812500 0.00000000 L 0.00000000 0.00000000 E">
                                      <p:cBhvr>
                                        <p:cTn id="70" dur="700" fill="hold"/>
                                        <p:tgtEl>
                                          <p:spTgt spid="37"/>
                                        </p:tgtEl>
                                        <p:attrNameLst>
                                          <p:attrName>ppt_x</p:attrName>
                                          <p:attrName>ppt_y</p:attrName>
                                        </p:attrNameLst>
                                      </p:cBhvr>
                                    </p:animMotion>
                                    <p:animScale zoomContents="1">
                                      <p:cBhvr>
                                        <p:cTn id="71" dur="700" fill="hold"/>
                                        <p:tgtEl>
                                          <p:spTgt spid="37"/>
                                        </p:tgtEl>
                                      </p:cBhvr>
                                      <p:from x="100000" y="100000"/>
                                      <p:to x="100000" y="100000"/>
                                    </p:animScale>
                                  </p:childTnLst>
                                </p:cTn>
                              </p:par>
                              <p:par>
                                <p:cTn id="72" presetID="10" presetClass="entr" presetSubtype="0" fill="hold"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200"/>
                                        <p:tgtEl>
                                          <p:spTgt spid="38"/>
                                        </p:tgtEl>
                                      </p:cBhvr>
                                    </p:animEffect>
                                    <p:animMotion origin="layout" pathEditMode="relative" path="M -0.32812500 0.00000000 L 0.00000000 0.00000000 E">
                                      <p:cBhvr>
                                        <p:cTn id="75" dur="700" fill="hold"/>
                                        <p:tgtEl>
                                          <p:spTgt spid="38"/>
                                        </p:tgtEl>
                                        <p:attrNameLst>
                                          <p:attrName>ppt_x</p:attrName>
                                          <p:attrName>ppt_y</p:attrName>
                                        </p:attrNameLst>
                                      </p:cBhvr>
                                    </p:animMotion>
                                    <p:animScale zoomContents="1">
                                      <p:cBhvr>
                                        <p:cTn id="76" dur="700" fill="hold"/>
                                        <p:tgtEl>
                                          <p:spTgt spid="38"/>
                                        </p:tgtEl>
                                      </p:cBhvr>
                                      <p:from x="100000" y="100000"/>
                                      <p:to x="100000" y="100000"/>
                                    </p:animScale>
                                  </p:childTnLst>
                                </p:cTn>
                              </p:par>
                              <p:par>
                                <p:cTn id="77" presetID="10" presetClass="entr" presetSubtype="0" fill="hold" nodeType="withEffect">
                                  <p:stCondLst>
                                    <p:cond delay="0"/>
                                  </p:stCondLst>
                                  <p:childTnLst>
                                    <p:set>
                                      <p:cBhvr>
                                        <p:cTn id="78" dur="1" fill="hold">
                                          <p:stCondLst>
                                            <p:cond delay="0"/>
                                          </p:stCondLst>
                                        </p:cTn>
                                        <p:tgtEl>
                                          <p:spTgt spid="130"/>
                                        </p:tgtEl>
                                        <p:attrNameLst>
                                          <p:attrName>style.visibility</p:attrName>
                                        </p:attrNameLst>
                                      </p:cBhvr>
                                      <p:to>
                                        <p:strVal val="visible"/>
                                      </p:to>
                                    </p:set>
                                    <p:animEffect transition="in" filter="fade">
                                      <p:cBhvr>
                                        <p:cTn id="79" dur="4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methods_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fdm-ft-title">
            <ns0:hlinkClick xmlns:ns0="http://schemas.openxmlformats.org/drawingml/2006/main" xmlns:ns1="http://schemas.openxmlformats.org/officeDocument/2006/relationships" ns1:id="rIdmethods_Link42" action="ppaction://hlinksldjump"/>
            <a:extLst xmlns:a="http://schemas.openxmlformats.org/drawingml/2006/main">
              <a:ext uri="{FF2B5EF4-FFF2-40B4-BE49-F238E27FC236}">
                <a16:creationId xmlns:a16="http://schemas.microsoft.com/office/drawing/2014/main" id="{90B15B72-12E4-44AB-A556-7AC7965437C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42" action="ppaction://hlinksldjump"/>
              </a:rPr>
              <a:t>FDM</a:t>
            </a:r>
          </a:p>
        </p:txBody>
      </p:sp>
      <p:sp>
        <p:nvSpPr>
          <p:cNvPr id="2" name="!!fdm-ft-subtitle">
            <a:extLst xmlns:a="http://schemas.openxmlformats.org/drawingml/2006/main">
              <a:ext uri="{FF2B5EF4-FFF2-40B4-BE49-F238E27FC236}">
                <a16:creationId xmlns:a16="http://schemas.microsoft.com/office/drawing/2014/main" id="{3DEC7A2D-3DAE-4241-8FEC-EA0C24AAF0D3}"/>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One modulated signal</a:t>
            </a:r>
          </a:p>
        </p:txBody>
      </p:sp>
      <p:sp>
        <p:nvSpPr>
          <p:cNvPr id="3" name="!!fdm-ft-route-tx-line">
            <a:extLst xmlns:a="http://schemas.openxmlformats.org/drawingml/2006/main">
              <a:ext uri="{FF2B5EF4-FFF2-40B4-BE49-F238E27FC236}">
                <a16:creationId xmlns:a16="http://schemas.microsoft.com/office/drawing/2014/main" id="{30635F51-49D1-43E3-9E29-DE436F009A4A}"/>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fdm-ft-route-tx-head">
            <a:extLst xmlns:a="http://schemas.openxmlformats.org/drawingml/2006/main">
              <a:ext uri="{FF2B5EF4-FFF2-40B4-BE49-F238E27FC236}">
                <a16:creationId xmlns:a16="http://schemas.microsoft.com/office/drawing/2014/main" id="{63EAAD75-8F0E-4AE7-961B-1D1F20994806}"/>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fdm-ft-route-rx-line">
            <a:extLst xmlns:a="http://schemas.openxmlformats.org/drawingml/2006/main">
              <a:ext uri="{FF2B5EF4-FFF2-40B4-BE49-F238E27FC236}">
                <a16:creationId xmlns:a16="http://schemas.microsoft.com/office/drawing/2014/main" id="{30C7A44B-3306-4672-A231-37D53FF38D72}"/>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fdm-ft-route-rx-head">
            <a:extLst xmlns:a="http://schemas.openxmlformats.org/drawingml/2006/main">
              <a:ext uri="{FF2B5EF4-FFF2-40B4-BE49-F238E27FC236}">
                <a16:creationId xmlns:a16="http://schemas.microsoft.com/office/drawing/2014/main" id="{4CB06DD9-A862-4EF9-A341-DFA86F782E1E}"/>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fdm-ft-ft-choice-input-r0-axis-line">
            <a:extLst xmlns:a="http://schemas.openxmlformats.org/drawingml/2006/main">
              <a:ext uri="{FF2B5EF4-FFF2-40B4-BE49-F238E27FC236}">
                <a16:creationId xmlns:a16="http://schemas.microsoft.com/office/drawing/2014/main" id="{777A44F7-AA5F-469C-B73F-D62BB2575A62}"/>
              </a:ext>
            </a:extLst>
          </p:cNvPr>
          <p:cNvSpPr>
            <a:spLocks xmlns:a="http://schemas.openxmlformats.org/drawingml/2006/main" noGrp="1"/>
          </p:cNvSpPr>
          <p:nvPr/>
        </p:nvSpPr>
        <p:spPr>
          <a:xfrm xmlns:a="http://schemas.openxmlformats.org/drawingml/2006/main">
            <a:off x="571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fdm-ft-ft-choice-input-r0-axis-head">
            <a:extLst xmlns:a="http://schemas.openxmlformats.org/drawingml/2006/main">
              <a:ext uri="{FF2B5EF4-FFF2-40B4-BE49-F238E27FC236}">
                <a16:creationId xmlns:a16="http://schemas.microsoft.com/office/drawing/2014/main" id="{0F2D081F-AB79-4039-A0FB-876C8A0A96B0}"/>
              </a:ext>
            </a:extLst>
          </p:cNvPr>
          <p:cNvSpPr>
            <a:spLocks xmlns:a="http://schemas.openxmlformats.org/drawingml/2006/main" noGrp="1"/>
          </p:cNvSpPr>
          <p:nvPr/>
        </p:nvSpPr>
        <p:spPr>
          <a:xfrm xmlns:a="http://schemas.openxmlformats.org/drawingml/2006/main" rot="5400000">
            <a:off x="3238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fdm-ft-ft-choice-input-r0-tick0">
            <a:extLst xmlns:a="http://schemas.openxmlformats.org/drawingml/2006/main">
              <a:ext uri="{FF2B5EF4-FFF2-40B4-BE49-F238E27FC236}">
                <a16:creationId xmlns:a16="http://schemas.microsoft.com/office/drawing/2014/main" id="{88ADA730-5327-4516-A317-E7142AB52E18}"/>
              </a:ext>
            </a:extLst>
          </p:cNvPr>
          <p:cNvSpPr>
            <a:spLocks xmlns:a="http://schemas.openxmlformats.org/drawingml/2006/main" noGrp="1"/>
          </p:cNvSpPr>
          <p:nvPr/>
        </p:nvSpPr>
        <p:spPr>
          <a:xfrm xmlns:a="http://schemas.openxmlformats.org/drawingml/2006/main">
            <a:off x="10350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fdm-ft-ft-choice-input-r0-tick1">
            <a:extLst xmlns:a="http://schemas.openxmlformats.org/drawingml/2006/main">
              <a:ext uri="{FF2B5EF4-FFF2-40B4-BE49-F238E27FC236}">
                <a16:creationId xmlns:a16="http://schemas.microsoft.com/office/drawing/2014/main" id="{C5F6A359-343D-47A0-B739-C669C4E9FED2}"/>
              </a:ext>
            </a:extLst>
          </p:cNvPr>
          <p:cNvSpPr>
            <a:spLocks xmlns:a="http://schemas.openxmlformats.org/drawingml/2006/main" noGrp="1"/>
          </p:cNvSpPr>
          <p:nvPr/>
        </p:nvSpPr>
        <p:spPr>
          <a:xfrm xmlns:a="http://schemas.openxmlformats.org/drawingml/2006/main">
            <a:off x="1653117"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fdm-ft-ft-choice-input-r0-tick2">
            <a:extLst xmlns:a="http://schemas.openxmlformats.org/drawingml/2006/main">
              <a:ext uri="{FF2B5EF4-FFF2-40B4-BE49-F238E27FC236}">
                <a16:creationId xmlns:a16="http://schemas.microsoft.com/office/drawing/2014/main" id="{3190830A-5FA1-4AD6-8860-E09496D63E92}"/>
              </a:ext>
            </a:extLst>
          </p:cNvPr>
          <p:cNvSpPr>
            <a:spLocks xmlns:a="http://schemas.openxmlformats.org/drawingml/2006/main" noGrp="1"/>
          </p:cNvSpPr>
          <p:nvPr/>
        </p:nvSpPr>
        <p:spPr>
          <a:xfrm xmlns:a="http://schemas.openxmlformats.org/drawingml/2006/main">
            <a:off x="1962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fdm-ft-ft-choice-input-r0-tick3">
            <a:extLst xmlns:a="http://schemas.openxmlformats.org/drawingml/2006/main">
              <a:ext uri="{FF2B5EF4-FFF2-40B4-BE49-F238E27FC236}">
                <a16:creationId xmlns:a16="http://schemas.microsoft.com/office/drawing/2014/main" id="{57BBE00E-A9C7-49CF-87C9-2CF2C989D354}"/>
              </a:ext>
            </a:extLst>
          </p:cNvPr>
          <p:cNvSpPr>
            <a:spLocks xmlns:a="http://schemas.openxmlformats.org/drawingml/2006/main" noGrp="1"/>
          </p:cNvSpPr>
          <p:nvPr/>
        </p:nvSpPr>
        <p:spPr>
          <a:xfrm xmlns:a="http://schemas.openxmlformats.org/drawingml/2006/main">
            <a:off x="2271183"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fdm-ft-ft-choice-input-r0-tick4">
            <a:extLst xmlns:a="http://schemas.openxmlformats.org/drawingml/2006/main">
              <a:ext uri="{FF2B5EF4-FFF2-40B4-BE49-F238E27FC236}">
                <a16:creationId xmlns:a16="http://schemas.microsoft.com/office/drawing/2014/main" id="{6873A1E9-B65D-47C7-81EA-8184A2632D05}"/>
              </a:ext>
            </a:extLst>
          </p:cNvPr>
          <p:cNvSpPr>
            <a:spLocks xmlns:a="http://schemas.openxmlformats.org/drawingml/2006/main" noGrp="1"/>
          </p:cNvSpPr>
          <p:nvPr/>
        </p:nvSpPr>
        <p:spPr>
          <a:xfrm xmlns:a="http://schemas.openxmlformats.org/drawingml/2006/main">
            <a:off x="28892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fdm-ft-ft-choice-input-lon">
            <a:extLst xmlns:a="http://schemas.openxmlformats.org/drawingml/2006/main">
              <a:ext uri="{FF2B5EF4-FFF2-40B4-BE49-F238E27FC236}">
                <a16:creationId xmlns:a16="http://schemas.microsoft.com/office/drawing/2014/main" id="{4417D985-5275-4ED0-8581-16D385EBC97F}"/>
              </a:ext>
            </a:extLst>
          </p:cNvPr>
          <p:cNvSpPr>
            <a:spLocks xmlns:a="http://schemas.openxmlformats.org/drawingml/2006/main" noGrp="1"/>
          </p:cNvSpPr>
          <p:nvPr/>
        </p:nvSpPr>
        <p:spPr>
          <a:xfrm xmlns:a="http://schemas.openxmlformats.org/drawingml/2006/main">
            <a:off x="1575858"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15" name="!!fdm-ft-ft-choice-input-lop">
            <a:extLst xmlns:a="http://schemas.openxmlformats.org/drawingml/2006/main">
              <a:ext uri="{FF2B5EF4-FFF2-40B4-BE49-F238E27FC236}">
                <a16:creationId xmlns:a16="http://schemas.microsoft.com/office/drawing/2014/main" id="{419F2C66-5CA4-4C7F-AEC0-B09B45ADB872}"/>
              </a:ext>
            </a:extLst>
          </p:cNvPr>
          <p:cNvSpPr>
            <a:spLocks xmlns:a="http://schemas.openxmlformats.org/drawingml/2006/main" noGrp="1"/>
          </p:cNvSpPr>
          <p:nvPr/>
        </p:nvSpPr>
        <p:spPr>
          <a:xfrm xmlns:a="http://schemas.openxmlformats.org/drawingml/2006/main">
            <a:off x="2193925"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16" name="!!fdm-ft-ft-choice-input-hin">
            <a:extLst xmlns:a="http://schemas.openxmlformats.org/drawingml/2006/main">
              <a:ext uri="{FF2B5EF4-FFF2-40B4-BE49-F238E27FC236}">
                <a16:creationId xmlns:a16="http://schemas.microsoft.com/office/drawing/2014/main" id="{B1819320-03A7-448B-978D-AC0169C2BD76}"/>
              </a:ext>
            </a:extLst>
          </p:cNvPr>
          <p:cNvSpPr>
            <a:spLocks xmlns:a="http://schemas.openxmlformats.org/drawingml/2006/main" noGrp="1"/>
          </p:cNvSpPr>
          <p:nvPr/>
        </p:nvSpPr>
        <p:spPr>
          <a:xfrm xmlns:a="http://schemas.openxmlformats.org/drawingml/2006/main">
            <a:off x="957792"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BBBBBB"/>
          </a:solidFill>
          <a:ln xmlns:a="http://schemas.openxmlformats.org/drawingml/2006/main" w="10478">
            <a:solidFill>
              <a:srgbClr val="202020"/>
            </a:solidFill>
          </a:ln>
        </p:spPr>
      </p:sp>
      <p:sp>
        <p:nvSpPr>
          <p:cNvPr id="17" name="!!fdm-ft-ft-choice-input-hip">
            <a:extLst xmlns:a="http://schemas.openxmlformats.org/drawingml/2006/main">
              <a:ext uri="{FF2B5EF4-FFF2-40B4-BE49-F238E27FC236}">
                <a16:creationId xmlns:a16="http://schemas.microsoft.com/office/drawing/2014/main" id="{AF6B2550-78FA-4554-AF5F-F455D97EE33C}"/>
              </a:ext>
            </a:extLst>
          </p:cNvPr>
          <p:cNvSpPr>
            <a:spLocks xmlns:a="http://schemas.openxmlformats.org/drawingml/2006/main" noGrp="1"/>
          </p:cNvSpPr>
          <p:nvPr/>
        </p:nvSpPr>
        <p:spPr>
          <a:xfrm xmlns:a="http://schemas.openxmlformats.org/drawingml/2006/main">
            <a:off x="2811992"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BBBBBB"/>
          </a:solidFill>
          <a:ln xmlns:a="http://schemas.openxmlformats.org/drawingml/2006/main" w="10478">
            <a:solidFill>
              <a:srgbClr val="202020"/>
            </a:solidFill>
          </a:ln>
        </p:spPr>
      </p:sp>
      <p:sp>
        <p:nvSpPr>
          <p:cNvPr id="18" name="!!fdm-ft-ft-choice-down-r0-axis-line">
            <a:extLst xmlns:a="http://schemas.openxmlformats.org/drawingml/2006/main">
              <a:ext uri="{FF2B5EF4-FFF2-40B4-BE49-F238E27FC236}">
                <a16:creationId xmlns:a16="http://schemas.microsoft.com/office/drawing/2014/main" id="{20F952A4-27B6-459A-A32D-76A5A6A22053}"/>
              </a:ext>
            </a:extLst>
          </p:cNvPr>
          <p:cNvSpPr>
            <a:spLocks xmlns:a="http://schemas.openxmlformats.org/drawingml/2006/main" noGrp="1"/>
          </p:cNvSpPr>
          <p:nvPr/>
        </p:nvSpPr>
        <p:spPr>
          <a:xfrm xmlns:a="http://schemas.openxmlformats.org/drawingml/2006/main">
            <a:off x="45720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fdm-ft-ft-choice-down-r0-axis-head">
            <a:extLst xmlns:a="http://schemas.openxmlformats.org/drawingml/2006/main">
              <a:ext uri="{FF2B5EF4-FFF2-40B4-BE49-F238E27FC236}">
                <a16:creationId xmlns:a16="http://schemas.microsoft.com/office/drawing/2014/main" id="{7A3230AD-A41E-4E18-AEEB-51B1B80F66EF}"/>
              </a:ext>
            </a:extLst>
          </p:cNvPr>
          <p:cNvSpPr>
            <a:spLocks xmlns:a="http://schemas.openxmlformats.org/drawingml/2006/main" noGrp="1"/>
          </p:cNvSpPr>
          <p:nvPr/>
        </p:nvSpPr>
        <p:spPr>
          <a:xfrm xmlns:a="http://schemas.openxmlformats.org/drawingml/2006/main" rot="5400000">
            <a:off x="72390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0" name="!!fdm-ft-ft-choice-down-r0-tick0">
            <a:extLst xmlns:a="http://schemas.openxmlformats.org/drawingml/2006/main">
              <a:ext uri="{FF2B5EF4-FFF2-40B4-BE49-F238E27FC236}">
                <a16:creationId xmlns:a16="http://schemas.microsoft.com/office/drawing/2014/main" id="{C04FD088-21E2-49D4-ABE7-91F18678CA78}"/>
              </a:ext>
            </a:extLst>
          </p:cNvPr>
          <p:cNvSpPr>
            <a:spLocks xmlns:a="http://schemas.openxmlformats.org/drawingml/2006/main" noGrp="1"/>
          </p:cNvSpPr>
          <p:nvPr/>
        </p:nvSpPr>
        <p:spPr>
          <a:xfrm xmlns:a="http://schemas.openxmlformats.org/drawingml/2006/main">
            <a:off x="5653617"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fdm-ft-ft-choice-down-r0-tick1">
            <a:extLst xmlns:a="http://schemas.openxmlformats.org/drawingml/2006/main">
              <a:ext uri="{FF2B5EF4-FFF2-40B4-BE49-F238E27FC236}">
                <a16:creationId xmlns:a16="http://schemas.microsoft.com/office/drawing/2014/main" id="{09A69E49-3847-408C-B0B7-E890F9F5ABD1}"/>
              </a:ext>
            </a:extLst>
          </p:cNvPr>
          <p:cNvSpPr>
            <a:spLocks xmlns:a="http://schemas.openxmlformats.org/drawingml/2006/main" noGrp="1"/>
          </p:cNvSpPr>
          <p:nvPr/>
        </p:nvSpPr>
        <p:spPr>
          <a:xfrm xmlns:a="http://schemas.openxmlformats.org/drawingml/2006/main">
            <a:off x="59626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fdm-ft-ft-choice-down-r0-tick2">
            <a:extLst xmlns:a="http://schemas.openxmlformats.org/drawingml/2006/main">
              <a:ext uri="{FF2B5EF4-FFF2-40B4-BE49-F238E27FC236}">
                <a16:creationId xmlns:a16="http://schemas.microsoft.com/office/drawing/2014/main" id="{71D5A135-66C4-4D44-A3C2-46B1896AAAB9}"/>
              </a:ext>
            </a:extLst>
          </p:cNvPr>
          <p:cNvSpPr>
            <a:spLocks xmlns:a="http://schemas.openxmlformats.org/drawingml/2006/main" noGrp="1"/>
          </p:cNvSpPr>
          <p:nvPr/>
        </p:nvSpPr>
        <p:spPr>
          <a:xfrm xmlns:a="http://schemas.openxmlformats.org/drawingml/2006/main">
            <a:off x="6271683"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fdm-ft-ft-choice-down-bn">
            <a:extLst xmlns:a="http://schemas.openxmlformats.org/drawingml/2006/main">
              <a:ext uri="{FF2B5EF4-FFF2-40B4-BE49-F238E27FC236}">
                <a16:creationId xmlns:a16="http://schemas.microsoft.com/office/drawing/2014/main" id="{27F38B04-A892-4D65-BDE5-8B1261B460A6}"/>
              </a:ext>
            </a:extLst>
          </p:cNvPr>
          <p:cNvSpPr>
            <a:spLocks xmlns:a="http://schemas.openxmlformats.org/drawingml/2006/main" noGrp="1"/>
          </p:cNvSpPr>
          <p:nvPr/>
        </p:nvSpPr>
        <p:spPr>
          <a:xfrm xmlns:a="http://schemas.openxmlformats.org/drawingml/2006/main">
            <a:off x="5576358"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4" name="!!fdm-ft-ft-choice-down-bp">
            <a:extLst xmlns:a="http://schemas.openxmlformats.org/drawingml/2006/main">
              <a:ext uri="{FF2B5EF4-FFF2-40B4-BE49-F238E27FC236}">
                <a16:creationId xmlns:a16="http://schemas.microsoft.com/office/drawing/2014/main" id="{C8313DA8-D129-4C99-BCFC-18C3771EC3A0}"/>
              </a:ext>
            </a:extLst>
          </p:cNvPr>
          <p:cNvSpPr>
            <a:spLocks xmlns:a="http://schemas.openxmlformats.org/drawingml/2006/main" noGrp="1"/>
          </p:cNvSpPr>
          <p:nvPr/>
        </p:nvSpPr>
        <p:spPr>
          <a:xfrm xmlns:a="http://schemas.openxmlformats.org/drawingml/2006/main">
            <a:off x="6194425"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25" name="!!fdm-ft-ft-choice-up-r0-axis-line">
            <a:extLst xmlns:a="http://schemas.openxmlformats.org/drawingml/2006/main">
              <a:ext uri="{FF2B5EF4-FFF2-40B4-BE49-F238E27FC236}">
                <a16:creationId xmlns:a16="http://schemas.microsoft.com/office/drawing/2014/main" id="{AACEAEA4-BD68-40C5-A5E3-459CB1E92332}"/>
              </a:ext>
            </a:extLst>
          </p:cNvPr>
          <p:cNvSpPr>
            <a:spLocks xmlns:a="http://schemas.openxmlformats.org/drawingml/2006/main" noGrp="1"/>
          </p:cNvSpPr>
          <p:nvPr/>
        </p:nvSpPr>
        <p:spPr>
          <a:xfrm xmlns:a="http://schemas.openxmlformats.org/drawingml/2006/main">
            <a:off x="8572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fdm-ft-ft-choice-up-r0-axis-head">
            <a:extLst xmlns:a="http://schemas.openxmlformats.org/drawingml/2006/main">
              <a:ext uri="{FF2B5EF4-FFF2-40B4-BE49-F238E27FC236}">
                <a16:creationId xmlns:a16="http://schemas.microsoft.com/office/drawing/2014/main" id="{3908D19B-2FE2-43D5-A81D-FC4657A1AD73}"/>
              </a:ext>
            </a:extLst>
          </p:cNvPr>
          <p:cNvSpPr>
            <a:spLocks xmlns:a="http://schemas.openxmlformats.org/drawingml/2006/main" noGrp="1"/>
          </p:cNvSpPr>
          <p:nvPr/>
        </p:nvSpPr>
        <p:spPr>
          <a:xfrm xmlns:a="http://schemas.openxmlformats.org/drawingml/2006/main" rot="5400000">
            <a:off x="11239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7" name="!!fdm-ft-ft-choice-up-r0-tick0">
            <a:extLst xmlns:a="http://schemas.openxmlformats.org/drawingml/2006/main">
              <a:ext uri="{FF2B5EF4-FFF2-40B4-BE49-F238E27FC236}">
                <a16:creationId xmlns:a16="http://schemas.microsoft.com/office/drawing/2014/main" id="{45D101FF-C4F6-4662-8E3F-9332CAA8DDC9}"/>
              </a:ext>
            </a:extLst>
          </p:cNvPr>
          <p:cNvSpPr>
            <a:spLocks xmlns:a="http://schemas.openxmlformats.org/drawingml/2006/main" noGrp="1"/>
          </p:cNvSpPr>
          <p:nvPr/>
        </p:nvSpPr>
        <p:spPr>
          <a:xfrm xmlns:a="http://schemas.openxmlformats.org/drawingml/2006/main">
            <a:off x="90360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fdm-ft-ft-choice-up-r0-tick1">
            <a:extLst xmlns:a="http://schemas.openxmlformats.org/drawingml/2006/main">
              <a:ext uri="{FF2B5EF4-FFF2-40B4-BE49-F238E27FC236}">
                <a16:creationId xmlns:a16="http://schemas.microsoft.com/office/drawing/2014/main" id="{99110E95-163D-4DEC-9286-0C9AA45A676F}"/>
              </a:ext>
            </a:extLst>
          </p:cNvPr>
          <p:cNvSpPr>
            <a:spLocks xmlns:a="http://schemas.openxmlformats.org/drawingml/2006/main" noGrp="1"/>
          </p:cNvSpPr>
          <p:nvPr/>
        </p:nvSpPr>
        <p:spPr>
          <a:xfrm xmlns:a="http://schemas.openxmlformats.org/drawingml/2006/main">
            <a:off x="9963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fdm-ft-ft-choice-up-r0-tick2">
            <a:extLst xmlns:a="http://schemas.openxmlformats.org/drawingml/2006/main">
              <a:ext uri="{FF2B5EF4-FFF2-40B4-BE49-F238E27FC236}">
                <a16:creationId xmlns:a16="http://schemas.microsoft.com/office/drawing/2014/main" id="{EF3E1FEA-A626-43B9-BA3A-8AB75E80E336}"/>
              </a:ext>
            </a:extLst>
          </p:cNvPr>
          <p:cNvSpPr>
            <a:spLocks xmlns:a="http://schemas.openxmlformats.org/drawingml/2006/main" noGrp="1"/>
          </p:cNvSpPr>
          <p:nvPr/>
        </p:nvSpPr>
        <p:spPr>
          <a:xfrm xmlns:a="http://schemas.openxmlformats.org/drawingml/2006/main">
            <a:off x="108902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fdm-ft-ft-choice-up-bn">
            <a:extLst xmlns:a="http://schemas.openxmlformats.org/drawingml/2006/main">
              <a:ext uri="{FF2B5EF4-FFF2-40B4-BE49-F238E27FC236}">
                <a16:creationId xmlns:a16="http://schemas.microsoft.com/office/drawing/2014/main" id="{59B8153B-D6A0-466C-B983-7AC883054D55}"/>
              </a:ext>
            </a:extLst>
          </p:cNvPr>
          <p:cNvSpPr>
            <a:spLocks xmlns:a="http://schemas.openxmlformats.org/drawingml/2006/main" noGrp="1"/>
          </p:cNvSpPr>
          <p:nvPr/>
        </p:nvSpPr>
        <p:spPr>
          <a:xfrm xmlns:a="http://schemas.openxmlformats.org/drawingml/2006/main">
            <a:off x="8958792"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31" name="!!fdm-ft-ft-choice-up-bp">
            <a:extLst xmlns:a="http://schemas.openxmlformats.org/drawingml/2006/main">
              <a:ext uri="{FF2B5EF4-FFF2-40B4-BE49-F238E27FC236}">
                <a16:creationId xmlns:a16="http://schemas.microsoft.com/office/drawing/2014/main" id="{C284BEED-79F2-40C9-B66A-09607A76F2B8}"/>
              </a:ext>
            </a:extLst>
          </p:cNvPr>
          <p:cNvSpPr>
            <a:spLocks xmlns:a="http://schemas.openxmlformats.org/drawingml/2006/main" noGrp="1"/>
          </p:cNvSpPr>
          <p:nvPr/>
        </p:nvSpPr>
        <p:spPr>
          <a:xfrm xmlns:a="http://schemas.openxmlformats.org/drawingml/2006/main">
            <a:off x="10812992" y="3548063"/>
            <a:ext cx="154517" cy="261938"/>
          </a:xfrm>
          <a:custGeom xmlns:a="http://schemas.openxmlformats.org/drawingml/2006/main">
            <a:pathLst>
              <a:path w="154517" h="261938">
                <a:moveTo>
                  <a:pt x="0" y="261938"/>
                </a:moveTo>
                <a:lnTo>
                  <a:pt x="77258" y="0"/>
                </a:lnTo>
                <a:lnTo>
                  <a:pt x="154517" y="261938"/>
                </a:lnTo>
                <a:close/>
              </a:path>
            </a:pathLst>
          </a:custGeom>
          <a:solidFill xmlns:a="http://schemas.openxmlformats.org/drawingml/2006/main">
            <a:srgbClr val="535353"/>
          </a:solidFill>
          <a:ln xmlns:a="http://schemas.openxmlformats.org/drawingml/2006/main" w="10478">
            <a:solidFill>
              <a:srgbClr val="202020"/>
            </a:solidFill>
          </a:ln>
        </p:spPr>
      </p:sp>
      <p:sp>
        <p:nvSpPr>
          <p:cNvPr id="32" name="!!fdm-ft-choice-or">
            <a:extLst xmlns:a="http://schemas.openxmlformats.org/drawingml/2006/main">
              <a:ext uri="{FF2B5EF4-FFF2-40B4-BE49-F238E27FC236}">
                <a16:creationId xmlns:a16="http://schemas.microsoft.com/office/drawing/2014/main" id="{F0F7AC23-8494-404C-9AB8-88076FD0EFE5}"/>
              </a:ext>
            </a:extLst>
          </p:cNvPr>
          <p:cNvSpPr>
            <a:spLocks xmlns:a="http://schemas.openxmlformats.org/drawingml/2006/main" noGrp="1"/>
          </p:cNvSpPr>
          <p:nvPr/>
        </p:nvSpPr>
        <p:spPr>
          <a:xfrm xmlns:a="http://schemas.openxmlformats.org/drawingml/2006/main">
            <a:off x="7543800" y="3390900"/>
            <a:ext cx="838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or</a:t>
            </a:r>
          </a:p>
        </p:txBody>
      </p:sp>
      <p:sp>
        <p:nvSpPr>
          <p:cNvPr id="33" name="!!fdm-ft-choice-label">
            <a:extLst xmlns:a="http://schemas.openxmlformats.org/drawingml/2006/main">
              <a:ext uri="{FF2B5EF4-FFF2-40B4-BE49-F238E27FC236}">
                <a16:creationId xmlns:a16="http://schemas.microsoft.com/office/drawing/2014/main" id="{61F3D46F-389D-4FE3-9293-F0EDB141BE10}"/>
              </a:ext>
            </a:extLst>
          </p:cNvPr>
          <p:cNvSpPr>
            <a:spLocks xmlns:a="http://schemas.openxmlformats.org/drawingml/2006/main" noGrp="1"/>
          </p:cNvSpPr>
          <p:nvPr/>
        </p:nvSpPr>
        <p:spPr>
          <a:xfrm xmlns:a="http://schemas.openxmlformats.org/drawingml/2006/main">
            <a:off x="666750" y="19812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Choose one output band</a:t>
            </a:r>
          </a:p>
        </p:txBody>
      </p:sp>
      <p:pic>
        <p:nvPicPr>
          <p:cNvPr id="93" name="!!fdm-ft-route-m" descr="m(t)">
            <ns0:hlinkClick xmlns:ns0="http://schemas.openxmlformats.org/drawingml/2006/main" xmlns:ns1="http://schemas.openxmlformats.org/officeDocument/2006/relationships" ns1:id="rIdmethods_Link4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45cc2bebdd04d8f">
            <a:extLst>
              <a:ext uri="{96DAC541-7B7A-43D3-8B79-37D633B846F1}">
                <ns0:svgBlip xmlns:ns0="http://schemas.microsoft.com/office/drawing/2016/SVG/main" r:embed="rIdVectormf00214"/>
              </a:ext>
            </a:extLst>
          </a:blip>
          <a:stretch xmlns:a="http://schemas.openxmlformats.org/drawingml/2006/main"/>
        </p:blipFill>
        <p:spPr>
          <a:xfrm xmlns:a="http://schemas.openxmlformats.org/drawingml/2006/main">
            <a:off x="2159318" y="1181100"/>
            <a:ext cx="920115" cy="400050"/>
          </a:xfrm>
          <a:prstGeom xmlns:a="http://schemas.openxmlformats.org/drawingml/2006/main" prst="rect">
            <a:avLst/>
          </a:prstGeom>
        </p:spPr>
      </p:pic>
      <p:pic>
        <p:nvPicPr>
          <p:cNvPr id="94" name="!!fdm-ft-route-s" descr="s_1(t)">
            <ns0:hlinkClick xmlns:ns0="http://schemas.openxmlformats.org/drawingml/2006/main" xmlns:ns1="http://schemas.openxmlformats.org/officeDocument/2006/relationships" ns1:id="rIdmethods_Link4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f57dcfeb309a4eb7">
            <a:extLst>
              <a:ext uri="{96DAC541-7B7A-43D3-8B79-37D633B846F1}">
                <ns1:svgBlip xmlns:ns1="http://schemas.microsoft.com/office/drawing/2016/SVG/main" r:embed="rIdVectormf00215"/>
              </a:ext>
            </a:extLst>
          </a:blip>
          <a:stretch xmlns:a="http://schemas.openxmlformats.org/drawingml/2006/main"/>
        </p:blipFill>
        <p:spPr>
          <a:xfrm xmlns:a="http://schemas.openxmlformats.org/drawingml/2006/main">
            <a:off x="5635943" y="1181100"/>
            <a:ext cx="920115" cy="400050"/>
          </a:xfrm>
          <a:prstGeom xmlns:a="http://schemas.openxmlformats.org/drawingml/2006/main" prst="rect">
            <a:avLst/>
          </a:prstGeom>
        </p:spPr>
      </p:pic>
      <p:pic>
        <p:nvPicPr>
          <p:cNvPr id="95" name="!!fdm-ft-route-restored" descr="m(t)">
            <ns0:hlinkClick xmlns:ns0="http://schemas.openxmlformats.org/drawingml/2006/main" xmlns:ns1="http://schemas.openxmlformats.org/officeDocument/2006/relationships" ns1:id="rIdmethods_Link4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78fbd3850984f2d">
            <a:extLst>
              <a:ext uri="{96DAC541-7B7A-43D3-8B79-37D633B846F1}">
                <ns2:svgBlip xmlns:ns2="http://schemas.microsoft.com/office/drawing/2016/SVG/main" r:embed="rIdVectormf00216"/>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96" name="!!fdm-ft-ft-choice-input-r0-domain" descr="f"/>
          <p:cNvPicPr>
            <a:picLocks xmlns:a="http://schemas.openxmlformats.org/drawingml/2006/main" noChangeAspect="1"/>
          </p:cNvPicPr>
          <p:nvPr/>
        </p:nvPicPr>
        <p:blipFill>
          <a:blip xmlns:r="http://schemas.openxmlformats.org/officeDocument/2006/relationships" xmlns:a="http://schemas.openxmlformats.org/drawingml/2006/main" r:embed="Rb93a82e0a4e54062">
            <a:extLst>
              <a:ext uri="{96DAC541-7B7A-43D3-8B79-37D633B846F1}">
                <ns3:svgBlip xmlns:ns3="http://schemas.microsoft.com/office/drawing/2016/SVG/main" r:embed="rIdVectormf00217"/>
              </a:ext>
            </a:extLst>
          </a:blip>
          <a:stretch xmlns:a="http://schemas.openxmlformats.org/drawingml/2006/main"/>
        </p:blipFill>
        <p:spPr>
          <a:xfrm xmlns:a="http://schemas.openxmlformats.org/drawingml/2006/main">
            <a:off x="3374873" y="3597593"/>
            <a:ext cx="79678" cy="120015"/>
          </a:xfrm>
          <a:prstGeom xmlns:a="http://schemas.openxmlformats.org/drawingml/2006/main" prst="rect">
            <a:avLst/>
          </a:prstGeom>
        </p:spPr>
      </p:pic>
      <p:pic>
        <p:nvPicPr>
          <p:cNvPr id="97" name="!!fdm-ft-ft-choice-input-r0-ticklabel0" descr="-(f_1+f_{\ell})"/>
          <p:cNvPicPr>
            <a:picLocks xmlns:a="http://schemas.openxmlformats.org/drawingml/2006/main" noChangeAspect="1"/>
          </p:cNvPicPr>
          <p:nvPr/>
        </p:nvPicPr>
        <p:blipFill>
          <a:blip xmlns:r="http://schemas.openxmlformats.org/officeDocument/2006/relationships" xmlns:a="http://schemas.openxmlformats.org/drawingml/2006/main" r:embed="Rd0664d769eda482f">
            <a:extLst>
              <a:ext uri="{96DAC541-7B7A-43D3-8B79-37D633B846F1}">
                <ns4:svgBlip xmlns:ns4="http://schemas.microsoft.com/office/drawing/2016/SVG/main" r:embed="rIdVectormf00218"/>
              </a:ext>
            </a:extLst>
          </a:blip>
          <a:stretch xmlns:a="http://schemas.openxmlformats.org/drawingml/2006/main"/>
        </p:blipFill>
        <p:spPr>
          <a:xfrm xmlns:a="http://schemas.openxmlformats.org/drawingml/2006/main">
            <a:off x="623570" y="3915311"/>
            <a:ext cx="822960" cy="170378"/>
          </a:xfrm>
          <a:prstGeom xmlns:a="http://schemas.openxmlformats.org/drawingml/2006/main" prst="rect">
            <a:avLst/>
          </a:prstGeom>
        </p:spPr>
      </p:pic>
      <p:pic>
        <p:nvPicPr>
          <p:cNvPr id="98" name="!!fdm-ft-ft-choice-input-r0-ticklabel1" descr="-(f_1-f_{\ell})"/>
          <p:cNvPicPr>
            <a:picLocks xmlns:a="http://schemas.openxmlformats.org/drawingml/2006/main" noChangeAspect="1"/>
          </p:cNvPicPr>
          <p:nvPr/>
        </p:nvPicPr>
        <p:blipFill>
          <a:blip xmlns:r="http://schemas.openxmlformats.org/officeDocument/2006/relationships" xmlns:a="http://schemas.openxmlformats.org/drawingml/2006/main" r:embed="Rcff4b33b58f640d5">
            <a:extLst>
              <a:ext uri="{96DAC541-7B7A-43D3-8B79-37D633B846F1}">
                <ns5:svgBlip xmlns:ns5="http://schemas.microsoft.com/office/drawing/2016/SVG/main" r:embed="rIdVectormf00219"/>
              </a:ext>
            </a:extLst>
          </a:blip>
          <a:stretch xmlns:a="http://schemas.openxmlformats.org/drawingml/2006/main"/>
        </p:blipFill>
        <p:spPr>
          <a:xfrm xmlns:a="http://schemas.openxmlformats.org/drawingml/2006/main">
            <a:off x="1241637" y="4115336"/>
            <a:ext cx="822960" cy="170378"/>
          </a:xfrm>
          <a:prstGeom xmlns:a="http://schemas.openxmlformats.org/drawingml/2006/main" prst="rect">
            <a:avLst/>
          </a:prstGeom>
        </p:spPr>
      </p:pic>
      <p:pic>
        <p:nvPicPr>
          <p:cNvPr id="99" name="!!fdm-ft-ft-choice-input-r0-ticklabel2" descr="0"/>
          <p:cNvPicPr>
            <a:picLocks xmlns:a="http://schemas.openxmlformats.org/drawingml/2006/main" noChangeAspect="1"/>
          </p:cNvPicPr>
          <p:nvPr/>
        </p:nvPicPr>
        <p:blipFill>
          <a:blip xmlns:r="http://schemas.openxmlformats.org/officeDocument/2006/relationships" xmlns:a="http://schemas.openxmlformats.org/drawingml/2006/main" r:embed="R73c1042fcbd147cd">
            <a:extLst>
              <a:ext uri="{96DAC541-7B7A-43D3-8B79-37D633B846F1}">
                <ns6:svgBlip xmlns:ns6="http://schemas.microsoft.com/office/drawing/2016/SVG/main" r:embed="rIdVectormf00220"/>
              </a:ext>
            </a:extLst>
          </a:blip>
          <a:stretch xmlns:a="http://schemas.openxmlformats.org/drawingml/2006/main"/>
        </p:blipFill>
        <p:spPr>
          <a:xfrm xmlns:a="http://schemas.openxmlformats.org/drawingml/2006/main">
            <a:off x="1916175" y="4349115"/>
            <a:ext cx="91951" cy="102870"/>
          </a:xfrm>
          <a:prstGeom xmlns:a="http://schemas.openxmlformats.org/drawingml/2006/main" prst="rect">
            <a:avLst/>
          </a:prstGeom>
        </p:spPr>
      </p:pic>
      <p:pic>
        <p:nvPicPr>
          <p:cNvPr id="100" name="!!fdm-ft-ft-choice-input-r0-ticklabel3" descr="f_1-f_{\ell}"/>
          <p:cNvPicPr>
            <a:picLocks xmlns:a="http://schemas.openxmlformats.org/drawingml/2006/main" noChangeAspect="1"/>
          </p:cNvPicPr>
          <p:nvPr/>
        </p:nvPicPr>
        <p:blipFill>
          <a:blip xmlns:r="http://schemas.openxmlformats.org/officeDocument/2006/relationships" xmlns:a="http://schemas.openxmlformats.org/drawingml/2006/main" r:embed="Rf40b3e7f807a4fef">
            <a:extLst>
              <a:ext uri="{96DAC541-7B7A-43D3-8B79-37D633B846F1}">
                <ns7:svgBlip xmlns:ns7="http://schemas.microsoft.com/office/drawing/2016/SVG/main" r:embed="rIdVectormf00221"/>
              </a:ext>
            </a:extLst>
          </a:blip>
          <a:stretch xmlns:a="http://schemas.openxmlformats.org/drawingml/2006/main"/>
        </p:blipFill>
        <p:spPr>
          <a:xfrm xmlns:a="http://schemas.openxmlformats.org/drawingml/2006/main">
            <a:off x="2029136" y="3931920"/>
            <a:ext cx="484094" cy="137160"/>
          </a:xfrm>
          <a:prstGeom xmlns:a="http://schemas.openxmlformats.org/drawingml/2006/main" prst="rect">
            <a:avLst/>
          </a:prstGeom>
        </p:spPr>
      </p:pic>
      <p:pic>
        <p:nvPicPr>
          <p:cNvPr id="101" name="!!fdm-ft-ft-choice-input-r0-ticklabel4" descr="f_1+f_{\ell}"/>
          <p:cNvPicPr>
            <a:picLocks xmlns:a="http://schemas.openxmlformats.org/drawingml/2006/main" noChangeAspect="1"/>
          </p:cNvPicPr>
          <p:nvPr/>
        </p:nvPicPr>
        <p:blipFill>
          <a:blip xmlns:r="http://schemas.openxmlformats.org/officeDocument/2006/relationships" xmlns:a="http://schemas.openxmlformats.org/drawingml/2006/main" r:embed="R8072857247d543ed">
            <a:extLst>
              <a:ext uri="{96DAC541-7B7A-43D3-8B79-37D633B846F1}">
                <ns8:svgBlip xmlns:ns8="http://schemas.microsoft.com/office/drawing/2016/SVG/main" r:embed="rIdVectormf00222"/>
              </a:ext>
            </a:extLst>
          </a:blip>
          <a:stretch xmlns:a="http://schemas.openxmlformats.org/drawingml/2006/main"/>
        </p:blipFill>
        <p:spPr>
          <a:xfrm xmlns:a="http://schemas.openxmlformats.org/drawingml/2006/main">
            <a:off x="2647203" y="3931920"/>
            <a:ext cx="484094" cy="137160"/>
          </a:xfrm>
          <a:prstGeom xmlns:a="http://schemas.openxmlformats.org/drawingml/2006/main" prst="rect">
            <a:avLst/>
          </a:prstGeom>
        </p:spPr>
      </p:pic>
      <p:pic>
        <p:nvPicPr>
          <p:cNvPr id="102" name="!!fdm-ft-ft-choice-input-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7a871aefee2c46a0">
            <a:extLst>
              <a:ext uri="{96DAC541-7B7A-43D3-8B79-37D633B846F1}">
                <ns9:svgBlip xmlns:ns9="http://schemas.microsoft.com/office/drawing/2016/SVG/main" r:embed="rIdVectormf00223"/>
              </a:ext>
            </a:extLst>
          </a:blip>
          <a:stretch xmlns:a="http://schemas.openxmlformats.org/drawingml/2006/main"/>
        </p:blipFill>
        <p:spPr>
          <a:xfrm xmlns:a="http://schemas.openxmlformats.org/drawingml/2006/main">
            <a:off x="571500" y="2667655"/>
            <a:ext cx="481965" cy="208240"/>
          </a:xfrm>
          <a:prstGeom xmlns:a="http://schemas.openxmlformats.org/drawingml/2006/main" prst="rect">
            <a:avLst/>
          </a:prstGeom>
        </p:spPr>
      </p:pic>
      <p:pic>
        <p:nvPicPr>
          <p:cNvPr id="103" name="!!fdm-ft-ft-choice-down-r0-domain" descr="f"/>
          <p:cNvPicPr>
            <a:picLocks xmlns:a="http://schemas.openxmlformats.org/drawingml/2006/main" noChangeAspect="1"/>
          </p:cNvPicPr>
          <p:nvPr/>
        </p:nvPicPr>
        <p:blipFill>
          <a:blip xmlns:r="http://schemas.openxmlformats.org/officeDocument/2006/relationships" xmlns:a="http://schemas.openxmlformats.org/drawingml/2006/main" r:embed="R7baeb573970e42e9">
            <a:extLst>
              <a:ext uri="{96DAC541-7B7A-43D3-8B79-37D633B846F1}">
                <ns10:svgBlip xmlns:ns10="http://schemas.microsoft.com/office/drawing/2016/SVG/main" r:embed="rIdVectormf00224"/>
              </a:ext>
            </a:extLst>
          </a:blip>
          <a:stretch xmlns:a="http://schemas.openxmlformats.org/drawingml/2006/main"/>
        </p:blipFill>
        <p:spPr>
          <a:xfrm xmlns:a="http://schemas.openxmlformats.org/drawingml/2006/main">
            <a:off x="7375373" y="3597593"/>
            <a:ext cx="79678" cy="120015"/>
          </a:xfrm>
          <a:prstGeom xmlns:a="http://schemas.openxmlformats.org/drawingml/2006/main" prst="rect">
            <a:avLst/>
          </a:prstGeom>
        </p:spPr>
      </p:pic>
      <p:pic>
        <p:nvPicPr>
          <p:cNvPr id="104" name="!!fdm-ft-ft-choice-down-r0-ticklabel0" descr="-f_2"/>
          <p:cNvPicPr>
            <a:picLocks xmlns:a="http://schemas.openxmlformats.org/drawingml/2006/main" noChangeAspect="1"/>
          </p:cNvPicPr>
          <p:nvPr/>
        </p:nvPicPr>
        <p:blipFill>
          <a:blip xmlns:r="http://schemas.openxmlformats.org/officeDocument/2006/relationships" xmlns:a="http://schemas.openxmlformats.org/drawingml/2006/main" r:embed="R4077d0c125d442e1">
            <a:extLst>
              <a:ext uri="{96DAC541-7B7A-43D3-8B79-37D633B846F1}">
                <ns11:svgBlip xmlns:ns11="http://schemas.microsoft.com/office/drawing/2016/SVG/main" r:embed="rIdVectormf00225"/>
              </a:ext>
            </a:extLst>
          </a:blip>
          <a:stretch xmlns:a="http://schemas.openxmlformats.org/drawingml/2006/main"/>
        </p:blipFill>
        <p:spPr>
          <a:xfrm xmlns:a="http://schemas.openxmlformats.org/drawingml/2006/main">
            <a:off x="5515594" y="3931920"/>
            <a:ext cx="276045" cy="137160"/>
          </a:xfrm>
          <a:prstGeom xmlns:a="http://schemas.openxmlformats.org/drawingml/2006/main" prst="rect">
            <a:avLst/>
          </a:prstGeom>
        </p:spPr>
      </p:pic>
      <p:pic>
        <p:nvPicPr>
          <p:cNvPr id="105" name="!!fdm-ft-ft-choice-down-r0-ticklabel1" descr="0"/>
          <p:cNvPicPr>
            <a:picLocks xmlns:a="http://schemas.openxmlformats.org/drawingml/2006/main" noChangeAspect="1"/>
          </p:cNvPicPr>
          <p:nvPr/>
        </p:nvPicPr>
        <p:blipFill>
          <a:blip xmlns:r="http://schemas.openxmlformats.org/officeDocument/2006/relationships" xmlns:a="http://schemas.openxmlformats.org/drawingml/2006/main" r:embed="R47ecaed965b542ca">
            <a:extLst>
              <a:ext uri="{96DAC541-7B7A-43D3-8B79-37D633B846F1}">
                <ns12:svgBlip xmlns:ns12="http://schemas.microsoft.com/office/drawing/2016/SVG/main" r:embed="rIdVectormf00226"/>
              </a:ext>
            </a:extLst>
          </a:blip>
          <a:stretch xmlns:a="http://schemas.openxmlformats.org/drawingml/2006/main"/>
        </p:blipFill>
        <p:spPr>
          <a:xfrm xmlns:a="http://schemas.openxmlformats.org/drawingml/2006/main">
            <a:off x="5916675" y="3949065"/>
            <a:ext cx="91951" cy="102870"/>
          </a:xfrm>
          <a:prstGeom xmlns:a="http://schemas.openxmlformats.org/drawingml/2006/main" prst="rect">
            <a:avLst/>
          </a:prstGeom>
        </p:spPr>
      </p:pic>
      <p:pic>
        <p:nvPicPr>
          <p:cNvPr id="106" name="!!fdm-ft-ft-choice-down-r0-ticklabel2" descr="f_2"/>
          <p:cNvPicPr>
            <a:picLocks xmlns:a="http://schemas.openxmlformats.org/drawingml/2006/main" noChangeAspect="1"/>
          </p:cNvPicPr>
          <p:nvPr/>
        </p:nvPicPr>
        <p:blipFill>
          <a:blip xmlns:r="http://schemas.openxmlformats.org/officeDocument/2006/relationships" xmlns:a="http://schemas.openxmlformats.org/drawingml/2006/main" r:embed="R076d95b3413a4133">
            <a:extLst>
              <a:ext uri="{96DAC541-7B7A-43D3-8B79-37D633B846F1}">
                <ns13:svgBlip xmlns:ns13="http://schemas.microsoft.com/office/drawing/2016/SVG/main" r:embed="rIdVectormf00227"/>
              </a:ext>
            </a:extLst>
          </a:blip>
          <a:stretch xmlns:a="http://schemas.openxmlformats.org/drawingml/2006/main"/>
        </p:blipFill>
        <p:spPr>
          <a:xfrm xmlns:a="http://schemas.openxmlformats.org/drawingml/2006/main">
            <a:off x="6206369" y="3931920"/>
            <a:ext cx="130629" cy="137160"/>
          </a:xfrm>
          <a:prstGeom xmlns:a="http://schemas.openxmlformats.org/drawingml/2006/main" prst="rect">
            <a:avLst/>
          </a:prstGeom>
        </p:spPr>
      </p:pic>
      <p:pic>
        <p:nvPicPr>
          <p:cNvPr id="107" name="!!fdm-ft-ft-choice-down-r0-label" descr="\textstyle S_2(f)"/>
          <p:cNvPicPr>
            <a:picLocks xmlns:a="http://schemas.openxmlformats.org/drawingml/2006/main" noChangeAspect="1"/>
          </p:cNvPicPr>
          <p:nvPr/>
        </p:nvPicPr>
        <p:blipFill>
          <a:blip xmlns:r="http://schemas.openxmlformats.org/officeDocument/2006/relationships" xmlns:a="http://schemas.openxmlformats.org/drawingml/2006/main" r:embed="Rc6a2b693d4ba4ae5">
            <a:extLst>
              <a:ext uri="{96DAC541-7B7A-43D3-8B79-37D633B846F1}">
                <ns14:svgBlip xmlns:ns14="http://schemas.microsoft.com/office/drawing/2016/SVG/main" r:embed="rIdVectormf00228"/>
              </a:ext>
            </a:extLst>
          </a:blip>
          <a:stretch xmlns:a="http://schemas.openxmlformats.org/drawingml/2006/main"/>
        </p:blipFill>
        <p:spPr>
          <a:xfrm xmlns:a="http://schemas.openxmlformats.org/drawingml/2006/main">
            <a:off x="4572000" y="2667000"/>
            <a:ext cx="523875" cy="209550"/>
          </a:xfrm>
          <a:prstGeom xmlns:a="http://schemas.openxmlformats.org/drawingml/2006/main" prst="rect">
            <a:avLst/>
          </a:prstGeom>
        </p:spPr>
      </p:pic>
      <p:pic>
        <p:nvPicPr>
          <p:cNvPr id="108" name="!!fdm-ft-ft-choice-up-r0-domain" descr="f"/>
          <p:cNvPicPr>
            <a:picLocks xmlns:a="http://schemas.openxmlformats.org/drawingml/2006/main" noChangeAspect="1"/>
          </p:cNvPicPr>
          <p:nvPr/>
        </p:nvPicPr>
        <p:blipFill>
          <a:blip xmlns:r="http://schemas.openxmlformats.org/officeDocument/2006/relationships" xmlns:a="http://schemas.openxmlformats.org/drawingml/2006/main" r:embed="R18c1cfd0f7e24a74">
            <a:extLst>
              <a:ext uri="{96DAC541-7B7A-43D3-8B79-37D633B846F1}">
                <ns15:svgBlip xmlns:ns15="http://schemas.microsoft.com/office/drawing/2016/SVG/main" r:embed="rIdVectormf00229"/>
              </a:ext>
            </a:extLst>
          </a:blip>
          <a:stretch xmlns:a="http://schemas.openxmlformats.org/drawingml/2006/main"/>
        </p:blipFill>
        <p:spPr>
          <a:xfrm xmlns:a="http://schemas.openxmlformats.org/drawingml/2006/main">
            <a:off x="11375873" y="3597593"/>
            <a:ext cx="79678" cy="120015"/>
          </a:xfrm>
          <a:prstGeom xmlns:a="http://schemas.openxmlformats.org/drawingml/2006/main" prst="rect">
            <a:avLst/>
          </a:prstGeom>
        </p:spPr>
      </p:pic>
      <p:pic>
        <p:nvPicPr>
          <p:cNvPr id="109" name="!!fdm-ft-ft-choice-up-r0-ticklabel0" descr="-f_2"/>
          <p:cNvPicPr>
            <a:picLocks xmlns:a="http://schemas.openxmlformats.org/drawingml/2006/main" noChangeAspect="1"/>
          </p:cNvPicPr>
          <p:nvPr/>
        </p:nvPicPr>
        <p:blipFill>
          <a:blip xmlns:r="http://schemas.openxmlformats.org/officeDocument/2006/relationships" xmlns:a="http://schemas.openxmlformats.org/drawingml/2006/main" r:embed="R0e3cd5ecde1645c8">
            <a:extLst>
              <a:ext uri="{96DAC541-7B7A-43D3-8B79-37D633B846F1}">
                <ns16:svgBlip xmlns:ns16="http://schemas.microsoft.com/office/drawing/2016/SVG/main" r:embed="rIdVectormf00230"/>
              </a:ext>
            </a:extLst>
          </a:blip>
          <a:stretch xmlns:a="http://schemas.openxmlformats.org/drawingml/2006/main"/>
        </p:blipFill>
        <p:spPr>
          <a:xfrm xmlns:a="http://schemas.openxmlformats.org/drawingml/2006/main">
            <a:off x="8898027" y="3931920"/>
            <a:ext cx="276045" cy="137160"/>
          </a:xfrm>
          <a:prstGeom xmlns:a="http://schemas.openxmlformats.org/drawingml/2006/main" prst="rect">
            <a:avLst/>
          </a:prstGeom>
        </p:spPr>
      </p:pic>
      <p:pic>
        <p:nvPicPr>
          <p:cNvPr id="110" name="!!fdm-ft-ft-choice-up-r0-ticklabel1" descr="0"/>
          <p:cNvPicPr>
            <a:picLocks xmlns:a="http://schemas.openxmlformats.org/drawingml/2006/main" noChangeAspect="1"/>
          </p:cNvPicPr>
          <p:nvPr/>
        </p:nvPicPr>
        <p:blipFill>
          <a:blip xmlns:r="http://schemas.openxmlformats.org/officeDocument/2006/relationships" xmlns:a="http://schemas.openxmlformats.org/drawingml/2006/main" r:embed="R0bc1cc82f31e4120">
            <a:extLst>
              <a:ext uri="{96DAC541-7B7A-43D3-8B79-37D633B846F1}">
                <ns17:svgBlip xmlns:ns17="http://schemas.microsoft.com/office/drawing/2016/SVG/main" r:embed="rIdVectormf00231"/>
              </a:ext>
            </a:extLst>
          </a:blip>
          <a:stretch xmlns:a="http://schemas.openxmlformats.org/drawingml/2006/main"/>
        </p:blipFill>
        <p:spPr>
          <a:xfrm xmlns:a="http://schemas.openxmlformats.org/drawingml/2006/main">
            <a:off x="9917175" y="3949065"/>
            <a:ext cx="91951" cy="102870"/>
          </a:xfrm>
          <a:prstGeom xmlns:a="http://schemas.openxmlformats.org/drawingml/2006/main" prst="rect">
            <a:avLst/>
          </a:prstGeom>
        </p:spPr>
      </p:pic>
      <p:pic>
        <p:nvPicPr>
          <p:cNvPr id="111" name="!!fdm-ft-ft-choice-up-r0-ticklabel2" descr="f_2"/>
          <p:cNvPicPr>
            <a:picLocks xmlns:a="http://schemas.openxmlformats.org/drawingml/2006/main" noChangeAspect="1"/>
          </p:cNvPicPr>
          <p:nvPr/>
        </p:nvPicPr>
        <p:blipFill>
          <a:blip xmlns:r="http://schemas.openxmlformats.org/officeDocument/2006/relationships" xmlns:a="http://schemas.openxmlformats.org/drawingml/2006/main" r:embed="Rba0e3d448db942f1">
            <a:extLst>
              <a:ext uri="{96DAC541-7B7A-43D3-8B79-37D633B846F1}">
                <ns18:svgBlip xmlns:ns18="http://schemas.microsoft.com/office/drawing/2016/SVG/main" r:embed="rIdVectormf00232"/>
              </a:ext>
            </a:extLst>
          </a:blip>
          <a:stretch xmlns:a="http://schemas.openxmlformats.org/drawingml/2006/main"/>
        </p:blipFill>
        <p:spPr>
          <a:xfrm xmlns:a="http://schemas.openxmlformats.org/drawingml/2006/main">
            <a:off x="10824936" y="3931920"/>
            <a:ext cx="130629" cy="137160"/>
          </a:xfrm>
          <a:prstGeom xmlns:a="http://schemas.openxmlformats.org/drawingml/2006/main" prst="rect">
            <a:avLst/>
          </a:prstGeom>
        </p:spPr>
      </p:pic>
      <p:pic>
        <p:nvPicPr>
          <p:cNvPr id="112" name="!!fdm-ft-ft-choice-up-r0-label" descr="\textstyle S_2(f)"/>
          <p:cNvPicPr>
            <a:picLocks xmlns:a="http://schemas.openxmlformats.org/drawingml/2006/main" noChangeAspect="1"/>
          </p:cNvPicPr>
          <p:nvPr/>
        </p:nvPicPr>
        <p:blipFill>
          <a:blip xmlns:r="http://schemas.openxmlformats.org/officeDocument/2006/relationships" xmlns:a="http://schemas.openxmlformats.org/drawingml/2006/main" r:embed="R265e521b4206437b">
            <a:extLst>
              <a:ext uri="{96DAC541-7B7A-43D3-8B79-37D633B846F1}">
                <ns19:svgBlip xmlns:ns19="http://schemas.microsoft.com/office/drawing/2016/SVG/main" r:embed="rIdVectormf00233"/>
              </a:ext>
            </a:extLst>
          </a:blip>
          <a:stretch xmlns:a="http://schemas.openxmlformats.org/drawingml/2006/main"/>
        </p:blipFill>
        <p:spPr>
          <a:xfrm xmlns:a="http://schemas.openxmlformats.org/drawingml/2006/main">
            <a:off x="8572500" y="2667000"/>
            <a:ext cx="523875" cy="209550"/>
          </a:xfrm>
          <a:prstGeom xmlns:a="http://schemas.openxmlformats.org/drawingml/2006/main" prst="rect">
            <a:avLst/>
          </a:prstGeom>
        </p:spPr>
      </p:pic>
      <p:pic>
        <p:nvPicPr>
          <p:cNvPr id="113" name="!!fdm-ft-down-label" descr="f_2=f_1-f_{\ell}"/>
          <p:cNvPicPr>
            <a:picLocks xmlns:a="http://schemas.openxmlformats.org/drawingml/2006/main" noChangeAspect="1"/>
          </p:cNvPicPr>
          <p:nvPr/>
        </p:nvPicPr>
        <p:blipFill>
          <a:blip xmlns:r="http://schemas.openxmlformats.org/officeDocument/2006/relationships" xmlns:a="http://schemas.openxmlformats.org/drawingml/2006/main" r:embed="R2db7f0d28f8c4993">
            <a:extLst>
              <a:ext uri="{96DAC541-7B7A-43D3-8B79-37D633B846F1}">
                <ns20:svgBlip xmlns:ns20="http://schemas.microsoft.com/office/drawing/2016/SVG/main" r:embed="rIdVectormf00234"/>
              </a:ext>
            </a:extLst>
          </a:blip>
          <a:stretch xmlns:a="http://schemas.openxmlformats.org/drawingml/2006/main"/>
        </p:blipFill>
        <p:spPr>
          <a:xfrm xmlns:a="http://schemas.openxmlformats.org/drawingml/2006/main">
            <a:off x="4651924" y="4375785"/>
            <a:ext cx="1166032" cy="182880"/>
          </a:xfrm>
          <a:prstGeom xmlns:a="http://schemas.openxmlformats.org/drawingml/2006/main" prst="rect">
            <a:avLst/>
          </a:prstGeom>
        </p:spPr>
      </p:pic>
      <p:pic>
        <p:nvPicPr>
          <p:cNvPr id="114" name="!!fdm-ft-up-label" descr="f_2=f_1+f_{\ell}"/>
          <p:cNvPicPr>
            <a:picLocks xmlns:a="http://schemas.openxmlformats.org/drawingml/2006/main" noChangeAspect="1"/>
          </p:cNvPicPr>
          <p:nvPr/>
        </p:nvPicPr>
        <p:blipFill>
          <a:blip xmlns:r="http://schemas.openxmlformats.org/officeDocument/2006/relationships" xmlns:a="http://schemas.openxmlformats.org/drawingml/2006/main" r:embed="R208fc02a60c646c0">
            <a:extLst>
              <a:ext uri="{96DAC541-7B7A-43D3-8B79-37D633B846F1}">
                <ns21:svgBlip xmlns:ns21="http://schemas.microsoft.com/office/drawing/2016/SVG/main" r:embed="rIdVectormf00235"/>
              </a:ext>
            </a:extLst>
          </a:blip>
          <a:stretch xmlns:a="http://schemas.openxmlformats.org/drawingml/2006/main"/>
        </p:blipFill>
        <p:spPr>
          <a:xfrm xmlns:a="http://schemas.openxmlformats.org/drawingml/2006/main">
            <a:off x="8652424" y="4375785"/>
            <a:ext cx="1166032" cy="182880"/>
          </a:xfrm>
          <a:prstGeom xmlns:a="http://schemas.openxmlformats.org/drawingml/2006/main" prst="rect">
            <a:avLst/>
          </a:prstGeom>
        </p:spPr>
      </p:pic>
      <p:pic>
        <p:nvPicPr>
          <p:cNvPr id="115" name="!!fdm-ft-dense-equation-0" descr="\textstyle s_1(t)=m(t)\cos(2\pi f_1t)"/>
          <p:cNvPicPr>
            <a:picLocks xmlns:a="http://schemas.openxmlformats.org/drawingml/2006/main" noChangeAspect="1"/>
          </p:cNvPicPr>
          <p:nvPr/>
        </p:nvPicPr>
        <p:blipFill>
          <a:blip xmlns:r="http://schemas.openxmlformats.org/officeDocument/2006/relationships" xmlns:a="http://schemas.openxmlformats.org/drawingml/2006/main" r:embed="Rff597c6c9f374b15">
            <a:extLst>
              <a:ext uri="{96DAC541-7B7A-43D3-8B79-37D633B846F1}">
                <ns22:svgBlip xmlns:ns22="http://schemas.microsoft.com/office/drawing/2016/SVG/main" r:embed="rIdVectormf00236"/>
              </a:ext>
            </a:extLst>
          </a:blip>
          <a:stretch xmlns:a="http://schemas.openxmlformats.org/drawingml/2006/main"/>
        </p:blipFill>
        <p:spPr>
          <a:xfrm xmlns:a="http://schemas.openxmlformats.org/drawingml/2006/main">
            <a:off x="609600" y="4998720"/>
            <a:ext cx="2798445" cy="247650"/>
          </a:xfrm>
          <a:prstGeom xmlns:a="http://schemas.openxmlformats.org/drawingml/2006/main" prst="rect">
            <a:avLst/>
          </a:prstGeom>
        </p:spPr>
      </p:pic>
      <p:pic>
        <p:nvPicPr>
          <p:cNvPr id="116" name="!!fdm-ft-dense-equation-1" descr="\textstyle s'(t)=m(t)\cos[2\pi(f_1-f_{\ell})t]+m(t)\cos[2\pi(f_1+f_{\ell})t]"/>
          <p:cNvPicPr>
            <a:picLocks xmlns:a="http://schemas.openxmlformats.org/drawingml/2006/main" noChangeAspect="1"/>
          </p:cNvPicPr>
          <p:nvPr/>
        </p:nvPicPr>
        <p:blipFill>
          <a:blip xmlns:r="http://schemas.openxmlformats.org/officeDocument/2006/relationships" xmlns:a="http://schemas.openxmlformats.org/drawingml/2006/main" r:embed="R1b5a793f6abe44fc">
            <a:extLst>
              <a:ext uri="{96DAC541-7B7A-43D3-8B79-37D633B846F1}">
                <ns23:svgBlip xmlns:ns23="http://schemas.microsoft.com/office/drawing/2016/SVG/main" r:embed="rIdVectormf00237"/>
              </a:ext>
            </a:extLst>
          </a:blip>
          <a:stretch xmlns:a="http://schemas.openxmlformats.org/drawingml/2006/main"/>
        </p:blipFill>
        <p:spPr>
          <a:xfrm xmlns:a="http://schemas.openxmlformats.org/drawingml/2006/main">
            <a:off x="609600" y="5389245"/>
            <a:ext cx="6315075" cy="247650"/>
          </a:xfrm>
          <a:prstGeom xmlns:a="http://schemas.openxmlformats.org/drawingml/2006/main" prst="rect">
            <a:avLst/>
          </a:prstGeom>
        </p:spPr>
      </p:pic>
      <p:pic>
        <p:nvPicPr>
          <p:cNvPr id="117" name="!!fdm-ft-dense-equation-2" descr="\textstyle f_2=f_1-f_{\ell}\quad\text{or}\quad f_2=f_1+f_{\ell}"/>
          <p:cNvPicPr>
            <a:picLocks xmlns:a="http://schemas.openxmlformats.org/drawingml/2006/main" noChangeAspect="1"/>
          </p:cNvPicPr>
          <p:nvPr/>
        </p:nvPicPr>
        <p:blipFill>
          <a:blip xmlns:r="http://schemas.openxmlformats.org/officeDocument/2006/relationships" xmlns:a="http://schemas.openxmlformats.org/drawingml/2006/main" r:embed="R2578f26017ae4c27">
            <a:extLst>
              <a:ext uri="{96DAC541-7B7A-43D3-8B79-37D633B846F1}">
                <ns24:svgBlip xmlns:ns24="http://schemas.microsoft.com/office/drawing/2016/SVG/main" r:embed="rIdVectormf00238"/>
              </a:ext>
            </a:extLst>
          </a:blip>
          <a:stretch xmlns:a="http://schemas.openxmlformats.org/drawingml/2006/main"/>
        </p:blipFill>
        <p:spPr>
          <a:xfrm xmlns:a="http://schemas.openxmlformats.org/drawingml/2006/main">
            <a:off x="700130" y="5804535"/>
            <a:ext cx="3310805" cy="198120"/>
          </a:xfrm>
          <a:prstGeom xmlns:a="http://schemas.openxmlformats.org/drawingml/2006/main" prst="rect">
            <a:avLst/>
          </a:prstGeom>
        </p:spPr>
      </p:pic>
      <p:pic>
        <p:nvPicPr>
          <p:cNvPr id="118" name="!!fdm-ft-dense-equation-3" descr="\textstyle s_2(t)=m(t)\cos(2\pi f_2t)"/>
          <p:cNvPicPr>
            <a:picLocks xmlns:a="http://schemas.openxmlformats.org/drawingml/2006/main" noChangeAspect="1"/>
          </p:cNvPicPr>
          <p:nvPr/>
        </p:nvPicPr>
        <p:blipFill>
          <a:blip xmlns:r="http://schemas.openxmlformats.org/officeDocument/2006/relationships" xmlns:a="http://schemas.openxmlformats.org/drawingml/2006/main" r:embed="R8ece9e852029454c">
            <a:extLst>
              <a:ext uri="{96DAC541-7B7A-43D3-8B79-37D633B846F1}">
                <ns25:svgBlip xmlns:ns25="http://schemas.microsoft.com/office/drawing/2016/SVG/main" r:embed="rIdVectormf00239"/>
              </a:ext>
            </a:extLst>
          </a:blip>
          <a:stretch xmlns:a="http://schemas.openxmlformats.org/drawingml/2006/main"/>
        </p:blipFill>
        <p:spPr>
          <a:xfrm xmlns:a="http://schemas.openxmlformats.org/drawingml/2006/main">
            <a:off x="609600" y="6170295"/>
            <a:ext cx="2798445" cy="247650"/>
          </a:xfrm>
          <a:prstGeom xmlns:a="http://schemas.openxmlformats.org/drawingml/2006/main" prst="rect">
            <a:avLst/>
          </a:prstGeom>
        </p:spPr>
      </p:pic>
    </p:spTree>
    <p:extLst>
      <p:ext uri="{BB962C8B-B14F-4D97-AF65-F5344CB8AC3E}">
        <p14:creationId xmlns:p14="http://schemas.microsoft.com/office/powerpoint/2010/main" val="1793689532"/>
      </p:ext>
    </p:extLst>
  </p:cSld>
</p:sld>
</file>

<file path=ppt/slides/methods_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q2-solve-title">
            <ns0:hlinkClick xmlns:ns0="http://schemas.openxmlformats.org/drawingml/2006/main" xmlns:ns1="http://schemas.openxmlformats.org/officeDocument/2006/relationships" ns1:id="rIdmethods_Link46" action="ppaction://hlinksldjump"/>
            <a:extLst xmlns:a="http://schemas.openxmlformats.org/drawingml/2006/main">
              <a:ext uri="{FF2B5EF4-FFF2-40B4-BE49-F238E27FC236}">
                <a16:creationId xmlns:a16="http://schemas.microsoft.com/office/drawing/2014/main" id="{59D4F1E6-FA77-4609-B89B-A67DE1ADE6CD}"/>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46" action="ppaction://hlinksldjump"/>
              </a:rPr>
              <a:t>FDM</a:t>
            </a:r>
          </a:p>
        </p:txBody>
      </p:sp>
      <p:sp>
        <p:nvSpPr>
          <p:cNvPr id="2" name="!!q2-solve-subtitle">
            <a:extLst xmlns:a="http://schemas.openxmlformats.org/drawingml/2006/main">
              <a:ext uri="{FF2B5EF4-FFF2-40B4-BE49-F238E27FC236}">
                <a16:creationId xmlns:a16="http://schemas.microsoft.com/office/drawing/2014/main" id="{906B7EAA-EBF7-4DDA-A760-29D3AB931171}"/>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One modulated signal (example)</a:t>
            </a:r>
          </a:p>
        </p:txBody>
      </p:sp>
      <p:sp>
        <p:nvSpPr>
          <p:cNvPr id="3" name="!!q2-solve-route-tx-line">
            <a:extLst xmlns:a="http://schemas.openxmlformats.org/drawingml/2006/main">
              <a:ext uri="{FF2B5EF4-FFF2-40B4-BE49-F238E27FC236}">
                <a16:creationId xmlns:a16="http://schemas.microsoft.com/office/drawing/2014/main" id="{4F550046-3761-4C59-8C8E-5E87DE9FA240}"/>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q2-solve-route-tx-head">
            <a:extLst xmlns:a="http://schemas.openxmlformats.org/drawingml/2006/main">
              <a:ext uri="{FF2B5EF4-FFF2-40B4-BE49-F238E27FC236}">
                <a16:creationId xmlns:a16="http://schemas.microsoft.com/office/drawing/2014/main" id="{A9F28710-E3D8-4EA3-9349-95B68F7ACB78}"/>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q2-solve-route-rx-line">
            <a:extLst xmlns:a="http://schemas.openxmlformats.org/drawingml/2006/main">
              <a:ext uri="{FF2B5EF4-FFF2-40B4-BE49-F238E27FC236}">
                <a16:creationId xmlns:a16="http://schemas.microsoft.com/office/drawing/2014/main" id="{F888A8E7-3F65-42DE-B621-8426AF637CD1}"/>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q2-solve-route-rx-head">
            <a:extLst xmlns:a="http://schemas.openxmlformats.org/drawingml/2006/main">
              <a:ext uri="{FF2B5EF4-FFF2-40B4-BE49-F238E27FC236}">
                <a16:creationId xmlns:a16="http://schemas.microsoft.com/office/drawing/2014/main" id="{7229759A-AE2A-4A20-9902-2D99AEB10A98}"/>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q2-solve-question">
            <a:extLst xmlns:a="http://schemas.openxmlformats.org/drawingml/2006/main">
              <a:ext uri="{FF2B5EF4-FFF2-40B4-BE49-F238E27FC236}">
                <a16:creationId xmlns:a16="http://schemas.microsoft.com/office/drawing/2014/main" id="{C69F5541-D2CD-4FA3-80BD-12980FF1CF28}"/>
              </a:ext>
            </a:extLst>
          </p:cNvPr>
          <p:cNvSpPr>
            <a:spLocks xmlns:a="http://schemas.openxmlformats.org/drawingml/2006/main" noGrp="1"/>
          </p:cNvSpPr>
          <p:nvPr/>
        </p:nvSpPr>
        <p:spPr>
          <a:xfrm xmlns:a="http://schemas.openxmlformats.org/drawingml/2006/main">
            <a:off x="666750" y="17430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Move the carrier from 100 kHz to 20 kHz.</a:t>
            </a:r>
          </a:p>
        </p:txBody>
      </p:sp>
      <p:sp>
        <p:nvSpPr>
          <p:cNvPr id="8" name="!!q2-solve-question-parts">
            <a:extLst xmlns:a="http://schemas.openxmlformats.org/drawingml/2006/main">
              <a:ext uri="{FF2B5EF4-FFF2-40B4-BE49-F238E27FC236}">
                <a16:creationId xmlns:a16="http://schemas.microsoft.com/office/drawing/2014/main" id="{0ADFE7FB-ADA2-41F5-BD55-12B007DE84DD}"/>
              </a:ext>
            </a:extLst>
          </p:cNvPr>
          <p:cNvSpPr>
            <a:spLocks xmlns:a="http://schemas.openxmlformats.org/drawingml/2006/main" noGrp="1"/>
          </p:cNvSpPr>
          <p:nvPr/>
        </p:nvSpPr>
        <p:spPr>
          <a:xfrm xmlns:a="http://schemas.openxmlformats.org/drawingml/2006/main">
            <a:off x="666750" y="21240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Calculate: mixing signal, BPF passbands, and unwanted output frequency.</a:t>
            </a:r>
          </a:p>
        </p:txBody>
      </p:sp>
      <p:sp>
        <p:nvSpPr>
          <p:cNvPr id="9" name="!!q2-solve-frequency-unit">
            <a:extLst xmlns:a="http://schemas.openxmlformats.org/drawingml/2006/main">
              <a:ext uri="{FF2B5EF4-FFF2-40B4-BE49-F238E27FC236}">
                <a16:creationId xmlns:a16="http://schemas.microsoft.com/office/drawing/2014/main" id="{093866AE-F545-4AB5-AA57-6BB909292B1C}"/>
              </a:ext>
            </a:extLst>
          </p:cNvPr>
          <p:cNvSpPr>
            <a:spLocks xmlns:a="http://schemas.openxmlformats.org/drawingml/2006/main" noGrp="1"/>
          </p:cNvSpPr>
          <p:nvPr/>
        </p:nvSpPr>
        <p:spPr>
          <a:xfrm xmlns:a="http://schemas.openxmlformats.org/drawingml/2006/main">
            <a:off x="10382250" y="28670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i="0">
                <a:solidFill>
                  <a:srgbClr val="202020"/>
                </a:solidFill>
                <a:latin typeface="Times New Roman"/>
                <a:ea typeface="Times New Roman"/>
                <a:cs typeface="Times New Roman"/>
              </a:defRPr>
            </a:pPr>
            <a:r>
              <a:rPr sz="1425" b="0" i="0">
                <a:solidFill>
                  <a:srgbClr val="202020"/>
                </a:solidFill>
                <a:latin typeface="Times New Roman"/>
                <a:ea typeface="Times New Roman"/>
                <a:cs typeface="Times New Roman"/>
              </a:rPr>
              <a:t>f in kHz</a:t>
            </a:r>
          </a:p>
        </p:txBody>
      </p:sp>
      <p:sp>
        <p:nvSpPr>
          <p:cNvPr id="10" name="!!q2-solve-input-axis-line">
            <a:extLst xmlns:a="http://schemas.openxmlformats.org/drawingml/2006/main">
              <a:ext uri="{FF2B5EF4-FFF2-40B4-BE49-F238E27FC236}">
                <a16:creationId xmlns:a16="http://schemas.microsoft.com/office/drawing/2014/main" id="{EBE858FD-C609-490E-AF5F-DFE521E80CA2}"/>
              </a:ext>
            </a:extLst>
          </p:cNvPr>
          <p:cNvSpPr>
            <a:spLocks xmlns:a="http://schemas.openxmlformats.org/drawingml/2006/main" noGrp="1"/>
          </p:cNvSpPr>
          <p:nvPr/>
        </p:nvSpPr>
        <p:spPr>
          <a:xfrm xmlns:a="http://schemas.openxmlformats.org/drawingml/2006/main">
            <a:off x="571500" y="37623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q2-solve-input-axis-head">
            <a:extLst xmlns:a="http://schemas.openxmlformats.org/drawingml/2006/main">
              <a:ext uri="{FF2B5EF4-FFF2-40B4-BE49-F238E27FC236}">
                <a16:creationId xmlns:a16="http://schemas.microsoft.com/office/drawing/2014/main" id="{9D081607-FCC7-45CC-8703-882295985827}"/>
              </a:ext>
            </a:extLst>
          </p:cNvPr>
          <p:cNvSpPr>
            <a:spLocks xmlns:a="http://schemas.openxmlformats.org/drawingml/2006/main" noGrp="1"/>
          </p:cNvSpPr>
          <p:nvPr/>
        </p:nvSpPr>
        <p:spPr>
          <a:xfrm xmlns:a="http://schemas.openxmlformats.org/drawingml/2006/main" rot="5400000">
            <a:off x="323850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q2-solve-input-tick0">
            <a:extLst xmlns:a="http://schemas.openxmlformats.org/drawingml/2006/main">
              <a:ext uri="{FF2B5EF4-FFF2-40B4-BE49-F238E27FC236}">
                <a16:creationId xmlns:a16="http://schemas.microsoft.com/office/drawing/2014/main" id="{5D84EC31-EABA-40D8-ABA2-70E197A4598C}"/>
              </a:ext>
            </a:extLst>
          </p:cNvPr>
          <p:cNvSpPr>
            <a:spLocks xmlns:a="http://schemas.openxmlformats.org/drawingml/2006/main" noGrp="1"/>
          </p:cNvSpPr>
          <p:nvPr/>
        </p:nvSpPr>
        <p:spPr>
          <a:xfrm xmlns:a="http://schemas.openxmlformats.org/drawingml/2006/main">
            <a:off x="126682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q2-solve-input-tick1">
            <a:extLst xmlns:a="http://schemas.openxmlformats.org/drawingml/2006/main">
              <a:ext uri="{FF2B5EF4-FFF2-40B4-BE49-F238E27FC236}">
                <a16:creationId xmlns:a16="http://schemas.microsoft.com/office/drawing/2014/main" id="{6341F58C-E394-4CF8-BF3D-1EAE898C0D88}"/>
              </a:ext>
            </a:extLst>
          </p:cNvPr>
          <p:cNvSpPr>
            <a:spLocks xmlns:a="http://schemas.openxmlformats.org/drawingml/2006/main" noGrp="1"/>
          </p:cNvSpPr>
          <p:nvPr/>
        </p:nvSpPr>
        <p:spPr>
          <a:xfrm xmlns:a="http://schemas.openxmlformats.org/drawingml/2006/main">
            <a:off x="19621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q2-solve-input-tick2">
            <a:extLst xmlns:a="http://schemas.openxmlformats.org/drawingml/2006/main">
              <a:ext uri="{FF2B5EF4-FFF2-40B4-BE49-F238E27FC236}">
                <a16:creationId xmlns:a16="http://schemas.microsoft.com/office/drawing/2014/main" id="{BA18049F-3FF0-48A4-8CC1-746F1A2BF2A6}"/>
              </a:ext>
            </a:extLst>
          </p:cNvPr>
          <p:cNvSpPr>
            <a:spLocks xmlns:a="http://schemas.openxmlformats.org/drawingml/2006/main" noGrp="1"/>
          </p:cNvSpPr>
          <p:nvPr/>
        </p:nvSpPr>
        <p:spPr>
          <a:xfrm xmlns:a="http://schemas.openxmlformats.org/drawingml/2006/main">
            <a:off x="265747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q2-solve-mixed-axis-line">
            <a:extLst xmlns:a="http://schemas.openxmlformats.org/drawingml/2006/main">
              <a:ext uri="{FF2B5EF4-FFF2-40B4-BE49-F238E27FC236}">
                <a16:creationId xmlns:a16="http://schemas.microsoft.com/office/drawing/2014/main" id="{38E0797F-4004-4CA8-A11E-4C62E0297027}"/>
              </a:ext>
            </a:extLst>
          </p:cNvPr>
          <p:cNvSpPr>
            <a:spLocks xmlns:a="http://schemas.openxmlformats.org/drawingml/2006/main" noGrp="1"/>
          </p:cNvSpPr>
          <p:nvPr/>
        </p:nvSpPr>
        <p:spPr>
          <a:xfrm xmlns:a="http://schemas.openxmlformats.org/drawingml/2006/main">
            <a:off x="4572000" y="37623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q2-solve-mixed-axis-head">
            <a:extLst xmlns:a="http://schemas.openxmlformats.org/drawingml/2006/main">
              <a:ext uri="{FF2B5EF4-FFF2-40B4-BE49-F238E27FC236}">
                <a16:creationId xmlns:a16="http://schemas.microsoft.com/office/drawing/2014/main" id="{F10E2754-09F5-4C7E-A93A-7C5735544F09}"/>
              </a:ext>
            </a:extLst>
          </p:cNvPr>
          <p:cNvSpPr>
            <a:spLocks xmlns:a="http://schemas.openxmlformats.org/drawingml/2006/main" noGrp="1"/>
          </p:cNvSpPr>
          <p:nvPr/>
        </p:nvSpPr>
        <p:spPr>
          <a:xfrm xmlns:a="http://schemas.openxmlformats.org/drawingml/2006/main" rot="5400000">
            <a:off x="723900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7" name="!!q2-solve-mixed-tick0">
            <a:extLst xmlns:a="http://schemas.openxmlformats.org/drawingml/2006/main">
              <a:ext uri="{FF2B5EF4-FFF2-40B4-BE49-F238E27FC236}">
                <a16:creationId xmlns:a16="http://schemas.microsoft.com/office/drawing/2014/main" id="{D0574BA8-4F70-48C7-9274-4B18C3ED60D5}"/>
              </a:ext>
            </a:extLst>
          </p:cNvPr>
          <p:cNvSpPr>
            <a:spLocks xmlns:a="http://schemas.openxmlformats.org/drawingml/2006/main" noGrp="1"/>
          </p:cNvSpPr>
          <p:nvPr/>
        </p:nvSpPr>
        <p:spPr>
          <a:xfrm xmlns:a="http://schemas.openxmlformats.org/drawingml/2006/main">
            <a:off x="59626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q2-solve-output-axis-line">
            <a:extLst xmlns:a="http://schemas.openxmlformats.org/drawingml/2006/main">
              <a:ext uri="{FF2B5EF4-FFF2-40B4-BE49-F238E27FC236}">
                <a16:creationId xmlns:a16="http://schemas.microsoft.com/office/drawing/2014/main" id="{E35093BD-E6D9-4228-913B-9ED121138341}"/>
              </a:ext>
            </a:extLst>
          </p:cNvPr>
          <p:cNvSpPr>
            <a:spLocks xmlns:a="http://schemas.openxmlformats.org/drawingml/2006/main" noGrp="1"/>
          </p:cNvSpPr>
          <p:nvPr/>
        </p:nvSpPr>
        <p:spPr>
          <a:xfrm xmlns:a="http://schemas.openxmlformats.org/drawingml/2006/main">
            <a:off x="8572500" y="37623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q2-solve-output-axis-head">
            <a:extLst xmlns:a="http://schemas.openxmlformats.org/drawingml/2006/main">
              <a:ext uri="{FF2B5EF4-FFF2-40B4-BE49-F238E27FC236}">
                <a16:creationId xmlns:a16="http://schemas.microsoft.com/office/drawing/2014/main" id="{FC4FFE1D-306D-495B-BCEE-9C840B0120E7}"/>
              </a:ext>
            </a:extLst>
          </p:cNvPr>
          <p:cNvSpPr>
            <a:spLocks xmlns:a="http://schemas.openxmlformats.org/drawingml/2006/main" noGrp="1"/>
          </p:cNvSpPr>
          <p:nvPr/>
        </p:nvSpPr>
        <p:spPr>
          <a:xfrm xmlns:a="http://schemas.openxmlformats.org/drawingml/2006/main" rot="5400000">
            <a:off x="1123950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0" name="!!q2-solve-output-tick0">
            <a:extLst xmlns:a="http://schemas.openxmlformats.org/drawingml/2006/main">
              <a:ext uri="{FF2B5EF4-FFF2-40B4-BE49-F238E27FC236}">
                <a16:creationId xmlns:a16="http://schemas.microsoft.com/office/drawing/2014/main" id="{D545FC87-7CA5-4331-ADC6-10D43F46EF6A}"/>
              </a:ext>
            </a:extLst>
          </p:cNvPr>
          <p:cNvSpPr>
            <a:spLocks xmlns:a="http://schemas.openxmlformats.org/drawingml/2006/main" noGrp="1"/>
          </p:cNvSpPr>
          <p:nvPr/>
        </p:nvSpPr>
        <p:spPr>
          <a:xfrm xmlns:a="http://schemas.openxmlformats.org/drawingml/2006/main">
            <a:off x="99631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q2-solve-input-100">
            <a:extLst xmlns:a="http://schemas.openxmlformats.org/drawingml/2006/main">
              <a:ext uri="{FF2B5EF4-FFF2-40B4-BE49-F238E27FC236}">
                <a16:creationId xmlns:a16="http://schemas.microsoft.com/office/drawing/2014/main" id="{E7E302ED-109A-4416-B37F-AC4F55676126}"/>
              </a:ext>
            </a:extLst>
          </p:cNvPr>
          <p:cNvSpPr>
            <a:spLocks xmlns:a="http://schemas.openxmlformats.org/drawingml/2006/main" noGrp="1"/>
          </p:cNvSpPr>
          <p:nvPr/>
        </p:nvSpPr>
        <p:spPr>
          <a:xfrm xmlns:a="http://schemas.openxmlformats.org/drawingml/2006/main">
            <a:off x="123901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535353"/>
          </a:solidFill>
          <a:ln xmlns:a="http://schemas.openxmlformats.org/drawingml/2006/main" w="10478">
            <a:solidFill>
              <a:srgbClr val="202020"/>
            </a:solidFill>
          </a:ln>
        </p:spPr>
      </p:sp>
      <p:sp>
        <p:nvSpPr>
          <p:cNvPr id="22" name="!!q2-solve-input100">
            <a:extLst xmlns:a="http://schemas.openxmlformats.org/drawingml/2006/main">
              <a:ext uri="{FF2B5EF4-FFF2-40B4-BE49-F238E27FC236}">
                <a16:creationId xmlns:a16="http://schemas.microsoft.com/office/drawing/2014/main" id="{1C0D3B7F-26E8-46EB-A3AB-FD1D2C5B69ED}"/>
              </a:ext>
            </a:extLst>
          </p:cNvPr>
          <p:cNvSpPr>
            <a:spLocks xmlns:a="http://schemas.openxmlformats.org/drawingml/2006/main" noGrp="1"/>
          </p:cNvSpPr>
          <p:nvPr/>
        </p:nvSpPr>
        <p:spPr>
          <a:xfrm xmlns:a="http://schemas.openxmlformats.org/drawingml/2006/main">
            <a:off x="262966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535353"/>
          </a:solidFill>
          <a:ln xmlns:a="http://schemas.openxmlformats.org/drawingml/2006/main" w="10478">
            <a:solidFill>
              <a:srgbClr val="202020"/>
            </a:solidFill>
          </a:ln>
        </p:spPr>
      </p:sp>
      <p:pic>
        <p:nvPicPr>
          <p:cNvPr id="61" name="!!q2-solve-route-m" descr="m(t)">
            <ns0:hlinkClick xmlns:ns0="http://schemas.openxmlformats.org/drawingml/2006/main" xmlns:ns1="http://schemas.openxmlformats.org/officeDocument/2006/relationships" ns1:id="rIdmethods_Link4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519c2ad86d1454c">
            <a:extLst>
              <a:ext uri="{96DAC541-7B7A-43D3-8B79-37D633B846F1}">
                <ns0:svgBlip xmlns:ns0="http://schemas.microsoft.com/office/drawing/2016/SVG/main" r:embed="rIdVectormf00240"/>
              </a:ext>
            </a:extLst>
          </a:blip>
          <a:stretch xmlns:a="http://schemas.openxmlformats.org/drawingml/2006/main"/>
        </p:blipFill>
        <p:spPr>
          <a:xfrm xmlns:a="http://schemas.openxmlformats.org/drawingml/2006/main">
            <a:off x="2159318" y="1181100"/>
            <a:ext cx="920115" cy="400050"/>
          </a:xfrm>
          <a:prstGeom xmlns:a="http://schemas.openxmlformats.org/drawingml/2006/main" prst="rect">
            <a:avLst/>
          </a:prstGeom>
        </p:spPr>
      </p:pic>
      <p:pic>
        <p:nvPicPr>
          <p:cNvPr id="62" name="!!q2-solve-route-s" descr="s_1(t)">
            <ns0:hlinkClick xmlns:ns0="http://schemas.openxmlformats.org/drawingml/2006/main" xmlns:ns1="http://schemas.openxmlformats.org/officeDocument/2006/relationships" ns1:id="rIdmethods_Link48"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26c5a62c96e451c">
            <a:extLst>
              <a:ext uri="{96DAC541-7B7A-43D3-8B79-37D633B846F1}">
                <ns1:svgBlip xmlns:ns1="http://schemas.microsoft.com/office/drawing/2016/SVG/main" r:embed="rIdVectormf00241"/>
              </a:ext>
            </a:extLst>
          </a:blip>
          <a:stretch xmlns:a="http://schemas.openxmlformats.org/drawingml/2006/main"/>
        </p:blipFill>
        <p:spPr>
          <a:xfrm xmlns:a="http://schemas.openxmlformats.org/drawingml/2006/main">
            <a:off x="5635943" y="1181100"/>
            <a:ext cx="920115" cy="400050"/>
          </a:xfrm>
          <a:prstGeom xmlns:a="http://schemas.openxmlformats.org/drawingml/2006/main" prst="rect">
            <a:avLst/>
          </a:prstGeom>
        </p:spPr>
      </p:pic>
      <p:pic>
        <p:nvPicPr>
          <p:cNvPr id="63" name="!!q2-solve-route-restored" descr="m(t)">
            <ns0:hlinkClick xmlns:ns0="http://schemas.openxmlformats.org/drawingml/2006/main" xmlns:ns1="http://schemas.openxmlformats.org/officeDocument/2006/relationships" ns1:id="rIdmethods_Link4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a765998adf246c8">
            <a:extLst>
              <a:ext uri="{96DAC541-7B7A-43D3-8B79-37D633B846F1}">
                <ns2:svgBlip xmlns:ns2="http://schemas.microsoft.com/office/drawing/2016/SVG/main" r:embed="rIdVectormf00242"/>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64" name="!!q2-solve-given-signal" descr="s_1(t)=m(t)\cos(2\pi\cdot100{,}000t),\quad W=4\ \mathrm{kHz}"/>
          <p:cNvPicPr>
            <a:picLocks xmlns:a="http://schemas.openxmlformats.org/drawingml/2006/main" noChangeAspect="1"/>
          </p:cNvPicPr>
          <p:nvPr/>
        </p:nvPicPr>
        <p:blipFill>
          <a:blip xmlns:r="http://schemas.openxmlformats.org/officeDocument/2006/relationships" xmlns:a="http://schemas.openxmlformats.org/drawingml/2006/main" r:embed="R9d90a43392d04a09">
            <a:extLst>
              <a:ext uri="{96DAC541-7B7A-43D3-8B79-37D633B846F1}">
                <ns3:svgBlip xmlns:ns3="http://schemas.microsoft.com/office/drawing/2016/SVG/main" r:embed="rIdVectormf00243"/>
              </a:ext>
            </a:extLst>
          </a:blip>
          <a:stretch xmlns:a="http://schemas.openxmlformats.org/drawingml/2006/main"/>
        </p:blipFill>
        <p:spPr>
          <a:xfrm xmlns:a="http://schemas.openxmlformats.org/drawingml/2006/main">
            <a:off x="609600" y="2553474"/>
            <a:ext cx="5522595" cy="246102"/>
          </a:xfrm>
          <a:prstGeom xmlns:a="http://schemas.openxmlformats.org/drawingml/2006/main" prst="rect">
            <a:avLst/>
          </a:prstGeom>
        </p:spPr>
      </p:pic>
      <p:pic>
        <p:nvPicPr>
          <p:cNvPr id="65" name="!!q2-solve-given-lo" descr="f_{\ell}&lt;100\ \mathrm{kHz}"/>
          <p:cNvPicPr>
            <a:picLocks xmlns:a="http://schemas.openxmlformats.org/drawingml/2006/main" noChangeAspect="1"/>
          </p:cNvPicPr>
          <p:nvPr/>
        </p:nvPicPr>
        <p:blipFill>
          <a:blip xmlns:r="http://schemas.openxmlformats.org/officeDocument/2006/relationships" xmlns:a="http://schemas.openxmlformats.org/drawingml/2006/main" r:embed="R9a2e1234ac8a497d">
            <a:extLst>
              <a:ext uri="{96DAC541-7B7A-43D3-8B79-37D633B846F1}">
                <ns4:svgBlip xmlns:ns4="http://schemas.microsoft.com/office/drawing/2016/SVG/main" r:embed="rIdVectormf00244"/>
              </a:ext>
            </a:extLst>
          </a:blip>
          <a:stretch xmlns:a="http://schemas.openxmlformats.org/drawingml/2006/main"/>
        </p:blipFill>
        <p:spPr>
          <a:xfrm xmlns:a="http://schemas.openxmlformats.org/drawingml/2006/main">
            <a:off x="8169834" y="2577465"/>
            <a:ext cx="1513992" cy="198120"/>
          </a:xfrm>
          <a:prstGeom xmlns:a="http://schemas.openxmlformats.org/drawingml/2006/main" prst="rect">
            <a:avLst/>
          </a:prstGeom>
        </p:spPr>
      </p:pic>
      <p:pic>
        <p:nvPicPr>
          <p:cNvPr id="66" name="!!q2-solve-input-label" descr="S_1(f)"/>
          <p:cNvPicPr>
            <a:picLocks xmlns:a="http://schemas.openxmlformats.org/drawingml/2006/main" noChangeAspect="1"/>
          </p:cNvPicPr>
          <p:nvPr/>
        </p:nvPicPr>
        <p:blipFill>
          <a:blip xmlns:r="http://schemas.openxmlformats.org/officeDocument/2006/relationships" xmlns:a="http://schemas.openxmlformats.org/drawingml/2006/main" r:embed="Rdba9c17cef304a1e">
            <a:extLst>
              <a:ext uri="{96DAC541-7B7A-43D3-8B79-37D633B846F1}">
                <ns5:svgBlip xmlns:ns5="http://schemas.microsoft.com/office/drawing/2016/SVG/main" r:embed="rIdVectormf00245"/>
              </a:ext>
            </a:extLst>
          </a:blip>
          <a:stretch xmlns:a="http://schemas.openxmlformats.org/drawingml/2006/main"/>
        </p:blipFill>
        <p:spPr>
          <a:xfrm xmlns:a="http://schemas.openxmlformats.org/drawingml/2006/main">
            <a:off x="571500" y="2976563"/>
            <a:ext cx="523875" cy="209550"/>
          </a:xfrm>
          <a:prstGeom xmlns:a="http://schemas.openxmlformats.org/drawingml/2006/main" prst="rect">
            <a:avLst/>
          </a:prstGeom>
        </p:spPr>
      </p:pic>
      <p:pic>
        <p:nvPicPr>
          <p:cNvPr id="67" name="!!q2-solve-input-domain" descr="f"/>
          <p:cNvPicPr>
            <a:picLocks xmlns:a="http://schemas.openxmlformats.org/drawingml/2006/main" noChangeAspect="1"/>
          </p:cNvPicPr>
          <p:nvPr/>
        </p:nvPicPr>
        <p:blipFill>
          <a:blip xmlns:r="http://schemas.openxmlformats.org/officeDocument/2006/relationships" xmlns:a="http://schemas.openxmlformats.org/drawingml/2006/main" r:embed="R123aee32ffd5409a">
            <a:extLst>
              <a:ext uri="{96DAC541-7B7A-43D3-8B79-37D633B846F1}">
                <ns6:svgBlip xmlns:ns6="http://schemas.microsoft.com/office/drawing/2016/SVG/main" r:embed="rIdVectormf00246"/>
              </a:ext>
            </a:extLst>
          </a:blip>
          <a:stretch xmlns:a="http://schemas.openxmlformats.org/drawingml/2006/main"/>
        </p:blipFill>
        <p:spPr>
          <a:xfrm xmlns:a="http://schemas.openxmlformats.org/drawingml/2006/main">
            <a:off x="3374873" y="3583305"/>
            <a:ext cx="79678" cy="120015"/>
          </a:xfrm>
          <a:prstGeom xmlns:a="http://schemas.openxmlformats.org/drawingml/2006/main" prst="rect">
            <a:avLst/>
          </a:prstGeom>
        </p:spPr>
      </p:pic>
      <p:pic>
        <p:nvPicPr>
          <p:cNvPr id="68" name="!!q2-solve-input-ticklabel0" descr="-100"/>
          <p:cNvPicPr>
            <a:picLocks xmlns:a="http://schemas.openxmlformats.org/drawingml/2006/main" noChangeAspect="1"/>
          </p:cNvPicPr>
          <p:nvPr/>
        </p:nvPicPr>
        <p:blipFill>
          <a:blip xmlns:r="http://schemas.openxmlformats.org/officeDocument/2006/relationships" xmlns:a="http://schemas.openxmlformats.org/drawingml/2006/main" r:embed="R3f696f411b1d4b19">
            <a:extLst>
              <a:ext uri="{96DAC541-7B7A-43D3-8B79-37D633B846F1}">
                <ns7:svgBlip xmlns:ns7="http://schemas.microsoft.com/office/drawing/2016/SVG/main" r:embed="rIdVectormf00247"/>
              </a:ext>
            </a:extLst>
          </a:blip>
          <a:stretch xmlns:a="http://schemas.openxmlformats.org/drawingml/2006/main"/>
        </p:blipFill>
        <p:spPr>
          <a:xfrm xmlns:a="http://schemas.openxmlformats.org/drawingml/2006/main">
            <a:off x="1043940" y="3872686"/>
            <a:ext cx="445770" cy="131802"/>
          </a:xfrm>
          <a:prstGeom xmlns:a="http://schemas.openxmlformats.org/drawingml/2006/main" prst="rect">
            <a:avLst/>
          </a:prstGeom>
        </p:spPr>
      </p:pic>
      <p:pic>
        <p:nvPicPr>
          <p:cNvPr id="69" name="!!q2-solve-input-ticklabel1" descr="0"/>
          <p:cNvPicPr>
            <a:picLocks xmlns:a="http://schemas.openxmlformats.org/drawingml/2006/main" noChangeAspect="1"/>
          </p:cNvPicPr>
          <p:nvPr/>
        </p:nvPicPr>
        <p:blipFill>
          <a:blip xmlns:r="http://schemas.openxmlformats.org/officeDocument/2006/relationships" xmlns:a="http://schemas.openxmlformats.org/drawingml/2006/main" r:embed="Rc3efc6d0b3e84534">
            <a:extLst>
              <a:ext uri="{96DAC541-7B7A-43D3-8B79-37D633B846F1}">
                <ns8:svgBlip xmlns:ns8="http://schemas.microsoft.com/office/drawing/2016/SVG/main" r:embed="rIdVectormf00248"/>
              </a:ext>
            </a:extLst>
          </a:blip>
          <a:stretch xmlns:a="http://schemas.openxmlformats.org/drawingml/2006/main"/>
        </p:blipFill>
        <p:spPr>
          <a:xfrm xmlns:a="http://schemas.openxmlformats.org/drawingml/2006/main">
            <a:off x="1916175" y="3887153"/>
            <a:ext cx="91951" cy="102870"/>
          </a:xfrm>
          <a:prstGeom xmlns:a="http://schemas.openxmlformats.org/drawingml/2006/main" prst="rect">
            <a:avLst/>
          </a:prstGeom>
        </p:spPr>
      </p:pic>
      <p:pic>
        <p:nvPicPr>
          <p:cNvPr id="70" name="!!q2-solve-input-ticklabel2" descr="100"/>
          <p:cNvPicPr>
            <a:picLocks xmlns:a="http://schemas.openxmlformats.org/drawingml/2006/main" noChangeAspect="1"/>
          </p:cNvPicPr>
          <p:nvPr/>
        </p:nvPicPr>
        <p:blipFill>
          <a:blip xmlns:r="http://schemas.openxmlformats.org/officeDocument/2006/relationships" xmlns:a="http://schemas.openxmlformats.org/drawingml/2006/main" r:embed="Rf5529ceae6384ed7">
            <a:extLst>
              <a:ext uri="{96DAC541-7B7A-43D3-8B79-37D633B846F1}">
                <ns9:svgBlip xmlns:ns9="http://schemas.microsoft.com/office/drawing/2016/SVG/main" r:embed="rIdVectormf00249"/>
              </a:ext>
            </a:extLst>
          </a:blip>
          <a:stretch xmlns:a="http://schemas.openxmlformats.org/drawingml/2006/main"/>
        </p:blipFill>
        <p:spPr>
          <a:xfrm xmlns:a="http://schemas.openxmlformats.org/drawingml/2006/main">
            <a:off x="2520315" y="3887153"/>
            <a:ext cx="274320" cy="102870"/>
          </a:xfrm>
          <a:prstGeom xmlns:a="http://schemas.openxmlformats.org/drawingml/2006/main" prst="rect">
            <a:avLst/>
          </a:prstGeom>
        </p:spPr>
      </p:pic>
      <p:pic>
        <p:nvPicPr>
          <p:cNvPr id="71" name="!!q2-solve-mixed-label" descr="S'(f)"/>
          <p:cNvPicPr>
            <a:picLocks xmlns:a="http://schemas.openxmlformats.org/drawingml/2006/main" noChangeAspect="1"/>
          </p:cNvPicPr>
          <p:nvPr/>
        </p:nvPicPr>
        <p:blipFill>
          <a:blip xmlns:r="http://schemas.openxmlformats.org/officeDocument/2006/relationships" xmlns:a="http://schemas.openxmlformats.org/drawingml/2006/main" r:embed="R358831f768684a12">
            <a:extLst>
              <a:ext uri="{96DAC541-7B7A-43D3-8B79-37D633B846F1}">
                <ns10:svgBlip xmlns:ns10="http://schemas.microsoft.com/office/drawing/2016/SVG/main" r:embed="rIdVectormf00250"/>
              </a:ext>
            </a:extLst>
          </a:blip>
          <a:stretch xmlns:a="http://schemas.openxmlformats.org/drawingml/2006/main"/>
        </p:blipFill>
        <p:spPr>
          <a:xfrm xmlns:a="http://schemas.openxmlformats.org/drawingml/2006/main">
            <a:off x="4582101" y="2976563"/>
            <a:ext cx="461763" cy="209550"/>
          </a:xfrm>
          <a:prstGeom xmlns:a="http://schemas.openxmlformats.org/drawingml/2006/main" prst="rect">
            <a:avLst/>
          </a:prstGeom>
        </p:spPr>
      </p:pic>
      <p:pic>
        <p:nvPicPr>
          <p:cNvPr id="72" name="!!q2-solve-mixed-domain" descr="f"/>
          <p:cNvPicPr>
            <a:picLocks xmlns:a="http://schemas.openxmlformats.org/drawingml/2006/main" noChangeAspect="1"/>
          </p:cNvPicPr>
          <p:nvPr/>
        </p:nvPicPr>
        <p:blipFill>
          <a:blip xmlns:r="http://schemas.openxmlformats.org/officeDocument/2006/relationships" xmlns:a="http://schemas.openxmlformats.org/drawingml/2006/main" r:embed="R8e564c2c18ee40a2">
            <a:extLst>
              <a:ext uri="{96DAC541-7B7A-43D3-8B79-37D633B846F1}">
                <ns11:svgBlip xmlns:ns11="http://schemas.microsoft.com/office/drawing/2016/SVG/main" r:embed="rIdVectormf00251"/>
              </a:ext>
            </a:extLst>
          </a:blip>
          <a:stretch xmlns:a="http://schemas.openxmlformats.org/drawingml/2006/main"/>
        </p:blipFill>
        <p:spPr>
          <a:xfrm xmlns:a="http://schemas.openxmlformats.org/drawingml/2006/main">
            <a:off x="7375373" y="3583305"/>
            <a:ext cx="79678" cy="120015"/>
          </a:xfrm>
          <a:prstGeom xmlns:a="http://schemas.openxmlformats.org/drawingml/2006/main" prst="rect">
            <a:avLst/>
          </a:prstGeom>
        </p:spPr>
      </p:pic>
      <p:pic>
        <p:nvPicPr>
          <p:cNvPr id="73" name="!!q2-solve-mixed-ticklabel0" descr="0"/>
          <p:cNvPicPr>
            <a:picLocks xmlns:a="http://schemas.openxmlformats.org/drawingml/2006/main" noChangeAspect="1"/>
          </p:cNvPicPr>
          <p:nvPr/>
        </p:nvPicPr>
        <p:blipFill>
          <a:blip xmlns:r="http://schemas.openxmlformats.org/officeDocument/2006/relationships" xmlns:a="http://schemas.openxmlformats.org/drawingml/2006/main" r:embed="R3811d2dd857c4fb3">
            <a:extLst>
              <a:ext uri="{96DAC541-7B7A-43D3-8B79-37D633B846F1}">
                <ns12:svgBlip xmlns:ns12="http://schemas.microsoft.com/office/drawing/2016/SVG/main" r:embed="rIdVectormf00252"/>
              </a:ext>
            </a:extLst>
          </a:blip>
          <a:stretch xmlns:a="http://schemas.openxmlformats.org/drawingml/2006/main"/>
        </p:blipFill>
        <p:spPr>
          <a:xfrm xmlns:a="http://schemas.openxmlformats.org/drawingml/2006/main">
            <a:off x="5916675" y="3887153"/>
            <a:ext cx="91951" cy="102870"/>
          </a:xfrm>
          <a:prstGeom xmlns:a="http://schemas.openxmlformats.org/drawingml/2006/main" prst="rect">
            <a:avLst/>
          </a:prstGeom>
        </p:spPr>
      </p:pic>
      <p:pic>
        <p:nvPicPr>
          <p:cNvPr id="74" name="!!q2-solve-output-label" descr="S_2(f)"/>
          <p:cNvPicPr>
            <a:picLocks xmlns:a="http://schemas.openxmlformats.org/drawingml/2006/main" noChangeAspect="1"/>
          </p:cNvPicPr>
          <p:nvPr/>
        </p:nvPicPr>
        <p:blipFill>
          <a:blip xmlns:r="http://schemas.openxmlformats.org/officeDocument/2006/relationships" xmlns:a="http://schemas.openxmlformats.org/drawingml/2006/main" r:embed="R4e5d3f72c92249e6">
            <a:extLst>
              <a:ext uri="{96DAC541-7B7A-43D3-8B79-37D633B846F1}">
                <ns13:svgBlip xmlns:ns13="http://schemas.microsoft.com/office/drawing/2016/SVG/main" r:embed="rIdVectormf00253"/>
              </a:ext>
            </a:extLst>
          </a:blip>
          <a:stretch xmlns:a="http://schemas.openxmlformats.org/drawingml/2006/main"/>
        </p:blipFill>
        <p:spPr>
          <a:xfrm xmlns:a="http://schemas.openxmlformats.org/drawingml/2006/main">
            <a:off x="8572500" y="2976563"/>
            <a:ext cx="523875" cy="209550"/>
          </a:xfrm>
          <a:prstGeom xmlns:a="http://schemas.openxmlformats.org/drawingml/2006/main" prst="rect">
            <a:avLst/>
          </a:prstGeom>
        </p:spPr>
      </p:pic>
      <p:pic>
        <p:nvPicPr>
          <p:cNvPr id="75" name="!!q2-solve-output-domain" descr="f"/>
          <p:cNvPicPr>
            <a:picLocks xmlns:a="http://schemas.openxmlformats.org/drawingml/2006/main" noChangeAspect="1"/>
          </p:cNvPicPr>
          <p:nvPr/>
        </p:nvPicPr>
        <p:blipFill>
          <a:blip xmlns:r="http://schemas.openxmlformats.org/officeDocument/2006/relationships" xmlns:a="http://schemas.openxmlformats.org/drawingml/2006/main" r:embed="Red42be3c0ab941e5">
            <a:extLst>
              <a:ext uri="{96DAC541-7B7A-43D3-8B79-37D633B846F1}">
                <ns14:svgBlip xmlns:ns14="http://schemas.microsoft.com/office/drawing/2016/SVG/main" r:embed="rIdVectormf00254"/>
              </a:ext>
            </a:extLst>
          </a:blip>
          <a:stretch xmlns:a="http://schemas.openxmlformats.org/drawingml/2006/main"/>
        </p:blipFill>
        <p:spPr>
          <a:xfrm xmlns:a="http://schemas.openxmlformats.org/drawingml/2006/main">
            <a:off x="11375873" y="3583305"/>
            <a:ext cx="79678" cy="120015"/>
          </a:xfrm>
          <a:prstGeom xmlns:a="http://schemas.openxmlformats.org/drawingml/2006/main" prst="rect">
            <a:avLst/>
          </a:prstGeom>
        </p:spPr>
      </p:pic>
      <p:pic>
        <p:nvPicPr>
          <p:cNvPr id="76" name="!!q2-solve-output-ticklabel0" descr="0"/>
          <p:cNvPicPr>
            <a:picLocks xmlns:a="http://schemas.openxmlformats.org/drawingml/2006/main" noChangeAspect="1"/>
          </p:cNvPicPr>
          <p:nvPr/>
        </p:nvPicPr>
        <p:blipFill>
          <a:blip xmlns:r="http://schemas.openxmlformats.org/officeDocument/2006/relationships" xmlns:a="http://schemas.openxmlformats.org/drawingml/2006/main" r:embed="Rc7126f55034d4cb2">
            <a:extLst>
              <a:ext uri="{96DAC541-7B7A-43D3-8B79-37D633B846F1}">
                <ns15:svgBlip xmlns:ns15="http://schemas.microsoft.com/office/drawing/2016/SVG/main" r:embed="rIdVectormf00255"/>
              </a:ext>
            </a:extLst>
          </a:blip>
          <a:stretch xmlns:a="http://schemas.openxmlformats.org/drawingml/2006/main"/>
        </p:blipFill>
        <p:spPr>
          <a:xfrm xmlns:a="http://schemas.openxmlformats.org/drawingml/2006/main">
            <a:off x="9917175" y="3887153"/>
            <a:ext cx="91951" cy="102870"/>
          </a:xfrm>
          <a:prstGeom xmlns:a="http://schemas.openxmlformats.org/drawingml/2006/main" prst="rect">
            <a:avLst/>
          </a:prstGeom>
        </p:spPr>
      </p:pic>
    </p:spTree>
    <p:extLst>
      <p:ext uri="{BB962C8B-B14F-4D97-AF65-F5344CB8AC3E}">
        <p14:creationId xmlns:p14="http://schemas.microsoft.com/office/powerpoint/2010/main" val="2127367436"/>
      </p:ext>
    </p:extLst>
  </p:cSld>
</p:sld>
</file>

<file path=ppt/slides/methods_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q2-solve-title">
            <ns0:hlinkClick xmlns:ns0="http://schemas.openxmlformats.org/drawingml/2006/main" xmlns:ns1="http://schemas.openxmlformats.org/officeDocument/2006/relationships" ns1:id="rIdmethods_Link50" action="ppaction://hlinksldjump"/>
            <a:extLst xmlns:a="http://schemas.openxmlformats.org/drawingml/2006/main">
              <a:ext uri="{FF2B5EF4-FFF2-40B4-BE49-F238E27FC236}">
                <a16:creationId xmlns:a16="http://schemas.microsoft.com/office/drawing/2014/main" id="{5A28EE92-F824-45B1-91F4-D3D91DB9DF14}"/>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50" action="ppaction://hlinksldjump"/>
              </a:rPr>
              <a:t>FDM</a:t>
            </a:r>
          </a:p>
        </p:txBody>
      </p:sp>
      <p:sp>
        <p:nvSpPr>
          <p:cNvPr id="2" name="!!q2-solve-subtitle">
            <a:extLst xmlns:a="http://schemas.openxmlformats.org/drawingml/2006/main">
              <a:ext uri="{FF2B5EF4-FFF2-40B4-BE49-F238E27FC236}">
                <a16:creationId xmlns:a16="http://schemas.microsoft.com/office/drawing/2014/main" id="{305FC4D7-2126-4FF8-824E-F3193F7025FB}"/>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One modulated signal (example)</a:t>
            </a:r>
          </a:p>
        </p:txBody>
      </p:sp>
      <p:sp>
        <p:nvSpPr>
          <p:cNvPr id="3" name="!!q2-solve-route-tx-line">
            <a:extLst xmlns:a="http://schemas.openxmlformats.org/drawingml/2006/main">
              <a:ext uri="{FF2B5EF4-FFF2-40B4-BE49-F238E27FC236}">
                <a16:creationId xmlns:a16="http://schemas.microsoft.com/office/drawing/2014/main" id="{7D4B6015-5303-4881-86BC-BAF0BC839F10}"/>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q2-solve-route-tx-head">
            <a:extLst xmlns:a="http://schemas.openxmlformats.org/drawingml/2006/main">
              <a:ext uri="{FF2B5EF4-FFF2-40B4-BE49-F238E27FC236}">
                <a16:creationId xmlns:a16="http://schemas.microsoft.com/office/drawing/2014/main" id="{FF0D2EF7-444E-4C7C-B77B-B4F35521824C}"/>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q2-solve-route-rx-line">
            <a:extLst xmlns:a="http://schemas.openxmlformats.org/drawingml/2006/main">
              <a:ext uri="{FF2B5EF4-FFF2-40B4-BE49-F238E27FC236}">
                <a16:creationId xmlns:a16="http://schemas.microsoft.com/office/drawing/2014/main" id="{23225447-A909-43ED-8727-A565F82E8CC1}"/>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q2-solve-route-rx-head">
            <a:extLst xmlns:a="http://schemas.openxmlformats.org/drawingml/2006/main">
              <a:ext uri="{FF2B5EF4-FFF2-40B4-BE49-F238E27FC236}">
                <a16:creationId xmlns:a16="http://schemas.microsoft.com/office/drawing/2014/main" id="{9855BF6B-1BE3-4D40-9653-DFED31D52D0B}"/>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q2-solve-question">
            <a:extLst xmlns:a="http://schemas.openxmlformats.org/drawingml/2006/main">
              <a:ext uri="{FF2B5EF4-FFF2-40B4-BE49-F238E27FC236}">
                <a16:creationId xmlns:a16="http://schemas.microsoft.com/office/drawing/2014/main" id="{412CBC41-DE5B-4B53-AC1D-FD5B2575D1EC}"/>
              </a:ext>
            </a:extLst>
          </p:cNvPr>
          <p:cNvSpPr>
            <a:spLocks xmlns:a="http://schemas.openxmlformats.org/drawingml/2006/main" noGrp="1"/>
          </p:cNvSpPr>
          <p:nvPr/>
        </p:nvSpPr>
        <p:spPr>
          <a:xfrm xmlns:a="http://schemas.openxmlformats.org/drawingml/2006/main">
            <a:off x="666750" y="17430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Move the carrier from 100 kHz to 20 kHz.</a:t>
            </a:r>
          </a:p>
        </p:txBody>
      </p:sp>
      <p:sp>
        <p:nvSpPr>
          <p:cNvPr id="8" name="!!q2-solve-question-parts">
            <a:extLst xmlns:a="http://schemas.openxmlformats.org/drawingml/2006/main">
              <a:ext uri="{FF2B5EF4-FFF2-40B4-BE49-F238E27FC236}">
                <a16:creationId xmlns:a16="http://schemas.microsoft.com/office/drawing/2014/main" id="{27ADE1A6-045D-4833-B456-F1936EB0DA24}"/>
              </a:ext>
            </a:extLst>
          </p:cNvPr>
          <p:cNvSpPr>
            <a:spLocks xmlns:a="http://schemas.openxmlformats.org/drawingml/2006/main" noGrp="1"/>
          </p:cNvSpPr>
          <p:nvPr/>
        </p:nvSpPr>
        <p:spPr>
          <a:xfrm xmlns:a="http://schemas.openxmlformats.org/drawingml/2006/main">
            <a:off x="666750" y="21240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Calculate: mixing signal, BPF passbands, and unwanted output frequency.</a:t>
            </a:r>
          </a:p>
        </p:txBody>
      </p:sp>
      <p:sp>
        <p:nvSpPr>
          <p:cNvPr id="9" name="!!q2-solve-frequency-unit">
            <a:extLst xmlns:a="http://schemas.openxmlformats.org/drawingml/2006/main">
              <a:ext uri="{FF2B5EF4-FFF2-40B4-BE49-F238E27FC236}">
                <a16:creationId xmlns:a16="http://schemas.microsoft.com/office/drawing/2014/main" id="{4378CBE2-AF5A-4557-A294-CF7D8F959301}"/>
              </a:ext>
            </a:extLst>
          </p:cNvPr>
          <p:cNvSpPr>
            <a:spLocks xmlns:a="http://schemas.openxmlformats.org/drawingml/2006/main" noGrp="1"/>
          </p:cNvSpPr>
          <p:nvPr/>
        </p:nvSpPr>
        <p:spPr>
          <a:xfrm xmlns:a="http://schemas.openxmlformats.org/drawingml/2006/main">
            <a:off x="10382250" y="28670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i="0">
                <a:solidFill>
                  <a:srgbClr val="202020"/>
                </a:solidFill>
                <a:latin typeface="Times New Roman"/>
                <a:ea typeface="Times New Roman"/>
                <a:cs typeface="Times New Roman"/>
              </a:defRPr>
            </a:pPr>
            <a:r>
              <a:rPr sz="1425" b="0" i="0">
                <a:solidFill>
                  <a:srgbClr val="202020"/>
                </a:solidFill>
                <a:latin typeface="Times New Roman"/>
                <a:ea typeface="Times New Roman"/>
                <a:cs typeface="Times New Roman"/>
              </a:rPr>
              <a:t>f in kHz</a:t>
            </a:r>
          </a:p>
        </p:txBody>
      </p:sp>
      <p:sp>
        <p:nvSpPr>
          <p:cNvPr id="10" name="!!q2-solve-input-axis-line">
            <a:extLst xmlns:a="http://schemas.openxmlformats.org/drawingml/2006/main">
              <a:ext uri="{FF2B5EF4-FFF2-40B4-BE49-F238E27FC236}">
                <a16:creationId xmlns:a16="http://schemas.microsoft.com/office/drawing/2014/main" id="{2EE53DC6-D48B-457F-96EA-DA92B3B8A3D8}"/>
              </a:ext>
            </a:extLst>
          </p:cNvPr>
          <p:cNvSpPr>
            <a:spLocks xmlns:a="http://schemas.openxmlformats.org/drawingml/2006/main" noGrp="1"/>
          </p:cNvSpPr>
          <p:nvPr/>
        </p:nvSpPr>
        <p:spPr>
          <a:xfrm xmlns:a="http://schemas.openxmlformats.org/drawingml/2006/main">
            <a:off x="571500" y="37623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q2-solve-input-axis-head">
            <a:extLst xmlns:a="http://schemas.openxmlformats.org/drawingml/2006/main">
              <a:ext uri="{FF2B5EF4-FFF2-40B4-BE49-F238E27FC236}">
                <a16:creationId xmlns:a16="http://schemas.microsoft.com/office/drawing/2014/main" id="{76D257F0-F589-44B7-A88F-920B22EB36C9}"/>
              </a:ext>
            </a:extLst>
          </p:cNvPr>
          <p:cNvSpPr>
            <a:spLocks xmlns:a="http://schemas.openxmlformats.org/drawingml/2006/main" noGrp="1"/>
          </p:cNvSpPr>
          <p:nvPr/>
        </p:nvSpPr>
        <p:spPr>
          <a:xfrm xmlns:a="http://schemas.openxmlformats.org/drawingml/2006/main" rot="5400000">
            <a:off x="323850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q2-solve-input-tick0">
            <a:extLst xmlns:a="http://schemas.openxmlformats.org/drawingml/2006/main">
              <a:ext uri="{FF2B5EF4-FFF2-40B4-BE49-F238E27FC236}">
                <a16:creationId xmlns:a16="http://schemas.microsoft.com/office/drawing/2014/main" id="{46F98409-82DF-46DC-8631-2695EDD66F7F}"/>
              </a:ext>
            </a:extLst>
          </p:cNvPr>
          <p:cNvSpPr>
            <a:spLocks xmlns:a="http://schemas.openxmlformats.org/drawingml/2006/main" noGrp="1"/>
          </p:cNvSpPr>
          <p:nvPr/>
        </p:nvSpPr>
        <p:spPr>
          <a:xfrm xmlns:a="http://schemas.openxmlformats.org/drawingml/2006/main">
            <a:off x="126682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q2-solve-input-tick1">
            <a:extLst xmlns:a="http://schemas.openxmlformats.org/drawingml/2006/main">
              <a:ext uri="{FF2B5EF4-FFF2-40B4-BE49-F238E27FC236}">
                <a16:creationId xmlns:a16="http://schemas.microsoft.com/office/drawing/2014/main" id="{9DCDD2DE-8398-43CC-995C-54F425083DF3}"/>
              </a:ext>
            </a:extLst>
          </p:cNvPr>
          <p:cNvSpPr>
            <a:spLocks xmlns:a="http://schemas.openxmlformats.org/drawingml/2006/main" noGrp="1"/>
          </p:cNvSpPr>
          <p:nvPr/>
        </p:nvSpPr>
        <p:spPr>
          <a:xfrm xmlns:a="http://schemas.openxmlformats.org/drawingml/2006/main">
            <a:off x="19621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q2-solve-input-tick2">
            <a:extLst xmlns:a="http://schemas.openxmlformats.org/drawingml/2006/main">
              <a:ext uri="{FF2B5EF4-FFF2-40B4-BE49-F238E27FC236}">
                <a16:creationId xmlns:a16="http://schemas.microsoft.com/office/drawing/2014/main" id="{62655157-DDF1-4967-91AB-14EA18C7CEC4}"/>
              </a:ext>
            </a:extLst>
          </p:cNvPr>
          <p:cNvSpPr>
            <a:spLocks xmlns:a="http://schemas.openxmlformats.org/drawingml/2006/main" noGrp="1"/>
          </p:cNvSpPr>
          <p:nvPr/>
        </p:nvSpPr>
        <p:spPr>
          <a:xfrm xmlns:a="http://schemas.openxmlformats.org/drawingml/2006/main">
            <a:off x="2657475"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q2-solve-mixed-axis-line">
            <a:extLst xmlns:a="http://schemas.openxmlformats.org/drawingml/2006/main">
              <a:ext uri="{FF2B5EF4-FFF2-40B4-BE49-F238E27FC236}">
                <a16:creationId xmlns:a16="http://schemas.microsoft.com/office/drawing/2014/main" id="{A35D59AC-EB96-42F3-B283-28A41EB1AE8C}"/>
              </a:ext>
            </a:extLst>
          </p:cNvPr>
          <p:cNvSpPr>
            <a:spLocks xmlns:a="http://schemas.openxmlformats.org/drawingml/2006/main" noGrp="1"/>
          </p:cNvSpPr>
          <p:nvPr/>
        </p:nvSpPr>
        <p:spPr>
          <a:xfrm xmlns:a="http://schemas.openxmlformats.org/drawingml/2006/main">
            <a:off x="4572000" y="37623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q2-solve-mixed-axis-head">
            <a:extLst xmlns:a="http://schemas.openxmlformats.org/drawingml/2006/main">
              <a:ext uri="{FF2B5EF4-FFF2-40B4-BE49-F238E27FC236}">
                <a16:creationId xmlns:a16="http://schemas.microsoft.com/office/drawing/2014/main" id="{C05D3868-AD9E-4353-8373-C1D6DA4E4C35}"/>
              </a:ext>
            </a:extLst>
          </p:cNvPr>
          <p:cNvSpPr>
            <a:spLocks xmlns:a="http://schemas.openxmlformats.org/drawingml/2006/main" noGrp="1"/>
          </p:cNvSpPr>
          <p:nvPr/>
        </p:nvSpPr>
        <p:spPr>
          <a:xfrm xmlns:a="http://schemas.openxmlformats.org/drawingml/2006/main" rot="5400000">
            <a:off x="723900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7" name="!!q2-solve-mixed-tick0">
            <a:extLst xmlns:a="http://schemas.openxmlformats.org/drawingml/2006/main">
              <a:ext uri="{FF2B5EF4-FFF2-40B4-BE49-F238E27FC236}">
                <a16:creationId xmlns:a16="http://schemas.microsoft.com/office/drawing/2014/main" id="{F22FF908-9A8E-4E39-98B0-C1EFFAD04865}"/>
              </a:ext>
            </a:extLst>
          </p:cNvPr>
          <p:cNvSpPr>
            <a:spLocks xmlns:a="http://schemas.openxmlformats.org/drawingml/2006/main" noGrp="1"/>
          </p:cNvSpPr>
          <p:nvPr/>
        </p:nvSpPr>
        <p:spPr>
          <a:xfrm xmlns:a="http://schemas.openxmlformats.org/drawingml/2006/main">
            <a:off x="59626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q2-solve-output-axis-line">
            <a:extLst xmlns:a="http://schemas.openxmlformats.org/drawingml/2006/main">
              <a:ext uri="{FF2B5EF4-FFF2-40B4-BE49-F238E27FC236}">
                <a16:creationId xmlns:a16="http://schemas.microsoft.com/office/drawing/2014/main" id="{2C69E7DF-5773-4FF7-9103-3E5F9C31D14A}"/>
              </a:ext>
            </a:extLst>
          </p:cNvPr>
          <p:cNvSpPr>
            <a:spLocks xmlns:a="http://schemas.openxmlformats.org/drawingml/2006/main" noGrp="1"/>
          </p:cNvSpPr>
          <p:nvPr/>
        </p:nvSpPr>
        <p:spPr>
          <a:xfrm xmlns:a="http://schemas.openxmlformats.org/drawingml/2006/main">
            <a:off x="8572500" y="37623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q2-solve-output-axis-head">
            <a:extLst xmlns:a="http://schemas.openxmlformats.org/drawingml/2006/main">
              <a:ext uri="{FF2B5EF4-FFF2-40B4-BE49-F238E27FC236}">
                <a16:creationId xmlns:a16="http://schemas.microsoft.com/office/drawing/2014/main" id="{3174FD1B-2105-4BC9-BABC-CD4206933797}"/>
              </a:ext>
            </a:extLst>
          </p:cNvPr>
          <p:cNvSpPr>
            <a:spLocks xmlns:a="http://schemas.openxmlformats.org/drawingml/2006/main" noGrp="1"/>
          </p:cNvSpPr>
          <p:nvPr/>
        </p:nvSpPr>
        <p:spPr>
          <a:xfrm xmlns:a="http://schemas.openxmlformats.org/drawingml/2006/main" rot="5400000">
            <a:off x="11239500" y="3714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0" name="!!q2-solve-output-tick0">
            <a:extLst xmlns:a="http://schemas.openxmlformats.org/drawingml/2006/main">
              <a:ext uri="{FF2B5EF4-FFF2-40B4-BE49-F238E27FC236}">
                <a16:creationId xmlns:a16="http://schemas.microsoft.com/office/drawing/2014/main" id="{8C9CDAFA-23DD-4159-BBC6-B63BE0565794}"/>
              </a:ext>
            </a:extLst>
          </p:cNvPr>
          <p:cNvSpPr>
            <a:spLocks xmlns:a="http://schemas.openxmlformats.org/drawingml/2006/main" noGrp="1"/>
          </p:cNvSpPr>
          <p:nvPr/>
        </p:nvSpPr>
        <p:spPr>
          <a:xfrm xmlns:a="http://schemas.openxmlformats.org/drawingml/2006/main">
            <a:off x="9963150" y="37623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q2-solve-input-100">
            <a:extLst xmlns:a="http://schemas.openxmlformats.org/drawingml/2006/main">
              <a:ext uri="{FF2B5EF4-FFF2-40B4-BE49-F238E27FC236}">
                <a16:creationId xmlns:a16="http://schemas.microsoft.com/office/drawing/2014/main" id="{ED72F657-7861-4FA1-AB7D-F85C3955AC7E}"/>
              </a:ext>
            </a:extLst>
          </p:cNvPr>
          <p:cNvSpPr>
            <a:spLocks xmlns:a="http://schemas.openxmlformats.org/drawingml/2006/main" noGrp="1"/>
          </p:cNvSpPr>
          <p:nvPr/>
        </p:nvSpPr>
        <p:spPr>
          <a:xfrm xmlns:a="http://schemas.openxmlformats.org/drawingml/2006/main">
            <a:off x="123901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535353"/>
          </a:solidFill>
          <a:ln xmlns:a="http://schemas.openxmlformats.org/drawingml/2006/main" w="10478">
            <a:solidFill>
              <a:srgbClr val="202020"/>
            </a:solidFill>
          </a:ln>
        </p:spPr>
      </p:sp>
      <p:sp>
        <p:nvSpPr>
          <p:cNvPr id="22" name="!!q2-solve-input100">
            <a:extLst xmlns:a="http://schemas.openxmlformats.org/drawingml/2006/main">
              <a:ext uri="{FF2B5EF4-FFF2-40B4-BE49-F238E27FC236}">
                <a16:creationId xmlns:a16="http://schemas.microsoft.com/office/drawing/2014/main" id="{FDB2ED84-6018-4739-8C97-6ADE673ADCD6}"/>
              </a:ext>
            </a:extLst>
          </p:cNvPr>
          <p:cNvSpPr>
            <a:spLocks xmlns:a="http://schemas.openxmlformats.org/drawingml/2006/main" noGrp="1"/>
          </p:cNvSpPr>
          <p:nvPr/>
        </p:nvSpPr>
        <p:spPr>
          <a:xfrm xmlns:a="http://schemas.openxmlformats.org/drawingml/2006/main">
            <a:off x="262966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535353"/>
          </a:solidFill>
          <a:ln xmlns:a="http://schemas.openxmlformats.org/drawingml/2006/main" w="10478">
            <a:solidFill>
              <a:srgbClr val="202020"/>
            </a:solidFill>
          </a:ln>
        </p:spPr>
      </p:sp>
      <p:sp>
        <p:nvSpPr>
          <p:cNvPr id="23" name="!!q2-solve-mixer-label">
            <a:extLst xmlns:a="http://schemas.openxmlformats.org/drawingml/2006/main">
              <a:ext uri="{FF2B5EF4-FFF2-40B4-BE49-F238E27FC236}">
                <a16:creationId xmlns:a16="http://schemas.microsoft.com/office/drawing/2014/main" id="{5FAB87A1-CDD3-4728-A755-DFD67F55FBCA}"/>
              </a:ext>
            </a:extLst>
          </p:cNvPr>
          <p:cNvSpPr>
            <a:spLocks xmlns:a="http://schemas.openxmlformats.org/drawingml/2006/main" noGrp="1"/>
          </p:cNvSpPr>
          <p:nvPr/>
        </p:nvSpPr>
        <p:spPr>
          <a:xfrm xmlns:a="http://schemas.openxmlformats.org/drawingml/2006/main">
            <a:off x="3457575" y="3267075"/>
            <a:ext cx="1009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Mix</a:t>
            </a:r>
          </a:p>
        </p:txBody>
      </p:sp>
      <p:sp>
        <p:nvSpPr>
          <p:cNvPr id="24" name="!!q2-solve-mixer-arrow-line">
            <a:extLst xmlns:a="http://schemas.openxmlformats.org/drawingml/2006/main">
              <a:ext uri="{FF2B5EF4-FFF2-40B4-BE49-F238E27FC236}">
                <a16:creationId xmlns:a16="http://schemas.microsoft.com/office/drawing/2014/main" id="{D086E1A7-3E9C-4B16-A9DC-B81D1801E3FF}"/>
              </a:ext>
            </a:extLst>
          </p:cNvPr>
          <p:cNvSpPr>
            <a:spLocks xmlns:a="http://schemas.openxmlformats.org/drawingml/2006/main" noGrp="1"/>
          </p:cNvSpPr>
          <p:nvPr/>
        </p:nvSpPr>
        <p:spPr>
          <a:xfrm xmlns:a="http://schemas.openxmlformats.org/drawingml/2006/main">
            <a:off x="3581400" y="36290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5" name="!!q2-solve-mixer-arrow-head">
            <a:extLst xmlns:a="http://schemas.openxmlformats.org/drawingml/2006/main">
              <a:ext uri="{FF2B5EF4-FFF2-40B4-BE49-F238E27FC236}">
                <a16:creationId xmlns:a16="http://schemas.microsoft.com/office/drawing/2014/main" id="{820AB218-81B6-4D92-BE9A-55F52C44C057}"/>
              </a:ext>
            </a:extLst>
          </p:cNvPr>
          <p:cNvSpPr>
            <a:spLocks xmlns:a="http://schemas.openxmlformats.org/drawingml/2006/main" noGrp="1"/>
          </p:cNvSpPr>
          <p:nvPr/>
        </p:nvSpPr>
        <p:spPr>
          <a:xfrm xmlns:a="http://schemas.openxmlformats.org/drawingml/2006/main" rot="5400000">
            <a:off x="4229100" y="35814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6" name="!!q2-solve-low-1">
            <a:extLst xmlns:a="http://schemas.openxmlformats.org/drawingml/2006/main">
              <a:ext uri="{FF2B5EF4-FFF2-40B4-BE49-F238E27FC236}">
                <a16:creationId xmlns:a16="http://schemas.microsoft.com/office/drawing/2014/main" id="{D08763E0-7D8B-432B-A86D-22764250D557}"/>
              </a:ext>
            </a:extLst>
          </p:cNvPr>
          <p:cNvSpPr>
            <a:spLocks xmlns:a="http://schemas.openxmlformats.org/drawingml/2006/main" noGrp="1"/>
          </p:cNvSpPr>
          <p:nvPr/>
        </p:nvSpPr>
        <p:spPr>
          <a:xfrm xmlns:a="http://schemas.openxmlformats.org/drawingml/2006/main">
            <a:off x="579577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535353"/>
          </a:solidFill>
          <a:ln xmlns:a="http://schemas.openxmlformats.org/drawingml/2006/main" w="10478">
            <a:solidFill>
              <a:srgbClr val="202020"/>
            </a:solidFill>
          </a:ln>
        </p:spPr>
      </p:sp>
      <p:sp>
        <p:nvSpPr>
          <p:cNvPr id="27" name="!!q2-solve-high-1">
            <a:extLst xmlns:a="http://schemas.openxmlformats.org/drawingml/2006/main">
              <a:ext uri="{FF2B5EF4-FFF2-40B4-BE49-F238E27FC236}">
                <a16:creationId xmlns:a16="http://schemas.microsoft.com/office/drawing/2014/main" id="{7ED5609C-3EEA-4EBF-B04E-2409EDC8CD20}"/>
              </a:ext>
            </a:extLst>
          </p:cNvPr>
          <p:cNvSpPr>
            <a:spLocks xmlns:a="http://schemas.openxmlformats.org/drawingml/2006/main" noGrp="1"/>
          </p:cNvSpPr>
          <p:nvPr/>
        </p:nvSpPr>
        <p:spPr>
          <a:xfrm xmlns:a="http://schemas.openxmlformats.org/drawingml/2006/main">
            <a:off x="468325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BBBBBB"/>
          </a:solidFill>
          <a:ln xmlns:a="http://schemas.openxmlformats.org/drawingml/2006/main" w="10478">
            <a:solidFill>
              <a:srgbClr val="202020"/>
            </a:solidFill>
          </a:ln>
        </p:spPr>
      </p:sp>
      <p:sp>
        <p:nvSpPr>
          <p:cNvPr id="28" name="!!q2-solve-low1">
            <a:extLst xmlns:a="http://schemas.openxmlformats.org/drawingml/2006/main">
              <a:ext uri="{FF2B5EF4-FFF2-40B4-BE49-F238E27FC236}">
                <a16:creationId xmlns:a16="http://schemas.microsoft.com/office/drawing/2014/main" id="{2874DBAC-0FD9-4BDE-8DDC-A5D39A14BEE9}"/>
              </a:ext>
            </a:extLst>
          </p:cNvPr>
          <p:cNvSpPr>
            <a:spLocks xmlns:a="http://schemas.openxmlformats.org/drawingml/2006/main" noGrp="1"/>
          </p:cNvSpPr>
          <p:nvPr/>
        </p:nvSpPr>
        <p:spPr>
          <a:xfrm xmlns:a="http://schemas.openxmlformats.org/drawingml/2006/main">
            <a:off x="607390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535353"/>
          </a:solidFill>
          <a:ln xmlns:a="http://schemas.openxmlformats.org/drawingml/2006/main" w="10478">
            <a:solidFill>
              <a:srgbClr val="202020"/>
            </a:solidFill>
          </a:ln>
        </p:spPr>
      </p:sp>
      <p:sp>
        <p:nvSpPr>
          <p:cNvPr id="29" name="!!q2-solve-high1">
            <a:extLst xmlns:a="http://schemas.openxmlformats.org/drawingml/2006/main">
              <a:ext uri="{FF2B5EF4-FFF2-40B4-BE49-F238E27FC236}">
                <a16:creationId xmlns:a16="http://schemas.microsoft.com/office/drawing/2014/main" id="{9D837FD9-1CAF-4B60-A0E7-6BC3CC993C6D}"/>
              </a:ext>
            </a:extLst>
          </p:cNvPr>
          <p:cNvSpPr>
            <a:spLocks xmlns:a="http://schemas.openxmlformats.org/drawingml/2006/main" noGrp="1"/>
          </p:cNvSpPr>
          <p:nvPr/>
        </p:nvSpPr>
        <p:spPr>
          <a:xfrm xmlns:a="http://schemas.openxmlformats.org/drawingml/2006/main">
            <a:off x="718642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BBBBBB"/>
          </a:solidFill>
          <a:ln xmlns:a="http://schemas.openxmlformats.org/drawingml/2006/main" w="10478">
            <a:solidFill>
              <a:srgbClr val="202020"/>
            </a:solidFill>
          </a:ln>
        </p:spPr>
      </p:sp>
      <p:sp>
        <p:nvSpPr>
          <p:cNvPr id="30" name="!!q2-solve-bpf-label">
            <a:extLst xmlns:a="http://schemas.openxmlformats.org/drawingml/2006/main">
              <a:ext uri="{FF2B5EF4-FFF2-40B4-BE49-F238E27FC236}">
                <a16:creationId xmlns:a16="http://schemas.microsoft.com/office/drawing/2014/main" id="{D2E7AF11-4D34-43A4-AAF4-CB46FBBCF6CD}"/>
              </a:ext>
            </a:extLst>
          </p:cNvPr>
          <p:cNvSpPr>
            <a:spLocks xmlns:a="http://schemas.openxmlformats.org/drawingml/2006/main" noGrp="1"/>
          </p:cNvSpPr>
          <p:nvPr/>
        </p:nvSpPr>
        <p:spPr>
          <a:xfrm xmlns:a="http://schemas.openxmlformats.org/drawingml/2006/main">
            <a:off x="7458075" y="3267075"/>
            <a:ext cx="1009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i="0">
                <a:solidFill>
                  <a:srgbClr val="202020"/>
                </a:solidFill>
                <a:latin typeface="Times New Roman"/>
                <a:ea typeface="Times New Roman"/>
                <a:cs typeface="Times New Roman"/>
              </a:defRPr>
            </a:pPr>
            <a:r>
              <a:rPr sz="1575" b="1" i="0">
                <a:solidFill>
                  <a:srgbClr val="202020"/>
                </a:solidFill>
                <a:latin typeface="Times New Roman"/>
                <a:ea typeface="Times New Roman"/>
                <a:cs typeface="Times New Roman"/>
              </a:rPr>
              <a:t>BPF</a:t>
            </a:r>
          </a:p>
        </p:txBody>
      </p:sp>
      <p:sp>
        <p:nvSpPr>
          <p:cNvPr id="31" name="!!q2-solve-bpf-arrow-line">
            <a:extLst xmlns:a="http://schemas.openxmlformats.org/drawingml/2006/main">
              <a:ext uri="{FF2B5EF4-FFF2-40B4-BE49-F238E27FC236}">
                <a16:creationId xmlns:a16="http://schemas.microsoft.com/office/drawing/2014/main" id="{5BA4A96C-3352-40C5-A936-7C4576A3B197}"/>
              </a:ext>
            </a:extLst>
          </p:cNvPr>
          <p:cNvSpPr>
            <a:spLocks xmlns:a="http://schemas.openxmlformats.org/drawingml/2006/main" noGrp="1"/>
          </p:cNvSpPr>
          <p:nvPr/>
        </p:nvSpPr>
        <p:spPr>
          <a:xfrm xmlns:a="http://schemas.openxmlformats.org/drawingml/2006/main">
            <a:off x="7581900" y="36290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2" name="!!q2-solve-bpf-arrow-head">
            <a:extLst xmlns:a="http://schemas.openxmlformats.org/drawingml/2006/main">
              <a:ext uri="{FF2B5EF4-FFF2-40B4-BE49-F238E27FC236}">
                <a16:creationId xmlns:a16="http://schemas.microsoft.com/office/drawing/2014/main" id="{FB8B5E64-5CC4-4658-8B1B-54E6B02CE83F}"/>
              </a:ext>
            </a:extLst>
          </p:cNvPr>
          <p:cNvSpPr>
            <a:spLocks xmlns:a="http://schemas.openxmlformats.org/drawingml/2006/main" noGrp="1"/>
          </p:cNvSpPr>
          <p:nvPr/>
        </p:nvSpPr>
        <p:spPr>
          <a:xfrm xmlns:a="http://schemas.openxmlformats.org/drawingml/2006/main" rot="5400000">
            <a:off x="8229600" y="35814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3" name="!!q2-solve-bpf-box0">
            <a:extLst xmlns:a="http://schemas.openxmlformats.org/drawingml/2006/main">
              <a:ext uri="{FF2B5EF4-FFF2-40B4-BE49-F238E27FC236}">
                <a16:creationId xmlns:a16="http://schemas.microsoft.com/office/drawing/2014/main" id="{752F9CCA-F603-4B49-8461-0EE5732F93CF}"/>
              </a:ext>
            </a:extLst>
          </p:cNvPr>
          <p:cNvSpPr>
            <a:spLocks xmlns:a="http://schemas.openxmlformats.org/drawingml/2006/main" noGrp="1"/>
          </p:cNvSpPr>
          <p:nvPr/>
        </p:nvSpPr>
        <p:spPr>
          <a:xfrm xmlns:a="http://schemas.openxmlformats.org/drawingml/2006/main">
            <a:off x="5795772" y="3133725"/>
            <a:ext cx="55626" cy="6762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4" name="!!q2-solve-bpf-box1">
            <a:extLst xmlns:a="http://schemas.openxmlformats.org/drawingml/2006/main">
              <a:ext uri="{FF2B5EF4-FFF2-40B4-BE49-F238E27FC236}">
                <a16:creationId xmlns:a16="http://schemas.microsoft.com/office/drawing/2014/main" id="{F545EE6A-6744-4CFE-8B56-5E930C891EC6}"/>
              </a:ext>
            </a:extLst>
          </p:cNvPr>
          <p:cNvSpPr>
            <a:spLocks xmlns:a="http://schemas.openxmlformats.org/drawingml/2006/main" noGrp="1"/>
          </p:cNvSpPr>
          <p:nvPr/>
        </p:nvSpPr>
        <p:spPr>
          <a:xfrm xmlns:a="http://schemas.openxmlformats.org/drawingml/2006/main">
            <a:off x="6073902" y="3133725"/>
            <a:ext cx="55626" cy="6762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5" name="!!q2-solve-bpf-leader-1">
            <a:extLst xmlns:a="http://schemas.openxmlformats.org/drawingml/2006/main">
              <a:ext uri="{FF2B5EF4-FFF2-40B4-BE49-F238E27FC236}">
                <a16:creationId xmlns:a16="http://schemas.microsoft.com/office/drawing/2014/main" id="{54C07F07-0D26-4574-8300-F2779E14A16E}"/>
              </a:ext>
            </a:extLst>
          </p:cNvPr>
          <p:cNvSpPr>
            <a:spLocks xmlns:a="http://schemas.openxmlformats.org/drawingml/2006/main" noGrp="1"/>
          </p:cNvSpPr>
          <p:nvPr/>
        </p:nvSpPr>
        <p:spPr>
          <a:xfrm xmlns:a="http://schemas.openxmlformats.org/drawingml/2006/main">
            <a:off x="9281160" y="3448050"/>
            <a:ext cx="542925" cy="76200"/>
          </a:xfrm>
          <a:custGeom xmlns:a="http://schemas.openxmlformats.org/drawingml/2006/main">
            <a:pathLst>
              <a:path w="542925" h="76200">
                <a:moveTo>
                  <a:pt x="0" y="0"/>
                </a:moveTo>
                <a:lnTo>
                  <a:pt x="542925" y="76200"/>
                </a:lnTo>
              </a:path>
            </a:pathLst>
          </a:custGeom>
          <a:noFill xmlns:a="http://schemas.openxmlformats.org/drawingml/2006/main"/>
          <a:ln xmlns:a="http://schemas.openxmlformats.org/drawingml/2006/main" w="9525">
            <a:solidFill>
              <a:srgbClr val="777777"/>
            </a:solidFill>
          </a:ln>
        </p:spPr>
      </p:sp>
      <p:sp>
        <p:nvSpPr>
          <p:cNvPr id="36" name="!!q2-solve-bpf-leader1">
            <a:extLst xmlns:a="http://schemas.openxmlformats.org/drawingml/2006/main">
              <a:ext uri="{FF2B5EF4-FFF2-40B4-BE49-F238E27FC236}">
                <a16:creationId xmlns:a16="http://schemas.microsoft.com/office/drawing/2014/main" id="{CB871280-8F04-422B-8071-3705AD294C6D}"/>
              </a:ext>
            </a:extLst>
          </p:cNvPr>
          <p:cNvSpPr>
            <a:spLocks xmlns:a="http://schemas.openxmlformats.org/drawingml/2006/main" noGrp="1"/>
          </p:cNvSpPr>
          <p:nvPr/>
        </p:nvSpPr>
        <p:spPr>
          <a:xfrm xmlns:a="http://schemas.openxmlformats.org/drawingml/2006/main">
            <a:off x="10102215" y="3448050"/>
            <a:ext cx="542925" cy="76200"/>
          </a:xfrm>
          <a:custGeom xmlns:a="http://schemas.openxmlformats.org/drawingml/2006/main">
            <a:pathLst>
              <a:path w="542925" h="76200">
                <a:moveTo>
                  <a:pt x="542925" y="0"/>
                </a:moveTo>
                <a:lnTo>
                  <a:pt x="0" y="76200"/>
                </a:lnTo>
              </a:path>
            </a:pathLst>
          </a:custGeom>
          <a:noFill xmlns:a="http://schemas.openxmlformats.org/drawingml/2006/main"/>
          <a:ln xmlns:a="http://schemas.openxmlformats.org/drawingml/2006/main" w="9525">
            <a:solidFill>
              <a:srgbClr val="777777"/>
            </a:solidFill>
          </a:ln>
        </p:spPr>
      </p:sp>
      <p:sp>
        <p:nvSpPr>
          <p:cNvPr id="37" name="!!q2-solve-output-copy-1">
            <a:extLst xmlns:a="http://schemas.openxmlformats.org/drawingml/2006/main">
              <a:ext uri="{FF2B5EF4-FFF2-40B4-BE49-F238E27FC236}">
                <a16:creationId xmlns:a16="http://schemas.microsoft.com/office/drawing/2014/main" id="{D4BE188B-6DF8-4433-87B2-D2825768189C}"/>
              </a:ext>
            </a:extLst>
          </p:cNvPr>
          <p:cNvSpPr>
            <a:spLocks xmlns:a="http://schemas.openxmlformats.org/drawingml/2006/main" noGrp="1"/>
          </p:cNvSpPr>
          <p:nvPr/>
        </p:nvSpPr>
        <p:spPr>
          <a:xfrm xmlns:a="http://schemas.openxmlformats.org/drawingml/2006/main">
            <a:off x="979627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535353"/>
          </a:solidFill>
          <a:ln xmlns:a="http://schemas.openxmlformats.org/drawingml/2006/main" w="10478">
            <a:solidFill>
              <a:srgbClr val="202020"/>
            </a:solidFill>
          </a:ln>
        </p:spPr>
      </p:sp>
      <p:sp>
        <p:nvSpPr>
          <p:cNvPr id="38" name="!!q2-solve-output-copy1">
            <a:extLst xmlns:a="http://schemas.openxmlformats.org/drawingml/2006/main">
              <a:ext uri="{FF2B5EF4-FFF2-40B4-BE49-F238E27FC236}">
                <a16:creationId xmlns:a16="http://schemas.microsoft.com/office/drawing/2014/main" id="{A83F4276-66FF-49EB-A070-EE8732D041D6}"/>
              </a:ext>
            </a:extLst>
          </p:cNvPr>
          <p:cNvSpPr>
            <a:spLocks xmlns:a="http://schemas.openxmlformats.org/drawingml/2006/main" noGrp="1"/>
          </p:cNvSpPr>
          <p:nvPr/>
        </p:nvSpPr>
        <p:spPr>
          <a:xfrm xmlns:a="http://schemas.openxmlformats.org/drawingml/2006/main">
            <a:off x="10074402" y="3390900"/>
            <a:ext cx="55626" cy="371475"/>
          </a:xfrm>
          <a:custGeom xmlns:a="http://schemas.openxmlformats.org/drawingml/2006/main">
            <a:pathLst>
              <a:path w="55626" h="371475">
                <a:moveTo>
                  <a:pt x="0" y="371475"/>
                </a:moveTo>
                <a:lnTo>
                  <a:pt x="27813" y="0"/>
                </a:lnTo>
                <a:lnTo>
                  <a:pt x="55626" y="371475"/>
                </a:lnTo>
                <a:close/>
              </a:path>
            </a:pathLst>
          </a:custGeom>
          <a:solidFill xmlns:a="http://schemas.openxmlformats.org/drawingml/2006/main">
            <a:srgbClr val="535353"/>
          </a:solidFill>
          <a:ln xmlns:a="http://schemas.openxmlformats.org/drawingml/2006/main" w="10478">
            <a:solidFill>
              <a:srgbClr val="202020"/>
            </a:solidFill>
          </a:ln>
        </p:spPr>
      </p:sp>
      <p:pic>
        <p:nvPicPr>
          <p:cNvPr id="107" name="!!q2-solve-route-m" descr="m(t)">
            <ns0:hlinkClick xmlns:ns0="http://schemas.openxmlformats.org/drawingml/2006/main" xmlns:ns1="http://schemas.openxmlformats.org/officeDocument/2006/relationships" ns1:id="rIdmethods_Link5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88c63a426f6048c1">
            <a:extLst>
              <a:ext uri="{96DAC541-7B7A-43D3-8B79-37D633B846F1}">
                <ns0:svgBlip xmlns:ns0="http://schemas.microsoft.com/office/drawing/2016/SVG/main" r:embed="rIdVectormf00256"/>
              </a:ext>
            </a:extLst>
          </a:blip>
          <a:stretch xmlns:a="http://schemas.openxmlformats.org/drawingml/2006/main"/>
        </p:blipFill>
        <p:spPr>
          <a:xfrm xmlns:a="http://schemas.openxmlformats.org/drawingml/2006/main">
            <a:off x="2159318" y="1181100"/>
            <a:ext cx="920115" cy="400050"/>
          </a:xfrm>
          <a:prstGeom xmlns:a="http://schemas.openxmlformats.org/drawingml/2006/main" prst="rect">
            <a:avLst/>
          </a:prstGeom>
        </p:spPr>
      </p:pic>
      <p:pic>
        <p:nvPicPr>
          <p:cNvPr id="108" name="!!q2-solve-route-s" descr="s_1(t)">
            <ns0:hlinkClick xmlns:ns0="http://schemas.openxmlformats.org/drawingml/2006/main" xmlns:ns1="http://schemas.openxmlformats.org/officeDocument/2006/relationships" ns1:id="rIdmethods_Link5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bbf709fd6c0e4093">
            <a:extLst>
              <a:ext uri="{96DAC541-7B7A-43D3-8B79-37D633B846F1}">
                <ns1:svgBlip xmlns:ns1="http://schemas.microsoft.com/office/drawing/2016/SVG/main" r:embed="rIdVectormf00257"/>
              </a:ext>
            </a:extLst>
          </a:blip>
          <a:stretch xmlns:a="http://schemas.openxmlformats.org/drawingml/2006/main"/>
        </p:blipFill>
        <p:spPr>
          <a:xfrm xmlns:a="http://schemas.openxmlformats.org/drawingml/2006/main">
            <a:off x="5635943" y="1181100"/>
            <a:ext cx="920115" cy="400050"/>
          </a:xfrm>
          <a:prstGeom xmlns:a="http://schemas.openxmlformats.org/drawingml/2006/main" prst="rect">
            <a:avLst/>
          </a:prstGeom>
        </p:spPr>
      </p:pic>
      <p:pic>
        <p:nvPicPr>
          <p:cNvPr id="109" name="!!q2-solve-route-restored" descr="m(t)">
            <ns0:hlinkClick xmlns:ns0="http://schemas.openxmlformats.org/drawingml/2006/main" xmlns:ns1="http://schemas.openxmlformats.org/officeDocument/2006/relationships" ns1:id="rIdmethods_Link5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5aaf653a93b74ec1">
            <a:extLst>
              <a:ext uri="{96DAC541-7B7A-43D3-8B79-37D633B846F1}">
                <ns2:svgBlip xmlns:ns2="http://schemas.microsoft.com/office/drawing/2016/SVG/main" r:embed="rIdVectormf00258"/>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110" name="!!q2-solve-given-signal" descr="s_1(t)=m(t)\cos(2\pi\cdot100{,}000t),\quad W=4\ \mathrm{kHz}"/>
          <p:cNvPicPr>
            <a:picLocks xmlns:a="http://schemas.openxmlformats.org/drawingml/2006/main" noChangeAspect="1"/>
          </p:cNvPicPr>
          <p:nvPr/>
        </p:nvPicPr>
        <p:blipFill>
          <a:blip xmlns:r="http://schemas.openxmlformats.org/officeDocument/2006/relationships" xmlns:a="http://schemas.openxmlformats.org/drawingml/2006/main" r:embed="R925eda6d1c4c479c">
            <a:extLst>
              <a:ext uri="{96DAC541-7B7A-43D3-8B79-37D633B846F1}">
                <ns3:svgBlip xmlns:ns3="http://schemas.microsoft.com/office/drawing/2016/SVG/main" r:embed="rIdVectormf00259"/>
              </a:ext>
            </a:extLst>
          </a:blip>
          <a:stretch xmlns:a="http://schemas.openxmlformats.org/drawingml/2006/main"/>
        </p:blipFill>
        <p:spPr>
          <a:xfrm xmlns:a="http://schemas.openxmlformats.org/drawingml/2006/main">
            <a:off x="609600" y="2553474"/>
            <a:ext cx="5522595" cy="246102"/>
          </a:xfrm>
          <a:prstGeom xmlns:a="http://schemas.openxmlformats.org/drawingml/2006/main" prst="rect">
            <a:avLst/>
          </a:prstGeom>
        </p:spPr>
      </p:pic>
      <p:pic>
        <p:nvPicPr>
          <p:cNvPr id="111" name="!!q2-solve-given-lo" descr="f_{\ell}&lt;100\ \mathrm{kHz}"/>
          <p:cNvPicPr>
            <a:picLocks xmlns:a="http://schemas.openxmlformats.org/drawingml/2006/main" noChangeAspect="1"/>
          </p:cNvPicPr>
          <p:nvPr/>
        </p:nvPicPr>
        <p:blipFill>
          <a:blip xmlns:r="http://schemas.openxmlformats.org/officeDocument/2006/relationships" xmlns:a="http://schemas.openxmlformats.org/drawingml/2006/main" r:embed="R2fe3da095fa14ba6">
            <a:extLst>
              <a:ext uri="{96DAC541-7B7A-43D3-8B79-37D633B846F1}">
                <ns4:svgBlip xmlns:ns4="http://schemas.microsoft.com/office/drawing/2016/SVG/main" r:embed="rIdVectormf00260"/>
              </a:ext>
            </a:extLst>
          </a:blip>
          <a:stretch xmlns:a="http://schemas.openxmlformats.org/drawingml/2006/main"/>
        </p:blipFill>
        <p:spPr>
          <a:xfrm xmlns:a="http://schemas.openxmlformats.org/drawingml/2006/main">
            <a:off x="8169834" y="2577465"/>
            <a:ext cx="1513992" cy="198120"/>
          </a:xfrm>
          <a:prstGeom xmlns:a="http://schemas.openxmlformats.org/drawingml/2006/main" prst="rect">
            <a:avLst/>
          </a:prstGeom>
        </p:spPr>
      </p:pic>
      <p:pic>
        <p:nvPicPr>
          <p:cNvPr id="112" name="!!q2-solve-input-label" descr="S_1(f)"/>
          <p:cNvPicPr>
            <a:picLocks xmlns:a="http://schemas.openxmlformats.org/drawingml/2006/main" noChangeAspect="1"/>
          </p:cNvPicPr>
          <p:nvPr/>
        </p:nvPicPr>
        <p:blipFill>
          <a:blip xmlns:r="http://schemas.openxmlformats.org/officeDocument/2006/relationships" xmlns:a="http://schemas.openxmlformats.org/drawingml/2006/main" r:embed="Rf370db30ea02403a">
            <a:extLst>
              <a:ext uri="{96DAC541-7B7A-43D3-8B79-37D633B846F1}">
                <ns5:svgBlip xmlns:ns5="http://schemas.microsoft.com/office/drawing/2016/SVG/main" r:embed="rIdVectormf00261"/>
              </a:ext>
            </a:extLst>
          </a:blip>
          <a:stretch xmlns:a="http://schemas.openxmlformats.org/drawingml/2006/main"/>
        </p:blipFill>
        <p:spPr>
          <a:xfrm xmlns:a="http://schemas.openxmlformats.org/drawingml/2006/main">
            <a:off x="571500" y="2976563"/>
            <a:ext cx="523875" cy="209550"/>
          </a:xfrm>
          <a:prstGeom xmlns:a="http://schemas.openxmlformats.org/drawingml/2006/main" prst="rect">
            <a:avLst/>
          </a:prstGeom>
        </p:spPr>
      </p:pic>
      <p:pic>
        <p:nvPicPr>
          <p:cNvPr id="113" name="!!q2-solve-input-domain" descr="f"/>
          <p:cNvPicPr>
            <a:picLocks xmlns:a="http://schemas.openxmlformats.org/drawingml/2006/main" noChangeAspect="1"/>
          </p:cNvPicPr>
          <p:nvPr/>
        </p:nvPicPr>
        <p:blipFill>
          <a:blip xmlns:r="http://schemas.openxmlformats.org/officeDocument/2006/relationships" xmlns:a="http://schemas.openxmlformats.org/drawingml/2006/main" r:embed="R5b6b08b48b8e40d3">
            <a:extLst>
              <a:ext uri="{96DAC541-7B7A-43D3-8B79-37D633B846F1}">
                <ns6:svgBlip xmlns:ns6="http://schemas.microsoft.com/office/drawing/2016/SVG/main" r:embed="rIdVectormf00262"/>
              </a:ext>
            </a:extLst>
          </a:blip>
          <a:stretch xmlns:a="http://schemas.openxmlformats.org/drawingml/2006/main"/>
        </p:blipFill>
        <p:spPr>
          <a:xfrm xmlns:a="http://schemas.openxmlformats.org/drawingml/2006/main">
            <a:off x="3374873" y="3583305"/>
            <a:ext cx="79678" cy="120015"/>
          </a:xfrm>
          <a:prstGeom xmlns:a="http://schemas.openxmlformats.org/drawingml/2006/main" prst="rect">
            <a:avLst/>
          </a:prstGeom>
        </p:spPr>
      </p:pic>
      <p:pic>
        <p:nvPicPr>
          <p:cNvPr id="114" name="!!q2-solve-input-ticklabel0" descr="-100"/>
          <p:cNvPicPr>
            <a:picLocks xmlns:a="http://schemas.openxmlformats.org/drawingml/2006/main" noChangeAspect="1"/>
          </p:cNvPicPr>
          <p:nvPr/>
        </p:nvPicPr>
        <p:blipFill>
          <a:blip xmlns:r="http://schemas.openxmlformats.org/officeDocument/2006/relationships" xmlns:a="http://schemas.openxmlformats.org/drawingml/2006/main" r:embed="R6cd1bbaf2aff4111">
            <a:extLst>
              <a:ext uri="{96DAC541-7B7A-43D3-8B79-37D633B846F1}">
                <ns7:svgBlip xmlns:ns7="http://schemas.microsoft.com/office/drawing/2016/SVG/main" r:embed="rIdVectormf00263"/>
              </a:ext>
            </a:extLst>
          </a:blip>
          <a:stretch xmlns:a="http://schemas.openxmlformats.org/drawingml/2006/main"/>
        </p:blipFill>
        <p:spPr>
          <a:xfrm xmlns:a="http://schemas.openxmlformats.org/drawingml/2006/main">
            <a:off x="1043940" y="3872686"/>
            <a:ext cx="445770" cy="131802"/>
          </a:xfrm>
          <a:prstGeom xmlns:a="http://schemas.openxmlformats.org/drawingml/2006/main" prst="rect">
            <a:avLst/>
          </a:prstGeom>
        </p:spPr>
      </p:pic>
      <p:pic>
        <p:nvPicPr>
          <p:cNvPr id="115" name="!!q2-solve-input-ticklabel1" descr="0"/>
          <p:cNvPicPr>
            <a:picLocks xmlns:a="http://schemas.openxmlformats.org/drawingml/2006/main" noChangeAspect="1"/>
          </p:cNvPicPr>
          <p:nvPr/>
        </p:nvPicPr>
        <p:blipFill>
          <a:blip xmlns:r="http://schemas.openxmlformats.org/officeDocument/2006/relationships" xmlns:a="http://schemas.openxmlformats.org/drawingml/2006/main" r:embed="Rc3892ecc7a184e5a">
            <a:extLst>
              <a:ext uri="{96DAC541-7B7A-43D3-8B79-37D633B846F1}">
                <ns8:svgBlip xmlns:ns8="http://schemas.microsoft.com/office/drawing/2016/SVG/main" r:embed="rIdVectormf00264"/>
              </a:ext>
            </a:extLst>
          </a:blip>
          <a:stretch xmlns:a="http://schemas.openxmlformats.org/drawingml/2006/main"/>
        </p:blipFill>
        <p:spPr>
          <a:xfrm xmlns:a="http://schemas.openxmlformats.org/drawingml/2006/main">
            <a:off x="1916175" y="3887153"/>
            <a:ext cx="91951" cy="102870"/>
          </a:xfrm>
          <a:prstGeom xmlns:a="http://schemas.openxmlformats.org/drawingml/2006/main" prst="rect">
            <a:avLst/>
          </a:prstGeom>
        </p:spPr>
      </p:pic>
      <p:pic>
        <p:nvPicPr>
          <p:cNvPr id="116" name="!!q2-solve-input-ticklabel2" descr="100"/>
          <p:cNvPicPr>
            <a:picLocks xmlns:a="http://schemas.openxmlformats.org/drawingml/2006/main" noChangeAspect="1"/>
          </p:cNvPicPr>
          <p:nvPr/>
        </p:nvPicPr>
        <p:blipFill>
          <a:blip xmlns:r="http://schemas.openxmlformats.org/officeDocument/2006/relationships" xmlns:a="http://schemas.openxmlformats.org/drawingml/2006/main" r:embed="Rb099c4f7e8ea49f0">
            <a:extLst>
              <a:ext uri="{96DAC541-7B7A-43D3-8B79-37D633B846F1}">
                <ns9:svgBlip xmlns:ns9="http://schemas.microsoft.com/office/drawing/2016/SVG/main" r:embed="rIdVectormf00265"/>
              </a:ext>
            </a:extLst>
          </a:blip>
          <a:stretch xmlns:a="http://schemas.openxmlformats.org/drawingml/2006/main"/>
        </p:blipFill>
        <p:spPr>
          <a:xfrm xmlns:a="http://schemas.openxmlformats.org/drawingml/2006/main">
            <a:off x="2520315" y="3887153"/>
            <a:ext cx="274320" cy="102870"/>
          </a:xfrm>
          <a:prstGeom xmlns:a="http://schemas.openxmlformats.org/drawingml/2006/main" prst="rect">
            <a:avLst/>
          </a:prstGeom>
        </p:spPr>
      </p:pic>
      <p:pic>
        <p:nvPicPr>
          <p:cNvPr id="117" name="!!q2-solve-mixed-label" descr="S'(f)"/>
          <p:cNvPicPr>
            <a:picLocks xmlns:a="http://schemas.openxmlformats.org/drawingml/2006/main" noChangeAspect="1"/>
          </p:cNvPicPr>
          <p:nvPr/>
        </p:nvPicPr>
        <p:blipFill>
          <a:blip xmlns:r="http://schemas.openxmlformats.org/officeDocument/2006/relationships" xmlns:a="http://schemas.openxmlformats.org/drawingml/2006/main" r:embed="R4ef7f81ec8f84947">
            <a:extLst>
              <a:ext uri="{96DAC541-7B7A-43D3-8B79-37D633B846F1}">
                <ns10:svgBlip xmlns:ns10="http://schemas.microsoft.com/office/drawing/2016/SVG/main" r:embed="rIdVectormf00266"/>
              </a:ext>
            </a:extLst>
          </a:blip>
          <a:stretch xmlns:a="http://schemas.openxmlformats.org/drawingml/2006/main"/>
        </p:blipFill>
        <p:spPr>
          <a:xfrm xmlns:a="http://schemas.openxmlformats.org/drawingml/2006/main">
            <a:off x="4582101" y="2976563"/>
            <a:ext cx="461763" cy="209550"/>
          </a:xfrm>
          <a:prstGeom xmlns:a="http://schemas.openxmlformats.org/drawingml/2006/main" prst="rect">
            <a:avLst/>
          </a:prstGeom>
        </p:spPr>
      </p:pic>
      <p:pic>
        <p:nvPicPr>
          <p:cNvPr id="118" name="!!q2-solve-mixed-domain" descr="f"/>
          <p:cNvPicPr>
            <a:picLocks xmlns:a="http://schemas.openxmlformats.org/drawingml/2006/main" noChangeAspect="1"/>
          </p:cNvPicPr>
          <p:nvPr/>
        </p:nvPicPr>
        <p:blipFill>
          <a:blip xmlns:r="http://schemas.openxmlformats.org/officeDocument/2006/relationships" xmlns:a="http://schemas.openxmlformats.org/drawingml/2006/main" r:embed="R49ada88ef1c84c64">
            <a:extLst>
              <a:ext uri="{96DAC541-7B7A-43D3-8B79-37D633B846F1}">
                <ns11:svgBlip xmlns:ns11="http://schemas.microsoft.com/office/drawing/2016/SVG/main" r:embed="rIdVectormf00267"/>
              </a:ext>
            </a:extLst>
          </a:blip>
          <a:stretch xmlns:a="http://schemas.openxmlformats.org/drawingml/2006/main"/>
        </p:blipFill>
        <p:spPr>
          <a:xfrm xmlns:a="http://schemas.openxmlformats.org/drawingml/2006/main">
            <a:off x="7375373" y="3583305"/>
            <a:ext cx="79678" cy="120015"/>
          </a:xfrm>
          <a:prstGeom xmlns:a="http://schemas.openxmlformats.org/drawingml/2006/main" prst="rect">
            <a:avLst/>
          </a:prstGeom>
        </p:spPr>
      </p:pic>
      <p:pic>
        <p:nvPicPr>
          <p:cNvPr id="119" name="!!q2-solve-mixed-ticklabel0" descr="0"/>
          <p:cNvPicPr>
            <a:picLocks xmlns:a="http://schemas.openxmlformats.org/drawingml/2006/main" noChangeAspect="1"/>
          </p:cNvPicPr>
          <p:nvPr/>
        </p:nvPicPr>
        <p:blipFill>
          <a:blip xmlns:r="http://schemas.openxmlformats.org/officeDocument/2006/relationships" xmlns:a="http://schemas.openxmlformats.org/drawingml/2006/main" r:embed="Re7109e166cea4897">
            <a:extLst>
              <a:ext uri="{96DAC541-7B7A-43D3-8B79-37D633B846F1}">
                <ns12:svgBlip xmlns:ns12="http://schemas.microsoft.com/office/drawing/2016/SVG/main" r:embed="rIdVectormf00268"/>
              </a:ext>
            </a:extLst>
          </a:blip>
          <a:stretch xmlns:a="http://schemas.openxmlformats.org/drawingml/2006/main"/>
        </p:blipFill>
        <p:spPr>
          <a:xfrm xmlns:a="http://schemas.openxmlformats.org/drawingml/2006/main">
            <a:off x="5916675" y="3887153"/>
            <a:ext cx="91951" cy="102870"/>
          </a:xfrm>
          <a:prstGeom xmlns:a="http://schemas.openxmlformats.org/drawingml/2006/main" prst="rect">
            <a:avLst/>
          </a:prstGeom>
        </p:spPr>
      </p:pic>
      <p:pic>
        <p:nvPicPr>
          <p:cNvPr id="120" name="!!q2-solve-output-label" descr="S_2(f)"/>
          <p:cNvPicPr>
            <a:picLocks xmlns:a="http://schemas.openxmlformats.org/drawingml/2006/main" noChangeAspect="1"/>
          </p:cNvPicPr>
          <p:nvPr/>
        </p:nvPicPr>
        <p:blipFill>
          <a:blip xmlns:r="http://schemas.openxmlformats.org/officeDocument/2006/relationships" xmlns:a="http://schemas.openxmlformats.org/drawingml/2006/main" r:embed="Rd6d7c127d1eb48d4">
            <a:extLst>
              <a:ext uri="{96DAC541-7B7A-43D3-8B79-37D633B846F1}">
                <ns13:svgBlip xmlns:ns13="http://schemas.microsoft.com/office/drawing/2016/SVG/main" r:embed="rIdVectormf00269"/>
              </a:ext>
            </a:extLst>
          </a:blip>
          <a:stretch xmlns:a="http://schemas.openxmlformats.org/drawingml/2006/main"/>
        </p:blipFill>
        <p:spPr>
          <a:xfrm xmlns:a="http://schemas.openxmlformats.org/drawingml/2006/main">
            <a:off x="8572500" y="2976563"/>
            <a:ext cx="523875" cy="209550"/>
          </a:xfrm>
          <a:prstGeom xmlns:a="http://schemas.openxmlformats.org/drawingml/2006/main" prst="rect">
            <a:avLst/>
          </a:prstGeom>
        </p:spPr>
      </p:pic>
      <p:pic>
        <p:nvPicPr>
          <p:cNvPr id="121" name="!!q2-solve-output-domain" descr="f"/>
          <p:cNvPicPr>
            <a:picLocks xmlns:a="http://schemas.openxmlformats.org/drawingml/2006/main" noChangeAspect="1"/>
          </p:cNvPicPr>
          <p:nvPr/>
        </p:nvPicPr>
        <p:blipFill>
          <a:blip xmlns:r="http://schemas.openxmlformats.org/officeDocument/2006/relationships" xmlns:a="http://schemas.openxmlformats.org/drawingml/2006/main" r:embed="Rd77d07a16c404c56">
            <a:extLst>
              <a:ext uri="{96DAC541-7B7A-43D3-8B79-37D633B846F1}">
                <ns14:svgBlip xmlns:ns14="http://schemas.microsoft.com/office/drawing/2016/SVG/main" r:embed="rIdVectormf00270"/>
              </a:ext>
            </a:extLst>
          </a:blip>
          <a:stretch xmlns:a="http://schemas.openxmlformats.org/drawingml/2006/main"/>
        </p:blipFill>
        <p:spPr>
          <a:xfrm xmlns:a="http://schemas.openxmlformats.org/drawingml/2006/main">
            <a:off x="11375873" y="3583305"/>
            <a:ext cx="79678" cy="120015"/>
          </a:xfrm>
          <a:prstGeom xmlns:a="http://schemas.openxmlformats.org/drawingml/2006/main" prst="rect">
            <a:avLst/>
          </a:prstGeom>
        </p:spPr>
      </p:pic>
      <p:pic>
        <p:nvPicPr>
          <p:cNvPr id="122" name="!!q2-solve-output-ticklabel0" descr="0"/>
          <p:cNvPicPr>
            <a:picLocks xmlns:a="http://schemas.openxmlformats.org/drawingml/2006/main" noChangeAspect="1"/>
          </p:cNvPicPr>
          <p:nvPr/>
        </p:nvPicPr>
        <p:blipFill>
          <a:blip xmlns:r="http://schemas.openxmlformats.org/officeDocument/2006/relationships" xmlns:a="http://schemas.openxmlformats.org/drawingml/2006/main" r:embed="Rf25355dc86a7475b">
            <a:extLst>
              <a:ext uri="{96DAC541-7B7A-43D3-8B79-37D633B846F1}">
                <ns15:svgBlip xmlns:ns15="http://schemas.microsoft.com/office/drawing/2016/SVG/main" r:embed="rIdVectormf00271"/>
              </a:ext>
            </a:extLst>
          </a:blip>
          <a:stretch xmlns:a="http://schemas.openxmlformats.org/drawingml/2006/main"/>
        </p:blipFill>
        <p:spPr>
          <a:xfrm xmlns:a="http://schemas.openxmlformats.org/drawingml/2006/main">
            <a:off x="9917175" y="3887153"/>
            <a:ext cx="91951" cy="102870"/>
          </a:xfrm>
          <a:prstGeom xmlns:a="http://schemas.openxmlformats.org/drawingml/2006/main" prst="rect">
            <a:avLst/>
          </a:prstGeom>
        </p:spPr>
      </p:pic>
      <p:pic>
        <p:nvPicPr>
          <p:cNvPr id="123" name="!!q2-solve-mix-fact" descr="100-20=80\ \mathrm{kHz}"/>
          <p:cNvPicPr>
            <a:picLocks xmlns:a="http://schemas.openxmlformats.org/drawingml/2006/main" noChangeAspect="1"/>
          </p:cNvPicPr>
          <p:nvPr/>
        </p:nvPicPr>
        <p:blipFill>
          <a:blip xmlns:r="http://schemas.openxmlformats.org/officeDocument/2006/relationships" xmlns:a="http://schemas.openxmlformats.org/drawingml/2006/main" r:embed="Rcb32926ac9c94ab7">
            <a:extLst>
              <a:ext uri="{96DAC541-7B7A-43D3-8B79-37D633B846F1}">
                <ns16:svgBlip xmlns:ns16="http://schemas.microsoft.com/office/drawing/2016/SVG/main" r:embed="rIdVectormf00272"/>
              </a:ext>
            </a:extLst>
          </a:blip>
          <a:stretch xmlns:a="http://schemas.openxmlformats.org/drawingml/2006/main"/>
        </p:blipFill>
        <p:spPr>
          <a:xfrm xmlns:a="http://schemas.openxmlformats.org/drawingml/2006/main">
            <a:off x="1103168" y="4338638"/>
            <a:ext cx="1717964" cy="152400"/>
          </a:xfrm>
          <a:prstGeom xmlns:a="http://schemas.openxmlformats.org/drawingml/2006/main" prst="rect">
            <a:avLst/>
          </a:prstGeom>
        </p:spPr>
      </p:pic>
      <p:pic>
        <p:nvPicPr>
          <p:cNvPr id="124" name="!!q2-solve-mixed-tick-180" descr="-180"/>
          <p:cNvPicPr>
            <a:picLocks xmlns:a="http://schemas.openxmlformats.org/drawingml/2006/main" noChangeAspect="1"/>
          </p:cNvPicPr>
          <p:nvPr/>
        </p:nvPicPr>
        <p:blipFill>
          <a:blip xmlns:r="http://schemas.openxmlformats.org/officeDocument/2006/relationships" xmlns:a="http://schemas.openxmlformats.org/drawingml/2006/main" r:embed="R56ccf2a804cc4454">
            <a:extLst>
              <a:ext uri="{96DAC541-7B7A-43D3-8B79-37D633B846F1}">
                <ns17:svgBlip xmlns:ns17="http://schemas.microsoft.com/office/drawing/2016/SVG/main" r:embed="rIdVectormf00273"/>
              </a:ext>
            </a:extLst>
          </a:blip>
          <a:stretch xmlns:a="http://schemas.openxmlformats.org/drawingml/2006/main"/>
        </p:blipFill>
        <p:spPr>
          <a:xfrm xmlns:a="http://schemas.openxmlformats.org/drawingml/2006/main">
            <a:off x="4488180" y="3872686"/>
            <a:ext cx="445770" cy="131802"/>
          </a:xfrm>
          <a:prstGeom xmlns:a="http://schemas.openxmlformats.org/drawingml/2006/main" prst="rect">
            <a:avLst/>
          </a:prstGeom>
        </p:spPr>
      </p:pic>
      <p:pic>
        <p:nvPicPr>
          <p:cNvPr id="125" name="!!q2-solve-mixed-tick-20" descr="-20"/>
          <p:cNvPicPr>
            <a:picLocks xmlns:a="http://schemas.openxmlformats.org/drawingml/2006/main" noChangeAspect="1"/>
          </p:cNvPicPr>
          <p:nvPr/>
        </p:nvPicPr>
        <p:blipFill>
          <a:blip xmlns:r="http://schemas.openxmlformats.org/officeDocument/2006/relationships" xmlns:a="http://schemas.openxmlformats.org/drawingml/2006/main" r:embed="Rbc086305e0e74785">
            <a:extLst>
              <a:ext uri="{96DAC541-7B7A-43D3-8B79-37D633B846F1}">
                <ns18:svgBlip xmlns:ns18="http://schemas.microsoft.com/office/drawing/2016/SVG/main" r:embed="rIdVectormf00274"/>
              </a:ext>
            </a:extLst>
          </a:blip>
          <a:stretch xmlns:a="http://schemas.openxmlformats.org/drawingml/2006/main"/>
        </p:blipFill>
        <p:spPr>
          <a:xfrm xmlns:a="http://schemas.openxmlformats.org/drawingml/2006/main">
            <a:off x="5537835" y="4063722"/>
            <a:ext cx="342900" cy="130731"/>
          </a:xfrm>
          <a:prstGeom xmlns:a="http://schemas.openxmlformats.org/drawingml/2006/main" prst="rect">
            <a:avLst/>
          </a:prstGeom>
        </p:spPr>
      </p:pic>
      <p:pic>
        <p:nvPicPr>
          <p:cNvPr id="126" name="!!q2-solve-mixed-tick20" descr="20"/>
          <p:cNvPicPr>
            <a:picLocks xmlns:a="http://schemas.openxmlformats.org/drawingml/2006/main" noChangeAspect="1"/>
          </p:cNvPicPr>
          <p:nvPr/>
        </p:nvPicPr>
        <p:blipFill>
          <a:blip xmlns:r="http://schemas.openxmlformats.org/officeDocument/2006/relationships" xmlns:a="http://schemas.openxmlformats.org/drawingml/2006/main" r:embed="Rb700d08596d44355">
            <a:extLst>
              <a:ext uri="{96DAC541-7B7A-43D3-8B79-37D633B846F1}">
                <ns19:svgBlip xmlns:ns19="http://schemas.microsoft.com/office/drawing/2016/SVG/main" r:embed="rIdVectormf00275"/>
              </a:ext>
            </a:extLst>
          </a:blip>
          <a:stretch xmlns:a="http://schemas.openxmlformats.org/drawingml/2006/main"/>
        </p:blipFill>
        <p:spPr>
          <a:xfrm xmlns:a="http://schemas.openxmlformats.org/drawingml/2006/main">
            <a:off x="6124064" y="4077653"/>
            <a:ext cx="183902" cy="102870"/>
          </a:xfrm>
          <a:prstGeom xmlns:a="http://schemas.openxmlformats.org/drawingml/2006/main" prst="rect">
            <a:avLst/>
          </a:prstGeom>
        </p:spPr>
      </p:pic>
      <p:pic>
        <p:nvPicPr>
          <p:cNvPr id="127" name="!!q2-solve-mixed-tick180" descr="180"/>
          <p:cNvPicPr>
            <a:picLocks xmlns:a="http://schemas.openxmlformats.org/drawingml/2006/main" noChangeAspect="1"/>
          </p:cNvPicPr>
          <p:nvPr/>
        </p:nvPicPr>
        <p:blipFill>
          <a:blip xmlns:r="http://schemas.openxmlformats.org/officeDocument/2006/relationships" xmlns:a="http://schemas.openxmlformats.org/drawingml/2006/main" r:embed="R6b95dadae4264ea6">
            <a:extLst>
              <a:ext uri="{96DAC541-7B7A-43D3-8B79-37D633B846F1}">
                <ns20:svgBlip xmlns:ns20="http://schemas.microsoft.com/office/drawing/2016/SVG/main" r:embed="rIdVectormf00276"/>
              </a:ext>
            </a:extLst>
          </a:blip>
          <a:stretch xmlns:a="http://schemas.openxmlformats.org/drawingml/2006/main"/>
        </p:blipFill>
        <p:spPr>
          <a:xfrm xmlns:a="http://schemas.openxmlformats.org/drawingml/2006/main">
            <a:off x="7077075" y="3887153"/>
            <a:ext cx="274320" cy="102870"/>
          </a:xfrm>
          <a:prstGeom xmlns:a="http://schemas.openxmlformats.org/drawingml/2006/main" prst="rect">
            <a:avLst/>
          </a:prstGeom>
        </p:spPr>
      </p:pic>
      <p:pic>
        <p:nvPicPr>
          <p:cNvPr id="128" name="!!q2-solve-unwanted-fact" descr="100+80=180\ \mathrm{kHz}"/>
          <p:cNvPicPr>
            <a:picLocks xmlns:a="http://schemas.openxmlformats.org/drawingml/2006/main" noChangeAspect="1"/>
          </p:cNvPicPr>
          <p:nvPr/>
        </p:nvPicPr>
        <p:blipFill>
          <a:blip xmlns:r="http://schemas.openxmlformats.org/officeDocument/2006/relationships" xmlns:a="http://schemas.openxmlformats.org/drawingml/2006/main" r:embed="R0d4d84b457bd4ea5">
            <a:extLst>
              <a:ext uri="{96DAC541-7B7A-43D3-8B79-37D633B846F1}">
                <ns21:svgBlip xmlns:ns21="http://schemas.microsoft.com/office/drawing/2016/SVG/main" r:embed="rIdVectormf00277"/>
              </a:ext>
            </a:extLst>
          </a:blip>
          <a:stretch xmlns:a="http://schemas.openxmlformats.org/drawingml/2006/main"/>
        </p:blipFill>
        <p:spPr>
          <a:xfrm xmlns:a="http://schemas.openxmlformats.org/drawingml/2006/main">
            <a:off x="5048250" y="4338638"/>
            <a:ext cx="1828800" cy="152400"/>
          </a:xfrm>
          <a:prstGeom xmlns:a="http://schemas.openxmlformats.org/drawingml/2006/main" prst="rect">
            <a:avLst/>
          </a:prstGeom>
        </p:spPr>
      </p:pic>
      <p:pic>
        <p:nvPicPr>
          <p:cNvPr id="129" name="!!q2-solve-bpf-ends-1" descr="[-24,-16]"/>
          <p:cNvPicPr>
            <a:picLocks xmlns:a="http://schemas.openxmlformats.org/drawingml/2006/main" noChangeAspect="1"/>
          </p:cNvPicPr>
          <p:nvPr/>
        </p:nvPicPr>
        <p:blipFill>
          <a:blip xmlns:r="http://schemas.openxmlformats.org/officeDocument/2006/relationships" xmlns:a="http://schemas.openxmlformats.org/drawingml/2006/main" r:embed="Rab3f14a1babd496d">
            <a:extLst>
              <a:ext uri="{96DAC541-7B7A-43D3-8B79-37D633B846F1}">
                <ns22:svgBlip xmlns:ns22="http://schemas.microsoft.com/office/drawing/2016/SVG/main" r:embed="rIdVectormf00278"/>
              </a:ext>
            </a:extLst>
          </a:blip>
          <a:stretch xmlns:a="http://schemas.openxmlformats.org/drawingml/2006/main"/>
        </p:blipFill>
        <p:spPr>
          <a:xfrm xmlns:a="http://schemas.openxmlformats.org/drawingml/2006/main">
            <a:off x="8814435" y="3201694"/>
            <a:ext cx="933450" cy="178388"/>
          </a:xfrm>
          <a:prstGeom xmlns:a="http://schemas.openxmlformats.org/drawingml/2006/main" prst="rect">
            <a:avLst/>
          </a:prstGeom>
        </p:spPr>
      </p:pic>
      <p:pic>
        <p:nvPicPr>
          <p:cNvPr id="130" name="!!q2-solve-bpf-ends1" descr="[16,24]"/>
          <p:cNvPicPr>
            <a:picLocks xmlns:a="http://schemas.openxmlformats.org/drawingml/2006/main" noChangeAspect="1"/>
          </p:cNvPicPr>
          <p:nvPr/>
        </p:nvPicPr>
        <p:blipFill>
          <a:blip xmlns:r="http://schemas.openxmlformats.org/officeDocument/2006/relationships" xmlns:a="http://schemas.openxmlformats.org/drawingml/2006/main" r:embed="Rf631d436fe9244ef">
            <a:extLst>
              <a:ext uri="{96DAC541-7B7A-43D3-8B79-37D633B846F1}">
                <ns23:svgBlip xmlns:ns23="http://schemas.microsoft.com/office/drawing/2016/SVG/main" r:embed="rIdVectormf00279"/>
              </a:ext>
            </a:extLst>
          </a:blip>
          <a:stretch xmlns:a="http://schemas.openxmlformats.org/drawingml/2006/main"/>
        </p:blipFill>
        <p:spPr>
          <a:xfrm xmlns:a="http://schemas.openxmlformats.org/drawingml/2006/main">
            <a:off x="10337483" y="3201531"/>
            <a:ext cx="615315" cy="178713"/>
          </a:xfrm>
          <a:prstGeom xmlns:a="http://schemas.openxmlformats.org/drawingml/2006/main" prst="rect">
            <a:avLst/>
          </a:prstGeom>
        </p:spPr>
      </p:pic>
      <p:pic>
        <p:nvPicPr>
          <p:cNvPr id="131" name="!!q2-solve-bpf-fact" descr="20\pm4\ \mathrm{kHz}"/>
          <p:cNvPicPr>
            <a:picLocks xmlns:a="http://schemas.openxmlformats.org/drawingml/2006/main" noChangeAspect="1"/>
          </p:cNvPicPr>
          <p:nvPr/>
        </p:nvPicPr>
        <p:blipFill>
          <a:blip xmlns:r="http://schemas.openxmlformats.org/officeDocument/2006/relationships" xmlns:a="http://schemas.openxmlformats.org/drawingml/2006/main" r:embed="R6dbbc6b4f3fb4596">
            <a:extLst>
              <a:ext uri="{96DAC541-7B7A-43D3-8B79-37D633B846F1}">
                <ns24:svgBlip xmlns:ns24="http://schemas.microsoft.com/office/drawing/2016/SVG/main" r:embed="rIdVectormf00280"/>
              </a:ext>
            </a:extLst>
          </a:blip>
          <a:stretch xmlns:a="http://schemas.openxmlformats.org/drawingml/2006/main"/>
        </p:blipFill>
        <p:spPr>
          <a:xfrm xmlns:a="http://schemas.openxmlformats.org/drawingml/2006/main">
            <a:off x="9455150" y="4338638"/>
            <a:ext cx="1016000" cy="152400"/>
          </a:xfrm>
          <a:prstGeom xmlns:a="http://schemas.openxmlformats.org/drawingml/2006/main" prst="rect">
            <a:avLst/>
          </a:prstGeom>
        </p:spPr>
      </p:pic>
      <p:pic>
        <p:nvPicPr>
          <p:cNvPr id="132" name="!!q2-solve-dense-equation-0" descr="\textstyle \mathrm{Mixing\ signal}:\quad2\cos(2\pi\cdot80{,}000t)"/>
          <p:cNvPicPr>
            <a:picLocks xmlns:a="http://schemas.openxmlformats.org/drawingml/2006/main" noChangeAspect="1"/>
          </p:cNvPicPr>
          <p:nvPr/>
        </p:nvPicPr>
        <p:blipFill>
          <a:blip xmlns:r="http://schemas.openxmlformats.org/officeDocument/2006/relationships" xmlns:a="http://schemas.openxmlformats.org/drawingml/2006/main" r:embed="Rd87b29ad581d4f54">
            <a:extLst>
              <a:ext uri="{96DAC541-7B7A-43D3-8B79-37D633B846F1}">
                <ns25:svgBlip xmlns:ns25="http://schemas.microsoft.com/office/drawing/2016/SVG/main" r:embed="rIdVectormf00281"/>
              </a:ext>
            </a:extLst>
          </a:blip>
          <a:stretch xmlns:a="http://schemas.openxmlformats.org/drawingml/2006/main"/>
        </p:blipFill>
        <p:spPr>
          <a:xfrm xmlns:a="http://schemas.openxmlformats.org/drawingml/2006/main">
            <a:off x="609600" y="4769644"/>
            <a:ext cx="4408170" cy="247650"/>
          </a:xfrm>
          <a:prstGeom xmlns:a="http://schemas.openxmlformats.org/drawingml/2006/main" prst="rect">
            <a:avLst/>
          </a:prstGeom>
        </p:spPr>
      </p:pic>
      <p:pic>
        <p:nvPicPr>
          <p:cNvPr id="133" name="!!q2-solve-dense-equation-1" descr="\textstyle s'(t)=2s_1(t)\cos(2\pi\cdot80{,}000t)=m(t)\cos(2\pi\cdot20{,}000t)+m(t)\cos(2\pi\cdot180{,}000t)"/>
          <p:cNvPicPr>
            <a:picLocks xmlns:a="http://schemas.openxmlformats.org/drawingml/2006/main" noChangeAspect="1"/>
          </p:cNvPicPr>
          <p:nvPr/>
        </p:nvPicPr>
        <p:blipFill>
          <a:blip xmlns:r="http://schemas.openxmlformats.org/officeDocument/2006/relationships" xmlns:a="http://schemas.openxmlformats.org/drawingml/2006/main" r:embed="Ree4ddfe0b1c6416f">
            <a:extLst>
              <a:ext uri="{96DAC541-7B7A-43D3-8B79-37D633B846F1}">
                <ns26:svgBlip xmlns:ns26="http://schemas.microsoft.com/office/drawing/2016/SVG/main" r:embed="rIdVectormf00282"/>
              </a:ext>
            </a:extLst>
          </a:blip>
          <a:stretch xmlns:a="http://schemas.openxmlformats.org/drawingml/2006/main"/>
        </p:blipFill>
        <p:spPr>
          <a:xfrm xmlns:a="http://schemas.openxmlformats.org/drawingml/2006/main">
            <a:off x="609600" y="5160169"/>
            <a:ext cx="9782175" cy="247650"/>
          </a:xfrm>
          <a:prstGeom xmlns:a="http://schemas.openxmlformats.org/drawingml/2006/main" prst="rect">
            <a:avLst/>
          </a:prstGeom>
        </p:spPr>
      </p:pic>
      <p:pic>
        <p:nvPicPr>
          <p:cNvPr id="134" name="!!q2-solve-dense-equation-2" descr="\textstyle \mathrm{Unwanted\ output}:\quad f=\pm180\ \mathrm{kHz}"/>
          <p:cNvPicPr>
            <a:picLocks xmlns:a="http://schemas.openxmlformats.org/drawingml/2006/main" noChangeAspect="1"/>
          </p:cNvPicPr>
          <p:nvPr/>
        </p:nvPicPr>
        <p:blipFill>
          <a:blip xmlns:r="http://schemas.openxmlformats.org/officeDocument/2006/relationships" xmlns:a="http://schemas.openxmlformats.org/drawingml/2006/main" r:embed="Rafbd9c50efee4f08">
            <a:extLst>
              <a:ext uri="{96DAC541-7B7A-43D3-8B79-37D633B846F1}">
                <ns27:svgBlip xmlns:ns27="http://schemas.microsoft.com/office/drawing/2016/SVG/main" r:embed="rIdVectormf00283"/>
              </a:ext>
            </a:extLst>
          </a:blip>
          <a:stretch xmlns:a="http://schemas.openxmlformats.org/drawingml/2006/main"/>
        </p:blipFill>
        <p:spPr>
          <a:xfrm xmlns:a="http://schemas.openxmlformats.org/drawingml/2006/main">
            <a:off x="609600" y="5564624"/>
            <a:ext cx="4432935" cy="219789"/>
          </a:xfrm>
          <a:prstGeom xmlns:a="http://schemas.openxmlformats.org/drawingml/2006/main" prst="rect">
            <a:avLst/>
          </a:prstGeom>
        </p:spPr>
      </p:pic>
      <p:pic>
        <p:nvPicPr>
          <p:cNvPr id="135" name="!!q2-solve-dense-equation-3" descr="\textstyle \mathrm{BPF\ passbands}:\quad[-24,-16],\ [16,24]\ \mathrm{kHz}"/>
          <p:cNvPicPr>
            <a:picLocks xmlns:a="http://schemas.openxmlformats.org/drawingml/2006/main" noChangeAspect="1"/>
          </p:cNvPicPr>
          <p:nvPr/>
        </p:nvPicPr>
        <p:blipFill>
          <a:blip xmlns:r="http://schemas.openxmlformats.org/officeDocument/2006/relationships" xmlns:a="http://schemas.openxmlformats.org/drawingml/2006/main" r:embed="Rd77a70fe94f64fcb">
            <a:extLst>
              <a:ext uri="{96DAC541-7B7A-43D3-8B79-37D633B846F1}">
                <ns28:svgBlip xmlns:ns28="http://schemas.microsoft.com/office/drawing/2016/SVG/main" r:embed="rIdVectormf00284"/>
              </a:ext>
            </a:extLst>
          </a:blip>
          <a:stretch xmlns:a="http://schemas.openxmlformats.org/drawingml/2006/main"/>
        </p:blipFill>
        <p:spPr>
          <a:xfrm xmlns:a="http://schemas.openxmlformats.org/drawingml/2006/main">
            <a:off x="609600" y="5941219"/>
            <a:ext cx="5398770" cy="247650"/>
          </a:xfrm>
          <a:prstGeom xmlns:a="http://schemas.openxmlformats.org/drawingml/2006/main" prst="rect">
            <a:avLst/>
          </a:prstGeom>
        </p:spPr>
      </p:pic>
      <p:pic>
        <p:nvPicPr>
          <p:cNvPr id="136" name="!!q2-solve-dense-equation-4" descr="\textstyle s_2(t)=m(t)\cos(2\pi\cdot20{,}000t)"/>
          <p:cNvPicPr>
            <a:picLocks xmlns:a="http://schemas.openxmlformats.org/drawingml/2006/main" noChangeAspect="1"/>
          </p:cNvPicPr>
          <p:nvPr/>
        </p:nvPicPr>
        <p:blipFill>
          <a:blip xmlns:r="http://schemas.openxmlformats.org/officeDocument/2006/relationships" xmlns:a="http://schemas.openxmlformats.org/drawingml/2006/main" r:embed="R23bb05cd316c4b4e">
            <a:extLst>
              <a:ext uri="{96DAC541-7B7A-43D3-8B79-37D633B846F1}">
                <ns29:svgBlip xmlns:ns29="http://schemas.microsoft.com/office/drawing/2016/SVG/main" r:embed="rIdVectormf00285"/>
              </a:ext>
            </a:extLst>
          </a:blip>
          <a:stretch xmlns:a="http://schemas.openxmlformats.org/drawingml/2006/main"/>
        </p:blipFill>
        <p:spPr>
          <a:xfrm xmlns:a="http://schemas.openxmlformats.org/drawingml/2006/main">
            <a:off x="609600" y="6332518"/>
            <a:ext cx="3566160" cy="246102"/>
          </a:xfrm>
          <a:prstGeom xmlns:a="http://schemas.openxmlformats.org/drawingml/2006/main" prst="rect">
            <a:avLst/>
          </a:prstGeom>
        </p:spPr>
      </p:pic>
    </p:spTree>
    <p:extLst>
      <p:ext uri="{BB962C8B-B14F-4D97-AF65-F5344CB8AC3E}">
        <p14:creationId xmlns:p14="http://schemas.microsoft.com/office/powerpoint/2010/main" val="1013328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123"/>
                                        </p:tgtEl>
                                        <p:attrNameLst>
                                          <p:attrName>style.visibility</p:attrName>
                                        </p:attrNameLst>
                                      </p:cBhvr>
                                      <p:to>
                                        <p:strVal val="visible"/>
                                      </p:to>
                                    </p:set>
                                    <p:animEffect transition="in" filter="fade">
                                      <p:cBhvr>
                                        <p:cTn id="16" dur="400"/>
                                        <p:tgtEl>
                                          <p:spTgt spid="1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2"/>
                                        </p:tgtEl>
                                        <p:attrNameLst>
                                          <p:attrName>style.visibility</p:attrName>
                                        </p:attrNameLst>
                                      </p:cBhvr>
                                      <p:to>
                                        <p:strVal val="visible"/>
                                      </p:to>
                                    </p:set>
                                    <p:animEffect transition="in" filter="fade">
                                      <p:cBhvr>
                                        <p:cTn id="21" dur="200"/>
                                        <p:tgtEl>
                                          <p:spTgt spid="132"/>
                                        </p:tgtEl>
                                      </p:cBhvr>
                                    </p:animEffect>
                                    <p:animMotion origin="layout" pathEditMode="relative" path="M -0.06984375 -0.06979163 L 0.00000000 0.00000000 E">
                                      <p:cBhvr>
                                        <p:cTn id="22" dur="700" fill="hold"/>
                                        <p:tgtEl>
                                          <p:spTgt spid="132"/>
                                        </p:tgtEl>
                                        <p:attrNameLst>
                                          <p:attrName>ppt_x</p:attrName>
                                          <p:attrName>ppt_y</p:attrName>
                                        </p:attrNameLst>
                                      </p:cBhvr>
                                    </p:animMotion>
                                    <p:animScale zoomContents="1">
                                      <p:cBhvr>
                                        <p:cTn id="23" dur="700" fill="hold"/>
                                        <p:tgtEl>
                                          <p:spTgt spid="132"/>
                                        </p:tgtEl>
                                      </p:cBhvr>
                                      <p:from x="38972" y="38972"/>
                                      <p:to x="100000" y="100000"/>
                                    </p:animScale>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200"/>
                                        <p:tgtEl>
                                          <p:spTgt spid="26"/>
                                        </p:tgtEl>
                                      </p:cBhvr>
                                    </p:animEffect>
                                    <p:animMotion origin="layout" pathEditMode="relative" path="M -0.37375000 0.00000000 L 0.00000000 0.00000000 E">
                                      <p:cBhvr>
                                        <p:cTn id="29" dur="700" fill="hold"/>
                                        <p:tgtEl>
                                          <p:spTgt spid="26"/>
                                        </p:tgtEl>
                                        <p:attrNameLst>
                                          <p:attrName>ppt_x</p:attrName>
                                          <p:attrName>ppt_y</p:attrName>
                                        </p:attrNameLst>
                                      </p:cBhvr>
                                    </p:animMotion>
                                    <p:animScale zoomContents="1">
                                      <p:cBhvr>
                                        <p:cTn id="30" dur="700" fill="hold"/>
                                        <p:tgtEl>
                                          <p:spTgt spid="26"/>
                                        </p:tgtEl>
                                      </p:cBhvr>
                                      <p:from x="100000" y="100000"/>
                                      <p:to x="100000" y="100000"/>
                                    </p:animScale>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200"/>
                                        <p:tgtEl>
                                          <p:spTgt spid="27"/>
                                        </p:tgtEl>
                                      </p:cBhvr>
                                    </p:animEffect>
                                    <p:animMotion origin="layout" pathEditMode="relative" path="M -0.28250000 0.00000000 L 0.00000000 0.00000000 E">
                                      <p:cBhvr>
                                        <p:cTn id="34" dur="700" fill="hold"/>
                                        <p:tgtEl>
                                          <p:spTgt spid="27"/>
                                        </p:tgtEl>
                                        <p:attrNameLst>
                                          <p:attrName>ppt_x</p:attrName>
                                          <p:attrName>ppt_y</p:attrName>
                                        </p:attrNameLst>
                                      </p:cBhvr>
                                    </p:animMotion>
                                    <p:animScale zoomContents="1">
                                      <p:cBhvr>
                                        <p:cTn id="35" dur="700" fill="hold"/>
                                        <p:tgtEl>
                                          <p:spTgt spid="27"/>
                                        </p:tgtEl>
                                      </p:cBhvr>
                                      <p:from x="100000" y="100000"/>
                                      <p:to x="100000" y="100000"/>
                                    </p:animScale>
                                  </p:childTnLst>
                                </p:cTn>
                              </p:par>
                              <p:par>
                                <p:cTn id="36" presetID="10"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200"/>
                                        <p:tgtEl>
                                          <p:spTgt spid="28"/>
                                        </p:tgtEl>
                                      </p:cBhvr>
                                    </p:animEffect>
                                    <p:animMotion origin="layout" pathEditMode="relative" path="M -0.28250000 0.00000000 L 0.00000000 0.00000000 E">
                                      <p:cBhvr>
                                        <p:cTn id="39" dur="700" fill="hold"/>
                                        <p:tgtEl>
                                          <p:spTgt spid="28"/>
                                        </p:tgtEl>
                                        <p:attrNameLst>
                                          <p:attrName>ppt_x</p:attrName>
                                          <p:attrName>ppt_y</p:attrName>
                                        </p:attrNameLst>
                                      </p:cBhvr>
                                    </p:animMotion>
                                    <p:animScale zoomContents="1">
                                      <p:cBhvr>
                                        <p:cTn id="40" dur="700" fill="hold"/>
                                        <p:tgtEl>
                                          <p:spTgt spid="28"/>
                                        </p:tgtEl>
                                      </p:cBhvr>
                                      <p:from x="100000" y="100000"/>
                                      <p:to x="100000" y="100000"/>
                                    </p:animScale>
                                  </p:childTnLst>
                                </p:cTn>
                              </p:par>
                              <p:par>
                                <p:cTn id="41" presetID="10"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200"/>
                                        <p:tgtEl>
                                          <p:spTgt spid="29"/>
                                        </p:tgtEl>
                                      </p:cBhvr>
                                    </p:animEffect>
                                    <p:animMotion origin="layout" pathEditMode="relative" path="M -0.37375000 0.00000000 L 0.00000000 0.00000000 E">
                                      <p:cBhvr>
                                        <p:cTn id="44" dur="700" fill="hold"/>
                                        <p:tgtEl>
                                          <p:spTgt spid="29"/>
                                        </p:tgtEl>
                                        <p:attrNameLst>
                                          <p:attrName>ppt_x</p:attrName>
                                          <p:attrName>ppt_y</p:attrName>
                                        </p:attrNameLst>
                                      </p:cBhvr>
                                    </p:animMotion>
                                    <p:animScale zoomContents="1">
                                      <p:cBhvr>
                                        <p:cTn id="45" dur="700" fill="hold"/>
                                        <p:tgtEl>
                                          <p:spTgt spid="29"/>
                                        </p:tgtEl>
                                      </p:cBhvr>
                                      <p:from x="100000" y="100000"/>
                                      <p:to x="100000" y="100000"/>
                                    </p:animScale>
                                  </p:childTnLst>
                                </p:cTn>
                              </p:par>
                              <p:par>
                                <p:cTn id="46" presetID="10" presetClass="entr" presetSubtype="0" fill="hold" nodeType="withEffect">
                                  <p:stCondLst>
                                    <p:cond delay="0"/>
                                  </p:stCondLst>
                                  <p:childTnLst>
                                    <p:set>
                                      <p:cBhvr>
                                        <p:cTn id="47" dur="1" fill="hold">
                                          <p:stCondLst>
                                            <p:cond delay="0"/>
                                          </p:stCondLst>
                                        </p:cTn>
                                        <p:tgtEl>
                                          <p:spTgt spid="124"/>
                                        </p:tgtEl>
                                        <p:attrNameLst>
                                          <p:attrName>style.visibility</p:attrName>
                                        </p:attrNameLst>
                                      </p:cBhvr>
                                      <p:to>
                                        <p:strVal val="visible"/>
                                      </p:to>
                                    </p:set>
                                    <p:animEffect transition="in" filter="fade">
                                      <p:cBhvr>
                                        <p:cTn id="48" dur="400"/>
                                        <p:tgtEl>
                                          <p:spTgt spid="124"/>
                                        </p:tgtEl>
                                      </p:cBhvr>
                                    </p:animEffect>
                                  </p:childTnLst>
                                </p:cTn>
                              </p:par>
                              <p:par>
                                <p:cTn id="49" presetID="10" presetClass="entr" presetSubtype="0" fill="hold" nodeType="withEffect">
                                  <p:stCondLst>
                                    <p:cond delay="0"/>
                                  </p:stCondLst>
                                  <p:childTnLst>
                                    <p:set>
                                      <p:cBhvr>
                                        <p:cTn id="50" dur="1" fill="hold">
                                          <p:stCondLst>
                                            <p:cond delay="0"/>
                                          </p:stCondLst>
                                        </p:cTn>
                                        <p:tgtEl>
                                          <p:spTgt spid="125"/>
                                        </p:tgtEl>
                                        <p:attrNameLst>
                                          <p:attrName>style.visibility</p:attrName>
                                        </p:attrNameLst>
                                      </p:cBhvr>
                                      <p:to>
                                        <p:strVal val="visible"/>
                                      </p:to>
                                    </p:set>
                                    <p:animEffect transition="in" filter="fade">
                                      <p:cBhvr>
                                        <p:cTn id="51" dur="400"/>
                                        <p:tgtEl>
                                          <p:spTgt spid="125"/>
                                        </p:tgtEl>
                                      </p:cBhvr>
                                    </p:animEffect>
                                  </p:childTnLst>
                                </p:cTn>
                              </p:par>
                              <p:par>
                                <p:cTn id="52" presetID="10" presetClass="entr" presetSubtype="0" fill="hold" nodeType="withEffect">
                                  <p:stCondLst>
                                    <p:cond delay="0"/>
                                  </p:stCondLst>
                                  <p:childTnLst>
                                    <p:set>
                                      <p:cBhvr>
                                        <p:cTn id="53" dur="1" fill="hold">
                                          <p:stCondLst>
                                            <p:cond delay="0"/>
                                          </p:stCondLst>
                                        </p:cTn>
                                        <p:tgtEl>
                                          <p:spTgt spid="126"/>
                                        </p:tgtEl>
                                        <p:attrNameLst>
                                          <p:attrName>style.visibility</p:attrName>
                                        </p:attrNameLst>
                                      </p:cBhvr>
                                      <p:to>
                                        <p:strVal val="visible"/>
                                      </p:to>
                                    </p:set>
                                    <p:animEffect transition="in" filter="fade">
                                      <p:cBhvr>
                                        <p:cTn id="54" dur="400"/>
                                        <p:tgtEl>
                                          <p:spTgt spid="126"/>
                                        </p:tgtEl>
                                      </p:cBhvr>
                                    </p:animEffect>
                                  </p:childTnLst>
                                </p:cTn>
                              </p:par>
                              <p:par>
                                <p:cTn id="55" presetID="10" presetClass="entr" presetSubtype="0" fill="hold" nodeType="withEffect">
                                  <p:stCondLst>
                                    <p:cond delay="0"/>
                                  </p:stCondLst>
                                  <p:childTnLst>
                                    <p:set>
                                      <p:cBhvr>
                                        <p:cTn id="56" dur="1" fill="hold">
                                          <p:stCondLst>
                                            <p:cond delay="0"/>
                                          </p:stCondLst>
                                        </p:cTn>
                                        <p:tgtEl>
                                          <p:spTgt spid="127"/>
                                        </p:tgtEl>
                                        <p:attrNameLst>
                                          <p:attrName>style.visibility</p:attrName>
                                        </p:attrNameLst>
                                      </p:cBhvr>
                                      <p:to>
                                        <p:strVal val="visible"/>
                                      </p:to>
                                    </p:set>
                                    <p:animEffect transition="in" filter="fade">
                                      <p:cBhvr>
                                        <p:cTn id="57" dur="400"/>
                                        <p:tgtEl>
                                          <p:spTgt spid="127"/>
                                        </p:tgtEl>
                                      </p:cBhvr>
                                    </p:animEffect>
                                  </p:childTnLst>
                                </p:cTn>
                              </p:par>
                              <p:par>
                                <p:cTn id="58" presetID="10" presetClass="entr" presetSubtype="0" fill="hold" nodeType="withEffect">
                                  <p:stCondLst>
                                    <p:cond delay="0"/>
                                  </p:stCondLst>
                                  <p:childTnLst>
                                    <p:set>
                                      <p:cBhvr>
                                        <p:cTn id="59" dur="1" fill="hold">
                                          <p:stCondLst>
                                            <p:cond delay="0"/>
                                          </p:stCondLst>
                                        </p:cTn>
                                        <p:tgtEl>
                                          <p:spTgt spid="128"/>
                                        </p:tgtEl>
                                        <p:attrNameLst>
                                          <p:attrName>style.visibility</p:attrName>
                                        </p:attrNameLst>
                                      </p:cBhvr>
                                      <p:to>
                                        <p:strVal val="visible"/>
                                      </p:to>
                                    </p:set>
                                    <p:animEffect transition="in" filter="fade">
                                      <p:cBhvr>
                                        <p:cTn id="60" dur="400"/>
                                        <p:tgtEl>
                                          <p:spTgt spid="128"/>
                                        </p:tgtEl>
                                      </p:cBhvr>
                                    </p:animEffect>
                                  </p:childTnLst>
                                </p:cTn>
                              </p:par>
                              <p:par>
                                <p:cTn id="61" presetID="10" presetClass="entr" presetSubtype="0" fill="hold" nodeType="withEffect">
                                  <p:stCondLst>
                                    <p:cond delay="0"/>
                                  </p:stCondLst>
                                  <p:childTnLst>
                                    <p:set>
                                      <p:cBhvr>
                                        <p:cTn id="62" dur="1" fill="hold">
                                          <p:stCondLst>
                                            <p:cond delay="0"/>
                                          </p:stCondLst>
                                        </p:cTn>
                                        <p:tgtEl>
                                          <p:spTgt spid="133"/>
                                        </p:tgtEl>
                                        <p:attrNameLst>
                                          <p:attrName>style.visibility</p:attrName>
                                        </p:attrNameLst>
                                      </p:cBhvr>
                                      <p:to>
                                        <p:strVal val="visible"/>
                                      </p:to>
                                    </p:set>
                                    <p:animEffect transition="in" filter="fade">
                                      <p:cBhvr>
                                        <p:cTn id="63" dur="400"/>
                                        <p:tgtEl>
                                          <p:spTgt spid="13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34"/>
                                        </p:tgtEl>
                                        <p:attrNameLst>
                                          <p:attrName>style.visibility</p:attrName>
                                        </p:attrNameLst>
                                      </p:cBhvr>
                                      <p:to>
                                        <p:strVal val="visible"/>
                                      </p:to>
                                    </p:set>
                                    <p:animEffect transition="in" filter="fade">
                                      <p:cBhvr>
                                        <p:cTn id="68" dur="200"/>
                                        <p:tgtEl>
                                          <p:spTgt spid="134"/>
                                        </p:tgtEl>
                                      </p:cBhvr>
                                    </p:animEffect>
                                    <p:animMotion origin="layout" pathEditMode="relative" path="M 0.25726562 -0.18368045 L 0.00000000 0.00000000 E">
                                      <p:cBhvr>
                                        <p:cTn id="69" dur="700" fill="hold"/>
                                        <p:tgtEl>
                                          <p:spTgt spid="134"/>
                                        </p:tgtEl>
                                        <p:attrNameLst>
                                          <p:attrName>ppt_x</p:attrName>
                                          <p:attrName>ppt_y</p:attrName>
                                        </p:attrNameLst>
                                      </p:cBhvr>
                                    </p:animMotion>
                                    <p:animScale zoomContents="1">
                                      <p:cBhvr>
                                        <p:cTn id="70" dur="700" fill="hold"/>
                                        <p:tgtEl>
                                          <p:spTgt spid="134"/>
                                        </p:tgtEl>
                                      </p:cBhvr>
                                      <p:from x="41255" y="41255"/>
                                      <p:to x="100000" y="100000"/>
                                    </p:animScale>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400"/>
                                        <p:tgtEl>
                                          <p:spTgt spid="30"/>
                                        </p:tgtEl>
                                      </p:cBhvr>
                                    </p:animEffect>
                                  </p:childTnLst>
                                </p:cTn>
                              </p:par>
                              <p:par>
                                <p:cTn id="76" presetID="10" presetClass="entr" presetSubtype="0" fill="hold"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400"/>
                                        <p:tgtEl>
                                          <p:spTgt spid="31"/>
                                        </p:tgtEl>
                                      </p:cBhvr>
                                    </p:animEffect>
                                  </p:childTnLst>
                                </p:cTn>
                              </p:par>
                              <p:par>
                                <p:cTn id="79" presetID="10" presetClass="entr" presetSubtype="0" fill="hold"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400"/>
                                        <p:tgtEl>
                                          <p:spTgt spid="32"/>
                                        </p:tgtEl>
                                      </p:cBhvr>
                                    </p:animEffect>
                                  </p:childTnLst>
                                </p:cTn>
                              </p:par>
                              <p:par>
                                <p:cTn id="82" presetID="10" presetClass="entr" presetSubtype="0" fill="hold"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par>
                                <p:cTn id="85" presetID="10" presetClass="entr" presetSubtype="0" fill="hold"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400"/>
                                        <p:tgtEl>
                                          <p:spTgt spid="34"/>
                                        </p:tgtEl>
                                      </p:cBhvr>
                                    </p:animEffect>
                                  </p:childTnLst>
                                </p:cTn>
                              </p:par>
                              <p:par>
                                <p:cTn id="88" presetID="10" presetClass="entr" presetSubtype="0" fill="hold" nodeType="withEffect">
                                  <p:stCondLst>
                                    <p:cond delay="0"/>
                                  </p:stCondLst>
                                  <p:childTnLst>
                                    <p:set>
                                      <p:cBhvr>
                                        <p:cTn id="89" dur="1" fill="hold">
                                          <p:stCondLst>
                                            <p:cond delay="0"/>
                                          </p:stCondLst>
                                        </p:cTn>
                                        <p:tgtEl>
                                          <p:spTgt spid="129"/>
                                        </p:tgtEl>
                                        <p:attrNameLst>
                                          <p:attrName>style.visibility</p:attrName>
                                        </p:attrNameLst>
                                      </p:cBhvr>
                                      <p:to>
                                        <p:strVal val="visible"/>
                                      </p:to>
                                    </p:set>
                                    <p:animEffect transition="in" filter="fade">
                                      <p:cBhvr>
                                        <p:cTn id="90" dur="400"/>
                                        <p:tgtEl>
                                          <p:spTgt spid="129"/>
                                        </p:tgtEl>
                                      </p:cBhvr>
                                    </p:animEffect>
                                  </p:childTnLst>
                                </p:cTn>
                              </p:par>
                              <p:par>
                                <p:cTn id="91" presetID="10"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00"/>
                                        <p:tgtEl>
                                          <p:spTgt spid="35"/>
                                        </p:tgtEl>
                                      </p:cBhvr>
                                    </p:animEffect>
                                  </p:childTnLst>
                                </p:cTn>
                              </p:par>
                              <p:par>
                                <p:cTn id="94" presetID="10" presetClass="entr" presetSubtype="0" fill="hold" nodeType="withEffect">
                                  <p:stCondLst>
                                    <p:cond delay="0"/>
                                  </p:stCondLst>
                                  <p:childTnLst>
                                    <p:set>
                                      <p:cBhvr>
                                        <p:cTn id="95" dur="1" fill="hold">
                                          <p:stCondLst>
                                            <p:cond delay="0"/>
                                          </p:stCondLst>
                                        </p:cTn>
                                        <p:tgtEl>
                                          <p:spTgt spid="130"/>
                                        </p:tgtEl>
                                        <p:attrNameLst>
                                          <p:attrName>style.visibility</p:attrName>
                                        </p:attrNameLst>
                                      </p:cBhvr>
                                      <p:to>
                                        <p:strVal val="visible"/>
                                      </p:to>
                                    </p:set>
                                    <p:animEffect transition="in" filter="fade">
                                      <p:cBhvr>
                                        <p:cTn id="96" dur="400"/>
                                        <p:tgtEl>
                                          <p:spTgt spid="130"/>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nodeType="withEffect">
                                  <p:stCondLst>
                                    <p:cond delay="0"/>
                                  </p:stCondLst>
                                  <p:childTnLst>
                                    <p:set>
                                      <p:cBhvr>
                                        <p:cTn id="101" dur="1" fill="hold">
                                          <p:stCondLst>
                                            <p:cond delay="0"/>
                                          </p:stCondLst>
                                        </p:cTn>
                                        <p:tgtEl>
                                          <p:spTgt spid="131"/>
                                        </p:tgtEl>
                                        <p:attrNameLst>
                                          <p:attrName>style.visibility</p:attrName>
                                        </p:attrNameLst>
                                      </p:cBhvr>
                                      <p:to>
                                        <p:strVal val="visible"/>
                                      </p:to>
                                    </p:set>
                                    <p:animEffect transition="in" filter="fade">
                                      <p:cBhvr>
                                        <p:cTn id="102" dur="400"/>
                                        <p:tgtEl>
                                          <p:spTgt spid="131"/>
                                        </p:tgtEl>
                                      </p:cBhvr>
                                    </p:animEffect>
                                  </p:childTnLst>
                                </p:cTn>
                              </p:par>
                              <p:par>
                                <p:cTn id="103" presetID="10" presetClass="entr" presetSubtype="0" fill="hold"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200"/>
                                        <p:tgtEl>
                                          <p:spTgt spid="37"/>
                                        </p:tgtEl>
                                      </p:cBhvr>
                                    </p:animEffect>
                                    <p:animMotion origin="layout" pathEditMode="relative" path="M -0.32812500 0.00000000 L 0.00000000 0.00000000 E">
                                      <p:cBhvr>
                                        <p:cTn id="106" dur="700" fill="hold"/>
                                        <p:tgtEl>
                                          <p:spTgt spid="37"/>
                                        </p:tgtEl>
                                        <p:attrNameLst>
                                          <p:attrName>ppt_x</p:attrName>
                                          <p:attrName>ppt_y</p:attrName>
                                        </p:attrNameLst>
                                      </p:cBhvr>
                                    </p:animMotion>
                                    <p:animScale zoomContents="1">
                                      <p:cBhvr>
                                        <p:cTn id="107" dur="700" fill="hold"/>
                                        <p:tgtEl>
                                          <p:spTgt spid="37"/>
                                        </p:tgtEl>
                                      </p:cBhvr>
                                      <p:from x="100000" y="100000"/>
                                      <p:to x="100000" y="100000"/>
                                    </p:animScale>
                                  </p:childTnLst>
                                </p:cTn>
                              </p:par>
                              <p:par>
                                <p:cTn id="108" presetID="10" presetClass="entr" presetSubtype="0" fill="hold"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200"/>
                                        <p:tgtEl>
                                          <p:spTgt spid="38"/>
                                        </p:tgtEl>
                                      </p:cBhvr>
                                    </p:animEffect>
                                    <p:animMotion origin="layout" pathEditMode="relative" path="M -0.32812500 0.00000000 L 0.00000000 0.00000000 E">
                                      <p:cBhvr>
                                        <p:cTn id="111" dur="700" fill="hold"/>
                                        <p:tgtEl>
                                          <p:spTgt spid="38"/>
                                        </p:tgtEl>
                                        <p:attrNameLst>
                                          <p:attrName>ppt_x</p:attrName>
                                          <p:attrName>ppt_y</p:attrName>
                                        </p:attrNameLst>
                                      </p:cBhvr>
                                    </p:animMotion>
                                    <p:animScale zoomContents="1">
                                      <p:cBhvr>
                                        <p:cTn id="112" dur="700" fill="hold"/>
                                        <p:tgtEl>
                                          <p:spTgt spid="38"/>
                                        </p:tgtEl>
                                      </p:cBhvr>
                                      <p:from x="100000" y="100000"/>
                                      <p:to x="100000" y="100000"/>
                                    </p:animScale>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36"/>
                                        </p:tgtEl>
                                        <p:attrNameLst>
                                          <p:attrName>style.visibility</p:attrName>
                                        </p:attrNameLst>
                                      </p:cBhvr>
                                      <p:to>
                                        <p:strVal val="visible"/>
                                      </p:to>
                                    </p:set>
                                    <p:animEffect transition="in" filter="fade">
                                      <p:cBhvr>
                                        <p:cTn id="117" dur="400"/>
                                        <p:tgtEl>
                                          <p:spTgt spid="136"/>
                                        </p:tgtEl>
                                      </p:cBhvr>
                                    </p:animEffect>
                                  </p:childTnLst>
                                </p:cTn>
                              </p:par>
                              <p:par>
                                <p:cTn id="118" presetID="10" presetClass="entr" presetSubtype="0" fill="hold" nodeType="withEffect">
                                  <p:stCondLst>
                                    <p:cond delay="0"/>
                                  </p:stCondLst>
                                  <p:childTnLst>
                                    <p:set>
                                      <p:cBhvr>
                                        <p:cTn id="119" dur="1" fill="hold">
                                          <p:stCondLst>
                                            <p:cond delay="0"/>
                                          </p:stCondLst>
                                        </p:cTn>
                                        <p:tgtEl>
                                          <p:spTgt spid="135"/>
                                        </p:tgtEl>
                                        <p:attrNameLst>
                                          <p:attrName>style.visibility</p:attrName>
                                        </p:attrNameLst>
                                      </p:cBhvr>
                                      <p:to>
                                        <p:strVal val="visible"/>
                                      </p:to>
                                    </p:set>
                                    <p:animEffect transition="in" filter="fade">
                                      <p:cBhvr>
                                        <p:cTn id="120" dur="200"/>
                                        <p:tgtEl>
                                          <p:spTgt spid="135"/>
                                        </p:tgtEl>
                                      </p:cBhvr>
                                    </p:animEffect>
                                    <p:animMotion origin="layout" pathEditMode="relative" path="M 0.54578125 -0.24062496 L 0.00000000 0.00000000 E">
                                      <p:cBhvr>
                                        <p:cTn id="121" dur="700" fill="hold"/>
                                        <p:tgtEl>
                                          <p:spTgt spid="135"/>
                                        </p:tgtEl>
                                        <p:attrNameLst>
                                          <p:attrName>ppt_x</p:attrName>
                                          <p:attrName>ppt_y</p:attrName>
                                        </p:attrNameLst>
                                      </p:cBhvr>
                                    </p:animMotion>
                                    <p:animScale zoomContents="1">
                                      <p:cBhvr>
                                        <p:cTn id="122" dur="700" fill="hold"/>
                                        <p:tgtEl>
                                          <p:spTgt spid="135"/>
                                        </p:tgtEl>
                                      </p:cBhvr>
                                      <p:from x="18819" y="18819"/>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0" grpId="0" animBg="1"/>
    </p:bldLst>
  </p:timing>
</p:sld>
</file>

<file path=ppt/slides/methods_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 name="!!overlap-problem-title">
            <ns0:hlinkClick xmlns:ns0="http://schemas.openxmlformats.org/drawingml/2006/main" xmlns:ns1="http://schemas.openxmlformats.org/officeDocument/2006/relationships" ns1:id="rIdmethods_Link54" action="ppaction://hlinksldjump"/>
            <a:extLst xmlns:a="http://schemas.openxmlformats.org/drawingml/2006/main">
              <a:ext uri="{FF2B5EF4-FFF2-40B4-BE49-F238E27FC236}">
                <a16:creationId xmlns:a16="http://schemas.microsoft.com/office/drawing/2014/main" id="{8BB09E51-116C-4880-A715-EDD23F063FF1}"/>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54" action="ppaction://hlinksldjump"/>
              </a:rPr>
              <a:t>FDM</a:t>
            </a:r>
          </a:p>
        </p:txBody>
      </p:sp>
      <p:sp>
        <p:nvSpPr>
          <p:cNvPr id="2" name="!!overlap-problem-subtitle">
            <a:extLst xmlns:a="http://schemas.openxmlformats.org/drawingml/2006/main">
              <a:ext uri="{FF2B5EF4-FFF2-40B4-BE49-F238E27FC236}">
                <a16:creationId xmlns:a16="http://schemas.microsoft.com/office/drawing/2014/main" id="{AFAA2BEE-9102-45C9-89C6-F0CE618058DF}"/>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Two modulated signals (problem)</a:t>
            </a:r>
          </a:p>
        </p:txBody>
      </p:sp>
      <p:sp>
        <p:nvSpPr>
          <p:cNvPr id="3" name="!!overlap-problem-route-tx-line">
            <a:extLst xmlns:a="http://schemas.openxmlformats.org/drawingml/2006/main">
              <a:ext uri="{FF2B5EF4-FFF2-40B4-BE49-F238E27FC236}">
                <a16:creationId xmlns:a16="http://schemas.microsoft.com/office/drawing/2014/main" id="{2CF35C43-E94A-4ECD-9416-B297F3E118C1}"/>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overlap-problem-route-tx-head">
            <a:extLst xmlns:a="http://schemas.openxmlformats.org/drawingml/2006/main">
              <a:ext uri="{FF2B5EF4-FFF2-40B4-BE49-F238E27FC236}">
                <a16:creationId xmlns:a16="http://schemas.microsoft.com/office/drawing/2014/main" id="{9451905B-4800-4D69-97BC-FB8516406C7B}"/>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overlap-problem-route-rx-line">
            <a:extLst xmlns:a="http://schemas.openxmlformats.org/drawingml/2006/main">
              <a:ext uri="{FF2B5EF4-FFF2-40B4-BE49-F238E27FC236}">
                <a16:creationId xmlns:a16="http://schemas.microsoft.com/office/drawing/2014/main" id="{3D90C12B-68F7-47D9-B6A0-CD12E9F2D58B}"/>
              </a:ext>
            </a:extLst>
          </p:cNvPr>
          <p:cNvSpPr>
            <a:spLocks xmlns:a="http://schemas.openxmlformats.org/drawingml/2006/main" noGrp="1"/>
          </p:cNvSpPr>
          <p:nvPr/>
        </p:nvSpPr>
        <p:spPr>
          <a:xfrm xmlns:a="http://schemas.openxmlformats.org/drawingml/2006/main">
            <a:off x="7096125" y="1381125"/>
            <a:ext cx="12001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overlap-problem-route-rx-head">
            <a:extLst xmlns:a="http://schemas.openxmlformats.org/drawingml/2006/main">
              <a:ext uri="{FF2B5EF4-FFF2-40B4-BE49-F238E27FC236}">
                <a16:creationId xmlns:a16="http://schemas.microsoft.com/office/drawing/2014/main" id="{55CA9756-4990-4F71-A8CD-8F431896D3E9}"/>
              </a:ext>
            </a:extLst>
          </p:cNvPr>
          <p:cNvSpPr>
            <a:spLocks xmlns:a="http://schemas.openxmlformats.org/drawingml/2006/main" noGrp="1"/>
          </p:cNvSpPr>
          <p:nvPr/>
        </p:nvSpPr>
        <p:spPr>
          <a:xfrm xmlns:a="http://schemas.openxmlformats.org/drawingml/2006/main" rot="5400000">
            <a:off x="827722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overlap-problem-units">
            <a:extLst xmlns:a="http://schemas.openxmlformats.org/drawingml/2006/main">
              <a:ext uri="{FF2B5EF4-FFF2-40B4-BE49-F238E27FC236}">
                <a16:creationId xmlns:a16="http://schemas.microsoft.com/office/drawing/2014/main" id="{BE8A5EA9-2A71-4978-8BDA-B9894DDE3D9D}"/>
              </a:ext>
            </a:extLst>
          </p:cNvPr>
          <p:cNvSpPr>
            <a:spLocks xmlns:a="http://schemas.openxmlformats.org/drawingml/2006/main" noGrp="1"/>
          </p:cNvSpPr>
          <p:nvPr/>
        </p:nvSpPr>
        <p:spPr>
          <a:xfrm xmlns:a="http://schemas.openxmlformats.org/drawingml/2006/main">
            <a:off x="666750" y="43434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f in kHz</a:t>
            </a:r>
          </a:p>
        </p:txBody>
      </p:sp>
      <p:sp>
        <p:nvSpPr>
          <p:cNvPr id="8" name="!!overlap-problem-input-r0-axis-line">
            <a:extLst xmlns:a="http://schemas.openxmlformats.org/drawingml/2006/main">
              <a:ext uri="{FF2B5EF4-FFF2-40B4-BE49-F238E27FC236}">
                <a16:creationId xmlns:a16="http://schemas.microsoft.com/office/drawing/2014/main" id="{F2269DD0-7D8F-4C05-9D83-5966BBA05332}"/>
              </a:ext>
            </a:extLst>
          </p:cNvPr>
          <p:cNvSpPr>
            <a:spLocks xmlns:a="http://schemas.openxmlformats.org/drawingml/2006/main" noGrp="1"/>
          </p:cNvSpPr>
          <p:nvPr/>
        </p:nvSpPr>
        <p:spPr>
          <a:xfrm xmlns:a="http://schemas.openxmlformats.org/drawingml/2006/main">
            <a:off x="571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overlap-problem-input-r0-axis-head">
            <a:extLst xmlns:a="http://schemas.openxmlformats.org/drawingml/2006/main">
              <a:ext uri="{FF2B5EF4-FFF2-40B4-BE49-F238E27FC236}">
                <a16:creationId xmlns:a16="http://schemas.microsoft.com/office/drawing/2014/main" id="{8593594C-1019-4343-A458-289B4DECB9E3}"/>
              </a:ext>
            </a:extLst>
          </p:cNvPr>
          <p:cNvSpPr>
            <a:spLocks xmlns:a="http://schemas.openxmlformats.org/drawingml/2006/main" noGrp="1"/>
          </p:cNvSpPr>
          <p:nvPr/>
        </p:nvSpPr>
        <p:spPr>
          <a:xfrm xmlns:a="http://schemas.openxmlformats.org/drawingml/2006/main" rot="5400000">
            <a:off x="3238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0" name="!!overlap-problem-input-r0-tick0">
            <a:extLst xmlns:a="http://schemas.openxmlformats.org/drawingml/2006/main">
              <a:ext uri="{FF2B5EF4-FFF2-40B4-BE49-F238E27FC236}">
                <a16:creationId xmlns:a16="http://schemas.microsoft.com/office/drawing/2014/main" id="{6FAA152A-FB1A-4678-BBC6-2F707B1B31E2}"/>
              </a:ext>
            </a:extLst>
          </p:cNvPr>
          <p:cNvSpPr>
            <a:spLocks xmlns:a="http://schemas.openxmlformats.org/drawingml/2006/main" noGrp="1"/>
          </p:cNvSpPr>
          <p:nvPr/>
        </p:nvSpPr>
        <p:spPr>
          <a:xfrm xmlns:a="http://schemas.openxmlformats.org/drawingml/2006/main">
            <a:off x="80327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overlap-problem-input-r0-tick1">
            <a:extLst xmlns:a="http://schemas.openxmlformats.org/drawingml/2006/main">
              <a:ext uri="{FF2B5EF4-FFF2-40B4-BE49-F238E27FC236}">
                <a16:creationId xmlns:a16="http://schemas.microsoft.com/office/drawing/2014/main" id="{C5A90B16-ED0C-4AB0-AA6C-05638F721CC5}"/>
              </a:ext>
            </a:extLst>
          </p:cNvPr>
          <p:cNvSpPr>
            <a:spLocks xmlns:a="http://schemas.openxmlformats.org/drawingml/2006/main" noGrp="1"/>
          </p:cNvSpPr>
          <p:nvPr/>
        </p:nvSpPr>
        <p:spPr>
          <a:xfrm xmlns:a="http://schemas.openxmlformats.org/drawingml/2006/main">
            <a:off x="126682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overlap-problem-input-r0-tick2">
            <a:extLst xmlns:a="http://schemas.openxmlformats.org/drawingml/2006/main">
              <a:ext uri="{FF2B5EF4-FFF2-40B4-BE49-F238E27FC236}">
                <a16:creationId xmlns:a16="http://schemas.microsoft.com/office/drawing/2014/main" id="{EAE249A8-2431-464D-954C-BC832BB3FE97}"/>
              </a:ext>
            </a:extLst>
          </p:cNvPr>
          <p:cNvSpPr>
            <a:spLocks xmlns:a="http://schemas.openxmlformats.org/drawingml/2006/main" noGrp="1"/>
          </p:cNvSpPr>
          <p:nvPr/>
        </p:nvSpPr>
        <p:spPr>
          <a:xfrm xmlns:a="http://schemas.openxmlformats.org/drawingml/2006/main">
            <a:off x="1962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overlap-problem-input-r0-tick3">
            <a:extLst xmlns:a="http://schemas.openxmlformats.org/drawingml/2006/main">
              <a:ext uri="{FF2B5EF4-FFF2-40B4-BE49-F238E27FC236}">
                <a16:creationId xmlns:a16="http://schemas.microsoft.com/office/drawing/2014/main" id="{0D96E916-843C-49BE-AD0C-0C8FAC94FDA3}"/>
              </a:ext>
            </a:extLst>
          </p:cNvPr>
          <p:cNvSpPr>
            <a:spLocks xmlns:a="http://schemas.openxmlformats.org/drawingml/2006/main" noGrp="1"/>
          </p:cNvSpPr>
          <p:nvPr/>
        </p:nvSpPr>
        <p:spPr>
          <a:xfrm xmlns:a="http://schemas.openxmlformats.org/drawingml/2006/main">
            <a:off x="265747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overlap-problem-input-r0-tick4">
            <a:extLst xmlns:a="http://schemas.openxmlformats.org/drawingml/2006/main">
              <a:ext uri="{FF2B5EF4-FFF2-40B4-BE49-F238E27FC236}">
                <a16:creationId xmlns:a16="http://schemas.microsoft.com/office/drawing/2014/main" id="{37303237-FCA7-41C2-88DC-5E5D20709D00}"/>
              </a:ext>
            </a:extLst>
          </p:cNvPr>
          <p:cNvSpPr>
            <a:spLocks xmlns:a="http://schemas.openxmlformats.org/drawingml/2006/main" noGrp="1"/>
          </p:cNvSpPr>
          <p:nvPr/>
        </p:nvSpPr>
        <p:spPr>
          <a:xfrm xmlns:a="http://schemas.openxmlformats.org/drawingml/2006/main">
            <a:off x="312102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overlap-problem-input-wantedn">
            <a:extLst xmlns:a="http://schemas.openxmlformats.org/drawingml/2006/main">
              <a:ext uri="{FF2B5EF4-FFF2-40B4-BE49-F238E27FC236}">
                <a16:creationId xmlns:a16="http://schemas.microsoft.com/office/drawing/2014/main" id="{7F40F4C6-3DF2-47DA-A8F0-BE9454961A19}"/>
              </a:ext>
            </a:extLst>
          </p:cNvPr>
          <p:cNvSpPr>
            <a:spLocks xmlns:a="http://schemas.openxmlformats.org/drawingml/2006/main" noGrp="1"/>
          </p:cNvSpPr>
          <p:nvPr/>
        </p:nvSpPr>
        <p:spPr>
          <a:xfrm xmlns:a="http://schemas.openxmlformats.org/drawingml/2006/main">
            <a:off x="75692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16" name="!!overlap-problem-input-wantedp">
            <a:extLst xmlns:a="http://schemas.openxmlformats.org/drawingml/2006/main">
              <a:ext uri="{FF2B5EF4-FFF2-40B4-BE49-F238E27FC236}">
                <a16:creationId xmlns:a16="http://schemas.microsoft.com/office/drawing/2014/main" id="{0999551D-1399-449B-81B2-88DD5E507C1E}"/>
              </a:ext>
            </a:extLst>
          </p:cNvPr>
          <p:cNvSpPr>
            <a:spLocks xmlns:a="http://schemas.openxmlformats.org/drawingml/2006/main" noGrp="1"/>
          </p:cNvSpPr>
          <p:nvPr/>
        </p:nvSpPr>
        <p:spPr>
          <a:xfrm xmlns:a="http://schemas.openxmlformats.org/drawingml/2006/main">
            <a:off x="307467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17" name="!!overlap-problem-input-othern">
            <a:extLst xmlns:a="http://schemas.openxmlformats.org/drawingml/2006/main">
              <a:ext uri="{FF2B5EF4-FFF2-40B4-BE49-F238E27FC236}">
                <a16:creationId xmlns:a16="http://schemas.microsoft.com/office/drawing/2014/main" id="{7A573C83-271C-42AD-8CE9-6AC9399813AE}"/>
              </a:ext>
            </a:extLst>
          </p:cNvPr>
          <p:cNvSpPr>
            <a:spLocks xmlns:a="http://schemas.openxmlformats.org/drawingml/2006/main" noGrp="1"/>
          </p:cNvSpPr>
          <p:nvPr/>
        </p:nvSpPr>
        <p:spPr>
          <a:xfrm xmlns:a="http://schemas.openxmlformats.org/drawingml/2006/main">
            <a:off x="1220470" y="3652838"/>
            <a:ext cx="92710" cy="157163"/>
          </a:xfrm>
          <a:custGeom xmlns:a="http://schemas.openxmlformats.org/drawingml/2006/main">
            <a:pathLst>
              <a:path w="92710" h="157163">
                <a:moveTo>
                  <a:pt x="0" y="157163"/>
                </a:moveTo>
                <a:lnTo>
                  <a:pt x="46355" y="0"/>
                </a:lnTo>
                <a:lnTo>
                  <a:pt x="92710" y="157163"/>
                </a:lnTo>
                <a:close/>
              </a:path>
            </a:pathLst>
          </a:custGeom>
          <a:solidFill xmlns:a="http://schemas.openxmlformats.org/drawingml/2006/main">
            <a:srgbClr val="BBBBBB"/>
          </a:solidFill>
          <a:ln xmlns:a="http://schemas.openxmlformats.org/drawingml/2006/main" w="10478">
            <a:solidFill>
              <a:srgbClr val="202020"/>
            </a:solidFill>
          </a:ln>
        </p:spPr>
      </p:sp>
      <p:sp>
        <p:nvSpPr>
          <p:cNvPr id="18" name="!!overlap-problem-input-otherp">
            <a:extLst xmlns:a="http://schemas.openxmlformats.org/drawingml/2006/main">
              <a:ext uri="{FF2B5EF4-FFF2-40B4-BE49-F238E27FC236}">
                <a16:creationId xmlns:a16="http://schemas.microsoft.com/office/drawing/2014/main" id="{8341B9C9-2686-4873-95CE-B69B6AAD0E83}"/>
              </a:ext>
            </a:extLst>
          </p:cNvPr>
          <p:cNvSpPr>
            <a:spLocks xmlns:a="http://schemas.openxmlformats.org/drawingml/2006/main" noGrp="1"/>
          </p:cNvSpPr>
          <p:nvPr/>
        </p:nvSpPr>
        <p:spPr>
          <a:xfrm xmlns:a="http://schemas.openxmlformats.org/drawingml/2006/main">
            <a:off x="2611120" y="3652838"/>
            <a:ext cx="92710" cy="157163"/>
          </a:xfrm>
          <a:custGeom xmlns:a="http://schemas.openxmlformats.org/drawingml/2006/main">
            <a:pathLst>
              <a:path w="92710" h="157163">
                <a:moveTo>
                  <a:pt x="0" y="157163"/>
                </a:moveTo>
                <a:lnTo>
                  <a:pt x="46355" y="0"/>
                </a:lnTo>
                <a:lnTo>
                  <a:pt x="92710" y="157163"/>
                </a:lnTo>
                <a:close/>
              </a:path>
            </a:pathLst>
          </a:custGeom>
          <a:solidFill xmlns:a="http://schemas.openxmlformats.org/drawingml/2006/main">
            <a:srgbClr val="BBBBBB"/>
          </a:solidFill>
          <a:ln xmlns:a="http://schemas.openxmlformats.org/drawingml/2006/main" w="10478">
            <a:solidFill>
              <a:srgbClr val="202020"/>
            </a:solidFill>
          </a:ln>
        </p:spPr>
      </p:sp>
      <p:sp>
        <p:nvSpPr>
          <p:cNvPr id="19" name="!!overlap-problem-after-r0-axis-line">
            <a:extLst xmlns:a="http://schemas.openxmlformats.org/drawingml/2006/main">
              <a:ext uri="{FF2B5EF4-FFF2-40B4-BE49-F238E27FC236}">
                <a16:creationId xmlns:a16="http://schemas.microsoft.com/office/drawing/2014/main" id="{FA191776-419A-4CF8-A457-B773DA346D47}"/>
              </a:ext>
            </a:extLst>
          </p:cNvPr>
          <p:cNvSpPr>
            <a:spLocks xmlns:a="http://schemas.openxmlformats.org/drawingml/2006/main" noGrp="1"/>
          </p:cNvSpPr>
          <p:nvPr/>
        </p:nvSpPr>
        <p:spPr>
          <a:xfrm xmlns:a="http://schemas.openxmlformats.org/drawingml/2006/main">
            <a:off x="45720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overlap-problem-after-r0-axis-head">
            <a:extLst xmlns:a="http://schemas.openxmlformats.org/drawingml/2006/main">
              <a:ext uri="{FF2B5EF4-FFF2-40B4-BE49-F238E27FC236}">
                <a16:creationId xmlns:a16="http://schemas.microsoft.com/office/drawing/2014/main" id="{BA79EED8-1E66-4D85-8F9D-777E52A24821}"/>
              </a:ext>
            </a:extLst>
          </p:cNvPr>
          <p:cNvSpPr>
            <a:spLocks xmlns:a="http://schemas.openxmlformats.org/drawingml/2006/main" noGrp="1"/>
          </p:cNvSpPr>
          <p:nvPr/>
        </p:nvSpPr>
        <p:spPr>
          <a:xfrm xmlns:a="http://schemas.openxmlformats.org/drawingml/2006/main" rot="5400000">
            <a:off x="72390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1" name="!!overlap-problem-after-r0-tick0">
            <a:extLst xmlns:a="http://schemas.openxmlformats.org/drawingml/2006/main">
              <a:ext uri="{FF2B5EF4-FFF2-40B4-BE49-F238E27FC236}">
                <a16:creationId xmlns:a16="http://schemas.microsoft.com/office/drawing/2014/main" id="{F241F6F0-4A49-41BD-8875-47AD1EA22560}"/>
              </a:ext>
            </a:extLst>
          </p:cNvPr>
          <p:cNvSpPr>
            <a:spLocks xmlns:a="http://schemas.openxmlformats.org/drawingml/2006/main" noGrp="1"/>
          </p:cNvSpPr>
          <p:nvPr/>
        </p:nvSpPr>
        <p:spPr>
          <a:xfrm xmlns:a="http://schemas.openxmlformats.org/drawingml/2006/main">
            <a:off x="480377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overlap-problem-after-r0-tick1">
            <a:extLst xmlns:a="http://schemas.openxmlformats.org/drawingml/2006/main">
              <a:ext uri="{FF2B5EF4-FFF2-40B4-BE49-F238E27FC236}">
                <a16:creationId xmlns:a16="http://schemas.microsoft.com/office/drawing/2014/main" id="{492291E7-7697-4160-924A-5337808D803F}"/>
              </a:ext>
            </a:extLst>
          </p:cNvPr>
          <p:cNvSpPr>
            <a:spLocks xmlns:a="http://schemas.openxmlformats.org/drawingml/2006/main" noGrp="1"/>
          </p:cNvSpPr>
          <p:nvPr/>
        </p:nvSpPr>
        <p:spPr>
          <a:xfrm xmlns:a="http://schemas.openxmlformats.org/drawingml/2006/main">
            <a:off x="526732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overlap-problem-after-r0-tick2">
            <a:extLst xmlns:a="http://schemas.openxmlformats.org/drawingml/2006/main">
              <a:ext uri="{FF2B5EF4-FFF2-40B4-BE49-F238E27FC236}">
                <a16:creationId xmlns:a16="http://schemas.microsoft.com/office/drawing/2014/main" id="{9BD9E308-3A07-47FC-80F9-F9AD5CF29FD9}"/>
              </a:ext>
            </a:extLst>
          </p:cNvPr>
          <p:cNvSpPr>
            <a:spLocks xmlns:a="http://schemas.openxmlformats.org/drawingml/2006/main" noGrp="1"/>
          </p:cNvSpPr>
          <p:nvPr/>
        </p:nvSpPr>
        <p:spPr>
          <a:xfrm xmlns:a="http://schemas.openxmlformats.org/drawingml/2006/main">
            <a:off x="573087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overlap-problem-after-r0-tick3">
            <a:extLst xmlns:a="http://schemas.openxmlformats.org/drawingml/2006/main">
              <a:ext uri="{FF2B5EF4-FFF2-40B4-BE49-F238E27FC236}">
                <a16:creationId xmlns:a16="http://schemas.microsoft.com/office/drawing/2014/main" id="{B6CC6ECB-947E-4429-9400-C5F6A1615102}"/>
              </a:ext>
            </a:extLst>
          </p:cNvPr>
          <p:cNvSpPr>
            <a:spLocks xmlns:a="http://schemas.openxmlformats.org/drawingml/2006/main" noGrp="1"/>
          </p:cNvSpPr>
          <p:nvPr/>
        </p:nvSpPr>
        <p:spPr>
          <a:xfrm xmlns:a="http://schemas.openxmlformats.org/drawingml/2006/main">
            <a:off x="59626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overlap-problem-after-r0-tick4">
            <a:extLst xmlns:a="http://schemas.openxmlformats.org/drawingml/2006/main">
              <a:ext uri="{FF2B5EF4-FFF2-40B4-BE49-F238E27FC236}">
                <a16:creationId xmlns:a16="http://schemas.microsoft.com/office/drawing/2014/main" id="{53865B8F-B981-4081-89CD-F11C18796E16}"/>
              </a:ext>
            </a:extLst>
          </p:cNvPr>
          <p:cNvSpPr>
            <a:spLocks xmlns:a="http://schemas.openxmlformats.org/drawingml/2006/main" noGrp="1"/>
          </p:cNvSpPr>
          <p:nvPr/>
        </p:nvSpPr>
        <p:spPr>
          <a:xfrm xmlns:a="http://schemas.openxmlformats.org/drawingml/2006/main">
            <a:off x="619442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overlap-problem-after-r0-tick5">
            <a:extLst xmlns:a="http://schemas.openxmlformats.org/drawingml/2006/main">
              <a:ext uri="{FF2B5EF4-FFF2-40B4-BE49-F238E27FC236}">
                <a16:creationId xmlns:a16="http://schemas.microsoft.com/office/drawing/2014/main" id="{D550EAF4-5FB8-4BE8-A96D-F6695EB77163}"/>
              </a:ext>
            </a:extLst>
          </p:cNvPr>
          <p:cNvSpPr>
            <a:spLocks xmlns:a="http://schemas.openxmlformats.org/drawingml/2006/main" noGrp="1"/>
          </p:cNvSpPr>
          <p:nvPr/>
        </p:nvSpPr>
        <p:spPr>
          <a:xfrm xmlns:a="http://schemas.openxmlformats.org/drawingml/2006/main">
            <a:off x="665797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overlap-problem-after-r0-tick6">
            <a:extLst xmlns:a="http://schemas.openxmlformats.org/drawingml/2006/main">
              <a:ext uri="{FF2B5EF4-FFF2-40B4-BE49-F238E27FC236}">
                <a16:creationId xmlns:a16="http://schemas.microsoft.com/office/drawing/2014/main" id="{83A4D1EB-8D3E-42BD-8CDA-6B7EAEF1A335}"/>
              </a:ext>
            </a:extLst>
          </p:cNvPr>
          <p:cNvSpPr>
            <a:spLocks xmlns:a="http://schemas.openxmlformats.org/drawingml/2006/main" noGrp="1"/>
          </p:cNvSpPr>
          <p:nvPr/>
        </p:nvSpPr>
        <p:spPr>
          <a:xfrm xmlns:a="http://schemas.openxmlformats.org/drawingml/2006/main">
            <a:off x="712152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overlap-problem-out-r0-axis-line">
            <a:extLst xmlns:a="http://schemas.openxmlformats.org/drawingml/2006/main">
              <a:ext uri="{FF2B5EF4-FFF2-40B4-BE49-F238E27FC236}">
                <a16:creationId xmlns:a16="http://schemas.microsoft.com/office/drawing/2014/main" id="{1F763A70-616C-4F3D-BAA2-D65BE6627091}"/>
              </a:ext>
            </a:extLst>
          </p:cNvPr>
          <p:cNvSpPr>
            <a:spLocks xmlns:a="http://schemas.openxmlformats.org/drawingml/2006/main" noGrp="1"/>
          </p:cNvSpPr>
          <p:nvPr/>
        </p:nvSpPr>
        <p:spPr>
          <a:xfrm xmlns:a="http://schemas.openxmlformats.org/drawingml/2006/main">
            <a:off x="8572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overlap-problem-out-r0-axis-head">
            <a:extLst xmlns:a="http://schemas.openxmlformats.org/drawingml/2006/main">
              <a:ext uri="{FF2B5EF4-FFF2-40B4-BE49-F238E27FC236}">
                <a16:creationId xmlns:a16="http://schemas.microsoft.com/office/drawing/2014/main" id="{C8942A66-A8EF-4703-A730-498CD6E15F34}"/>
              </a:ext>
            </a:extLst>
          </p:cNvPr>
          <p:cNvSpPr>
            <a:spLocks xmlns:a="http://schemas.openxmlformats.org/drawingml/2006/main" noGrp="1"/>
          </p:cNvSpPr>
          <p:nvPr/>
        </p:nvSpPr>
        <p:spPr>
          <a:xfrm xmlns:a="http://schemas.openxmlformats.org/drawingml/2006/main" rot="5400000">
            <a:off x="11239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0" name="!!overlap-problem-out-r0-tick0">
            <a:extLst xmlns:a="http://schemas.openxmlformats.org/drawingml/2006/main">
              <a:ext uri="{FF2B5EF4-FFF2-40B4-BE49-F238E27FC236}">
                <a16:creationId xmlns:a16="http://schemas.microsoft.com/office/drawing/2014/main" id="{D876E2B7-9B9C-48BC-9CCF-E919A440A5B4}"/>
              </a:ext>
            </a:extLst>
          </p:cNvPr>
          <p:cNvSpPr>
            <a:spLocks xmlns:a="http://schemas.openxmlformats.org/drawingml/2006/main" noGrp="1"/>
          </p:cNvSpPr>
          <p:nvPr/>
        </p:nvSpPr>
        <p:spPr>
          <a:xfrm xmlns:a="http://schemas.openxmlformats.org/drawingml/2006/main">
            <a:off x="9963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1" name="!!overlap-problem-mix-label">
            <a:extLst xmlns:a="http://schemas.openxmlformats.org/drawingml/2006/main">
              <a:ext uri="{FF2B5EF4-FFF2-40B4-BE49-F238E27FC236}">
                <a16:creationId xmlns:a16="http://schemas.microsoft.com/office/drawing/2014/main" id="{90CECA06-005C-4F29-8094-B5D20E0015C5}"/>
              </a:ext>
            </a:extLst>
          </p:cNvPr>
          <p:cNvSpPr>
            <a:spLocks xmlns:a="http://schemas.openxmlformats.org/drawingml/2006/main" noGrp="1"/>
          </p:cNvSpPr>
          <p:nvPr/>
        </p:nvSpPr>
        <p:spPr>
          <a:xfrm xmlns:a="http://schemas.openxmlformats.org/drawingml/2006/main">
            <a:off x="3381375" y="3086100"/>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Mix + BPF</a:t>
            </a:r>
          </a:p>
        </p:txBody>
      </p:sp>
      <p:sp>
        <p:nvSpPr>
          <p:cNvPr id="32" name="!!overlap-problem-mix-value">
            <a:extLst xmlns:a="http://schemas.openxmlformats.org/drawingml/2006/main">
              <a:ext uri="{FF2B5EF4-FFF2-40B4-BE49-F238E27FC236}">
                <a16:creationId xmlns:a16="http://schemas.microsoft.com/office/drawing/2014/main" id="{9724DB10-988D-4455-B2D2-E51B6696CC21}"/>
              </a:ext>
            </a:extLst>
          </p:cNvPr>
          <p:cNvSpPr>
            <a:spLocks xmlns:a="http://schemas.openxmlformats.org/drawingml/2006/main" noGrp="1"/>
          </p:cNvSpPr>
          <p:nvPr/>
        </p:nvSpPr>
        <p:spPr>
          <a:xfrm xmlns:a="http://schemas.openxmlformats.org/drawingml/2006/main">
            <a:off x="3381375" y="33242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80 kHz</a:t>
            </a:r>
          </a:p>
        </p:txBody>
      </p:sp>
      <p:sp>
        <p:nvSpPr>
          <p:cNvPr id="33" name="!!overlap-problem-mix-arrow-line">
            <a:extLst xmlns:a="http://schemas.openxmlformats.org/drawingml/2006/main">
              <a:ext uri="{FF2B5EF4-FFF2-40B4-BE49-F238E27FC236}">
                <a16:creationId xmlns:a16="http://schemas.microsoft.com/office/drawing/2014/main" id="{0CC8A061-567D-4448-B889-6C60302B5418}"/>
              </a:ext>
            </a:extLst>
          </p:cNvPr>
          <p:cNvSpPr>
            <a:spLocks xmlns:a="http://schemas.openxmlformats.org/drawingml/2006/main" noGrp="1"/>
          </p:cNvSpPr>
          <p:nvPr/>
        </p:nvSpPr>
        <p:spPr>
          <a:xfrm xmlns:a="http://schemas.openxmlformats.org/drawingml/2006/main">
            <a:off x="3581400" y="368617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4" name="!!overlap-problem-mix-arrow-head">
            <a:extLst xmlns:a="http://schemas.openxmlformats.org/drawingml/2006/main">
              <a:ext uri="{FF2B5EF4-FFF2-40B4-BE49-F238E27FC236}">
                <a16:creationId xmlns:a16="http://schemas.microsoft.com/office/drawing/2014/main" id="{E43DD79B-8B04-421E-B4B0-0A7C13F1D891}"/>
              </a:ext>
            </a:extLst>
          </p:cNvPr>
          <p:cNvSpPr>
            <a:spLocks xmlns:a="http://schemas.openxmlformats.org/drawingml/2006/main" noGrp="1"/>
          </p:cNvSpPr>
          <p:nvPr/>
        </p:nvSpPr>
        <p:spPr>
          <a:xfrm xmlns:a="http://schemas.openxmlformats.org/drawingml/2006/main" rot="5400000">
            <a:off x="4229100" y="36385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5" name="!!overlap-problem-recover-label">
            <a:extLst xmlns:a="http://schemas.openxmlformats.org/drawingml/2006/main">
              <a:ext uri="{FF2B5EF4-FFF2-40B4-BE49-F238E27FC236}">
                <a16:creationId xmlns:a16="http://schemas.microsoft.com/office/drawing/2014/main" id="{39CF1BB8-F25C-4DDA-A145-25C43B0EDB36}"/>
              </a:ext>
            </a:extLst>
          </p:cNvPr>
          <p:cNvSpPr>
            <a:spLocks xmlns:a="http://schemas.openxmlformats.org/drawingml/2006/main" noGrp="1"/>
          </p:cNvSpPr>
          <p:nvPr/>
        </p:nvSpPr>
        <p:spPr>
          <a:xfrm xmlns:a="http://schemas.openxmlformats.org/drawingml/2006/main">
            <a:off x="7381875" y="3086100"/>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Mix + LPF</a:t>
            </a:r>
          </a:p>
        </p:txBody>
      </p:sp>
      <p:sp>
        <p:nvSpPr>
          <p:cNvPr id="36" name="!!overlap-problem-recover-value">
            <a:extLst xmlns:a="http://schemas.openxmlformats.org/drawingml/2006/main">
              <a:ext uri="{FF2B5EF4-FFF2-40B4-BE49-F238E27FC236}">
                <a16:creationId xmlns:a16="http://schemas.microsoft.com/office/drawing/2014/main" id="{7FD723FA-F766-4BBF-93B5-D0A507AF7784}"/>
              </a:ext>
            </a:extLst>
          </p:cNvPr>
          <p:cNvSpPr>
            <a:spLocks xmlns:a="http://schemas.openxmlformats.org/drawingml/2006/main" noGrp="1"/>
          </p:cNvSpPr>
          <p:nvPr/>
        </p:nvSpPr>
        <p:spPr>
          <a:xfrm xmlns:a="http://schemas.openxmlformats.org/drawingml/2006/main">
            <a:off x="7381875" y="33242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20 kHz</a:t>
            </a:r>
          </a:p>
        </p:txBody>
      </p:sp>
      <p:sp>
        <p:nvSpPr>
          <p:cNvPr id="37" name="!!overlap-problem-recover-arrow-line">
            <a:extLst xmlns:a="http://schemas.openxmlformats.org/drawingml/2006/main">
              <a:ext uri="{FF2B5EF4-FFF2-40B4-BE49-F238E27FC236}">
                <a16:creationId xmlns:a16="http://schemas.microsoft.com/office/drawing/2014/main" id="{88C77B6E-F355-4C2E-8572-1F3033CE6193}"/>
              </a:ext>
            </a:extLst>
          </p:cNvPr>
          <p:cNvSpPr>
            <a:spLocks xmlns:a="http://schemas.openxmlformats.org/drawingml/2006/main" noGrp="1"/>
          </p:cNvSpPr>
          <p:nvPr/>
        </p:nvSpPr>
        <p:spPr>
          <a:xfrm xmlns:a="http://schemas.openxmlformats.org/drawingml/2006/main">
            <a:off x="7581900" y="368617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8" name="!!overlap-problem-recover-arrow-head">
            <a:extLst xmlns:a="http://schemas.openxmlformats.org/drawingml/2006/main">
              <a:ext uri="{FF2B5EF4-FFF2-40B4-BE49-F238E27FC236}">
                <a16:creationId xmlns:a16="http://schemas.microsoft.com/office/drawing/2014/main" id="{E818DFB1-4DD1-488B-B750-EBBBC683B192}"/>
              </a:ext>
            </a:extLst>
          </p:cNvPr>
          <p:cNvSpPr>
            <a:spLocks xmlns:a="http://schemas.openxmlformats.org/drawingml/2006/main" noGrp="1"/>
          </p:cNvSpPr>
          <p:nvPr/>
        </p:nvSpPr>
        <p:spPr>
          <a:xfrm xmlns:a="http://schemas.openxmlformats.org/drawingml/2006/main" rot="5400000">
            <a:off x="8229600" y="36385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9" name="!!overlap-problem-contributions">
            <a:extLst xmlns:a="http://schemas.openxmlformats.org/drawingml/2006/main">
              <a:ext uri="{FF2B5EF4-FFF2-40B4-BE49-F238E27FC236}">
                <a16:creationId xmlns:a16="http://schemas.microsoft.com/office/drawing/2014/main" id="{0A93E984-0E27-4AB8-9060-076FA39486B1}"/>
              </a:ext>
            </a:extLst>
          </p:cNvPr>
          <p:cNvSpPr>
            <a:spLocks xmlns:a="http://schemas.openxmlformats.org/drawingml/2006/main" noGrp="1"/>
          </p:cNvSpPr>
          <p:nvPr/>
        </p:nvSpPr>
        <p:spPr>
          <a:xfrm xmlns:a="http://schemas.openxmlformats.org/drawingml/2006/main">
            <a:off x="7048500" y="20764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i="0">
                <a:solidFill>
                  <a:srgbClr val="202020"/>
                </a:solidFill>
                <a:latin typeface="Times New Roman"/>
                <a:ea typeface="Times New Roman"/>
                <a:cs typeface="Times New Roman"/>
              </a:defRPr>
            </a:pPr>
            <a:r>
              <a:rPr sz="1800" b="0" i="0">
                <a:solidFill>
                  <a:srgbClr val="202020"/>
                </a:solidFill>
                <a:latin typeface="Times New Roman"/>
                <a:ea typeface="Times New Roman"/>
                <a:cs typeface="Times New Roman"/>
              </a:rPr>
              <a:t>Black: m     Gray: g</a:t>
            </a:r>
          </a:p>
        </p:txBody>
      </p:sp>
      <p:sp>
        <p:nvSpPr>
          <p:cNvPr id="40" name="!!overlap-problem-wanted-copy-1">
            <a:extLst xmlns:a="http://schemas.openxmlformats.org/drawingml/2006/main">
              <a:ext uri="{FF2B5EF4-FFF2-40B4-BE49-F238E27FC236}">
                <a16:creationId xmlns:a16="http://schemas.microsoft.com/office/drawing/2014/main" id="{D996DD96-3BD5-4A67-A906-FA35792CD3A4}"/>
              </a:ext>
            </a:extLst>
          </p:cNvPr>
          <p:cNvSpPr>
            <a:spLocks xmlns:a="http://schemas.openxmlformats.org/drawingml/2006/main" noGrp="1"/>
          </p:cNvSpPr>
          <p:nvPr/>
        </p:nvSpPr>
        <p:spPr>
          <a:xfrm xmlns:a="http://schemas.openxmlformats.org/drawingml/2006/main">
            <a:off x="568452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41" name="!!overlap-problem-other-copy-1">
            <a:extLst xmlns:a="http://schemas.openxmlformats.org/drawingml/2006/main">
              <a:ext uri="{FF2B5EF4-FFF2-40B4-BE49-F238E27FC236}">
                <a16:creationId xmlns:a16="http://schemas.microsoft.com/office/drawing/2014/main" id="{48BF9518-35C5-4949-950E-4416002D9CD7}"/>
              </a:ext>
            </a:extLst>
          </p:cNvPr>
          <p:cNvSpPr>
            <a:spLocks xmlns:a="http://schemas.openxmlformats.org/drawingml/2006/main" noGrp="1"/>
          </p:cNvSpPr>
          <p:nvPr/>
        </p:nvSpPr>
        <p:spPr>
          <a:xfrm xmlns:a="http://schemas.openxmlformats.org/drawingml/2006/main">
            <a:off x="5684520" y="3652838"/>
            <a:ext cx="92710" cy="157163"/>
          </a:xfrm>
          <a:custGeom xmlns:a="http://schemas.openxmlformats.org/drawingml/2006/main">
            <a:pathLst>
              <a:path w="92710" h="157163">
                <a:moveTo>
                  <a:pt x="0" y="157163"/>
                </a:moveTo>
                <a:lnTo>
                  <a:pt x="46355" y="0"/>
                </a:lnTo>
                <a:lnTo>
                  <a:pt x="92710" y="157163"/>
                </a:lnTo>
                <a:close/>
              </a:path>
            </a:pathLst>
          </a:custGeom>
          <a:solidFill xmlns:a="http://schemas.openxmlformats.org/drawingml/2006/main">
            <a:srgbClr val="BBBBBB"/>
          </a:solidFill>
          <a:ln xmlns:a="http://schemas.openxmlformats.org/drawingml/2006/main" w="10478">
            <a:solidFill>
              <a:srgbClr val="202020"/>
            </a:solidFill>
          </a:ln>
        </p:spPr>
      </p:sp>
      <p:sp>
        <p:nvSpPr>
          <p:cNvPr id="42" name="!!overlap-problem-wanted-copy1">
            <a:extLst xmlns:a="http://schemas.openxmlformats.org/drawingml/2006/main">
              <a:ext uri="{FF2B5EF4-FFF2-40B4-BE49-F238E27FC236}">
                <a16:creationId xmlns:a16="http://schemas.microsoft.com/office/drawing/2014/main" id="{9C484AEB-2C17-4142-ABA6-7256044F835B}"/>
              </a:ext>
            </a:extLst>
          </p:cNvPr>
          <p:cNvSpPr>
            <a:spLocks xmlns:a="http://schemas.openxmlformats.org/drawingml/2006/main" noGrp="1"/>
          </p:cNvSpPr>
          <p:nvPr/>
        </p:nvSpPr>
        <p:spPr>
          <a:xfrm xmlns:a="http://schemas.openxmlformats.org/drawingml/2006/main">
            <a:off x="614807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43" name="!!overlap-problem-other-copy1">
            <a:extLst xmlns:a="http://schemas.openxmlformats.org/drawingml/2006/main">
              <a:ext uri="{FF2B5EF4-FFF2-40B4-BE49-F238E27FC236}">
                <a16:creationId xmlns:a16="http://schemas.microsoft.com/office/drawing/2014/main" id="{5412124E-1180-4049-93BF-C105196E432C}"/>
              </a:ext>
            </a:extLst>
          </p:cNvPr>
          <p:cNvSpPr>
            <a:spLocks xmlns:a="http://schemas.openxmlformats.org/drawingml/2006/main" noGrp="1"/>
          </p:cNvSpPr>
          <p:nvPr/>
        </p:nvSpPr>
        <p:spPr>
          <a:xfrm xmlns:a="http://schemas.openxmlformats.org/drawingml/2006/main">
            <a:off x="6148070" y="3652838"/>
            <a:ext cx="92710" cy="157163"/>
          </a:xfrm>
          <a:custGeom xmlns:a="http://schemas.openxmlformats.org/drawingml/2006/main">
            <a:pathLst>
              <a:path w="92710" h="157163">
                <a:moveTo>
                  <a:pt x="0" y="157163"/>
                </a:moveTo>
                <a:lnTo>
                  <a:pt x="46355" y="0"/>
                </a:lnTo>
                <a:lnTo>
                  <a:pt x="92710" y="157163"/>
                </a:lnTo>
                <a:close/>
              </a:path>
            </a:pathLst>
          </a:custGeom>
          <a:solidFill xmlns:a="http://schemas.openxmlformats.org/drawingml/2006/main">
            <a:srgbClr val="BBBBBB"/>
          </a:solidFill>
          <a:ln xmlns:a="http://schemas.openxmlformats.org/drawingml/2006/main" w="10478">
            <a:solidFill>
              <a:srgbClr val="202020"/>
            </a:solidFill>
          </a:ln>
        </p:spPr>
      </p:sp>
      <p:sp>
        <p:nvSpPr>
          <p:cNvPr id="44" name="!!overlap-problem-sum-1-black">
            <a:extLst xmlns:a="http://schemas.openxmlformats.org/drawingml/2006/main">
              <a:ext uri="{FF2B5EF4-FFF2-40B4-BE49-F238E27FC236}">
                <a16:creationId xmlns:a16="http://schemas.microsoft.com/office/drawing/2014/main" id="{80CCDB55-0DBA-44B3-BED9-E55A342EB15D}"/>
              </a:ext>
            </a:extLst>
          </p:cNvPr>
          <p:cNvSpPr>
            <a:spLocks xmlns:a="http://schemas.openxmlformats.org/drawingml/2006/main" noGrp="1"/>
          </p:cNvSpPr>
          <p:nvPr/>
        </p:nvSpPr>
        <p:spPr>
          <a:xfrm xmlns:a="http://schemas.openxmlformats.org/drawingml/2006/main">
            <a:off x="568452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45" name="!!overlap-problem-sum-1-gray">
            <a:extLst xmlns:a="http://schemas.openxmlformats.org/drawingml/2006/main">
              <a:ext uri="{FF2B5EF4-FFF2-40B4-BE49-F238E27FC236}">
                <a16:creationId xmlns:a16="http://schemas.microsoft.com/office/drawing/2014/main" id="{13DDAE6D-26CD-4200-B260-AB7393C6B4B4}"/>
              </a:ext>
            </a:extLst>
          </p:cNvPr>
          <p:cNvSpPr>
            <a:spLocks xmlns:a="http://schemas.openxmlformats.org/drawingml/2006/main" noGrp="1"/>
          </p:cNvSpPr>
          <p:nvPr/>
        </p:nvSpPr>
        <p:spPr>
          <a:xfrm xmlns:a="http://schemas.openxmlformats.org/drawingml/2006/main">
            <a:off x="5684520" y="3390900"/>
            <a:ext cx="92710" cy="419100"/>
          </a:xfrm>
          <a:custGeom xmlns:a="http://schemas.openxmlformats.org/drawingml/2006/main">
            <a:pathLst>
              <a:path w="92710" h="419100">
                <a:moveTo>
                  <a:pt x="0" y="419100"/>
                </a:moveTo>
                <a:lnTo>
                  <a:pt x="46355" y="157163"/>
                </a:lnTo>
                <a:lnTo>
                  <a:pt x="92710" y="419100"/>
                </a:lnTo>
                <a:lnTo>
                  <a:pt x="46355" y="0"/>
                </a:lnTo>
                <a:close/>
              </a:path>
            </a:pathLst>
          </a:custGeom>
          <a:solidFill xmlns:a="http://schemas.openxmlformats.org/drawingml/2006/main">
            <a:srgbClr val="BBBBBB"/>
          </a:solidFill>
          <a:ln xmlns:a="http://schemas.openxmlformats.org/drawingml/2006/main" w="10478">
            <a:solidFill>
              <a:srgbClr val="202020"/>
            </a:solidFill>
          </a:ln>
        </p:spPr>
      </p:sp>
      <p:sp>
        <p:nvSpPr>
          <p:cNvPr id="46" name="!!overlap-problem-sum1-black">
            <a:extLst xmlns:a="http://schemas.openxmlformats.org/drawingml/2006/main">
              <a:ext uri="{FF2B5EF4-FFF2-40B4-BE49-F238E27FC236}">
                <a16:creationId xmlns:a16="http://schemas.microsoft.com/office/drawing/2014/main" id="{D5F8C2EC-7CAC-4772-8946-684EFA26B3BA}"/>
              </a:ext>
            </a:extLst>
          </p:cNvPr>
          <p:cNvSpPr>
            <a:spLocks xmlns:a="http://schemas.openxmlformats.org/drawingml/2006/main" noGrp="1"/>
          </p:cNvSpPr>
          <p:nvPr/>
        </p:nvSpPr>
        <p:spPr>
          <a:xfrm xmlns:a="http://schemas.openxmlformats.org/drawingml/2006/main">
            <a:off x="614807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47" name="!!overlap-problem-sum1-gray">
            <a:extLst xmlns:a="http://schemas.openxmlformats.org/drawingml/2006/main">
              <a:ext uri="{FF2B5EF4-FFF2-40B4-BE49-F238E27FC236}">
                <a16:creationId xmlns:a16="http://schemas.microsoft.com/office/drawing/2014/main" id="{63156468-6649-4220-88EF-F2A36C3DAE71}"/>
              </a:ext>
            </a:extLst>
          </p:cNvPr>
          <p:cNvSpPr>
            <a:spLocks xmlns:a="http://schemas.openxmlformats.org/drawingml/2006/main" noGrp="1"/>
          </p:cNvSpPr>
          <p:nvPr/>
        </p:nvSpPr>
        <p:spPr>
          <a:xfrm xmlns:a="http://schemas.openxmlformats.org/drawingml/2006/main">
            <a:off x="6148070" y="3390900"/>
            <a:ext cx="92710" cy="419100"/>
          </a:xfrm>
          <a:custGeom xmlns:a="http://schemas.openxmlformats.org/drawingml/2006/main">
            <a:pathLst>
              <a:path w="92710" h="419100">
                <a:moveTo>
                  <a:pt x="0" y="419100"/>
                </a:moveTo>
                <a:lnTo>
                  <a:pt x="46355" y="157163"/>
                </a:lnTo>
                <a:lnTo>
                  <a:pt x="92710" y="419100"/>
                </a:lnTo>
                <a:lnTo>
                  <a:pt x="46355" y="0"/>
                </a:lnTo>
                <a:close/>
              </a:path>
            </a:pathLst>
          </a:custGeom>
          <a:solidFill xmlns:a="http://schemas.openxmlformats.org/drawingml/2006/main">
            <a:srgbClr val="BBBBBB"/>
          </a:solidFill>
          <a:ln xmlns:a="http://schemas.openxmlformats.org/drawingml/2006/main" w="10478">
            <a:solidFill>
              <a:srgbClr val="202020"/>
            </a:solidFill>
          </a:ln>
        </p:spPr>
      </p:sp>
      <p:sp>
        <p:nvSpPr>
          <p:cNvPr id="48" name="!!overlap-problem-sum-detail-black">
            <a:extLst xmlns:a="http://schemas.openxmlformats.org/drawingml/2006/main">
              <a:ext uri="{FF2B5EF4-FFF2-40B4-BE49-F238E27FC236}">
                <a16:creationId xmlns:a16="http://schemas.microsoft.com/office/drawing/2014/main" id="{63A7547A-B64E-4C61-A4B0-49EE6CFEB150}"/>
              </a:ext>
            </a:extLst>
          </p:cNvPr>
          <p:cNvSpPr>
            <a:spLocks xmlns:a="http://schemas.openxmlformats.org/drawingml/2006/main" noGrp="1"/>
          </p:cNvSpPr>
          <p:nvPr/>
        </p:nvSpPr>
        <p:spPr>
          <a:xfrm xmlns:a="http://schemas.openxmlformats.org/drawingml/2006/main">
            <a:off x="6238875" y="2876550"/>
            <a:ext cx="857250" cy="361950"/>
          </a:xfrm>
          <a:custGeom xmlns:a="http://schemas.openxmlformats.org/drawingml/2006/main">
            <a:pathLst>
              <a:path w="857250" h="361950">
                <a:moveTo>
                  <a:pt x="0" y="361950"/>
                </a:moveTo>
                <a:lnTo>
                  <a:pt x="428625" y="0"/>
                </a:lnTo>
                <a:lnTo>
                  <a:pt x="857250" y="361950"/>
                </a:lnTo>
                <a:close/>
              </a:path>
            </a:pathLst>
          </a:custGeom>
          <a:solidFill xmlns:a="http://schemas.openxmlformats.org/drawingml/2006/main">
            <a:srgbClr val="535353"/>
          </a:solidFill>
          <a:ln xmlns:a="http://schemas.openxmlformats.org/drawingml/2006/main" w="4763">
            <a:solidFill>
              <a:srgbClr val="202020"/>
            </a:solidFill>
          </a:ln>
        </p:spPr>
      </p:sp>
      <p:sp>
        <p:nvSpPr>
          <p:cNvPr id="49" name="!!overlap-problem-sum-detail-gray">
            <a:extLst xmlns:a="http://schemas.openxmlformats.org/drawingml/2006/main">
              <a:ext uri="{FF2B5EF4-FFF2-40B4-BE49-F238E27FC236}">
                <a16:creationId xmlns:a16="http://schemas.microsoft.com/office/drawing/2014/main" id="{DD218493-B3CB-4EDA-B938-B480E5FD42CA}"/>
              </a:ext>
            </a:extLst>
          </p:cNvPr>
          <p:cNvSpPr>
            <a:spLocks xmlns:a="http://schemas.openxmlformats.org/drawingml/2006/main" noGrp="1"/>
          </p:cNvSpPr>
          <p:nvPr/>
        </p:nvSpPr>
        <p:spPr>
          <a:xfrm xmlns:a="http://schemas.openxmlformats.org/drawingml/2006/main">
            <a:off x="6238875" y="2657475"/>
            <a:ext cx="857250" cy="581025"/>
          </a:xfrm>
          <a:custGeom xmlns:a="http://schemas.openxmlformats.org/drawingml/2006/main">
            <a:pathLst>
              <a:path w="857250" h="581025">
                <a:moveTo>
                  <a:pt x="0" y="581025"/>
                </a:moveTo>
                <a:lnTo>
                  <a:pt x="428625" y="219075"/>
                </a:lnTo>
                <a:lnTo>
                  <a:pt x="857250" y="581025"/>
                </a:lnTo>
                <a:lnTo>
                  <a:pt x="428625" y="0"/>
                </a:lnTo>
                <a:close/>
              </a:path>
            </a:pathLst>
          </a:custGeom>
          <a:solidFill xmlns:a="http://schemas.openxmlformats.org/drawingml/2006/main">
            <a:srgbClr val="BBBBBB"/>
          </a:solidFill>
          <a:ln xmlns:a="http://schemas.openxmlformats.org/drawingml/2006/main" w="4763">
            <a:solidFill>
              <a:srgbClr val="202020"/>
            </a:solidFill>
          </a:ln>
        </p:spPr>
      </p:sp>
      <p:sp>
        <p:nvSpPr>
          <p:cNvPr id="50" name="!!overlap-problem-sum-detail-label">
            <a:extLst xmlns:a="http://schemas.openxmlformats.org/drawingml/2006/main">
              <a:ext uri="{FF2B5EF4-FFF2-40B4-BE49-F238E27FC236}">
                <a16:creationId xmlns:a16="http://schemas.microsoft.com/office/drawing/2014/main" id="{7C43E3E2-710E-4128-A650-76205F4E2CAF}"/>
              </a:ext>
            </a:extLst>
          </p:cNvPr>
          <p:cNvSpPr>
            <a:spLocks xmlns:a="http://schemas.openxmlformats.org/drawingml/2006/main" noGrp="1"/>
          </p:cNvSpPr>
          <p:nvPr/>
        </p:nvSpPr>
        <p:spPr>
          <a:xfrm xmlns:a="http://schemas.openxmlformats.org/drawingml/2006/main">
            <a:off x="5895975" y="2324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i="0">
                <a:solidFill>
                  <a:srgbClr val="202020"/>
                </a:solidFill>
                <a:latin typeface="Times New Roman"/>
                <a:ea typeface="Times New Roman"/>
                <a:cs typeface="Times New Roman"/>
              </a:defRPr>
            </a:pPr>
            <a:r>
              <a:rPr sz="1500" b="1" i="0">
                <a:solidFill>
                  <a:srgbClr val="202020"/>
                </a:solidFill>
                <a:latin typeface="Times New Roman"/>
                <a:ea typeface="Times New Roman"/>
                <a:cs typeface="Times New Roman"/>
              </a:rPr>
              <a:t>+20 kHz (zoom)</a:t>
            </a:r>
          </a:p>
        </p:txBody>
      </p:sp>
      <p:sp>
        <p:nvSpPr>
          <p:cNvPr id="51" name="!!overlap-problem-sum-detail-gray-label">
            <a:extLst xmlns:a="http://schemas.openxmlformats.org/drawingml/2006/main">
              <a:ext uri="{FF2B5EF4-FFF2-40B4-BE49-F238E27FC236}">
                <a16:creationId xmlns:a16="http://schemas.microsoft.com/office/drawing/2014/main" id="{07F36C18-E181-4E97-A896-3BDA771C1B08}"/>
              </a:ext>
            </a:extLst>
          </p:cNvPr>
          <p:cNvSpPr>
            <a:spLocks xmlns:a="http://schemas.openxmlformats.org/drawingml/2006/main" noGrp="1"/>
          </p:cNvSpPr>
          <p:nvPr/>
        </p:nvSpPr>
        <p:spPr>
          <a:xfrm xmlns:a="http://schemas.openxmlformats.org/drawingml/2006/main">
            <a:off x="7191375" y="262890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g</a:t>
            </a:r>
          </a:p>
        </p:txBody>
      </p:sp>
      <p:sp>
        <p:nvSpPr>
          <p:cNvPr id="52" name="!!overlap-problem-sum-detail-black-label">
            <a:extLst xmlns:a="http://schemas.openxmlformats.org/drawingml/2006/main">
              <a:ext uri="{FF2B5EF4-FFF2-40B4-BE49-F238E27FC236}">
                <a16:creationId xmlns:a16="http://schemas.microsoft.com/office/drawing/2014/main" id="{3954DBD0-CE7E-4D6F-ADD2-AD7E08C2FC46}"/>
              </a:ext>
            </a:extLst>
          </p:cNvPr>
          <p:cNvSpPr>
            <a:spLocks xmlns:a="http://schemas.openxmlformats.org/drawingml/2006/main" noGrp="1"/>
          </p:cNvSpPr>
          <p:nvPr/>
        </p:nvSpPr>
        <p:spPr>
          <a:xfrm xmlns:a="http://schemas.openxmlformats.org/drawingml/2006/main">
            <a:off x="7191375" y="295275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a:t>
            </a:r>
          </a:p>
        </p:txBody>
      </p:sp>
      <p:sp>
        <p:nvSpPr>
          <p:cNvPr id="53" name="!!overlap-problem-sum-detail-leader">
            <a:extLst xmlns:a="http://schemas.openxmlformats.org/drawingml/2006/main">
              <a:ext uri="{FF2B5EF4-FFF2-40B4-BE49-F238E27FC236}">
                <a16:creationId xmlns:a16="http://schemas.microsoft.com/office/drawing/2014/main" id="{106E0721-D7A2-4D9F-A2D3-6A7960C42AA8}"/>
              </a:ext>
            </a:extLst>
          </p:cNvPr>
          <p:cNvSpPr>
            <a:spLocks xmlns:a="http://schemas.openxmlformats.org/drawingml/2006/main" noGrp="1"/>
          </p:cNvSpPr>
          <p:nvPr/>
        </p:nvSpPr>
        <p:spPr>
          <a:xfrm xmlns:a="http://schemas.openxmlformats.org/drawingml/2006/main">
            <a:off x="6194425" y="3267075"/>
            <a:ext cx="473075" cy="104775"/>
          </a:xfrm>
          <a:custGeom xmlns:a="http://schemas.openxmlformats.org/drawingml/2006/main">
            <a:pathLst>
              <a:path w="473075" h="104775">
                <a:moveTo>
                  <a:pt x="473075" y="0"/>
                </a:moveTo>
                <a:lnTo>
                  <a:pt x="0" y="104775"/>
                </a:lnTo>
              </a:path>
            </a:pathLst>
          </a:custGeom>
          <a:noFill xmlns:a="http://schemas.openxmlformats.org/drawingml/2006/main"/>
          <a:ln xmlns:a="http://schemas.openxmlformats.org/drawingml/2006/main" w="9525">
            <a:solidFill>
              <a:srgbClr val="999999"/>
            </a:solidFill>
          </a:ln>
        </p:spPr>
      </p:sp>
      <p:sp>
        <p:nvSpPr>
          <p:cNvPr id="54" name="!!overlap-problem-recovered-black">
            <a:extLst xmlns:a="http://schemas.openxmlformats.org/drawingml/2006/main">
              <a:ext uri="{FF2B5EF4-FFF2-40B4-BE49-F238E27FC236}">
                <a16:creationId xmlns:a16="http://schemas.microsoft.com/office/drawing/2014/main" id="{5A9E17B6-2052-4F18-B607-0C64E69A720E}"/>
              </a:ext>
            </a:extLst>
          </p:cNvPr>
          <p:cNvSpPr>
            <a:spLocks xmlns:a="http://schemas.openxmlformats.org/drawingml/2006/main" noGrp="1"/>
          </p:cNvSpPr>
          <p:nvPr/>
        </p:nvSpPr>
        <p:spPr>
          <a:xfrm xmlns:a="http://schemas.openxmlformats.org/drawingml/2006/main">
            <a:off x="9916795" y="3286125"/>
            <a:ext cx="92710" cy="523875"/>
          </a:xfrm>
          <a:custGeom xmlns:a="http://schemas.openxmlformats.org/drawingml/2006/main">
            <a:pathLst>
              <a:path w="92710" h="523875">
                <a:moveTo>
                  <a:pt x="0" y="523875"/>
                </a:moveTo>
                <a:lnTo>
                  <a:pt x="46355" y="0"/>
                </a:lnTo>
                <a:lnTo>
                  <a:pt x="92710" y="523875"/>
                </a:lnTo>
                <a:close/>
              </a:path>
            </a:pathLst>
          </a:custGeom>
          <a:solidFill xmlns:a="http://schemas.openxmlformats.org/drawingml/2006/main">
            <a:srgbClr val="535353"/>
          </a:solidFill>
          <a:ln xmlns:a="http://schemas.openxmlformats.org/drawingml/2006/main" w="10478">
            <a:solidFill>
              <a:srgbClr val="202020"/>
            </a:solidFill>
          </a:ln>
        </p:spPr>
      </p:sp>
      <p:sp>
        <p:nvSpPr>
          <p:cNvPr id="55" name="!!overlap-problem-recovered-gray">
            <a:extLst xmlns:a="http://schemas.openxmlformats.org/drawingml/2006/main">
              <a:ext uri="{FF2B5EF4-FFF2-40B4-BE49-F238E27FC236}">
                <a16:creationId xmlns:a16="http://schemas.microsoft.com/office/drawing/2014/main" id="{9F901019-A3D5-4102-86C4-50FBD473F166}"/>
              </a:ext>
            </a:extLst>
          </p:cNvPr>
          <p:cNvSpPr>
            <a:spLocks xmlns:a="http://schemas.openxmlformats.org/drawingml/2006/main" noGrp="1"/>
          </p:cNvSpPr>
          <p:nvPr/>
        </p:nvSpPr>
        <p:spPr>
          <a:xfrm xmlns:a="http://schemas.openxmlformats.org/drawingml/2006/main">
            <a:off x="9916795" y="2971800"/>
            <a:ext cx="92710" cy="838200"/>
          </a:xfrm>
          <a:custGeom xmlns:a="http://schemas.openxmlformats.org/drawingml/2006/main">
            <a:pathLst>
              <a:path w="92710" h="838200">
                <a:moveTo>
                  <a:pt x="0" y="838200"/>
                </a:moveTo>
                <a:lnTo>
                  <a:pt x="46355" y="314325"/>
                </a:lnTo>
                <a:lnTo>
                  <a:pt x="92710" y="838200"/>
                </a:lnTo>
                <a:lnTo>
                  <a:pt x="46355" y="0"/>
                </a:lnTo>
                <a:close/>
              </a:path>
            </a:pathLst>
          </a:custGeom>
          <a:solidFill xmlns:a="http://schemas.openxmlformats.org/drawingml/2006/main">
            <a:srgbClr val="BBBBBB"/>
          </a:solidFill>
          <a:ln xmlns:a="http://schemas.openxmlformats.org/drawingml/2006/main" w="10478">
            <a:solidFill>
              <a:srgbClr val="202020"/>
            </a:solidFill>
          </a:ln>
        </p:spPr>
      </p:sp>
      <p:pic>
        <p:nvPicPr>
          <p:cNvPr id="138" name="!!overlap-problem-route-m" descr="m,g">
            <ns0:hlinkClick xmlns:ns0="http://schemas.openxmlformats.org/drawingml/2006/main" xmlns:ns1="http://schemas.openxmlformats.org/officeDocument/2006/relationships" ns1:id="rIdmethods_Link5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51bd06038c704d12">
            <a:extLst>
              <a:ext uri="{96DAC541-7B7A-43D3-8B79-37D633B846F1}">
                <ns0:svgBlip xmlns:ns0="http://schemas.microsoft.com/office/drawing/2016/SVG/main" r:embed="rIdVectormf00286"/>
              </a:ext>
            </a:extLst>
          </a:blip>
          <a:stretch xmlns:a="http://schemas.openxmlformats.org/drawingml/2006/main"/>
        </p:blipFill>
        <p:spPr>
          <a:xfrm xmlns:a="http://schemas.openxmlformats.org/drawingml/2006/main">
            <a:off x="2231634" y="1261110"/>
            <a:ext cx="775482" cy="240030"/>
          </a:xfrm>
          <a:prstGeom xmlns:a="http://schemas.openxmlformats.org/drawingml/2006/main" prst="rect">
            <a:avLst/>
          </a:prstGeom>
        </p:spPr>
      </p:pic>
      <p:pic>
        <p:nvPicPr>
          <p:cNvPr id="139" name="!!overlap-problem-route-s" descr="s_1(t)">
            <ns0:hlinkClick xmlns:ns0="http://schemas.openxmlformats.org/drawingml/2006/main" xmlns:ns1="http://schemas.openxmlformats.org/officeDocument/2006/relationships" ns1:id="rIdmethods_Link56"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9e04036f3c124cee">
            <a:extLst>
              <a:ext uri="{96DAC541-7B7A-43D3-8B79-37D633B846F1}">
                <ns1:svgBlip xmlns:ns1="http://schemas.microsoft.com/office/drawing/2016/SVG/main" r:embed="rIdVectormf00287"/>
              </a:ext>
            </a:extLst>
          </a:blip>
          <a:stretch xmlns:a="http://schemas.openxmlformats.org/drawingml/2006/main"/>
        </p:blipFill>
        <p:spPr>
          <a:xfrm xmlns:a="http://schemas.openxmlformats.org/drawingml/2006/main">
            <a:off x="5635943" y="1181100"/>
            <a:ext cx="920115" cy="400050"/>
          </a:xfrm>
          <a:prstGeom xmlns:a="http://schemas.openxmlformats.org/drawingml/2006/main" prst="rect">
            <a:avLst/>
          </a:prstGeom>
        </p:spPr>
      </p:pic>
      <p:pic>
        <p:nvPicPr>
          <p:cNvPr id="140" name="!!overlap-problem-route-restored" descr="m(t)+g(t)">
            <ns0:hlinkClick xmlns:ns0="http://schemas.openxmlformats.org/drawingml/2006/main" xmlns:ns1="http://schemas.openxmlformats.org/officeDocument/2006/relationships" ns1:id="rIdmethods_Link5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c21529187c34cb3">
            <a:extLst>
              <a:ext uri="{96DAC541-7B7A-43D3-8B79-37D633B846F1}">
                <ns2:svgBlip xmlns:ns2="http://schemas.microsoft.com/office/drawing/2016/SVG/main" r:embed="rIdVectormf00288"/>
              </a:ext>
            </a:extLst>
          </a:blip>
          <a:stretch xmlns:a="http://schemas.openxmlformats.org/drawingml/2006/main"/>
        </p:blipFill>
        <p:spPr>
          <a:xfrm xmlns:a="http://schemas.openxmlformats.org/drawingml/2006/main">
            <a:off x="8620125" y="1212099"/>
            <a:ext cx="1905000" cy="338052"/>
          </a:xfrm>
          <a:prstGeom xmlns:a="http://schemas.openxmlformats.org/drawingml/2006/main" prst="rect">
            <a:avLst/>
          </a:prstGeom>
        </p:spPr>
      </p:pic>
      <p:pic>
        <p:nvPicPr>
          <p:cNvPr id="141" name="!!overlap-problem-givens" descr="f_{\ell}=80\ \mathrm{kHz},\qquad W=4\ \mathrm{kHz}"/>
          <p:cNvPicPr>
            <a:picLocks xmlns:a="http://schemas.openxmlformats.org/drawingml/2006/main" noChangeAspect="1"/>
          </p:cNvPicPr>
          <p:nvPr/>
        </p:nvPicPr>
        <p:blipFill>
          <a:blip xmlns:r="http://schemas.openxmlformats.org/officeDocument/2006/relationships" xmlns:a="http://schemas.openxmlformats.org/drawingml/2006/main" r:embed="R6f0c6558c33b4798">
            <a:extLst>
              <a:ext uri="{96DAC541-7B7A-43D3-8B79-37D633B846F1}">
                <ns3:svgBlip xmlns:ns3="http://schemas.microsoft.com/office/drawing/2016/SVG/main" r:embed="rIdVectormf00289"/>
              </a:ext>
            </a:extLst>
          </a:blip>
          <a:stretch xmlns:a="http://schemas.openxmlformats.org/drawingml/2006/main"/>
        </p:blipFill>
        <p:spPr>
          <a:xfrm xmlns:a="http://schemas.openxmlformats.org/drawingml/2006/main">
            <a:off x="666750" y="2133451"/>
            <a:ext cx="3405188" cy="209848"/>
          </a:xfrm>
          <a:prstGeom xmlns:a="http://schemas.openxmlformats.org/drawingml/2006/main" prst="rect">
            <a:avLst/>
          </a:prstGeom>
        </p:spPr>
      </p:pic>
      <p:pic>
        <p:nvPicPr>
          <p:cNvPr id="142" name="!!overlap-problem-input-r0-domain" descr="f"/>
          <p:cNvPicPr>
            <a:picLocks xmlns:a="http://schemas.openxmlformats.org/drawingml/2006/main" noChangeAspect="1"/>
          </p:cNvPicPr>
          <p:nvPr/>
        </p:nvPicPr>
        <p:blipFill>
          <a:blip xmlns:r="http://schemas.openxmlformats.org/officeDocument/2006/relationships" xmlns:a="http://schemas.openxmlformats.org/drawingml/2006/main" r:embed="Re604555813f44dc7">
            <a:extLst>
              <a:ext uri="{96DAC541-7B7A-43D3-8B79-37D633B846F1}">
                <ns4:svgBlip xmlns:ns4="http://schemas.microsoft.com/office/drawing/2016/SVG/main" r:embed="rIdVectormf00290"/>
              </a:ext>
            </a:extLst>
          </a:blip>
          <a:stretch xmlns:a="http://schemas.openxmlformats.org/drawingml/2006/main"/>
        </p:blipFill>
        <p:spPr>
          <a:xfrm xmlns:a="http://schemas.openxmlformats.org/drawingml/2006/main">
            <a:off x="3374873" y="3597593"/>
            <a:ext cx="79678" cy="120015"/>
          </a:xfrm>
          <a:prstGeom xmlns:a="http://schemas.openxmlformats.org/drawingml/2006/main" prst="rect">
            <a:avLst/>
          </a:prstGeom>
        </p:spPr>
      </p:pic>
      <p:pic>
        <p:nvPicPr>
          <p:cNvPr id="143" name="!!overlap-problem-input-r0-ticklabel0" descr="-100"/>
          <p:cNvPicPr>
            <a:picLocks xmlns:a="http://schemas.openxmlformats.org/drawingml/2006/main" noChangeAspect="1"/>
          </p:cNvPicPr>
          <p:nvPr/>
        </p:nvPicPr>
        <p:blipFill>
          <a:blip xmlns:r="http://schemas.openxmlformats.org/officeDocument/2006/relationships" xmlns:a="http://schemas.openxmlformats.org/drawingml/2006/main" r:embed="R7a6bbee659864890">
            <a:extLst>
              <a:ext uri="{96DAC541-7B7A-43D3-8B79-37D633B846F1}">
                <ns5:svgBlip xmlns:ns5="http://schemas.microsoft.com/office/drawing/2016/SVG/main" r:embed="rIdVectormf00291"/>
              </a:ext>
            </a:extLst>
          </a:blip>
          <a:stretch xmlns:a="http://schemas.openxmlformats.org/drawingml/2006/main"/>
        </p:blipFill>
        <p:spPr>
          <a:xfrm xmlns:a="http://schemas.openxmlformats.org/drawingml/2006/main">
            <a:off x="580390" y="3934599"/>
            <a:ext cx="445770" cy="131802"/>
          </a:xfrm>
          <a:prstGeom xmlns:a="http://schemas.openxmlformats.org/drawingml/2006/main" prst="rect">
            <a:avLst/>
          </a:prstGeom>
        </p:spPr>
      </p:pic>
      <p:pic>
        <p:nvPicPr>
          <p:cNvPr id="144" name="!!overlap-problem-input-r0-ticklabel1" descr="-60"/>
          <p:cNvPicPr>
            <a:picLocks xmlns:a="http://schemas.openxmlformats.org/drawingml/2006/main" noChangeAspect="1"/>
          </p:cNvPicPr>
          <p:nvPr/>
        </p:nvPicPr>
        <p:blipFill>
          <a:blip xmlns:r="http://schemas.openxmlformats.org/officeDocument/2006/relationships" xmlns:a="http://schemas.openxmlformats.org/drawingml/2006/main" r:embed="R8fac71075b464bd1">
            <a:extLst>
              <a:ext uri="{96DAC541-7B7A-43D3-8B79-37D633B846F1}">
                <ns6:svgBlip xmlns:ns6="http://schemas.microsoft.com/office/drawing/2016/SVG/main" r:embed="rIdVectormf00292"/>
              </a:ext>
            </a:extLst>
          </a:blip>
          <a:stretch xmlns:a="http://schemas.openxmlformats.org/drawingml/2006/main"/>
        </p:blipFill>
        <p:spPr>
          <a:xfrm xmlns:a="http://schemas.openxmlformats.org/drawingml/2006/main">
            <a:off x="1095375" y="3935135"/>
            <a:ext cx="342900" cy="130731"/>
          </a:xfrm>
          <a:prstGeom xmlns:a="http://schemas.openxmlformats.org/drawingml/2006/main" prst="rect">
            <a:avLst/>
          </a:prstGeom>
        </p:spPr>
      </p:pic>
      <p:pic>
        <p:nvPicPr>
          <p:cNvPr id="145" name="!!overlap-problem-input-r0-ticklabel2" descr="0"/>
          <p:cNvPicPr>
            <a:picLocks xmlns:a="http://schemas.openxmlformats.org/drawingml/2006/main" noChangeAspect="1"/>
          </p:cNvPicPr>
          <p:nvPr/>
        </p:nvPicPr>
        <p:blipFill>
          <a:blip xmlns:r="http://schemas.openxmlformats.org/officeDocument/2006/relationships" xmlns:a="http://schemas.openxmlformats.org/drawingml/2006/main" r:embed="Rc81540e20a3d49ad">
            <a:extLst>
              <a:ext uri="{96DAC541-7B7A-43D3-8B79-37D633B846F1}">
                <ns7:svgBlip xmlns:ns7="http://schemas.microsoft.com/office/drawing/2016/SVG/main" r:embed="rIdVectormf00293"/>
              </a:ext>
            </a:extLst>
          </a:blip>
          <a:stretch xmlns:a="http://schemas.openxmlformats.org/drawingml/2006/main"/>
        </p:blipFill>
        <p:spPr>
          <a:xfrm xmlns:a="http://schemas.openxmlformats.org/drawingml/2006/main">
            <a:off x="1916175" y="3949065"/>
            <a:ext cx="91951" cy="102870"/>
          </a:xfrm>
          <a:prstGeom xmlns:a="http://schemas.openxmlformats.org/drawingml/2006/main" prst="rect">
            <a:avLst/>
          </a:prstGeom>
        </p:spPr>
      </p:pic>
      <p:pic>
        <p:nvPicPr>
          <p:cNvPr id="146" name="!!overlap-problem-input-r0-ticklabel3" descr="60"/>
          <p:cNvPicPr>
            <a:picLocks xmlns:a="http://schemas.openxmlformats.org/drawingml/2006/main" noChangeAspect="1"/>
          </p:cNvPicPr>
          <p:nvPr/>
        </p:nvPicPr>
        <p:blipFill>
          <a:blip xmlns:r="http://schemas.openxmlformats.org/officeDocument/2006/relationships" xmlns:a="http://schemas.openxmlformats.org/drawingml/2006/main" r:embed="R1086c248c8b0427d">
            <a:extLst>
              <a:ext uri="{96DAC541-7B7A-43D3-8B79-37D633B846F1}">
                <ns8:svgBlip xmlns:ns8="http://schemas.microsoft.com/office/drawing/2016/SVG/main" r:embed="rIdVectormf00294"/>
              </a:ext>
            </a:extLst>
          </a:blip>
          <a:stretch xmlns:a="http://schemas.openxmlformats.org/drawingml/2006/main"/>
        </p:blipFill>
        <p:spPr>
          <a:xfrm xmlns:a="http://schemas.openxmlformats.org/drawingml/2006/main">
            <a:off x="2565524" y="3949065"/>
            <a:ext cx="183902" cy="102870"/>
          </a:xfrm>
          <a:prstGeom xmlns:a="http://schemas.openxmlformats.org/drawingml/2006/main" prst="rect">
            <a:avLst/>
          </a:prstGeom>
        </p:spPr>
      </p:pic>
      <p:pic>
        <p:nvPicPr>
          <p:cNvPr id="147" name="!!overlap-problem-input-r0-ticklabel4" descr="100"/>
          <p:cNvPicPr>
            <a:picLocks xmlns:a="http://schemas.openxmlformats.org/drawingml/2006/main" noChangeAspect="1"/>
          </p:cNvPicPr>
          <p:nvPr/>
        </p:nvPicPr>
        <p:blipFill>
          <a:blip xmlns:r="http://schemas.openxmlformats.org/officeDocument/2006/relationships" xmlns:a="http://schemas.openxmlformats.org/drawingml/2006/main" r:embed="R7d96722663c1411d">
            <a:extLst>
              <a:ext uri="{96DAC541-7B7A-43D3-8B79-37D633B846F1}">
                <ns9:svgBlip xmlns:ns9="http://schemas.microsoft.com/office/drawing/2016/SVG/main" r:embed="rIdVectormf00295"/>
              </a:ext>
            </a:extLst>
          </a:blip>
          <a:stretch xmlns:a="http://schemas.openxmlformats.org/drawingml/2006/main"/>
        </p:blipFill>
        <p:spPr>
          <a:xfrm xmlns:a="http://schemas.openxmlformats.org/drawingml/2006/main">
            <a:off x="2983865" y="3949065"/>
            <a:ext cx="274320" cy="102870"/>
          </a:xfrm>
          <a:prstGeom xmlns:a="http://schemas.openxmlformats.org/drawingml/2006/main" prst="rect">
            <a:avLst/>
          </a:prstGeom>
        </p:spPr>
      </p:pic>
      <p:pic>
        <p:nvPicPr>
          <p:cNvPr id="148" name="!!overlap-problem-input-r0-label" descr="\textstyle S_1(f)"/>
          <p:cNvPicPr>
            <a:picLocks xmlns:a="http://schemas.openxmlformats.org/drawingml/2006/main" noChangeAspect="1"/>
          </p:cNvPicPr>
          <p:nvPr/>
        </p:nvPicPr>
        <p:blipFill>
          <a:blip xmlns:r="http://schemas.openxmlformats.org/officeDocument/2006/relationships" xmlns:a="http://schemas.openxmlformats.org/drawingml/2006/main" r:embed="R1cb313e870884c37">
            <a:extLst>
              <a:ext uri="{96DAC541-7B7A-43D3-8B79-37D633B846F1}">
                <ns10:svgBlip xmlns:ns10="http://schemas.microsoft.com/office/drawing/2016/SVG/main" r:embed="rIdVectormf00296"/>
              </a:ext>
            </a:extLst>
          </a:blip>
          <a:stretch xmlns:a="http://schemas.openxmlformats.org/drawingml/2006/main"/>
        </p:blipFill>
        <p:spPr>
          <a:xfrm xmlns:a="http://schemas.openxmlformats.org/drawingml/2006/main">
            <a:off x="571500" y="2667000"/>
            <a:ext cx="523875" cy="209550"/>
          </a:xfrm>
          <a:prstGeom xmlns:a="http://schemas.openxmlformats.org/drawingml/2006/main" prst="rect">
            <a:avLst/>
          </a:prstGeom>
        </p:spPr>
      </p:pic>
      <p:pic>
        <p:nvPicPr>
          <p:cNvPr id="149" name="!!overlap-problem-after-r0-domain" descr="f"/>
          <p:cNvPicPr>
            <a:picLocks xmlns:a="http://schemas.openxmlformats.org/drawingml/2006/main" noChangeAspect="1"/>
          </p:cNvPicPr>
          <p:nvPr/>
        </p:nvPicPr>
        <p:blipFill>
          <a:blip xmlns:r="http://schemas.openxmlformats.org/officeDocument/2006/relationships" xmlns:a="http://schemas.openxmlformats.org/drawingml/2006/main" r:embed="R4d56d60af6e9412e">
            <a:extLst>
              <a:ext uri="{96DAC541-7B7A-43D3-8B79-37D633B846F1}">
                <ns11:svgBlip xmlns:ns11="http://schemas.microsoft.com/office/drawing/2016/SVG/main" r:embed="rIdVectormf00297"/>
              </a:ext>
            </a:extLst>
          </a:blip>
          <a:stretch xmlns:a="http://schemas.openxmlformats.org/drawingml/2006/main"/>
        </p:blipFill>
        <p:spPr>
          <a:xfrm xmlns:a="http://schemas.openxmlformats.org/drawingml/2006/main">
            <a:off x="7375373" y="3597593"/>
            <a:ext cx="79678" cy="120015"/>
          </a:xfrm>
          <a:prstGeom xmlns:a="http://schemas.openxmlformats.org/drawingml/2006/main" prst="rect">
            <a:avLst/>
          </a:prstGeom>
        </p:spPr>
      </p:pic>
      <p:pic>
        <p:nvPicPr>
          <p:cNvPr id="150" name="!!overlap-problem-after-r0-ticklabel0" descr="-100"/>
          <p:cNvPicPr>
            <a:picLocks xmlns:a="http://schemas.openxmlformats.org/drawingml/2006/main" noChangeAspect="1"/>
          </p:cNvPicPr>
          <p:nvPr/>
        </p:nvPicPr>
        <p:blipFill>
          <a:blip xmlns:r="http://schemas.openxmlformats.org/officeDocument/2006/relationships" xmlns:a="http://schemas.openxmlformats.org/drawingml/2006/main" r:embed="Rea41ddb7075b4e24">
            <a:extLst>
              <a:ext uri="{96DAC541-7B7A-43D3-8B79-37D633B846F1}">
                <ns12:svgBlip xmlns:ns12="http://schemas.microsoft.com/office/drawing/2016/SVG/main" r:embed="rIdVectormf00298"/>
              </a:ext>
            </a:extLst>
          </a:blip>
          <a:stretch xmlns:a="http://schemas.openxmlformats.org/drawingml/2006/main"/>
        </p:blipFill>
        <p:spPr>
          <a:xfrm xmlns:a="http://schemas.openxmlformats.org/drawingml/2006/main">
            <a:off x="4580890" y="3934599"/>
            <a:ext cx="445770" cy="131802"/>
          </a:xfrm>
          <a:prstGeom xmlns:a="http://schemas.openxmlformats.org/drawingml/2006/main" prst="rect">
            <a:avLst/>
          </a:prstGeom>
        </p:spPr>
      </p:pic>
      <p:pic>
        <p:nvPicPr>
          <p:cNvPr id="151" name="!!overlap-problem-after-r0-ticklabel1" descr="-60"/>
          <p:cNvPicPr>
            <a:picLocks xmlns:a="http://schemas.openxmlformats.org/drawingml/2006/main" noChangeAspect="1"/>
          </p:cNvPicPr>
          <p:nvPr/>
        </p:nvPicPr>
        <p:blipFill>
          <a:blip xmlns:r="http://schemas.openxmlformats.org/officeDocument/2006/relationships" xmlns:a="http://schemas.openxmlformats.org/drawingml/2006/main" r:embed="R7dd5edb1878e4838">
            <a:extLst>
              <a:ext uri="{96DAC541-7B7A-43D3-8B79-37D633B846F1}">
                <ns13:svgBlip xmlns:ns13="http://schemas.microsoft.com/office/drawing/2016/SVG/main" r:embed="rIdVectormf00299"/>
              </a:ext>
            </a:extLst>
          </a:blip>
          <a:stretch xmlns:a="http://schemas.openxmlformats.org/drawingml/2006/main"/>
        </p:blipFill>
        <p:spPr>
          <a:xfrm xmlns:a="http://schemas.openxmlformats.org/drawingml/2006/main">
            <a:off x="5095875" y="3935135"/>
            <a:ext cx="342900" cy="130731"/>
          </a:xfrm>
          <a:prstGeom xmlns:a="http://schemas.openxmlformats.org/drawingml/2006/main" prst="rect">
            <a:avLst/>
          </a:prstGeom>
        </p:spPr>
      </p:pic>
      <p:pic>
        <p:nvPicPr>
          <p:cNvPr id="152" name="!!overlap-problem-after-r0-ticklabel2" descr="-20"/>
          <p:cNvPicPr>
            <a:picLocks xmlns:a="http://schemas.openxmlformats.org/drawingml/2006/main" noChangeAspect="1"/>
          </p:cNvPicPr>
          <p:nvPr/>
        </p:nvPicPr>
        <p:blipFill>
          <a:blip xmlns:r="http://schemas.openxmlformats.org/officeDocument/2006/relationships" xmlns:a="http://schemas.openxmlformats.org/drawingml/2006/main" r:embed="R6e76345abe43400c">
            <a:extLst>
              <a:ext uri="{96DAC541-7B7A-43D3-8B79-37D633B846F1}">
                <ns14:svgBlip xmlns:ns14="http://schemas.microsoft.com/office/drawing/2016/SVG/main" r:embed="rIdVectormf00300"/>
              </a:ext>
            </a:extLst>
          </a:blip>
          <a:stretch xmlns:a="http://schemas.openxmlformats.org/drawingml/2006/main"/>
        </p:blipFill>
        <p:spPr>
          <a:xfrm xmlns:a="http://schemas.openxmlformats.org/drawingml/2006/main">
            <a:off x="5559425" y="3935135"/>
            <a:ext cx="342900" cy="130731"/>
          </a:xfrm>
          <a:prstGeom xmlns:a="http://schemas.openxmlformats.org/drawingml/2006/main" prst="rect">
            <a:avLst/>
          </a:prstGeom>
        </p:spPr>
      </p:pic>
      <p:pic>
        <p:nvPicPr>
          <p:cNvPr id="153" name="!!overlap-problem-after-r0-ticklabel3" descr="0"/>
          <p:cNvPicPr>
            <a:picLocks xmlns:a="http://schemas.openxmlformats.org/drawingml/2006/main" noChangeAspect="1"/>
          </p:cNvPicPr>
          <p:nvPr/>
        </p:nvPicPr>
        <p:blipFill>
          <a:blip xmlns:r="http://schemas.openxmlformats.org/officeDocument/2006/relationships" xmlns:a="http://schemas.openxmlformats.org/drawingml/2006/main" r:embed="R77147ebf1ca646f9">
            <a:extLst>
              <a:ext uri="{96DAC541-7B7A-43D3-8B79-37D633B846F1}">
                <ns15:svgBlip xmlns:ns15="http://schemas.microsoft.com/office/drawing/2016/SVG/main" r:embed="rIdVectormf00301"/>
              </a:ext>
            </a:extLst>
          </a:blip>
          <a:stretch xmlns:a="http://schemas.openxmlformats.org/drawingml/2006/main"/>
        </p:blipFill>
        <p:spPr>
          <a:xfrm xmlns:a="http://schemas.openxmlformats.org/drawingml/2006/main">
            <a:off x="5916675" y="4149090"/>
            <a:ext cx="91951" cy="102870"/>
          </a:xfrm>
          <a:prstGeom xmlns:a="http://schemas.openxmlformats.org/drawingml/2006/main" prst="rect">
            <a:avLst/>
          </a:prstGeom>
        </p:spPr>
      </p:pic>
      <p:pic>
        <p:nvPicPr>
          <p:cNvPr id="154" name="!!overlap-problem-after-r0-ticklabel4" descr="20"/>
          <p:cNvPicPr>
            <a:picLocks xmlns:a="http://schemas.openxmlformats.org/drawingml/2006/main" noChangeAspect="1"/>
          </p:cNvPicPr>
          <p:nvPr/>
        </p:nvPicPr>
        <p:blipFill>
          <a:blip xmlns:r="http://schemas.openxmlformats.org/officeDocument/2006/relationships" xmlns:a="http://schemas.openxmlformats.org/drawingml/2006/main" r:embed="R4ae65d7a95cb40e9">
            <a:extLst>
              <a:ext uri="{96DAC541-7B7A-43D3-8B79-37D633B846F1}">
                <ns16:svgBlip xmlns:ns16="http://schemas.microsoft.com/office/drawing/2016/SVG/main" r:embed="rIdVectormf00302"/>
              </a:ext>
            </a:extLst>
          </a:blip>
          <a:stretch xmlns:a="http://schemas.openxmlformats.org/drawingml/2006/main"/>
        </p:blipFill>
        <p:spPr>
          <a:xfrm xmlns:a="http://schemas.openxmlformats.org/drawingml/2006/main">
            <a:off x="6102474" y="3949065"/>
            <a:ext cx="183902" cy="102870"/>
          </a:xfrm>
          <a:prstGeom xmlns:a="http://schemas.openxmlformats.org/drawingml/2006/main" prst="rect">
            <a:avLst/>
          </a:prstGeom>
        </p:spPr>
      </p:pic>
      <p:pic>
        <p:nvPicPr>
          <p:cNvPr id="155" name="!!overlap-problem-after-r0-ticklabel5" descr="60"/>
          <p:cNvPicPr>
            <a:picLocks xmlns:a="http://schemas.openxmlformats.org/drawingml/2006/main" noChangeAspect="1"/>
          </p:cNvPicPr>
          <p:nvPr/>
        </p:nvPicPr>
        <p:blipFill>
          <a:blip xmlns:r="http://schemas.openxmlformats.org/officeDocument/2006/relationships" xmlns:a="http://schemas.openxmlformats.org/drawingml/2006/main" r:embed="R5f2d06dca01e4540">
            <a:extLst>
              <a:ext uri="{96DAC541-7B7A-43D3-8B79-37D633B846F1}">
                <ns17:svgBlip xmlns:ns17="http://schemas.microsoft.com/office/drawing/2016/SVG/main" r:embed="rIdVectormf00303"/>
              </a:ext>
            </a:extLst>
          </a:blip>
          <a:stretch xmlns:a="http://schemas.openxmlformats.org/drawingml/2006/main"/>
        </p:blipFill>
        <p:spPr>
          <a:xfrm xmlns:a="http://schemas.openxmlformats.org/drawingml/2006/main">
            <a:off x="6566024" y="3949065"/>
            <a:ext cx="183902" cy="102870"/>
          </a:xfrm>
          <a:prstGeom xmlns:a="http://schemas.openxmlformats.org/drawingml/2006/main" prst="rect">
            <a:avLst/>
          </a:prstGeom>
        </p:spPr>
      </p:pic>
      <p:pic>
        <p:nvPicPr>
          <p:cNvPr id="156" name="!!overlap-problem-after-r0-ticklabel6" descr="100"/>
          <p:cNvPicPr>
            <a:picLocks xmlns:a="http://schemas.openxmlformats.org/drawingml/2006/main" noChangeAspect="1"/>
          </p:cNvPicPr>
          <p:nvPr/>
        </p:nvPicPr>
        <p:blipFill>
          <a:blip xmlns:r="http://schemas.openxmlformats.org/officeDocument/2006/relationships" xmlns:a="http://schemas.openxmlformats.org/drawingml/2006/main" r:embed="Rb3fc1d815d4b42c5">
            <a:extLst>
              <a:ext uri="{96DAC541-7B7A-43D3-8B79-37D633B846F1}">
                <ns18:svgBlip xmlns:ns18="http://schemas.microsoft.com/office/drawing/2016/SVG/main" r:embed="rIdVectormf00304"/>
              </a:ext>
            </a:extLst>
          </a:blip>
          <a:stretch xmlns:a="http://schemas.openxmlformats.org/drawingml/2006/main"/>
        </p:blipFill>
        <p:spPr>
          <a:xfrm xmlns:a="http://schemas.openxmlformats.org/drawingml/2006/main">
            <a:off x="6984365" y="3949065"/>
            <a:ext cx="274320" cy="102870"/>
          </a:xfrm>
          <a:prstGeom xmlns:a="http://schemas.openxmlformats.org/drawingml/2006/main" prst="rect">
            <a:avLst/>
          </a:prstGeom>
        </p:spPr>
      </p:pic>
      <p:pic>
        <p:nvPicPr>
          <p:cNvPr id="157" name="!!overlap-problem-after-r0-label" descr="\textstyle S_2(f)"/>
          <p:cNvPicPr>
            <a:picLocks xmlns:a="http://schemas.openxmlformats.org/drawingml/2006/main" noChangeAspect="1"/>
          </p:cNvPicPr>
          <p:nvPr/>
        </p:nvPicPr>
        <p:blipFill>
          <a:blip xmlns:r="http://schemas.openxmlformats.org/officeDocument/2006/relationships" xmlns:a="http://schemas.openxmlformats.org/drawingml/2006/main" r:embed="Rf8e8a13530a14a06">
            <a:extLst>
              <a:ext uri="{96DAC541-7B7A-43D3-8B79-37D633B846F1}">
                <ns19:svgBlip xmlns:ns19="http://schemas.microsoft.com/office/drawing/2016/SVG/main" r:embed="rIdVectormf00305"/>
              </a:ext>
            </a:extLst>
          </a:blip>
          <a:stretch xmlns:a="http://schemas.openxmlformats.org/drawingml/2006/main"/>
        </p:blipFill>
        <p:spPr>
          <a:xfrm xmlns:a="http://schemas.openxmlformats.org/drawingml/2006/main">
            <a:off x="4572000" y="2667000"/>
            <a:ext cx="523875" cy="209550"/>
          </a:xfrm>
          <a:prstGeom xmlns:a="http://schemas.openxmlformats.org/drawingml/2006/main" prst="rect">
            <a:avLst/>
          </a:prstGeom>
        </p:spPr>
      </p:pic>
      <p:pic>
        <p:nvPicPr>
          <p:cNvPr id="158" name="!!overlap-problem-out-r0-domain" descr="f"/>
          <p:cNvPicPr>
            <a:picLocks xmlns:a="http://schemas.openxmlformats.org/drawingml/2006/main" noChangeAspect="1"/>
          </p:cNvPicPr>
          <p:nvPr/>
        </p:nvPicPr>
        <p:blipFill>
          <a:blip xmlns:r="http://schemas.openxmlformats.org/officeDocument/2006/relationships" xmlns:a="http://schemas.openxmlformats.org/drawingml/2006/main" r:embed="Rb508188f20b14362">
            <a:extLst>
              <a:ext uri="{96DAC541-7B7A-43D3-8B79-37D633B846F1}">
                <ns20:svgBlip xmlns:ns20="http://schemas.microsoft.com/office/drawing/2016/SVG/main" r:embed="rIdVectormf00306"/>
              </a:ext>
            </a:extLst>
          </a:blip>
          <a:stretch xmlns:a="http://schemas.openxmlformats.org/drawingml/2006/main"/>
        </p:blipFill>
        <p:spPr>
          <a:xfrm xmlns:a="http://schemas.openxmlformats.org/drawingml/2006/main">
            <a:off x="11375873" y="3597593"/>
            <a:ext cx="79678" cy="120015"/>
          </a:xfrm>
          <a:prstGeom xmlns:a="http://schemas.openxmlformats.org/drawingml/2006/main" prst="rect">
            <a:avLst/>
          </a:prstGeom>
        </p:spPr>
      </p:pic>
      <p:pic>
        <p:nvPicPr>
          <p:cNvPr id="159" name="!!overlap-problem-out-r0-ticklabel0" descr="0"/>
          <p:cNvPicPr>
            <a:picLocks xmlns:a="http://schemas.openxmlformats.org/drawingml/2006/main" noChangeAspect="1"/>
          </p:cNvPicPr>
          <p:nvPr/>
        </p:nvPicPr>
        <p:blipFill>
          <a:blip xmlns:r="http://schemas.openxmlformats.org/officeDocument/2006/relationships" xmlns:a="http://schemas.openxmlformats.org/drawingml/2006/main" r:embed="Raf99d54b6d8b4bbd">
            <a:extLst>
              <a:ext uri="{96DAC541-7B7A-43D3-8B79-37D633B846F1}">
                <ns21:svgBlip xmlns:ns21="http://schemas.microsoft.com/office/drawing/2016/SVG/main" r:embed="rIdVectormf00307"/>
              </a:ext>
            </a:extLst>
          </a:blip>
          <a:stretch xmlns:a="http://schemas.openxmlformats.org/drawingml/2006/main"/>
        </p:blipFill>
        <p:spPr>
          <a:xfrm xmlns:a="http://schemas.openxmlformats.org/drawingml/2006/main">
            <a:off x="9917175" y="3949065"/>
            <a:ext cx="91951" cy="102870"/>
          </a:xfrm>
          <a:prstGeom xmlns:a="http://schemas.openxmlformats.org/drawingml/2006/main" prst="rect">
            <a:avLst/>
          </a:prstGeom>
        </p:spPr>
      </p:pic>
      <p:pic>
        <p:nvPicPr>
          <p:cNvPr id="160" name="!!overlap-problem-out-r0-label" descr="\textstyle M(f)+G(f)"/>
          <p:cNvPicPr>
            <a:picLocks xmlns:a="http://schemas.openxmlformats.org/drawingml/2006/main" noChangeAspect="1"/>
          </p:cNvPicPr>
          <p:nvPr/>
        </p:nvPicPr>
        <p:blipFill>
          <a:blip xmlns:r="http://schemas.openxmlformats.org/officeDocument/2006/relationships" xmlns:a="http://schemas.openxmlformats.org/drawingml/2006/main" r:embed="R3e7033bd28064271">
            <a:extLst>
              <a:ext uri="{96DAC541-7B7A-43D3-8B79-37D633B846F1}">
                <ns22:svgBlip xmlns:ns22="http://schemas.microsoft.com/office/drawing/2016/SVG/main" r:embed="rIdVectormf00308"/>
              </a:ext>
            </a:extLst>
          </a:blip>
          <a:stretch xmlns:a="http://schemas.openxmlformats.org/drawingml/2006/main"/>
        </p:blipFill>
        <p:spPr>
          <a:xfrm xmlns:a="http://schemas.openxmlformats.org/drawingml/2006/main">
            <a:off x="8572500" y="2667000"/>
            <a:ext cx="1278255" cy="209550"/>
          </a:xfrm>
          <a:prstGeom xmlns:a="http://schemas.openxmlformats.org/drawingml/2006/main" prst="rect">
            <a:avLst/>
          </a:prstGeom>
        </p:spPr>
      </p:pic>
      <p:pic>
        <p:nvPicPr>
          <p:cNvPr id="161" name="!!overlap-problem-dense-equation-0" descr="\textstyle s_1(t)=m(t)\cos(2\pi\cdot100{,}000t)+g(t)\cos(2\pi\cdot60{,}000t)"/>
          <p:cNvPicPr>
            <a:picLocks xmlns:a="http://schemas.openxmlformats.org/drawingml/2006/main" noChangeAspect="1"/>
          </p:cNvPicPr>
          <p:nvPr/>
        </p:nvPicPr>
        <p:blipFill>
          <a:blip xmlns:r="http://schemas.openxmlformats.org/officeDocument/2006/relationships" xmlns:a="http://schemas.openxmlformats.org/drawingml/2006/main" r:embed="R89cf6666416a4984">
            <a:extLst>
              <a:ext uri="{96DAC541-7B7A-43D3-8B79-37D633B846F1}">
                <ns23:svgBlip xmlns:ns23="http://schemas.microsoft.com/office/drawing/2016/SVG/main" r:embed="rIdVectormf00309"/>
              </a:ext>
            </a:extLst>
          </a:blip>
          <a:stretch xmlns:a="http://schemas.openxmlformats.org/drawingml/2006/main"/>
        </p:blipFill>
        <p:spPr>
          <a:xfrm xmlns:a="http://schemas.openxmlformats.org/drawingml/2006/main">
            <a:off x="609600" y="5034736"/>
            <a:ext cx="6587490" cy="246102"/>
          </a:xfrm>
          <a:prstGeom xmlns:a="http://schemas.openxmlformats.org/drawingml/2006/main" prst="rect">
            <a:avLst/>
          </a:prstGeom>
        </p:spPr>
      </p:pic>
      <p:pic>
        <p:nvPicPr>
          <p:cNvPr id="162" name="!!overlap-problem-dense-equation-1" descr="\textstyle 100-80=80-60=20\ \mathrm{kHz}"/>
          <p:cNvPicPr>
            <a:picLocks xmlns:a="http://schemas.openxmlformats.org/drawingml/2006/main" noChangeAspect="1"/>
          </p:cNvPicPr>
          <p:nvPr/>
        </p:nvPicPr>
        <p:blipFill>
          <a:blip xmlns:r="http://schemas.openxmlformats.org/officeDocument/2006/relationships" xmlns:a="http://schemas.openxmlformats.org/drawingml/2006/main" r:embed="R570d3a258a394636">
            <a:extLst>
              <a:ext uri="{96DAC541-7B7A-43D3-8B79-37D633B846F1}">
                <ns24:svgBlip xmlns:ns24="http://schemas.microsoft.com/office/drawing/2016/SVG/main" r:embed="rIdVectormf00310"/>
              </a:ext>
            </a:extLst>
          </a:blip>
          <a:stretch xmlns:a="http://schemas.openxmlformats.org/drawingml/2006/main"/>
        </p:blipFill>
        <p:spPr>
          <a:xfrm xmlns:a="http://schemas.openxmlformats.org/drawingml/2006/main">
            <a:off x="650717" y="5449253"/>
            <a:ext cx="3508690" cy="198120"/>
          </a:xfrm>
          <a:prstGeom xmlns:a="http://schemas.openxmlformats.org/drawingml/2006/main" prst="rect">
            <a:avLst/>
          </a:prstGeom>
        </p:spPr>
      </p:pic>
      <p:pic>
        <p:nvPicPr>
          <p:cNvPr id="163" name="!!overlap-problem-dense-equation-2" descr="\textstyle s_2(t)=\mathrm{BPF}\{2s_1(t)\cos(2\pi\cdot80{,}000t)\}=[m(t)+g(t)]\cos(2\pi\cdot20{,}000t)"/>
          <p:cNvPicPr>
            <a:picLocks xmlns:a="http://schemas.openxmlformats.org/drawingml/2006/main" noChangeAspect="1"/>
          </p:cNvPicPr>
          <p:nvPr/>
        </p:nvPicPr>
        <p:blipFill>
          <a:blip xmlns:r="http://schemas.openxmlformats.org/officeDocument/2006/relationships" xmlns:a="http://schemas.openxmlformats.org/drawingml/2006/main" r:embed="Raed8808b45de4b96">
            <a:extLst>
              <a:ext uri="{96DAC541-7B7A-43D3-8B79-37D633B846F1}">
                <ns25:svgBlip xmlns:ns25="http://schemas.microsoft.com/office/drawing/2016/SVG/main" r:embed="rIdVectormf00311"/>
              </a:ext>
            </a:extLst>
          </a:blip>
          <a:stretch xmlns:a="http://schemas.openxmlformats.org/drawingml/2006/main"/>
        </p:blipFill>
        <p:spPr>
          <a:xfrm xmlns:a="http://schemas.openxmlformats.org/drawingml/2006/main">
            <a:off x="609600" y="5815786"/>
            <a:ext cx="8543925" cy="246102"/>
          </a:xfrm>
          <a:prstGeom xmlns:a="http://schemas.openxmlformats.org/drawingml/2006/main" prst="rect">
            <a:avLst/>
          </a:prstGeom>
        </p:spPr>
      </p:pic>
      <p:pic>
        <p:nvPicPr>
          <p:cNvPr id="164" name="!!overlap-problem-dense-equation-3" descr="\textstyle \mathrm{LPF}\{2s_2(t)\cos(2\pi\cdot20{,}000t)\}=m(t)+g(t)"/>
          <p:cNvPicPr>
            <a:picLocks xmlns:a="http://schemas.openxmlformats.org/drawingml/2006/main" noChangeAspect="1"/>
          </p:cNvPicPr>
          <p:nvPr/>
        </p:nvPicPr>
        <p:blipFill>
          <a:blip xmlns:r="http://schemas.openxmlformats.org/officeDocument/2006/relationships" xmlns:a="http://schemas.openxmlformats.org/drawingml/2006/main" r:embed="R5d57c0ddbcd64506">
            <a:extLst>
              <a:ext uri="{96DAC541-7B7A-43D3-8B79-37D633B846F1}">
                <ns26:svgBlip xmlns:ns26="http://schemas.microsoft.com/office/drawing/2016/SVG/main" r:embed="rIdVectormf00312"/>
              </a:ext>
            </a:extLst>
          </a:blip>
          <a:stretch xmlns:a="http://schemas.openxmlformats.org/drawingml/2006/main"/>
        </p:blipFill>
        <p:spPr>
          <a:xfrm xmlns:a="http://schemas.openxmlformats.org/drawingml/2006/main">
            <a:off x="609600" y="6205538"/>
            <a:ext cx="5374005" cy="247650"/>
          </a:xfrm>
          <a:prstGeom xmlns:a="http://schemas.openxmlformats.org/drawingml/2006/main" prst="rect">
            <a:avLst/>
          </a:prstGeom>
        </p:spPr>
      </p:pic>
    </p:spTree>
    <p:extLst>
      <p:ext uri="{BB962C8B-B14F-4D97-AF65-F5344CB8AC3E}">
        <p14:creationId xmlns:p14="http://schemas.microsoft.com/office/powerpoint/2010/main" val="3770283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200"/>
                                        <p:tgtEl>
                                          <p:spTgt spid="40"/>
                                        </p:tgtEl>
                                      </p:cBhvr>
                                    </p:animEffect>
                                    <p:animMotion origin="layout" pathEditMode="relative" path="M -0.40416667 0.00000000 L -0.07604167 0.00000000 E">
                                      <p:cBhvr>
                                        <p:cTn id="8" dur="700" fill="hold"/>
                                        <p:tgtEl>
                                          <p:spTgt spid="40"/>
                                        </p:tgtEl>
                                        <p:attrNameLst>
                                          <p:attrName>ppt_x</p:attrName>
                                          <p:attrName>ppt_y</p:attrName>
                                        </p:attrNameLst>
                                      </p:cBhvr>
                                    </p:animMotion>
                                  </p:childTnLst>
                                </p:cTn>
                              </p:par>
                              <p:par>
                                <p:cTn id="9" presetID="10" presetClass="entr" presetSubtype="0"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200"/>
                                        <p:tgtEl>
                                          <p:spTgt spid="41"/>
                                        </p:tgtEl>
                                      </p:cBhvr>
                                    </p:animEffect>
                                    <p:animMotion origin="layout" pathEditMode="relative" path="M -0.25208333 0.00000000 L 0.07604167 0.00000000 E">
                                      <p:cBhvr>
                                        <p:cTn id="12" dur="700" fill="hold"/>
                                        <p:tgtEl>
                                          <p:spTgt spid="41"/>
                                        </p:tgtEl>
                                        <p:attrNameLst>
                                          <p:attrName>ppt_x</p:attrName>
                                          <p:attrName>ppt_y</p:attrName>
                                        </p:attrNameLst>
                                      </p:cBhvr>
                                    </p:animMotion>
                                  </p:childTnLst>
                                </p:cTn>
                              </p:par>
                              <p:par>
                                <p:cTn id="13" presetID="10" presetClass="entr" presetSubtype="0"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200"/>
                                        <p:tgtEl>
                                          <p:spTgt spid="42"/>
                                        </p:tgtEl>
                                      </p:cBhvr>
                                    </p:animEffect>
                                    <p:animMotion origin="layout" pathEditMode="relative" path="M -0.25208333 0.00000000 L 0.07604167 0.00000000 E">
                                      <p:cBhvr>
                                        <p:cTn id="16" dur="700" fill="hold"/>
                                        <p:tgtEl>
                                          <p:spTgt spid="42"/>
                                        </p:tgtEl>
                                        <p:attrNameLst>
                                          <p:attrName>ppt_x</p:attrName>
                                          <p:attrName>ppt_y</p:attrName>
                                        </p:attrNameLst>
                                      </p:cBhvr>
                                    </p:animMotion>
                                  </p:childTnLst>
                                </p:cTn>
                              </p:par>
                              <p:par>
                                <p:cTn id="17" presetID="10"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200"/>
                                        <p:tgtEl>
                                          <p:spTgt spid="43"/>
                                        </p:tgtEl>
                                      </p:cBhvr>
                                    </p:animEffect>
                                    <p:animMotion origin="layout" pathEditMode="relative" path="M -0.40416667 0.00000000 L -0.07604167 0.00000000 E">
                                      <p:cBhvr>
                                        <p:cTn id="20" dur="700" fill="hold"/>
                                        <p:tgtEl>
                                          <p:spTgt spid="43"/>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fill="hold" nodeType="clickEffect">
                                  <p:stCondLst>
                                    <p:cond delay="0"/>
                                  </p:stCondLst>
                                  <p:childTnLst>
                                    <p:animMotion origin="layout" pathEditMode="relative" path="M -0.07604167 0.00000000 L 0.00000000 0.00000000 E">
                                      <p:cBhvr>
                                        <p:cTn id="24" dur="700" fill="hold"/>
                                        <p:tgtEl>
                                          <p:spTgt spid="40"/>
                                        </p:tgtEl>
                                        <p:attrNameLst>
                                          <p:attrName>ppt_x</p:attrName>
                                          <p:attrName>ppt_y</p:attrName>
                                        </p:attrNameLst>
                                      </p:cBhvr>
                                    </p:animMotion>
                                  </p:childTnLst>
                                </p:cTn>
                              </p:par>
                              <p:par>
                                <p:cTn id="25" presetID="0" presetClass="path" presetSubtype="0" fill="hold" nodeType="withEffect">
                                  <p:stCondLst>
                                    <p:cond delay="0"/>
                                  </p:stCondLst>
                                  <p:childTnLst>
                                    <p:animMotion origin="layout" pathEditMode="relative" path="M 0.07604167 0.00000000 L 0.00000000 0.00000000 E">
                                      <p:cBhvr>
                                        <p:cTn id="26" dur="700" fill="hold"/>
                                        <p:tgtEl>
                                          <p:spTgt spid="42"/>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fill="hold" nodeType="clickEffect">
                                  <p:stCondLst>
                                    <p:cond delay="0"/>
                                  </p:stCondLst>
                                  <p:childTnLst>
                                    <p:animMotion origin="layout" pathEditMode="relative" path="M 0.07604167 0.00000000 L 0.00000000 0.00000000 E">
                                      <p:cBhvr>
                                        <p:cTn id="30" dur="700" fill="hold"/>
                                        <p:tgtEl>
                                          <p:spTgt spid="41"/>
                                        </p:tgtEl>
                                        <p:attrNameLst>
                                          <p:attrName>ppt_x</p:attrName>
                                          <p:attrName>ppt_y</p:attrName>
                                        </p:attrNameLst>
                                      </p:cBhvr>
                                    </p:animMotion>
                                  </p:childTnLst>
                                </p:cTn>
                              </p:par>
                              <p:par>
                                <p:cTn id="31" presetID="0" presetClass="path" presetSubtype="0" fill="hold" nodeType="withEffect">
                                  <p:stCondLst>
                                    <p:cond delay="0"/>
                                  </p:stCondLst>
                                  <p:childTnLst>
                                    <p:animMotion origin="layout" pathEditMode="relative" path="M -0.07604167 0.00000000 L 0.00000000 0.00000000 E">
                                      <p:cBhvr>
                                        <p:cTn id="32" dur="700" fill="hold"/>
                                        <p:tgtEl>
                                          <p:spTgt spid="43"/>
                                        </p:tgtEl>
                                        <p:attrNameLst>
                                          <p:attrName>ppt_x</p:attrName>
                                          <p:attrName>ppt_y</p:attrName>
                                        </p:attrNameLst>
                                      </p:cBhvr>
                                    </p:animMotion>
                                  </p:childTnLst>
                                </p:cTn>
                              </p:par>
                              <p:par>
                                <p:cTn id="33" presetID="10" presetClass="entr" presetSubtype="0" fill="hold" nodeType="withEffect">
                                  <p:stCondLst>
                                    <p:cond delay="0"/>
                                  </p:stCondLst>
                                  <p:childTnLst>
                                    <p:set>
                                      <p:cBhvr>
                                        <p:cTn id="34" dur="1" fill="hold">
                                          <p:stCondLst>
                                            <p:cond delay="0"/>
                                          </p:stCondLst>
                                        </p:cTn>
                                        <p:tgtEl>
                                          <p:spTgt spid="162"/>
                                        </p:tgtEl>
                                        <p:attrNameLst>
                                          <p:attrName>style.visibility</p:attrName>
                                        </p:attrNameLst>
                                      </p:cBhvr>
                                      <p:to>
                                        <p:strVal val="visible"/>
                                      </p:to>
                                    </p:set>
                                    <p:animEffect transition="in" filter="fade">
                                      <p:cBhvr>
                                        <p:cTn id="35" dur="400"/>
                                        <p:tgtEl>
                                          <p:spTgt spid="16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400"/>
                                        <p:tgtEl>
                                          <p:spTgt spid="44"/>
                                        </p:tgtEl>
                                      </p:cBhvr>
                                    </p:animEffect>
                                  </p:childTnLst>
                                </p:cTn>
                              </p:par>
                              <p:par>
                                <p:cTn id="41" presetID="10" presetClass="entr" presetSubtype="0" fill="hold" nodeType="with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400"/>
                                        <p:tgtEl>
                                          <p:spTgt spid="45"/>
                                        </p:tgtEl>
                                      </p:cBhvr>
                                    </p:animEffect>
                                  </p:childTnLst>
                                </p:cTn>
                              </p:par>
                              <p:par>
                                <p:cTn id="44" presetID="10"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400"/>
                                        <p:tgtEl>
                                          <p:spTgt spid="46"/>
                                        </p:tgtEl>
                                      </p:cBhvr>
                                    </p:animEffect>
                                  </p:childTnLst>
                                </p:cTn>
                              </p:par>
                              <p:par>
                                <p:cTn id="47" presetID="10"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400"/>
                                        <p:tgtEl>
                                          <p:spTgt spid="47"/>
                                        </p:tgtEl>
                                      </p:cBhvr>
                                    </p:animEffect>
                                  </p:childTnLst>
                                </p:cTn>
                              </p:par>
                              <p:par>
                                <p:cTn id="50" presetID="10" presetClass="entr" presetSubtype="0" fill="hold"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400"/>
                                        <p:tgtEl>
                                          <p:spTgt spid="48"/>
                                        </p:tgtEl>
                                      </p:cBhvr>
                                    </p:animEffect>
                                  </p:childTnLst>
                                </p:cTn>
                              </p:par>
                              <p:par>
                                <p:cTn id="53" presetID="10" presetClass="entr" presetSubtype="0" fill="hold" nodeType="with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fade">
                                      <p:cBhvr>
                                        <p:cTn id="55" dur="400"/>
                                        <p:tgtEl>
                                          <p:spTgt spid="49"/>
                                        </p:tgtEl>
                                      </p:cBhvr>
                                    </p:animEffect>
                                  </p:childTnLst>
                                </p:cTn>
                              </p:par>
                              <p:par>
                                <p:cTn id="56" presetID="10" presetClass="entr" presetSubtype="0" fill="hold" nodeType="with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fade">
                                      <p:cBhvr>
                                        <p:cTn id="58" dur="400"/>
                                        <p:tgtEl>
                                          <p:spTgt spid="50"/>
                                        </p:tgtEl>
                                      </p:cBhvr>
                                    </p:animEffect>
                                  </p:childTnLst>
                                </p:cTn>
                              </p:par>
                              <p:par>
                                <p:cTn id="59" presetID="10" presetClass="entr" presetSubtype="0" fill="hold" nodeType="withEffect">
                                  <p:stCondLst>
                                    <p:cond delay="0"/>
                                  </p:stCondLst>
                                  <p:childTnLst>
                                    <p:set>
                                      <p:cBhvr>
                                        <p:cTn id="60" dur="1" fill="hold">
                                          <p:stCondLst>
                                            <p:cond delay="0"/>
                                          </p:stCondLst>
                                        </p:cTn>
                                        <p:tgtEl>
                                          <p:spTgt spid="51"/>
                                        </p:tgtEl>
                                        <p:attrNameLst>
                                          <p:attrName>style.visibility</p:attrName>
                                        </p:attrNameLst>
                                      </p:cBhvr>
                                      <p:to>
                                        <p:strVal val="visible"/>
                                      </p:to>
                                    </p:set>
                                    <p:animEffect transition="in" filter="fade">
                                      <p:cBhvr>
                                        <p:cTn id="61" dur="400"/>
                                        <p:tgtEl>
                                          <p:spTgt spid="51"/>
                                        </p:tgtEl>
                                      </p:cBhvr>
                                    </p:animEffect>
                                  </p:childTnLst>
                                </p:cTn>
                              </p:par>
                              <p:par>
                                <p:cTn id="62" presetID="10" presetClass="entr" presetSubtype="0" fill="hold" nodeType="withEffect">
                                  <p:stCondLst>
                                    <p:cond delay="0"/>
                                  </p:stCondLst>
                                  <p:childTnLst>
                                    <p:set>
                                      <p:cBhvr>
                                        <p:cTn id="63" dur="1" fill="hold">
                                          <p:stCondLst>
                                            <p:cond delay="0"/>
                                          </p:stCondLst>
                                        </p:cTn>
                                        <p:tgtEl>
                                          <p:spTgt spid="52"/>
                                        </p:tgtEl>
                                        <p:attrNameLst>
                                          <p:attrName>style.visibility</p:attrName>
                                        </p:attrNameLst>
                                      </p:cBhvr>
                                      <p:to>
                                        <p:strVal val="visible"/>
                                      </p:to>
                                    </p:set>
                                    <p:animEffect transition="in" filter="fade">
                                      <p:cBhvr>
                                        <p:cTn id="64" dur="400"/>
                                        <p:tgtEl>
                                          <p:spTgt spid="52"/>
                                        </p:tgtEl>
                                      </p:cBhvr>
                                    </p:animEffect>
                                  </p:childTnLst>
                                </p:cTn>
                              </p:par>
                              <p:par>
                                <p:cTn id="65" presetID="10" presetClass="entr" presetSubtype="0" fill="hold" nodeType="with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fade">
                                      <p:cBhvr>
                                        <p:cTn id="67" dur="400"/>
                                        <p:tgtEl>
                                          <p:spTgt spid="53"/>
                                        </p:tgtEl>
                                      </p:cBhvr>
                                    </p:animEffect>
                                  </p:childTnLst>
                                </p:cTn>
                              </p:par>
                              <p:par>
                                <p:cTn id="68" presetID="10" presetClass="entr" presetSubtype="0" fill="hold" nodeType="withEffect">
                                  <p:stCondLst>
                                    <p:cond delay="0"/>
                                  </p:stCondLst>
                                  <p:childTnLst>
                                    <p:set>
                                      <p:cBhvr>
                                        <p:cTn id="69" dur="1" fill="hold">
                                          <p:stCondLst>
                                            <p:cond delay="0"/>
                                          </p:stCondLst>
                                        </p:cTn>
                                        <p:tgtEl>
                                          <p:spTgt spid="163"/>
                                        </p:tgtEl>
                                        <p:attrNameLst>
                                          <p:attrName>style.visibility</p:attrName>
                                        </p:attrNameLst>
                                      </p:cBhvr>
                                      <p:to>
                                        <p:strVal val="visible"/>
                                      </p:to>
                                    </p:set>
                                    <p:animEffect transition="in" filter="fade">
                                      <p:cBhvr>
                                        <p:cTn id="70" dur="400"/>
                                        <p:tgtEl>
                                          <p:spTgt spid="16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54"/>
                                        </p:tgtEl>
                                        <p:attrNameLst>
                                          <p:attrName>style.visibility</p:attrName>
                                        </p:attrNameLst>
                                      </p:cBhvr>
                                      <p:to>
                                        <p:strVal val="visible"/>
                                      </p:to>
                                    </p:set>
                                    <p:animEffect transition="in" filter="fade">
                                      <p:cBhvr>
                                        <p:cTn id="75" dur="400"/>
                                        <p:tgtEl>
                                          <p:spTgt spid="54"/>
                                        </p:tgtEl>
                                      </p:cBhvr>
                                    </p:animEffect>
                                  </p:childTnLst>
                                </p:cTn>
                              </p:par>
                              <p:par>
                                <p:cTn id="76" presetID="10" presetClass="entr" presetSubtype="0" fill="hold" nodeType="with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fade">
                                      <p:cBhvr>
                                        <p:cTn id="78" dur="400"/>
                                        <p:tgtEl>
                                          <p:spTgt spid="55"/>
                                        </p:tgtEl>
                                      </p:cBhvr>
                                    </p:animEffect>
                                  </p:childTnLst>
                                </p:cTn>
                              </p:par>
                              <p:par>
                                <p:cTn id="79" presetID="10" presetClass="entr" presetSubtype="0" fill="hold" nodeType="withEffect">
                                  <p:stCondLst>
                                    <p:cond delay="0"/>
                                  </p:stCondLst>
                                  <p:childTnLst>
                                    <p:set>
                                      <p:cBhvr>
                                        <p:cTn id="80" dur="1" fill="hold">
                                          <p:stCondLst>
                                            <p:cond delay="0"/>
                                          </p:stCondLst>
                                        </p:cTn>
                                        <p:tgtEl>
                                          <p:spTgt spid="164"/>
                                        </p:tgtEl>
                                        <p:attrNameLst>
                                          <p:attrName>style.visibility</p:attrName>
                                        </p:attrNameLst>
                                      </p:cBhvr>
                                      <p:to>
                                        <p:strVal val="visible"/>
                                      </p:to>
                                    </p:set>
                                    <p:animEffect transition="in" filter="fade">
                                      <p:cBhvr>
                                        <p:cTn id="81" dur="4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Lst>
  </p:timing>
</p:sld>
</file>

<file path=ppt/slides/methods_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overlap-solution-title">
            <ns0:hlinkClick xmlns:ns0="http://schemas.openxmlformats.org/drawingml/2006/main" xmlns:ns1="http://schemas.openxmlformats.org/officeDocument/2006/relationships" ns1:id="rIdmethods_Link58" action="ppaction://hlinksldjump"/>
            <a:extLst xmlns:a="http://schemas.openxmlformats.org/drawingml/2006/main">
              <a:ext uri="{FF2B5EF4-FFF2-40B4-BE49-F238E27FC236}">
                <a16:creationId xmlns:a16="http://schemas.microsoft.com/office/drawing/2014/main" id="{38301DFE-E629-4C84-A3E6-F6E2B9D55248}"/>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58" action="ppaction://hlinksldjump"/>
              </a:rPr>
              <a:t>FDM</a:t>
            </a:r>
          </a:p>
        </p:txBody>
      </p:sp>
      <p:sp>
        <p:nvSpPr>
          <p:cNvPr id="2" name="!!overlap-solution-subtitle">
            <a:extLst xmlns:a="http://schemas.openxmlformats.org/drawingml/2006/main">
              <a:ext uri="{FF2B5EF4-FFF2-40B4-BE49-F238E27FC236}">
                <a16:creationId xmlns:a16="http://schemas.microsoft.com/office/drawing/2014/main" id="{3ABD1EFD-23D6-4B21-B94F-AA3AC73E9E88}"/>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Two modulated signals (solution)</a:t>
            </a:r>
          </a:p>
        </p:txBody>
      </p:sp>
      <p:sp>
        <p:nvSpPr>
          <p:cNvPr id="3" name="!!overlap-solution-route-tx-line">
            <a:extLst xmlns:a="http://schemas.openxmlformats.org/drawingml/2006/main">
              <a:ext uri="{FF2B5EF4-FFF2-40B4-BE49-F238E27FC236}">
                <a16:creationId xmlns:a16="http://schemas.microsoft.com/office/drawing/2014/main" id="{4D5EDFF4-4874-49CF-8EEA-F86B8D8D5310}"/>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overlap-solution-route-tx-head">
            <a:extLst xmlns:a="http://schemas.openxmlformats.org/drawingml/2006/main">
              <a:ext uri="{FF2B5EF4-FFF2-40B4-BE49-F238E27FC236}">
                <a16:creationId xmlns:a16="http://schemas.microsoft.com/office/drawing/2014/main" id="{CEFDD232-D523-4FC8-8A99-3944B23B08B8}"/>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overlap-solution-route-rx-line">
            <a:extLst xmlns:a="http://schemas.openxmlformats.org/drawingml/2006/main">
              <a:ext uri="{FF2B5EF4-FFF2-40B4-BE49-F238E27FC236}">
                <a16:creationId xmlns:a16="http://schemas.microsoft.com/office/drawing/2014/main" id="{5B175939-0208-4BFB-AFE1-9F9DFB2483DB}"/>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overlap-solution-route-rx-head">
            <a:extLst xmlns:a="http://schemas.openxmlformats.org/drawingml/2006/main">
              <a:ext uri="{FF2B5EF4-FFF2-40B4-BE49-F238E27FC236}">
                <a16:creationId xmlns:a16="http://schemas.microsoft.com/office/drawing/2014/main" id="{4F98E0E8-1AFF-47BF-9A1C-00A847A1B1BF}"/>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overlap-solution-units">
            <a:extLst xmlns:a="http://schemas.openxmlformats.org/drawingml/2006/main">
              <a:ext uri="{FF2B5EF4-FFF2-40B4-BE49-F238E27FC236}">
                <a16:creationId xmlns:a16="http://schemas.microsoft.com/office/drawing/2014/main" id="{60D0A673-F72F-4F34-A7D6-D16434C9C28E}"/>
              </a:ext>
            </a:extLst>
          </p:cNvPr>
          <p:cNvSpPr>
            <a:spLocks xmlns:a="http://schemas.openxmlformats.org/drawingml/2006/main" noGrp="1"/>
          </p:cNvSpPr>
          <p:nvPr/>
        </p:nvSpPr>
        <p:spPr>
          <a:xfrm xmlns:a="http://schemas.openxmlformats.org/drawingml/2006/main">
            <a:off x="666750" y="43434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f in kHz</a:t>
            </a:r>
          </a:p>
        </p:txBody>
      </p:sp>
      <p:sp>
        <p:nvSpPr>
          <p:cNvPr id="8" name="!!overlap-solution-input-r0-axis-line">
            <a:extLst xmlns:a="http://schemas.openxmlformats.org/drawingml/2006/main">
              <a:ext uri="{FF2B5EF4-FFF2-40B4-BE49-F238E27FC236}">
                <a16:creationId xmlns:a16="http://schemas.microsoft.com/office/drawing/2014/main" id="{8331BD96-5578-42D3-B054-2A42E332E0D8}"/>
              </a:ext>
            </a:extLst>
          </p:cNvPr>
          <p:cNvSpPr>
            <a:spLocks xmlns:a="http://schemas.openxmlformats.org/drawingml/2006/main" noGrp="1"/>
          </p:cNvSpPr>
          <p:nvPr/>
        </p:nvSpPr>
        <p:spPr>
          <a:xfrm xmlns:a="http://schemas.openxmlformats.org/drawingml/2006/main">
            <a:off x="571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overlap-solution-input-r0-axis-head">
            <a:extLst xmlns:a="http://schemas.openxmlformats.org/drawingml/2006/main">
              <a:ext uri="{FF2B5EF4-FFF2-40B4-BE49-F238E27FC236}">
                <a16:creationId xmlns:a16="http://schemas.microsoft.com/office/drawing/2014/main" id="{1D53B97A-D764-4BE0-90FC-41BAA1776E52}"/>
              </a:ext>
            </a:extLst>
          </p:cNvPr>
          <p:cNvSpPr>
            <a:spLocks xmlns:a="http://schemas.openxmlformats.org/drawingml/2006/main" noGrp="1"/>
          </p:cNvSpPr>
          <p:nvPr/>
        </p:nvSpPr>
        <p:spPr>
          <a:xfrm xmlns:a="http://schemas.openxmlformats.org/drawingml/2006/main" rot="5400000">
            <a:off x="3238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0" name="!!overlap-solution-input-r0-tick0">
            <a:extLst xmlns:a="http://schemas.openxmlformats.org/drawingml/2006/main">
              <a:ext uri="{FF2B5EF4-FFF2-40B4-BE49-F238E27FC236}">
                <a16:creationId xmlns:a16="http://schemas.microsoft.com/office/drawing/2014/main" id="{DD894800-74E6-4B02-8237-B80A74265BF7}"/>
              </a:ext>
            </a:extLst>
          </p:cNvPr>
          <p:cNvSpPr>
            <a:spLocks xmlns:a="http://schemas.openxmlformats.org/drawingml/2006/main" noGrp="1"/>
          </p:cNvSpPr>
          <p:nvPr/>
        </p:nvSpPr>
        <p:spPr>
          <a:xfrm xmlns:a="http://schemas.openxmlformats.org/drawingml/2006/main">
            <a:off x="80327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overlap-solution-input-r0-tick1">
            <a:extLst xmlns:a="http://schemas.openxmlformats.org/drawingml/2006/main">
              <a:ext uri="{FF2B5EF4-FFF2-40B4-BE49-F238E27FC236}">
                <a16:creationId xmlns:a16="http://schemas.microsoft.com/office/drawing/2014/main" id="{47A37655-6618-47A5-8B21-6D43DEAF84BF}"/>
              </a:ext>
            </a:extLst>
          </p:cNvPr>
          <p:cNvSpPr>
            <a:spLocks xmlns:a="http://schemas.openxmlformats.org/drawingml/2006/main" noGrp="1"/>
          </p:cNvSpPr>
          <p:nvPr/>
        </p:nvSpPr>
        <p:spPr>
          <a:xfrm xmlns:a="http://schemas.openxmlformats.org/drawingml/2006/main">
            <a:off x="126682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overlap-solution-input-r0-tick2">
            <a:extLst xmlns:a="http://schemas.openxmlformats.org/drawingml/2006/main">
              <a:ext uri="{FF2B5EF4-FFF2-40B4-BE49-F238E27FC236}">
                <a16:creationId xmlns:a16="http://schemas.microsoft.com/office/drawing/2014/main" id="{DE7FAE19-8301-4C84-9CA4-BF964860A690}"/>
              </a:ext>
            </a:extLst>
          </p:cNvPr>
          <p:cNvSpPr>
            <a:spLocks xmlns:a="http://schemas.openxmlformats.org/drawingml/2006/main" noGrp="1"/>
          </p:cNvSpPr>
          <p:nvPr/>
        </p:nvSpPr>
        <p:spPr>
          <a:xfrm xmlns:a="http://schemas.openxmlformats.org/drawingml/2006/main">
            <a:off x="1962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overlap-solution-input-r0-tick3">
            <a:extLst xmlns:a="http://schemas.openxmlformats.org/drawingml/2006/main">
              <a:ext uri="{FF2B5EF4-FFF2-40B4-BE49-F238E27FC236}">
                <a16:creationId xmlns:a16="http://schemas.microsoft.com/office/drawing/2014/main" id="{5071167C-65CB-4367-9E56-12B6332BCF79}"/>
              </a:ext>
            </a:extLst>
          </p:cNvPr>
          <p:cNvSpPr>
            <a:spLocks xmlns:a="http://schemas.openxmlformats.org/drawingml/2006/main" noGrp="1"/>
          </p:cNvSpPr>
          <p:nvPr/>
        </p:nvSpPr>
        <p:spPr>
          <a:xfrm xmlns:a="http://schemas.openxmlformats.org/drawingml/2006/main">
            <a:off x="265747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overlap-solution-input-r0-tick4">
            <a:extLst xmlns:a="http://schemas.openxmlformats.org/drawingml/2006/main">
              <a:ext uri="{FF2B5EF4-FFF2-40B4-BE49-F238E27FC236}">
                <a16:creationId xmlns:a16="http://schemas.microsoft.com/office/drawing/2014/main" id="{25D00361-35CA-4408-9105-668176A41E4D}"/>
              </a:ext>
            </a:extLst>
          </p:cNvPr>
          <p:cNvSpPr>
            <a:spLocks xmlns:a="http://schemas.openxmlformats.org/drawingml/2006/main" noGrp="1"/>
          </p:cNvSpPr>
          <p:nvPr/>
        </p:nvSpPr>
        <p:spPr>
          <a:xfrm xmlns:a="http://schemas.openxmlformats.org/drawingml/2006/main">
            <a:off x="312102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overlap-solution-input-wantedn">
            <a:extLst xmlns:a="http://schemas.openxmlformats.org/drawingml/2006/main">
              <a:ext uri="{FF2B5EF4-FFF2-40B4-BE49-F238E27FC236}">
                <a16:creationId xmlns:a16="http://schemas.microsoft.com/office/drawing/2014/main" id="{08694655-04CC-467E-A18F-FD4F7C517210}"/>
              </a:ext>
            </a:extLst>
          </p:cNvPr>
          <p:cNvSpPr>
            <a:spLocks xmlns:a="http://schemas.openxmlformats.org/drawingml/2006/main" noGrp="1"/>
          </p:cNvSpPr>
          <p:nvPr/>
        </p:nvSpPr>
        <p:spPr>
          <a:xfrm xmlns:a="http://schemas.openxmlformats.org/drawingml/2006/main">
            <a:off x="75692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16" name="!!overlap-solution-input-wantedp">
            <a:extLst xmlns:a="http://schemas.openxmlformats.org/drawingml/2006/main">
              <a:ext uri="{FF2B5EF4-FFF2-40B4-BE49-F238E27FC236}">
                <a16:creationId xmlns:a16="http://schemas.microsoft.com/office/drawing/2014/main" id="{7F1766E3-FBB9-46C1-823C-070FD6E67630}"/>
              </a:ext>
            </a:extLst>
          </p:cNvPr>
          <p:cNvSpPr>
            <a:spLocks xmlns:a="http://schemas.openxmlformats.org/drawingml/2006/main" noGrp="1"/>
          </p:cNvSpPr>
          <p:nvPr/>
        </p:nvSpPr>
        <p:spPr>
          <a:xfrm xmlns:a="http://schemas.openxmlformats.org/drawingml/2006/main">
            <a:off x="307467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17" name="!!overlap-solution-input-othern">
            <a:extLst xmlns:a="http://schemas.openxmlformats.org/drawingml/2006/main">
              <a:ext uri="{FF2B5EF4-FFF2-40B4-BE49-F238E27FC236}">
                <a16:creationId xmlns:a16="http://schemas.microsoft.com/office/drawing/2014/main" id="{D16BB3E2-90C0-43CF-92B6-9CACF5DC6030}"/>
              </a:ext>
            </a:extLst>
          </p:cNvPr>
          <p:cNvSpPr>
            <a:spLocks xmlns:a="http://schemas.openxmlformats.org/drawingml/2006/main" noGrp="1"/>
          </p:cNvSpPr>
          <p:nvPr/>
        </p:nvSpPr>
        <p:spPr>
          <a:xfrm xmlns:a="http://schemas.openxmlformats.org/drawingml/2006/main">
            <a:off x="1220470" y="3652838"/>
            <a:ext cx="92710" cy="157163"/>
          </a:xfrm>
          <a:custGeom xmlns:a="http://schemas.openxmlformats.org/drawingml/2006/main">
            <a:pathLst>
              <a:path w="92710" h="157163">
                <a:moveTo>
                  <a:pt x="0" y="157163"/>
                </a:moveTo>
                <a:lnTo>
                  <a:pt x="46355" y="0"/>
                </a:lnTo>
                <a:lnTo>
                  <a:pt x="92710" y="157163"/>
                </a:lnTo>
                <a:close/>
              </a:path>
            </a:pathLst>
          </a:custGeom>
          <a:solidFill xmlns:a="http://schemas.openxmlformats.org/drawingml/2006/main">
            <a:srgbClr val="BBBBBB"/>
          </a:solidFill>
          <a:ln xmlns:a="http://schemas.openxmlformats.org/drawingml/2006/main" w="10478">
            <a:solidFill>
              <a:srgbClr val="202020"/>
            </a:solidFill>
          </a:ln>
        </p:spPr>
      </p:sp>
      <p:sp>
        <p:nvSpPr>
          <p:cNvPr id="18" name="!!overlap-solution-input-otherp">
            <a:extLst xmlns:a="http://schemas.openxmlformats.org/drawingml/2006/main">
              <a:ext uri="{FF2B5EF4-FFF2-40B4-BE49-F238E27FC236}">
                <a16:creationId xmlns:a16="http://schemas.microsoft.com/office/drawing/2014/main" id="{AE8E1C95-9505-4060-8AED-E405AA489F68}"/>
              </a:ext>
            </a:extLst>
          </p:cNvPr>
          <p:cNvSpPr>
            <a:spLocks xmlns:a="http://schemas.openxmlformats.org/drawingml/2006/main" noGrp="1"/>
          </p:cNvSpPr>
          <p:nvPr/>
        </p:nvSpPr>
        <p:spPr>
          <a:xfrm xmlns:a="http://schemas.openxmlformats.org/drawingml/2006/main">
            <a:off x="2611120" y="3652838"/>
            <a:ext cx="92710" cy="157163"/>
          </a:xfrm>
          <a:custGeom xmlns:a="http://schemas.openxmlformats.org/drawingml/2006/main">
            <a:pathLst>
              <a:path w="92710" h="157163">
                <a:moveTo>
                  <a:pt x="0" y="157163"/>
                </a:moveTo>
                <a:lnTo>
                  <a:pt x="46355" y="0"/>
                </a:lnTo>
                <a:lnTo>
                  <a:pt x="92710" y="157163"/>
                </a:lnTo>
                <a:close/>
              </a:path>
            </a:pathLst>
          </a:custGeom>
          <a:solidFill xmlns:a="http://schemas.openxmlformats.org/drawingml/2006/main">
            <a:srgbClr val="BBBBBB"/>
          </a:solidFill>
          <a:ln xmlns:a="http://schemas.openxmlformats.org/drawingml/2006/main" w="10478">
            <a:solidFill>
              <a:srgbClr val="202020"/>
            </a:solidFill>
          </a:ln>
        </p:spPr>
      </p:sp>
      <p:sp>
        <p:nvSpPr>
          <p:cNvPr id="19" name="!!overlap-solution-after-r0-axis-line">
            <a:extLst xmlns:a="http://schemas.openxmlformats.org/drawingml/2006/main">
              <a:ext uri="{FF2B5EF4-FFF2-40B4-BE49-F238E27FC236}">
                <a16:creationId xmlns:a16="http://schemas.microsoft.com/office/drawing/2014/main" id="{C623A386-0225-43BC-B67B-C8DA0F4E3772}"/>
              </a:ext>
            </a:extLst>
          </p:cNvPr>
          <p:cNvSpPr>
            <a:spLocks xmlns:a="http://schemas.openxmlformats.org/drawingml/2006/main" noGrp="1"/>
          </p:cNvSpPr>
          <p:nvPr/>
        </p:nvSpPr>
        <p:spPr>
          <a:xfrm xmlns:a="http://schemas.openxmlformats.org/drawingml/2006/main">
            <a:off x="45720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overlap-solution-after-r0-axis-head">
            <a:extLst xmlns:a="http://schemas.openxmlformats.org/drawingml/2006/main">
              <a:ext uri="{FF2B5EF4-FFF2-40B4-BE49-F238E27FC236}">
                <a16:creationId xmlns:a16="http://schemas.microsoft.com/office/drawing/2014/main" id="{D81293F4-80E8-44B8-B08C-900BE6D2B86C}"/>
              </a:ext>
            </a:extLst>
          </p:cNvPr>
          <p:cNvSpPr>
            <a:spLocks xmlns:a="http://schemas.openxmlformats.org/drawingml/2006/main" noGrp="1"/>
          </p:cNvSpPr>
          <p:nvPr/>
        </p:nvSpPr>
        <p:spPr>
          <a:xfrm xmlns:a="http://schemas.openxmlformats.org/drawingml/2006/main" rot="5400000">
            <a:off x="72390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1" name="!!overlap-solution-after-r0-tick0">
            <a:extLst xmlns:a="http://schemas.openxmlformats.org/drawingml/2006/main">
              <a:ext uri="{FF2B5EF4-FFF2-40B4-BE49-F238E27FC236}">
                <a16:creationId xmlns:a16="http://schemas.microsoft.com/office/drawing/2014/main" id="{E05165D0-CF1E-4B70-B383-54FA6490CAD7}"/>
              </a:ext>
            </a:extLst>
          </p:cNvPr>
          <p:cNvSpPr>
            <a:spLocks xmlns:a="http://schemas.openxmlformats.org/drawingml/2006/main" noGrp="1"/>
          </p:cNvSpPr>
          <p:nvPr/>
        </p:nvSpPr>
        <p:spPr>
          <a:xfrm xmlns:a="http://schemas.openxmlformats.org/drawingml/2006/main">
            <a:off x="573087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overlap-solution-after-r0-tick1">
            <a:extLst xmlns:a="http://schemas.openxmlformats.org/drawingml/2006/main">
              <a:ext uri="{FF2B5EF4-FFF2-40B4-BE49-F238E27FC236}">
                <a16:creationId xmlns:a16="http://schemas.microsoft.com/office/drawing/2014/main" id="{BD0375B8-1731-41C0-BEF2-67F951179136}"/>
              </a:ext>
            </a:extLst>
          </p:cNvPr>
          <p:cNvSpPr>
            <a:spLocks xmlns:a="http://schemas.openxmlformats.org/drawingml/2006/main" noGrp="1"/>
          </p:cNvSpPr>
          <p:nvPr/>
        </p:nvSpPr>
        <p:spPr>
          <a:xfrm xmlns:a="http://schemas.openxmlformats.org/drawingml/2006/main">
            <a:off x="59626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overlap-solution-after-r0-tick2">
            <a:extLst xmlns:a="http://schemas.openxmlformats.org/drawingml/2006/main">
              <a:ext uri="{FF2B5EF4-FFF2-40B4-BE49-F238E27FC236}">
                <a16:creationId xmlns:a16="http://schemas.microsoft.com/office/drawing/2014/main" id="{7BD934FB-7C6C-442F-B703-AEF873FF5F00}"/>
              </a:ext>
            </a:extLst>
          </p:cNvPr>
          <p:cNvSpPr>
            <a:spLocks xmlns:a="http://schemas.openxmlformats.org/drawingml/2006/main" noGrp="1"/>
          </p:cNvSpPr>
          <p:nvPr/>
        </p:nvSpPr>
        <p:spPr>
          <a:xfrm xmlns:a="http://schemas.openxmlformats.org/drawingml/2006/main">
            <a:off x="6194425"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overlap-solution-out-r0-axis-line">
            <a:extLst xmlns:a="http://schemas.openxmlformats.org/drawingml/2006/main">
              <a:ext uri="{FF2B5EF4-FFF2-40B4-BE49-F238E27FC236}">
                <a16:creationId xmlns:a16="http://schemas.microsoft.com/office/drawing/2014/main" id="{AB8706CA-6DC7-445F-9C2C-C6002B16B64F}"/>
              </a:ext>
            </a:extLst>
          </p:cNvPr>
          <p:cNvSpPr>
            <a:spLocks xmlns:a="http://schemas.openxmlformats.org/drawingml/2006/main" noGrp="1"/>
          </p:cNvSpPr>
          <p:nvPr/>
        </p:nvSpPr>
        <p:spPr>
          <a:xfrm xmlns:a="http://schemas.openxmlformats.org/drawingml/2006/main">
            <a:off x="8572500" y="38100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overlap-solution-out-r0-axis-head">
            <a:extLst xmlns:a="http://schemas.openxmlformats.org/drawingml/2006/main">
              <a:ext uri="{FF2B5EF4-FFF2-40B4-BE49-F238E27FC236}">
                <a16:creationId xmlns:a16="http://schemas.microsoft.com/office/drawing/2014/main" id="{06C90BBE-F097-418F-986E-4D86AE2855A9}"/>
              </a:ext>
            </a:extLst>
          </p:cNvPr>
          <p:cNvSpPr>
            <a:spLocks xmlns:a="http://schemas.openxmlformats.org/drawingml/2006/main" noGrp="1"/>
          </p:cNvSpPr>
          <p:nvPr/>
        </p:nvSpPr>
        <p:spPr>
          <a:xfrm xmlns:a="http://schemas.openxmlformats.org/drawingml/2006/main" rot="5400000">
            <a:off x="11239500" y="37623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6" name="!!overlap-solution-out-r0-tick0">
            <a:extLst xmlns:a="http://schemas.openxmlformats.org/drawingml/2006/main">
              <a:ext uri="{FF2B5EF4-FFF2-40B4-BE49-F238E27FC236}">
                <a16:creationId xmlns:a16="http://schemas.microsoft.com/office/drawing/2014/main" id="{E7E8CBBD-FEDC-48CA-8FF2-8CAFD10DF98B}"/>
              </a:ext>
            </a:extLst>
          </p:cNvPr>
          <p:cNvSpPr>
            <a:spLocks xmlns:a="http://schemas.openxmlformats.org/drawingml/2006/main" noGrp="1"/>
          </p:cNvSpPr>
          <p:nvPr/>
        </p:nvSpPr>
        <p:spPr>
          <a:xfrm xmlns:a="http://schemas.openxmlformats.org/drawingml/2006/main">
            <a:off x="9963150" y="38100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overlap-solution-mix-label">
            <a:extLst xmlns:a="http://schemas.openxmlformats.org/drawingml/2006/main">
              <a:ext uri="{FF2B5EF4-FFF2-40B4-BE49-F238E27FC236}">
                <a16:creationId xmlns:a16="http://schemas.microsoft.com/office/drawing/2014/main" id="{56A7F032-770F-4A66-927A-C43605CC3F86}"/>
              </a:ext>
            </a:extLst>
          </p:cNvPr>
          <p:cNvSpPr>
            <a:spLocks xmlns:a="http://schemas.openxmlformats.org/drawingml/2006/main" noGrp="1"/>
          </p:cNvSpPr>
          <p:nvPr/>
        </p:nvSpPr>
        <p:spPr>
          <a:xfrm xmlns:a="http://schemas.openxmlformats.org/drawingml/2006/main">
            <a:off x="3381375" y="3086100"/>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Mix + BPF</a:t>
            </a:r>
          </a:p>
        </p:txBody>
      </p:sp>
      <p:sp>
        <p:nvSpPr>
          <p:cNvPr id="28" name="!!overlap-solution-mix-value">
            <a:extLst xmlns:a="http://schemas.openxmlformats.org/drawingml/2006/main">
              <a:ext uri="{FF2B5EF4-FFF2-40B4-BE49-F238E27FC236}">
                <a16:creationId xmlns:a16="http://schemas.microsoft.com/office/drawing/2014/main" id="{B5D13349-33E4-4DB7-B1F8-763E5FABB009}"/>
              </a:ext>
            </a:extLst>
          </p:cNvPr>
          <p:cNvSpPr>
            <a:spLocks xmlns:a="http://schemas.openxmlformats.org/drawingml/2006/main" noGrp="1"/>
          </p:cNvSpPr>
          <p:nvPr/>
        </p:nvSpPr>
        <p:spPr>
          <a:xfrm xmlns:a="http://schemas.openxmlformats.org/drawingml/2006/main">
            <a:off x="3381375" y="33242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80 kHz</a:t>
            </a:r>
          </a:p>
        </p:txBody>
      </p:sp>
      <p:sp>
        <p:nvSpPr>
          <p:cNvPr id="29" name="!!overlap-solution-mix-arrow-line">
            <a:extLst xmlns:a="http://schemas.openxmlformats.org/drawingml/2006/main">
              <a:ext uri="{FF2B5EF4-FFF2-40B4-BE49-F238E27FC236}">
                <a16:creationId xmlns:a16="http://schemas.microsoft.com/office/drawing/2014/main" id="{73A944E5-BFFB-45F0-A26B-7268EACE290C}"/>
              </a:ext>
            </a:extLst>
          </p:cNvPr>
          <p:cNvSpPr>
            <a:spLocks xmlns:a="http://schemas.openxmlformats.org/drawingml/2006/main" noGrp="1"/>
          </p:cNvSpPr>
          <p:nvPr/>
        </p:nvSpPr>
        <p:spPr>
          <a:xfrm xmlns:a="http://schemas.openxmlformats.org/drawingml/2006/main">
            <a:off x="3581400" y="368617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0" name="!!overlap-solution-mix-arrow-head">
            <a:extLst xmlns:a="http://schemas.openxmlformats.org/drawingml/2006/main">
              <a:ext uri="{FF2B5EF4-FFF2-40B4-BE49-F238E27FC236}">
                <a16:creationId xmlns:a16="http://schemas.microsoft.com/office/drawing/2014/main" id="{5A7958DB-D273-4264-8BAF-5D2641BF7ED4}"/>
              </a:ext>
            </a:extLst>
          </p:cNvPr>
          <p:cNvSpPr>
            <a:spLocks xmlns:a="http://schemas.openxmlformats.org/drawingml/2006/main" noGrp="1"/>
          </p:cNvSpPr>
          <p:nvPr/>
        </p:nvSpPr>
        <p:spPr>
          <a:xfrm xmlns:a="http://schemas.openxmlformats.org/drawingml/2006/main" rot="5400000">
            <a:off x="4229100" y="36385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1" name="!!overlap-solution-recover-label">
            <a:extLst xmlns:a="http://schemas.openxmlformats.org/drawingml/2006/main">
              <a:ext uri="{FF2B5EF4-FFF2-40B4-BE49-F238E27FC236}">
                <a16:creationId xmlns:a16="http://schemas.microsoft.com/office/drawing/2014/main" id="{08C82E56-2EB6-449C-A236-85BA242CAFE7}"/>
              </a:ext>
            </a:extLst>
          </p:cNvPr>
          <p:cNvSpPr>
            <a:spLocks xmlns:a="http://schemas.openxmlformats.org/drawingml/2006/main" noGrp="1"/>
          </p:cNvSpPr>
          <p:nvPr/>
        </p:nvSpPr>
        <p:spPr>
          <a:xfrm xmlns:a="http://schemas.openxmlformats.org/drawingml/2006/main">
            <a:off x="7381875" y="3086100"/>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Mix + LPF</a:t>
            </a:r>
          </a:p>
        </p:txBody>
      </p:sp>
      <p:sp>
        <p:nvSpPr>
          <p:cNvPr id="32" name="!!overlap-solution-recover-value">
            <a:extLst xmlns:a="http://schemas.openxmlformats.org/drawingml/2006/main">
              <a:ext uri="{FF2B5EF4-FFF2-40B4-BE49-F238E27FC236}">
                <a16:creationId xmlns:a16="http://schemas.microsoft.com/office/drawing/2014/main" id="{572AA4C3-50E7-4596-9A6F-518445E1790A}"/>
              </a:ext>
            </a:extLst>
          </p:cNvPr>
          <p:cNvSpPr>
            <a:spLocks xmlns:a="http://schemas.openxmlformats.org/drawingml/2006/main" noGrp="1"/>
          </p:cNvSpPr>
          <p:nvPr/>
        </p:nvSpPr>
        <p:spPr>
          <a:xfrm xmlns:a="http://schemas.openxmlformats.org/drawingml/2006/main">
            <a:off x="7381875" y="33242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20 kHz</a:t>
            </a:r>
          </a:p>
        </p:txBody>
      </p:sp>
      <p:sp>
        <p:nvSpPr>
          <p:cNvPr id="33" name="!!overlap-solution-recover-arrow-line">
            <a:extLst xmlns:a="http://schemas.openxmlformats.org/drawingml/2006/main">
              <a:ext uri="{FF2B5EF4-FFF2-40B4-BE49-F238E27FC236}">
                <a16:creationId xmlns:a16="http://schemas.microsoft.com/office/drawing/2014/main" id="{0ECD60BE-9F82-40AD-BEB4-20283A852DD2}"/>
              </a:ext>
            </a:extLst>
          </p:cNvPr>
          <p:cNvSpPr>
            <a:spLocks xmlns:a="http://schemas.openxmlformats.org/drawingml/2006/main" noGrp="1"/>
          </p:cNvSpPr>
          <p:nvPr/>
        </p:nvSpPr>
        <p:spPr>
          <a:xfrm xmlns:a="http://schemas.openxmlformats.org/drawingml/2006/main">
            <a:off x="7581900" y="368617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4" name="!!overlap-solution-recover-arrow-head">
            <a:extLst xmlns:a="http://schemas.openxmlformats.org/drawingml/2006/main">
              <a:ext uri="{FF2B5EF4-FFF2-40B4-BE49-F238E27FC236}">
                <a16:creationId xmlns:a16="http://schemas.microsoft.com/office/drawing/2014/main" id="{CC37BB82-9DFD-4BAD-AD2E-D9F3655908A9}"/>
              </a:ext>
            </a:extLst>
          </p:cNvPr>
          <p:cNvSpPr>
            <a:spLocks xmlns:a="http://schemas.openxmlformats.org/drawingml/2006/main" noGrp="1"/>
          </p:cNvSpPr>
          <p:nvPr/>
        </p:nvSpPr>
        <p:spPr>
          <a:xfrm xmlns:a="http://schemas.openxmlformats.org/drawingml/2006/main" rot="5400000">
            <a:off x="8229600" y="36385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5" name="!!overlap-solution-prefilter-100">
            <a:extLst xmlns:a="http://schemas.openxmlformats.org/drawingml/2006/main">
              <a:ext uri="{FF2B5EF4-FFF2-40B4-BE49-F238E27FC236}">
                <a16:creationId xmlns:a16="http://schemas.microsoft.com/office/drawing/2014/main" id="{EF331246-8B8D-48BB-B548-7E1E5432C977}"/>
              </a:ext>
            </a:extLst>
          </p:cNvPr>
          <p:cNvSpPr>
            <a:spLocks xmlns:a="http://schemas.openxmlformats.org/drawingml/2006/main" noGrp="1"/>
          </p:cNvSpPr>
          <p:nvPr/>
        </p:nvSpPr>
        <p:spPr>
          <a:xfrm xmlns:a="http://schemas.openxmlformats.org/drawingml/2006/main">
            <a:off x="737870" y="3200400"/>
            <a:ext cx="130810" cy="647700"/>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6" name="!!overlap-solution-prefilter100">
            <a:extLst xmlns:a="http://schemas.openxmlformats.org/drawingml/2006/main">
              <a:ext uri="{FF2B5EF4-FFF2-40B4-BE49-F238E27FC236}">
                <a16:creationId xmlns:a16="http://schemas.microsoft.com/office/drawing/2014/main" id="{94A3B6A9-53E4-4E10-B371-F2D6A021346A}"/>
              </a:ext>
            </a:extLst>
          </p:cNvPr>
          <p:cNvSpPr>
            <a:spLocks xmlns:a="http://schemas.openxmlformats.org/drawingml/2006/main" noGrp="1"/>
          </p:cNvSpPr>
          <p:nvPr/>
        </p:nvSpPr>
        <p:spPr>
          <a:xfrm xmlns:a="http://schemas.openxmlformats.org/drawingml/2006/main">
            <a:off x="3055620" y="3200400"/>
            <a:ext cx="130810" cy="647700"/>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7" name="!!overlap-solution-prefilter-label">
            <a:extLst xmlns:a="http://schemas.openxmlformats.org/drawingml/2006/main">
              <a:ext uri="{FF2B5EF4-FFF2-40B4-BE49-F238E27FC236}">
                <a16:creationId xmlns:a16="http://schemas.microsoft.com/office/drawing/2014/main" id="{C29D3E38-0280-47C9-8C55-33712D7BCAE7}"/>
              </a:ext>
            </a:extLst>
          </p:cNvPr>
          <p:cNvSpPr>
            <a:spLocks xmlns:a="http://schemas.openxmlformats.org/drawingml/2006/main" noGrp="1"/>
          </p:cNvSpPr>
          <p:nvPr/>
        </p:nvSpPr>
        <p:spPr>
          <a:xfrm xmlns:a="http://schemas.openxmlformats.org/drawingml/2006/main">
            <a:off x="1762125" y="2619375"/>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BPF first</a:t>
            </a:r>
          </a:p>
        </p:txBody>
      </p:sp>
      <p:sp>
        <p:nvSpPr>
          <p:cNvPr id="38" name="!!overlap-solution-clean-1">
            <a:extLst xmlns:a="http://schemas.openxmlformats.org/drawingml/2006/main">
              <a:ext uri="{FF2B5EF4-FFF2-40B4-BE49-F238E27FC236}">
                <a16:creationId xmlns:a16="http://schemas.microsoft.com/office/drawing/2014/main" id="{3A33F9FB-9973-45BD-BB3C-BC60727337D4}"/>
              </a:ext>
            </a:extLst>
          </p:cNvPr>
          <p:cNvSpPr>
            <a:spLocks xmlns:a="http://schemas.openxmlformats.org/drawingml/2006/main" noGrp="1"/>
          </p:cNvSpPr>
          <p:nvPr/>
        </p:nvSpPr>
        <p:spPr>
          <a:xfrm xmlns:a="http://schemas.openxmlformats.org/drawingml/2006/main">
            <a:off x="568452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39" name="!!overlap-solution-clean1">
            <a:extLst xmlns:a="http://schemas.openxmlformats.org/drawingml/2006/main">
              <a:ext uri="{FF2B5EF4-FFF2-40B4-BE49-F238E27FC236}">
                <a16:creationId xmlns:a16="http://schemas.microsoft.com/office/drawing/2014/main" id="{A38A3012-DF1F-4AE6-BC9B-C07B5A8F652A}"/>
              </a:ext>
            </a:extLst>
          </p:cNvPr>
          <p:cNvSpPr>
            <a:spLocks xmlns:a="http://schemas.openxmlformats.org/drawingml/2006/main" noGrp="1"/>
          </p:cNvSpPr>
          <p:nvPr/>
        </p:nvSpPr>
        <p:spPr>
          <a:xfrm xmlns:a="http://schemas.openxmlformats.org/drawingml/2006/main">
            <a:off x="6148070" y="3548063"/>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40" name="!!overlap-solution-recovered">
            <a:extLst xmlns:a="http://schemas.openxmlformats.org/drawingml/2006/main">
              <a:ext uri="{FF2B5EF4-FFF2-40B4-BE49-F238E27FC236}">
                <a16:creationId xmlns:a16="http://schemas.microsoft.com/office/drawing/2014/main" id="{2D148F5C-9B37-4AF5-8967-D0B6D1A17AC0}"/>
              </a:ext>
            </a:extLst>
          </p:cNvPr>
          <p:cNvSpPr>
            <a:spLocks xmlns:a="http://schemas.openxmlformats.org/drawingml/2006/main" noGrp="1"/>
          </p:cNvSpPr>
          <p:nvPr/>
        </p:nvSpPr>
        <p:spPr>
          <a:xfrm xmlns:a="http://schemas.openxmlformats.org/drawingml/2006/main">
            <a:off x="9916795" y="3286125"/>
            <a:ext cx="92710" cy="523875"/>
          </a:xfrm>
          <a:custGeom xmlns:a="http://schemas.openxmlformats.org/drawingml/2006/main">
            <a:pathLst>
              <a:path w="92710" h="523875">
                <a:moveTo>
                  <a:pt x="0" y="523875"/>
                </a:moveTo>
                <a:lnTo>
                  <a:pt x="46355" y="0"/>
                </a:lnTo>
                <a:lnTo>
                  <a:pt x="92710" y="523875"/>
                </a:lnTo>
                <a:close/>
              </a:path>
            </a:pathLst>
          </a:custGeom>
          <a:solidFill xmlns:a="http://schemas.openxmlformats.org/drawingml/2006/main">
            <a:srgbClr val="535353"/>
          </a:solidFill>
          <a:ln xmlns:a="http://schemas.openxmlformats.org/drawingml/2006/main" w="10478">
            <a:solidFill>
              <a:srgbClr val="202020"/>
            </a:solidFill>
          </a:ln>
        </p:spPr>
      </p:sp>
      <p:pic>
        <p:nvPicPr>
          <p:cNvPr id="104" name="!!overlap-solution-route-m" descr="m,g">
            <ns0:hlinkClick xmlns:ns0="http://schemas.openxmlformats.org/drawingml/2006/main" xmlns:ns1="http://schemas.openxmlformats.org/officeDocument/2006/relationships" ns1:id="rIdmethods_Link5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9442c8d16d84794">
            <a:extLst>
              <a:ext uri="{96DAC541-7B7A-43D3-8B79-37D633B846F1}">
                <ns0:svgBlip xmlns:ns0="http://schemas.microsoft.com/office/drawing/2016/SVG/main" r:embed="rIdVectormf00313"/>
              </a:ext>
            </a:extLst>
          </a:blip>
          <a:stretch xmlns:a="http://schemas.openxmlformats.org/drawingml/2006/main"/>
        </p:blipFill>
        <p:spPr>
          <a:xfrm xmlns:a="http://schemas.openxmlformats.org/drawingml/2006/main">
            <a:off x="2231634" y="1261110"/>
            <a:ext cx="775482" cy="240030"/>
          </a:xfrm>
          <a:prstGeom xmlns:a="http://schemas.openxmlformats.org/drawingml/2006/main" prst="rect">
            <a:avLst/>
          </a:prstGeom>
        </p:spPr>
      </p:pic>
      <p:pic>
        <p:nvPicPr>
          <p:cNvPr id="105" name="!!overlap-solution-route-s" descr="s_1(t)">
            <ns0:hlinkClick xmlns:ns0="http://schemas.openxmlformats.org/drawingml/2006/main" xmlns:ns1="http://schemas.openxmlformats.org/officeDocument/2006/relationships" ns1:id="rIdmethods_Link60"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42257af3308461f">
            <a:extLst>
              <a:ext uri="{96DAC541-7B7A-43D3-8B79-37D633B846F1}">
                <ns1:svgBlip xmlns:ns1="http://schemas.microsoft.com/office/drawing/2016/SVG/main" r:embed="rIdVectormf00314"/>
              </a:ext>
            </a:extLst>
          </a:blip>
          <a:stretch xmlns:a="http://schemas.openxmlformats.org/drawingml/2006/main"/>
        </p:blipFill>
        <p:spPr>
          <a:xfrm xmlns:a="http://schemas.openxmlformats.org/drawingml/2006/main">
            <a:off x="5635943" y="1181100"/>
            <a:ext cx="920115" cy="400050"/>
          </a:xfrm>
          <a:prstGeom xmlns:a="http://schemas.openxmlformats.org/drawingml/2006/main" prst="rect">
            <a:avLst/>
          </a:prstGeom>
        </p:spPr>
      </p:pic>
      <p:pic>
        <p:nvPicPr>
          <p:cNvPr id="106" name="!!overlap-solution-route-restored" descr="m(t)">
            <ns0:hlinkClick xmlns:ns0="http://schemas.openxmlformats.org/drawingml/2006/main" xmlns:ns1="http://schemas.openxmlformats.org/officeDocument/2006/relationships" ns1:id="rIdmethods_Link6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c15daf37865749a6">
            <a:extLst>
              <a:ext uri="{96DAC541-7B7A-43D3-8B79-37D633B846F1}">
                <ns2:svgBlip xmlns:ns2="http://schemas.microsoft.com/office/drawing/2016/SVG/main" r:embed="rIdVectormf00315"/>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107" name="!!overlap-solution-givens" descr="f_{\ell}=80\ \mathrm{kHz},\qquad W=4\ \mathrm{kHz}"/>
          <p:cNvPicPr>
            <a:picLocks xmlns:a="http://schemas.openxmlformats.org/drawingml/2006/main" noChangeAspect="1"/>
          </p:cNvPicPr>
          <p:nvPr/>
        </p:nvPicPr>
        <p:blipFill>
          <a:blip xmlns:r="http://schemas.openxmlformats.org/officeDocument/2006/relationships" xmlns:a="http://schemas.openxmlformats.org/drawingml/2006/main" r:embed="R175dc398f2c94e82">
            <a:extLst>
              <a:ext uri="{96DAC541-7B7A-43D3-8B79-37D633B846F1}">
                <ns3:svgBlip xmlns:ns3="http://schemas.microsoft.com/office/drawing/2016/SVG/main" r:embed="rIdVectormf00316"/>
              </a:ext>
            </a:extLst>
          </a:blip>
          <a:stretch xmlns:a="http://schemas.openxmlformats.org/drawingml/2006/main"/>
        </p:blipFill>
        <p:spPr>
          <a:xfrm xmlns:a="http://schemas.openxmlformats.org/drawingml/2006/main">
            <a:off x="666750" y="2133451"/>
            <a:ext cx="3405188" cy="209848"/>
          </a:xfrm>
          <a:prstGeom xmlns:a="http://schemas.openxmlformats.org/drawingml/2006/main" prst="rect">
            <a:avLst/>
          </a:prstGeom>
        </p:spPr>
      </p:pic>
      <p:pic>
        <p:nvPicPr>
          <p:cNvPr id="108" name="!!overlap-solution-input-r0-domain" descr="f"/>
          <p:cNvPicPr>
            <a:picLocks xmlns:a="http://schemas.openxmlformats.org/drawingml/2006/main" noChangeAspect="1"/>
          </p:cNvPicPr>
          <p:nvPr/>
        </p:nvPicPr>
        <p:blipFill>
          <a:blip xmlns:r="http://schemas.openxmlformats.org/officeDocument/2006/relationships" xmlns:a="http://schemas.openxmlformats.org/drawingml/2006/main" r:embed="R21ce7438e4c64db6">
            <a:extLst>
              <a:ext uri="{96DAC541-7B7A-43D3-8B79-37D633B846F1}">
                <ns4:svgBlip xmlns:ns4="http://schemas.microsoft.com/office/drawing/2016/SVG/main" r:embed="rIdVectormf00317"/>
              </a:ext>
            </a:extLst>
          </a:blip>
          <a:stretch xmlns:a="http://schemas.openxmlformats.org/drawingml/2006/main"/>
        </p:blipFill>
        <p:spPr>
          <a:xfrm xmlns:a="http://schemas.openxmlformats.org/drawingml/2006/main">
            <a:off x="3374873" y="3597593"/>
            <a:ext cx="79678" cy="120015"/>
          </a:xfrm>
          <a:prstGeom xmlns:a="http://schemas.openxmlformats.org/drawingml/2006/main" prst="rect">
            <a:avLst/>
          </a:prstGeom>
        </p:spPr>
      </p:pic>
      <p:pic>
        <p:nvPicPr>
          <p:cNvPr id="109" name="!!overlap-solution-input-r0-ticklabel0" descr="-100"/>
          <p:cNvPicPr>
            <a:picLocks xmlns:a="http://schemas.openxmlformats.org/drawingml/2006/main" noChangeAspect="1"/>
          </p:cNvPicPr>
          <p:nvPr/>
        </p:nvPicPr>
        <p:blipFill>
          <a:blip xmlns:r="http://schemas.openxmlformats.org/officeDocument/2006/relationships" xmlns:a="http://schemas.openxmlformats.org/drawingml/2006/main" r:embed="Rb1da6adc764c4bac">
            <a:extLst>
              <a:ext uri="{96DAC541-7B7A-43D3-8B79-37D633B846F1}">
                <ns5:svgBlip xmlns:ns5="http://schemas.microsoft.com/office/drawing/2016/SVG/main" r:embed="rIdVectormf00318"/>
              </a:ext>
            </a:extLst>
          </a:blip>
          <a:stretch xmlns:a="http://schemas.openxmlformats.org/drawingml/2006/main"/>
        </p:blipFill>
        <p:spPr>
          <a:xfrm xmlns:a="http://schemas.openxmlformats.org/drawingml/2006/main">
            <a:off x="580390" y="3934599"/>
            <a:ext cx="445770" cy="131802"/>
          </a:xfrm>
          <a:prstGeom xmlns:a="http://schemas.openxmlformats.org/drawingml/2006/main" prst="rect">
            <a:avLst/>
          </a:prstGeom>
        </p:spPr>
      </p:pic>
      <p:pic>
        <p:nvPicPr>
          <p:cNvPr id="110" name="!!overlap-solution-input-r0-ticklabel1" descr="-60"/>
          <p:cNvPicPr>
            <a:picLocks xmlns:a="http://schemas.openxmlformats.org/drawingml/2006/main" noChangeAspect="1"/>
          </p:cNvPicPr>
          <p:nvPr/>
        </p:nvPicPr>
        <p:blipFill>
          <a:blip xmlns:r="http://schemas.openxmlformats.org/officeDocument/2006/relationships" xmlns:a="http://schemas.openxmlformats.org/drawingml/2006/main" r:embed="R63755696e44c402f">
            <a:extLst>
              <a:ext uri="{96DAC541-7B7A-43D3-8B79-37D633B846F1}">
                <ns6:svgBlip xmlns:ns6="http://schemas.microsoft.com/office/drawing/2016/SVG/main" r:embed="rIdVectormf00319"/>
              </a:ext>
            </a:extLst>
          </a:blip>
          <a:stretch xmlns:a="http://schemas.openxmlformats.org/drawingml/2006/main"/>
        </p:blipFill>
        <p:spPr>
          <a:xfrm xmlns:a="http://schemas.openxmlformats.org/drawingml/2006/main">
            <a:off x="1095375" y="3935135"/>
            <a:ext cx="342900" cy="130731"/>
          </a:xfrm>
          <a:prstGeom xmlns:a="http://schemas.openxmlformats.org/drawingml/2006/main" prst="rect">
            <a:avLst/>
          </a:prstGeom>
        </p:spPr>
      </p:pic>
      <p:pic>
        <p:nvPicPr>
          <p:cNvPr id="111" name="!!overlap-solution-input-r0-ticklabel2" descr="0"/>
          <p:cNvPicPr>
            <a:picLocks xmlns:a="http://schemas.openxmlformats.org/drawingml/2006/main" noChangeAspect="1"/>
          </p:cNvPicPr>
          <p:nvPr/>
        </p:nvPicPr>
        <p:blipFill>
          <a:blip xmlns:r="http://schemas.openxmlformats.org/officeDocument/2006/relationships" xmlns:a="http://schemas.openxmlformats.org/drawingml/2006/main" r:embed="Rb1b247ee60274906">
            <a:extLst>
              <a:ext uri="{96DAC541-7B7A-43D3-8B79-37D633B846F1}">
                <ns7:svgBlip xmlns:ns7="http://schemas.microsoft.com/office/drawing/2016/SVG/main" r:embed="rIdVectormf00320"/>
              </a:ext>
            </a:extLst>
          </a:blip>
          <a:stretch xmlns:a="http://schemas.openxmlformats.org/drawingml/2006/main"/>
        </p:blipFill>
        <p:spPr>
          <a:xfrm xmlns:a="http://schemas.openxmlformats.org/drawingml/2006/main">
            <a:off x="1916175" y="3949065"/>
            <a:ext cx="91951" cy="102870"/>
          </a:xfrm>
          <a:prstGeom xmlns:a="http://schemas.openxmlformats.org/drawingml/2006/main" prst="rect">
            <a:avLst/>
          </a:prstGeom>
        </p:spPr>
      </p:pic>
      <p:pic>
        <p:nvPicPr>
          <p:cNvPr id="112" name="!!overlap-solution-input-r0-ticklabel3" descr="60"/>
          <p:cNvPicPr>
            <a:picLocks xmlns:a="http://schemas.openxmlformats.org/drawingml/2006/main" noChangeAspect="1"/>
          </p:cNvPicPr>
          <p:nvPr/>
        </p:nvPicPr>
        <p:blipFill>
          <a:blip xmlns:r="http://schemas.openxmlformats.org/officeDocument/2006/relationships" xmlns:a="http://schemas.openxmlformats.org/drawingml/2006/main" r:embed="R914a0a330cca4dc8">
            <a:extLst>
              <a:ext uri="{96DAC541-7B7A-43D3-8B79-37D633B846F1}">
                <ns8:svgBlip xmlns:ns8="http://schemas.microsoft.com/office/drawing/2016/SVG/main" r:embed="rIdVectormf00321"/>
              </a:ext>
            </a:extLst>
          </a:blip>
          <a:stretch xmlns:a="http://schemas.openxmlformats.org/drawingml/2006/main"/>
        </p:blipFill>
        <p:spPr>
          <a:xfrm xmlns:a="http://schemas.openxmlformats.org/drawingml/2006/main">
            <a:off x="2565524" y="3949065"/>
            <a:ext cx="183902" cy="102870"/>
          </a:xfrm>
          <a:prstGeom xmlns:a="http://schemas.openxmlformats.org/drawingml/2006/main" prst="rect">
            <a:avLst/>
          </a:prstGeom>
        </p:spPr>
      </p:pic>
      <p:pic>
        <p:nvPicPr>
          <p:cNvPr id="113" name="!!overlap-solution-input-r0-ticklabel4" descr="100"/>
          <p:cNvPicPr>
            <a:picLocks xmlns:a="http://schemas.openxmlformats.org/drawingml/2006/main" noChangeAspect="1"/>
          </p:cNvPicPr>
          <p:nvPr/>
        </p:nvPicPr>
        <p:blipFill>
          <a:blip xmlns:r="http://schemas.openxmlformats.org/officeDocument/2006/relationships" xmlns:a="http://schemas.openxmlformats.org/drawingml/2006/main" r:embed="R1b1387536fde4beb">
            <a:extLst>
              <a:ext uri="{96DAC541-7B7A-43D3-8B79-37D633B846F1}">
                <ns9:svgBlip xmlns:ns9="http://schemas.microsoft.com/office/drawing/2016/SVG/main" r:embed="rIdVectormf00322"/>
              </a:ext>
            </a:extLst>
          </a:blip>
          <a:stretch xmlns:a="http://schemas.openxmlformats.org/drawingml/2006/main"/>
        </p:blipFill>
        <p:spPr>
          <a:xfrm xmlns:a="http://schemas.openxmlformats.org/drawingml/2006/main">
            <a:off x="2983865" y="3949065"/>
            <a:ext cx="274320" cy="102870"/>
          </a:xfrm>
          <a:prstGeom xmlns:a="http://schemas.openxmlformats.org/drawingml/2006/main" prst="rect">
            <a:avLst/>
          </a:prstGeom>
        </p:spPr>
      </p:pic>
      <p:pic>
        <p:nvPicPr>
          <p:cNvPr id="114" name="!!overlap-solution-input-r0-label" descr="\textstyle S_1(f)"/>
          <p:cNvPicPr>
            <a:picLocks xmlns:a="http://schemas.openxmlformats.org/drawingml/2006/main" noChangeAspect="1"/>
          </p:cNvPicPr>
          <p:nvPr/>
        </p:nvPicPr>
        <p:blipFill>
          <a:blip xmlns:r="http://schemas.openxmlformats.org/officeDocument/2006/relationships" xmlns:a="http://schemas.openxmlformats.org/drawingml/2006/main" r:embed="Re793f13c4561432b">
            <a:extLst>
              <a:ext uri="{96DAC541-7B7A-43D3-8B79-37D633B846F1}">
                <ns10:svgBlip xmlns:ns10="http://schemas.microsoft.com/office/drawing/2016/SVG/main" r:embed="rIdVectormf00323"/>
              </a:ext>
            </a:extLst>
          </a:blip>
          <a:stretch xmlns:a="http://schemas.openxmlformats.org/drawingml/2006/main"/>
        </p:blipFill>
        <p:spPr>
          <a:xfrm xmlns:a="http://schemas.openxmlformats.org/drawingml/2006/main">
            <a:off x="571500" y="2667000"/>
            <a:ext cx="523875" cy="209550"/>
          </a:xfrm>
          <a:prstGeom xmlns:a="http://schemas.openxmlformats.org/drawingml/2006/main" prst="rect">
            <a:avLst/>
          </a:prstGeom>
        </p:spPr>
      </p:pic>
      <p:pic>
        <p:nvPicPr>
          <p:cNvPr id="115" name="!!overlap-solution-after-r0-domain" descr="f"/>
          <p:cNvPicPr>
            <a:picLocks xmlns:a="http://schemas.openxmlformats.org/drawingml/2006/main" noChangeAspect="1"/>
          </p:cNvPicPr>
          <p:nvPr/>
        </p:nvPicPr>
        <p:blipFill>
          <a:blip xmlns:r="http://schemas.openxmlformats.org/officeDocument/2006/relationships" xmlns:a="http://schemas.openxmlformats.org/drawingml/2006/main" r:embed="R24264cc71a2248c7">
            <a:extLst>
              <a:ext uri="{96DAC541-7B7A-43D3-8B79-37D633B846F1}">
                <ns11:svgBlip xmlns:ns11="http://schemas.microsoft.com/office/drawing/2016/SVG/main" r:embed="rIdVectormf00324"/>
              </a:ext>
            </a:extLst>
          </a:blip>
          <a:stretch xmlns:a="http://schemas.openxmlformats.org/drawingml/2006/main"/>
        </p:blipFill>
        <p:spPr>
          <a:xfrm xmlns:a="http://schemas.openxmlformats.org/drawingml/2006/main">
            <a:off x="7375373" y="3597593"/>
            <a:ext cx="79678" cy="120015"/>
          </a:xfrm>
          <a:prstGeom xmlns:a="http://schemas.openxmlformats.org/drawingml/2006/main" prst="rect">
            <a:avLst/>
          </a:prstGeom>
        </p:spPr>
      </p:pic>
      <p:pic>
        <p:nvPicPr>
          <p:cNvPr id="116" name="!!overlap-solution-after-r0-ticklabel0" descr="-20"/>
          <p:cNvPicPr>
            <a:picLocks xmlns:a="http://schemas.openxmlformats.org/drawingml/2006/main" noChangeAspect="1"/>
          </p:cNvPicPr>
          <p:nvPr/>
        </p:nvPicPr>
        <p:blipFill>
          <a:blip xmlns:r="http://schemas.openxmlformats.org/officeDocument/2006/relationships" xmlns:a="http://schemas.openxmlformats.org/drawingml/2006/main" r:embed="Rb67d55c1d99f41eb">
            <a:extLst>
              <a:ext uri="{96DAC541-7B7A-43D3-8B79-37D633B846F1}">
                <ns12:svgBlip xmlns:ns12="http://schemas.microsoft.com/office/drawing/2016/SVG/main" r:embed="rIdVectormf00325"/>
              </a:ext>
            </a:extLst>
          </a:blip>
          <a:stretch xmlns:a="http://schemas.openxmlformats.org/drawingml/2006/main"/>
        </p:blipFill>
        <p:spPr>
          <a:xfrm xmlns:a="http://schemas.openxmlformats.org/drawingml/2006/main">
            <a:off x="5559425" y="3935135"/>
            <a:ext cx="342900" cy="130731"/>
          </a:xfrm>
          <a:prstGeom xmlns:a="http://schemas.openxmlformats.org/drawingml/2006/main" prst="rect">
            <a:avLst/>
          </a:prstGeom>
        </p:spPr>
      </p:pic>
      <p:pic>
        <p:nvPicPr>
          <p:cNvPr id="117" name="!!overlap-solution-after-r0-ticklabel1" descr="0"/>
          <p:cNvPicPr>
            <a:picLocks xmlns:a="http://schemas.openxmlformats.org/drawingml/2006/main" noChangeAspect="1"/>
          </p:cNvPicPr>
          <p:nvPr/>
        </p:nvPicPr>
        <p:blipFill>
          <a:blip xmlns:r="http://schemas.openxmlformats.org/officeDocument/2006/relationships" xmlns:a="http://schemas.openxmlformats.org/drawingml/2006/main" r:embed="R4cddb17d11d34b1a">
            <a:extLst>
              <a:ext uri="{96DAC541-7B7A-43D3-8B79-37D633B846F1}">
                <ns13:svgBlip xmlns:ns13="http://schemas.microsoft.com/office/drawing/2016/SVG/main" r:embed="rIdVectormf00326"/>
              </a:ext>
            </a:extLst>
          </a:blip>
          <a:stretch xmlns:a="http://schemas.openxmlformats.org/drawingml/2006/main"/>
        </p:blipFill>
        <p:spPr>
          <a:xfrm xmlns:a="http://schemas.openxmlformats.org/drawingml/2006/main">
            <a:off x="5916675" y="4149090"/>
            <a:ext cx="91951" cy="102870"/>
          </a:xfrm>
          <a:prstGeom xmlns:a="http://schemas.openxmlformats.org/drawingml/2006/main" prst="rect">
            <a:avLst/>
          </a:prstGeom>
        </p:spPr>
      </p:pic>
      <p:pic>
        <p:nvPicPr>
          <p:cNvPr id="118" name="!!overlap-solution-after-r0-ticklabel2" descr="20"/>
          <p:cNvPicPr>
            <a:picLocks xmlns:a="http://schemas.openxmlformats.org/drawingml/2006/main" noChangeAspect="1"/>
          </p:cNvPicPr>
          <p:nvPr/>
        </p:nvPicPr>
        <p:blipFill>
          <a:blip xmlns:r="http://schemas.openxmlformats.org/officeDocument/2006/relationships" xmlns:a="http://schemas.openxmlformats.org/drawingml/2006/main" r:embed="R26793de034754fac">
            <a:extLst>
              <a:ext uri="{96DAC541-7B7A-43D3-8B79-37D633B846F1}">
                <ns14:svgBlip xmlns:ns14="http://schemas.microsoft.com/office/drawing/2016/SVG/main" r:embed="rIdVectormf00327"/>
              </a:ext>
            </a:extLst>
          </a:blip>
          <a:stretch xmlns:a="http://schemas.openxmlformats.org/drawingml/2006/main"/>
        </p:blipFill>
        <p:spPr>
          <a:xfrm xmlns:a="http://schemas.openxmlformats.org/drawingml/2006/main">
            <a:off x="6102474" y="3949065"/>
            <a:ext cx="183902" cy="102870"/>
          </a:xfrm>
          <a:prstGeom xmlns:a="http://schemas.openxmlformats.org/drawingml/2006/main" prst="rect">
            <a:avLst/>
          </a:prstGeom>
        </p:spPr>
      </p:pic>
      <p:pic>
        <p:nvPicPr>
          <p:cNvPr id="119" name="!!overlap-solution-after-r0-label" descr="\textstyle S_2(f)"/>
          <p:cNvPicPr>
            <a:picLocks xmlns:a="http://schemas.openxmlformats.org/drawingml/2006/main" noChangeAspect="1"/>
          </p:cNvPicPr>
          <p:nvPr/>
        </p:nvPicPr>
        <p:blipFill>
          <a:blip xmlns:r="http://schemas.openxmlformats.org/officeDocument/2006/relationships" xmlns:a="http://schemas.openxmlformats.org/drawingml/2006/main" r:embed="R1c16cdee4bc94340">
            <a:extLst>
              <a:ext uri="{96DAC541-7B7A-43D3-8B79-37D633B846F1}">
                <ns15:svgBlip xmlns:ns15="http://schemas.microsoft.com/office/drawing/2016/SVG/main" r:embed="rIdVectormf00328"/>
              </a:ext>
            </a:extLst>
          </a:blip>
          <a:stretch xmlns:a="http://schemas.openxmlformats.org/drawingml/2006/main"/>
        </p:blipFill>
        <p:spPr>
          <a:xfrm xmlns:a="http://schemas.openxmlformats.org/drawingml/2006/main">
            <a:off x="4572000" y="2667000"/>
            <a:ext cx="523875" cy="209550"/>
          </a:xfrm>
          <a:prstGeom xmlns:a="http://schemas.openxmlformats.org/drawingml/2006/main" prst="rect">
            <a:avLst/>
          </a:prstGeom>
        </p:spPr>
      </p:pic>
      <p:pic>
        <p:nvPicPr>
          <p:cNvPr id="120" name="!!overlap-solution-out-r0-domain" descr="f"/>
          <p:cNvPicPr>
            <a:picLocks xmlns:a="http://schemas.openxmlformats.org/drawingml/2006/main" noChangeAspect="1"/>
          </p:cNvPicPr>
          <p:nvPr/>
        </p:nvPicPr>
        <p:blipFill>
          <a:blip xmlns:r="http://schemas.openxmlformats.org/officeDocument/2006/relationships" xmlns:a="http://schemas.openxmlformats.org/drawingml/2006/main" r:embed="R9ffae183c79f4ee4">
            <a:extLst>
              <a:ext uri="{96DAC541-7B7A-43D3-8B79-37D633B846F1}">
                <ns16:svgBlip xmlns:ns16="http://schemas.microsoft.com/office/drawing/2016/SVG/main" r:embed="rIdVectormf00329"/>
              </a:ext>
            </a:extLst>
          </a:blip>
          <a:stretch xmlns:a="http://schemas.openxmlformats.org/drawingml/2006/main"/>
        </p:blipFill>
        <p:spPr>
          <a:xfrm xmlns:a="http://schemas.openxmlformats.org/drawingml/2006/main">
            <a:off x="11375873" y="3597593"/>
            <a:ext cx="79678" cy="120015"/>
          </a:xfrm>
          <a:prstGeom xmlns:a="http://schemas.openxmlformats.org/drawingml/2006/main" prst="rect">
            <a:avLst/>
          </a:prstGeom>
        </p:spPr>
      </p:pic>
      <p:pic>
        <p:nvPicPr>
          <p:cNvPr id="121" name="!!overlap-solution-out-r0-ticklabel0" descr="0"/>
          <p:cNvPicPr>
            <a:picLocks xmlns:a="http://schemas.openxmlformats.org/drawingml/2006/main" noChangeAspect="1"/>
          </p:cNvPicPr>
          <p:nvPr/>
        </p:nvPicPr>
        <p:blipFill>
          <a:blip xmlns:r="http://schemas.openxmlformats.org/officeDocument/2006/relationships" xmlns:a="http://schemas.openxmlformats.org/drawingml/2006/main" r:embed="R9e3a6009191d4146">
            <a:extLst>
              <a:ext uri="{96DAC541-7B7A-43D3-8B79-37D633B846F1}">
                <ns17:svgBlip xmlns:ns17="http://schemas.microsoft.com/office/drawing/2016/SVG/main" r:embed="rIdVectormf00330"/>
              </a:ext>
            </a:extLst>
          </a:blip>
          <a:stretch xmlns:a="http://schemas.openxmlformats.org/drawingml/2006/main"/>
        </p:blipFill>
        <p:spPr>
          <a:xfrm xmlns:a="http://schemas.openxmlformats.org/drawingml/2006/main">
            <a:off x="9917175" y="3949065"/>
            <a:ext cx="91951" cy="102870"/>
          </a:xfrm>
          <a:prstGeom xmlns:a="http://schemas.openxmlformats.org/drawingml/2006/main" prst="rect">
            <a:avLst/>
          </a:prstGeom>
        </p:spPr>
      </p:pic>
      <p:pic>
        <p:nvPicPr>
          <p:cNvPr id="122" name="!!overlap-solution-out-r0-label" descr="\textstyle M(f)"/>
          <p:cNvPicPr>
            <a:picLocks xmlns:a="http://schemas.openxmlformats.org/drawingml/2006/main" noChangeAspect="1"/>
          </p:cNvPicPr>
          <p:nvPr/>
        </p:nvPicPr>
        <p:blipFill>
          <a:blip xmlns:r="http://schemas.openxmlformats.org/officeDocument/2006/relationships" xmlns:a="http://schemas.openxmlformats.org/drawingml/2006/main" r:embed="R05d7b263760345df">
            <a:extLst>
              <a:ext uri="{96DAC541-7B7A-43D3-8B79-37D633B846F1}">
                <ns18:svgBlip xmlns:ns18="http://schemas.microsoft.com/office/drawing/2016/SVG/main" r:embed="rIdVectormf00331"/>
              </a:ext>
            </a:extLst>
          </a:blip>
          <a:stretch xmlns:a="http://schemas.openxmlformats.org/drawingml/2006/main"/>
        </p:blipFill>
        <p:spPr>
          <a:xfrm xmlns:a="http://schemas.openxmlformats.org/drawingml/2006/main">
            <a:off x="8572500" y="2668965"/>
            <a:ext cx="502920" cy="205621"/>
          </a:xfrm>
          <a:prstGeom xmlns:a="http://schemas.openxmlformats.org/drawingml/2006/main" prst="rect">
            <a:avLst/>
          </a:prstGeom>
        </p:spPr>
      </p:pic>
      <p:pic>
        <p:nvPicPr>
          <p:cNvPr id="123" name="!!overlap-solution-dense-equation-0" descr="\textstyle s_1(t)=m(t)\cos(2\pi\cdot100{,}000t)+g(t)\cos(2\pi\cdot60{,}000t)"/>
          <p:cNvPicPr>
            <a:picLocks xmlns:a="http://schemas.openxmlformats.org/drawingml/2006/main" noChangeAspect="1"/>
          </p:cNvPicPr>
          <p:nvPr/>
        </p:nvPicPr>
        <p:blipFill>
          <a:blip xmlns:r="http://schemas.openxmlformats.org/officeDocument/2006/relationships" xmlns:a="http://schemas.openxmlformats.org/drawingml/2006/main" r:embed="R3267974d2e4f4d48">
            <a:extLst>
              <a:ext uri="{96DAC541-7B7A-43D3-8B79-37D633B846F1}">
                <ns19:svgBlip xmlns:ns19="http://schemas.microsoft.com/office/drawing/2016/SVG/main" r:embed="rIdVectormf00332"/>
              </a:ext>
            </a:extLst>
          </a:blip>
          <a:stretch xmlns:a="http://schemas.openxmlformats.org/drawingml/2006/main"/>
        </p:blipFill>
        <p:spPr>
          <a:xfrm xmlns:a="http://schemas.openxmlformats.org/drawingml/2006/main">
            <a:off x="609600" y="5034736"/>
            <a:ext cx="6587490" cy="246102"/>
          </a:xfrm>
          <a:prstGeom xmlns:a="http://schemas.openxmlformats.org/drawingml/2006/main" prst="rect">
            <a:avLst/>
          </a:prstGeom>
        </p:spPr>
      </p:pic>
      <p:pic>
        <p:nvPicPr>
          <p:cNvPr id="124" name="!!overlap-solution-dense-equation-1" descr="\textstyle s_{sel}(t)=\mathrm{BPF}\{s_1(t)\}=m(t)\cos(2\pi\cdot100{,}000t)"/>
          <p:cNvPicPr>
            <a:picLocks xmlns:a="http://schemas.openxmlformats.org/drawingml/2006/main" noChangeAspect="1"/>
          </p:cNvPicPr>
          <p:nvPr/>
        </p:nvPicPr>
        <p:blipFill>
          <a:blip xmlns:r="http://schemas.openxmlformats.org/officeDocument/2006/relationships" xmlns:a="http://schemas.openxmlformats.org/drawingml/2006/main" r:embed="Rcc21b4435cff4796">
            <a:extLst>
              <a:ext uri="{96DAC541-7B7A-43D3-8B79-37D633B846F1}">
                <ns20:svgBlip xmlns:ns20="http://schemas.microsoft.com/office/drawing/2016/SVG/main" r:embed="rIdVectormf00333"/>
              </a:ext>
            </a:extLst>
          </a:blip>
          <a:stretch xmlns:a="http://schemas.openxmlformats.org/drawingml/2006/main"/>
        </p:blipFill>
        <p:spPr>
          <a:xfrm xmlns:a="http://schemas.openxmlformats.org/drawingml/2006/main">
            <a:off x="609600" y="5425261"/>
            <a:ext cx="5646420" cy="246102"/>
          </a:xfrm>
          <a:prstGeom xmlns:a="http://schemas.openxmlformats.org/drawingml/2006/main" prst="rect">
            <a:avLst/>
          </a:prstGeom>
        </p:spPr>
      </p:pic>
      <p:pic>
        <p:nvPicPr>
          <p:cNvPr id="125" name="!!overlap-solution-dense-equation-2" descr="\textstyle s_2(t)=\mathrm{BPF}\{2s_{sel}(t)\cos(2\pi\cdot80{,}000t)\}=m(t)\cos(2\pi\cdot20{,}000t)"/>
          <p:cNvPicPr>
            <a:picLocks xmlns:a="http://schemas.openxmlformats.org/drawingml/2006/main" noChangeAspect="1"/>
          </p:cNvPicPr>
          <p:nvPr/>
        </p:nvPicPr>
        <p:blipFill>
          <a:blip xmlns:r="http://schemas.openxmlformats.org/officeDocument/2006/relationships" xmlns:a="http://schemas.openxmlformats.org/drawingml/2006/main" r:embed="R52038ef7cf6d4709">
            <a:extLst>
              <a:ext uri="{96DAC541-7B7A-43D3-8B79-37D633B846F1}">
                <ns21:svgBlip xmlns:ns21="http://schemas.microsoft.com/office/drawing/2016/SVG/main" r:embed="rIdVectormf00334"/>
              </a:ext>
            </a:extLst>
          </a:blip>
          <a:stretch xmlns:a="http://schemas.openxmlformats.org/drawingml/2006/main"/>
        </p:blipFill>
        <p:spPr>
          <a:xfrm xmlns:a="http://schemas.openxmlformats.org/drawingml/2006/main">
            <a:off x="609600" y="5815786"/>
            <a:ext cx="7701915" cy="246102"/>
          </a:xfrm>
          <a:prstGeom xmlns:a="http://schemas.openxmlformats.org/drawingml/2006/main" prst="rect">
            <a:avLst/>
          </a:prstGeom>
        </p:spPr>
      </p:pic>
      <p:pic>
        <p:nvPicPr>
          <p:cNvPr id="126" name="!!overlap-solution-dense-equation-3" descr="\textstyle \mathrm{LPF}\{2s_2(t)\cos(2\pi\cdot20{,}000t)\}=m(t)"/>
          <p:cNvPicPr>
            <a:picLocks xmlns:a="http://schemas.openxmlformats.org/drawingml/2006/main" noChangeAspect="1"/>
          </p:cNvPicPr>
          <p:nvPr/>
        </p:nvPicPr>
        <p:blipFill>
          <a:blip xmlns:r="http://schemas.openxmlformats.org/officeDocument/2006/relationships" xmlns:a="http://schemas.openxmlformats.org/drawingml/2006/main" r:embed="R487824d870c44c4a">
            <a:extLst>
              <a:ext uri="{96DAC541-7B7A-43D3-8B79-37D633B846F1}">
                <ns22:svgBlip xmlns:ns22="http://schemas.microsoft.com/office/drawing/2016/SVG/main" r:embed="rIdVectormf00335"/>
              </a:ext>
            </a:extLst>
          </a:blip>
          <a:stretch xmlns:a="http://schemas.openxmlformats.org/drawingml/2006/main"/>
        </p:blipFill>
        <p:spPr>
          <a:xfrm xmlns:a="http://schemas.openxmlformats.org/drawingml/2006/main">
            <a:off x="609600" y="6206311"/>
            <a:ext cx="4531995" cy="246102"/>
          </a:xfrm>
          <a:prstGeom xmlns:a="http://schemas.openxmlformats.org/drawingml/2006/main" prst="rect">
            <a:avLst/>
          </a:prstGeom>
        </p:spPr>
      </p:pic>
    </p:spTree>
    <p:extLst>
      <p:ext uri="{BB962C8B-B14F-4D97-AF65-F5344CB8AC3E}">
        <p14:creationId xmlns:p14="http://schemas.microsoft.com/office/powerpoint/2010/main" val="69957081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par>
                                <p:cTn id="8" presetID="10" presetClass="entr" presetSubtype="0"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400"/>
                                        <p:tgtEl>
                                          <p:spTgt spid="36"/>
                                        </p:tgtEl>
                                      </p:cBhvr>
                                    </p:animEffect>
                                  </p:childTnLst>
                                </p:cTn>
                              </p:par>
                              <p:par>
                                <p:cTn id="11" presetID="10"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400"/>
                                        <p:tgtEl>
                                          <p:spTgt spid="37"/>
                                        </p:tgtEl>
                                      </p:cBhvr>
                                    </p:animEffect>
                                  </p:childTnLst>
                                </p:cTn>
                              </p:par>
                              <p:par>
                                <p:cTn id="14" presetID="10" presetClass="entr" presetSubtype="0" fill="hold" nodeType="withEffect">
                                  <p:stCondLst>
                                    <p:cond delay="0"/>
                                  </p:stCondLst>
                                  <p:childTnLst>
                                    <p:set>
                                      <p:cBhvr>
                                        <p:cTn id="15" dur="1" fill="hold">
                                          <p:stCondLst>
                                            <p:cond delay="0"/>
                                          </p:stCondLst>
                                        </p:cTn>
                                        <p:tgtEl>
                                          <p:spTgt spid="124"/>
                                        </p:tgtEl>
                                        <p:attrNameLst>
                                          <p:attrName>style.visibility</p:attrName>
                                        </p:attrNameLst>
                                      </p:cBhvr>
                                      <p:to>
                                        <p:strVal val="visible"/>
                                      </p:to>
                                    </p:set>
                                    <p:animEffect transition="in" filter="fade">
                                      <p:cBhvr>
                                        <p:cTn id="16" dur="400"/>
                                        <p:tgtEl>
                                          <p:spTgt spid="1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200"/>
                                        <p:tgtEl>
                                          <p:spTgt spid="38"/>
                                        </p:tgtEl>
                                      </p:cBhvr>
                                    </p:animEffect>
                                    <p:animMotion origin="layout" pathEditMode="relative" path="M -0.40416667 0.00000000 L 0.00000000 0.00000000 E">
                                      <p:cBhvr>
                                        <p:cTn id="22" dur="700" fill="hold"/>
                                        <p:tgtEl>
                                          <p:spTgt spid="38"/>
                                        </p:tgtEl>
                                        <p:attrNameLst>
                                          <p:attrName>ppt_x</p:attrName>
                                          <p:attrName>ppt_y</p:attrName>
                                        </p:attrNameLst>
                                      </p:cBhvr>
                                    </p:animMotion>
                                  </p:childTnLst>
                                </p:cTn>
                              </p:par>
                              <p:par>
                                <p:cTn id="23" presetID="10"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200"/>
                                        <p:tgtEl>
                                          <p:spTgt spid="39"/>
                                        </p:tgtEl>
                                      </p:cBhvr>
                                    </p:animEffect>
                                    <p:animMotion origin="layout" pathEditMode="relative" path="M -0.25208333 0.00000000 L 0.00000000 0.00000000 E">
                                      <p:cBhvr>
                                        <p:cTn id="26" dur="700" fill="hold"/>
                                        <p:tgtEl>
                                          <p:spTgt spid="39"/>
                                        </p:tgtEl>
                                        <p:attrNameLst>
                                          <p:attrName>ppt_x</p:attrName>
                                          <p:attrName>ppt_y</p:attrName>
                                        </p:attrNameLst>
                                      </p:cBhvr>
                                    </p:animMotion>
                                  </p:childTnLst>
                                </p:cTn>
                              </p:par>
                              <p:par>
                                <p:cTn id="27" presetID="10" presetClass="entr" presetSubtype="0" fill="hold" nodeType="withEffect">
                                  <p:stCondLst>
                                    <p:cond delay="0"/>
                                  </p:stCondLst>
                                  <p:childTnLst>
                                    <p:set>
                                      <p:cBhvr>
                                        <p:cTn id="28" dur="1" fill="hold">
                                          <p:stCondLst>
                                            <p:cond delay="0"/>
                                          </p:stCondLst>
                                        </p:cTn>
                                        <p:tgtEl>
                                          <p:spTgt spid="125"/>
                                        </p:tgtEl>
                                        <p:attrNameLst>
                                          <p:attrName>style.visibility</p:attrName>
                                        </p:attrNameLst>
                                      </p:cBhvr>
                                      <p:to>
                                        <p:strVal val="visible"/>
                                      </p:to>
                                    </p:set>
                                    <p:animEffect transition="in" filter="fade">
                                      <p:cBhvr>
                                        <p:cTn id="29" dur="400"/>
                                        <p:tgtEl>
                                          <p:spTgt spid="12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400"/>
                                        <p:tgtEl>
                                          <p:spTgt spid="40"/>
                                        </p:tgtEl>
                                      </p:cBhvr>
                                    </p:animEffect>
                                  </p:childTnLst>
                                </p:cTn>
                              </p:par>
                              <p:par>
                                <p:cTn id="35" presetID="10" presetClass="entr" presetSubtype="0" fill="hold" nodeType="withEffect">
                                  <p:stCondLst>
                                    <p:cond delay="0"/>
                                  </p:stCondLst>
                                  <p:childTnLst>
                                    <p:set>
                                      <p:cBhvr>
                                        <p:cTn id="36" dur="1" fill="hold">
                                          <p:stCondLst>
                                            <p:cond delay="0"/>
                                          </p:stCondLst>
                                        </p:cTn>
                                        <p:tgtEl>
                                          <p:spTgt spid="126"/>
                                        </p:tgtEl>
                                        <p:attrNameLst>
                                          <p:attrName>style.visibility</p:attrName>
                                        </p:attrNameLst>
                                      </p:cBhvr>
                                      <p:to>
                                        <p:strVal val="visible"/>
                                      </p:to>
                                    </p:set>
                                    <p:animEffect transition="in" filter="fade">
                                      <p:cBhvr>
                                        <p:cTn id="37" dur="4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methods_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 name="!!receiver-flow-title">
            <ns0:hlinkClick xmlns:ns0="http://schemas.openxmlformats.org/drawingml/2006/main" xmlns:ns1="http://schemas.openxmlformats.org/officeDocument/2006/relationships" ns1:id="rIdmethods_Link62" action="ppaction://hlinksldjump"/>
            <a:extLst xmlns:a="http://schemas.openxmlformats.org/drawingml/2006/main">
              <a:ext uri="{FF2B5EF4-FFF2-40B4-BE49-F238E27FC236}">
                <a16:creationId xmlns:a16="http://schemas.microsoft.com/office/drawing/2014/main" id="{E00AD0EC-1472-4DF3-8686-F7E232044A14}"/>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62" action="ppaction://hlinksldjump"/>
              </a:rPr>
              <a:t>FDM</a:t>
            </a:r>
          </a:p>
        </p:txBody>
      </p:sp>
      <p:sp>
        <p:nvSpPr>
          <p:cNvPr id="2" name="!!receiver-flow-subtitle">
            <a:extLst xmlns:a="http://schemas.openxmlformats.org/drawingml/2006/main">
              <a:ext uri="{FF2B5EF4-FFF2-40B4-BE49-F238E27FC236}">
                <a16:creationId xmlns:a16="http://schemas.microsoft.com/office/drawing/2014/main" id="{7E42D2F1-6D44-45CD-AEE2-5C6C720DE831}"/>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Two modulated signals (application)</a:t>
            </a:r>
          </a:p>
        </p:txBody>
      </p:sp>
      <p:sp>
        <p:nvSpPr>
          <p:cNvPr id="3" name="!!receiver-flow-route-tx-line">
            <a:extLst xmlns:a="http://schemas.openxmlformats.org/drawingml/2006/main">
              <a:ext uri="{FF2B5EF4-FFF2-40B4-BE49-F238E27FC236}">
                <a16:creationId xmlns:a16="http://schemas.microsoft.com/office/drawing/2014/main" id="{019EA52B-A945-4903-BE29-B3B1D8821B4C}"/>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eceiver-flow-route-tx-head">
            <a:extLst xmlns:a="http://schemas.openxmlformats.org/drawingml/2006/main">
              <a:ext uri="{FF2B5EF4-FFF2-40B4-BE49-F238E27FC236}">
                <a16:creationId xmlns:a16="http://schemas.microsoft.com/office/drawing/2014/main" id="{73306CF5-1350-41E9-AAFF-3C85AE48ADF4}"/>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eceiver-flow-route-rx-line">
            <a:extLst xmlns:a="http://schemas.openxmlformats.org/drawingml/2006/main">
              <a:ext uri="{FF2B5EF4-FFF2-40B4-BE49-F238E27FC236}">
                <a16:creationId xmlns:a16="http://schemas.microsoft.com/office/drawing/2014/main" id="{1A74380E-DF89-42E8-B165-ADF0CABC08EC}"/>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eceiver-flow-route-rx-head">
            <a:extLst xmlns:a="http://schemas.openxmlformats.org/drawingml/2006/main">
              <a:ext uri="{FF2B5EF4-FFF2-40B4-BE49-F238E27FC236}">
                <a16:creationId xmlns:a16="http://schemas.microsoft.com/office/drawing/2014/main" id="{AC9CAAE1-0EE8-4ED4-9514-BDA31DF272C3}"/>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eceiver-flow-receiver-name">
            <a:extLst xmlns:a="http://schemas.openxmlformats.org/drawingml/2006/main">
              <a:ext uri="{FF2B5EF4-FFF2-40B4-BE49-F238E27FC236}">
                <a16:creationId xmlns:a16="http://schemas.microsoft.com/office/drawing/2014/main" id="{70543055-B922-48A0-9DEB-36431184FB36}"/>
              </a:ext>
            </a:extLst>
          </p:cNvPr>
          <p:cNvSpPr>
            <a:spLocks xmlns:a="http://schemas.openxmlformats.org/drawingml/2006/main" noGrp="1"/>
          </p:cNvSpPr>
          <p:nvPr/>
        </p:nvSpPr>
        <p:spPr>
          <a:xfrm xmlns:a="http://schemas.openxmlformats.org/drawingml/2006/main">
            <a:off x="666750" y="18764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Superheterodyne receiver</a:t>
            </a:r>
          </a:p>
        </p:txBody>
      </p:sp>
      <p:sp>
        <p:nvSpPr>
          <p:cNvPr id="8" name="!!receiver-flow-block0">
            <a:extLst xmlns:a="http://schemas.openxmlformats.org/drawingml/2006/main">
              <a:ext uri="{FF2B5EF4-FFF2-40B4-BE49-F238E27FC236}">
                <a16:creationId xmlns:a16="http://schemas.microsoft.com/office/drawing/2014/main" id="{32B8EC76-9C63-4CFC-BCCE-6FD8480EBC46}"/>
              </a:ext>
            </a:extLst>
          </p:cNvPr>
          <p:cNvSpPr>
            <a:spLocks xmlns:a="http://schemas.openxmlformats.org/drawingml/2006/main" noGrp="1"/>
          </p:cNvSpPr>
          <p:nvPr/>
        </p:nvSpPr>
        <p:spPr>
          <a:xfrm xmlns:a="http://schemas.openxmlformats.org/drawingml/2006/main">
            <a:off x="666750" y="2381250"/>
            <a:ext cx="2238375" cy="400050"/>
          </a:xfrm>
          <a:prstGeom xmlns:a="http://schemas.openxmlformats.org/drawingml/2006/main" prst="rect">
            <a:avLst/>
          </a:prstGeom>
          <a:noFill xmlns:a="http://schemas.openxmlformats.org/drawingml/2006/main"/>
          <a:ln xmlns:a="http://schemas.openxmlformats.org/drawingml/2006/main" w="13335">
            <a:solidFill>
              <a:srgbClr val="555555"/>
            </a:solidFill>
          </a:ln>
        </p:spPr>
      </p:sp>
      <p:sp>
        <p:nvSpPr>
          <p:cNvPr id="9" name="!!receiver-flow-block-name0">
            <a:extLst xmlns:a="http://schemas.openxmlformats.org/drawingml/2006/main">
              <a:ext uri="{FF2B5EF4-FFF2-40B4-BE49-F238E27FC236}">
                <a16:creationId xmlns:a16="http://schemas.microsoft.com/office/drawing/2014/main" id="{836420A0-2CC0-4B01-95BE-B61B5AA79F90}"/>
              </a:ext>
            </a:extLst>
          </p:cNvPr>
          <p:cNvSpPr>
            <a:spLocks xmlns:a="http://schemas.openxmlformats.org/drawingml/2006/main" noGrp="1"/>
          </p:cNvSpPr>
          <p:nvPr/>
        </p:nvSpPr>
        <p:spPr>
          <a:xfrm xmlns:a="http://schemas.openxmlformats.org/drawingml/2006/main">
            <a:off x="714375" y="2428875"/>
            <a:ext cx="2143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RF filter</a:t>
            </a:r>
          </a:p>
        </p:txBody>
      </p:sp>
      <p:sp>
        <p:nvSpPr>
          <p:cNvPr id="10" name="!!receiver-flow-block-arrow0-line">
            <a:extLst xmlns:a="http://schemas.openxmlformats.org/drawingml/2006/main">
              <a:ext uri="{FF2B5EF4-FFF2-40B4-BE49-F238E27FC236}">
                <a16:creationId xmlns:a16="http://schemas.microsoft.com/office/drawing/2014/main" id="{6D3F85F9-EB4B-44FB-96D1-13FFDE0B5742}"/>
              </a:ext>
            </a:extLst>
          </p:cNvPr>
          <p:cNvSpPr>
            <a:spLocks xmlns:a="http://schemas.openxmlformats.org/drawingml/2006/main" noGrp="1"/>
          </p:cNvSpPr>
          <p:nvPr/>
        </p:nvSpPr>
        <p:spPr>
          <a:xfrm xmlns:a="http://schemas.openxmlformats.org/drawingml/2006/main">
            <a:off x="2905125" y="2581275"/>
            <a:ext cx="42862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1" name="!!receiver-flow-block-arrow0-head">
            <a:extLst xmlns:a="http://schemas.openxmlformats.org/drawingml/2006/main">
              <a:ext uri="{FF2B5EF4-FFF2-40B4-BE49-F238E27FC236}">
                <a16:creationId xmlns:a16="http://schemas.microsoft.com/office/drawing/2014/main" id="{401E62AD-9A1D-45B4-A05B-005E59780510}"/>
              </a:ext>
            </a:extLst>
          </p:cNvPr>
          <p:cNvSpPr>
            <a:spLocks xmlns:a="http://schemas.openxmlformats.org/drawingml/2006/main" noGrp="1"/>
          </p:cNvSpPr>
          <p:nvPr/>
        </p:nvSpPr>
        <p:spPr>
          <a:xfrm xmlns:a="http://schemas.openxmlformats.org/drawingml/2006/main" rot="5400000">
            <a:off x="3314700" y="25336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2" name="!!receiver-flow-block1">
            <a:extLst xmlns:a="http://schemas.openxmlformats.org/drawingml/2006/main">
              <a:ext uri="{FF2B5EF4-FFF2-40B4-BE49-F238E27FC236}">
                <a16:creationId xmlns:a16="http://schemas.microsoft.com/office/drawing/2014/main" id="{6F905F4B-85D5-4943-A705-68D144FA18F3}"/>
              </a:ext>
            </a:extLst>
          </p:cNvPr>
          <p:cNvSpPr>
            <a:spLocks xmlns:a="http://schemas.openxmlformats.org/drawingml/2006/main" noGrp="1"/>
          </p:cNvSpPr>
          <p:nvPr/>
        </p:nvSpPr>
        <p:spPr>
          <a:xfrm xmlns:a="http://schemas.openxmlformats.org/drawingml/2006/main">
            <a:off x="3429000" y="2381250"/>
            <a:ext cx="2238375" cy="400050"/>
          </a:xfrm>
          <a:prstGeom xmlns:a="http://schemas.openxmlformats.org/drawingml/2006/main" prst="rect">
            <a:avLst/>
          </a:prstGeom>
          <a:noFill xmlns:a="http://schemas.openxmlformats.org/drawingml/2006/main"/>
          <a:ln xmlns:a="http://schemas.openxmlformats.org/drawingml/2006/main" w="13335">
            <a:solidFill>
              <a:srgbClr val="555555"/>
            </a:solidFill>
          </a:ln>
        </p:spPr>
      </p:sp>
      <p:sp>
        <p:nvSpPr>
          <p:cNvPr id="13" name="!!receiver-flow-block-name1">
            <a:extLst xmlns:a="http://schemas.openxmlformats.org/drawingml/2006/main">
              <a:ext uri="{FF2B5EF4-FFF2-40B4-BE49-F238E27FC236}">
                <a16:creationId xmlns:a16="http://schemas.microsoft.com/office/drawing/2014/main" id="{88AC9972-F6D1-4494-8FA2-4EA059ADD345}"/>
              </a:ext>
            </a:extLst>
          </p:cNvPr>
          <p:cNvSpPr>
            <a:spLocks xmlns:a="http://schemas.openxmlformats.org/drawingml/2006/main" noGrp="1"/>
          </p:cNvSpPr>
          <p:nvPr/>
        </p:nvSpPr>
        <p:spPr>
          <a:xfrm xmlns:a="http://schemas.openxmlformats.org/drawingml/2006/main">
            <a:off x="3476625" y="2428875"/>
            <a:ext cx="2143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Mixer</a:t>
            </a:r>
          </a:p>
        </p:txBody>
      </p:sp>
      <p:sp>
        <p:nvSpPr>
          <p:cNvPr id="14" name="!!receiver-flow-block-arrow1-line">
            <a:extLst xmlns:a="http://schemas.openxmlformats.org/drawingml/2006/main">
              <a:ext uri="{FF2B5EF4-FFF2-40B4-BE49-F238E27FC236}">
                <a16:creationId xmlns:a16="http://schemas.microsoft.com/office/drawing/2014/main" id="{48F92C18-5C61-49AA-8090-CCF65ED45486}"/>
              </a:ext>
            </a:extLst>
          </p:cNvPr>
          <p:cNvSpPr>
            <a:spLocks xmlns:a="http://schemas.openxmlformats.org/drawingml/2006/main" noGrp="1"/>
          </p:cNvSpPr>
          <p:nvPr/>
        </p:nvSpPr>
        <p:spPr>
          <a:xfrm xmlns:a="http://schemas.openxmlformats.org/drawingml/2006/main">
            <a:off x="5667375" y="2581275"/>
            <a:ext cx="42862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5" name="!!receiver-flow-block-arrow1-head">
            <a:extLst xmlns:a="http://schemas.openxmlformats.org/drawingml/2006/main">
              <a:ext uri="{FF2B5EF4-FFF2-40B4-BE49-F238E27FC236}">
                <a16:creationId xmlns:a16="http://schemas.microsoft.com/office/drawing/2014/main" id="{BFD736D8-F276-4D0E-9C5D-4CFCD3BC9D3A}"/>
              </a:ext>
            </a:extLst>
          </p:cNvPr>
          <p:cNvSpPr>
            <a:spLocks xmlns:a="http://schemas.openxmlformats.org/drawingml/2006/main" noGrp="1"/>
          </p:cNvSpPr>
          <p:nvPr/>
        </p:nvSpPr>
        <p:spPr>
          <a:xfrm xmlns:a="http://schemas.openxmlformats.org/drawingml/2006/main" rot="5400000">
            <a:off x="6076950" y="25336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6" name="!!receiver-flow-block2">
            <a:extLst xmlns:a="http://schemas.openxmlformats.org/drawingml/2006/main">
              <a:ext uri="{FF2B5EF4-FFF2-40B4-BE49-F238E27FC236}">
                <a16:creationId xmlns:a16="http://schemas.microsoft.com/office/drawing/2014/main" id="{1139222C-5F27-447F-A06A-28E554C57F4C}"/>
              </a:ext>
            </a:extLst>
          </p:cNvPr>
          <p:cNvSpPr>
            <a:spLocks xmlns:a="http://schemas.openxmlformats.org/drawingml/2006/main" noGrp="1"/>
          </p:cNvSpPr>
          <p:nvPr/>
        </p:nvSpPr>
        <p:spPr>
          <a:xfrm xmlns:a="http://schemas.openxmlformats.org/drawingml/2006/main">
            <a:off x="6191250" y="2381250"/>
            <a:ext cx="2238375" cy="400050"/>
          </a:xfrm>
          <a:prstGeom xmlns:a="http://schemas.openxmlformats.org/drawingml/2006/main" prst="rect">
            <a:avLst/>
          </a:prstGeom>
          <a:noFill xmlns:a="http://schemas.openxmlformats.org/drawingml/2006/main"/>
          <a:ln xmlns:a="http://schemas.openxmlformats.org/drawingml/2006/main" w="13335">
            <a:solidFill>
              <a:srgbClr val="555555"/>
            </a:solidFill>
          </a:ln>
        </p:spPr>
      </p:sp>
      <p:sp>
        <p:nvSpPr>
          <p:cNvPr id="17" name="!!receiver-flow-block-name2">
            <a:extLst xmlns:a="http://schemas.openxmlformats.org/drawingml/2006/main">
              <a:ext uri="{FF2B5EF4-FFF2-40B4-BE49-F238E27FC236}">
                <a16:creationId xmlns:a16="http://schemas.microsoft.com/office/drawing/2014/main" id="{48F9D1E6-7522-4390-BAAA-C7ACBA3FF2AB}"/>
              </a:ext>
            </a:extLst>
          </p:cNvPr>
          <p:cNvSpPr>
            <a:spLocks xmlns:a="http://schemas.openxmlformats.org/drawingml/2006/main" noGrp="1"/>
          </p:cNvSpPr>
          <p:nvPr/>
        </p:nvSpPr>
        <p:spPr>
          <a:xfrm xmlns:a="http://schemas.openxmlformats.org/drawingml/2006/main">
            <a:off x="6238875" y="2428875"/>
            <a:ext cx="2143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IF filter</a:t>
            </a:r>
          </a:p>
        </p:txBody>
      </p:sp>
      <p:sp>
        <p:nvSpPr>
          <p:cNvPr id="18" name="!!receiver-flow-block-arrow2-line">
            <a:extLst xmlns:a="http://schemas.openxmlformats.org/drawingml/2006/main">
              <a:ext uri="{FF2B5EF4-FFF2-40B4-BE49-F238E27FC236}">
                <a16:creationId xmlns:a16="http://schemas.microsoft.com/office/drawing/2014/main" id="{97C0BBB9-7A87-48C5-908A-2604AF499AB7}"/>
              </a:ext>
            </a:extLst>
          </p:cNvPr>
          <p:cNvSpPr>
            <a:spLocks xmlns:a="http://schemas.openxmlformats.org/drawingml/2006/main" noGrp="1"/>
          </p:cNvSpPr>
          <p:nvPr/>
        </p:nvSpPr>
        <p:spPr>
          <a:xfrm xmlns:a="http://schemas.openxmlformats.org/drawingml/2006/main">
            <a:off x="8429625" y="2581275"/>
            <a:ext cx="42862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receiver-flow-block-arrow2-head">
            <a:extLst xmlns:a="http://schemas.openxmlformats.org/drawingml/2006/main">
              <a:ext uri="{FF2B5EF4-FFF2-40B4-BE49-F238E27FC236}">
                <a16:creationId xmlns:a16="http://schemas.microsoft.com/office/drawing/2014/main" id="{7060559E-BE34-4587-804D-1DBF4CC18DD4}"/>
              </a:ext>
            </a:extLst>
          </p:cNvPr>
          <p:cNvSpPr>
            <a:spLocks xmlns:a="http://schemas.openxmlformats.org/drawingml/2006/main" noGrp="1"/>
          </p:cNvSpPr>
          <p:nvPr/>
        </p:nvSpPr>
        <p:spPr>
          <a:xfrm xmlns:a="http://schemas.openxmlformats.org/drawingml/2006/main" rot="5400000">
            <a:off x="8839200" y="25336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0" name="!!receiver-flow-block3">
            <a:extLst xmlns:a="http://schemas.openxmlformats.org/drawingml/2006/main">
              <a:ext uri="{FF2B5EF4-FFF2-40B4-BE49-F238E27FC236}">
                <a16:creationId xmlns:a16="http://schemas.microsoft.com/office/drawing/2014/main" id="{D559E586-335A-48B2-96FA-BF68FA4C50D5}"/>
              </a:ext>
            </a:extLst>
          </p:cNvPr>
          <p:cNvSpPr>
            <a:spLocks xmlns:a="http://schemas.openxmlformats.org/drawingml/2006/main" noGrp="1"/>
          </p:cNvSpPr>
          <p:nvPr/>
        </p:nvSpPr>
        <p:spPr>
          <a:xfrm xmlns:a="http://schemas.openxmlformats.org/drawingml/2006/main">
            <a:off x="8953500" y="2381250"/>
            <a:ext cx="2238375" cy="400050"/>
          </a:xfrm>
          <a:prstGeom xmlns:a="http://schemas.openxmlformats.org/drawingml/2006/main" prst="rect">
            <a:avLst/>
          </a:prstGeom>
          <a:noFill xmlns:a="http://schemas.openxmlformats.org/drawingml/2006/main"/>
          <a:ln xmlns:a="http://schemas.openxmlformats.org/drawingml/2006/main" w="13335">
            <a:solidFill>
              <a:srgbClr val="555555"/>
            </a:solidFill>
          </a:ln>
        </p:spPr>
      </p:sp>
      <p:sp>
        <p:nvSpPr>
          <p:cNvPr id="21" name="!!receiver-flow-block-name3">
            <a:extLst xmlns:a="http://schemas.openxmlformats.org/drawingml/2006/main">
              <a:ext uri="{FF2B5EF4-FFF2-40B4-BE49-F238E27FC236}">
                <a16:creationId xmlns:a16="http://schemas.microsoft.com/office/drawing/2014/main" id="{A01AE5A1-C388-48A7-83BE-3C92BA4CD223}"/>
              </a:ext>
            </a:extLst>
          </p:cNvPr>
          <p:cNvSpPr>
            <a:spLocks xmlns:a="http://schemas.openxmlformats.org/drawingml/2006/main" noGrp="1"/>
          </p:cNvSpPr>
          <p:nvPr/>
        </p:nvSpPr>
        <p:spPr>
          <a:xfrm xmlns:a="http://schemas.openxmlformats.org/drawingml/2006/main">
            <a:off x="9001125" y="2428875"/>
            <a:ext cx="2143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Demodulator</a:t>
            </a:r>
          </a:p>
        </p:txBody>
      </p:sp>
      <p:sp>
        <p:nvSpPr>
          <p:cNvPr id="22" name="!!receiver-flow-rf-r0-axis-line">
            <a:extLst xmlns:a="http://schemas.openxmlformats.org/drawingml/2006/main">
              <a:ext uri="{FF2B5EF4-FFF2-40B4-BE49-F238E27FC236}">
                <a16:creationId xmlns:a16="http://schemas.microsoft.com/office/drawing/2014/main" id="{25AC9003-B02A-4EEB-BE53-712A574BE0D1}"/>
              </a:ext>
            </a:extLst>
          </p:cNvPr>
          <p:cNvSpPr>
            <a:spLocks xmlns:a="http://schemas.openxmlformats.org/drawingml/2006/main" noGrp="1"/>
          </p:cNvSpPr>
          <p:nvPr/>
        </p:nvSpPr>
        <p:spPr>
          <a:xfrm xmlns:a="http://schemas.openxmlformats.org/drawingml/2006/main">
            <a:off x="571500" y="40290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receiver-flow-rf-r0-axis-head">
            <a:extLst xmlns:a="http://schemas.openxmlformats.org/drawingml/2006/main">
              <a:ext uri="{FF2B5EF4-FFF2-40B4-BE49-F238E27FC236}">
                <a16:creationId xmlns:a16="http://schemas.microsoft.com/office/drawing/2014/main" id="{663B69A2-BBC9-4E32-90E3-3B285D47389B}"/>
              </a:ext>
            </a:extLst>
          </p:cNvPr>
          <p:cNvSpPr>
            <a:spLocks xmlns:a="http://schemas.openxmlformats.org/drawingml/2006/main" noGrp="1"/>
          </p:cNvSpPr>
          <p:nvPr/>
        </p:nvSpPr>
        <p:spPr>
          <a:xfrm xmlns:a="http://schemas.openxmlformats.org/drawingml/2006/main" rot="5400000">
            <a:off x="3238500" y="39814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receiver-flow-rf-r0-tick0">
            <a:extLst xmlns:a="http://schemas.openxmlformats.org/drawingml/2006/main">
              <a:ext uri="{FF2B5EF4-FFF2-40B4-BE49-F238E27FC236}">
                <a16:creationId xmlns:a16="http://schemas.microsoft.com/office/drawing/2014/main" id="{CFA9EA2A-F9E7-4C01-9BF6-84F6318ED1F1}"/>
              </a:ext>
            </a:extLst>
          </p:cNvPr>
          <p:cNvSpPr>
            <a:spLocks xmlns:a="http://schemas.openxmlformats.org/drawingml/2006/main" noGrp="1"/>
          </p:cNvSpPr>
          <p:nvPr/>
        </p:nvSpPr>
        <p:spPr>
          <a:xfrm xmlns:a="http://schemas.openxmlformats.org/drawingml/2006/main">
            <a:off x="803275"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receiver-flow-rf-r0-tick1">
            <a:extLst xmlns:a="http://schemas.openxmlformats.org/drawingml/2006/main">
              <a:ext uri="{FF2B5EF4-FFF2-40B4-BE49-F238E27FC236}">
                <a16:creationId xmlns:a16="http://schemas.microsoft.com/office/drawing/2014/main" id="{106DFD4D-6951-4B9F-BFCB-C8DA2D1FE7FB}"/>
              </a:ext>
            </a:extLst>
          </p:cNvPr>
          <p:cNvSpPr>
            <a:spLocks xmlns:a="http://schemas.openxmlformats.org/drawingml/2006/main" noGrp="1"/>
          </p:cNvSpPr>
          <p:nvPr/>
        </p:nvSpPr>
        <p:spPr>
          <a:xfrm xmlns:a="http://schemas.openxmlformats.org/drawingml/2006/main">
            <a:off x="1266825"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receiver-flow-rf-r0-tick2">
            <a:extLst xmlns:a="http://schemas.openxmlformats.org/drawingml/2006/main">
              <a:ext uri="{FF2B5EF4-FFF2-40B4-BE49-F238E27FC236}">
                <a16:creationId xmlns:a16="http://schemas.microsoft.com/office/drawing/2014/main" id="{EEAD4664-D853-4189-A551-B4B3999E50A8}"/>
              </a:ext>
            </a:extLst>
          </p:cNvPr>
          <p:cNvSpPr>
            <a:spLocks xmlns:a="http://schemas.openxmlformats.org/drawingml/2006/main" noGrp="1"/>
          </p:cNvSpPr>
          <p:nvPr/>
        </p:nvSpPr>
        <p:spPr>
          <a:xfrm xmlns:a="http://schemas.openxmlformats.org/drawingml/2006/main">
            <a:off x="1962150"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receiver-flow-rf-r0-tick3">
            <a:extLst xmlns:a="http://schemas.openxmlformats.org/drawingml/2006/main">
              <a:ext uri="{FF2B5EF4-FFF2-40B4-BE49-F238E27FC236}">
                <a16:creationId xmlns:a16="http://schemas.microsoft.com/office/drawing/2014/main" id="{EF930ED6-A994-4A1A-923B-4EDC82B4BA40}"/>
              </a:ext>
            </a:extLst>
          </p:cNvPr>
          <p:cNvSpPr>
            <a:spLocks xmlns:a="http://schemas.openxmlformats.org/drawingml/2006/main" noGrp="1"/>
          </p:cNvSpPr>
          <p:nvPr/>
        </p:nvSpPr>
        <p:spPr>
          <a:xfrm xmlns:a="http://schemas.openxmlformats.org/drawingml/2006/main">
            <a:off x="2657475"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receiver-flow-rf-r0-tick4">
            <a:extLst xmlns:a="http://schemas.openxmlformats.org/drawingml/2006/main">
              <a:ext uri="{FF2B5EF4-FFF2-40B4-BE49-F238E27FC236}">
                <a16:creationId xmlns:a16="http://schemas.microsoft.com/office/drawing/2014/main" id="{6B0CD5E8-413E-4267-93A4-8CAEF9ADDEE6}"/>
              </a:ext>
            </a:extLst>
          </p:cNvPr>
          <p:cNvSpPr>
            <a:spLocks xmlns:a="http://schemas.openxmlformats.org/drawingml/2006/main" noGrp="1"/>
          </p:cNvSpPr>
          <p:nvPr/>
        </p:nvSpPr>
        <p:spPr>
          <a:xfrm xmlns:a="http://schemas.openxmlformats.org/drawingml/2006/main">
            <a:off x="3121025"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receiver-flow-rf-wantedn">
            <a:extLst xmlns:a="http://schemas.openxmlformats.org/drawingml/2006/main">
              <a:ext uri="{FF2B5EF4-FFF2-40B4-BE49-F238E27FC236}">
                <a16:creationId xmlns:a16="http://schemas.microsoft.com/office/drawing/2014/main" id="{948978A0-E057-406E-AE29-8FCD9C23991C}"/>
              </a:ext>
            </a:extLst>
          </p:cNvPr>
          <p:cNvSpPr>
            <a:spLocks xmlns:a="http://schemas.openxmlformats.org/drawingml/2006/main" noGrp="1"/>
          </p:cNvSpPr>
          <p:nvPr/>
        </p:nvSpPr>
        <p:spPr>
          <a:xfrm xmlns:a="http://schemas.openxmlformats.org/drawingml/2006/main">
            <a:off x="756920" y="3767138"/>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30" name="!!receiver-flow-rf-wantedp">
            <a:extLst xmlns:a="http://schemas.openxmlformats.org/drawingml/2006/main">
              <a:ext uri="{FF2B5EF4-FFF2-40B4-BE49-F238E27FC236}">
                <a16:creationId xmlns:a16="http://schemas.microsoft.com/office/drawing/2014/main" id="{CAADE394-A80C-443C-BAEB-02280F89828F}"/>
              </a:ext>
            </a:extLst>
          </p:cNvPr>
          <p:cNvSpPr>
            <a:spLocks xmlns:a="http://schemas.openxmlformats.org/drawingml/2006/main" noGrp="1"/>
          </p:cNvSpPr>
          <p:nvPr/>
        </p:nvSpPr>
        <p:spPr>
          <a:xfrm xmlns:a="http://schemas.openxmlformats.org/drawingml/2006/main">
            <a:off x="3074670" y="3767138"/>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31" name="!!receiver-flow-rf-othern">
            <a:extLst xmlns:a="http://schemas.openxmlformats.org/drawingml/2006/main">
              <a:ext uri="{FF2B5EF4-FFF2-40B4-BE49-F238E27FC236}">
                <a16:creationId xmlns:a16="http://schemas.microsoft.com/office/drawing/2014/main" id="{6A8A75E7-23C6-4CF9-9508-EC16FC416682}"/>
              </a:ext>
            </a:extLst>
          </p:cNvPr>
          <p:cNvSpPr>
            <a:spLocks xmlns:a="http://schemas.openxmlformats.org/drawingml/2006/main" noGrp="1"/>
          </p:cNvSpPr>
          <p:nvPr/>
        </p:nvSpPr>
        <p:spPr>
          <a:xfrm xmlns:a="http://schemas.openxmlformats.org/drawingml/2006/main">
            <a:off x="1220470" y="3871913"/>
            <a:ext cx="92710" cy="157163"/>
          </a:xfrm>
          <a:custGeom xmlns:a="http://schemas.openxmlformats.org/drawingml/2006/main">
            <a:pathLst>
              <a:path w="92710" h="157163">
                <a:moveTo>
                  <a:pt x="0" y="157163"/>
                </a:moveTo>
                <a:lnTo>
                  <a:pt x="46355" y="0"/>
                </a:lnTo>
                <a:lnTo>
                  <a:pt x="92710" y="157163"/>
                </a:lnTo>
                <a:close/>
              </a:path>
            </a:pathLst>
          </a:custGeom>
          <a:solidFill xmlns:a="http://schemas.openxmlformats.org/drawingml/2006/main">
            <a:srgbClr val="BBBBBB"/>
          </a:solidFill>
          <a:ln xmlns:a="http://schemas.openxmlformats.org/drawingml/2006/main" w="10478">
            <a:solidFill>
              <a:srgbClr val="202020"/>
            </a:solidFill>
          </a:ln>
        </p:spPr>
      </p:sp>
      <p:sp>
        <p:nvSpPr>
          <p:cNvPr id="32" name="!!receiver-flow-rf-otherp">
            <a:extLst xmlns:a="http://schemas.openxmlformats.org/drawingml/2006/main">
              <a:ext uri="{FF2B5EF4-FFF2-40B4-BE49-F238E27FC236}">
                <a16:creationId xmlns:a16="http://schemas.microsoft.com/office/drawing/2014/main" id="{9130EC4E-A0DF-440B-A7AA-3D3846A2B7EA}"/>
              </a:ext>
            </a:extLst>
          </p:cNvPr>
          <p:cNvSpPr>
            <a:spLocks xmlns:a="http://schemas.openxmlformats.org/drawingml/2006/main" noGrp="1"/>
          </p:cNvSpPr>
          <p:nvPr/>
        </p:nvSpPr>
        <p:spPr>
          <a:xfrm xmlns:a="http://schemas.openxmlformats.org/drawingml/2006/main">
            <a:off x="2611120" y="3871913"/>
            <a:ext cx="92710" cy="157163"/>
          </a:xfrm>
          <a:custGeom xmlns:a="http://schemas.openxmlformats.org/drawingml/2006/main">
            <a:pathLst>
              <a:path w="92710" h="157163">
                <a:moveTo>
                  <a:pt x="0" y="157163"/>
                </a:moveTo>
                <a:lnTo>
                  <a:pt x="46355" y="0"/>
                </a:lnTo>
                <a:lnTo>
                  <a:pt x="92710" y="157163"/>
                </a:lnTo>
                <a:close/>
              </a:path>
            </a:pathLst>
          </a:custGeom>
          <a:solidFill xmlns:a="http://schemas.openxmlformats.org/drawingml/2006/main">
            <a:srgbClr val="BBBBBB"/>
          </a:solidFill>
          <a:ln xmlns:a="http://schemas.openxmlformats.org/drawingml/2006/main" w="10478">
            <a:solidFill>
              <a:srgbClr val="202020"/>
            </a:solidFill>
          </a:ln>
        </p:spPr>
      </p:sp>
      <p:sp>
        <p:nvSpPr>
          <p:cNvPr id="33" name="!!receiver-flow-if-r0-axis-line">
            <a:extLst xmlns:a="http://schemas.openxmlformats.org/drawingml/2006/main">
              <a:ext uri="{FF2B5EF4-FFF2-40B4-BE49-F238E27FC236}">
                <a16:creationId xmlns:a16="http://schemas.microsoft.com/office/drawing/2014/main" id="{5C1D6BFF-BE85-4714-9B15-3A21FCEF8B01}"/>
              </a:ext>
            </a:extLst>
          </p:cNvPr>
          <p:cNvSpPr>
            <a:spLocks xmlns:a="http://schemas.openxmlformats.org/drawingml/2006/main" noGrp="1"/>
          </p:cNvSpPr>
          <p:nvPr/>
        </p:nvSpPr>
        <p:spPr>
          <a:xfrm xmlns:a="http://schemas.openxmlformats.org/drawingml/2006/main">
            <a:off x="4572000" y="40290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4" name="!!receiver-flow-if-r0-axis-head">
            <a:extLst xmlns:a="http://schemas.openxmlformats.org/drawingml/2006/main">
              <a:ext uri="{FF2B5EF4-FFF2-40B4-BE49-F238E27FC236}">
                <a16:creationId xmlns:a16="http://schemas.microsoft.com/office/drawing/2014/main" id="{8D5677B8-9BD1-456D-9A54-D9D1DC032A9C}"/>
              </a:ext>
            </a:extLst>
          </p:cNvPr>
          <p:cNvSpPr>
            <a:spLocks xmlns:a="http://schemas.openxmlformats.org/drawingml/2006/main" noGrp="1"/>
          </p:cNvSpPr>
          <p:nvPr/>
        </p:nvSpPr>
        <p:spPr>
          <a:xfrm xmlns:a="http://schemas.openxmlformats.org/drawingml/2006/main" rot="5400000">
            <a:off x="7239000" y="39814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5" name="!!receiver-flow-if-r0-tick0">
            <a:extLst xmlns:a="http://schemas.openxmlformats.org/drawingml/2006/main">
              <a:ext uri="{FF2B5EF4-FFF2-40B4-BE49-F238E27FC236}">
                <a16:creationId xmlns:a16="http://schemas.microsoft.com/office/drawing/2014/main" id="{1D7391F8-195F-4687-B844-8E5430E6CECF}"/>
              </a:ext>
            </a:extLst>
          </p:cNvPr>
          <p:cNvSpPr>
            <a:spLocks xmlns:a="http://schemas.openxmlformats.org/drawingml/2006/main" noGrp="1"/>
          </p:cNvSpPr>
          <p:nvPr/>
        </p:nvSpPr>
        <p:spPr>
          <a:xfrm xmlns:a="http://schemas.openxmlformats.org/drawingml/2006/main">
            <a:off x="5730875"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6" name="!!receiver-flow-if-r0-tick1">
            <a:extLst xmlns:a="http://schemas.openxmlformats.org/drawingml/2006/main">
              <a:ext uri="{FF2B5EF4-FFF2-40B4-BE49-F238E27FC236}">
                <a16:creationId xmlns:a16="http://schemas.microsoft.com/office/drawing/2014/main" id="{C5815F9C-258B-4188-B6A5-8BEE7247E27A}"/>
              </a:ext>
            </a:extLst>
          </p:cNvPr>
          <p:cNvSpPr>
            <a:spLocks xmlns:a="http://schemas.openxmlformats.org/drawingml/2006/main" noGrp="1"/>
          </p:cNvSpPr>
          <p:nvPr/>
        </p:nvSpPr>
        <p:spPr>
          <a:xfrm xmlns:a="http://schemas.openxmlformats.org/drawingml/2006/main">
            <a:off x="5962650"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7" name="!!receiver-flow-if-r0-tick2">
            <a:extLst xmlns:a="http://schemas.openxmlformats.org/drawingml/2006/main">
              <a:ext uri="{FF2B5EF4-FFF2-40B4-BE49-F238E27FC236}">
                <a16:creationId xmlns:a16="http://schemas.microsoft.com/office/drawing/2014/main" id="{1F09E57E-96F2-4C49-A8DA-C21161CB9C6E}"/>
              </a:ext>
            </a:extLst>
          </p:cNvPr>
          <p:cNvSpPr>
            <a:spLocks xmlns:a="http://schemas.openxmlformats.org/drawingml/2006/main" noGrp="1"/>
          </p:cNvSpPr>
          <p:nvPr/>
        </p:nvSpPr>
        <p:spPr>
          <a:xfrm xmlns:a="http://schemas.openxmlformats.org/drawingml/2006/main">
            <a:off x="6194425"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8" name="!!receiver-flow-message-r0-axis-line">
            <a:extLst xmlns:a="http://schemas.openxmlformats.org/drawingml/2006/main">
              <a:ext uri="{FF2B5EF4-FFF2-40B4-BE49-F238E27FC236}">
                <a16:creationId xmlns:a16="http://schemas.microsoft.com/office/drawing/2014/main" id="{F1B1CD42-5972-466E-8EC7-81F1C45494E7}"/>
              </a:ext>
            </a:extLst>
          </p:cNvPr>
          <p:cNvSpPr>
            <a:spLocks xmlns:a="http://schemas.openxmlformats.org/drawingml/2006/main" noGrp="1"/>
          </p:cNvSpPr>
          <p:nvPr/>
        </p:nvSpPr>
        <p:spPr>
          <a:xfrm xmlns:a="http://schemas.openxmlformats.org/drawingml/2006/main">
            <a:off x="8572500" y="402907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9" name="!!receiver-flow-message-r0-axis-head">
            <a:extLst xmlns:a="http://schemas.openxmlformats.org/drawingml/2006/main">
              <a:ext uri="{FF2B5EF4-FFF2-40B4-BE49-F238E27FC236}">
                <a16:creationId xmlns:a16="http://schemas.microsoft.com/office/drawing/2014/main" id="{044028E3-8611-4FB1-B912-E32E263FCDEB}"/>
              </a:ext>
            </a:extLst>
          </p:cNvPr>
          <p:cNvSpPr>
            <a:spLocks xmlns:a="http://schemas.openxmlformats.org/drawingml/2006/main" noGrp="1"/>
          </p:cNvSpPr>
          <p:nvPr/>
        </p:nvSpPr>
        <p:spPr>
          <a:xfrm xmlns:a="http://schemas.openxmlformats.org/drawingml/2006/main" rot="5400000">
            <a:off x="11239500" y="39814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40" name="!!receiver-flow-message-r0-tick0">
            <a:extLst xmlns:a="http://schemas.openxmlformats.org/drawingml/2006/main">
              <a:ext uri="{FF2B5EF4-FFF2-40B4-BE49-F238E27FC236}">
                <a16:creationId xmlns:a16="http://schemas.microsoft.com/office/drawing/2014/main" id="{E5CCDA45-2A3C-417A-9DF6-D7EAD240964F}"/>
              </a:ext>
            </a:extLst>
          </p:cNvPr>
          <p:cNvSpPr>
            <a:spLocks xmlns:a="http://schemas.openxmlformats.org/drawingml/2006/main" noGrp="1"/>
          </p:cNvSpPr>
          <p:nvPr/>
        </p:nvSpPr>
        <p:spPr>
          <a:xfrm xmlns:a="http://schemas.openxmlformats.org/drawingml/2006/main">
            <a:off x="9963150" y="402907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1" name="!!receiver-flow-units">
            <a:extLst xmlns:a="http://schemas.openxmlformats.org/drawingml/2006/main">
              <a:ext uri="{FF2B5EF4-FFF2-40B4-BE49-F238E27FC236}">
                <a16:creationId xmlns:a16="http://schemas.microsoft.com/office/drawing/2014/main" id="{2D5DFFEE-85EA-47FE-821F-3628A052786D}"/>
              </a:ext>
            </a:extLst>
          </p:cNvPr>
          <p:cNvSpPr>
            <a:spLocks xmlns:a="http://schemas.openxmlformats.org/drawingml/2006/main" noGrp="1"/>
          </p:cNvSpPr>
          <p:nvPr/>
        </p:nvSpPr>
        <p:spPr>
          <a:xfrm xmlns:a="http://schemas.openxmlformats.org/drawingml/2006/main">
            <a:off x="666750" y="447675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 in kHz</a:t>
            </a:r>
          </a:p>
        </p:txBody>
      </p:sp>
      <p:sp>
        <p:nvSpPr>
          <p:cNvPr id="42" name="!!receiver-flow-op0">
            <a:extLst xmlns:a="http://schemas.openxmlformats.org/drawingml/2006/main">
              <a:ext uri="{FF2B5EF4-FFF2-40B4-BE49-F238E27FC236}">
                <a16:creationId xmlns:a16="http://schemas.microsoft.com/office/drawing/2014/main" id="{14C95C24-A82F-4CBE-BA57-3DC3D0FB1C73}"/>
              </a:ext>
            </a:extLst>
          </p:cNvPr>
          <p:cNvSpPr>
            <a:spLocks xmlns:a="http://schemas.openxmlformats.org/drawingml/2006/main" noGrp="1"/>
          </p:cNvSpPr>
          <p:nvPr/>
        </p:nvSpPr>
        <p:spPr>
          <a:xfrm xmlns:a="http://schemas.openxmlformats.org/drawingml/2006/main">
            <a:off x="3381375" y="3333750"/>
            <a:ext cx="1257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Mix</a:t>
            </a:r>
          </a:p>
        </p:txBody>
      </p:sp>
      <p:sp>
        <p:nvSpPr>
          <p:cNvPr id="43" name="!!receiver-flow-freq0">
            <a:extLst xmlns:a="http://schemas.openxmlformats.org/drawingml/2006/main">
              <a:ext uri="{FF2B5EF4-FFF2-40B4-BE49-F238E27FC236}">
                <a16:creationId xmlns:a16="http://schemas.microsoft.com/office/drawing/2014/main" id="{01767874-DDC4-43F8-BEB4-90A43F73CB16}"/>
              </a:ext>
            </a:extLst>
          </p:cNvPr>
          <p:cNvSpPr>
            <a:spLocks xmlns:a="http://schemas.openxmlformats.org/drawingml/2006/main" noGrp="1"/>
          </p:cNvSpPr>
          <p:nvPr/>
        </p:nvSpPr>
        <p:spPr>
          <a:xfrm xmlns:a="http://schemas.openxmlformats.org/drawingml/2006/main">
            <a:off x="3381375" y="3600450"/>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80 kHz</a:t>
            </a:r>
          </a:p>
        </p:txBody>
      </p:sp>
      <p:sp>
        <p:nvSpPr>
          <p:cNvPr id="44" name="!!receiver-flow-arrow0-line">
            <a:extLst xmlns:a="http://schemas.openxmlformats.org/drawingml/2006/main">
              <a:ext uri="{FF2B5EF4-FFF2-40B4-BE49-F238E27FC236}">
                <a16:creationId xmlns:a16="http://schemas.microsoft.com/office/drawing/2014/main" id="{DAE2B85A-9D75-4BA8-A300-361DF8798D62}"/>
              </a:ext>
            </a:extLst>
          </p:cNvPr>
          <p:cNvSpPr>
            <a:spLocks xmlns:a="http://schemas.openxmlformats.org/drawingml/2006/main" noGrp="1"/>
          </p:cNvSpPr>
          <p:nvPr/>
        </p:nvSpPr>
        <p:spPr>
          <a:xfrm xmlns:a="http://schemas.openxmlformats.org/drawingml/2006/main">
            <a:off x="3581400" y="390525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5" name="!!receiver-flow-arrow0-head">
            <a:extLst xmlns:a="http://schemas.openxmlformats.org/drawingml/2006/main">
              <a:ext uri="{FF2B5EF4-FFF2-40B4-BE49-F238E27FC236}">
                <a16:creationId xmlns:a16="http://schemas.microsoft.com/office/drawing/2014/main" id="{85323526-2C58-4FEB-89F8-D7D590B2730F}"/>
              </a:ext>
            </a:extLst>
          </p:cNvPr>
          <p:cNvSpPr>
            <a:spLocks xmlns:a="http://schemas.openxmlformats.org/drawingml/2006/main" noGrp="1"/>
          </p:cNvSpPr>
          <p:nvPr/>
        </p:nvSpPr>
        <p:spPr>
          <a:xfrm xmlns:a="http://schemas.openxmlformats.org/drawingml/2006/main" rot="5400000">
            <a:off x="4229100" y="385762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6" name="!!receiver-flow-op1">
            <a:extLst xmlns:a="http://schemas.openxmlformats.org/drawingml/2006/main">
              <a:ext uri="{FF2B5EF4-FFF2-40B4-BE49-F238E27FC236}">
                <a16:creationId xmlns:a16="http://schemas.microsoft.com/office/drawing/2014/main" id="{7F5A94A1-BD34-4266-AEBD-2EC890CF07A7}"/>
              </a:ext>
            </a:extLst>
          </p:cNvPr>
          <p:cNvSpPr>
            <a:spLocks xmlns:a="http://schemas.openxmlformats.org/drawingml/2006/main" noGrp="1"/>
          </p:cNvSpPr>
          <p:nvPr/>
        </p:nvSpPr>
        <p:spPr>
          <a:xfrm xmlns:a="http://schemas.openxmlformats.org/drawingml/2006/main">
            <a:off x="7381875" y="3333750"/>
            <a:ext cx="1257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Mix + LPF</a:t>
            </a:r>
          </a:p>
        </p:txBody>
      </p:sp>
      <p:sp>
        <p:nvSpPr>
          <p:cNvPr id="47" name="!!receiver-flow-freq1">
            <a:extLst xmlns:a="http://schemas.openxmlformats.org/drawingml/2006/main">
              <a:ext uri="{FF2B5EF4-FFF2-40B4-BE49-F238E27FC236}">
                <a16:creationId xmlns:a16="http://schemas.microsoft.com/office/drawing/2014/main" id="{8FCADAF9-72DB-43B6-A979-0C87C8912A0B}"/>
              </a:ext>
            </a:extLst>
          </p:cNvPr>
          <p:cNvSpPr>
            <a:spLocks xmlns:a="http://schemas.openxmlformats.org/drawingml/2006/main" noGrp="1"/>
          </p:cNvSpPr>
          <p:nvPr/>
        </p:nvSpPr>
        <p:spPr>
          <a:xfrm xmlns:a="http://schemas.openxmlformats.org/drawingml/2006/main">
            <a:off x="7381875" y="3600450"/>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20 kHz</a:t>
            </a:r>
          </a:p>
        </p:txBody>
      </p:sp>
      <p:sp>
        <p:nvSpPr>
          <p:cNvPr id="48" name="!!receiver-flow-arrow1-line">
            <a:extLst xmlns:a="http://schemas.openxmlformats.org/drawingml/2006/main">
              <a:ext uri="{FF2B5EF4-FFF2-40B4-BE49-F238E27FC236}">
                <a16:creationId xmlns:a16="http://schemas.microsoft.com/office/drawing/2014/main" id="{2E2B5C8D-5816-4731-A852-8417C46A7E98}"/>
              </a:ext>
            </a:extLst>
          </p:cNvPr>
          <p:cNvSpPr>
            <a:spLocks xmlns:a="http://schemas.openxmlformats.org/drawingml/2006/main" noGrp="1"/>
          </p:cNvSpPr>
          <p:nvPr/>
        </p:nvSpPr>
        <p:spPr>
          <a:xfrm xmlns:a="http://schemas.openxmlformats.org/drawingml/2006/main">
            <a:off x="7581900" y="390525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9" name="!!receiver-flow-arrow1-head">
            <a:extLst xmlns:a="http://schemas.openxmlformats.org/drawingml/2006/main">
              <a:ext uri="{FF2B5EF4-FFF2-40B4-BE49-F238E27FC236}">
                <a16:creationId xmlns:a16="http://schemas.microsoft.com/office/drawing/2014/main" id="{D78E74C1-7888-40AD-9602-4CB1ACD248DF}"/>
              </a:ext>
            </a:extLst>
          </p:cNvPr>
          <p:cNvSpPr>
            <a:spLocks xmlns:a="http://schemas.openxmlformats.org/drawingml/2006/main" noGrp="1"/>
          </p:cNvSpPr>
          <p:nvPr/>
        </p:nvSpPr>
        <p:spPr>
          <a:xfrm xmlns:a="http://schemas.openxmlformats.org/drawingml/2006/main" rot="5400000">
            <a:off x="8229600" y="385762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0" name="!!receiver-flow-rf-filter-100">
            <a:extLst xmlns:a="http://schemas.openxmlformats.org/drawingml/2006/main">
              <a:ext uri="{FF2B5EF4-FFF2-40B4-BE49-F238E27FC236}">
                <a16:creationId xmlns:a16="http://schemas.microsoft.com/office/drawing/2014/main" id="{0E530607-94F2-45C9-B754-A9964CC5442D}"/>
              </a:ext>
            </a:extLst>
          </p:cNvPr>
          <p:cNvSpPr>
            <a:spLocks xmlns:a="http://schemas.openxmlformats.org/drawingml/2006/main" noGrp="1"/>
          </p:cNvSpPr>
          <p:nvPr/>
        </p:nvSpPr>
        <p:spPr>
          <a:xfrm xmlns:a="http://schemas.openxmlformats.org/drawingml/2006/main">
            <a:off x="737870" y="3562350"/>
            <a:ext cx="130810" cy="5048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51" name="!!receiver-flow-rf-filter100">
            <a:extLst xmlns:a="http://schemas.openxmlformats.org/drawingml/2006/main">
              <a:ext uri="{FF2B5EF4-FFF2-40B4-BE49-F238E27FC236}">
                <a16:creationId xmlns:a16="http://schemas.microsoft.com/office/drawing/2014/main" id="{92EE7A9F-0BDB-4FBF-8A36-5ED8DB553B4A}"/>
              </a:ext>
            </a:extLst>
          </p:cNvPr>
          <p:cNvSpPr>
            <a:spLocks xmlns:a="http://schemas.openxmlformats.org/drawingml/2006/main" noGrp="1"/>
          </p:cNvSpPr>
          <p:nvPr/>
        </p:nvSpPr>
        <p:spPr>
          <a:xfrm xmlns:a="http://schemas.openxmlformats.org/drawingml/2006/main">
            <a:off x="3055620" y="3562350"/>
            <a:ext cx="130810" cy="5048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52" name="!!receiver-flow-if-copy-1">
            <a:extLst xmlns:a="http://schemas.openxmlformats.org/drawingml/2006/main">
              <a:ext uri="{FF2B5EF4-FFF2-40B4-BE49-F238E27FC236}">
                <a16:creationId xmlns:a16="http://schemas.microsoft.com/office/drawing/2014/main" id="{4FA8D05F-613B-49BC-B523-8D0AA436D882}"/>
              </a:ext>
            </a:extLst>
          </p:cNvPr>
          <p:cNvSpPr>
            <a:spLocks xmlns:a="http://schemas.openxmlformats.org/drawingml/2006/main" noGrp="1"/>
          </p:cNvSpPr>
          <p:nvPr/>
        </p:nvSpPr>
        <p:spPr>
          <a:xfrm xmlns:a="http://schemas.openxmlformats.org/drawingml/2006/main">
            <a:off x="5684520" y="3767138"/>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53" name="!!receiver-flow-if-copy1">
            <a:extLst xmlns:a="http://schemas.openxmlformats.org/drawingml/2006/main">
              <a:ext uri="{FF2B5EF4-FFF2-40B4-BE49-F238E27FC236}">
                <a16:creationId xmlns:a16="http://schemas.microsoft.com/office/drawing/2014/main" id="{2E9EB5B8-298E-4509-BADC-4605D7AB03D5}"/>
              </a:ext>
            </a:extLst>
          </p:cNvPr>
          <p:cNvSpPr>
            <a:spLocks xmlns:a="http://schemas.openxmlformats.org/drawingml/2006/main" noGrp="1"/>
          </p:cNvSpPr>
          <p:nvPr/>
        </p:nvSpPr>
        <p:spPr>
          <a:xfrm xmlns:a="http://schemas.openxmlformats.org/drawingml/2006/main">
            <a:off x="6148070" y="3767138"/>
            <a:ext cx="92710" cy="261938"/>
          </a:xfrm>
          <a:custGeom xmlns:a="http://schemas.openxmlformats.org/drawingml/2006/main">
            <a:pathLst>
              <a:path w="92710" h="261938">
                <a:moveTo>
                  <a:pt x="0" y="261938"/>
                </a:moveTo>
                <a:lnTo>
                  <a:pt x="46355" y="0"/>
                </a:lnTo>
                <a:lnTo>
                  <a:pt x="92710" y="261938"/>
                </a:lnTo>
                <a:close/>
              </a:path>
            </a:pathLst>
          </a:custGeom>
          <a:solidFill xmlns:a="http://schemas.openxmlformats.org/drawingml/2006/main">
            <a:srgbClr val="535353"/>
          </a:solidFill>
          <a:ln xmlns:a="http://schemas.openxmlformats.org/drawingml/2006/main" w="10478">
            <a:solidFill>
              <a:srgbClr val="202020"/>
            </a:solidFill>
          </a:ln>
        </p:spPr>
      </p:sp>
      <p:sp>
        <p:nvSpPr>
          <p:cNvPr id="54" name="!!receiver-flow-if-filter-20">
            <a:extLst xmlns:a="http://schemas.openxmlformats.org/drawingml/2006/main">
              <a:ext uri="{FF2B5EF4-FFF2-40B4-BE49-F238E27FC236}">
                <a16:creationId xmlns:a16="http://schemas.microsoft.com/office/drawing/2014/main" id="{74DCB642-4865-49B2-A0C0-D2213F90FE2E}"/>
              </a:ext>
            </a:extLst>
          </p:cNvPr>
          <p:cNvSpPr>
            <a:spLocks xmlns:a="http://schemas.openxmlformats.org/drawingml/2006/main" noGrp="1"/>
          </p:cNvSpPr>
          <p:nvPr/>
        </p:nvSpPr>
        <p:spPr>
          <a:xfrm xmlns:a="http://schemas.openxmlformats.org/drawingml/2006/main">
            <a:off x="5665470" y="3562350"/>
            <a:ext cx="130810" cy="5048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55" name="!!receiver-flow-if-filter20">
            <a:extLst xmlns:a="http://schemas.openxmlformats.org/drawingml/2006/main">
              <a:ext uri="{FF2B5EF4-FFF2-40B4-BE49-F238E27FC236}">
                <a16:creationId xmlns:a16="http://schemas.microsoft.com/office/drawing/2014/main" id="{CD7ADCEF-D553-45E0-BD0B-3F3AD3E051D4}"/>
              </a:ext>
            </a:extLst>
          </p:cNvPr>
          <p:cNvSpPr>
            <a:spLocks xmlns:a="http://schemas.openxmlformats.org/drawingml/2006/main" noGrp="1"/>
          </p:cNvSpPr>
          <p:nvPr/>
        </p:nvSpPr>
        <p:spPr>
          <a:xfrm xmlns:a="http://schemas.openxmlformats.org/drawingml/2006/main">
            <a:off x="6129020" y="3562350"/>
            <a:ext cx="130810" cy="5048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56" name="!!receiver-flow-message-out">
            <a:extLst xmlns:a="http://schemas.openxmlformats.org/drawingml/2006/main">
              <a:ext uri="{FF2B5EF4-FFF2-40B4-BE49-F238E27FC236}">
                <a16:creationId xmlns:a16="http://schemas.microsoft.com/office/drawing/2014/main" id="{9F9558BD-F7F5-480C-9AF5-215BC3BE82C2}"/>
              </a:ext>
            </a:extLst>
          </p:cNvPr>
          <p:cNvSpPr>
            <a:spLocks xmlns:a="http://schemas.openxmlformats.org/drawingml/2006/main" noGrp="1"/>
          </p:cNvSpPr>
          <p:nvPr/>
        </p:nvSpPr>
        <p:spPr>
          <a:xfrm xmlns:a="http://schemas.openxmlformats.org/drawingml/2006/main">
            <a:off x="9916795" y="3505200"/>
            <a:ext cx="92710" cy="523875"/>
          </a:xfrm>
          <a:custGeom xmlns:a="http://schemas.openxmlformats.org/drawingml/2006/main">
            <a:pathLst>
              <a:path w="92710" h="523875">
                <a:moveTo>
                  <a:pt x="0" y="523875"/>
                </a:moveTo>
                <a:lnTo>
                  <a:pt x="46355" y="0"/>
                </a:lnTo>
                <a:lnTo>
                  <a:pt x="92710" y="523875"/>
                </a:lnTo>
                <a:close/>
              </a:path>
            </a:pathLst>
          </a:custGeom>
          <a:solidFill xmlns:a="http://schemas.openxmlformats.org/drawingml/2006/main">
            <a:srgbClr val="535353"/>
          </a:solidFill>
          <a:ln xmlns:a="http://schemas.openxmlformats.org/drawingml/2006/main" w="10478">
            <a:solidFill>
              <a:srgbClr val="202020"/>
            </a:solidFill>
          </a:ln>
        </p:spPr>
      </p:sp>
      <p:pic>
        <p:nvPicPr>
          <p:cNvPr id="135" name="!!receiver-flow-route-m" descr="m(t)">
            <ns0:hlinkClick xmlns:ns0="http://schemas.openxmlformats.org/drawingml/2006/main" xmlns:ns1="http://schemas.openxmlformats.org/officeDocument/2006/relationships" ns1:id="rIdmethods_Link6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d212b71894c444a">
            <a:extLst>
              <a:ext uri="{96DAC541-7B7A-43D3-8B79-37D633B846F1}">
                <ns0:svgBlip xmlns:ns0="http://schemas.microsoft.com/office/drawing/2016/SVG/main" r:embed="rIdVectormf00336"/>
              </a:ext>
            </a:extLst>
          </a:blip>
          <a:stretch xmlns:a="http://schemas.openxmlformats.org/drawingml/2006/main"/>
        </p:blipFill>
        <p:spPr>
          <a:xfrm xmlns:a="http://schemas.openxmlformats.org/drawingml/2006/main">
            <a:off x="2159318" y="1181100"/>
            <a:ext cx="920115" cy="400050"/>
          </a:xfrm>
          <a:prstGeom xmlns:a="http://schemas.openxmlformats.org/drawingml/2006/main" prst="rect">
            <a:avLst/>
          </a:prstGeom>
        </p:spPr>
      </p:pic>
      <p:pic>
        <p:nvPicPr>
          <p:cNvPr id="136" name="!!receiver-flow-route-s" descr="s_{RF}(t)">
            <ns0:hlinkClick xmlns:ns0="http://schemas.openxmlformats.org/drawingml/2006/main" xmlns:ns1="http://schemas.openxmlformats.org/officeDocument/2006/relationships" ns1:id="rIdmethods_Link6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63cff17d98b4727">
            <a:extLst>
              <a:ext uri="{96DAC541-7B7A-43D3-8B79-37D633B846F1}">
                <ns1:svgBlip xmlns:ns1="http://schemas.microsoft.com/office/drawing/2016/SVG/main" r:embed="rIdVectormf00337"/>
              </a:ext>
            </a:extLst>
          </a:blip>
          <a:stretch xmlns:a="http://schemas.openxmlformats.org/drawingml/2006/main"/>
        </p:blipFill>
        <p:spPr>
          <a:xfrm xmlns:a="http://schemas.openxmlformats.org/drawingml/2006/main">
            <a:off x="5479774" y="1181100"/>
            <a:ext cx="1232452" cy="400050"/>
          </a:xfrm>
          <a:prstGeom xmlns:a="http://schemas.openxmlformats.org/drawingml/2006/main" prst="rect">
            <a:avLst/>
          </a:prstGeom>
        </p:spPr>
      </p:pic>
      <p:pic>
        <p:nvPicPr>
          <p:cNvPr id="137" name="!!receiver-flow-route-restored" descr="m(t)">
            <ns0:hlinkClick xmlns:ns0="http://schemas.openxmlformats.org/drawingml/2006/main" xmlns:ns1="http://schemas.openxmlformats.org/officeDocument/2006/relationships" ns1:id="rIdmethods_Link6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fdb1d4f41b04b8e">
            <a:extLst>
              <a:ext uri="{96DAC541-7B7A-43D3-8B79-37D633B846F1}">
                <ns2:svgBlip xmlns:ns2="http://schemas.microsoft.com/office/drawing/2016/SVG/main" r:embed="rIdVectormf00338"/>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138" name="!!receiver-flow-rf-r0-domain" descr="f"/>
          <p:cNvPicPr>
            <a:picLocks xmlns:a="http://schemas.openxmlformats.org/drawingml/2006/main" noChangeAspect="1"/>
          </p:cNvPicPr>
          <p:nvPr/>
        </p:nvPicPr>
        <p:blipFill>
          <a:blip xmlns:r="http://schemas.openxmlformats.org/officeDocument/2006/relationships" xmlns:a="http://schemas.openxmlformats.org/drawingml/2006/main" r:embed="R29ef250ec7254a6c">
            <a:extLst>
              <a:ext uri="{96DAC541-7B7A-43D3-8B79-37D633B846F1}">
                <ns3:svgBlip xmlns:ns3="http://schemas.microsoft.com/office/drawing/2016/SVG/main" r:embed="rIdVectormf00339"/>
              </a:ext>
            </a:extLst>
          </a:blip>
          <a:stretch xmlns:a="http://schemas.openxmlformats.org/drawingml/2006/main"/>
        </p:blipFill>
        <p:spPr>
          <a:xfrm xmlns:a="http://schemas.openxmlformats.org/drawingml/2006/main">
            <a:off x="3374873" y="3816668"/>
            <a:ext cx="79678" cy="120015"/>
          </a:xfrm>
          <a:prstGeom xmlns:a="http://schemas.openxmlformats.org/drawingml/2006/main" prst="rect">
            <a:avLst/>
          </a:prstGeom>
        </p:spPr>
      </p:pic>
      <p:pic>
        <p:nvPicPr>
          <p:cNvPr id="139" name="!!receiver-flow-rf-r0-ticklabel0" descr="-100"/>
          <p:cNvPicPr>
            <a:picLocks xmlns:a="http://schemas.openxmlformats.org/drawingml/2006/main" noChangeAspect="1"/>
          </p:cNvPicPr>
          <p:nvPr/>
        </p:nvPicPr>
        <p:blipFill>
          <a:blip xmlns:r="http://schemas.openxmlformats.org/officeDocument/2006/relationships" xmlns:a="http://schemas.openxmlformats.org/drawingml/2006/main" r:embed="R5f20165e97d24e94">
            <a:extLst>
              <a:ext uri="{96DAC541-7B7A-43D3-8B79-37D633B846F1}">
                <ns4:svgBlip xmlns:ns4="http://schemas.microsoft.com/office/drawing/2016/SVG/main" r:embed="rIdVectormf00340"/>
              </a:ext>
            </a:extLst>
          </a:blip>
          <a:stretch xmlns:a="http://schemas.openxmlformats.org/drawingml/2006/main"/>
        </p:blipFill>
        <p:spPr>
          <a:xfrm xmlns:a="http://schemas.openxmlformats.org/drawingml/2006/main">
            <a:off x="580390" y="4153674"/>
            <a:ext cx="445770" cy="131802"/>
          </a:xfrm>
          <a:prstGeom xmlns:a="http://schemas.openxmlformats.org/drawingml/2006/main" prst="rect">
            <a:avLst/>
          </a:prstGeom>
        </p:spPr>
      </p:pic>
      <p:pic>
        <p:nvPicPr>
          <p:cNvPr id="140" name="!!receiver-flow-rf-r0-ticklabel1" descr="-60"/>
          <p:cNvPicPr>
            <a:picLocks xmlns:a="http://schemas.openxmlformats.org/drawingml/2006/main" noChangeAspect="1"/>
          </p:cNvPicPr>
          <p:nvPr/>
        </p:nvPicPr>
        <p:blipFill>
          <a:blip xmlns:r="http://schemas.openxmlformats.org/officeDocument/2006/relationships" xmlns:a="http://schemas.openxmlformats.org/drawingml/2006/main" r:embed="Rc26af4b797d849e1">
            <a:extLst>
              <a:ext uri="{96DAC541-7B7A-43D3-8B79-37D633B846F1}">
                <ns5:svgBlip xmlns:ns5="http://schemas.microsoft.com/office/drawing/2016/SVG/main" r:embed="rIdVectormf00341"/>
              </a:ext>
            </a:extLst>
          </a:blip>
          <a:stretch xmlns:a="http://schemas.openxmlformats.org/drawingml/2006/main"/>
        </p:blipFill>
        <p:spPr>
          <a:xfrm xmlns:a="http://schemas.openxmlformats.org/drawingml/2006/main">
            <a:off x="1095375" y="4154210"/>
            <a:ext cx="342900" cy="130731"/>
          </a:xfrm>
          <a:prstGeom xmlns:a="http://schemas.openxmlformats.org/drawingml/2006/main" prst="rect">
            <a:avLst/>
          </a:prstGeom>
        </p:spPr>
      </p:pic>
      <p:pic>
        <p:nvPicPr>
          <p:cNvPr id="141" name="!!receiver-flow-rf-r0-ticklabel2" descr="0"/>
          <p:cNvPicPr>
            <a:picLocks xmlns:a="http://schemas.openxmlformats.org/drawingml/2006/main" noChangeAspect="1"/>
          </p:cNvPicPr>
          <p:nvPr/>
        </p:nvPicPr>
        <p:blipFill>
          <a:blip xmlns:r="http://schemas.openxmlformats.org/officeDocument/2006/relationships" xmlns:a="http://schemas.openxmlformats.org/drawingml/2006/main" r:embed="R7a7d7a883f334880">
            <a:extLst>
              <a:ext uri="{96DAC541-7B7A-43D3-8B79-37D633B846F1}">
                <ns6:svgBlip xmlns:ns6="http://schemas.microsoft.com/office/drawing/2016/SVG/main" r:embed="rIdVectormf00342"/>
              </a:ext>
            </a:extLst>
          </a:blip>
          <a:stretch xmlns:a="http://schemas.openxmlformats.org/drawingml/2006/main"/>
        </p:blipFill>
        <p:spPr>
          <a:xfrm xmlns:a="http://schemas.openxmlformats.org/drawingml/2006/main">
            <a:off x="1916175" y="4168140"/>
            <a:ext cx="91951" cy="102870"/>
          </a:xfrm>
          <a:prstGeom xmlns:a="http://schemas.openxmlformats.org/drawingml/2006/main" prst="rect">
            <a:avLst/>
          </a:prstGeom>
        </p:spPr>
      </p:pic>
      <p:pic>
        <p:nvPicPr>
          <p:cNvPr id="142" name="!!receiver-flow-rf-r0-ticklabel3" descr="60"/>
          <p:cNvPicPr>
            <a:picLocks xmlns:a="http://schemas.openxmlformats.org/drawingml/2006/main" noChangeAspect="1"/>
          </p:cNvPicPr>
          <p:nvPr/>
        </p:nvPicPr>
        <p:blipFill>
          <a:blip xmlns:r="http://schemas.openxmlformats.org/officeDocument/2006/relationships" xmlns:a="http://schemas.openxmlformats.org/drawingml/2006/main" r:embed="R28538c2a19a64b78">
            <a:extLst>
              <a:ext uri="{96DAC541-7B7A-43D3-8B79-37D633B846F1}">
                <ns7:svgBlip xmlns:ns7="http://schemas.microsoft.com/office/drawing/2016/SVG/main" r:embed="rIdVectormf00343"/>
              </a:ext>
            </a:extLst>
          </a:blip>
          <a:stretch xmlns:a="http://schemas.openxmlformats.org/drawingml/2006/main"/>
        </p:blipFill>
        <p:spPr>
          <a:xfrm xmlns:a="http://schemas.openxmlformats.org/drawingml/2006/main">
            <a:off x="2565524" y="4168140"/>
            <a:ext cx="183902" cy="102870"/>
          </a:xfrm>
          <a:prstGeom xmlns:a="http://schemas.openxmlformats.org/drawingml/2006/main" prst="rect">
            <a:avLst/>
          </a:prstGeom>
        </p:spPr>
      </p:pic>
      <p:pic>
        <p:nvPicPr>
          <p:cNvPr id="143" name="!!receiver-flow-rf-r0-ticklabel4" descr="100"/>
          <p:cNvPicPr>
            <a:picLocks xmlns:a="http://schemas.openxmlformats.org/drawingml/2006/main" noChangeAspect="1"/>
          </p:cNvPicPr>
          <p:nvPr/>
        </p:nvPicPr>
        <p:blipFill>
          <a:blip xmlns:r="http://schemas.openxmlformats.org/officeDocument/2006/relationships" xmlns:a="http://schemas.openxmlformats.org/drawingml/2006/main" r:embed="R4f9b0796162d4e59">
            <a:extLst>
              <a:ext uri="{96DAC541-7B7A-43D3-8B79-37D633B846F1}">
                <ns8:svgBlip xmlns:ns8="http://schemas.microsoft.com/office/drawing/2016/SVG/main" r:embed="rIdVectormf00344"/>
              </a:ext>
            </a:extLst>
          </a:blip>
          <a:stretch xmlns:a="http://schemas.openxmlformats.org/drawingml/2006/main"/>
        </p:blipFill>
        <p:spPr>
          <a:xfrm xmlns:a="http://schemas.openxmlformats.org/drawingml/2006/main">
            <a:off x="2983865" y="4168140"/>
            <a:ext cx="274320" cy="102870"/>
          </a:xfrm>
          <a:prstGeom xmlns:a="http://schemas.openxmlformats.org/drawingml/2006/main" prst="rect">
            <a:avLst/>
          </a:prstGeom>
        </p:spPr>
      </p:pic>
      <p:pic>
        <p:nvPicPr>
          <p:cNvPr id="144" name="!!receiver-flow-rf-r0-label" descr="\textstyle S_{RF}(f)"/>
          <p:cNvPicPr>
            <a:picLocks xmlns:a="http://schemas.openxmlformats.org/drawingml/2006/main" noChangeAspect="1"/>
          </p:cNvPicPr>
          <p:nvPr/>
        </p:nvPicPr>
        <p:blipFill>
          <a:blip xmlns:r="http://schemas.openxmlformats.org/officeDocument/2006/relationships" xmlns:a="http://schemas.openxmlformats.org/drawingml/2006/main" r:embed="Re1f23e3c5ab34c76">
            <a:extLst>
              <a:ext uri="{96DAC541-7B7A-43D3-8B79-37D633B846F1}">
                <ns9:svgBlip xmlns:ns9="http://schemas.microsoft.com/office/drawing/2016/SVG/main" r:embed="rIdVectormf00345"/>
              </a:ext>
            </a:extLst>
          </a:blip>
          <a:stretch xmlns:a="http://schemas.openxmlformats.org/drawingml/2006/main"/>
        </p:blipFill>
        <p:spPr>
          <a:xfrm xmlns:a="http://schemas.openxmlformats.org/drawingml/2006/main">
            <a:off x="573648" y="3000375"/>
            <a:ext cx="687220" cy="209550"/>
          </a:xfrm>
          <a:prstGeom xmlns:a="http://schemas.openxmlformats.org/drawingml/2006/main" prst="rect">
            <a:avLst/>
          </a:prstGeom>
        </p:spPr>
      </p:pic>
      <p:pic>
        <p:nvPicPr>
          <p:cNvPr id="145" name="!!receiver-flow-if-r0-domain" descr="f"/>
          <p:cNvPicPr>
            <a:picLocks xmlns:a="http://schemas.openxmlformats.org/drawingml/2006/main" noChangeAspect="1"/>
          </p:cNvPicPr>
          <p:nvPr/>
        </p:nvPicPr>
        <p:blipFill>
          <a:blip xmlns:r="http://schemas.openxmlformats.org/officeDocument/2006/relationships" xmlns:a="http://schemas.openxmlformats.org/drawingml/2006/main" r:embed="R54e4161e381a4a60">
            <a:extLst>
              <a:ext uri="{96DAC541-7B7A-43D3-8B79-37D633B846F1}">
                <ns10:svgBlip xmlns:ns10="http://schemas.microsoft.com/office/drawing/2016/SVG/main" r:embed="rIdVectormf00346"/>
              </a:ext>
            </a:extLst>
          </a:blip>
          <a:stretch xmlns:a="http://schemas.openxmlformats.org/drawingml/2006/main"/>
        </p:blipFill>
        <p:spPr>
          <a:xfrm xmlns:a="http://schemas.openxmlformats.org/drawingml/2006/main">
            <a:off x="7375373" y="3816668"/>
            <a:ext cx="79678" cy="120015"/>
          </a:xfrm>
          <a:prstGeom xmlns:a="http://schemas.openxmlformats.org/drawingml/2006/main" prst="rect">
            <a:avLst/>
          </a:prstGeom>
        </p:spPr>
      </p:pic>
      <p:pic>
        <p:nvPicPr>
          <p:cNvPr id="146" name="!!receiver-flow-if-r0-ticklabel0" descr="-20"/>
          <p:cNvPicPr>
            <a:picLocks xmlns:a="http://schemas.openxmlformats.org/drawingml/2006/main" noChangeAspect="1"/>
          </p:cNvPicPr>
          <p:nvPr/>
        </p:nvPicPr>
        <p:blipFill>
          <a:blip xmlns:r="http://schemas.openxmlformats.org/officeDocument/2006/relationships" xmlns:a="http://schemas.openxmlformats.org/drawingml/2006/main" r:embed="R29755232f0c44f8c">
            <a:extLst>
              <a:ext uri="{96DAC541-7B7A-43D3-8B79-37D633B846F1}">
                <ns11:svgBlip xmlns:ns11="http://schemas.microsoft.com/office/drawing/2016/SVG/main" r:embed="rIdVectormf00347"/>
              </a:ext>
            </a:extLst>
          </a:blip>
          <a:stretch xmlns:a="http://schemas.openxmlformats.org/drawingml/2006/main"/>
        </p:blipFill>
        <p:spPr>
          <a:xfrm xmlns:a="http://schemas.openxmlformats.org/drawingml/2006/main">
            <a:off x="5559425" y="4154210"/>
            <a:ext cx="342900" cy="130731"/>
          </a:xfrm>
          <a:prstGeom xmlns:a="http://schemas.openxmlformats.org/drawingml/2006/main" prst="rect">
            <a:avLst/>
          </a:prstGeom>
        </p:spPr>
      </p:pic>
      <p:pic>
        <p:nvPicPr>
          <p:cNvPr id="147" name="!!receiver-flow-if-r0-ticklabel1" descr="0"/>
          <p:cNvPicPr>
            <a:picLocks xmlns:a="http://schemas.openxmlformats.org/drawingml/2006/main" noChangeAspect="1"/>
          </p:cNvPicPr>
          <p:nvPr/>
        </p:nvPicPr>
        <p:blipFill>
          <a:blip xmlns:r="http://schemas.openxmlformats.org/officeDocument/2006/relationships" xmlns:a="http://schemas.openxmlformats.org/drawingml/2006/main" r:embed="R96c3ec1285b54601">
            <a:extLst>
              <a:ext uri="{96DAC541-7B7A-43D3-8B79-37D633B846F1}">
                <ns12:svgBlip xmlns:ns12="http://schemas.microsoft.com/office/drawing/2016/SVG/main" r:embed="rIdVectormf00348"/>
              </a:ext>
            </a:extLst>
          </a:blip>
          <a:stretch xmlns:a="http://schemas.openxmlformats.org/drawingml/2006/main"/>
        </p:blipFill>
        <p:spPr>
          <a:xfrm xmlns:a="http://schemas.openxmlformats.org/drawingml/2006/main">
            <a:off x="5916675" y="4368165"/>
            <a:ext cx="91951" cy="102870"/>
          </a:xfrm>
          <a:prstGeom xmlns:a="http://schemas.openxmlformats.org/drawingml/2006/main" prst="rect">
            <a:avLst/>
          </a:prstGeom>
        </p:spPr>
      </p:pic>
      <p:pic>
        <p:nvPicPr>
          <p:cNvPr id="148" name="!!receiver-flow-if-r0-ticklabel2" descr="20"/>
          <p:cNvPicPr>
            <a:picLocks xmlns:a="http://schemas.openxmlformats.org/drawingml/2006/main" noChangeAspect="1"/>
          </p:cNvPicPr>
          <p:nvPr/>
        </p:nvPicPr>
        <p:blipFill>
          <a:blip xmlns:r="http://schemas.openxmlformats.org/officeDocument/2006/relationships" xmlns:a="http://schemas.openxmlformats.org/drawingml/2006/main" r:embed="Rbce67574ed894552">
            <a:extLst>
              <a:ext uri="{96DAC541-7B7A-43D3-8B79-37D633B846F1}">
                <ns13:svgBlip xmlns:ns13="http://schemas.microsoft.com/office/drawing/2016/SVG/main" r:embed="rIdVectormf00349"/>
              </a:ext>
            </a:extLst>
          </a:blip>
          <a:stretch xmlns:a="http://schemas.openxmlformats.org/drawingml/2006/main"/>
        </p:blipFill>
        <p:spPr>
          <a:xfrm xmlns:a="http://schemas.openxmlformats.org/drawingml/2006/main">
            <a:off x="6102474" y="4168140"/>
            <a:ext cx="183902" cy="102870"/>
          </a:xfrm>
          <a:prstGeom xmlns:a="http://schemas.openxmlformats.org/drawingml/2006/main" prst="rect">
            <a:avLst/>
          </a:prstGeom>
        </p:spPr>
      </p:pic>
      <p:pic>
        <p:nvPicPr>
          <p:cNvPr id="149" name="!!receiver-flow-if-r0-label" descr="\textstyle S_{IF}(f)"/>
          <p:cNvPicPr>
            <a:picLocks xmlns:a="http://schemas.openxmlformats.org/drawingml/2006/main" noChangeAspect="1"/>
          </p:cNvPicPr>
          <p:nvPr/>
        </p:nvPicPr>
        <p:blipFill>
          <a:blip xmlns:r="http://schemas.openxmlformats.org/officeDocument/2006/relationships" xmlns:a="http://schemas.openxmlformats.org/drawingml/2006/main" r:embed="R81724c1bc55f46c4">
            <a:extLst>
              <a:ext uri="{96DAC541-7B7A-43D3-8B79-37D633B846F1}">
                <ns14:svgBlip xmlns:ns14="http://schemas.microsoft.com/office/drawing/2016/SVG/main" r:embed="rIdVectormf00350"/>
              </a:ext>
            </a:extLst>
          </a:blip>
          <a:stretch xmlns:a="http://schemas.openxmlformats.org/drawingml/2006/main"/>
        </p:blipFill>
        <p:spPr>
          <a:xfrm xmlns:a="http://schemas.openxmlformats.org/drawingml/2006/main">
            <a:off x="4572000" y="3002340"/>
            <a:ext cx="607695" cy="205621"/>
          </a:xfrm>
          <a:prstGeom xmlns:a="http://schemas.openxmlformats.org/drawingml/2006/main" prst="rect">
            <a:avLst/>
          </a:prstGeom>
        </p:spPr>
      </p:pic>
      <p:pic>
        <p:nvPicPr>
          <p:cNvPr id="150" name="!!receiver-flow-message-r0-domain" descr="f"/>
          <p:cNvPicPr>
            <a:picLocks xmlns:a="http://schemas.openxmlformats.org/drawingml/2006/main" noChangeAspect="1"/>
          </p:cNvPicPr>
          <p:nvPr/>
        </p:nvPicPr>
        <p:blipFill>
          <a:blip xmlns:r="http://schemas.openxmlformats.org/officeDocument/2006/relationships" xmlns:a="http://schemas.openxmlformats.org/drawingml/2006/main" r:embed="R8b2a4a9693924e81">
            <a:extLst>
              <a:ext uri="{96DAC541-7B7A-43D3-8B79-37D633B846F1}">
                <ns15:svgBlip xmlns:ns15="http://schemas.microsoft.com/office/drawing/2016/SVG/main" r:embed="rIdVectormf00351"/>
              </a:ext>
            </a:extLst>
          </a:blip>
          <a:stretch xmlns:a="http://schemas.openxmlformats.org/drawingml/2006/main"/>
        </p:blipFill>
        <p:spPr>
          <a:xfrm xmlns:a="http://schemas.openxmlformats.org/drawingml/2006/main">
            <a:off x="11375873" y="3816668"/>
            <a:ext cx="79678" cy="120015"/>
          </a:xfrm>
          <a:prstGeom xmlns:a="http://schemas.openxmlformats.org/drawingml/2006/main" prst="rect">
            <a:avLst/>
          </a:prstGeom>
        </p:spPr>
      </p:pic>
      <p:pic>
        <p:nvPicPr>
          <p:cNvPr id="151" name="!!receiver-flow-message-r0-ticklabel0" descr="0"/>
          <p:cNvPicPr>
            <a:picLocks xmlns:a="http://schemas.openxmlformats.org/drawingml/2006/main" noChangeAspect="1"/>
          </p:cNvPicPr>
          <p:nvPr/>
        </p:nvPicPr>
        <p:blipFill>
          <a:blip xmlns:r="http://schemas.openxmlformats.org/officeDocument/2006/relationships" xmlns:a="http://schemas.openxmlformats.org/drawingml/2006/main" r:embed="Ra9b84d88f44d4325">
            <a:extLst>
              <a:ext uri="{96DAC541-7B7A-43D3-8B79-37D633B846F1}">
                <ns16:svgBlip xmlns:ns16="http://schemas.microsoft.com/office/drawing/2016/SVG/main" r:embed="rIdVectormf00352"/>
              </a:ext>
            </a:extLst>
          </a:blip>
          <a:stretch xmlns:a="http://schemas.openxmlformats.org/drawingml/2006/main"/>
        </p:blipFill>
        <p:spPr>
          <a:xfrm xmlns:a="http://schemas.openxmlformats.org/drawingml/2006/main">
            <a:off x="9917175" y="4168140"/>
            <a:ext cx="91951" cy="102870"/>
          </a:xfrm>
          <a:prstGeom xmlns:a="http://schemas.openxmlformats.org/drawingml/2006/main" prst="rect">
            <a:avLst/>
          </a:prstGeom>
        </p:spPr>
      </p:pic>
      <p:pic>
        <p:nvPicPr>
          <p:cNvPr id="152" name="!!receiver-flow-message-r0-label" descr="\textstyle M(f)"/>
          <p:cNvPicPr>
            <a:picLocks xmlns:a="http://schemas.openxmlformats.org/drawingml/2006/main" noChangeAspect="1"/>
          </p:cNvPicPr>
          <p:nvPr/>
        </p:nvPicPr>
        <p:blipFill>
          <a:blip xmlns:r="http://schemas.openxmlformats.org/officeDocument/2006/relationships" xmlns:a="http://schemas.openxmlformats.org/drawingml/2006/main" r:embed="R6cc0370915bb424b">
            <a:extLst>
              <a:ext uri="{96DAC541-7B7A-43D3-8B79-37D633B846F1}">
                <ns17:svgBlip xmlns:ns17="http://schemas.microsoft.com/office/drawing/2016/SVG/main" r:embed="rIdVectormf00353"/>
              </a:ext>
            </a:extLst>
          </a:blip>
          <a:stretch xmlns:a="http://schemas.openxmlformats.org/drawingml/2006/main"/>
        </p:blipFill>
        <p:spPr>
          <a:xfrm xmlns:a="http://schemas.openxmlformats.org/drawingml/2006/main">
            <a:off x="8572500" y="3002340"/>
            <a:ext cx="502920" cy="205621"/>
          </a:xfrm>
          <a:prstGeom xmlns:a="http://schemas.openxmlformats.org/drawingml/2006/main" prst="rect">
            <a:avLst/>
          </a:prstGeom>
        </p:spPr>
      </p:pic>
      <p:pic>
        <p:nvPicPr>
          <p:cNvPr id="153" name="!!receiver-flow-dense-equation-0" descr="\textstyle \text{RF: input carrier }f_c=100\ \mathrm{kHz};\quad\text{IF: translated carrier }f_{IF}=20\ \mathrm{kHz}"/>
          <p:cNvPicPr>
            <a:picLocks xmlns:a="http://schemas.openxmlformats.org/drawingml/2006/main" noChangeAspect="1"/>
          </p:cNvPicPr>
          <p:nvPr/>
        </p:nvPicPr>
        <p:blipFill>
          <a:blip xmlns:r="http://schemas.openxmlformats.org/officeDocument/2006/relationships" xmlns:a="http://schemas.openxmlformats.org/drawingml/2006/main" r:embed="Ra0495fb5dffa4495">
            <a:extLst>
              <a:ext uri="{96DAC541-7B7A-43D3-8B79-37D633B846F1}">
                <ns18:svgBlip xmlns:ns18="http://schemas.microsoft.com/office/drawing/2016/SVG/main" r:embed="rIdVectormf00354"/>
              </a:ext>
            </a:extLst>
          </a:blip>
          <a:stretch xmlns:a="http://schemas.openxmlformats.org/drawingml/2006/main"/>
        </p:blipFill>
        <p:spPr>
          <a:xfrm xmlns:a="http://schemas.openxmlformats.org/drawingml/2006/main">
            <a:off x="609600" y="5089327"/>
            <a:ext cx="8543925" cy="219789"/>
          </a:xfrm>
          <a:prstGeom xmlns:a="http://schemas.openxmlformats.org/drawingml/2006/main" prst="rect">
            <a:avLst/>
          </a:prstGeom>
        </p:spPr>
      </p:pic>
      <p:pic>
        <p:nvPicPr>
          <p:cNvPr id="154" name="!!receiver-flow-dense-equation-1" descr="\textstyle f_{LO}=f_c-f_{IF}=80\ \mathrm{kHz}"/>
          <p:cNvPicPr>
            <a:picLocks xmlns:a="http://schemas.openxmlformats.org/drawingml/2006/main" noChangeAspect="1"/>
          </p:cNvPicPr>
          <p:nvPr/>
        </p:nvPicPr>
        <p:blipFill>
          <a:blip xmlns:r="http://schemas.openxmlformats.org/officeDocument/2006/relationships" xmlns:a="http://schemas.openxmlformats.org/drawingml/2006/main" r:embed="Rb63bbf8da22648fa">
            <a:extLst>
              <a:ext uri="{96DAC541-7B7A-43D3-8B79-37D633B846F1}">
                <ns19:svgBlip xmlns:ns19="http://schemas.microsoft.com/office/drawing/2016/SVG/main" r:embed="rIdVectormf00355"/>
              </a:ext>
            </a:extLst>
          </a:blip>
          <a:stretch xmlns:a="http://schemas.openxmlformats.org/drawingml/2006/main"/>
        </p:blipFill>
        <p:spPr>
          <a:xfrm xmlns:a="http://schemas.openxmlformats.org/drawingml/2006/main">
            <a:off x="684720" y="5490686"/>
            <a:ext cx="2747264" cy="198120"/>
          </a:xfrm>
          <a:prstGeom xmlns:a="http://schemas.openxmlformats.org/drawingml/2006/main" prst="rect">
            <a:avLst/>
          </a:prstGeom>
        </p:spPr>
      </p:pic>
      <p:pic>
        <p:nvPicPr>
          <p:cNvPr id="155" name="!!receiver-flow-dense-equation-2" descr="\textstyle s_{IF}(t)=m(t)\cos(2\pi\cdot20{,}000t)"/>
          <p:cNvPicPr>
            <a:picLocks xmlns:a="http://schemas.openxmlformats.org/drawingml/2006/main" noChangeAspect="1"/>
          </p:cNvPicPr>
          <p:nvPr/>
        </p:nvPicPr>
        <p:blipFill>
          <a:blip xmlns:r="http://schemas.openxmlformats.org/officeDocument/2006/relationships" xmlns:a="http://schemas.openxmlformats.org/drawingml/2006/main" r:embed="Rf6364a76d0fb488f">
            <a:extLst>
              <a:ext uri="{96DAC541-7B7A-43D3-8B79-37D633B846F1}">
                <ns20:svgBlip xmlns:ns20="http://schemas.microsoft.com/office/drawing/2016/SVG/main" r:embed="rIdVectormf00356"/>
              </a:ext>
            </a:extLst>
          </a:blip>
          <a:stretch xmlns:a="http://schemas.openxmlformats.org/drawingml/2006/main"/>
        </p:blipFill>
        <p:spPr>
          <a:xfrm xmlns:a="http://schemas.openxmlformats.org/drawingml/2006/main">
            <a:off x="609600" y="5856446"/>
            <a:ext cx="3689985" cy="247650"/>
          </a:xfrm>
          <a:prstGeom xmlns:a="http://schemas.openxmlformats.org/drawingml/2006/main" prst="rect">
            <a:avLst/>
          </a:prstGeom>
        </p:spPr>
      </p:pic>
      <p:pic>
        <p:nvPicPr>
          <p:cNvPr id="156" name="!!receiver-flow-dense-equation-3" descr="\textstyle \mathrm{LPF}\{2s_{IF}(t)\cos(2\pi\cdot20{,}000t)\}=m(t)"/>
          <p:cNvPicPr>
            <a:picLocks xmlns:a="http://schemas.openxmlformats.org/drawingml/2006/main" noChangeAspect="1"/>
          </p:cNvPicPr>
          <p:nvPr/>
        </p:nvPicPr>
        <p:blipFill>
          <a:blip xmlns:r="http://schemas.openxmlformats.org/officeDocument/2006/relationships" xmlns:a="http://schemas.openxmlformats.org/drawingml/2006/main" r:embed="R5e10935d57404357">
            <a:extLst>
              <a:ext uri="{96DAC541-7B7A-43D3-8B79-37D633B846F1}">
                <ns21:svgBlip xmlns:ns21="http://schemas.microsoft.com/office/drawing/2016/SVG/main" r:embed="rIdVectormf00357"/>
              </a:ext>
            </a:extLst>
          </a:blip>
          <a:stretch xmlns:a="http://schemas.openxmlformats.org/drawingml/2006/main"/>
        </p:blipFill>
        <p:spPr>
          <a:xfrm xmlns:a="http://schemas.openxmlformats.org/drawingml/2006/main">
            <a:off x="609600" y="6246971"/>
            <a:ext cx="4655820" cy="247650"/>
          </a:xfrm>
          <a:prstGeom xmlns:a="http://schemas.openxmlformats.org/drawingml/2006/main" prst="rect">
            <a:avLst/>
          </a:prstGeom>
        </p:spPr>
      </p:pic>
    </p:spTree>
    <p:extLst>
      <p:ext uri="{BB962C8B-B14F-4D97-AF65-F5344CB8AC3E}">
        <p14:creationId xmlns:p14="http://schemas.microsoft.com/office/powerpoint/2010/main" val="46070868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400"/>
                                        <p:tgtEl>
                                          <p:spTgt spid="50"/>
                                        </p:tgtEl>
                                      </p:cBhvr>
                                    </p:animEffect>
                                  </p:childTnLst>
                                </p:cTn>
                              </p:par>
                              <p:par>
                                <p:cTn id="11" presetID="10" presetClass="entr" presetSubtype="0"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fade">
                                      <p:cBhvr>
                                        <p:cTn id="13" dur="400"/>
                                        <p:tgtEl>
                                          <p:spTgt spid="5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4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400"/>
                                        <p:tgtEl>
                                          <p:spTgt spid="43"/>
                                        </p:tgtEl>
                                      </p:cBhvr>
                                    </p:animEffect>
                                  </p:childTnLst>
                                </p:cTn>
                              </p:par>
                              <p:par>
                                <p:cTn id="25" presetID="10"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200"/>
                                        <p:tgtEl>
                                          <p:spTgt spid="52"/>
                                        </p:tgtEl>
                                      </p:cBhvr>
                                    </p:animEffect>
                                    <p:animMotion origin="layout" pathEditMode="relative" path="M -0.40416667 0.00000000 L 0.00000000 0.00000000 E">
                                      <p:cBhvr>
                                        <p:cTn id="28" dur="700" fill="hold"/>
                                        <p:tgtEl>
                                          <p:spTgt spid="52"/>
                                        </p:tgtEl>
                                        <p:attrNameLst>
                                          <p:attrName>ppt_x</p:attrName>
                                          <p:attrName>ppt_y</p:attrName>
                                        </p:attrNameLst>
                                      </p:cBhvr>
                                    </p:animMotion>
                                  </p:childTnLst>
                                </p:cTn>
                              </p:par>
                              <p:par>
                                <p:cTn id="29" presetID="10"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200"/>
                                        <p:tgtEl>
                                          <p:spTgt spid="53"/>
                                        </p:tgtEl>
                                      </p:cBhvr>
                                    </p:animEffect>
                                    <p:animMotion origin="layout" pathEditMode="relative" path="M -0.25208333 0.00000000 L 0.00000000 0.00000000 E">
                                      <p:cBhvr>
                                        <p:cTn id="32" dur="700" fill="hold"/>
                                        <p:tgtEl>
                                          <p:spTgt spid="53"/>
                                        </p:tgtEl>
                                        <p:attrNameLst>
                                          <p:attrName>ppt_x</p:attrName>
                                          <p:attrName>ppt_y</p:attrName>
                                        </p:attrNameLst>
                                      </p:cBhvr>
                                    </p:animMotion>
                                  </p:childTnLst>
                                </p:cTn>
                              </p:par>
                              <p:par>
                                <p:cTn id="33" presetID="10"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400"/>
                                        <p:tgtEl>
                                          <p:spTgt spid="54"/>
                                        </p:tgtEl>
                                      </p:cBhvr>
                                    </p:animEffect>
                                  </p:childTnLst>
                                </p:cTn>
                              </p:par>
                              <p:par>
                                <p:cTn id="36" presetID="10" presetClass="entr" presetSubtype="0" fill="hold" nodeType="with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fade">
                                      <p:cBhvr>
                                        <p:cTn id="38" dur="400"/>
                                        <p:tgtEl>
                                          <p:spTgt spid="55"/>
                                        </p:tgtEl>
                                      </p:cBhvr>
                                    </p:animEffect>
                                  </p:childTnLst>
                                </p:cTn>
                              </p:par>
                              <p:par>
                                <p:cTn id="39" presetID="10" presetClass="entr" presetSubtype="0" fill="hold" nodeType="withEffect">
                                  <p:stCondLst>
                                    <p:cond delay="0"/>
                                  </p:stCondLst>
                                  <p:childTnLst>
                                    <p:set>
                                      <p:cBhvr>
                                        <p:cTn id="40" dur="1" fill="hold">
                                          <p:stCondLst>
                                            <p:cond delay="0"/>
                                          </p:stCondLst>
                                        </p:cTn>
                                        <p:tgtEl>
                                          <p:spTgt spid="154"/>
                                        </p:tgtEl>
                                        <p:attrNameLst>
                                          <p:attrName>style.visibility</p:attrName>
                                        </p:attrNameLst>
                                      </p:cBhvr>
                                      <p:to>
                                        <p:strVal val="visible"/>
                                      </p:to>
                                    </p:set>
                                    <p:animEffect transition="in" filter="fade">
                                      <p:cBhvr>
                                        <p:cTn id="41" dur="400"/>
                                        <p:tgtEl>
                                          <p:spTgt spid="154"/>
                                        </p:tgtEl>
                                      </p:cBhvr>
                                    </p:animEffect>
                                  </p:childTnLst>
                                </p:cTn>
                              </p:par>
                              <p:par>
                                <p:cTn id="42" presetID="10" presetClass="entr" presetSubtype="0" fill="hold" nodeType="withEffect">
                                  <p:stCondLst>
                                    <p:cond delay="0"/>
                                  </p:stCondLst>
                                  <p:childTnLst>
                                    <p:set>
                                      <p:cBhvr>
                                        <p:cTn id="43" dur="1" fill="hold">
                                          <p:stCondLst>
                                            <p:cond delay="0"/>
                                          </p:stCondLst>
                                        </p:cTn>
                                        <p:tgtEl>
                                          <p:spTgt spid="155"/>
                                        </p:tgtEl>
                                        <p:attrNameLst>
                                          <p:attrName>style.visibility</p:attrName>
                                        </p:attrNameLst>
                                      </p:cBhvr>
                                      <p:to>
                                        <p:strVal val="visible"/>
                                      </p:to>
                                    </p:set>
                                    <p:animEffect transition="in" filter="fade">
                                      <p:cBhvr>
                                        <p:cTn id="44" dur="400"/>
                                        <p:tgtEl>
                                          <p:spTgt spid="15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400"/>
                                        <p:tgtEl>
                                          <p:spTgt spid="47"/>
                                        </p:tgtEl>
                                      </p:cBhvr>
                                    </p:animEffect>
                                  </p:childTnLst>
                                </p:cTn>
                              </p:par>
                              <p:par>
                                <p:cTn id="53" presetID="10" presetClass="entr" presetSubtype="0" fill="hold" nodeType="with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400"/>
                                        <p:tgtEl>
                                          <p:spTgt spid="56"/>
                                        </p:tgtEl>
                                      </p:cBhvr>
                                    </p:animEffect>
                                  </p:childTnLst>
                                </p:cTn>
                              </p:par>
                              <p:par>
                                <p:cTn id="56" presetID="10" presetClass="entr" presetSubtype="0" fill="hold" nodeType="withEffect">
                                  <p:stCondLst>
                                    <p:cond delay="0"/>
                                  </p:stCondLst>
                                  <p:childTnLst>
                                    <p:set>
                                      <p:cBhvr>
                                        <p:cTn id="57" dur="1" fill="hold">
                                          <p:stCondLst>
                                            <p:cond delay="0"/>
                                          </p:stCondLst>
                                        </p:cTn>
                                        <p:tgtEl>
                                          <p:spTgt spid="156"/>
                                        </p:tgtEl>
                                        <p:attrNameLst>
                                          <p:attrName>style.visibility</p:attrName>
                                        </p:attrNameLst>
                                      </p:cBhvr>
                                      <p:to>
                                        <p:strVal val="visible"/>
                                      </p:to>
                                    </p:set>
                                    <p:animEffect transition="in" filter="fade">
                                      <p:cBhvr>
                                        <p:cTn id="58" dur="4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43" grpId="0" animBg="1"/>
      <p:bldP spid="21" grpId="0" animBg="1"/>
      <p:bldP spid="47" grpId="0" animBg="1"/>
    </p:bldLst>
  </p:timing>
</p:sld>
</file>

<file path=ppt/slides/methods_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q3-title">
            <ns0:hlinkClick xmlns:ns0="http://schemas.openxmlformats.org/drawingml/2006/main" xmlns:ns1="http://schemas.openxmlformats.org/officeDocument/2006/relationships" ns1:id="rIdmethods_Link66" action="ppaction://hlinksldjump"/>
            <a:extLst xmlns:a="http://schemas.openxmlformats.org/drawingml/2006/main">
              <a:ext uri="{FF2B5EF4-FFF2-40B4-BE49-F238E27FC236}">
                <a16:creationId xmlns:a16="http://schemas.microsoft.com/office/drawing/2014/main" id="{ED0B354B-20DE-42E4-97AE-43154AA70913}"/>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66" action="ppaction://hlinksldjump"/>
              </a:rPr>
              <a:t>FDM</a:t>
            </a:r>
          </a:p>
        </p:txBody>
      </p:sp>
      <p:sp>
        <p:nvSpPr>
          <p:cNvPr id="2" name="!!q3-subtitle">
            <a:extLst xmlns:a="http://schemas.openxmlformats.org/drawingml/2006/main">
              <a:ext uri="{FF2B5EF4-FFF2-40B4-BE49-F238E27FC236}">
                <a16:creationId xmlns:a16="http://schemas.microsoft.com/office/drawing/2014/main" id="{2DB7C120-B4E9-4553-930B-EADF8DFD812A}"/>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Two modulated signals (application)</a:t>
            </a:r>
          </a:p>
        </p:txBody>
      </p:sp>
      <p:sp>
        <p:nvSpPr>
          <p:cNvPr id="3" name="!!q3-route-tx-line">
            <a:extLst xmlns:a="http://schemas.openxmlformats.org/drawingml/2006/main">
              <a:ext uri="{FF2B5EF4-FFF2-40B4-BE49-F238E27FC236}">
                <a16:creationId xmlns:a16="http://schemas.microsoft.com/office/drawing/2014/main" id="{F5F88B32-10C5-4014-A03F-92977E7CC080}"/>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q3-route-tx-head">
            <a:extLst xmlns:a="http://schemas.openxmlformats.org/drawingml/2006/main">
              <a:ext uri="{FF2B5EF4-FFF2-40B4-BE49-F238E27FC236}">
                <a16:creationId xmlns:a16="http://schemas.microsoft.com/office/drawing/2014/main" id="{91929848-092C-4E5A-8327-28A65FD06B7D}"/>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q3-route-rx-line">
            <a:extLst xmlns:a="http://schemas.openxmlformats.org/drawingml/2006/main">
              <a:ext uri="{FF2B5EF4-FFF2-40B4-BE49-F238E27FC236}">
                <a16:creationId xmlns:a16="http://schemas.microsoft.com/office/drawing/2014/main" id="{E785E390-C321-4AA9-8D8E-F68FDE2A67A4}"/>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q3-route-rx-head">
            <a:extLst xmlns:a="http://schemas.openxmlformats.org/drawingml/2006/main">
              <a:ext uri="{FF2B5EF4-FFF2-40B4-BE49-F238E27FC236}">
                <a16:creationId xmlns:a16="http://schemas.microsoft.com/office/drawing/2014/main" id="{BEF63C4A-8EB2-4553-A186-1F3D9ECE93E6}"/>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q3-question">
            <a:extLst xmlns:a="http://schemas.openxmlformats.org/drawingml/2006/main">
              <a:ext uri="{FF2B5EF4-FFF2-40B4-BE49-F238E27FC236}">
                <a16:creationId xmlns:a16="http://schemas.microsoft.com/office/drawing/2014/main" id="{73252D28-4B0C-45EF-85D4-D223262D103E}"/>
              </a:ext>
            </a:extLst>
          </p:cNvPr>
          <p:cNvSpPr>
            <a:spLocks xmlns:a="http://schemas.openxmlformats.org/drawingml/2006/main" noGrp="1"/>
          </p:cNvSpPr>
          <p:nvPr/>
        </p:nvSpPr>
        <p:spPr>
          <a:xfrm xmlns:a="http://schemas.openxmlformats.org/drawingml/2006/main">
            <a:off x="666750" y="18859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Different RF carriers, the same IF</a:t>
            </a:r>
          </a:p>
        </p:txBody>
      </p:sp>
      <p:sp>
        <p:nvSpPr>
          <p:cNvPr id="8" name="!!q3-input">
            <a:extLst xmlns:a="http://schemas.openxmlformats.org/drawingml/2006/main">
              <a:ext uri="{FF2B5EF4-FFF2-40B4-BE49-F238E27FC236}">
                <a16:creationId xmlns:a16="http://schemas.microsoft.com/office/drawing/2014/main" id="{ED7222B4-0230-49F7-A621-8E08A9CC1244}"/>
              </a:ext>
            </a:extLst>
          </p:cNvPr>
          <p:cNvSpPr>
            <a:spLocks xmlns:a="http://schemas.openxmlformats.org/drawingml/2006/main" noGrp="1"/>
          </p:cNvSpPr>
          <p:nvPr/>
        </p:nvSpPr>
        <p:spPr>
          <a:xfrm xmlns:a="http://schemas.openxmlformats.org/drawingml/2006/main">
            <a:off x="666750" y="23622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Input (RF)</a:t>
            </a:r>
          </a:p>
        </p:txBody>
      </p:sp>
      <p:sp>
        <p:nvSpPr>
          <p:cNvPr id="9" name="!!q3-output">
            <a:extLst xmlns:a="http://schemas.openxmlformats.org/drawingml/2006/main">
              <a:ext uri="{FF2B5EF4-FFF2-40B4-BE49-F238E27FC236}">
                <a16:creationId xmlns:a16="http://schemas.microsoft.com/office/drawing/2014/main" id="{07921C40-040F-426F-B01C-D0EE8BB9F214}"/>
              </a:ext>
            </a:extLst>
          </p:cNvPr>
          <p:cNvSpPr>
            <a:spLocks xmlns:a="http://schemas.openxmlformats.org/drawingml/2006/main" noGrp="1"/>
          </p:cNvSpPr>
          <p:nvPr/>
        </p:nvSpPr>
        <p:spPr>
          <a:xfrm xmlns:a="http://schemas.openxmlformats.org/drawingml/2006/main">
            <a:off x="8286750" y="2362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Output (IF)</a:t>
            </a:r>
          </a:p>
        </p:txBody>
      </p:sp>
      <p:sp>
        <p:nvSpPr>
          <p:cNvPr id="10" name="!!q3-units">
            <a:extLst xmlns:a="http://schemas.openxmlformats.org/drawingml/2006/main">
              <a:ext uri="{FF2B5EF4-FFF2-40B4-BE49-F238E27FC236}">
                <a16:creationId xmlns:a16="http://schemas.microsoft.com/office/drawing/2014/main" id="{3BEDA8C8-3819-4D8B-92F1-BDD3AE786E6A}"/>
              </a:ext>
            </a:extLst>
          </p:cNvPr>
          <p:cNvSpPr>
            <a:spLocks xmlns:a="http://schemas.openxmlformats.org/drawingml/2006/main" noGrp="1"/>
          </p:cNvSpPr>
          <p:nvPr/>
        </p:nvSpPr>
        <p:spPr>
          <a:xfrm xmlns:a="http://schemas.openxmlformats.org/drawingml/2006/main">
            <a:off x="666750" y="45339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f in kHz</a:t>
            </a:r>
          </a:p>
        </p:txBody>
      </p:sp>
      <p:sp>
        <p:nvSpPr>
          <p:cNvPr id="11" name="!!q3-input0-axis-line">
            <a:extLst xmlns:a="http://schemas.openxmlformats.org/drawingml/2006/main">
              <a:ext uri="{FF2B5EF4-FFF2-40B4-BE49-F238E27FC236}">
                <a16:creationId xmlns:a16="http://schemas.microsoft.com/office/drawing/2014/main" id="{702E39DD-DD83-494C-94AE-FC48D1AC895C}"/>
              </a:ext>
            </a:extLst>
          </p:cNvPr>
          <p:cNvSpPr>
            <a:spLocks xmlns:a="http://schemas.openxmlformats.org/drawingml/2006/main" noGrp="1"/>
          </p:cNvSpPr>
          <p:nvPr/>
        </p:nvSpPr>
        <p:spPr>
          <a:xfrm xmlns:a="http://schemas.openxmlformats.org/drawingml/2006/main">
            <a:off x="666750" y="3133725"/>
            <a:ext cx="3048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q3-input0-axis-head">
            <a:extLst xmlns:a="http://schemas.openxmlformats.org/drawingml/2006/main">
              <a:ext uri="{FF2B5EF4-FFF2-40B4-BE49-F238E27FC236}">
                <a16:creationId xmlns:a16="http://schemas.microsoft.com/office/drawing/2014/main" id="{23A9F52E-319A-419A-8698-0EB436414FF1}"/>
              </a:ext>
            </a:extLst>
          </p:cNvPr>
          <p:cNvSpPr>
            <a:spLocks xmlns:a="http://schemas.openxmlformats.org/drawingml/2006/main" noGrp="1"/>
          </p:cNvSpPr>
          <p:nvPr/>
        </p:nvSpPr>
        <p:spPr>
          <a:xfrm xmlns:a="http://schemas.openxmlformats.org/drawingml/2006/main" rot="5400000">
            <a:off x="3695700" y="30861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3" name="!!q3-input0-tick0">
            <a:extLst xmlns:a="http://schemas.openxmlformats.org/drawingml/2006/main">
              <a:ext uri="{FF2B5EF4-FFF2-40B4-BE49-F238E27FC236}">
                <a16:creationId xmlns:a16="http://schemas.microsoft.com/office/drawing/2014/main" id="{E9B349A8-8687-41FB-BE0F-544F45545C94}"/>
              </a:ext>
            </a:extLst>
          </p:cNvPr>
          <p:cNvSpPr>
            <a:spLocks xmlns:a="http://schemas.openxmlformats.org/drawingml/2006/main" noGrp="1"/>
          </p:cNvSpPr>
          <p:nvPr/>
        </p:nvSpPr>
        <p:spPr>
          <a:xfrm xmlns:a="http://schemas.openxmlformats.org/drawingml/2006/main">
            <a:off x="1256109" y="31337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q3-input0-tick1">
            <a:extLst xmlns:a="http://schemas.openxmlformats.org/drawingml/2006/main">
              <a:ext uri="{FF2B5EF4-FFF2-40B4-BE49-F238E27FC236}">
                <a16:creationId xmlns:a16="http://schemas.microsoft.com/office/drawing/2014/main" id="{9F5E55CA-C595-4ED8-9E58-C7D61C798B0E}"/>
              </a:ext>
            </a:extLst>
          </p:cNvPr>
          <p:cNvSpPr>
            <a:spLocks xmlns:a="http://schemas.openxmlformats.org/drawingml/2006/main" noGrp="1"/>
          </p:cNvSpPr>
          <p:nvPr/>
        </p:nvSpPr>
        <p:spPr>
          <a:xfrm xmlns:a="http://schemas.openxmlformats.org/drawingml/2006/main">
            <a:off x="2238375" y="31337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q3-input0-tick2">
            <a:extLst xmlns:a="http://schemas.openxmlformats.org/drawingml/2006/main">
              <a:ext uri="{FF2B5EF4-FFF2-40B4-BE49-F238E27FC236}">
                <a16:creationId xmlns:a16="http://schemas.microsoft.com/office/drawing/2014/main" id="{EEBB1C21-2CD6-40E1-A82D-19FAA69FA417}"/>
              </a:ext>
            </a:extLst>
          </p:cNvPr>
          <p:cNvSpPr>
            <a:spLocks xmlns:a="http://schemas.openxmlformats.org/drawingml/2006/main" noGrp="1"/>
          </p:cNvSpPr>
          <p:nvPr/>
        </p:nvSpPr>
        <p:spPr>
          <a:xfrm xmlns:a="http://schemas.openxmlformats.org/drawingml/2006/main">
            <a:off x="3220641" y="31337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q3-input-band0-1">
            <a:extLst xmlns:a="http://schemas.openxmlformats.org/drawingml/2006/main">
              <a:ext uri="{FF2B5EF4-FFF2-40B4-BE49-F238E27FC236}">
                <a16:creationId xmlns:a16="http://schemas.microsoft.com/office/drawing/2014/main" id="{48903EB1-DD6B-4515-951E-9DABAE2A111C}"/>
              </a:ext>
            </a:extLst>
          </p:cNvPr>
          <p:cNvSpPr>
            <a:spLocks xmlns:a="http://schemas.openxmlformats.org/drawingml/2006/main" noGrp="1"/>
          </p:cNvSpPr>
          <p:nvPr/>
        </p:nvSpPr>
        <p:spPr>
          <a:xfrm xmlns:a="http://schemas.openxmlformats.org/drawingml/2006/main">
            <a:off x="1216819" y="2800350"/>
            <a:ext cx="78581" cy="333375"/>
          </a:xfrm>
          <a:custGeom xmlns:a="http://schemas.openxmlformats.org/drawingml/2006/main">
            <a:pathLst>
              <a:path w="78581" h="333375">
                <a:moveTo>
                  <a:pt x="0" y="333375"/>
                </a:moveTo>
                <a:lnTo>
                  <a:pt x="39291" y="0"/>
                </a:lnTo>
                <a:lnTo>
                  <a:pt x="78581" y="333375"/>
                </a:lnTo>
                <a:close/>
              </a:path>
            </a:pathLst>
          </a:custGeom>
          <a:solidFill xmlns:a="http://schemas.openxmlformats.org/drawingml/2006/main">
            <a:srgbClr val="535353"/>
          </a:solidFill>
          <a:ln xmlns:a="http://schemas.openxmlformats.org/drawingml/2006/main" w="10478">
            <a:solidFill>
              <a:srgbClr val="202020"/>
            </a:solidFill>
          </a:ln>
        </p:spPr>
      </p:sp>
      <p:sp>
        <p:nvSpPr>
          <p:cNvPr id="17" name="!!q3-input-band01">
            <a:extLst xmlns:a="http://schemas.openxmlformats.org/drawingml/2006/main">
              <a:ext uri="{FF2B5EF4-FFF2-40B4-BE49-F238E27FC236}">
                <a16:creationId xmlns:a16="http://schemas.microsoft.com/office/drawing/2014/main" id="{EAFABDF6-49BB-4C9A-94A9-14320C8D4A22}"/>
              </a:ext>
            </a:extLst>
          </p:cNvPr>
          <p:cNvSpPr>
            <a:spLocks xmlns:a="http://schemas.openxmlformats.org/drawingml/2006/main" noGrp="1"/>
          </p:cNvSpPr>
          <p:nvPr/>
        </p:nvSpPr>
        <p:spPr>
          <a:xfrm xmlns:a="http://schemas.openxmlformats.org/drawingml/2006/main">
            <a:off x="3181350" y="2800350"/>
            <a:ext cx="78581" cy="333375"/>
          </a:xfrm>
          <a:custGeom xmlns:a="http://schemas.openxmlformats.org/drawingml/2006/main">
            <a:pathLst>
              <a:path w="78581" h="333375">
                <a:moveTo>
                  <a:pt x="0" y="333375"/>
                </a:moveTo>
                <a:lnTo>
                  <a:pt x="39291" y="0"/>
                </a:lnTo>
                <a:lnTo>
                  <a:pt x="78581" y="333375"/>
                </a:lnTo>
                <a:close/>
              </a:path>
            </a:pathLst>
          </a:custGeom>
          <a:solidFill xmlns:a="http://schemas.openxmlformats.org/drawingml/2006/main">
            <a:srgbClr val="535353"/>
          </a:solidFill>
          <a:ln xmlns:a="http://schemas.openxmlformats.org/drawingml/2006/main" w="10478">
            <a:solidFill>
              <a:srgbClr val="202020"/>
            </a:solidFill>
          </a:ln>
        </p:spPr>
      </p:sp>
      <p:sp>
        <p:nvSpPr>
          <p:cNvPr id="18" name="!!q3-output0-axis-line">
            <a:extLst xmlns:a="http://schemas.openxmlformats.org/drawingml/2006/main">
              <a:ext uri="{FF2B5EF4-FFF2-40B4-BE49-F238E27FC236}">
                <a16:creationId xmlns:a16="http://schemas.microsoft.com/office/drawing/2014/main" id="{D5536573-BB18-483F-9225-EF1891E4C652}"/>
              </a:ext>
            </a:extLst>
          </p:cNvPr>
          <p:cNvSpPr>
            <a:spLocks xmlns:a="http://schemas.openxmlformats.org/drawingml/2006/main" noGrp="1"/>
          </p:cNvSpPr>
          <p:nvPr/>
        </p:nvSpPr>
        <p:spPr>
          <a:xfrm xmlns:a="http://schemas.openxmlformats.org/drawingml/2006/main">
            <a:off x="8286750" y="3133725"/>
            <a:ext cx="3048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q3-output0-axis-head">
            <a:extLst xmlns:a="http://schemas.openxmlformats.org/drawingml/2006/main">
              <a:ext uri="{FF2B5EF4-FFF2-40B4-BE49-F238E27FC236}">
                <a16:creationId xmlns:a16="http://schemas.microsoft.com/office/drawing/2014/main" id="{8BC53676-C1A1-422D-B188-AE50EA9E33C4}"/>
              </a:ext>
            </a:extLst>
          </p:cNvPr>
          <p:cNvSpPr>
            <a:spLocks xmlns:a="http://schemas.openxmlformats.org/drawingml/2006/main" noGrp="1"/>
          </p:cNvSpPr>
          <p:nvPr/>
        </p:nvSpPr>
        <p:spPr>
          <a:xfrm xmlns:a="http://schemas.openxmlformats.org/drawingml/2006/main" rot="5400000">
            <a:off x="11315700" y="30861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0" name="!!q3-output0-tick0">
            <a:extLst xmlns:a="http://schemas.openxmlformats.org/drawingml/2006/main">
              <a:ext uri="{FF2B5EF4-FFF2-40B4-BE49-F238E27FC236}">
                <a16:creationId xmlns:a16="http://schemas.microsoft.com/office/drawing/2014/main" id="{5EB0D958-EA4D-4390-BA36-15B5306315F5}"/>
              </a:ext>
            </a:extLst>
          </p:cNvPr>
          <p:cNvSpPr>
            <a:spLocks xmlns:a="http://schemas.openxmlformats.org/drawingml/2006/main" noGrp="1"/>
          </p:cNvSpPr>
          <p:nvPr/>
        </p:nvSpPr>
        <p:spPr>
          <a:xfrm xmlns:a="http://schemas.openxmlformats.org/drawingml/2006/main">
            <a:off x="9661922" y="31337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q3-output0-tick1">
            <a:extLst xmlns:a="http://schemas.openxmlformats.org/drawingml/2006/main">
              <a:ext uri="{FF2B5EF4-FFF2-40B4-BE49-F238E27FC236}">
                <a16:creationId xmlns:a16="http://schemas.microsoft.com/office/drawing/2014/main" id="{3C7066B8-9630-4557-80BB-AD204EA0A9D0}"/>
              </a:ext>
            </a:extLst>
          </p:cNvPr>
          <p:cNvSpPr>
            <a:spLocks xmlns:a="http://schemas.openxmlformats.org/drawingml/2006/main" noGrp="1"/>
          </p:cNvSpPr>
          <p:nvPr/>
        </p:nvSpPr>
        <p:spPr>
          <a:xfrm xmlns:a="http://schemas.openxmlformats.org/drawingml/2006/main">
            <a:off x="9858375" y="31337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q3-output0-tick2">
            <a:extLst xmlns:a="http://schemas.openxmlformats.org/drawingml/2006/main">
              <a:ext uri="{FF2B5EF4-FFF2-40B4-BE49-F238E27FC236}">
                <a16:creationId xmlns:a16="http://schemas.microsoft.com/office/drawing/2014/main" id="{30033F7B-F2DE-4200-8E4B-2D73956510A3}"/>
              </a:ext>
            </a:extLst>
          </p:cNvPr>
          <p:cNvSpPr>
            <a:spLocks xmlns:a="http://schemas.openxmlformats.org/drawingml/2006/main" noGrp="1"/>
          </p:cNvSpPr>
          <p:nvPr/>
        </p:nvSpPr>
        <p:spPr>
          <a:xfrm xmlns:a="http://schemas.openxmlformats.org/drawingml/2006/main">
            <a:off x="10054828" y="31337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q3-station0">
            <a:extLst xmlns:a="http://schemas.openxmlformats.org/drawingml/2006/main">
              <a:ext uri="{FF2B5EF4-FFF2-40B4-BE49-F238E27FC236}">
                <a16:creationId xmlns:a16="http://schemas.microsoft.com/office/drawing/2014/main" id="{F6815C4A-C5EE-4A9D-8459-90CA6FEC6FC9}"/>
              </a:ext>
            </a:extLst>
          </p:cNvPr>
          <p:cNvSpPr>
            <a:spLocks xmlns:a="http://schemas.openxmlformats.org/drawingml/2006/main" noGrp="1"/>
          </p:cNvSpPr>
          <p:nvPr/>
        </p:nvSpPr>
        <p:spPr>
          <a:xfrm xmlns:a="http://schemas.openxmlformats.org/drawingml/2006/main">
            <a:off x="285750" y="2752725"/>
            <a:ext cx="30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A</a:t>
            </a:r>
          </a:p>
        </p:txBody>
      </p:sp>
      <p:sp>
        <p:nvSpPr>
          <p:cNvPr id="24" name="!!q3-shift0-line">
            <a:extLst xmlns:a="http://schemas.openxmlformats.org/drawingml/2006/main">
              <a:ext uri="{FF2B5EF4-FFF2-40B4-BE49-F238E27FC236}">
                <a16:creationId xmlns:a16="http://schemas.microsoft.com/office/drawing/2014/main" id="{01C553A4-DA28-4576-BE6B-88040A5E4C05}"/>
              </a:ext>
            </a:extLst>
          </p:cNvPr>
          <p:cNvSpPr>
            <a:spLocks xmlns:a="http://schemas.openxmlformats.org/drawingml/2006/main" noGrp="1"/>
          </p:cNvSpPr>
          <p:nvPr/>
        </p:nvSpPr>
        <p:spPr>
          <a:xfrm xmlns:a="http://schemas.openxmlformats.org/drawingml/2006/main">
            <a:off x="4210050" y="3086100"/>
            <a:ext cx="34290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5" name="!!q3-shift0-head">
            <a:extLst xmlns:a="http://schemas.openxmlformats.org/drawingml/2006/main">
              <a:ext uri="{FF2B5EF4-FFF2-40B4-BE49-F238E27FC236}">
                <a16:creationId xmlns:a16="http://schemas.microsoft.com/office/drawing/2014/main" id="{ACE21C10-795E-4DBE-947D-532674BA0861}"/>
              </a:ext>
            </a:extLst>
          </p:cNvPr>
          <p:cNvSpPr>
            <a:spLocks xmlns:a="http://schemas.openxmlformats.org/drawingml/2006/main" noGrp="1"/>
          </p:cNvSpPr>
          <p:nvPr/>
        </p:nvSpPr>
        <p:spPr>
          <a:xfrm xmlns:a="http://schemas.openxmlformats.org/drawingml/2006/main" rot="5400000">
            <a:off x="7620000" y="3038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6" name="!!q3-mix0">
            <a:extLst xmlns:a="http://schemas.openxmlformats.org/drawingml/2006/main">
              <a:ext uri="{FF2B5EF4-FFF2-40B4-BE49-F238E27FC236}">
                <a16:creationId xmlns:a16="http://schemas.microsoft.com/office/drawing/2014/main" id="{DD510F2B-194A-4952-ABDF-6D021828DF2A}"/>
              </a:ext>
            </a:extLst>
          </p:cNvPr>
          <p:cNvSpPr>
            <a:spLocks xmlns:a="http://schemas.openxmlformats.org/drawingml/2006/main" noGrp="1"/>
          </p:cNvSpPr>
          <p:nvPr/>
        </p:nvSpPr>
        <p:spPr>
          <a:xfrm xmlns:a="http://schemas.openxmlformats.org/drawingml/2006/main">
            <a:off x="4381500" y="2686050"/>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Mix 80 kHz + BPF</a:t>
            </a:r>
          </a:p>
        </p:txBody>
      </p:sp>
      <p:sp>
        <p:nvSpPr>
          <p:cNvPr id="27" name="!!q3-out0-1">
            <a:extLst xmlns:a="http://schemas.openxmlformats.org/drawingml/2006/main">
              <a:ext uri="{FF2B5EF4-FFF2-40B4-BE49-F238E27FC236}">
                <a16:creationId xmlns:a16="http://schemas.microsoft.com/office/drawing/2014/main" id="{8CD71581-3FE4-4369-A541-7440DA2A9DA9}"/>
              </a:ext>
            </a:extLst>
          </p:cNvPr>
          <p:cNvSpPr>
            <a:spLocks xmlns:a="http://schemas.openxmlformats.org/drawingml/2006/main" noGrp="1"/>
          </p:cNvSpPr>
          <p:nvPr/>
        </p:nvSpPr>
        <p:spPr>
          <a:xfrm xmlns:a="http://schemas.openxmlformats.org/drawingml/2006/main">
            <a:off x="9622631" y="2800350"/>
            <a:ext cx="78581" cy="333375"/>
          </a:xfrm>
          <a:custGeom xmlns:a="http://schemas.openxmlformats.org/drawingml/2006/main">
            <a:pathLst>
              <a:path w="78581" h="333375">
                <a:moveTo>
                  <a:pt x="0" y="333375"/>
                </a:moveTo>
                <a:lnTo>
                  <a:pt x="39291" y="0"/>
                </a:lnTo>
                <a:lnTo>
                  <a:pt x="78581" y="333375"/>
                </a:lnTo>
                <a:close/>
              </a:path>
            </a:pathLst>
          </a:custGeom>
          <a:solidFill xmlns:a="http://schemas.openxmlformats.org/drawingml/2006/main">
            <a:srgbClr val="535353"/>
          </a:solidFill>
          <a:ln xmlns:a="http://schemas.openxmlformats.org/drawingml/2006/main" w="10478">
            <a:solidFill>
              <a:srgbClr val="202020"/>
            </a:solidFill>
          </a:ln>
        </p:spPr>
      </p:sp>
      <p:sp>
        <p:nvSpPr>
          <p:cNvPr id="28" name="!!q3-out01">
            <a:extLst xmlns:a="http://schemas.openxmlformats.org/drawingml/2006/main">
              <a:ext uri="{FF2B5EF4-FFF2-40B4-BE49-F238E27FC236}">
                <a16:creationId xmlns:a16="http://schemas.microsoft.com/office/drawing/2014/main" id="{F946D6DD-FC87-4662-8508-D521D88FCC14}"/>
              </a:ext>
            </a:extLst>
          </p:cNvPr>
          <p:cNvSpPr>
            <a:spLocks xmlns:a="http://schemas.openxmlformats.org/drawingml/2006/main" noGrp="1"/>
          </p:cNvSpPr>
          <p:nvPr/>
        </p:nvSpPr>
        <p:spPr>
          <a:xfrm xmlns:a="http://schemas.openxmlformats.org/drawingml/2006/main">
            <a:off x="10015538" y="2800350"/>
            <a:ext cx="78581" cy="333375"/>
          </a:xfrm>
          <a:custGeom xmlns:a="http://schemas.openxmlformats.org/drawingml/2006/main">
            <a:pathLst>
              <a:path w="78581" h="333375">
                <a:moveTo>
                  <a:pt x="0" y="333375"/>
                </a:moveTo>
                <a:lnTo>
                  <a:pt x="39291" y="0"/>
                </a:lnTo>
                <a:lnTo>
                  <a:pt x="78581" y="333375"/>
                </a:lnTo>
                <a:close/>
              </a:path>
            </a:pathLst>
          </a:custGeom>
          <a:solidFill xmlns:a="http://schemas.openxmlformats.org/drawingml/2006/main">
            <a:srgbClr val="535353"/>
          </a:solidFill>
          <a:ln xmlns:a="http://schemas.openxmlformats.org/drawingml/2006/main" w="10478">
            <a:solidFill>
              <a:srgbClr val="202020"/>
            </a:solidFill>
          </a:ln>
        </p:spPr>
      </p:sp>
      <p:sp>
        <p:nvSpPr>
          <p:cNvPr id="29" name="!!q3-input1-axis-line">
            <a:extLst xmlns:a="http://schemas.openxmlformats.org/drawingml/2006/main">
              <a:ext uri="{FF2B5EF4-FFF2-40B4-BE49-F238E27FC236}">
                <a16:creationId xmlns:a16="http://schemas.microsoft.com/office/drawing/2014/main" id="{D9F0B21C-4E27-4940-86BC-536A8D7E9613}"/>
              </a:ext>
            </a:extLst>
          </p:cNvPr>
          <p:cNvSpPr>
            <a:spLocks xmlns:a="http://schemas.openxmlformats.org/drawingml/2006/main" noGrp="1"/>
          </p:cNvSpPr>
          <p:nvPr/>
        </p:nvSpPr>
        <p:spPr>
          <a:xfrm xmlns:a="http://schemas.openxmlformats.org/drawingml/2006/main">
            <a:off x="666750" y="4229100"/>
            <a:ext cx="3048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q3-input1-axis-head">
            <a:extLst xmlns:a="http://schemas.openxmlformats.org/drawingml/2006/main">
              <a:ext uri="{FF2B5EF4-FFF2-40B4-BE49-F238E27FC236}">
                <a16:creationId xmlns:a16="http://schemas.microsoft.com/office/drawing/2014/main" id="{6B08FF52-EF42-490C-B984-695BFFF5EFC3}"/>
              </a:ext>
            </a:extLst>
          </p:cNvPr>
          <p:cNvSpPr>
            <a:spLocks xmlns:a="http://schemas.openxmlformats.org/drawingml/2006/main" noGrp="1"/>
          </p:cNvSpPr>
          <p:nvPr/>
        </p:nvSpPr>
        <p:spPr>
          <a:xfrm xmlns:a="http://schemas.openxmlformats.org/drawingml/2006/main" rot="5400000">
            <a:off x="3695700" y="41814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1" name="!!q3-input1-tick0">
            <a:extLst xmlns:a="http://schemas.openxmlformats.org/drawingml/2006/main">
              <a:ext uri="{FF2B5EF4-FFF2-40B4-BE49-F238E27FC236}">
                <a16:creationId xmlns:a16="http://schemas.microsoft.com/office/drawing/2014/main" id="{43A1D30C-DA23-4F9B-AA3C-EBCCC4D4FB87}"/>
              </a:ext>
            </a:extLst>
          </p:cNvPr>
          <p:cNvSpPr>
            <a:spLocks xmlns:a="http://schemas.openxmlformats.org/drawingml/2006/main" noGrp="1"/>
          </p:cNvSpPr>
          <p:nvPr/>
        </p:nvSpPr>
        <p:spPr>
          <a:xfrm xmlns:a="http://schemas.openxmlformats.org/drawingml/2006/main">
            <a:off x="1059656" y="42291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2" name="!!q3-input1-tick1">
            <a:extLst xmlns:a="http://schemas.openxmlformats.org/drawingml/2006/main">
              <a:ext uri="{FF2B5EF4-FFF2-40B4-BE49-F238E27FC236}">
                <a16:creationId xmlns:a16="http://schemas.microsoft.com/office/drawing/2014/main" id="{B6768034-D0ED-4CE1-A132-5149D7B3B490}"/>
              </a:ext>
            </a:extLst>
          </p:cNvPr>
          <p:cNvSpPr>
            <a:spLocks xmlns:a="http://schemas.openxmlformats.org/drawingml/2006/main" noGrp="1"/>
          </p:cNvSpPr>
          <p:nvPr/>
        </p:nvSpPr>
        <p:spPr>
          <a:xfrm xmlns:a="http://schemas.openxmlformats.org/drawingml/2006/main">
            <a:off x="2238375" y="42291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3" name="!!q3-input1-tick2">
            <a:extLst xmlns:a="http://schemas.openxmlformats.org/drawingml/2006/main">
              <a:ext uri="{FF2B5EF4-FFF2-40B4-BE49-F238E27FC236}">
                <a16:creationId xmlns:a16="http://schemas.microsoft.com/office/drawing/2014/main" id="{A90B4C00-B321-45BD-8133-915DA863BEB8}"/>
              </a:ext>
            </a:extLst>
          </p:cNvPr>
          <p:cNvSpPr>
            <a:spLocks xmlns:a="http://schemas.openxmlformats.org/drawingml/2006/main" noGrp="1"/>
          </p:cNvSpPr>
          <p:nvPr/>
        </p:nvSpPr>
        <p:spPr>
          <a:xfrm xmlns:a="http://schemas.openxmlformats.org/drawingml/2006/main">
            <a:off x="3417094" y="42291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4" name="!!q3-input-band1-1">
            <a:extLst xmlns:a="http://schemas.openxmlformats.org/drawingml/2006/main">
              <a:ext uri="{FF2B5EF4-FFF2-40B4-BE49-F238E27FC236}">
                <a16:creationId xmlns:a16="http://schemas.microsoft.com/office/drawing/2014/main" id="{BC885AA0-F0DB-4DA4-95EC-D3D9BC560BF6}"/>
              </a:ext>
            </a:extLst>
          </p:cNvPr>
          <p:cNvSpPr>
            <a:spLocks xmlns:a="http://schemas.openxmlformats.org/drawingml/2006/main" noGrp="1"/>
          </p:cNvSpPr>
          <p:nvPr/>
        </p:nvSpPr>
        <p:spPr>
          <a:xfrm xmlns:a="http://schemas.openxmlformats.org/drawingml/2006/main">
            <a:off x="1020366" y="3895725"/>
            <a:ext cx="78581" cy="333375"/>
          </a:xfrm>
          <a:custGeom xmlns:a="http://schemas.openxmlformats.org/drawingml/2006/main">
            <a:pathLst>
              <a:path w="78581" h="333375">
                <a:moveTo>
                  <a:pt x="0" y="333375"/>
                </a:moveTo>
                <a:lnTo>
                  <a:pt x="39291" y="0"/>
                </a:lnTo>
                <a:lnTo>
                  <a:pt x="78581" y="333375"/>
                </a:lnTo>
                <a:close/>
              </a:path>
            </a:pathLst>
          </a:custGeom>
          <a:solidFill xmlns:a="http://schemas.openxmlformats.org/drawingml/2006/main">
            <a:srgbClr val="535353"/>
          </a:solidFill>
          <a:ln xmlns:a="http://schemas.openxmlformats.org/drawingml/2006/main" w="10478">
            <a:solidFill>
              <a:srgbClr val="202020"/>
            </a:solidFill>
          </a:ln>
        </p:spPr>
      </p:sp>
      <p:sp>
        <p:nvSpPr>
          <p:cNvPr id="35" name="!!q3-input-band11">
            <a:extLst xmlns:a="http://schemas.openxmlformats.org/drawingml/2006/main">
              <a:ext uri="{FF2B5EF4-FFF2-40B4-BE49-F238E27FC236}">
                <a16:creationId xmlns:a16="http://schemas.microsoft.com/office/drawing/2014/main" id="{0EA78EEE-946B-45D5-B119-CEFC2179785D}"/>
              </a:ext>
            </a:extLst>
          </p:cNvPr>
          <p:cNvSpPr>
            <a:spLocks xmlns:a="http://schemas.openxmlformats.org/drawingml/2006/main" noGrp="1"/>
          </p:cNvSpPr>
          <p:nvPr/>
        </p:nvSpPr>
        <p:spPr>
          <a:xfrm xmlns:a="http://schemas.openxmlformats.org/drawingml/2006/main">
            <a:off x="3377803" y="3895725"/>
            <a:ext cx="78581" cy="333375"/>
          </a:xfrm>
          <a:custGeom xmlns:a="http://schemas.openxmlformats.org/drawingml/2006/main">
            <a:pathLst>
              <a:path w="78581" h="333375">
                <a:moveTo>
                  <a:pt x="0" y="333375"/>
                </a:moveTo>
                <a:lnTo>
                  <a:pt x="39291" y="0"/>
                </a:lnTo>
                <a:lnTo>
                  <a:pt x="78581" y="333375"/>
                </a:lnTo>
                <a:close/>
              </a:path>
            </a:pathLst>
          </a:custGeom>
          <a:solidFill xmlns:a="http://schemas.openxmlformats.org/drawingml/2006/main">
            <a:srgbClr val="535353"/>
          </a:solidFill>
          <a:ln xmlns:a="http://schemas.openxmlformats.org/drawingml/2006/main" w="10478">
            <a:solidFill>
              <a:srgbClr val="202020"/>
            </a:solidFill>
          </a:ln>
        </p:spPr>
      </p:sp>
      <p:sp>
        <p:nvSpPr>
          <p:cNvPr id="36" name="!!q3-output1-axis-line">
            <a:extLst xmlns:a="http://schemas.openxmlformats.org/drawingml/2006/main">
              <a:ext uri="{FF2B5EF4-FFF2-40B4-BE49-F238E27FC236}">
                <a16:creationId xmlns:a16="http://schemas.microsoft.com/office/drawing/2014/main" id="{901F1E25-E3B4-40A7-8CA3-9D2571E2D117}"/>
              </a:ext>
            </a:extLst>
          </p:cNvPr>
          <p:cNvSpPr>
            <a:spLocks xmlns:a="http://schemas.openxmlformats.org/drawingml/2006/main" noGrp="1"/>
          </p:cNvSpPr>
          <p:nvPr/>
        </p:nvSpPr>
        <p:spPr>
          <a:xfrm xmlns:a="http://schemas.openxmlformats.org/drawingml/2006/main">
            <a:off x="8286750" y="4229100"/>
            <a:ext cx="3048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7" name="!!q3-output1-axis-head">
            <a:extLst xmlns:a="http://schemas.openxmlformats.org/drawingml/2006/main">
              <a:ext uri="{FF2B5EF4-FFF2-40B4-BE49-F238E27FC236}">
                <a16:creationId xmlns:a16="http://schemas.microsoft.com/office/drawing/2014/main" id="{74B4DC4E-5D16-491C-9B53-65D6B87C6678}"/>
              </a:ext>
            </a:extLst>
          </p:cNvPr>
          <p:cNvSpPr>
            <a:spLocks xmlns:a="http://schemas.openxmlformats.org/drawingml/2006/main" noGrp="1"/>
          </p:cNvSpPr>
          <p:nvPr/>
        </p:nvSpPr>
        <p:spPr>
          <a:xfrm xmlns:a="http://schemas.openxmlformats.org/drawingml/2006/main" rot="5400000">
            <a:off x="11315700" y="41814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8" name="!!q3-output1-tick0">
            <a:extLst xmlns:a="http://schemas.openxmlformats.org/drawingml/2006/main">
              <a:ext uri="{FF2B5EF4-FFF2-40B4-BE49-F238E27FC236}">
                <a16:creationId xmlns:a16="http://schemas.microsoft.com/office/drawing/2014/main" id="{5A860CE4-73CC-49E4-9556-A12E2D748B69}"/>
              </a:ext>
            </a:extLst>
          </p:cNvPr>
          <p:cNvSpPr>
            <a:spLocks xmlns:a="http://schemas.openxmlformats.org/drawingml/2006/main" noGrp="1"/>
          </p:cNvSpPr>
          <p:nvPr/>
        </p:nvSpPr>
        <p:spPr>
          <a:xfrm xmlns:a="http://schemas.openxmlformats.org/drawingml/2006/main">
            <a:off x="9661922" y="42291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9" name="!!q3-output1-tick1">
            <a:extLst xmlns:a="http://schemas.openxmlformats.org/drawingml/2006/main">
              <a:ext uri="{FF2B5EF4-FFF2-40B4-BE49-F238E27FC236}">
                <a16:creationId xmlns:a16="http://schemas.microsoft.com/office/drawing/2014/main" id="{870D2BB7-0138-4DDA-8A1C-73D41AFD0273}"/>
              </a:ext>
            </a:extLst>
          </p:cNvPr>
          <p:cNvSpPr>
            <a:spLocks xmlns:a="http://schemas.openxmlformats.org/drawingml/2006/main" noGrp="1"/>
          </p:cNvSpPr>
          <p:nvPr/>
        </p:nvSpPr>
        <p:spPr>
          <a:xfrm xmlns:a="http://schemas.openxmlformats.org/drawingml/2006/main">
            <a:off x="9858375" y="42291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0" name="!!q3-output1-tick2">
            <a:extLst xmlns:a="http://schemas.openxmlformats.org/drawingml/2006/main">
              <a:ext uri="{FF2B5EF4-FFF2-40B4-BE49-F238E27FC236}">
                <a16:creationId xmlns:a16="http://schemas.microsoft.com/office/drawing/2014/main" id="{A2854A3E-3A75-43D3-9002-2AE7AD004BCC}"/>
              </a:ext>
            </a:extLst>
          </p:cNvPr>
          <p:cNvSpPr>
            <a:spLocks xmlns:a="http://schemas.openxmlformats.org/drawingml/2006/main" noGrp="1"/>
          </p:cNvSpPr>
          <p:nvPr/>
        </p:nvSpPr>
        <p:spPr>
          <a:xfrm xmlns:a="http://schemas.openxmlformats.org/drawingml/2006/main">
            <a:off x="10054828" y="42291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1" name="!!q3-station1">
            <a:extLst xmlns:a="http://schemas.openxmlformats.org/drawingml/2006/main">
              <a:ext uri="{FF2B5EF4-FFF2-40B4-BE49-F238E27FC236}">
                <a16:creationId xmlns:a16="http://schemas.microsoft.com/office/drawing/2014/main" id="{A8FC9AA5-25BB-4906-B66A-A40F01710597}"/>
              </a:ext>
            </a:extLst>
          </p:cNvPr>
          <p:cNvSpPr>
            <a:spLocks xmlns:a="http://schemas.openxmlformats.org/drawingml/2006/main" noGrp="1"/>
          </p:cNvSpPr>
          <p:nvPr/>
        </p:nvSpPr>
        <p:spPr>
          <a:xfrm xmlns:a="http://schemas.openxmlformats.org/drawingml/2006/main">
            <a:off x="285750" y="3848100"/>
            <a:ext cx="30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t>
            </a:r>
          </a:p>
        </p:txBody>
      </p:sp>
      <p:sp>
        <p:nvSpPr>
          <p:cNvPr id="42" name="!!q3-shift1-line">
            <a:extLst xmlns:a="http://schemas.openxmlformats.org/drawingml/2006/main">
              <a:ext uri="{FF2B5EF4-FFF2-40B4-BE49-F238E27FC236}">
                <a16:creationId xmlns:a16="http://schemas.microsoft.com/office/drawing/2014/main" id="{62573B5B-7FBA-4A86-938C-4ECE5A09851E}"/>
              </a:ext>
            </a:extLst>
          </p:cNvPr>
          <p:cNvSpPr>
            <a:spLocks xmlns:a="http://schemas.openxmlformats.org/drawingml/2006/main" noGrp="1"/>
          </p:cNvSpPr>
          <p:nvPr/>
        </p:nvSpPr>
        <p:spPr>
          <a:xfrm xmlns:a="http://schemas.openxmlformats.org/drawingml/2006/main">
            <a:off x="4210050" y="4181475"/>
            <a:ext cx="34290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3" name="!!q3-shift1-head">
            <a:extLst xmlns:a="http://schemas.openxmlformats.org/drawingml/2006/main">
              <a:ext uri="{FF2B5EF4-FFF2-40B4-BE49-F238E27FC236}">
                <a16:creationId xmlns:a16="http://schemas.microsoft.com/office/drawing/2014/main" id="{FFD76A89-4509-48C8-B908-70E44D292921}"/>
              </a:ext>
            </a:extLst>
          </p:cNvPr>
          <p:cNvSpPr>
            <a:spLocks xmlns:a="http://schemas.openxmlformats.org/drawingml/2006/main" noGrp="1"/>
          </p:cNvSpPr>
          <p:nvPr/>
        </p:nvSpPr>
        <p:spPr>
          <a:xfrm xmlns:a="http://schemas.openxmlformats.org/drawingml/2006/main" rot="5400000">
            <a:off x="7620000" y="41338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4" name="!!q3-mix1">
            <a:extLst xmlns:a="http://schemas.openxmlformats.org/drawingml/2006/main">
              <a:ext uri="{FF2B5EF4-FFF2-40B4-BE49-F238E27FC236}">
                <a16:creationId xmlns:a16="http://schemas.microsoft.com/office/drawing/2014/main" id="{3F460161-7BE4-4C7D-BF49-1D56965DE838}"/>
              </a:ext>
            </a:extLst>
          </p:cNvPr>
          <p:cNvSpPr>
            <a:spLocks xmlns:a="http://schemas.openxmlformats.org/drawingml/2006/main" noGrp="1"/>
          </p:cNvSpPr>
          <p:nvPr/>
        </p:nvSpPr>
        <p:spPr>
          <a:xfrm xmlns:a="http://schemas.openxmlformats.org/drawingml/2006/main">
            <a:off x="4381500" y="378142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Mix 100 kHz + BPF</a:t>
            </a:r>
          </a:p>
        </p:txBody>
      </p:sp>
      <p:sp>
        <p:nvSpPr>
          <p:cNvPr id="45" name="!!q3-out1-1">
            <a:extLst xmlns:a="http://schemas.openxmlformats.org/drawingml/2006/main">
              <a:ext uri="{FF2B5EF4-FFF2-40B4-BE49-F238E27FC236}">
                <a16:creationId xmlns:a16="http://schemas.microsoft.com/office/drawing/2014/main" id="{A4C8EF8B-2C99-461B-A313-B0423A215F84}"/>
              </a:ext>
            </a:extLst>
          </p:cNvPr>
          <p:cNvSpPr>
            <a:spLocks xmlns:a="http://schemas.openxmlformats.org/drawingml/2006/main" noGrp="1"/>
          </p:cNvSpPr>
          <p:nvPr/>
        </p:nvSpPr>
        <p:spPr>
          <a:xfrm xmlns:a="http://schemas.openxmlformats.org/drawingml/2006/main">
            <a:off x="9622631" y="3895725"/>
            <a:ext cx="78581" cy="333375"/>
          </a:xfrm>
          <a:custGeom xmlns:a="http://schemas.openxmlformats.org/drawingml/2006/main">
            <a:pathLst>
              <a:path w="78581" h="333375">
                <a:moveTo>
                  <a:pt x="0" y="333375"/>
                </a:moveTo>
                <a:lnTo>
                  <a:pt x="39291" y="0"/>
                </a:lnTo>
                <a:lnTo>
                  <a:pt x="78581" y="333375"/>
                </a:lnTo>
                <a:close/>
              </a:path>
            </a:pathLst>
          </a:custGeom>
          <a:solidFill xmlns:a="http://schemas.openxmlformats.org/drawingml/2006/main">
            <a:srgbClr val="535353"/>
          </a:solidFill>
          <a:ln xmlns:a="http://schemas.openxmlformats.org/drawingml/2006/main" w="10478">
            <a:solidFill>
              <a:srgbClr val="202020"/>
            </a:solidFill>
          </a:ln>
        </p:spPr>
      </p:sp>
      <p:sp>
        <p:nvSpPr>
          <p:cNvPr id="46" name="!!q3-out11">
            <a:extLst xmlns:a="http://schemas.openxmlformats.org/drawingml/2006/main">
              <a:ext uri="{FF2B5EF4-FFF2-40B4-BE49-F238E27FC236}">
                <a16:creationId xmlns:a16="http://schemas.microsoft.com/office/drawing/2014/main" id="{CD6180B7-CCE1-4273-B489-55ECBC058F21}"/>
              </a:ext>
            </a:extLst>
          </p:cNvPr>
          <p:cNvSpPr>
            <a:spLocks xmlns:a="http://schemas.openxmlformats.org/drawingml/2006/main" noGrp="1"/>
          </p:cNvSpPr>
          <p:nvPr/>
        </p:nvSpPr>
        <p:spPr>
          <a:xfrm xmlns:a="http://schemas.openxmlformats.org/drawingml/2006/main">
            <a:off x="10015538" y="3895725"/>
            <a:ext cx="78581" cy="333375"/>
          </a:xfrm>
          <a:custGeom xmlns:a="http://schemas.openxmlformats.org/drawingml/2006/main">
            <a:pathLst>
              <a:path w="78581" h="333375">
                <a:moveTo>
                  <a:pt x="0" y="333375"/>
                </a:moveTo>
                <a:lnTo>
                  <a:pt x="39291" y="0"/>
                </a:lnTo>
                <a:lnTo>
                  <a:pt x="78581" y="333375"/>
                </a:lnTo>
                <a:close/>
              </a:path>
            </a:pathLst>
          </a:custGeom>
          <a:solidFill xmlns:a="http://schemas.openxmlformats.org/drawingml/2006/main">
            <a:srgbClr val="535353"/>
          </a:solidFill>
          <a:ln xmlns:a="http://schemas.openxmlformats.org/drawingml/2006/main" w="10478">
            <a:solidFill>
              <a:srgbClr val="202020"/>
            </a:solidFill>
          </a:ln>
        </p:spPr>
      </p:sp>
      <p:pic>
        <p:nvPicPr>
          <p:cNvPr id="116" name="!!q3-route-m" descr="m(t)">
            <ns0:hlinkClick xmlns:ns0="http://schemas.openxmlformats.org/drawingml/2006/main" xmlns:ns1="http://schemas.openxmlformats.org/officeDocument/2006/relationships" ns1:id="rIdmethods_Link6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fc2eeb32bbb04b1c">
            <a:extLst>
              <a:ext uri="{96DAC541-7B7A-43D3-8B79-37D633B846F1}">
                <ns0:svgBlip xmlns:ns0="http://schemas.microsoft.com/office/drawing/2016/SVG/main" r:embed="rIdVectormf00358"/>
              </a:ext>
            </a:extLst>
          </a:blip>
          <a:stretch xmlns:a="http://schemas.openxmlformats.org/drawingml/2006/main"/>
        </p:blipFill>
        <p:spPr>
          <a:xfrm xmlns:a="http://schemas.openxmlformats.org/drawingml/2006/main">
            <a:off x="2159318" y="1181100"/>
            <a:ext cx="920115" cy="400050"/>
          </a:xfrm>
          <a:prstGeom xmlns:a="http://schemas.openxmlformats.org/drawingml/2006/main" prst="rect">
            <a:avLst/>
          </a:prstGeom>
        </p:spPr>
      </p:pic>
      <p:pic>
        <p:nvPicPr>
          <p:cNvPr id="117" name="!!q3-route-s" descr="s_{RF}(t)">
            <ns0:hlinkClick xmlns:ns0="http://schemas.openxmlformats.org/drawingml/2006/main" xmlns:ns1="http://schemas.openxmlformats.org/officeDocument/2006/relationships" ns1:id="rIdmethods_Link68"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92023288ab14282">
            <a:extLst>
              <a:ext uri="{96DAC541-7B7A-43D3-8B79-37D633B846F1}">
                <ns1:svgBlip xmlns:ns1="http://schemas.microsoft.com/office/drawing/2016/SVG/main" r:embed="rIdVectormf00359"/>
              </a:ext>
            </a:extLst>
          </a:blip>
          <a:stretch xmlns:a="http://schemas.openxmlformats.org/drawingml/2006/main"/>
        </p:blipFill>
        <p:spPr>
          <a:xfrm xmlns:a="http://schemas.openxmlformats.org/drawingml/2006/main">
            <a:off x="5479774" y="1181100"/>
            <a:ext cx="1232452" cy="400050"/>
          </a:xfrm>
          <a:prstGeom xmlns:a="http://schemas.openxmlformats.org/drawingml/2006/main" prst="rect">
            <a:avLst/>
          </a:prstGeom>
        </p:spPr>
      </p:pic>
      <p:pic>
        <p:nvPicPr>
          <p:cNvPr id="118" name="!!q3-route-restored" descr="m(t)">
            <ns0:hlinkClick xmlns:ns0="http://schemas.openxmlformats.org/drawingml/2006/main" xmlns:ns1="http://schemas.openxmlformats.org/officeDocument/2006/relationships" ns1:id="rIdmethods_Link6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c656375d70ec4102">
            <a:extLst>
              <a:ext uri="{96DAC541-7B7A-43D3-8B79-37D633B846F1}">
                <ns2:svgBlip xmlns:ns2="http://schemas.microsoft.com/office/drawing/2016/SVG/main" r:embed="rIdVectormf00360"/>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119" name="!!q3-input0-domain" descr="f"/>
          <p:cNvPicPr>
            <a:picLocks xmlns:a="http://schemas.openxmlformats.org/drawingml/2006/main" noChangeAspect="1"/>
          </p:cNvPicPr>
          <p:nvPr/>
        </p:nvPicPr>
        <p:blipFill>
          <a:blip xmlns:r="http://schemas.openxmlformats.org/officeDocument/2006/relationships" xmlns:a="http://schemas.openxmlformats.org/drawingml/2006/main" r:embed="Rbd766330e55f460d">
            <a:extLst>
              <a:ext uri="{96DAC541-7B7A-43D3-8B79-37D633B846F1}">
                <ns3:svgBlip xmlns:ns3="http://schemas.microsoft.com/office/drawing/2016/SVG/main" r:embed="rIdVectormf00361"/>
              </a:ext>
            </a:extLst>
          </a:blip>
          <a:stretch xmlns:a="http://schemas.openxmlformats.org/drawingml/2006/main"/>
        </p:blipFill>
        <p:spPr>
          <a:xfrm xmlns:a="http://schemas.openxmlformats.org/drawingml/2006/main">
            <a:off x="3851123" y="2949893"/>
            <a:ext cx="79678" cy="120015"/>
          </a:xfrm>
          <a:prstGeom xmlns:a="http://schemas.openxmlformats.org/drawingml/2006/main" prst="rect">
            <a:avLst/>
          </a:prstGeom>
        </p:spPr>
      </p:pic>
      <p:pic>
        <p:nvPicPr>
          <p:cNvPr id="120" name="!!q3-input0-ticklabel0" descr="-100"/>
          <p:cNvPicPr>
            <a:picLocks xmlns:a="http://schemas.openxmlformats.org/drawingml/2006/main" noChangeAspect="1"/>
          </p:cNvPicPr>
          <p:nvPr/>
        </p:nvPicPr>
        <p:blipFill>
          <a:blip xmlns:r="http://schemas.openxmlformats.org/officeDocument/2006/relationships" xmlns:a="http://schemas.openxmlformats.org/drawingml/2006/main" r:embed="Rf0344417c4cb47c4">
            <a:extLst>
              <a:ext uri="{96DAC541-7B7A-43D3-8B79-37D633B846F1}">
                <ns4:svgBlip xmlns:ns4="http://schemas.microsoft.com/office/drawing/2016/SVG/main" r:embed="rIdVectormf00362"/>
              </a:ext>
            </a:extLst>
          </a:blip>
          <a:stretch xmlns:a="http://schemas.openxmlformats.org/drawingml/2006/main"/>
        </p:blipFill>
        <p:spPr>
          <a:xfrm xmlns:a="http://schemas.openxmlformats.org/drawingml/2006/main">
            <a:off x="1033224" y="3258324"/>
            <a:ext cx="445770" cy="131802"/>
          </a:xfrm>
          <a:prstGeom xmlns:a="http://schemas.openxmlformats.org/drawingml/2006/main" prst="rect">
            <a:avLst/>
          </a:prstGeom>
        </p:spPr>
      </p:pic>
      <p:pic>
        <p:nvPicPr>
          <p:cNvPr id="121" name="!!q3-input0-ticklabel1" descr="0"/>
          <p:cNvPicPr>
            <a:picLocks xmlns:a="http://schemas.openxmlformats.org/drawingml/2006/main" noChangeAspect="1"/>
          </p:cNvPicPr>
          <p:nvPr/>
        </p:nvPicPr>
        <p:blipFill>
          <a:blip xmlns:r="http://schemas.openxmlformats.org/officeDocument/2006/relationships" xmlns:a="http://schemas.openxmlformats.org/drawingml/2006/main" r:embed="Rc7629de0769a4aa2">
            <a:extLst>
              <a:ext uri="{96DAC541-7B7A-43D3-8B79-37D633B846F1}">
                <ns5:svgBlip xmlns:ns5="http://schemas.microsoft.com/office/drawing/2016/SVG/main" r:embed="rIdVectormf00363"/>
              </a:ext>
            </a:extLst>
          </a:blip>
          <a:stretch xmlns:a="http://schemas.openxmlformats.org/drawingml/2006/main"/>
        </p:blipFill>
        <p:spPr>
          <a:xfrm xmlns:a="http://schemas.openxmlformats.org/drawingml/2006/main">
            <a:off x="2192400" y="3272790"/>
            <a:ext cx="91951" cy="102870"/>
          </a:xfrm>
          <a:prstGeom xmlns:a="http://schemas.openxmlformats.org/drawingml/2006/main" prst="rect">
            <a:avLst/>
          </a:prstGeom>
        </p:spPr>
      </p:pic>
      <p:pic>
        <p:nvPicPr>
          <p:cNvPr id="122" name="!!q3-input0-ticklabel2" descr="100"/>
          <p:cNvPicPr>
            <a:picLocks xmlns:a="http://schemas.openxmlformats.org/drawingml/2006/main" noChangeAspect="1"/>
          </p:cNvPicPr>
          <p:nvPr/>
        </p:nvPicPr>
        <p:blipFill>
          <a:blip xmlns:r="http://schemas.openxmlformats.org/officeDocument/2006/relationships" xmlns:a="http://schemas.openxmlformats.org/drawingml/2006/main" r:embed="R6d0b71d24d85443c">
            <a:extLst>
              <a:ext uri="{96DAC541-7B7A-43D3-8B79-37D633B846F1}">
                <ns6:svgBlip xmlns:ns6="http://schemas.microsoft.com/office/drawing/2016/SVG/main" r:embed="rIdVectormf00364"/>
              </a:ext>
            </a:extLst>
          </a:blip>
          <a:stretch xmlns:a="http://schemas.openxmlformats.org/drawingml/2006/main"/>
        </p:blipFill>
        <p:spPr>
          <a:xfrm xmlns:a="http://schemas.openxmlformats.org/drawingml/2006/main">
            <a:off x="3083481" y="3272790"/>
            <a:ext cx="274320" cy="102870"/>
          </a:xfrm>
          <a:prstGeom xmlns:a="http://schemas.openxmlformats.org/drawingml/2006/main" prst="rect">
            <a:avLst/>
          </a:prstGeom>
        </p:spPr>
      </p:pic>
      <p:pic>
        <p:nvPicPr>
          <p:cNvPr id="123" name="!!q3-output0-domain" descr="f"/>
          <p:cNvPicPr>
            <a:picLocks xmlns:a="http://schemas.openxmlformats.org/drawingml/2006/main" noChangeAspect="1"/>
          </p:cNvPicPr>
          <p:nvPr/>
        </p:nvPicPr>
        <p:blipFill>
          <a:blip xmlns:r="http://schemas.openxmlformats.org/officeDocument/2006/relationships" xmlns:a="http://schemas.openxmlformats.org/drawingml/2006/main" r:embed="Rc452ea8f59e04b2a">
            <a:extLst>
              <a:ext uri="{96DAC541-7B7A-43D3-8B79-37D633B846F1}">
                <ns7:svgBlip xmlns:ns7="http://schemas.microsoft.com/office/drawing/2016/SVG/main" r:embed="rIdVectormf00365"/>
              </a:ext>
            </a:extLst>
          </a:blip>
          <a:stretch xmlns:a="http://schemas.openxmlformats.org/drawingml/2006/main"/>
        </p:blipFill>
        <p:spPr>
          <a:xfrm xmlns:a="http://schemas.openxmlformats.org/drawingml/2006/main">
            <a:off x="11471123" y="2949893"/>
            <a:ext cx="79678" cy="120015"/>
          </a:xfrm>
          <a:prstGeom xmlns:a="http://schemas.openxmlformats.org/drawingml/2006/main" prst="rect">
            <a:avLst/>
          </a:prstGeom>
        </p:spPr>
      </p:pic>
      <p:pic>
        <p:nvPicPr>
          <p:cNvPr id="124" name="!!q3-output0-ticklabel0" descr="-20"/>
          <p:cNvPicPr>
            <a:picLocks xmlns:a="http://schemas.openxmlformats.org/drawingml/2006/main" noChangeAspect="1"/>
          </p:cNvPicPr>
          <p:nvPr/>
        </p:nvPicPr>
        <p:blipFill>
          <a:blip xmlns:r="http://schemas.openxmlformats.org/officeDocument/2006/relationships" xmlns:a="http://schemas.openxmlformats.org/drawingml/2006/main" r:embed="Rbc9682dd08d14daa">
            <a:extLst>
              <a:ext uri="{96DAC541-7B7A-43D3-8B79-37D633B846F1}">
                <ns8:svgBlip xmlns:ns8="http://schemas.microsoft.com/office/drawing/2016/SVG/main" r:embed="rIdVectormf00366"/>
              </a:ext>
            </a:extLst>
          </a:blip>
          <a:stretch xmlns:a="http://schemas.openxmlformats.org/drawingml/2006/main"/>
        </p:blipFill>
        <p:spPr>
          <a:xfrm xmlns:a="http://schemas.openxmlformats.org/drawingml/2006/main">
            <a:off x="9490472" y="3258860"/>
            <a:ext cx="342900" cy="130731"/>
          </a:xfrm>
          <a:prstGeom xmlns:a="http://schemas.openxmlformats.org/drawingml/2006/main" prst="rect">
            <a:avLst/>
          </a:prstGeom>
        </p:spPr>
      </p:pic>
      <p:pic>
        <p:nvPicPr>
          <p:cNvPr id="125" name="!!q3-output0-ticklabel1" descr="0"/>
          <p:cNvPicPr>
            <a:picLocks xmlns:a="http://schemas.openxmlformats.org/drawingml/2006/main" noChangeAspect="1"/>
          </p:cNvPicPr>
          <p:nvPr/>
        </p:nvPicPr>
        <p:blipFill>
          <a:blip xmlns:r="http://schemas.openxmlformats.org/officeDocument/2006/relationships" xmlns:a="http://schemas.openxmlformats.org/drawingml/2006/main" r:embed="R0a989e7598264b12">
            <a:extLst>
              <a:ext uri="{96DAC541-7B7A-43D3-8B79-37D633B846F1}">
                <ns9:svgBlip xmlns:ns9="http://schemas.microsoft.com/office/drawing/2016/SVG/main" r:embed="rIdVectormf00367"/>
              </a:ext>
            </a:extLst>
          </a:blip>
          <a:stretch xmlns:a="http://schemas.openxmlformats.org/drawingml/2006/main"/>
        </p:blipFill>
        <p:spPr>
          <a:xfrm xmlns:a="http://schemas.openxmlformats.org/drawingml/2006/main">
            <a:off x="9812400" y="3491865"/>
            <a:ext cx="91951" cy="102870"/>
          </a:xfrm>
          <a:prstGeom xmlns:a="http://schemas.openxmlformats.org/drawingml/2006/main" prst="rect">
            <a:avLst/>
          </a:prstGeom>
        </p:spPr>
      </p:pic>
      <p:pic>
        <p:nvPicPr>
          <p:cNvPr id="126" name="!!q3-output0-ticklabel2" descr="20"/>
          <p:cNvPicPr>
            <a:picLocks xmlns:a="http://schemas.openxmlformats.org/drawingml/2006/main" noChangeAspect="1"/>
          </p:cNvPicPr>
          <p:nvPr/>
        </p:nvPicPr>
        <p:blipFill>
          <a:blip xmlns:r="http://schemas.openxmlformats.org/officeDocument/2006/relationships" xmlns:a="http://schemas.openxmlformats.org/drawingml/2006/main" r:embed="R7860729b45ff4b28">
            <a:extLst>
              <a:ext uri="{96DAC541-7B7A-43D3-8B79-37D633B846F1}">
                <ns10:svgBlip xmlns:ns10="http://schemas.microsoft.com/office/drawing/2016/SVG/main" r:embed="rIdVectormf00368"/>
              </a:ext>
            </a:extLst>
          </a:blip>
          <a:stretch xmlns:a="http://schemas.openxmlformats.org/drawingml/2006/main"/>
        </p:blipFill>
        <p:spPr>
          <a:xfrm xmlns:a="http://schemas.openxmlformats.org/drawingml/2006/main">
            <a:off x="9962877" y="3272790"/>
            <a:ext cx="183902" cy="102870"/>
          </a:xfrm>
          <a:prstGeom xmlns:a="http://schemas.openxmlformats.org/drawingml/2006/main" prst="rect">
            <a:avLst/>
          </a:prstGeom>
        </p:spPr>
      </p:pic>
      <p:pic>
        <p:nvPicPr>
          <p:cNvPr id="127" name="!!q3-input1-domain" descr="f"/>
          <p:cNvPicPr>
            <a:picLocks xmlns:a="http://schemas.openxmlformats.org/drawingml/2006/main" noChangeAspect="1"/>
          </p:cNvPicPr>
          <p:nvPr/>
        </p:nvPicPr>
        <p:blipFill>
          <a:blip xmlns:r="http://schemas.openxmlformats.org/officeDocument/2006/relationships" xmlns:a="http://schemas.openxmlformats.org/drawingml/2006/main" r:embed="Re1decf8b267847ce">
            <a:extLst>
              <a:ext uri="{96DAC541-7B7A-43D3-8B79-37D633B846F1}">
                <ns11:svgBlip xmlns:ns11="http://schemas.microsoft.com/office/drawing/2016/SVG/main" r:embed="rIdVectormf00369"/>
              </a:ext>
            </a:extLst>
          </a:blip>
          <a:stretch xmlns:a="http://schemas.openxmlformats.org/drawingml/2006/main"/>
        </p:blipFill>
        <p:spPr>
          <a:xfrm xmlns:a="http://schemas.openxmlformats.org/drawingml/2006/main">
            <a:off x="3851123" y="4045268"/>
            <a:ext cx="79678" cy="120015"/>
          </a:xfrm>
          <a:prstGeom xmlns:a="http://schemas.openxmlformats.org/drawingml/2006/main" prst="rect">
            <a:avLst/>
          </a:prstGeom>
        </p:spPr>
      </p:pic>
      <p:pic>
        <p:nvPicPr>
          <p:cNvPr id="128" name="!!q3-input1-ticklabel0" descr="-120"/>
          <p:cNvPicPr>
            <a:picLocks xmlns:a="http://schemas.openxmlformats.org/drawingml/2006/main" noChangeAspect="1"/>
          </p:cNvPicPr>
          <p:nvPr/>
        </p:nvPicPr>
        <p:blipFill>
          <a:blip xmlns:r="http://schemas.openxmlformats.org/officeDocument/2006/relationships" xmlns:a="http://schemas.openxmlformats.org/drawingml/2006/main" r:embed="R5659f51eee3b4b0c">
            <a:extLst>
              <a:ext uri="{96DAC541-7B7A-43D3-8B79-37D633B846F1}">
                <ns12:svgBlip xmlns:ns12="http://schemas.microsoft.com/office/drawing/2016/SVG/main" r:embed="rIdVectormf00370"/>
              </a:ext>
            </a:extLst>
          </a:blip>
          <a:stretch xmlns:a="http://schemas.openxmlformats.org/drawingml/2006/main"/>
        </p:blipFill>
        <p:spPr>
          <a:xfrm xmlns:a="http://schemas.openxmlformats.org/drawingml/2006/main">
            <a:off x="836771" y="4353699"/>
            <a:ext cx="445770" cy="131802"/>
          </a:xfrm>
          <a:prstGeom xmlns:a="http://schemas.openxmlformats.org/drawingml/2006/main" prst="rect">
            <a:avLst/>
          </a:prstGeom>
        </p:spPr>
      </p:pic>
      <p:pic>
        <p:nvPicPr>
          <p:cNvPr id="129" name="!!q3-input1-ticklabel1" descr="0"/>
          <p:cNvPicPr>
            <a:picLocks xmlns:a="http://schemas.openxmlformats.org/drawingml/2006/main" noChangeAspect="1"/>
          </p:cNvPicPr>
          <p:nvPr/>
        </p:nvPicPr>
        <p:blipFill>
          <a:blip xmlns:r="http://schemas.openxmlformats.org/officeDocument/2006/relationships" xmlns:a="http://schemas.openxmlformats.org/drawingml/2006/main" r:embed="R83763d839e9e4ae9">
            <a:extLst>
              <a:ext uri="{96DAC541-7B7A-43D3-8B79-37D633B846F1}">
                <ns13:svgBlip xmlns:ns13="http://schemas.microsoft.com/office/drawing/2016/SVG/main" r:embed="rIdVectormf00371"/>
              </a:ext>
            </a:extLst>
          </a:blip>
          <a:stretch xmlns:a="http://schemas.openxmlformats.org/drawingml/2006/main"/>
        </p:blipFill>
        <p:spPr>
          <a:xfrm xmlns:a="http://schemas.openxmlformats.org/drawingml/2006/main">
            <a:off x="2192400" y="4368165"/>
            <a:ext cx="91951" cy="102870"/>
          </a:xfrm>
          <a:prstGeom xmlns:a="http://schemas.openxmlformats.org/drawingml/2006/main" prst="rect">
            <a:avLst/>
          </a:prstGeom>
        </p:spPr>
      </p:pic>
      <p:pic>
        <p:nvPicPr>
          <p:cNvPr id="130" name="!!q3-input1-ticklabel2" descr="120"/>
          <p:cNvPicPr>
            <a:picLocks xmlns:a="http://schemas.openxmlformats.org/drawingml/2006/main" noChangeAspect="1"/>
          </p:cNvPicPr>
          <p:nvPr/>
        </p:nvPicPr>
        <p:blipFill>
          <a:blip xmlns:r="http://schemas.openxmlformats.org/officeDocument/2006/relationships" xmlns:a="http://schemas.openxmlformats.org/drawingml/2006/main" r:embed="Rc0d14b932200447c">
            <a:extLst>
              <a:ext uri="{96DAC541-7B7A-43D3-8B79-37D633B846F1}">
                <ns14:svgBlip xmlns:ns14="http://schemas.microsoft.com/office/drawing/2016/SVG/main" r:embed="rIdVectormf00372"/>
              </a:ext>
            </a:extLst>
          </a:blip>
          <a:stretch xmlns:a="http://schemas.openxmlformats.org/drawingml/2006/main"/>
        </p:blipFill>
        <p:spPr>
          <a:xfrm xmlns:a="http://schemas.openxmlformats.org/drawingml/2006/main">
            <a:off x="3279934" y="4368165"/>
            <a:ext cx="274320" cy="102870"/>
          </a:xfrm>
          <a:prstGeom xmlns:a="http://schemas.openxmlformats.org/drawingml/2006/main" prst="rect">
            <a:avLst/>
          </a:prstGeom>
        </p:spPr>
      </p:pic>
      <p:pic>
        <p:nvPicPr>
          <p:cNvPr id="131" name="!!q3-output1-domain" descr="f"/>
          <p:cNvPicPr>
            <a:picLocks xmlns:a="http://schemas.openxmlformats.org/drawingml/2006/main" noChangeAspect="1"/>
          </p:cNvPicPr>
          <p:nvPr/>
        </p:nvPicPr>
        <p:blipFill>
          <a:blip xmlns:r="http://schemas.openxmlformats.org/officeDocument/2006/relationships" xmlns:a="http://schemas.openxmlformats.org/drawingml/2006/main" r:embed="R368bed34db7e48a9">
            <a:extLst>
              <a:ext uri="{96DAC541-7B7A-43D3-8B79-37D633B846F1}">
                <ns15:svgBlip xmlns:ns15="http://schemas.microsoft.com/office/drawing/2016/SVG/main" r:embed="rIdVectormf00373"/>
              </a:ext>
            </a:extLst>
          </a:blip>
          <a:stretch xmlns:a="http://schemas.openxmlformats.org/drawingml/2006/main"/>
        </p:blipFill>
        <p:spPr>
          <a:xfrm xmlns:a="http://schemas.openxmlformats.org/drawingml/2006/main">
            <a:off x="11471123" y="4045268"/>
            <a:ext cx="79678" cy="120015"/>
          </a:xfrm>
          <a:prstGeom xmlns:a="http://schemas.openxmlformats.org/drawingml/2006/main" prst="rect">
            <a:avLst/>
          </a:prstGeom>
        </p:spPr>
      </p:pic>
      <p:pic>
        <p:nvPicPr>
          <p:cNvPr id="132" name="!!q3-output1-ticklabel0" descr="-20"/>
          <p:cNvPicPr>
            <a:picLocks xmlns:a="http://schemas.openxmlformats.org/drawingml/2006/main" noChangeAspect="1"/>
          </p:cNvPicPr>
          <p:nvPr/>
        </p:nvPicPr>
        <p:blipFill>
          <a:blip xmlns:r="http://schemas.openxmlformats.org/officeDocument/2006/relationships" xmlns:a="http://schemas.openxmlformats.org/drawingml/2006/main" r:embed="R4c283196b4db4322">
            <a:extLst>
              <a:ext uri="{96DAC541-7B7A-43D3-8B79-37D633B846F1}">
                <ns16:svgBlip xmlns:ns16="http://schemas.microsoft.com/office/drawing/2016/SVG/main" r:embed="rIdVectormf00374"/>
              </a:ext>
            </a:extLst>
          </a:blip>
          <a:stretch xmlns:a="http://schemas.openxmlformats.org/drawingml/2006/main"/>
        </p:blipFill>
        <p:spPr>
          <a:xfrm xmlns:a="http://schemas.openxmlformats.org/drawingml/2006/main">
            <a:off x="9490472" y="4354235"/>
            <a:ext cx="342900" cy="130731"/>
          </a:xfrm>
          <a:prstGeom xmlns:a="http://schemas.openxmlformats.org/drawingml/2006/main" prst="rect">
            <a:avLst/>
          </a:prstGeom>
        </p:spPr>
      </p:pic>
      <p:pic>
        <p:nvPicPr>
          <p:cNvPr id="133" name="!!q3-output1-ticklabel1" descr="0"/>
          <p:cNvPicPr>
            <a:picLocks xmlns:a="http://schemas.openxmlformats.org/drawingml/2006/main" noChangeAspect="1"/>
          </p:cNvPicPr>
          <p:nvPr/>
        </p:nvPicPr>
        <p:blipFill>
          <a:blip xmlns:r="http://schemas.openxmlformats.org/officeDocument/2006/relationships" xmlns:a="http://schemas.openxmlformats.org/drawingml/2006/main" r:embed="R31cb695109894d7f">
            <a:extLst>
              <a:ext uri="{96DAC541-7B7A-43D3-8B79-37D633B846F1}">
                <ns17:svgBlip xmlns:ns17="http://schemas.microsoft.com/office/drawing/2016/SVG/main" r:embed="rIdVectormf00375"/>
              </a:ext>
            </a:extLst>
          </a:blip>
          <a:stretch xmlns:a="http://schemas.openxmlformats.org/drawingml/2006/main"/>
        </p:blipFill>
        <p:spPr>
          <a:xfrm xmlns:a="http://schemas.openxmlformats.org/drawingml/2006/main">
            <a:off x="9812400" y="4587240"/>
            <a:ext cx="91951" cy="102870"/>
          </a:xfrm>
          <a:prstGeom xmlns:a="http://schemas.openxmlformats.org/drawingml/2006/main" prst="rect">
            <a:avLst/>
          </a:prstGeom>
        </p:spPr>
      </p:pic>
      <p:pic>
        <p:nvPicPr>
          <p:cNvPr id="134" name="!!q3-output1-ticklabel2" descr="20"/>
          <p:cNvPicPr>
            <a:picLocks xmlns:a="http://schemas.openxmlformats.org/drawingml/2006/main" noChangeAspect="1"/>
          </p:cNvPicPr>
          <p:nvPr/>
        </p:nvPicPr>
        <p:blipFill>
          <a:blip xmlns:r="http://schemas.openxmlformats.org/officeDocument/2006/relationships" xmlns:a="http://schemas.openxmlformats.org/drawingml/2006/main" r:embed="R32b943e5fd764925">
            <a:extLst>
              <a:ext uri="{96DAC541-7B7A-43D3-8B79-37D633B846F1}">
                <ns18:svgBlip xmlns:ns18="http://schemas.microsoft.com/office/drawing/2016/SVG/main" r:embed="rIdVectormf00376"/>
              </a:ext>
            </a:extLst>
          </a:blip>
          <a:stretch xmlns:a="http://schemas.openxmlformats.org/drawingml/2006/main"/>
        </p:blipFill>
        <p:spPr>
          <a:xfrm xmlns:a="http://schemas.openxmlformats.org/drawingml/2006/main">
            <a:off x="9962877" y="4368165"/>
            <a:ext cx="183902" cy="102870"/>
          </a:xfrm>
          <a:prstGeom xmlns:a="http://schemas.openxmlformats.org/drawingml/2006/main" prst="rect">
            <a:avLst/>
          </a:prstGeom>
        </p:spPr>
      </p:pic>
      <p:pic>
        <p:nvPicPr>
          <p:cNvPr id="135" name="!!q3-dense-equation-0" descr="\textstyle f_{LO}=f_c-f_{IF},\qquad f_{IF}=20\ \mathrm{kHz}"/>
          <p:cNvPicPr>
            <a:picLocks xmlns:a="http://schemas.openxmlformats.org/drawingml/2006/main" noChangeAspect="1"/>
          </p:cNvPicPr>
          <p:nvPr/>
        </p:nvPicPr>
        <p:blipFill>
          <a:blip xmlns:r="http://schemas.openxmlformats.org/officeDocument/2006/relationships" xmlns:a="http://schemas.openxmlformats.org/drawingml/2006/main" r:embed="Re7701f1a12db4f51">
            <a:extLst>
              <a:ext uri="{96DAC541-7B7A-43D3-8B79-37D633B846F1}">
                <ns19:svgBlip xmlns:ns19="http://schemas.microsoft.com/office/drawing/2016/SVG/main" r:embed="rIdVectormf00377"/>
              </a:ext>
            </a:extLst>
          </a:blip>
          <a:stretch xmlns:a="http://schemas.openxmlformats.org/drawingml/2006/main"/>
        </p:blipFill>
        <p:spPr>
          <a:xfrm xmlns:a="http://schemas.openxmlformats.org/drawingml/2006/main">
            <a:off x="609600" y="5113139"/>
            <a:ext cx="3912870" cy="219789"/>
          </a:xfrm>
          <a:prstGeom xmlns:a="http://schemas.openxmlformats.org/drawingml/2006/main" prst="rect">
            <a:avLst/>
          </a:prstGeom>
        </p:spPr>
      </p:pic>
      <p:pic>
        <p:nvPicPr>
          <p:cNvPr id="136" name="!!q3-dense-equation-1" descr="\textstyle \text{A: }f_{LO}=100-20=80\ \mathrm{kHz}"/>
          <p:cNvPicPr>
            <a:picLocks xmlns:a="http://schemas.openxmlformats.org/drawingml/2006/main" noChangeAspect="1"/>
          </p:cNvPicPr>
          <p:nvPr/>
        </p:nvPicPr>
        <p:blipFill>
          <a:blip xmlns:r="http://schemas.openxmlformats.org/officeDocument/2006/relationships" xmlns:a="http://schemas.openxmlformats.org/drawingml/2006/main" r:embed="Rfde6aec18b464573">
            <a:extLst>
              <a:ext uri="{96DAC541-7B7A-43D3-8B79-37D633B846F1}">
                <ns20:svgBlip xmlns:ns20="http://schemas.microsoft.com/office/drawing/2016/SVG/main" r:embed="rIdVectormf00378"/>
              </a:ext>
            </a:extLst>
          </a:blip>
          <a:stretch xmlns:a="http://schemas.openxmlformats.org/drawingml/2006/main"/>
        </p:blipFill>
        <p:spPr>
          <a:xfrm xmlns:a="http://schemas.openxmlformats.org/drawingml/2006/main">
            <a:off x="687222" y="5514499"/>
            <a:ext cx="3311857" cy="198120"/>
          </a:xfrm>
          <a:prstGeom xmlns:a="http://schemas.openxmlformats.org/drawingml/2006/main" prst="rect">
            <a:avLst/>
          </a:prstGeom>
        </p:spPr>
      </p:pic>
      <p:pic>
        <p:nvPicPr>
          <p:cNvPr id="137" name="!!q3-dense-equation-2" descr="\textstyle \text{B: }f_{LO}=120-20=100\ \mathrm{kHz}"/>
          <p:cNvPicPr>
            <a:picLocks xmlns:a="http://schemas.openxmlformats.org/drawingml/2006/main" noChangeAspect="1"/>
          </p:cNvPicPr>
          <p:nvPr/>
        </p:nvPicPr>
        <p:blipFill>
          <a:blip xmlns:r="http://schemas.openxmlformats.org/officeDocument/2006/relationships" xmlns:a="http://schemas.openxmlformats.org/drawingml/2006/main" r:embed="R9e3fc8c3fb8948d3">
            <a:extLst>
              <a:ext uri="{96DAC541-7B7A-43D3-8B79-37D633B846F1}">
                <ns21:svgBlip xmlns:ns21="http://schemas.microsoft.com/office/drawing/2016/SVG/main" r:embed="rIdVectormf00379"/>
              </a:ext>
            </a:extLst>
          </a:blip>
          <a:stretch xmlns:a="http://schemas.openxmlformats.org/drawingml/2006/main"/>
        </p:blipFill>
        <p:spPr>
          <a:xfrm xmlns:a="http://schemas.openxmlformats.org/drawingml/2006/main">
            <a:off x="703340" y="5905024"/>
            <a:ext cx="3428210" cy="198120"/>
          </a:xfrm>
          <a:prstGeom xmlns:a="http://schemas.openxmlformats.org/drawingml/2006/main" prst="rect">
            <a:avLst/>
          </a:prstGeom>
        </p:spPr>
      </p:pic>
      <p:pic>
        <p:nvPicPr>
          <p:cNvPr id="138" name="!!q3-dense-equation-3" descr="\textstyle W=4\ \mathrm{kHz}:\quad\text{same IF passbands }[16,24],\ [-24,-16]\ \mathrm{kHz}"/>
          <p:cNvPicPr>
            <a:picLocks xmlns:a="http://schemas.openxmlformats.org/drawingml/2006/main" noChangeAspect="1"/>
          </p:cNvPicPr>
          <p:nvPr/>
        </p:nvPicPr>
        <p:blipFill>
          <a:blip xmlns:r="http://schemas.openxmlformats.org/officeDocument/2006/relationships" xmlns:a="http://schemas.openxmlformats.org/drawingml/2006/main" r:embed="R71bfd5a78e834b1b">
            <a:extLst>
              <a:ext uri="{96DAC541-7B7A-43D3-8B79-37D633B846F1}">
                <ns22:svgBlip xmlns:ns22="http://schemas.microsoft.com/office/drawing/2016/SVG/main" r:embed="rIdVectormf00380"/>
              </a:ext>
            </a:extLst>
          </a:blip>
          <a:stretch xmlns:a="http://schemas.openxmlformats.org/drawingml/2006/main"/>
        </p:blipFill>
        <p:spPr>
          <a:xfrm xmlns:a="http://schemas.openxmlformats.org/drawingml/2006/main">
            <a:off x="609600" y="6271558"/>
            <a:ext cx="7305675" cy="246102"/>
          </a:xfrm>
          <a:prstGeom xmlns:a="http://schemas.openxmlformats.org/drawingml/2006/main" prst="rect">
            <a:avLst/>
          </a:prstGeom>
        </p:spPr>
      </p:pic>
    </p:spTree>
    <p:extLst>
      <p:ext uri="{BB962C8B-B14F-4D97-AF65-F5344CB8AC3E}">
        <p14:creationId xmlns:p14="http://schemas.microsoft.com/office/powerpoint/2010/main" val="11770455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200"/>
                                        <p:tgtEl>
                                          <p:spTgt spid="27"/>
                                        </p:tgtEl>
                                      </p:cBhvr>
                                    </p:animEffect>
                                    <p:animMotion origin="layout" pathEditMode="relative" path="M -0.68945312 0.00000000 L 0.00000000 0.00000000 E">
                                      <p:cBhvr>
                                        <p:cTn id="11" dur="700" fill="hold"/>
                                        <p:tgtEl>
                                          <p:spTgt spid="27"/>
                                        </p:tgtEl>
                                        <p:attrNameLst>
                                          <p:attrName>ppt_x</p:attrName>
                                          <p:attrName>ppt_y</p:attrName>
                                        </p:attrNameLst>
                                      </p:cBhvr>
                                    </p:animMotion>
                                  </p:childTnLst>
                                </p:cTn>
                              </p:par>
                              <p:par>
                                <p:cTn id="12" presetID="10" presetClass="entr" presetSubtype="0" fill="hold"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200"/>
                                        <p:tgtEl>
                                          <p:spTgt spid="28"/>
                                        </p:tgtEl>
                                      </p:cBhvr>
                                    </p:animEffect>
                                    <p:animMotion origin="layout" pathEditMode="relative" path="M -0.56054688 0.00000000 L 0.00000000 0.00000000 E">
                                      <p:cBhvr>
                                        <p:cTn id="15" dur="700" fill="hold"/>
                                        <p:tgtEl>
                                          <p:spTgt spid="28"/>
                                        </p:tgtEl>
                                        <p:attrNameLst>
                                          <p:attrName>ppt_x</p:attrName>
                                          <p:attrName>ppt_y</p:attrName>
                                        </p:attrNameLst>
                                      </p:cBhvr>
                                    </p:animMotion>
                                  </p:childTnLst>
                                </p:cTn>
                              </p:par>
                              <p:par>
                                <p:cTn id="16" presetID="10" presetClass="entr" presetSubtype="0" fill="hold" nodeType="withEffect">
                                  <p:stCondLst>
                                    <p:cond delay="0"/>
                                  </p:stCondLst>
                                  <p:childTnLst>
                                    <p:set>
                                      <p:cBhvr>
                                        <p:cTn id="17" dur="1" fill="hold">
                                          <p:stCondLst>
                                            <p:cond delay="0"/>
                                          </p:stCondLst>
                                        </p:cTn>
                                        <p:tgtEl>
                                          <p:spTgt spid="136"/>
                                        </p:tgtEl>
                                        <p:attrNameLst>
                                          <p:attrName>style.visibility</p:attrName>
                                        </p:attrNameLst>
                                      </p:cBhvr>
                                      <p:to>
                                        <p:strVal val="visible"/>
                                      </p:to>
                                    </p:set>
                                    <p:animEffect transition="in" filter="fade">
                                      <p:cBhvr>
                                        <p:cTn id="18" dur="400"/>
                                        <p:tgtEl>
                                          <p:spTgt spid="1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400"/>
                                        <p:tgtEl>
                                          <p:spTgt spid="44"/>
                                        </p:tgtEl>
                                      </p:cBhvr>
                                    </p:animEffect>
                                  </p:childTnLst>
                                </p:cTn>
                              </p:par>
                              <p:par>
                                <p:cTn id="24" presetID="10" presetClass="entr" presetSubtype="0" fill="hold" nodeType="with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200"/>
                                        <p:tgtEl>
                                          <p:spTgt spid="45"/>
                                        </p:tgtEl>
                                      </p:cBhvr>
                                    </p:animEffect>
                                    <p:animMotion origin="layout" pathEditMode="relative" path="M -0.70556641 0.00000000 L 0.00000000 0.00000000 E">
                                      <p:cBhvr>
                                        <p:cTn id="27" dur="700" fill="hold"/>
                                        <p:tgtEl>
                                          <p:spTgt spid="45"/>
                                        </p:tgtEl>
                                        <p:attrNameLst>
                                          <p:attrName>ppt_x</p:attrName>
                                          <p:attrName>ppt_y</p:attrName>
                                        </p:attrNameLst>
                                      </p:cBhvr>
                                    </p:animMotion>
                                  </p:childTnLst>
                                </p:cTn>
                              </p:par>
                              <p:par>
                                <p:cTn id="28" presetID="10" presetClass="entr" presetSubtype="0" fill="hold"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200"/>
                                        <p:tgtEl>
                                          <p:spTgt spid="46"/>
                                        </p:tgtEl>
                                      </p:cBhvr>
                                    </p:animEffect>
                                    <p:animMotion origin="layout" pathEditMode="relative" path="M -0.54443359 0.00000000 L 0.00000000 0.00000000 E">
                                      <p:cBhvr>
                                        <p:cTn id="31" dur="700" fill="hold"/>
                                        <p:tgtEl>
                                          <p:spTgt spid="46"/>
                                        </p:tgtEl>
                                        <p:attrNameLst>
                                          <p:attrName>ppt_x</p:attrName>
                                          <p:attrName>ppt_y</p:attrName>
                                        </p:attrNameLst>
                                      </p:cBhvr>
                                    </p:animMotion>
                                  </p:childTnLst>
                                </p:cTn>
                              </p:par>
                              <p:par>
                                <p:cTn id="32" presetID="10" presetClass="entr" presetSubtype="0" fill="hold" nodeType="withEffect">
                                  <p:stCondLst>
                                    <p:cond delay="0"/>
                                  </p:stCondLst>
                                  <p:childTnLst>
                                    <p:set>
                                      <p:cBhvr>
                                        <p:cTn id="33" dur="1" fill="hold">
                                          <p:stCondLst>
                                            <p:cond delay="0"/>
                                          </p:stCondLst>
                                        </p:cTn>
                                        <p:tgtEl>
                                          <p:spTgt spid="137"/>
                                        </p:tgtEl>
                                        <p:attrNameLst>
                                          <p:attrName>style.visibility</p:attrName>
                                        </p:attrNameLst>
                                      </p:cBhvr>
                                      <p:to>
                                        <p:strVal val="visible"/>
                                      </p:to>
                                    </p:set>
                                    <p:animEffect transition="in" filter="fade">
                                      <p:cBhvr>
                                        <p:cTn id="34" dur="400"/>
                                        <p:tgtEl>
                                          <p:spTgt spid="137"/>
                                        </p:tgtEl>
                                      </p:cBhvr>
                                    </p:animEffect>
                                  </p:childTnLst>
                                </p:cTn>
                              </p:par>
                              <p:par>
                                <p:cTn id="35" presetID="10" presetClass="entr" presetSubtype="0" fill="hold" nodeType="withEffect">
                                  <p:stCondLst>
                                    <p:cond delay="0"/>
                                  </p:stCondLst>
                                  <p:childTnLst>
                                    <p:set>
                                      <p:cBhvr>
                                        <p:cTn id="36" dur="1" fill="hold">
                                          <p:stCondLst>
                                            <p:cond delay="0"/>
                                          </p:stCondLst>
                                        </p:cTn>
                                        <p:tgtEl>
                                          <p:spTgt spid="138"/>
                                        </p:tgtEl>
                                        <p:attrNameLst>
                                          <p:attrName>style.visibility</p:attrName>
                                        </p:attrNameLst>
                                      </p:cBhvr>
                                      <p:to>
                                        <p:strVal val="visible"/>
                                      </p:to>
                                    </p:set>
                                    <p:animEffect transition="in" filter="fade">
                                      <p:cBhvr>
                                        <p:cTn id="37" dur="4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44" grpId="0" animBg="1"/>
    </p:bldLst>
  </p:timing>
</p:sld>
</file>

<file path=ppt/slides/methods_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image-origin-title">
            <ns0:hlinkClick xmlns:ns0="http://schemas.openxmlformats.org/drawingml/2006/main" xmlns:ns1="http://schemas.openxmlformats.org/officeDocument/2006/relationships" ns1:id="rIdmethods_Link70" action="ppaction://hlinksldjump"/>
            <a:extLst xmlns:a="http://schemas.openxmlformats.org/drawingml/2006/main">
              <a:ext uri="{FF2B5EF4-FFF2-40B4-BE49-F238E27FC236}">
                <a16:creationId xmlns:a16="http://schemas.microsoft.com/office/drawing/2014/main" id="{F9DEF0DF-0283-4EA2-96EF-B7B8ED4D4208}"/>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70" action="ppaction://hlinksldjump"/>
              </a:rPr>
              <a:t>FDM</a:t>
            </a:r>
          </a:p>
        </p:txBody>
      </p:sp>
      <p:sp>
        <p:nvSpPr>
          <p:cNvPr id="2" name="!!image-origin-subtitle">
            <a:extLst xmlns:a="http://schemas.openxmlformats.org/drawingml/2006/main">
              <a:ext uri="{FF2B5EF4-FFF2-40B4-BE49-F238E27FC236}">
                <a16:creationId xmlns:a16="http://schemas.microsoft.com/office/drawing/2014/main" id="{8963BE1D-EA77-48CA-96D7-F82207261BF5}"/>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Two modulated signals (application)</a:t>
            </a:r>
          </a:p>
        </p:txBody>
      </p:sp>
      <p:sp>
        <p:nvSpPr>
          <p:cNvPr id="3" name="!!image-origin-route-tx-line">
            <a:extLst xmlns:a="http://schemas.openxmlformats.org/drawingml/2006/main">
              <a:ext uri="{FF2B5EF4-FFF2-40B4-BE49-F238E27FC236}">
                <a16:creationId xmlns:a16="http://schemas.microsoft.com/office/drawing/2014/main" id="{3D09FF6F-CBF5-47A8-B86F-AD4F46B07791}"/>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image-origin-route-tx-head">
            <a:extLst xmlns:a="http://schemas.openxmlformats.org/drawingml/2006/main">
              <a:ext uri="{FF2B5EF4-FFF2-40B4-BE49-F238E27FC236}">
                <a16:creationId xmlns:a16="http://schemas.microsoft.com/office/drawing/2014/main" id="{FF91C6DB-DDA4-4586-B96F-BE5A2F474CFC}"/>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image-origin-route-rx-line">
            <a:extLst xmlns:a="http://schemas.openxmlformats.org/drawingml/2006/main">
              <a:ext uri="{FF2B5EF4-FFF2-40B4-BE49-F238E27FC236}">
                <a16:creationId xmlns:a16="http://schemas.microsoft.com/office/drawing/2014/main" id="{E1E4C9AA-1B0A-4A8E-B52C-FD9C139D152E}"/>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image-origin-route-rx-head">
            <a:extLst xmlns:a="http://schemas.openxmlformats.org/drawingml/2006/main">
              <a:ext uri="{FF2B5EF4-FFF2-40B4-BE49-F238E27FC236}">
                <a16:creationId xmlns:a16="http://schemas.microsoft.com/office/drawing/2014/main" id="{D06E5A6E-0A1C-4E3D-86E1-CE0A33F0D929}"/>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image-origin-purpose">
            <a:extLst xmlns:a="http://schemas.openxmlformats.org/drawingml/2006/main">
              <a:ext uri="{FF2B5EF4-FFF2-40B4-BE49-F238E27FC236}">
                <a16:creationId xmlns:a16="http://schemas.microsoft.com/office/drawing/2014/main" id="{6C9CBD10-AF55-4750-BEF8-37F86C3773A1}"/>
              </a:ext>
            </a:extLst>
          </p:cNvPr>
          <p:cNvSpPr>
            <a:spLocks xmlns:a="http://schemas.openxmlformats.org/drawingml/2006/main" noGrp="1"/>
          </p:cNvSpPr>
          <p:nvPr/>
        </p:nvSpPr>
        <p:spPr>
          <a:xfrm xmlns:a="http://schemas.openxmlformats.org/drawingml/2006/main">
            <a:off x="666750" y="1895475"/>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Which other carrier also becomes the same IF?</a:t>
            </a:r>
          </a:p>
        </p:txBody>
      </p:sp>
      <p:sp>
        <p:nvSpPr>
          <p:cNvPr id="8" name="!!image-origin-detail">
            <a:extLst xmlns:a="http://schemas.openxmlformats.org/drawingml/2006/main">
              <a:ext uri="{FF2B5EF4-FFF2-40B4-BE49-F238E27FC236}">
                <a16:creationId xmlns:a16="http://schemas.microsoft.com/office/drawing/2014/main" id="{0CEE635D-E707-4FF2-B5B3-9DCFD16B716B}"/>
              </a:ext>
            </a:extLst>
          </p:cNvPr>
          <p:cNvSpPr>
            <a:spLocks xmlns:a="http://schemas.openxmlformats.org/drawingml/2006/main" noGrp="1"/>
          </p:cNvSpPr>
          <p:nvPr/>
        </p:nvSpPr>
        <p:spPr>
          <a:xfrm xmlns:a="http://schemas.openxmlformats.org/drawingml/2006/main">
            <a:off x="7524750" y="22955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75" b="0" i="0">
                <a:solidFill>
                  <a:srgbClr val="555555"/>
                </a:solidFill>
                <a:latin typeface="Times New Roman"/>
                <a:ea typeface="Times New Roman"/>
                <a:cs typeface="Times New Roman"/>
              </a:defRPr>
            </a:pPr>
            <a:r>
              <a:rPr sz="1575" b="0" i="0">
                <a:solidFill>
                  <a:srgbClr val="555555"/>
                </a:solidFill>
                <a:latin typeface="Times New Roman"/>
                <a:ea typeface="Times New Roman"/>
                <a:cs typeface="Times New Roman"/>
              </a:rPr>
              <a:t>Positive carrier frequencies (kHz)</a:t>
            </a:r>
          </a:p>
        </p:txBody>
      </p:sp>
      <p:sp>
        <p:nvSpPr>
          <p:cNvPr id="9" name="!!image-origin-input-axis0-line">
            <a:extLst xmlns:a="http://schemas.openxmlformats.org/drawingml/2006/main">
              <a:ext uri="{FF2B5EF4-FFF2-40B4-BE49-F238E27FC236}">
                <a16:creationId xmlns:a16="http://schemas.microsoft.com/office/drawing/2014/main" id="{27BAB383-DF95-4E80-A7AB-ED090606F733}"/>
              </a:ext>
            </a:extLst>
          </p:cNvPr>
          <p:cNvSpPr>
            <a:spLocks xmlns:a="http://schemas.openxmlformats.org/drawingml/2006/main" noGrp="1"/>
          </p:cNvSpPr>
          <p:nvPr/>
        </p:nvSpPr>
        <p:spPr>
          <a:xfrm xmlns:a="http://schemas.openxmlformats.org/drawingml/2006/main">
            <a:off x="809625" y="3286125"/>
            <a:ext cx="4191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image-origin-input-axis0-head">
            <a:extLst xmlns:a="http://schemas.openxmlformats.org/drawingml/2006/main">
              <a:ext uri="{FF2B5EF4-FFF2-40B4-BE49-F238E27FC236}">
                <a16:creationId xmlns:a16="http://schemas.microsoft.com/office/drawing/2014/main" id="{53BD103F-D3C9-42EB-B42E-7A11E16A4E51}"/>
              </a:ext>
            </a:extLst>
          </p:cNvPr>
          <p:cNvSpPr>
            <a:spLocks xmlns:a="http://schemas.openxmlformats.org/drawingml/2006/main" noGrp="1"/>
          </p:cNvSpPr>
          <p:nvPr/>
        </p:nvSpPr>
        <p:spPr>
          <a:xfrm xmlns:a="http://schemas.openxmlformats.org/drawingml/2006/main" rot="5400000">
            <a:off x="4981575" y="32385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image-origin-input-label0">
            <a:extLst xmlns:a="http://schemas.openxmlformats.org/drawingml/2006/main">
              <a:ext uri="{FF2B5EF4-FFF2-40B4-BE49-F238E27FC236}">
                <a16:creationId xmlns:a16="http://schemas.microsoft.com/office/drawing/2014/main" id="{074F8DF3-A70B-47AC-AD78-49DEBA4FCAB1}"/>
              </a:ext>
            </a:extLst>
          </p:cNvPr>
          <p:cNvSpPr>
            <a:spLocks xmlns:a="http://schemas.openxmlformats.org/drawingml/2006/main" noGrp="1"/>
          </p:cNvSpPr>
          <p:nvPr/>
        </p:nvSpPr>
        <p:spPr>
          <a:xfrm xmlns:a="http://schemas.openxmlformats.org/drawingml/2006/main">
            <a:off x="809625" y="2895600"/>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Input</a:t>
            </a:r>
          </a:p>
        </p:txBody>
      </p:sp>
      <p:sp>
        <p:nvSpPr>
          <p:cNvPr id="12" name="!!image-origin-wanted0">
            <a:extLst xmlns:a="http://schemas.openxmlformats.org/drawingml/2006/main">
              <a:ext uri="{FF2B5EF4-FFF2-40B4-BE49-F238E27FC236}">
                <a16:creationId xmlns:a16="http://schemas.microsoft.com/office/drawing/2014/main" id="{D4EBBE67-903F-4970-965B-DCCC08EE87F8}"/>
              </a:ext>
            </a:extLst>
          </p:cNvPr>
          <p:cNvSpPr>
            <a:spLocks xmlns:a="http://schemas.openxmlformats.org/drawingml/2006/main" noGrp="1"/>
          </p:cNvSpPr>
          <p:nvPr/>
        </p:nvSpPr>
        <p:spPr>
          <a:xfrm xmlns:a="http://schemas.openxmlformats.org/drawingml/2006/main">
            <a:off x="4067175" y="2990850"/>
            <a:ext cx="342900" cy="295275"/>
          </a:xfrm>
          <a:custGeom xmlns:a="http://schemas.openxmlformats.org/drawingml/2006/main">
            <a:pathLst>
              <a:path w="342900" h="295275">
                <a:moveTo>
                  <a:pt x="0" y="295275"/>
                </a:moveTo>
                <a:lnTo>
                  <a:pt x="171450" y="0"/>
                </a:lnTo>
                <a:lnTo>
                  <a:pt x="342900" y="295275"/>
                </a:lnTo>
                <a:close/>
              </a:path>
            </a:pathLst>
          </a:custGeom>
          <a:solidFill xmlns:a="http://schemas.openxmlformats.org/drawingml/2006/main">
            <a:srgbClr val="535353"/>
          </a:solidFill>
          <a:ln xmlns:a="http://schemas.openxmlformats.org/drawingml/2006/main" w="11430">
            <a:solidFill>
              <a:srgbClr val="202020"/>
            </a:solidFill>
          </a:ln>
        </p:spPr>
      </p:sp>
      <p:sp>
        <p:nvSpPr>
          <p:cNvPr id="13" name="!!image-origin-wanted-label0">
            <a:extLst xmlns:a="http://schemas.openxmlformats.org/drawingml/2006/main">
              <a:ext uri="{FF2B5EF4-FFF2-40B4-BE49-F238E27FC236}">
                <a16:creationId xmlns:a16="http://schemas.microsoft.com/office/drawing/2014/main" id="{C1FED56B-ACF4-4192-B51D-36FD1AC87150}"/>
              </a:ext>
            </a:extLst>
          </p:cNvPr>
          <p:cNvSpPr>
            <a:spLocks xmlns:a="http://schemas.openxmlformats.org/drawingml/2006/main" noGrp="1"/>
          </p:cNvSpPr>
          <p:nvPr/>
        </p:nvSpPr>
        <p:spPr>
          <a:xfrm xmlns:a="http://schemas.openxmlformats.org/drawingml/2006/main">
            <a:off x="3552825" y="3324225"/>
            <a:ext cx="1371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Wanted: 100</a:t>
            </a:r>
          </a:p>
        </p:txBody>
      </p:sp>
      <p:sp>
        <p:nvSpPr>
          <p:cNvPr id="14" name="!!image-origin-if-axis0-line">
            <a:extLst xmlns:a="http://schemas.openxmlformats.org/drawingml/2006/main">
              <a:ext uri="{FF2B5EF4-FFF2-40B4-BE49-F238E27FC236}">
                <a16:creationId xmlns:a16="http://schemas.microsoft.com/office/drawing/2014/main" id="{C19F4341-F381-4726-88AF-2158EF0678DA}"/>
              </a:ext>
            </a:extLst>
          </p:cNvPr>
          <p:cNvSpPr>
            <a:spLocks xmlns:a="http://schemas.openxmlformats.org/drawingml/2006/main" noGrp="1"/>
          </p:cNvSpPr>
          <p:nvPr/>
        </p:nvSpPr>
        <p:spPr>
          <a:xfrm xmlns:a="http://schemas.openxmlformats.org/drawingml/2006/main">
            <a:off x="2381250" y="4552950"/>
            <a:ext cx="18097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image-origin-if-axis0-head">
            <a:extLst xmlns:a="http://schemas.openxmlformats.org/drawingml/2006/main">
              <a:ext uri="{FF2B5EF4-FFF2-40B4-BE49-F238E27FC236}">
                <a16:creationId xmlns:a16="http://schemas.microsoft.com/office/drawing/2014/main" id="{7E67DB8F-648D-449A-B0A1-D1188BEF9F95}"/>
              </a:ext>
            </a:extLst>
          </p:cNvPr>
          <p:cNvSpPr>
            <a:spLocks xmlns:a="http://schemas.openxmlformats.org/drawingml/2006/main" noGrp="1"/>
          </p:cNvSpPr>
          <p:nvPr/>
        </p:nvSpPr>
        <p:spPr>
          <a:xfrm xmlns:a="http://schemas.openxmlformats.org/drawingml/2006/main" rot="5400000">
            <a:off x="4171950" y="45053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6" name="!!image-origin-output-label0">
            <a:extLst xmlns:a="http://schemas.openxmlformats.org/drawingml/2006/main">
              <a:ext uri="{FF2B5EF4-FFF2-40B4-BE49-F238E27FC236}">
                <a16:creationId xmlns:a16="http://schemas.microsoft.com/office/drawing/2014/main" id="{685682E2-E394-4545-B625-2A7B3E7CB1B4}"/>
              </a:ext>
            </a:extLst>
          </p:cNvPr>
          <p:cNvSpPr>
            <a:spLocks xmlns:a="http://schemas.openxmlformats.org/drawingml/2006/main" noGrp="1"/>
          </p:cNvSpPr>
          <p:nvPr/>
        </p:nvSpPr>
        <p:spPr>
          <a:xfrm xmlns:a="http://schemas.openxmlformats.org/drawingml/2006/main">
            <a:off x="809625" y="424815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IF output</a:t>
            </a:r>
          </a:p>
        </p:txBody>
      </p:sp>
      <p:sp>
        <p:nvSpPr>
          <p:cNvPr id="17" name="!!image-origin-lo-guide0">
            <a:extLst xmlns:a="http://schemas.openxmlformats.org/drawingml/2006/main">
              <a:ext uri="{FF2B5EF4-FFF2-40B4-BE49-F238E27FC236}">
                <a16:creationId xmlns:a16="http://schemas.microsoft.com/office/drawing/2014/main" id="{5C29A2FD-7C68-4B4C-8484-3DA6F967334D}"/>
              </a:ext>
            </a:extLst>
          </p:cNvPr>
          <p:cNvSpPr>
            <a:spLocks xmlns:a="http://schemas.openxmlformats.org/drawingml/2006/main" noGrp="1"/>
          </p:cNvSpPr>
          <p:nvPr/>
        </p:nvSpPr>
        <p:spPr>
          <a:xfrm xmlns:a="http://schemas.openxmlformats.org/drawingml/2006/main">
            <a:off x="3381375" y="2838450"/>
            <a:ext cx="953" cy="485775"/>
          </a:xfrm>
          <a:custGeom xmlns:a="http://schemas.openxmlformats.org/drawingml/2006/main">
            <a:pathLst>
              <a:path w="953" h="485775">
                <a:moveTo>
                  <a:pt x="0" y="0"/>
                </a:moveTo>
                <a:lnTo>
                  <a:pt x="0" y="485775"/>
                </a:lnTo>
              </a:path>
            </a:pathLst>
          </a:custGeom>
          <a:noFill xmlns:a="http://schemas.openxmlformats.org/drawingml/2006/main"/>
          <a:ln xmlns:a="http://schemas.openxmlformats.org/drawingml/2006/main" w="12383">
            <a:solidFill>
              <a:srgbClr val="777777"/>
            </a:solidFill>
          </a:ln>
        </p:spPr>
      </p:sp>
      <p:sp>
        <p:nvSpPr>
          <p:cNvPr id="18" name="!!image-origin-wanted-distance0">
            <a:extLst xmlns:a="http://schemas.openxmlformats.org/drawingml/2006/main">
              <a:ext uri="{FF2B5EF4-FFF2-40B4-BE49-F238E27FC236}">
                <a16:creationId xmlns:a16="http://schemas.microsoft.com/office/drawing/2014/main" id="{A06D22A8-D0EE-44B3-841C-DFA491549DA3}"/>
              </a:ext>
            </a:extLst>
          </p:cNvPr>
          <p:cNvSpPr>
            <a:spLocks xmlns:a="http://schemas.openxmlformats.org/drawingml/2006/main" noGrp="1"/>
          </p:cNvSpPr>
          <p:nvPr/>
        </p:nvSpPr>
        <p:spPr>
          <a:xfrm xmlns:a="http://schemas.openxmlformats.org/drawingml/2006/main">
            <a:off x="3381375" y="2800350"/>
            <a:ext cx="857250" cy="76200"/>
          </a:xfrm>
          <a:custGeom xmlns:a="http://schemas.openxmlformats.org/drawingml/2006/main">
            <a:pathLst>
              <a:path w="857250" h="76200">
                <a:moveTo>
                  <a:pt x="0" y="76200"/>
                </a:moveTo>
                <a:lnTo>
                  <a:pt x="0" y="0"/>
                </a:lnTo>
                <a:lnTo>
                  <a:pt x="857250" y="0"/>
                </a:lnTo>
                <a:lnTo>
                  <a:pt x="857250" y="76200"/>
                </a:lnTo>
              </a:path>
            </a:pathLst>
          </a:custGeom>
          <a:noFill xmlns:a="http://schemas.openxmlformats.org/drawingml/2006/main"/>
          <a:ln xmlns:a="http://schemas.openxmlformats.org/drawingml/2006/main" w="10478">
            <a:solidFill>
              <a:srgbClr val="202020"/>
            </a:solidFill>
          </a:ln>
        </p:spPr>
      </p:sp>
      <p:sp>
        <p:nvSpPr>
          <p:cNvPr id="19" name="!!image-origin-image0">
            <a:extLst xmlns:a="http://schemas.openxmlformats.org/drawingml/2006/main">
              <a:ext uri="{FF2B5EF4-FFF2-40B4-BE49-F238E27FC236}">
                <a16:creationId xmlns:a16="http://schemas.microsoft.com/office/drawing/2014/main" id="{4EC7F332-1CAD-4223-A8E1-38BAD4F072B7}"/>
              </a:ext>
            </a:extLst>
          </p:cNvPr>
          <p:cNvSpPr>
            <a:spLocks xmlns:a="http://schemas.openxmlformats.org/drawingml/2006/main" noGrp="1"/>
          </p:cNvSpPr>
          <p:nvPr/>
        </p:nvSpPr>
        <p:spPr>
          <a:xfrm xmlns:a="http://schemas.openxmlformats.org/drawingml/2006/main">
            <a:off x="2352675" y="2990850"/>
            <a:ext cx="342900" cy="295275"/>
          </a:xfrm>
          <a:custGeom xmlns:a="http://schemas.openxmlformats.org/drawingml/2006/main">
            <a:pathLst>
              <a:path w="342900" h="295275">
                <a:moveTo>
                  <a:pt x="0" y="295275"/>
                </a:moveTo>
                <a:lnTo>
                  <a:pt x="171450" y="0"/>
                </a:lnTo>
                <a:lnTo>
                  <a:pt x="342900" y="295275"/>
                </a:lnTo>
                <a:close/>
              </a:path>
            </a:pathLst>
          </a:custGeom>
          <a:solidFill xmlns:a="http://schemas.openxmlformats.org/drawingml/2006/main">
            <a:srgbClr val="BBBBBB"/>
          </a:solidFill>
          <a:ln xmlns:a="http://schemas.openxmlformats.org/drawingml/2006/main" w="11430">
            <a:solidFill>
              <a:srgbClr val="202020"/>
            </a:solidFill>
          </a:ln>
        </p:spPr>
      </p:sp>
      <p:sp>
        <p:nvSpPr>
          <p:cNvPr id="20" name="!!image-origin-image-label0">
            <a:extLst xmlns:a="http://schemas.openxmlformats.org/drawingml/2006/main">
              <a:ext uri="{FF2B5EF4-FFF2-40B4-BE49-F238E27FC236}">
                <a16:creationId xmlns:a16="http://schemas.microsoft.com/office/drawing/2014/main" id="{9A25A1CF-AA9D-435A-AF44-C79972E1DCAD}"/>
              </a:ext>
            </a:extLst>
          </p:cNvPr>
          <p:cNvSpPr>
            <a:spLocks xmlns:a="http://schemas.openxmlformats.org/drawingml/2006/main" noGrp="1"/>
          </p:cNvSpPr>
          <p:nvPr/>
        </p:nvSpPr>
        <p:spPr>
          <a:xfrm xmlns:a="http://schemas.openxmlformats.org/drawingml/2006/main">
            <a:off x="1905000" y="33242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Other: 60</a:t>
            </a:r>
          </a:p>
        </p:txBody>
      </p:sp>
      <p:sp>
        <p:nvSpPr>
          <p:cNvPr id="21" name="!!image-origin-image-distance0">
            <a:extLst xmlns:a="http://schemas.openxmlformats.org/drawingml/2006/main">
              <a:ext uri="{FF2B5EF4-FFF2-40B4-BE49-F238E27FC236}">
                <a16:creationId xmlns:a16="http://schemas.microsoft.com/office/drawing/2014/main" id="{71D138A0-0F96-4EF0-9661-BD2FE7C954D6}"/>
              </a:ext>
            </a:extLst>
          </p:cNvPr>
          <p:cNvSpPr>
            <a:spLocks xmlns:a="http://schemas.openxmlformats.org/drawingml/2006/main" noGrp="1"/>
          </p:cNvSpPr>
          <p:nvPr/>
        </p:nvSpPr>
        <p:spPr>
          <a:xfrm xmlns:a="http://schemas.openxmlformats.org/drawingml/2006/main">
            <a:off x="2524125" y="2800350"/>
            <a:ext cx="857250" cy="76200"/>
          </a:xfrm>
          <a:custGeom xmlns:a="http://schemas.openxmlformats.org/drawingml/2006/main">
            <a:pathLst>
              <a:path w="857250" h="76200">
                <a:moveTo>
                  <a:pt x="0" y="76200"/>
                </a:moveTo>
                <a:lnTo>
                  <a:pt x="0" y="0"/>
                </a:lnTo>
                <a:lnTo>
                  <a:pt x="857250" y="0"/>
                </a:lnTo>
                <a:lnTo>
                  <a:pt x="857250" y="76200"/>
                </a:lnTo>
              </a:path>
            </a:pathLst>
          </a:custGeom>
          <a:noFill xmlns:a="http://schemas.openxmlformats.org/drawingml/2006/main"/>
          <a:ln xmlns:a="http://schemas.openxmlformats.org/drawingml/2006/main" w="10478">
            <a:solidFill>
              <a:srgbClr val="202020"/>
            </a:solidFill>
          </a:ln>
        </p:spPr>
      </p:sp>
      <p:sp>
        <p:nvSpPr>
          <p:cNvPr id="22" name="!!image-origin-out-wanted0">
            <a:extLst xmlns:a="http://schemas.openxmlformats.org/drawingml/2006/main">
              <a:ext uri="{FF2B5EF4-FFF2-40B4-BE49-F238E27FC236}">
                <a16:creationId xmlns:a16="http://schemas.microsoft.com/office/drawing/2014/main" id="{2CBDCEE7-9566-425C-A3D6-3526EBAE31E1}"/>
              </a:ext>
            </a:extLst>
          </p:cNvPr>
          <p:cNvSpPr>
            <a:spLocks xmlns:a="http://schemas.openxmlformats.org/drawingml/2006/main" noGrp="1"/>
          </p:cNvSpPr>
          <p:nvPr/>
        </p:nvSpPr>
        <p:spPr>
          <a:xfrm xmlns:a="http://schemas.openxmlformats.org/drawingml/2006/main">
            <a:off x="2990850" y="4257675"/>
            <a:ext cx="304800" cy="295275"/>
          </a:xfrm>
          <a:custGeom xmlns:a="http://schemas.openxmlformats.org/drawingml/2006/main">
            <a:pathLst>
              <a:path w="304800" h="295275">
                <a:moveTo>
                  <a:pt x="0" y="295275"/>
                </a:moveTo>
                <a:lnTo>
                  <a:pt x="152400" y="0"/>
                </a:lnTo>
                <a:lnTo>
                  <a:pt x="304800" y="295275"/>
                </a:lnTo>
                <a:close/>
              </a:path>
            </a:pathLst>
          </a:custGeom>
          <a:solidFill xmlns:a="http://schemas.openxmlformats.org/drawingml/2006/main">
            <a:srgbClr val="535353"/>
          </a:solidFill>
          <a:ln xmlns:a="http://schemas.openxmlformats.org/drawingml/2006/main" w="11430">
            <a:solidFill>
              <a:srgbClr val="202020"/>
            </a:solidFill>
          </a:ln>
        </p:spPr>
      </p:sp>
      <p:sp>
        <p:nvSpPr>
          <p:cNvPr id="23" name="!!image-origin-out-image0">
            <a:extLst xmlns:a="http://schemas.openxmlformats.org/drawingml/2006/main">
              <a:ext uri="{FF2B5EF4-FFF2-40B4-BE49-F238E27FC236}">
                <a16:creationId xmlns:a16="http://schemas.microsoft.com/office/drawing/2014/main" id="{0A713702-8AE1-45FC-A456-1CEBDD3F1182}"/>
              </a:ext>
            </a:extLst>
          </p:cNvPr>
          <p:cNvSpPr>
            <a:spLocks xmlns:a="http://schemas.openxmlformats.org/drawingml/2006/main" noGrp="1"/>
          </p:cNvSpPr>
          <p:nvPr/>
        </p:nvSpPr>
        <p:spPr>
          <a:xfrm xmlns:a="http://schemas.openxmlformats.org/drawingml/2006/main">
            <a:off x="2990850" y="4362450"/>
            <a:ext cx="304800" cy="190500"/>
          </a:xfrm>
          <a:custGeom xmlns:a="http://schemas.openxmlformats.org/drawingml/2006/main">
            <a:pathLst>
              <a:path w="304800" h="190500">
                <a:moveTo>
                  <a:pt x="0" y="190500"/>
                </a:moveTo>
                <a:lnTo>
                  <a:pt x="152400" y="0"/>
                </a:lnTo>
                <a:lnTo>
                  <a:pt x="304800" y="190500"/>
                </a:lnTo>
                <a:close/>
              </a:path>
            </a:pathLst>
          </a:custGeom>
          <a:solidFill xmlns:a="http://schemas.openxmlformats.org/drawingml/2006/main">
            <a:srgbClr val="BBBBBB"/>
          </a:solidFill>
          <a:ln xmlns:a="http://schemas.openxmlformats.org/drawingml/2006/main" w="11430">
            <a:solidFill>
              <a:srgbClr val="202020"/>
            </a:solidFill>
          </a:ln>
        </p:spPr>
      </p:sp>
      <p:sp>
        <p:nvSpPr>
          <p:cNvPr id="24" name="!!image-origin-mix-label0">
            <a:extLst xmlns:a="http://schemas.openxmlformats.org/drawingml/2006/main">
              <a:ext uri="{FF2B5EF4-FFF2-40B4-BE49-F238E27FC236}">
                <a16:creationId xmlns:a16="http://schemas.microsoft.com/office/drawing/2014/main" id="{5558F388-6166-4785-935B-0B8CDCB0D10B}"/>
              </a:ext>
            </a:extLst>
          </p:cNvPr>
          <p:cNvSpPr>
            <a:spLocks xmlns:a="http://schemas.openxmlformats.org/drawingml/2006/main" noGrp="1"/>
          </p:cNvSpPr>
          <p:nvPr/>
        </p:nvSpPr>
        <p:spPr>
          <a:xfrm xmlns:a="http://schemas.openxmlformats.org/drawingml/2006/main">
            <a:off x="2000250" y="3867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Mix + IF BPF</a:t>
            </a:r>
          </a:p>
        </p:txBody>
      </p:sp>
      <p:sp>
        <p:nvSpPr>
          <p:cNvPr id="25" name="!!image-origin-input-axis1-line">
            <a:extLst xmlns:a="http://schemas.openxmlformats.org/drawingml/2006/main">
              <a:ext uri="{FF2B5EF4-FFF2-40B4-BE49-F238E27FC236}">
                <a16:creationId xmlns:a16="http://schemas.microsoft.com/office/drawing/2014/main" id="{62B94E2A-E75E-4543-BB0F-03266F64B669}"/>
              </a:ext>
            </a:extLst>
          </p:cNvPr>
          <p:cNvSpPr>
            <a:spLocks xmlns:a="http://schemas.openxmlformats.org/drawingml/2006/main" noGrp="1"/>
          </p:cNvSpPr>
          <p:nvPr/>
        </p:nvSpPr>
        <p:spPr>
          <a:xfrm xmlns:a="http://schemas.openxmlformats.org/drawingml/2006/main">
            <a:off x="7000875" y="3286125"/>
            <a:ext cx="4191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image-origin-input-axis1-head">
            <a:extLst xmlns:a="http://schemas.openxmlformats.org/drawingml/2006/main">
              <a:ext uri="{FF2B5EF4-FFF2-40B4-BE49-F238E27FC236}">
                <a16:creationId xmlns:a16="http://schemas.microsoft.com/office/drawing/2014/main" id="{DF006339-D433-4693-82BC-E580CB04AEA0}"/>
              </a:ext>
            </a:extLst>
          </p:cNvPr>
          <p:cNvSpPr>
            <a:spLocks xmlns:a="http://schemas.openxmlformats.org/drawingml/2006/main" noGrp="1"/>
          </p:cNvSpPr>
          <p:nvPr/>
        </p:nvSpPr>
        <p:spPr>
          <a:xfrm xmlns:a="http://schemas.openxmlformats.org/drawingml/2006/main" rot="5400000">
            <a:off x="11172825" y="32385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7" name="!!image-origin-input-label1">
            <a:extLst xmlns:a="http://schemas.openxmlformats.org/drawingml/2006/main">
              <a:ext uri="{FF2B5EF4-FFF2-40B4-BE49-F238E27FC236}">
                <a16:creationId xmlns:a16="http://schemas.microsoft.com/office/drawing/2014/main" id="{D753DBDA-FE4C-4603-9EB7-EEE0E13FE902}"/>
              </a:ext>
            </a:extLst>
          </p:cNvPr>
          <p:cNvSpPr>
            <a:spLocks xmlns:a="http://schemas.openxmlformats.org/drawingml/2006/main" noGrp="1"/>
          </p:cNvSpPr>
          <p:nvPr/>
        </p:nvSpPr>
        <p:spPr>
          <a:xfrm xmlns:a="http://schemas.openxmlformats.org/drawingml/2006/main">
            <a:off x="7000875" y="2895600"/>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Input</a:t>
            </a:r>
          </a:p>
        </p:txBody>
      </p:sp>
      <p:sp>
        <p:nvSpPr>
          <p:cNvPr id="28" name="!!image-origin-wanted1">
            <a:extLst xmlns:a="http://schemas.openxmlformats.org/drawingml/2006/main">
              <a:ext uri="{FF2B5EF4-FFF2-40B4-BE49-F238E27FC236}">
                <a16:creationId xmlns:a16="http://schemas.microsoft.com/office/drawing/2014/main" id="{6D391D6F-05C3-4C64-95DF-98FF071785F7}"/>
              </a:ext>
            </a:extLst>
          </p:cNvPr>
          <p:cNvSpPr>
            <a:spLocks xmlns:a="http://schemas.openxmlformats.org/drawingml/2006/main" noGrp="1"/>
          </p:cNvSpPr>
          <p:nvPr/>
        </p:nvSpPr>
        <p:spPr>
          <a:xfrm xmlns:a="http://schemas.openxmlformats.org/drawingml/2006/main">
            <a:off x="10258425" y="2990850"/>
            <a:ext cx="342900" cy="295275"/>
          </a:xfrm>
          <a:custGeom xmlns:a="http://schemas.openxmlformats.org/drawingml/2006/main">
            <a:pathLst>
              <a:path w="342900" h="295275">
                <a:moveTo>
                  <a:pt x="0" y="295275"/>
                </a:moveTo>
                <a:lnTo>
                  <a:pt x="171450" y="0"/>
                </a:lnTo>
                <a:lnTo>
                  <a:pt x="342900" y="295275"/>
                </a:lnTo>
                <a:close/>
              </a:path>
            </a:pathLst>
          </a:custGeom>
          <a:solidFill xmlns:a="http://schemas.openxmlformats.org/drawingml/2006/main">
            <a:srgbClr val="535353"/>
          </a:solidFill>
          <a:ln xmlns:a="http://schemas.openxmlformats.org/drawingml/2006/main" w="11430">
            <a:solidFill>
              <a:srgbClr val="202020"/>
            </a:solidFill>
          </a:ln>
        </p:spPr>
      </p:sp>
      <p:sp>
        <p:nvSpPr>
          <p:cNvPr id="29" name="!!image-origin-wanted-label1">
            <a:extLst xmlns:a="http://schemas.openxmlformats.org/drawingml/2006/main">
              <a:ext uri="{FF2B5EF4-FFF2-40B4-BE49-F238E27FC236}">
                <a16:creationId xmlns:a16="http://schemas.microsoft.com/office/drawing/2014/main" id="{9397DE53-6540-45FC-949F-C497A4BF58AB}"/>
              </a:ext>
            </a:extLst>
          </p:cNvPr>
          <p:cNvSpPr>
            <a:spLocks xmlns:a="http://schemas.openxmlformats.org/drawingml/2006/main" noGrp="1"/>
          </p:cNvSpPr>
          <p:nvPr/>
        </p:nvSpPr>
        <p:spPr>
          <a:xfrm xmlns:a="http://schemas.openxmlformats.org/drawingml/2006/main">
            <a:off x="9744075" y="3324225"/>
            <a:ext cx="1371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Wanted: 100</a:t>
            </a:r>
          </a:p>
        </p:txBody>
      </p:sp>
      <p:sp>
        <p:nvSpPr>
          <p:cNvPr id="30" name="!!image-origin-if-axis1-line">
            <a:extLst xmlns:a="http://schemas.openxmlformats.org/drawingml/2006/main">
              <a:ext uri="{FF2B5EF4-FFF2-40B4-BE49-F238E27FC236}">
                <a16:creationId xmlns:a16="http://schemas.microsoft.com/office/drawing/2014/main" id="{3C33711A-CBEB-47D7-BD3C-5A5DDB8E8C30}"/>
              </a:ext>
            </a:extLst>
          </p:cNvPr>
          <p:cNvSpPr>
            <a:spLocks xmlns:a="http://schemas.openxmlformats.org/drawingml/2006/main" noGrp="1"/>
          </p:cNvSpPr>
          <p:nvPr/>
        </p:nvSpPr>
        <p:spPr>
          <a:xfrm xmlns:a="http://schemas.openxmlformats.org/drawingml/2006/main">
            <a:off x="8572500" y="4552950"/>
            <a:ext cx="18097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1" name="!!image-origin-if-axis1-head">
            <a:extLst xmlns:a="http://schemas.openxmlformats.org/drawingml/2006/main">
              <a:ext uri="{FF2B5EF4-FFF2-40B4-BE49-F238E27FC236}">
                <a16:creationId xmlns:a16="http://schemas.microsoft.com/office/drawing/2014/main" id="{C2EE99BD-E294-4507-AB72-AEDF414DC400}"/>
              </a:ext>
            </a:extLst>
          </p:cNvPr>
          <p:cNvSpPr>
            <a:spLocks xmlns:a="http://schemas.openxmlformats.org/drawingml/2006/main" noGrp="1"/>
          </p:cNvSpPr>
          <p:nvPr/>
        </p:nvSpPr>
        <p:spPr>
          <a:xfrm xmlns:a="http://schemas.openxmlformats.org/drawingml/2006/main" rot="5400000">
            <a:off x="10363200" y="45053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2" name="!!image-origin-output-label1">
            <a:extLst xmlns:a="http://schemas.openxmlformats.org/drawingml/2006/main">
              <a:ext uri="{FF2B5EF4-FFF2-40B4-BE49-F238E27FC236}">
                <a16:creationId xmlns:a16="http://schemas.microsoft.com/office/drawing/2014/main" id="{966D386C-D469-4B4F-A040-783F95E63258}"/>
              </a:ext>
            </a:extLst>
          </p:cNvPr>
          <p:cNvSpPr>
            <a:spLocks xmlns:a="http://schemas.openxmlformats.org/drawingml/2006/main" noGrp="1"/>
          </p:cNvSpPr>
          <p:nvPr/>
        </p:nvSpPr>
        <p:spPr>
          <a:xfrm xmlns:a="http://schemas.openxmlformats.org/drawingml/2006/main">
            <a:off x="7000875" y="424815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IF output</a:t>
            </a:r>
          </a:p>
        </p:txBody>
      </p:sp>
      <p:sp>
        <p:nvSpPr>
          <p:cNvPr id="33" name="!!image-origin-lo-guide1">
            <a:extLst xmlns:a="http://schemas.openxmlformats.org/drawingml/2006/main">
              <a:ext uri="{FF2B5EF4-FFF2-40B4-BE49-F238E27FC236}">
                <a16:creationId xmlns:a16="http://schemas.microsoft.com/office/drawing/2014/main" id="{4C41B018-CF87-4099-A016-D45728C28D4E}"/>
              </a:ext>
            </a:extLst>
          </p:cNvPr>
          <p:cNvSpPr>
            <a:spLocks xmlns:a="http://schemas.openxmlformats.org/drawingml/2006/main" noGrp="1"/>
          </p:cNvSpPr>
          <p:nvPr/>
        </p:nvSpPr>
        <p:spPr>
          <a:xfrm xmlns:a="http://schemas.openxmlformats.org/drawingml/2006/main">
            <a:off x="9144000" y="2838450"/>
            <a:ext cx="953" cy="485775"/>
          </a:xfrm>
          <a:custGeom xmlns:a="http://schemas.openxmlformats.org/drawingml/2006/main">
            <a:pathLst>
              <a:path w="953" h="485775">
                <a:moveTo>
                  <a:pt x="0" y="0"/>
                </a:moveTo>
                <a:lnTo>
                  <a:pt x="0" y="485775"/>
                </a:lnTo>
              </a:path>
            </a:pathLst>
          </a:custGeom>
          <a:noFill xmlns:a="http://schemas.openxmlformats.org/drawingml/2006/main"/>
          <a:ln xmlns:a="http://schemas.openxmlformats.org/drawingml/2006/main" w="12383">
            <a:solidFill>
              <a:srgbClr val="777777"/>
            </a:solidFill>
          </a:ln>
        </p:spPr>
      </p:sp>
      <p:sp>
        <p:nvSpPr>
          <p:cNvPr id="34" name="!!image-origin-wanted-distance1">
            <a:extLst xmlns:a="http://schemas.openxmlformats.org/drawingml/2006/main">
              <a:ext uri="{FF2B5EF4-FFF2-40B4-BE49-F238E27FC236}">
                <a16:creationId xmlns:a16="http://schemas.microsoft.com/office/drawing/2014/main" id="{5F8B7DFF-5CC2-4D88-8C0D-F2AB615D5978}"/>
              </a:ext>
            </a:extLst>
          </p:cNvPr>
          <p:cNvSpPr>
            <a:spLocks xmlns:a="http://schemas.openxmlformats.org/drawingml/2006/main" noGrp="1"/>
          </p:cNvSpPr>
          <p:nvPr/>
        </p:nvSpPr>
        <p:spPr>
          <a:xfrm xmlns:a="http://schemas.openxmlformats.org/drawingml/2006/main">
            <a:off x="9144000" y="2800350"/>
            <a:ext cx="1285875" cy="76200"/>
          </a:xfrm>
          <a:custGeom xmlns:a="http://schemas.openxmlformats.org/drawingml/2006/main">
            <a:pathLst>
              <a:path w="1285875" h="76200">
                <a:moveTo>
                  <a:pt x="0" y="76200"/>
                </a:moveTo>
                <a:lnTo>
                  <a:pt x="0" y="0"/>
                </a:lnTo>
                <a:lnTo>
                  <a:pt x="1285875" y="0"/>
                </a:lnTo>
                <a:lnTo>
                  <a:pt x="1285875" y="76200"/>
                </a:lnTo>
              </a:path>
            </a:pathLst>
          </a:custGeom>
          <a:noFill xmlns:a="http://schemas.openxmlformats.org/drawingml/2006/main"/>
          <a:ln xmlns:a="http://schemas.openxmlformats.org/drawingml/2006/main" w="10478">
            <a:solidFill>
              <a:srgbClr val="202020"/>
            </a:solidFill>
          </a:ln>
        </p:spPr>
      </p:sp>
      <p:sp>
        <p:nvSpPr>
          <p:cNvPr id="35" name="!!image-origin-image1">
            <a:extLst xmlns:a="http://schemas.openxmlformats.org/drawingml/2006/main">
              <a:ext uri="{FF2B5EF4-FFF2-40B4-BE49-F238E27FC236}">
                <a16:creationId xmlns:a16="http://schemas.microsoft.com/office/drawing/2014/main" id="{445216FC-FB47-4AB5-9B47-6C447A6CE3F8}"/>
              </a:ext>
            </a:extLst>
          </p:cNvPr>
          <p:cNvSpPr>
            <a:spLocks xmlns:a="http://schemas.openxmlformats.org/drawingml/2006/main" noGrp="1"/>
          </p:cNvSpPr>
          <p:nvPr/>
        </p:nvSpPr>
        <p:spPr>
          <a:xfrm xmlns:a="http://schemas.openxmlformats.org/drawingml/2006/main">
            <a:off x="7686675" y="2990850"/>
            <a:ext cx="342900" cy="295275"/>
          </a:xfrm>
          <a:custGeom xmlns:a="http://schemas.openxmlformats.org/drawingml/2006/main">
            <a:pathLst>
              <a:path w="342900" h="295275">
                <a:moveTo>
                  <a:pt x="0" y="295275"/>
                </a:moveTo>
                <a:lnTo>
                  <a:pt x="171450" y="0"/>
                </a:lnTo>
                <a:lnTo>
                  <a:pt x="342900" y="295275"/>
                </a:lnTo>
                <a:close/>
              </a:path>
            </a:pathLst>
          </a:custGeom>
          <a:solidFill xmlns:a="http://schemas.openxmlformats.org/drawingml/2006/main">
            <a:srgbClr val="BBBBBB"/>
          </a:solidFill>
          <a:ln xmlns:a="http://schemas.openxmlformats.org/drawingml/2006/main" w="11430">
            <a:solidFill>
              <a:srgbClr val="202020"/>
            </a:solidFill>
          </a:ln>
        </p:spPr>
      </p:sp>
      <p:sp>
        <p:nvSpPr>
          <p:cNvPr id="36" name="!!image-origin-image-label1">
            <a:extLst xmlns:a="http://schemas.openxmlformats.org/drawingml/2006/main">
              <a:ext uri="{FF2B5EF4-FFF2-40B4-BE49-F238E27FC236}">
                <a16:creationId xmlns:a16="http://schemas.microsoft.com/office/drawing/2014/main" id="{35B5D42C-7E9D-4239-9228-0362C047070F}"/>
              </a:ext>
            </a:extLst>
          </p:cNvPr>
          <p:cNvSpPr>
            <a:spLocks xmlns:a="http://schemas.openxmlformats.org/drawingml/2006/main" noGrp="1"/>
          </p:cNvSpPr>
          <p:nvPr/>
        </p:nvSpPr>
        <p:spPr>
          <a:xfrm xmlns:a="http://schemas.openxmlformats.org/drawingml/2006/main">
            <a:off x="7239000" y="33242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Other: 40</a:t>
            </a:r>
          </a:p>
        </p:txBody>
      </p:sp>
      <p:sp>
        <p:nvSpPr>
          <p:cNvPr id="37" name="!!image-origin-image-distance1">
            <a:extLst xmlns:a="http://schemas.openxmlformats.org/drawingml/2006/main">
              <a:ext uri="{FF2B5EF4-FFF2-40B4-BE49-F238E27FC236}">
                <a16:creationId xmlns:a16="http://schemas.microsoft.com/office/drawing/2014/main" id="{DCC959B2-4B56-4A63-A090-EFAD76D21991}"/>
              </a:ext>
            </a:extLst>
          </p:cNvPr>
          <p:cNvSpPr>
            <a:spLocks xmlns:a="http://schemas.openxmlformats.org/drawingml/2006/main" noGrp="1"/>
          </p:cNvSpPr>
          <p:nvPr/>
        </p:nvSpPr>
        <p:spPr>
          <a:xfrm xmlns:a="http://schemas.openxmlformats.org/drawingml/2006/main">
            <a:off x="7858125" y="2800350"/>
            <a:ext cx="1285875" cy="76200"/>
          </a:xfrm>
          <a:custGeom xmlns:a="http://schemas.openxmlformats.org/drawingml/2006/main">
            <a:pathLst>
              <a:path w="1285875" h="76200">
                <a:moveTo>
                  <a:pt x="0" y="76200"/>
                </a:moveTo>
                <a:lnTo>
                  <a:pt x="0" y="0"/>
                </a:lnTo>
                <a:lnTo>
                  <a:pt x="1285875" y="0"/>
                </a:lnTo>
                <a:lnTo>
                  <a:pt x="1285875" y="76200"/>
                </a:lnTo>
              </a:path>
            </a:pathLst>
          </a:custGeom>
          <a:noFill xmlns:a="http://schemas.openxmlformats.org/drawingml/2006/main"/>
          <a:ln xmlns:a="http://schemas.openxmlformats.org/drawingml/2006/main" w="10478">
            <a:solidFill>
              <a:srgbClr val="202020"/>
            </a:solidFill>
          </a:ln>
        </p:spPr>
      </p:sp>
      <p:sp>
        <p:nvSpPr>
          <p:cNvPr id="38" name="!!image-origin-out-wanted1">
            <a:extLst xmlns:a="http://schemas.openxmlformats.org/drawingml/2006/main">
              <a:ext uri="{FF2B5EF4-FFF2-40B4-BE49-F238E27FC236}">
                <a16:creationId xmlns:a16="http://schemas.microsoft.com/office/drawing/2014/main" id="{C1C71668-4CD3-4867-A967-F32E2362C0DF}"/>
              </a:ext>
            </a:extLst>
          </p:cNvPr>
          <p:cNvSpPr>
            <a:spLocks xmlns:a="http://schemas.openxmlformats.org/drawingml/2006/main" noGrp="1"/>
          </p:cNvSpPr>
          <p:nvPr/>
        </p:nvSpPr>
        <p:spPr>
          <a:xfrm xmlns:a="http://schemas.openxmlformats.org/drawingml/2006/main">
            <a:off x="9563100" y="4257675"/>
            <a:ext cx="304800" cy="295275"/>
          </a:xfrm>
          <a:custGeom xmlns:a="http://schemas.openxmlformats.org/drawingml/2006/main">
            <a:pathLst>
              <a:path w="304800" h="295275">
                <a:moveTo>
                  <a:pt x="0" y="295275"/>
                </a:moveTo>
                <a:lnTo>
                  <a:pt x="152400" y="0"/>
                </a:lnTo>
                <a:lnTo>
                  <a:pt x="304800" y="295275"/>
                </a:lnTo>
                <a:close/>
              </a:path>
            </a:pathLst>
          </a:custGeom>
          <a:solidFill xmlns:a="http://schemas.openxmlformats.org/drawingml/2006/main">
            <a:srgbClr val="535353"/>
          </a:solidFill>
          <a:ln xmlns:a="http://schemas.openxmlformats.org/drawingml/2006/main" w="11430">
            <a:solidFill>
              <a:srgbClr val="202020"/>
            </a:solidFill>
          </a:ln>
        </p:spPr>
      </p:sp>
      <p:sp>
        <p:nvSpPr>
          <p:cNvPr id="39" name="!!image-origin-out-image1">
            <a:extLst xmlns:a="http://schemas.openxmlformats.org/drawingml/2006/main">
              <a:ext uri="{FF2B5EF4-FFF2-40B4-BE49-F238E27FC236}">
                <a16:creationId xmlns:a16="http://schemas.microsoft.com/office/drawing/2014/main" id="{8AF44814-36AE-4DDF-B560-089AA20F5253}"/>
              </a:ext>
            </a:extLst>
          </p:cNvPr>
          <p:cNvSpPr>
            <a:spLocks xmlns:a="http://schemas.openxmlformats.org/drawingml/2006/main" noGrp="1"/>
          </p:cNvSpPr>
          <p:nvPr/>
        </p:nvSpPr>
        <p:spPr>
          <a:xfrm xmlns:a="http://schemas.openxmlformats.org/drawingml/2006/main">
            <a:off x="9563100" y="4362450"/>
            <a:ext cx="304800" cy="190500"/>
          </a:xfrm>
          <a:custGeom xmlns:a="http://schemas.openxmlformats.org/drawingml/2006/main">
            <a:pathLst>
              <a:path w="304800" h="190500">
                <a:moveTo>
                  <a:pt x="0" y="190500"/>
                </a:moveTo>
                <a:lnTo>
                  <a:pt x="152400" y="0"/>
                </a:lnTo>
                <a:lnTo>
                  <a:pt x="304800" y="190500"/>
                </a:lnTo>
                <a:close/>
              </a:path>
            </a:pathLst>
          </a:custGeom>
          <a:solidFill xmlns:a="http://schemas.openxmlformats.org/drawingml/2006/main">
            <a:srgbClr val="BBBBBB"/>
          </a:solidFill>
          <a:ln xmlns:a="http://schemas.openxmlformats.org/drawingml/2006/main" w="11430">
            <a:solidFill>
              <a:srgbClr val="202020"/>
            </a:solidFill>
          </a:ln>
        </p:spPr>
      </p:sp>
      <p:sp>
        <p:nvSpPr>
          <p:cNvPr id="40" name="!!image-origin-mix-label1">
            <a:extLst xmlns:a="http://schemas.openxmlformats.org/drawingml/2006/main">
              <a:ext uri="{FF2B5EF4-FFF2-40B4-BE49-F238E27FC236}">
                <a16:creationId xmlns:a16="http://schemas.microsoft.com/office/drawing/2014/main" id="{75A09679-5B51-45C6-8555-E5028854C49F}"/>
              </a:ext>
            </a:extLst>
          </p:cNvPr>
          <p:cNvSpPr>
            <a:spLocks xmlns:a="http://schemas.openxmlformats.org/drawingml/2006/main" noGrp="1"/>
          </p:cNvSpPr>
          <p:nvPr/>
        </p:nvSpPr>
        <p:spPr>
          <a:xfrm xmlns:a="http://schemas.openxmlformats.org/drawingml/2006/main">
            <a:off x="8191500" y="3867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Mix + IF BPF</a:t>
            </a:r>
          </a:p>
        </p:txBody>
      </p:sp>
      <p:sp>
        <p:nvSpPr>
          <p:cNvPr id="41" name="!!image-origin-conclusion">
            <a:extLst xmlns:a="http://schemas.openxmlformats.org/drawingml/2006/main">
              <a:ext uri="{FF2B5EF4-FFF2-40B4-BE49-F238E27FC236}">
                <a16:creationId xmlns:a16="http://schemas.microsoft.com/office/drawing/2014/main" id="{67A92CC0-B2D3-4F4F-A26F-F995C8C6DC1A}"/>
              </a:ext>
            </a:extLst>
          </p:cNvPr>
          <p:cNvSpPr>
            <a:spLocks xmlns:a="http://schemas.openxmlformats.org/drawingml/2006/main" noGrp="1"/>
          </p:cNvSpPr>
          <p:nvPr/>
        </p:nvSpPr>
        <p:spPr>
          <a:xfrm xmlns:a="http://schemas.openxmlformats.org/drawingml/2006/main">
            <a:off x="666750" y="63722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Equal distances from the LO give the same IF.</a:t>
            </a:r>
          </a:p>
        </p:txBody>
      </p:sp>
      <p:pic>
        <p:nvPicPr>
          <p:cNvPr id="104" name="!!image-origin-route-m" descr="m(t)">
            <ns0:hlinkClick xmlns:ns0="http://schemas.openxmlformats.org/drawingml/2006/main" xmlns:ns1="http://schemas.openxmlformats.org/officeDocument/2006/relationships" ns1:id="rIdmethods_Link7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c92e4be487d4458a">
            <a:extLst>
              <a:ext uri="{96DAC541-7B7A-43D3-8B79-37D633B846F1}">
                <ns0:svgBlip xmlns:ns0="http://schemas.microsoft.com/office/drawing/2016/SVG/main" r:embed="rIdVectormf00381"/>
              </a:ext>
            </a:extLst>
          </a:blip>
          <a:stretch xmlns:a="http://schemas.openxmlformats.org/drawingml/2006/main"/>
        </p:blipFill>
        <p:spPr>
          <a:xfrm xmlns:a="http://schemas.openxmlformats.org/drawingml/2006/main">
            <a:off x="2159318" y="1181100"/>
            <a:ext cx="920115" cy="400050"/>
          </a:xfrm>
          <a:prstGeom xmlns:a="http://schemas.openxmlformats.org/drawingml/2006/main" prst="rect">
            <a:avLst/>
          </a:prstGeom>
        </p:spPr>
      </p:pic>
      <p:pic>
        <p:nvPicPr>
          <p:cNvPr id="105" name="!!image-origin-route-s" descr="s_{RF}(t)">
            <ns0:hlinkClick xmlns:ns0="http://schemas.openxmlformats.org/drawingml/2006/main" xmlns:ns1="http://schemas.openxmlformats.org/officeDocument/2006/relationships" ns1:id="rIdmethods_Link7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2b67cd740cf4783">
            <a:extLst>
              <a:ext uri="{96DAC541-7B7A-43D3-8B79-37D633B846F1}">
                <ns1:svgBlip xmlns:ns1="http://schemas.microsoft.com/office/drawing/2016/SVG/main" r:embed="rIdVectormf00382"/>
              </a:ext>
            </a:extLst>
          </a:blip>
          <a:stretch xmlns:a="http://schemas.openxmlformats.org/drawingml/2006/main"/>
        </p:blipFill>
        <p:spPr>
          <a:xfrm xmlns:a="http://schemas.openxmlformats.org/drawingml/2006/main">
            <a:off x="5479774" y="1181100"/>
            <a:ext cx="1232452" cy="400050"/>
          </a:xfrm>
          <a:prstGeom xmlns:a="http://schemas.openxmlformats.org/drawingml/2006/main" prst="rect">
            <a:avLst/>
          </a:prstGeom>
        </p:spPr>
      </p:pic>
      <p:pic>
        <p:nvPicPr>
          <p:cNvPr id="106" name="!!image-origin-route-restored" descr="m(t)">
            <ns0:hlinkClick xmlns:ns0="http://schemas.openxmlformats.org/drawingml/2006/main" xmlns:ns1="http://schemas.openxmlformats.org/officeDocument/2006/relationships" ns1:id="rIdmethods_Link7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0e4e581453e47da">
            <a:extLst>
              <a:ext uri="{96DAC541-7B7A-43D3-8B79-37D633B846F1}">
                <ns2:svgBlip xmlns:ns2="http://schemas.microsoft.com/office/drawing/2016/SVG/main" r:embed="rIdVectormf00383"/>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107" name="!!image-origin-if0" descr="f_{IF}=20\ \mathrm{kHz}"/>
          <p:cNvPicPr>
            <a:picLocks xmlns:a="http://schemas.openxmlformats.org/drawingml/2006/main" noChangeAspect="1"/>
          </p:cNvPicPr>
          <p:nvPr/>
        </p:nvPicPr>
        <p:blipFill>
          <a:blip xmlns:r="http://schemas.openxmlformats.org/officeDocument/2006/relationships" xmlns:a="http://schemas.openxmlformats.org/drawingml/2006/main" r:embed="Rb970304228954e04">
            <a:extLst>
              <a:ext uri="{96DAC541-7B7A-43D3-8B79-37D633B846F1}">
                <ns3:svgBlip xmlns:ns3="http://schemas.microsoft.com/office/drawing/2016/SVG/main" r:embed="rIdVectormf00384"/>
              </a:ext>
            </a:extLst>
          </a:blip>
          <a:stretch xmlns:a="http://schemas.openxmlformats.org/drawingml/2006/main"/>
        </p:blipFill>
        <p:spPr>
          <a:xfrm xmlns:a="http://schemas.openxmlformats.org/drawingml/2006/main">
            <a:off x="850717" y="2372678"/>
            <a:ext cx="1502777" cy="198120"/>
          </a:xfrm>
          <a:prstGeom xmlns:a="http://schemas.openxmlformats.org/drawingml/2006/main" prst="rect">
            <a:avLst/>
          </a:prstGeom>
        </p:spPr>
      </p:pic>
      <p:pic>
        <p:nvPicPr>
          <p:cNvPr id="108" name="!!image-origin-if-zero0" descr="0"/>
          <p:cNvPicPr>
            <a:picLocks xmlns:a="http://schemas.openxmlformats.org/drawingml/2006/main" noChangeAspect="1"/>
          </p:cNvPicPr>
          <p:nvPr/>
        </p:nvPicPr>
        <p:blipFill>
          <a:blip xmlns:r="http://schemas.openxmlformats.org/officeDocument/2006/relationships" xmlns:a="http://schemas.openxmlformats.org/drawingml/2006/main" r:embed="R3380209625dd4ec4">
            <a:extLst>
              <a:ext uri="{96DAC541-7B7A-43D3-8B79-37D633B846F1}">
                <ns4:svgBlip xmlns:ns4="http://schemas.microsoft.com/office/drawing/2016/SVG/main" r:embed="rIdVectormf00385"/>
              </a:ext>
            </a:extLst>
          </a:blip>
          <a:stretch xmlns:a="http://schemas.openxmlformats.org/drawingml/2006/main"/>
        </p:blipFill>
        <p:spPr>
          <a:xfrm xmlns:a="http://schemas.openxmlformats.org/drawingml/2006/main">
            <a:off x="2335275" y="4672965"/>
            <a:ext cx="91951" cy="102870"/>
          </a:xfrm>
          <a:prstGeom xmlns:a="http://schemas.openxmlformats.org/drawingml/2006/main" prst="rect">
            <a:avLst/>
          </a:prstGeom>
        </p:spPr>
      </p:pic>
      <p:pic>
        <p:nvPicPr>
          <p:cNvPr id="109" name="!!image-origin-lo-label0" descr="f_{LO}=80"/>
          <p:cNvPicPr>
            <a:picLocks xmlns:a="http://schemas.openxmlformats.org/drawingml/2006/main" noChangeAspect="1"/>
          </p:cNvPicPr>
          <p:nvPr/>
        </p:nvPicPr>
        <p:blipFill>
          <a:blip xmlns:r="http://schemas.openxmlformats.org/officeDocument/2006/relationships" xmlns:a="http://schemas.openxmlformats.org/drawingml/2006/main" r:embed="R027ddc5d24e34f40">
            <a:extLst>
              <a:ext uri="{96DAC541-7B7A-43D3-8B79-37D633B846F1}">
                <ns5:svgBlip xmlns:ns5="http://schemas.microsoft.com/office/drawing/2016/SVG/main" r:embed="rIdVectormf00386"/>
              </a:ext>
            </a:extLst>
          </a:blip>
          <a:stretch xmlns:a="http://schemas.openxmlformats.org/drawingml/2006/main"/>
        </p:blipFill>
        <p:spPr>
          <a:xfrm xmlns:a="http://schemas.openxmlformats.org/drawingml/2006/main">
            <a:off x="2954203" y="3645218"/>
            <a:ext cx="854343" cy="167640"/>
          </a:xfrm>
          <a:prstGeom xmlns:a="http://schemas.openxmlformats.org/drawingml/2006/main" prst="rect">
            <a:avLst/>
          </a:prstGeom>
        </p:spPr>
      </p:pic>
      <p:pic>
        <p:nvPicPr>
          <p:cNvPr id="110" name="!!image-origin-wanted-distance-label0" descr="20"/>
          <p:cNvPicPr>
            <a:picLocks xmlns:a="http://schemas.openxmlformats.org/drawingml/2006/main" noChangeAspect="1"/>
          </p:cNvPicPr>
          <p:nvPr/>
        </p:nvPicPr>
        <p:blipFill>
          <a:blip xmlns:r="http://schemas.openxmlformats.org/officeDocument/2006/relationships" xmlns:a="http://schemas.openxmlformats.org/drawingml/2006/main" r:embed="R3ee0c34673644d11">
            <a:extLst>
              <a:ext uri="{96DAC541-7B7A-43D3-8B79-37D633B846F1}">
                <ns6:svgBlip xmlns:ns6="http://schemas.microsoft.com/office/drawing/2016/SVG/main" r:embed="rIdVectormf00387"/>
              </a:ext>
            </a:extLst>
          </a:blip>
          <a:stretch xmlns:a="http://schemas.openxmlformats.org/drawingml/2006/main"/>
        </p:blipFill>
        <p:spPr>
          <a:xfrm xmlns:a="http://schemas.openxmlformats.org/drawingml/2006/main">
            <a:off x="3707832" y="2571750"/>
            <a:ext cx="204335" cy="114300"/>
          </a:xfrm>
          <a:prstGeom xmlns:a="http://schemas.openxmlformats.org/drawingml/2006/main" prst="rect">
            <a:avLst/>
          </a:prstGeom>
        </p:spPr>
      </p:pic>
      <p:pic>
        <p:nvPicPr>
          <p:cNvPr id="111" name="!!image-origin-lo-calculation0" descr="\textstyle f_{LO}=100-20=80"/>
          <p:cNvPicPr>
            <a:picLocks xmlns:a="http://schemas.openxmlformats.org/drawingml/2006/main" noChangeAspect="1"/>
          </p:cNvPicPr>
          <p:nvPr/>
        </p:nvPicPr>
        <p:blipFill>
          <a:blip xmlns:r="http://schemas.openxmlformats.org/officeDocument/2006/relationships" xmlns:a="http://schemas.openxmlformats.org/drawingml/2006/main" r:embed="Rc000774943574998">
            <a:extLst>
              <a:ext uri="{96DAC541-7B7A-43D3-8B79-37D633B846F1}">
                <ns7:svgBlip xmlns:ns7="http://schemas.microsoft.com/office/drawing/2016/SVG/main" r:embed="rIdVectormf00388"/>
              </a:ext>
            </a:extLst>
          </a:blip>
          <a:stretch xmlns:a="http://schemas.openxmlformats.org/drawingml/2006/main"/>
        </p:blipFill>
        <p:spPr>
          <a:xfrm xmlns:a="http://schemas.openxmlformats.org/drawingml/2006/main">
            <a:off x="731598" y="5125403"/>
            <a:ext cx="2371570" cy="198120"/>
          </a:xfrm>
          <a:prstGeom xmlns:a="http://schemas.openxmlformats.org/drawingml/2006/main" prst="rect">
            <a:avLst/>
          </a:prstGeom>
        </p:spPr>
      </p:pic>
      <p:pic>
        <p:nvPicPr>
          <p:cNvPr id="112" name="!!image-origin-image-distance-label0" descr="20"/>
          <p:cNvPicPr>
            <a:picLocks xmlns:a="http://schemas.openxmlformats.org/drawingml/2006/main" noChangeAspect="1"/>
          </p:cNvPicPr>
          <p:nvPr/>
        </p:nvPicPr>
        <p:blipFill>
          <a:blip xmlns:r="http://schemas.openxmlformats.org/officeDocument/2006/relationships" xmlns:a="http://schemas.openxmlformats.org/drawingml/2006/main" r:embed="R46fef93a6bf84da8">
            <a:extLst>
              <a:ext uri="{96DAC541-7B7A-43D3-8B79-37D633B846F1}">
                <ns8:svgBlip xmlns:ns8="http://schemas.microsoft.com/office/drawing/2016/SVG/main" r:embed="rIdVectormf00389"/>
              </a:ext>
            </a:extLst>
          </a:blip>
          <a:stretch xmlns:a="http://schemas.openxmlformats.org/drawingml/2006/main"/>
        </p:blipFill>
        <p:spPr>
          <a:xfrm xmlns:a="http://schemas.openxmlformats.org/drawingml/2006/main">
            <a:off x="2850582" y="2571750"/>
            <a:ext cx="204335" cy="114300"/>
          </a:xfrm>
          <a:prstGeom xmlns:a="http://schemas.openxmlformats.org/drawingml/2006/main" prst="rect">
            <a:avLst/>
          </a:prstGeom>
        </p:spPr>
      </p:pic>
      <p:pic>
        <p:nvPicPr>
          <p:cNvPr id="113" name="!!image-origin-image-calculation0" descr="\textstyle f_{im}=80-20=60"/>
          <p:cNvPicPr>
            <a:picLocks xmlns:a="http://schemas.openxmlformats.org/drawingml/2006/main" noChangeAspect="1"/>
          </p:cNvPicPr>
          <p:nvPr/>
        </p:nvPicPr>
        <p:blipFill>
          <a:blip xmlns:r="http://schemas.openxmlformats.org/officeDocument/2006/relationships" xmlns:a="http://schemas.openxmlformats.org/drawingml/2006/main" r:embed="R3d499a7df3a34d2c">
            <a:extLst>
              <a:ext uri="{96DAC541-7B7A-43D3-8B79-37D633B846F1}">
                <ns9:svgBlip xmlns:ns9="http://schemas.microsoft.com/office/drawing/2016/SVG/main" r:embed="rIdVectormf00390"/>
              </a:ext>
            </a:extLst>
          </a:blip>
          <a:stretch xmlns:a="http://schemas.openxmlformats.org/drawingml/2006/main"/>
        </p:blipFill>
        <p:spPr>
          <a:xfrm xmlns:a="http://schemas.openxmlformats.org/drawingml/2006/main">
            <a:off x="726461" y="5544503"/>
            <a:ext cx="2183723" cy="198120"/>
          </a:xfrm>
          <a:prstGeom xmlns:a="http://schemas.openxmlformats.org/drawingml/2006/main" prst="rect">
            <a:avLst/>
          </a:prstGeom>
        </p:spPr>
      </p:pic>
      <p:pic>
        <p:nvPicPr>
          <p:cNvPr id="114" name="!!image-origin-if-tick0" descr="20"/>
          <p:cNvPicPr>
            <a:picLocks xmlns:a="http://schemas.openxmlformats.org/drawingml/2006/main" noChangeAspect="1"/>
          </p:cNvPicPr>
          <p:nvPr/>
        </p:nvPicPr>
        <p:blipFill>
          <a:blip xmlns:r="http://schemas.openxmlformats.org/officeDocument/2006/relationships" xmlns:a="http://schemas.openxmlformats.org/drawingml/2006/main" r:embed="Re98abe37c9d44f6b">
            <a:extLst>
              <a:ext uri="{96DAC541-7B7A-43D3-8B79-37D633B846F1}">
                <ns10:svgBlip xmlns:ns10="http://schemas.microsoft.com/office/drawing/2016/SVG/main" r:embed="rIdVectormf00391"/>
              </a:ext>
            </a:extLst>
          </a:blip>
          <a:stretch xmlns:a="http://schemas.openxmlformats.org/drawingml/2006/main"/>
        </p:blipFill>
        <p:spPr>
          <a:xfrm xmlns:a="http://schemas.openxmlformats.org/drawingml/2006/main">
            <a:off x="3041082" y="4676775"/>
            <a:ext cx="204335" cy="114300"/>
          </a:xfrm>
          <a:prstGeom xmlns:a="http://schemas.openxmlformats.org/drawingml/2006/main" prst="rect">
            <a:avLst/>
          </a:prstGeom>
        </p:spPr>
      </p:pic>
      <p:pic>
        <p:nvPicPr>
          <p:cNvPr id="115" name="!!image-origin-same-if0" descr="\textstyle 100-80=80-60=20"/>
          <p:cNvPicPr>
            <a:picLocks xmlns:a="http://schemas.openxmlformats.org/drawingml/2006/main" noChangeAspect="1"/>
          </p:cNvPicPr>
          <p:nvPr/>
        </p:nvPicPr>
        <p:blipFill>
          <a:blip xmlns:r="http://schemas.openxmlformats.org/officeDocument/2006/relationships" xmlns:a="http://schemas.openxmlformats.org/drawingml/2006/main" r:embed="Raa7d5269293e4ded">
            <a:extLst>
              <a:ext uri="{96DAC541-7B7A-43D3-8B79-37D633B846F1}">
                <ns11:svgBlip xmlns:ns11="http://schemas.microsoft.com/office/drawing/2016/SVG/main" r:embed="rIdVectormf00392"/>
              </a:ext>
            </a:extLst>
          </a:blip>
          <a:stretch xmlns:a="http://schemas.openxmlformats.org/drawingml/2006/main"/>
        </p:blipFill>
        <p:spPr>
          <a:xfrm xmlns:a="http://schemas.openxmlformats.org/drawingml/2006/main">
            <a:off x="666750" y="5966698"/>
            <a:ext cx="3021330" cy="191929"/>
          </a:xfrm>
          <a:prstGeom xmlns:a="http://schemas.openxmlformats.org/drawingml/2006/main" prst="rect">
            <a:avLst/>
          </a:prstGeom>
        </p:spPr>
      </p:pic>
      <p:pic>
        <p:nvPicPr>
          <p:cNvPr id="116" name="!!image-origin-if1" descr="f_{IF}=30\ \mathrm{kHz}"/>
          <p:cNvPicPr>
            <a:picLocks xmlns:a="http://schemas.openxmlformats.org/drawingml/2006/main" noChangeAspect="1"/>
          </p:cNvPicPr>
          <p:nvPr/>
        </p:nvPicPr>
        <p:blipFill>
          <a:blip xmlns:r="http://schemas.openxmlformats.org/officeDocument/2006/relationships" xmlns:a="http://schemas.openxmlformats.org/drawingml/2006/main" r:embed="R76f8425b1639471d">
            <a:extLst>
              <a:ext uri="{96DAC541-7B7A-43D3-8B79-37D633B846F1}">
                <ns12:svgBlip xmlns:ns12="http://schemas.microsoft.com/office/drawing/2016/SVG/main" r:embed="rIdVectormf00393"/>
              </a:ext>
            </a:extLst>
          </a:blip>
          <a:stretch xmlns:a="http://schemas.openxmlformats.org/drawingml/2006/main"/>
        </p:blipFill>
        <p:spPr>
          <a:xfrm xmlns:a="http://schemas.openxmlformats.org/drawingml/2006/main">
            <a:off x="7041967" y="2372678"/>
            <a:ext cx="1502777" cy="198120"/>
          </a:xfrm>
          <a:prstGeom xmlns:a="http://schemas.openxmlformats.org/drawingml/2006/main" prst="rect">
            <a:avLst/>
          </a:prstGeom>
        </p:spPr>
      </p:pic>
      <p:pic>
        <p:nvPicPr>
          <p:cNvPr id="117" name="!!image-origin-if-zero1" descr="0"/>
          <p:cNvPicPr>
            <a:picLocks xmlns:a="http://schemas.openxmlformats.org/drawingml/2006/main" noChangeAspect="1"/>
          </p:cNvPicPr>
          <p:nvPr/>
        </p:nvPicPr>
        <p:blipFill>
          <a:blip xmlns:r="http://schemas.openxmlformats.org/officeDocument/2006/relationships" xmlns:a="http://schemas.openxmlformats.org/drawingml/2006/main" r:embed="R9ca27e345c03404d">
            <a:extLst>
              <a:ext uri="{96DAC541-7B7A-43D3-8B79-37D633B846F1}">
                <ns13:svgBlip xmlns:ns13="http://schemas.microsoft.com/office/drawing/2016/SVG/main" r:embed="rIdVectormf00394"/>
              </a:ext>
            </a:extLst>
          </a:blip>
          <a:stretch xmlns:a="http://schemas.openxmlformats.org/drawingml/2006/main"/>
        </p:blipFill>
        <p:spPr>
          <a:xfrm xmlns:a="http://schemas.openxmlformats.org/drawingml/2006/main">
            <a:off x="8526525" y="4672965"/>
            <a:ext cx="91951" cy="102870"/>
          </a:xfrm>
          <a:prstGeom xmlns:a="http://schemas.openxmlformats.org/drawingml/2006/main" prst="rect">
            <a:avLst/>
          </a:prstGeom>
        </p:spPr>
      </p:pic>
      <p:pic>
        <p:nvPicPr>
          <p:cNvPr id="118" name="!!image-origin-lo-label1" descr="f_{LO}=70"/>
          <p:cNvPicPr>
            <a:picLocks xmlns:a="http://schemas.openxmlformats.org/drawingml/2006/main" noChangeAspect="1"/>
          </p:cNvPicPr>
          <p:nvPr/>
        </p:nvPicPr>
        <p:blipFill>
          <a:blip xmlns:r="http://schemas.openxmlformats.org/officeDocument/2006/relationships" xmlns:a="http://schemas.openxmlformats.org/drawingml/2006/main" r:embed="Re613399378464cf8">
            <a:extLst>
              <a:ext uri="{96DAC541-7B7A-43D3-8B79-37D633B846F1}">
                <ns14:svgBlip xmlns:ns14="http://schemas.microsoft.com/office/drawing/2016/SVG/main" r:embed="rIdVectormf00395"/>
              </a:ext>
            </a:extLst>
          </a:blip>
          <a:stretch xmlns:a="http://schemas.openxmlformats.org/drawingml/2006/main"/>
        </p:blipFill>
        <p:spPr>
          <a:xfrm xmlns:a="http://schemas.openxmlformats.org/drawingml/2006/main">
            <a:off x="8716828" y="3645218"/>
            <a:ext cx="854343" cy="167640"/>
          </a:xfrm>
          <a:prstGeom xmlns:a="http://schemas.openxmlformats.org/drawingml/2006/main" prst="rect">
            <a:avLst/>
          </a:prstGeom>
        </p:spPr>
      </p:pic>
      <p:pic>
        <p:nvPicPr>
          <p:cNvPr id="119" name="!!image-origin-wanted-distance-label1" descr="30"/>
          <p:cNvPicPr>
            <a:picLocks xmlns:a="http://schemas.openxmlformats.org/drawingml/2006/main" noChangeAspect="1"/>
          </p:cNvPicPr>
          <p:nvPr/>
        </p:nvPicPr>
        <p:blipFill>
          <a:blip xmlns:r="http://schemas.openxmlformats.org/officeDocument/2006/relationships" xmlns:a="http://schemas.openxmlformats.org/drawingml/2006/main" r:embed="Rcd8d6fa6bcf047b9">
            <a:extLst>
              <a:ext uri="{96DAC541-7B7A-43D3-8B79-37D633B846F1}">
                <ns15:svgBlip xmlns:ns15="http://schemas.microsoft.com/office/drawing/2016/SVG/main" r:embed="rIdVectormf00396"/>
              </a:ext>
            </a:extLst>
          </a:blip>
          <a:stretch xmlns:a="http://schemas.openxmlformats.org/drawingml/2006/main"/>
        </p:blipFill>
        <p:spPr>
          <a:xfrm xmlns:a="http://schemas.openxmlformats.org/drawingml/2006/main">
            <a:off x="9684770" y="2571750"/>
            <a:ext cx="204335" cy="114300"/>
          </a:xfrm>
          <a:prstGeom xmlns:a="http://schemas.openxmlformats.org/drawingml/2006/main" prst="rect">
            <a:avLst/>
          </a:prstGeom>
        </p:spPr>
      </p:pic>
      <p:pic>
        <p:nvPicPr>
          <p:cNvPr id="120" name="!!image-origin-lo-calculation1" descr="\textstyle f_{LO}=100-30=70"/>
          <p:cNvPicPr>
            <a:picLocks xmlns:a="http://schemas.openxmlformats.org/drawingml/2006/main" noChangeAspect="1"/>
          </p:cNvPicPr>
          <p:nvPr/>
        </p:nvPicPr>
        <p:blipFill>
          <a:blip xmlns:r="http://schemas.openxmlformats.org/officeDocument/2006/relationships" xmlns:a="http://schemas.openxmlformats.org/drawingml/2006/main" r:embed="Rf585f6a90c514c30">
            <a:extLst>
              <a:ext uri="{96DAC541-7B7A-43D3-8B79-37D633B846F1}">
                <ns16:svgBlip xmlns:ns16="http://schemas.microsoft.com/office/drawing/2016/SVG/main" r:embed="rIdVectormf00397"/>
              </a:ext>
            </a:extLst>
          </a:blip>
          <a:stretch xmlns:a="http://schemas.openxmlformats.org/drawingml/2006/main"/>
        </p:blipFill>
        <p:spPr>
          <a:xfrm xmlns:a="http://schemas.openxmlformats.org/drawingml/2006/main">
            <a:off x="6922848" y="5125403"/>
            <a:ext cx="2371570" cy="198120"/>
          </a:xfrm>
          <a:prstGeom xmlns:a="http://schemas.openxmlformats.org/drawingml/2006/main" prst="rect">
            <a:avLst/>
          </a:prstGeom>
        </p:spPr>
      </p:pic>
      <p:pic>
        <p:nvPicPr>
          <p:cNvPr id="121" name="!!image-origin-image-distance-label1" descr="30"/>
          <p:cNvPicPr>
            <a:picLocks xmlns:a="http://schemas.openxmlformats.org/drawingml/2006/main" noChangeAspect="1"/>
          </p:cNvPicPr>
          <p:nvPr/>
        </p:nvPicPr>
        <p:blipFill>
          <a:blip xmlns:r="http://schemas.openxmlformats.org/officeDocument/2006/relationships" xmlns:a="http://schemas.openxmlformats.org/drawingml/2006/main" r:embed="Rb19c758fd34c4ff9">
            <a:extLst>
              <a:ext uri="{96DAC541-7B7A-43D3-8B79-37D633B846F1}">
                <ns17:svgBlip xmlns:ns17="http://schemas.microsoft.com/office/drawing/2016/SVG/main" r:embed="rIdVectormf00398"/>
              </a:ext>
            </a:extLst>
          </a:blip>
          <a:stretch xmlns:a="http://schemas.openxmlformats.org/drawingml/2006/main"/>
        </p:blipFill>
        <p:spPr>
          <a:xfrm xmlns:a="http://schemas.openxmlformats.org/drawingml/2006/main">
            <a:off x="8398895" y="2571750"/>
            <a:ext cx="204335" cy="114300"/>
          </a:xfrm>
          <a:prstGeom xmlns:a="http://schemas.openxmlformats.org/drawingml/2006/main" prst="rect">
            <a:avLst/>
          </a:prstGeom>
        </p:spPr>
      </p:pic>
      <p:pic>
        <p:nvPicPr>
          <p:cNvPr id="122" name="!!image-origin-image-calculation1" descr="\textstyle f_{im}=70-30=40"/>
          <p:cNvPicPr>
            <a:picLocks xmlns:a="http://schemas.openxmlformats.org/drawingml/2006/main" noChangeAspect="1"/>
          </p:cNvPicPr>
          <p:nvPr/>
        </p:nvPicPr>
        <p:blipFill>
          <a:blip xmlns:r="http://schemas.openxmlformats.org/officeDocument/2006/relationships" xmlns:a="http://schemas.openxmlformats.org/drawingml/2006/main" r:embed="Rfa6106efec6c4b6a">
            <a:extLst>
              <a:ext uri="{96DAC541-7B7A-43D3-8B79-37D633B846F1}">
                <ns18:svgBlip xmlns:ns18="http://schemas.microsoft.com/office/drawing/2016/SVG/main" r:embed="rIdVectormf00399"/>
              </a:ext>
            </a:extLst>
          </a:blip>
          <a:stretch xmlns:a="http://schemas.openxmlformats.org/drawingml/2006/main"/>
        </p:blipFill>
        <p:spPr>
          <a:xfrm xmlns:a="http://schemas.openxmlformats.org/drawingml/2006/main">
            <a:off x="6917711" y="5544503"/>
            <a:ext cx="2183723" cy="198120"/>
          </a:xfrm>
          <a:prstGeom xmlns:a="http://schemas.openxmlformats.org/drawingml/2006/main" prst="rect">
            <a:avLst/>
          </a:prstGeom>
        </p:spPr>
      </p:pic>
      <p:pic>
        <p:nvPicPr>
          <p:cNvPr id="123" name="!!image-origin-if-tick1" descr="30"/>
          <p:cNvPicPr>
            <a:picLocks xmlns:a="http://schemas.openxmlformats.org/drawingml/2006/main" noChangeAspect="1"/>
          </p:cNvPicPr>
          <p:nvPr/>
        </p:nvPicPr>
        <p:blipFill>
          <a:blip xmlns:r="http://schemas.openxmlformats.org/officeDocument/2006/relationships" xmlns:a="http://schemas.openxmlformats.org/drawingml/2006/main" r:embed="R2b095961ad1241e9">
            <a:extLst>
              <a:ext uri="{96DAC541-7B7A-43D3-8B79-37D633B846F1}">
                <ns19:svgBlip xmlns:ns19="http://schemas.microsoft.com/office/drawing/2016/SVG/main" r:embed="rIdVectormf00400"/>
              </a:ext>
            </a:extLst>
          </a:blip>
          <a:stretch xmlns:a="http://schemas.openxmlformats.org/drawingml/2006/main"/>
        </p:blipFill>
        <p:spPr>
          <a:xfrm xmlns:a="http://schemas.openxmlformats.org/drawingml/2006/main">
            <a:off x="9613332" y="4676775"/>
            <a:ext cx="204335" cy="114300"/>
          </a:xfrm>
          <a:prstGeom xmlns:a="http://schemas.openxmlformats.org/drawingml/2006/main" prst="rect">
            <a:avLst/>
          </a:prstGeom>
        </p:spPr>
      </p:pic>
      <p:pic>
        <p:nvPicPr>
          <p:cNvPr id="124" name="!!image-origin-same-if1" descr="\textstyle 100-70=70-40=30"/>
          <p:cNvPicPr>
            <a:picLocks xmlns:a="http://schemas.openxmlformats.org/drawingml/2006/main" noChangeAspect="1"/>
          </p:cNvPicPr>
          <p:nvPr/>
        </p:nvPicPr>
        <p:blipFill>
          <a:blip xmlns:r="http://schemas.openxmlformats.org/officeDocument/2006/relationships" xmlns:a="http://schemas.openxmlformats.org/drawingml/2006/main" r:embed="R40252fec519e4eaf">
            <a:extLst>
              <a:ext uri="{96DAC541-7B7A-43D3-8B79-37D633B846F1}">
                <ns20:svgBlip xmlns:ns20="http://schemas.microsoft.com/office/drawing/2016/SVG/main" r:embed="rIdVectormf00401"/>
              </a:ext>
            </a:extLst>
          </a:blip>
          <a:stretch xmlns:a="http://schemas.openxmlformats.org/drawingml/2006/main"/>
        </p:blipFill>
        <p:spPr>
          <a:xfrm xmlns:a="http://schemas.openxmlformats.org/drawingml/2006/main">
            <a:off x="6858000" y="5966698"/>
            <a:ext cx="3021330" cy="191929"/>
          </a:xfrm>
          <a:prstGeom xmlns:a="http://schemas.openxmlformats.org/drawingml/2006/main" prst="rect">
            <a:avLst/>
          </a:prstGeom>
        </p:spPr>
      </p:pic>
    </p:spTree>
    <p:extLst>
      <p:ext uri="{BB962C8B-B14F-4D97-AF65-F5344CB8AC3E}">
        <p14:creationId xmlns:p14="http://schemas.microsoft.com/office/powerpoint/2010/main" val="190059404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Effect transition="in" filter="fade">
                                      <p:cBhvr>
                                        <p:cTn id="10" dur="400"/>
                                        <p:tgtEl>
                                          <p:spTgt spid="109"/>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110"/>
                                        </p:tgtEl>
                                        <p:attrNameLst>
                                          <p:attrName>style.visibility</p:attrName>
                                        </p:attrNameLst>
                                      </p:cBhvr>
                                      <p:to>
                                        <p:strVal val="visible"/>
                                      </p:to>
                                    </p:set>
                                    <p:animEffect transition="in" filter="fade">
                                      <p:cBhvr>
                                        <p:cTn id="16" dur="400"/>
                                        <p:tgtEl>
                                          <p:spTgt spid="110"/>
                                        </p:tgtEl>
                                      </p:cBhvr>
                                    </p:animEffect>
                                  </p:childTnLst>
                                </p:cTn>
                              </p:par>
                              <p:par>
                                <p:cTn id="17" presetID="10" presetClass="entr" presetSubtype="0" fill="hold" nodeType="withEffect">
                                  <p:stCondLst>
                                    <p:cond delay="0"/>
                                  </p:stCondLst>
                                  <p:childTnLst>
                                    <p:set>
                                      <p:cBhvr>
                                        <p:cTn id="18" dur="1" fill="hold">
                                          <p:stCondLst>
                                            <p:cond delay="0"/>
                                          </p:stCondLst>
                                        </p:cTn>
                                        <p:tgtEl>
                                          <p:spTgt spid="111"/>
                                        </p:tgtEl>
                                        <p:attrNameLst>
                                          <p:attrName>style.visibility</p:attrName>
                                        </p:attrNameLst>
                                      </p:cBhvr>
                                      <p:to>
                                        <p:strVal val="visible"/>
                                      </p:to>
                                    </p:set>
                                    <p:animEffect transition="in" filter="fade">
                                      <p:cBhvr>
                                        <p:cTn id="19" dur="400"/>
                                        <p:tgtEl>
                                          <p:spTgt spid="111"/>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par>
                                <p:cTn id="23" presetID="10" presetClass="entr" presetSubtype="0" fill="hold" nodeType="withEffect">
                                  <p:stCondLst>
                                    <p:cond delay="0"/>
                                  </p:stCondLst>
                                  <p:childTnLst>
                                    <p:set>
                                      <p:cBhvr>
                                        <p:cTn id="24" dur="1" fill="hold">
                                          <p:stCondLst>
                                            <p:cond delay="0"/>
                                          </p:stCondLst>
                                        </p:cTn>
                                        <p:tgtEl>
                                          <p:spTgt spid="118"/>
                                        </p:tgtEl>
                                        <p:attrNameLst>
                                          <p:attrName>style.visibility</p:attrName>
                                        </p:attrNameLst>
                                      </p:cBhvr>
                                      <p:to>
                                        <p:strVal val="visible"/>
                                      </p:to>
                                    </p:set>
                                    <p:animEffect transition="in" filter="fade">
                                      <p:cBhvr>
                                        <p:cTn id="25" dur="400"/>
                                        <p:tgtEl>
                                          <p:spTgt spid="118"/>
                                        </p:tgtEl>
                                      </p:cBhvr>
                                    </p:animEffect>
                                  </p:childTnLst>
                                </p:cTn>
                              </p:par>
                              <p:par>
                                <p:cTn id="26" presetID="10" presetClass="entr" presetSubtype="0"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4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119"/>
                                        </p:tgtEl>
                                        <p:attrNameLst>
                                          <p:attrName>style.visibility</p:attrName>
                                        </p:attrNameLst>
                                      </p:cBhvr>
                                      <p:to>
                                        <p:strVal val="visible"/>
                                      </p:to>
                                    </p:set>
                                    <p:animEffect transition="in" filter="fade">
                                      <p:cBhvr>
                                        <p:cTn id="31" dur="400"/>
                                        <p:tgtEl>
                                          <p:spTgt spid="119"/>
                                        </p:tgtEl>
                                      </p:cBhvr>
                                    </p:animEffect>
                                  </p:childTnLst>
                                </p:cTn>
                              </p:par>
                              <p:par>
                                <p:cTn id="32" presetID="10" presetClass="entr" presetSubtype="0" fill="hold" nodeType="withEffect">
                                  <p:stCondLst>
                                    <p:cond delay="0"/>
                                  </p:stCondLst>
                                  <p:childTnLst>
                                    <p:set>
                                      <p:cBhvr>
                                        <p:cTn id="33" dur="1" fill="hold">
                                          <p:stCondLst>
                                            <p:cond delay="0"/>
                                          </p:stCondLst>
                                        </p:cTn>
                                        <p:tgtEl>
                                          <p:spTgt spid="120"/>
                                        </p:tgtEl>
                                        <p:attrNameLst>
                                          <p:attrName>style.visibility</p:attrName>
                                        </p:attrNameLst>
                                      </p:cBhvr>
                                      <p:to>
                                        <p:strVal val="visible"/>
                                      </p:to>
                                    </p:set>
                                    <p:animEffect transition="in" filter="fade">
                                      <p:cBhvr>
                                        <p:cTn id="34" dur="400"/>
                                        <p:tgtEl>
                                          <p:spTgt spid="1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200"/>
                                        <p:tgtEl>
                                          <p:spTgt spid="19"/>
                                        </p:tgtEl>
                                      </p:cBhvr>
                                    </p:animEffect>
                                    <p:animMotion origin="layout" pathEditMode="relative" path="M 0.14062500 0.00000000 L 0.00000000 0.00000000 E">
                                      <p:cBhvr>
                                        <p:cTn id="40" dur="700" fill="hold"/>
                                        <p:tgtEl>
                                          <p:spTgt spid="19"/>
                                        </p:tgtEl>
                                        <p:attrNameLst>
                                          <p:attrName>ppt_x</p:attrName>
                                          <p:attrName>ppt_y</p:attrName>
                                        </p:attrNameLst>
                                      </p:cBhvr>
                                    </p:animMotion>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112"/>
                                        </p:tgtEl>
                                        <p:attrNameLst>
                                          <p:attrName>style.visibility</p:attrName>
                                        </p:attrNameLst>
                                      </p:cBhvr>
                                      <p:to>
                                        <p:strVal val="visible"/>
                                      </p:to>
                                    </p:set>
                                    <p:animEffect transition="in" filter="fade">
                                      <p:cBhvr>
                                        <p:cTn id="49" dur="400"/>
                                        <p:tgtEl>
                                          <p:spTgt spid="112"/>
                                        </p:tgtEl>
                                      </p:cBhvr>
                                    </p:animEffect>
                                  </p:childTnLst>
                                </p:cTn>
                              </p:par>
                              <p:par>
                                <p:cTn id="50" presetID="10" presetClass="entr" presetSubtype="0" fill="hold" nodeType="withEffect">
                                  <p:stCondLst>
                                    <p:cond delay="0"/>
                                  </p:stCondLst>
                                  <p:childTnLst>
                                    <p:set>
                                      <p:cBhvr>
                                        <p:cTn id="51" dur="1" fill="hold">
                                          <p:stCondLst>
                                            <p:cond delay="0"/>
                                          </p:stCondLst>
                                        </p:cTn>
                                        <p:tgtEl>
                                          <p:spTgt spid="113"/>
                                        </p:tgtEl>
                                        <p:attrNameLst>
                                          <p:attrName>style.visibility</p:attrName>
                                        </p:attrNameLst>
                                      </p:cBhvr>
                                      <p:to>
                                        <p:strVal val="visible"/>
                                      </p:to>
                                    </p:set>
                                    <p:animEffect transition="in" filter="fade">
                                      <p:cBhvr>
                                        <p:cTn id="52" dur="400"/>
                                        <p:tgtEl>
                                          <p:spTgt spid="113"/>
                                        </p:tgtEl>
                                      </p:cBhvr>
                                    </p:animEffect>
                                  </p:childTnLst>
                                </p:cTn>
                              </p:par>
                              <p:par>
                                <p:cTn id="53" presetID="10" presetClass="entr" presetSubtype="0"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200"/>
                                        <p:tgtEl>
                                          <p:spTgt spid="35"/>
                                        </p:tgtEl>
                                      </p:cBhvr>
                                    </p:animEffect>
                                    <p:animMotion origin="layout" pathEditMode="relative" path="M 0.21093750 0.00000000 L 0.00000000 0.00000000 E">
                                      <p:cBhvr>
                                        <p:cTn id="56" dur="700" fill="hold"/>
                                        <p:tgtEl>
                                          <p:spTgt spid="35"/>
                                        </p:tgtEl>
                                        <p:attrNameLst>
                                          <p:attrName>ppt_x</p:attrName>
                                          <p:attrName>ppt_y</p:attrName>
                                        </p:attrNameLst>
                                      </p:cBhvr>
                                    </p:animMotion>
                                  </p:childTnLst>
                                </p:cTn>
                              </p:par>
                              <p:par>
                                <p:cTn id="57" presetID="10" presetClass="entr" presetSubtype="0" fill="hold"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400"/>
                                        <p:tgtEl>
                                          <p:spTgt spid="36"/>
                                        </p:tgtEl>
                                      </p:cBhvr>
                                    </p:animEffect>
                                  </p:childTnLst>
                                </p:cTn>
                              </p:par>
                              <p:par>
                                <p:cTn id="60" presetID="10" presetClass="entr" presetSubtype="0" fill="hold"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400"/>
                                        <p:tgtEl>
                                          <p:spTgt spid="37"/>
                                        </p:tgtEl>
                                      </p:cBhvr>
                                    </p:animEffect>
                                  </p:childTnLst>
                                </p:cTn>
                              </p:par>
                              <p:par>
                                <p:cTn id="63" presetID="10" presetClass="entr" presetSubtype="0" fill="hold" nodeType="withEffect">
                                  <p:stCondLst>
                                    <p:cond delay="0"/>
                                  </p:stCondLst>
                                  <p:childTnLst>
                                    <p:set>
                                      <p:cBhvr>
                                        <p:cTn id="64" dur="1" fill="hold">
                                          <p:stCondLst>
                                            <p:cond delay="0"/>
                                          </p:stCondLst>
                                        </p:cTn>
                                        <p:tgtEl>
                                          <p:spTgt spid="121"/>
                                        </p:tgtEl>
                                        <p:attrNameLst>
                                          <p:attrName>style.visibility</p:attrName>
                                        </p:attrNameLst>
                                      </p:cBhvr>
                                      <p:to>
                                        <p:strVal val="visible"/>
                                      </p:to>
                                    </p:set>
                                    <p:animEffect transition="in" filter="fade">
                                      <p:cBhvr>
                                        <p:cTn id="65" dur="400"/>
                                        <p:tgtEl>
                                          <p:spTgt spid="121"/>
                                        </p:tgtEl>
                                      </p:cBhvr>
                                    </p:animEffect>
                                  </p:childTnLst>
                                </p:cTn>
                              </p:par>
                              <p:par>
                                <p:cTn id="66" presetID="10" presetClass="entr" presetSubtype="0" fill="hold" nodeType="withEffect">
                                  <p:stCondLst>
                                    <p:cond delay="0"/>
                                  </p:stCondLst>
                                  <p:childTnLst>
                                    <p:set>
                                      <p:cBhvr>
                                        <p:cTn id="67" dur="1" fill="hold">
                                          <p:stCondLst>
                                            <p:cond delay="0"/>
                                          </p:stCondLst>
                                        </p:cTn>
                                        <p:tgtEl>
                                          <p:spTgt spid="122"/>
                                        </p:tgtEl>
                                        <p:attrNameLst>
                                          <p:attrName>style.visibility</p:attrName>
                                        </p:attrNameLst>
                                      </p:cBhvr>
                                      <p:to>
                                        <p:strVal val="visible"/>
                                      </p:to>
                                    </p:set>
                                    <p:animEffect transition="in" filter="fade">
                                      <p:cBhvr>
                                        <p:cTn id="68" dur="400"/>
                                        <p:tgtEl>
                                          <p:spTgt spid="1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200"/>
                                        <p:tgtEl>
                                          <p:spTgt spid="22"/>
                                        </p:tgtEl>
                                      </p:cBhvr>
                                    </p:animEffect>
                                    <p:animMotion origin="layout" pathEditMode="relative" path="M 0.08984375 -0.18472222 L 0.00000000 0.00000000 E">
                                      <p:cBhvr>
                                        <p:cTn id="74" dur="700" fill="hold"/>
                                        <p:tgtEl>
                                          <p:spTgt spid="22"/>
                                        </p:tgtEl>
                                        <p:attrNameLst>
                                          <p:attrName>ppt_x</p:attrName>
                                          <p:attrName>ppt_y</p:attrName>
                                        </p:attrNameLst>
                                      </p:cBhvr>
                                    </p:animMotion>
                                  </p:childTnLst>
                                </p:cTn>
                              </p:par>
                              <p:par>
                                <p:cTn id="75" presetID="10" presetClass="entr" presetSubtype="0" fill="hold"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200"/>
                                        <p:tgtEl>
                                          <p:spTgt spid="23"/>
                                        </p:tgtEl>
                                      </p:cBhvr>
                                    </p:animEffect>
                                    <p:animMotion origin="layout" pathEditMode="relative" path="M -0.05078125 -0.18472222 L 0.00000000 0.00000000 E">
                                      <p:cBhvr>
                                        <p:cTn id="78" dur="700" fill="hold"/>
                                        <p:tgtEl>
                                          <p:spTgt spid="23"/>
                                        </p:tgtEl>
                                        <p:attrNameLst>
                                          <p:attrName>ppt_x</p:attrName>
                                          <p:attrName>ppt_y</p:attrName>
                                        </p:attrNameLst>
                                      </p:cBhvr>
                                    </p:animMotion>
                                  </p:childTnLst>
                                </p:cTn>
                              </p:par>
                              <p:par>
                                <p:cTn id="79" presetID="10" presetClass="entr" presetSubtype="0" fill="hold"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400"/>
                                        <p:tgtEl>
                                          <p:spTgt spid="24"/>
                                        </p:tgtEl>
                                      </p:cBhvr>
                                    </p:animEffect>
                                  </p:childTnLst>
                                </p:cTn>
                              </p:par>
                              <p:par>
                                <p:cTn id="82" presetID="10" presetClass="entr" presetSubtype="0" fill="hold" nodeType="withEffect">
                                  <p:stCondLst>
                                    <p:cond delay="0"/>
                                  </p:stCondLst>
                                  <p:childTnLst>
                                    <p:set>
                                      <p:cBhvr>
                                        <p:cTn id="83" dur="1" fill="hold">
                                          <p:stCondLst>
                                            <p:cond delay="0"/>
                                          </p:stCondLst>
                                        </p:cTn>
                                        <p:tgtEl>
                                          <p:spTgt spid="114"/>
                                        </p:tgtEl>
                                        <p:attrNameLst>
                                          <p:attrName>style.visibility</p:attrName>
                                        </p:attrNameLst>
                                      </p:cBhvr>
                                      <p:to>
                                        <p:strVal val="visible"/>
                                      </p:to>
                                    </p:set>
                                    <p:animEffect transition="in" filter="fade">
                                      <p:cBhvr>
                                        <p:cTn id="84" dur="400"/>
                                        <p:tgtEl>
                                          <p:spTgt spid="114"/>
                                        </p:tgtEl>
                                      </p:cBhvr>
                                    </p:animEffect>
                                  </p:childTnLst>
                                </p:cTn>
                              </p:par>
                              <p:par>
                                <p:cTn id="85" presetID="10" presetClass="entr" presetSubtype="0" fill="hold" nodeType="withEffect">
                                  <p:stCondLst>
                                    <p:cond delay="0"/>
                                  </p:stCondLst>
                                  <p:childTnLst>
                                    <p:set>
                                      <p:cBhvr>
                                        <p:cTn id="86" dur="1" fill="hold">
                                          <p:stCondLst>
                                            <p:cond delay="0"/>
                                          </p:stCondLst>
                                        </p:cTn>
                                        <p:tgtEl>
                                          <p:spTgt spid="115"/>
                                        </p:tgtEl>
                                        <p:attrNameLst>
                                          <p:attrName>style.visibility</p:attrName>
                                        </p:attrNameLst>
                                      </p:cBhvr>
                                      <p:to>
                                        <p:strVal val="visible"/>
                                      </p:to>
                                    </p:set>
                                    <p:animEffect transition="in" filter="fade">
                                      <p:cBhvr>
                                        <p:cTn id="87" dur="400"/>
                                        <p:tgtEl>
                                          <p:spTgt spid="115"/>
                                        </p:tgtEl>
                                      </p:cBhvr>
                                    </p:animEffect>
                                  </p:childTnLst>
                                </p:cTn>
                              </p:par>
                              <p:par>
                                <p:cTn id="88" presetID="10" presetClass="entr" presetSubtype="0" fill="hold"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200"/>
                                        <p:tgtEl>
                                          <p:spTgt spid="38"/>
                                        </p:tgtEl>
                                      </p:cBhvr>
                                    </p:animEffect>
                                    <p:animMotion origin="layout" pathEditMode="relative" path="M 0.05859375 -0.18472222 L 0.00000000 0.00000000 E">
                                      <p:cBhvr>
                                        <p:cTn id="91" dur="700" fill="hold"/>
                                        <p:tgtEl>
                                          <p:spTgt spid="38"/>
                                        </p:tgtEl>
                                        <p:attrNameLst>
                                          <p:attrName>ppt_x</p:attrName>
                                          <p:attrName>ppt_y</p:attrName>
                                        </p:attrNameLst>
                                      </p:cBhvr>
                                    </p:animMotion>
                                  </p:childTnLst>
                                </p:cTn>
                              </p:par>
                              <p:par>
                                <p:cTn id="92" presetID="10" presetClass="entr" presetSubtype="0" fill="hold"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200"/>
                                        <p:tgtEl>
                                          <p:spTgt spid="39"/>
                                        </p:tgtEl>
                                      </p:cBhvr>
                                    </p:animEffect>
                                    <p:animMotion origin="layout" pathEditMode="relative" path="M -0.15234375 -0.18472222 L 0.00000000 0.00000000 E">
                                      <p:cBhvr>
                                        <p:cTn id="95" dur="700" fill="hold"/>
                                        <p:tgtEl>
                                          <p:spTgt spid="39"/>
                                        </p:tgtEl>
                                        <p:attrNameLst>
                                          <p:attrName>ppt_x</p:attrName>
                                          <p:attrName>ppt_y</p:attrName>
                                        </p:attrNameLst>
                                      </p:cBhvr>
                                    </p:animMotion>
                                  </p:childTnLst>
                                </p:cTn>
                              </p:par>
                              <p:par>
                                <p:cTn id="96" presetID="10" presetClass="entr" presetSubtype="0" fill="hold" nodeType="with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fade">
                                      <p:cBhvr>
                                        <p:cTn id="98" dur="400"/>
                                        <p:tgtEl>
                                          <p:spTgt spid="40"/>
                                        </p:tgtEl>
                                      </p:cBhvr>
                                    </p:animEffect>
                                  </p:childTnLst>
                                </p:cTn>
                              </p:par>
                              <p:par>
                                <p:cTn id="99" presetID="10" presetClass="entr" presetSubtype="0" fill="hold" nodeType="withEffect">
                                  <p:stCondLst>
                                    <p:cond delay="0"/>
                                  </p:stCondLst>
                                  <p:childTnLst>
                                    <p:set>
                                      <p:cBhvr>
                                        <p:cTn id="100" dur="1" fill="hold">
                                          <p:stCondLst>
                                            <p:cond delay="0"/>
                                          </p:stCondLst>
                                        </p:cTn>
                                        <p:tgtEl>
                                          <p:spTgt spid="123"/>
                                        </p:tgtEl>
                                        <p:attrNameLst>
                                          <p:attrName>style.visibility</p:attrName>
                                        </p:attrNameLst>
                                      </p:cBhvr>
                                      <p:to>
                                        <p:strVal val="visible"/>
                                      </p:to>
                                    </p:set>
                                    <p:animEffect transition="in" filter="fade">
                                      <p:cBhvr>
                                        <p:cTn id="101" dur="400"/>
                                        <p:tgtEl>
                                          <p:spTgt spid="123"/>
                                        </p:tgtEl>
                                      </p:cBhvr>
                                    </p:animEffect>
                                  </p:childTnLst>
                                </p:cTn>
                              </p:par>
                              <p:par>
                                <p:cTn id="102" presetID="10" presetClass="entr" presetSubtype="0" fill="hold" nodeType="withEffect">
                                  <p:stCondLst>
                                    <p:cond delay="0"/>
                                  </p:stCondLst>
                                  <p:childTnLst>
                                    <p:set>
                                      <p:cBhvr>
                                        <p:cTn id="103" dur="1" fill="hold">
                                          <p:stCondLst>
                                            <p:cond delay="0"/>
                                          </p:stCondLst>
                                        </p:cTn>
                                        <p:tgtEl>
                                          <p:spTgt spid="124"/>
                                        </p:tgtEl>
                                        <p:attrNameLst>
                                          <p:attrName>style.visibility</p:attrName>
                                        </p:attrNameLst>
                                      </p:cBhvr>
                                      <p:to>
                                        <p:strVal val="visible"/>
                                      </p:to>
                                    </p:set>
                                    <p:animEffect transition="in" filter="fade">
                                      <p:cBhvr>
                                        <p:cTn id="104" dur="400"/>
                                        <p:tgtEl>
                                          <p:spTgt spid="124"/>
                                        </p:tgtEl>
                                      </p:cBhvr>
                                    </p:animEffect>
                                  </p:childTnLst>
                                </p:cTn>
                              </p:par>
                              <p:par>
                                <p:cTn id="105" presetID="10" presetClass="entr" presetSubtype="0" fill="hold"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6" grpId="0" animBg="1"/>
      <p:bldP spid="24" grpId="0" animBg="1"/>
      <p:bldP spid="40" grpId="0" animBg="1"/>
      <p:bldP spid="41" grpId="0" animBg="1"/>
    </p:bldLst>
  </p:timing>
</p:sld>
</file>

<file path=ppt/slides/methods_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 name="!!image-spacing-title">
            <ns0:hlinkClick xmlns:ns0="http://schemas.openxmlformats.org/drawingml/2006/main" xmlns:ns1="http://schemas.openxmlformats.org/officeDocument/2006/relationships" ns1:id="rIdmethods_Link74" action="ppaction://hlinksldjump"/>
            <a:extLst xmlns:a="http://schemas.openxmlformats.org/drawingml/2006/main">
              <a:ext uri="{FF2B5EF4-FFF2-40B4-BE49-F238E27FC236}">
                <a16:creationId xmlns:a16="http://schemas.microsoft.com/office/drawing/2014/main" id="{36D3FC24-6E67-46A4-AAA8-358EED919F82}"/>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74" action="ppaction://hlinksldjump"/>
              </a:rPr>
              <a:t>FDM</a:t>
            </a:r>
          </a:p>
        </p:txBody>
      </p:sp>
      <p:sp>
        <p:nvSpPr>
          <p:cNvPr id="2" name="!!image-spacing-subtitle">
            <a:extLst xmlns:a="http://schemas.openxmlformats.org/drawingml/2006/main">
              <a:ext uri="{FF2B5EF4-FFF2-40B4-BE49-F238E27FC236}">
                <a16:creationId xmlns:a16="http://schemas.microsoft.com/office/drawing/2014/main" id="{36D70473-DEFB-4CFF-A1A7-3CC4025C9D0B}"/>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Two modulated signals (application)</a:t>
            </a:r>
          </a:p>
        </p:txBody>
      </p:sp>
      <p:sp>
        <p:nvSpPr>
          <p:cNvPr id="3" name="!!image-spacing-route-tx-line">
            <a:extLst xmlns:a="http://schemas.openxmlformats.org/drawingml/2006/main">
              <a:ext uri="{FF2B5EF4-FFF2-40B4-BE49-F238E27FC236}">
                <a16:creationId xmlns:a16="http://schemas.microsoft.com/office/drawing/2014/main" id="{EB49F86F-8480-4E76-B894-C2FB5C4DB7A5}"/>
              </a:ext>
            </a:extLst>
          </p:cNvPr>
          <p:cNvSpPr>
            <a:spLocks xmlns:a="http://schemas.openxmlformats.org/drawingml/2006/main" noGrp="1"/>
          </p:cNvSpPr>
          <p:nvPr/>
        </p:nvSpPr>
        <p:spPr>
          <a:xfrm xmlns:a="http://schemas.openxmlformats.org/drawingml/2006/main">
            <a:off x="3619500"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image-spacing-route-tx-head">
            <a:extLst xmlns:a="http://schemas.openxmlformats.org/drawingml/2006/main">
              <a:ext uri="{FF2B5EF4-FFF2-40B4-BE49-F238E27FC236}">
                <a16:creationId xmlns:a16="http://schemas.microsoft.com/office/drawing/2014/main" id="{F16113A4-D82C-4EA5-B6DC-FC92079F9A3F}"/>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image-spacing-route-rx-line">
            <a:extLst xmlns:a="http://schemas.openxmlformats.org/drawingml/2006/main">
              <a:ext uri="{FF2B5EF4-FFF2-40B4-BE49-F238E27FC236}">
                <a16:creationId xmlns:a16="http://schemas.microsoft.com/office/drawing/2014/main" id="{4C0C1F33-0FEC-40E7-8A61-FC6087D5D50D}"/>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image-spacing-route-rx-head">
            <a:extLst xmlns:a="http://schemas.openxmlformats.org/drawingml/2006/main">
              <a:ext uri="{FF2B5EF4-FFF2-40B4-BE49-F238E27FC236}">
                <a16:creationId xmlns:a16="http://schemas.microsoft.com/office/drawing/2014/main" id="{CD0BF050-821C-493E-993B-E8500B5B09B7}"/>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image-spacing-chain-input-arrow-line">
            <a:extLst xmlns:a="http://schemas.openxmlformats.org/drawingml/2006/main">
              <a:ext uri="{FF2B5EF4-FFF2-40B4-BE49-F238E27FC236}">
                <a16:creationId xmlns:a16="http://schemas.microsoft.com/office/drawing/2014/main" id="{C2A83158-19A7-4960-9B02-A79A220EB8F2}"/>
              </a:ext>
            </a:extLst>
          </p:cNvPr>
          <p:cNvSpPr>
            <a:spLocks xmlns:a="http://schemas.openxmlformats.org/drawingml/2006/main" noGrp="1"/>
          </p:cNvSpPr>
          <p:nvPr/>
        </p:nvSpPr>
        <p:spPr>
          <a:xfrm xmlns:a="http://schemas.openxmlformats.org/drawingml/2006/main">
            <a:off x="1952625" y="2038350"/>
            <a:ext cx="457200" cy="19050"/>
          </a:xfrm>
          <a:prstGeom xmlns:a="http://schemas.openxmlformats.org/drawingml/2006/main" prst="rect">
            <a:avLst/>
          </a:prstGeom>
          <a:solidFill xmlns:a="http://schemas.openxmlformats.org/drawingml/2006/main">
            <a:srgbClr val="888888"/>
          </a:solidFill>
          <a:ln xmlns:a="http://schemas.openxmlformats.org/drawingml/2006/main" w="0">
            <a:noFill/>
          </a:ln>
        </p:spPr>
      </p:sp>
      <p:sp>
        <p:nvSpPr>
          <p:cNvPr id="8" name="!!image-spacing-chain-input-arrow-head">
            <a:extLst xmlns:a="http://schemas.openxmlformats.org/drawingml/2006/main">
              <a:ext uri="{FF2B5EF4-FFF2-40B4-BE49-F238E27FC236}">
                <a16:creationId xmlns:a16="http://schemas.microsoft.com/office/drawing/2014/main" id="{499D51BC-2E0A-41D3-83C8-F98CEF82570D}"/>
              </a:ext>
            </a:extLst>
          </p:cNvPr>
          <p:cNvSpPr>
            <a:spLocks xmlns:a="http://schemas.openxmlformats.org/drawingml/2006/main" noGrp="1"/>
          </p:cNvSpPr>
          <p:nvPr/>
        </p:nvSpPr>
        <p:spPr>
          <a:xfrm xmlns:a="http://schemas.openxmlformats.org/drawingml/2006/main" rot="5400000">
            <a:off x="2390775" y="1990725"/>
            <a:ext cx="114300" cy="114300"/>
          </a:xfrm>
          <a:prstGeom xmlns:a="http://schemas.openxmlformats.org/drawingml/2006/main" prst="triangle">
            <a:avLst/>
          </a:prstGeom>
          <a:solidFill xmlns:a="http://schemas.openxmlformats.org/drawingml/2006/main">
            <a:srgbClr val="888888"/>
          </a:solidFill>
          <a:ln xmlns:a="http://schemas.openxmlformats.org/drawingml/2006/main" w="0">
            <a:noFill/>
          </a:ln>
        </p:spPr>
      </p:sp>
      <p:sp>
        <p:nvSpPr>
          <p:cNvPr id="9" name="!!image-spacing-input-bpf-box">
            <a:extLst xmlns:a="http://schemas.openxmlformats.org/drawingml/2006/main">
              <a:ext uri="{FF2B5EF4-FFF2-40B4-BE49-F238E27FC236}">
                <a16:creationId xmlns:a16="http://schemas.microsoft.com/office/drawing/2014/main" id="{BC1018CD-4F73-4B03-BA5B-75642481A438}"/>
              </a:ext>
            </a:extLst>
          </p:cNvPr>
          <p:cNvSpPr>
            <a:spLocks xmlns:a="http://schemas.openxmlformats.org/drawingml/2006/main" noGrp="1"/>
          </p:cNvSpPr>
          <p:nvPr/>
        </p:nvSpPr>
        <p:spPr>
          <a:xfrm xmlns:a="http://schemas.openxmlformats.org/drawingml/2006/main">
            <a:off x="2571750" y="1828800"/>
            <a:ext cx="1781175" cy="409575"/>
          </a:xfrm>
          <a:prstGeom xmlns:a="http://schemas.openxmlformats.org/drawingml/2006/main" prst="rect">
            <a:avLst/>
          </a:prstGeom>
          <a:noFill xmlns:a="http://schemas.openxmlformats.org/drawingml/2006/main"/>
          <a:ln xmlns:a="http://schemas.openxmlformats.org/drawingml/2006/main" w="19050">
            <a:solidFill>
              <a:srgbClr val="202020"/>
            </a:solidFill>
          </a:ln>
        </p:spPr>
      </p:sp>
      <p:sp>
        <p:nvSpPr>
          <p:cNvPr id="10" name="!!image-spacing-input-bpf">
            <a:extLst xmlns:a="http://schemas.openxmlformats.org/drawingml/2006/main">
              <a:ext uri="{FF2B5EF4-FFF2-40B4-BE49-F238E27FC236}">
                <a16:creationId xmlns:a16="http://schemas.microsoft.com/office/drawing/2014/main" id="{B89CA2C3-B080-4E8F-BB17-A7F667B83844}"/>
              </a:ext>
            </a:extLst>
          </p:cNvPr>
          <p:cNvSpPr>
            <a:spLocks xmlns:a="http://schemas.openxmlformats.org/drawingml/2006/main" noGrp="1"/>
          </p:cNvSpPr>
          <p:nvPr/>
        </p:nvSpPr>
        <p:spPr>
          <a:xfrm xmlns:a="http://schemas.openxmlformats.org/drawingml/2006/main">
            <a:off x="2647950" y="1866900"/>
            <a:ext cx="1628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Input BPF</a:t>
            </a:r>
          </a:p>
        </p:txBody>
      </p:sp>
      <p:sp>
        <p:nvSpPr>
          <p:cNvPr id="11" name="!!image-spacing-chain-mix-arrow-line">
            <a:extLst xmlns:a="http://schemas.openxmlformats.org/drawingml/2006/main">
              <a:ext uri="{FF2B5EF4-FFF2-40B4-BE49-F238E27FC236}">
                <a16:creationId xmlns:a16="http://schemas.microsoft.com/office/drawing/2014/main" id="{130F9C1C-CF9B-4E2E-B042-FEF04C6C7552}"/>
              </a:ext>
            </a:extLst>
          </p:cNvPr>
          <p:cNvSpPr>
            <a:spLocks xmlns:a="http://schemas.openxmlformats.org/drawingml/2006/main" noGrp="1"/>
          </p:cNvSpPr>
          <p:nvPr/>
        </p:nvSpPr>
        <p:spPr>
          <a:xfrm xmlns:a="http://schemas.openxmlformats.org/drawingml/2006/main">
            <a:off x="4352925" y="2038350"/>
            <a:ext cx="590550" cy="19050"/>
          </a:xfrm>
          <a:prstGeom xmlns:a="http://schemas.openxmlformats.org/drawingml/2006/main" prst="rect">
            <a:avLst/>
          </a:prstGeom>
          <a:solidFill xmlns:a="http://schemas.openxmlformats.org/drawingml/2006/main">
            <a:srgbClr val="888888"/>
          </a:solidFill>
          <a:ln xmlns:a="http://schemas.openxmlformats.org/drawingml/2006/main" w="0">
            <a:noFill/>
          </a:ln>
        </p:spPr>
      </p:sp>
      <p:sp>
        <p:nvSpPr>
          <p:cNvPr id="12" name="!!image-spacing-chain-mix-arrow-head">
            <a:extLst xmlns:a="http://schemas.openxmlformats.org/drawingml/2006/main">
              <a:ext uri="{FF2B5EF4-FFF2-40B4-BE49-F238E27FC236}">
                <a16:creationId xmlns:a16="http://schemas.microsoft.com/office/drawing/2014/main" id="{0FAEEF03-CEED-4390-852C-FB38CA844E18}"/>
              </a:ext>
            </a:extLst>
          </p:cNvPr>
          <p:cNvSpPr>
            <a:spLocks xmlns:a="http://schemas.openxmlformats.org/drawingml/2006/main" noGrp="1"/>
          </p:cNvSpPr>
          <p:nvPr/>
        </p:nvSpPr>
        <p:spPr>
          <a:xfrm xmlns:a="http://schemas.openxmlformats.org/drawingml/2006/main" rot="5400000">
            <a:off x="4924425" y="1990725"/>
            <a:ext cx="114300" cy="114300"/>
          </a:xfrm>
          <a:prstGeom xmlns:a="http://schemas.openxmlformats.org/drawingml/2006/main" prst="triangle">
            <a:avLst/>
          </a:prstGeom>
          <a:solidFill xmlns:a="http://schemas.openxmlformats.org/drawingml/2006/main">
            <a:srgbClr val="888888"/>
          </a:solidFill>
          <a:ln xmlns:a="http://schemas.openxmlformats.org/drawingml/2006/main" w="0">
            <a:noFill/>
          </a:ln>
        </p:spPr>
      </p:sp>
      <p:sp>
        <p:nvSpPr>
          <p:cNvPr id="13" name="!!image-spacing-mixer">
            <a:extLst xmlns:a="http://schemas.openxmlformats.org/drawingml/2006/main">
              <a:ext uri="{FF2B5EF4-FFF2-40B4-BE49-F238E27FC236}">
                <a16:creationId xmlns:a16="http://schemas.microsoft.com/office/drawing/2014/main" id="{5E2F8D3D-34AC-40CA-B498-F28FE853F028}"/>
              </a:ext>
            </a:extLst>
          </p:cNvPr>
          <p:cNvSpPr>
            <a:spLocks xmlns:a="http://schemas.openxmlformats.org/drawingml/2006/main" noGrp="1"/>
          </p:cNvSpPr>
          <p:nvPr/>
        </p:nvSpPr>
        <p:spPr>
          <a:xfrm xmlns:a="http://schemas.openxmlformats.org/drawingml/2006/main">
            <a:off x="5143500" y="1866900"/>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666666"/>
                </a:solidFill>
                <a:latin typeface="Times New Roman"/>
                <a:ea typeface="Times New Roman"/>
                <a:cs typeface="Times New Roman"/>
              </a:defRPr>
            </a:pPr>
            <a:r>
              <a:rPr sz="1950" b="0" i="0">
                <a:solidFill>
                  <a:srgbClr val="666666"/>
                </a:solidFill>
                <a:latin typeface="Times New Roman"/>
                <a:ea typeface="Times New Roman"/>
                <a:cs typeface="Times New Roman"/>
              </a:rPr>
              <a:t>Mixer</a:t>
            </a:r>
          </a:p>
        </p:txBody>
      </p:sp>
      <p:sp>
        <p:nvSpPr>
          <p:cNvPr id="14" name="!!image-spacing-chain-if-arrow-line">
            <a:extLst xmlns:a="http://schemas.openxmlformats.org/drawingml/2006/main">
              <a:ext uri="{FF2B5EF4-FFF2-40B4-BE49-F238E27FC236}">
                <a16:creationId xmlns:a16="http://schemas.microsoft.com/office/drawing/2014/main" id="{47EBC641-5F95-4998-80CE-6CBC5D84585F}"/>
              </a:ext>
            </a:extLst>
          </p:cNvPr>
          <p:cNvSpPr>
            <a:spLocks xmlns:a="http://schemas.openxmlformats.org/drawingml/2006/main" noGrp="1"/>
          </p:cNvSpPr>
          <p:nvPr/>
        </p:nvSpPr>
        <p:spPr>
          <a:xfrm xmlns:a="http://schemas.openxmlformats.org/drawingml/2006/main">
            <a:off x="6286500" y="2038350"/>
            <a:ext cx="590550" cy="19050"/>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15" name="!!image-spacing-chain-if-arrow-head">
            <a:extLst xmlns:a="http://schemas.openxmlformats.org/drawingml/2006/main">
              <a:ext uri="{FF2B5EF4-FFF2-40B4-BE49-F238E27FC236}">
                <a16:creationId xmlns:a16="http://schemas.microsoft.com/office/drawing/2014/main" id="{9640AB80-0767-4EBB-AEB5-C43817DDD8F4}"/>
              </a:ext>
            </a:extLst>
          </p:cNvPr>
          <p:cNvSpPr>
            <a:spLocks xmlns:a="http://schemas.openxmlformats.org/drawingml/2006/main" noGrp="1"/>
          </p:cNvSpPr>
          <p:nvPr/>
        </p:nvSpPr>
        <p:spPr>
          <a:xfrm xmlns:a="http://schemas.openxmlformats.org/drawingml/2006/main" rot="5400000">
            <a:off x="6858000" y="1990725"/>
            <a:ext cx="114300" cy="114300"/>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16" name="!!image-spacing-if-bpf">
            <a:extLst xmlns:a="http://schemas.openxmlformats.org/drawingml/2006/main">
              <a:ext uri="{FF2B5EF4-FFF2-40B4-BE49-F238E27FC236}">
                <a16:creationId xmlns:a16="http://schemas.microsoft.com/office/drawing/2014/main" id="{2BE0D2ED-D0D9-4F02-86B8-F773C8CBD2EA}"/>
              </a:ext>
            </a:extLst>
          </p:cNvPr>
          <p:cNvSpPr>
            <a:spLocks xmlns:a="http://schemas.openxmlformats.org/drawingml/2006/main" noGrp="1"/>
          </p:cNvSpPr>
          <p:nvPr/>
        </p:nvSpPr>
        <p:spPr>
          <a:xfrm xmlns:a="http://schemas.openxmlformats.org/drawingml/2006/main">
            <a:off x="7048500" y="1866900"/>
            <a:ext cx="128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666666"/>
                </a:solidFill>
                <a:latin typeface="Times New Roman"/>
                <a:ea typeface="Times New Roman"/>
                <a:cs typeface="Times New Roman"/>
              </a:defRPr>
            </a:pPr>
            <a:r>
              <a:rPr sz="1950" b="0" i="0">
                <a:solidFill>
                  <a:srgbClr val="666666"/>
                </a:solidFill>
                <a:latin typeface="Times New Roman"/>
                <a:ea typeface="Times New Roman"/>
                <a:cs typeface="Times New Roman"/>
              </a:rPr>
              <a:t>IF BPF</a:t>
            </a:r>
          </a:p>
        </p:txBody>
      </p:sp>
      <p:sp>
        <p:nvSpPr>
          <p:cNvPr id="17" name="!!image-spacing-chain-demod-arrow-line">
            <a:extLst xmlns:a="http://schemas.openxmlformats.org/drawingml/2006/main">
              <a:ext uri="{FF2B5EF4-FFF2-40B4-BE49-F238E27FC236}">
                <a16:creationId xmlns:a16="http://schemas.microsoft.com/office/drawing/2014/main" id="{4F4A45B0-BF26-42C2-AC56-8DF5E6AAAD2B}"/>
              </a:ext>
            </a:extLst>
          </p:cNvPr>
          <p:cNvSpPr>
            <a:spLocks xmlns:a="http://schemas.openxmlformats.org/drawingml/2006/main" noGrp="1"/>
          </p:cNvSpPr>
          <p:nvPr/>
        </p:nvSpPr>
        <p:spPr>
          <a:xfrm xmlns:a="http://schemas.openxmlformats.org/drawingml/2006/main">
            <a:off x="8429625" y="2038350"/>
            <a:ext cx="590550" cy="19050"/>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18" name="!!image-spacing-chain-demod-arrow-head">
            <a:extLst xmlns:a="http://schemas.openxmlformats.org/drawingml/2006/main">
              <a:ext uri="{FF2B5EF4-FFF2-40B4-BE49-F238E27FC236}">
                <a16:creationId xmlns:a16="http://schemas.microsoft.com/office/drawing/2014/main" id="{403FAC4C-BDD7-465A-BAF4-49BF6B751177}"/>
              </a:ext>
            </a:extLst>
          </p:cNvPr>
          <p:cNvSpPr>
            <a:spLocks xmlns:a="http://schemas.openxmlformats.org/drawingml/2006/main" noGrp="1"/>
          </p:cNvSpPr>
          <p:nvPr/>
        </p:nvSpPr>
        <p:spPr>
          <a:xfrm xmlns:a="http://schemas.openxmlformats.org/drawingml/2006/main" rot="5400000">
            <a:off x="9001125" y="1990725"/>
            <a:ext cx="114300" cy="114300"/>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19" name="!!image-spacing-demodulator">
            <a:extLst xmlns:a="http://schemas.openxmlformats.org/drawingml/2006/main">
              <a:ext uri="{FF2B5EF4-FFF2-40B4-BE49-F238E27FC236}">
                <a16:creationId xmlns:a16="http://schemas.microsoft.com/office/drawing/2014/main" id="{4D91AC3F-79CF-421A-88E3-95B09F3EFCFD}"/>
              </a:ext>
            </a:extLst>
          </p:cNvPr>
          <p:cNvSpPr>
            <a:spLocks xmlns:a="http://schemas.openxmlformats.org/drawingml/2006/main" noGrp="1"/>
          </p:cNvSpPr>
          <p:nvPr/>
        </p:nvSpPr>
        <p:spPr>
          <a:xfrm xmlns:a="http://schemas.openxmlformats.org/drawingml/2006/main">
            <a:off x="9239250" y="1866900"/>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666666"/>
                </a:solidFill>
                <a:latin typeface="Times New Roman"/>
                <a:ea typeface="Times New Roman"/>
                <a:cs typeface="Times New Roman"/>
              </a:defRPr>
            </a:pPr>
            <a:r>
              <a:rPr sz="1950" b="0" i="0">
                <a:solidFill>
                  <a:srgbClr val="666666"/>
                </a:solidFill>
                <a:latin typeface="Times New Roman"/>
                <a:ea typeface="Times New Roman"/>
                <a:cs typeface="Times New Roman"/>
              </a:rPr>
              <a:t>Demodulator</a:t>
            </a:r>
          </a:p>
        </p:txBody>
      </p:sp>
      <p:sp>
        <p:nvSpPr>
          <p:cNvPr id="20" name="!!image-spacing-purpose">
            <a:extLst xmlns:a="http://schemas.openxmlformats.org/drawingml/2006/main">
              <a:ext uri="{FF2B5EF4-FFF2-40B4-BE49-F238E27FC236}">
                <a16:creationId xmlns:a16="http://schemas.microsoft.com/office/drawing/2014/main" id="{B0840E22-3EE4-4A26-8AF1-2BA692CC3B4D}"/>
              </a:ext>
            </a:extLst>
          </p:cNvPr>
          <p:cNvSpPr>
            <a:spLocks xmlns:a="http://schemas.openxmlformats.org/drawingml/2006/main" noGrp="1"/>
          </p:cNvSpPr>
          <p:nvPr/>
        </p:nvSpPr>
        <p:spPr>
          <a:xfrm xmlns:a="http://schemas.openxmlformats.org/drawingml/2006/main">
            <a:off x="666750" y="229552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Pass the wanted signal; reject the image before mixing.</a:t>
            </a:r>
          </a:p>
        </p:txBody>
      </p:sp>
      <p:sp>
        <p:nvSpPr>
          <p:cNvPr id="21" name="!!image-spacing-detail">
            <a:extLst xmlns:a="http://schemas.openxmlformats.org/drawingml/2006/main">
              <a:ext uri="{FF2B5EF4-FFF2-40B4-BE49-F238E27FC236}">
                <a16:creationId xmlns:a16="http://schemas.microsoft.com/office/drawing/2014/main" id="{77AB9815-EBE6-439D-BF29-BD228E5E8323}"/>
              </a:ext>
            </a:extLst>
          </p:cNvPr>
          <p:cNvSpPr>
            <a:spLocks xmlns:a="http://schemas.openxmlformats.org/drawingml/2006/main" noGrp="1"/>
          </p:cNvSpPr>
          <p:nvPr/>
        </p:nvSpPr>
        <p:spPr>
          <a:xfrm xmlns:a="http://schemas.openxmlformats.org/drawingml/2006/main">
            <a:off x="8667750" y="2333625"/>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i="0">
                <a:solidFill>
                  <a:srgbClr val="555555"/>
                </a:solidFill>
                <a:latin typeface="Times New Roman"/>
                <a:ea typeface="Times New Roman"/>
                <a:cs typeface="Times New Roman"/>
              </a:defRPr>
            </a:pPr>
            <a:r>
              <a:rPr sz="1500" b="0" i="0">
                <a:solidFill>
                  <a:srgbClr val="555555"/>
                </a:solidFill>
                <a:latin typeface="Times New Roman"/>
                <a:ea typeface="Times New Roman"/>
                <a:cs typeface="Times New Roman"/>
              </a:rPr>
              <a:t>Positive-frequency detail</a:t>
            </a:r>
          </a:p>
        </p:txBody>
      </p:sp>
      <p:sp>
        <p:nvSpPr>
          <p:cNvPr id="22" name="!!image-spacing-signal-axis0-line">
            <a:extLst xmlns:a="http://schemas.openxmlformats.org/drawingml/2006/main">
              <a:ext uri="{FF2B5EF4-FFF2-40B4-BE49-F238E27FC236}">
                <a16:creationId xmlns:a16="http://schemas.microsoft.com/office/drawing/2014/main" id="{DEF385E8-37AA-45EF-88DD-BE000A6EC6AF}"/>
              </a:ext>
            </a:extLst>
          </p:cNvPr>
          <p:cNvSpPr>
            <a:spLocks xmlns:a="http://schemas.openxmlformats.org/drawingml/2006/main" noGrp="1"/>
          </p:cNvSpPr>
          <p:nvPr/>
        </p:nvSpPr>
        <p:spPr>
          <a:xfrm xmlns:a="http://schemas.openxmlformats.org/drawingml/2006/main">
            <a:off x="809625" y="3619500"/>
            <a:ext cx="4191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image-spacing-signal-axis0-head">
            <a:extLst xmlns:a="http://schemas.openxmlformats.org/drawingml/2006/main">
              <a:ext uri="{FF2B5EF4-FFF2-40B4-BE49-F238E27FC236}">
                <a16:creationId xmlns:a16="http://schemas.microsoft.com/office/drawing/2014/main" id="{34D38D2E-95BA-42EB-A08F-40723804B95F}"/>
              </a:ext>
            </a:extLst>
          </p:cNvPr>
          <p:cNvSpPr>
            <a:spLocks xmlns:a="http://schemas.openxmlformats.org/drawingml/2006/main" noGrp="1"/>
          </p:cNvSpPr>
          <p:nvPr/>
        </p:nvSpPr>
        <p:spPr>
          <a:xfrm xmlns:a="http://schemas.openxmlformats.org/drawingml/2006/main" rot="5400000">
            <a:off x="4981575" y="35718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image-spacing-response-axis0-line">
            <a:extLst xmlns:a="http://schemas.openxmlformats.org/drawingml/2006/main">
              <a:ext uri="{FF2B5EF4-FFF2-40B4-BE49-F238E27FC236}">
                <a16:creationId xmlns:a16="http://schemas.microsoft.com/office/drawing/2014/main" id="{E971B984-70F7-40C2-90F2-7B673F2DB570}"/>
              </a:ext>
            </a:extLst>
          </p:cNvPr>
          <p:cNvSpPr>
            <a:spLocks xmlns:a="http://schemas.openxmlformats.org/drawingml/2006/main" noGrp="1"/>
          </p:cNvSpPr>
          <p:nvPr/>
        </p:nvSpPr>
        <p:spPr>
          <a:xfrm xmlns:a="http://schemas.openxmlformats.org/drawingml/2006/main">
            <a:off x="809625" y="4667250"/>
            <a:ext cx="4191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image-spacing-response-axis0-head">
            <a:extLst xmlns:a="http://schemas.openxmlformats.org/drawingml/2006/main">
              <a:ext uri="{FF2B5EF4-FFF2-40B4-BE49-F238E27FC236}">
                <a16:creationId xmlns:a16="http://schemas.microsoft.com/office/drawing/2014/main" id="{73A60AA8-8124-4F63-915D-DD64CE9FC2F7}"/>
              </a:ext>
            </a:extLst>
          </p:cNvPr>
          <p:cNvSpPr>
            <a:spLocks xmlns:a="http://schemas.openxmlformats.org/drawingml/2006/main" noGrp="1"/>
          </p:cNvSpPr>
          <p:nvPr/>
        </p:nvSpPr>
        <p:spPr>
          <a:xfrm xmlns:a="http://schemas.openxmlformats.org/drawingml/2006/main" rot="5400000">
            <a:off x="4981575" y="4619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6" name="!!image-spacing-response-label0">
            <a:extLst xmlns:a="http://schemas.openxmlformats.org/drawingml/2006/main">
              <a:ext uri="{FF2B5EF4-FFF2-40B4-BE49-F238E27FC236}">
                <a16:creationId xmlns:a16="http://schemas.microsoft.com/office/drawing/2014/main" id="{0DC8D686-ADCF-49DE-AEDB-99A2B1CCAFF2}"/>
              </a:ext>
            </a:extLst>
          </p:cNvPr>
          <p:cNvSpPr>
            <a:spLocks xmlns:a="http://schemas.openxmlformats.org/drawingml/2006/main" noGrp="1"/>
          </p:cNvSpPr>
          <p:nvPr/>
        </p:nvSpPr>
        <p:spPr>
          <a:xfrm xmlns:a="http://schemas.openxmlformats.org/drawingml/2006/main">
            <a:off x="809625" y="4095750"/>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Input BPF response</a:t>
            </a:r>
          </a:p>
        </p:txBody>
      </p:sp>
      <p:sp>
        <p:nvSpPr>
          <p:cNvPr id="27" name="!!image-spacing-response-level-axis0">
            <a:extLst xmlns:a="http://schemas.openxmlformats.org/drawingml/2006/main">
              <a:ext uri="{FF2B5EF4-FFF2-40B4-BE49-F238E27FC236}">
                <a16:creationId xmlns:a16="http://schemas.microsoft.com/office/drawing/2014/main" id="{6556EDA7-03D3-49F8-AFCC-92ECD2900C99}"/>
              </a:ext>
            </a:extLst>
          </p:cNvPr>
          <p:cNvSpPr>
            <a:spLocks xmlns:a="http://schemas.openxmlformats.org/drawingml/2006/main" noGrp="1"/>
          </p:cNvSpPr>
          <p:nvPr/>
        </p:nvSpPr>
        <p:spPr>
          <a:xfrm xmlns:a="http://schemas.openxmlformats.org/drawingml/2006/main">
            <a:off x="809625" y="4229100"/>
            <a:ext cx="953" cy="438150"/>
          </a:xfrm>
          <a:custGeom xmlns:a="http://schemas.openxmlformats.org/drawingml/2006/main">
            <a:pathLst>
              <a:path w="953" h="438150">
                <a:moveTo>
                  <a:pt x="0" y="438150"/>
                </a:moveTo>
                <a:lnTo>
                  <a:pt x="0" y="0"/>
                </a:lnTo>
              </a:path>
            </a:pathLst>
          </a:custGeom>
          <a:noFill xmlns:a="http://schemas.openxmlformats.org/drawingml/2006/main"/>
          <a:ln xmlns:a="http://schemas.openxmlformats.org/drawingml/2006/main" w="9525">
            <a:solidFill>
              <a:srgbClr val="777777"/>
            </a:solidFill>
          </a:ln>
        </p:spPr>
      </p:sp>
      <p:sp>
        <p:nvSpPr>
          <p:cNvPr id="28" name="!!image-spacing-wanted0">
            <a:extLst xmlns:a="http://schemas.openxmlformats.org/drawingml/2006/main">
              <a:ext uri="{FF2B5EF4-FFF2-40B4-BE49-F238E27FC236}">
                <a16:creationId xmlns:a16="http://schemas.microsoft.com/office/drawing/2014/main" id="{E9C7BBC5-89BB-495D-BA9F-46A80285C36E}"/>
              </a:ext>
            </a:extLst>
          </p:cNvPr>
          <p:cNvSpPr>
            <a:spLocks xmlns:a="http://schemas.openxmlformats.org/drawingml/2006/main" noGrp="1"/>
          </p:cNvSpPr>
          <p:nvPr/>
        </p:nvSpPr>
        <p:spPr>
          <a:xfrm xmlns:a="http://schemas.openxmlformats.org/drawingml/2006/main">
            <a:off x="4191000" y="3200400"/>
            <a:ext cx="381000" cy="419100"/>
          </a:xfrm>
          <a:custGeom xmlns:a="http://schemas.openxmlformats.org/drawingml/2006/main">
            <a:pathLst>
              <a:path w="381000" h="419100">
                <a:moveTo>
                  <a:pt x="0" y="419100"/>
                </a:moveTo>
                <a:lnTo>
                  <a:pt x="190500" y="0"/>
                </a:lnTo>
                <a:lnTo>
                  <a:pt x="381000" y="419100"/>
                </a:lnTo>
                <a:close/>
              </a:path>
            </a:pathLst>
          </a:custGeom>
          <a:solidFill xmlns:a="http://schemas.openxmlformats.org/drawingml/2006/main">
            <a:srgbClr val="535353"/>
          </a:solidFill>
          <a:ln xmlns:a="http://schemas.openxmlformats.org/drawingml/2006/main" w="9525">
            <a:solidFill>
              <a:srgbClr val="202020"/>
            </a:solidFill>
          </a:ln>
        </p:spPr>
      </p:sp>
      <p:sp>
        <p:nvSpPr>
          <p:cNvPr id="29" name="!!image-spacing-wanted-center-tick0">
            <a:extLst xmlns:a="http://schemas.openxmlformats.org/drawingml/2006/main">
              <a:ext uri="{FF2B5EF4-FFF2-40B4-BE49-F238E27FC236}">
                <a16:creationId xmlns:a16="http://schemas.microsoft.com/office/drawing/2014/main" id="{05920185-0B7B-44E8-AD93-A4A8B4741774}"/>
              </a:ext>
            </a:extLst>
          </p:cNvPr>
          <p:cNvSpPr>
            <a:spLocks xmlns:a="http://schemas.openxmlformats.org/drawingml/2006/main" noGrp="1"/>
          </p:cNvSpPr>
          <p:nvPr/>
        </p:nvSpPr>
        <p:spPr>
          <a:xfrm xmlns:a="http://schemas.openxmlformats.org/drawingml/2006/main">
            <a:off x="4381500" y="36195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image-spacing-image0">
            <a:extLst xmlns:a="http://schemas.openxmlformats.org/drawingml/2006/main">
              <a:ext uri="{FF2B5EF4-FFF2-40B4-BE49-F238E27FC236}">
                <a16:creationId xmlns:a16="http://schemas.microsoft.com/office/drawing/2014/main" id="{F27E8004-2359-46E6-8AC8-0B303CBA233E}"/>
              </a:ext>
            </a:extLst>
          </p:cNvPr>
          <p:cNvSpPr>
            <a:spLocks xmlns:a="http://schemas.openxmlformats.org/drawingml/2006/main" noGrp="1"/>
          </p:cNvSpPr>
          <p:nvPr/>
        </p:nvSpPr>
        <p:spPr>
          <a:xfrm xmlns:a="http://schemas.openxmlformats.org/drawingml/2006/main">
            <a:off x="2286000" y="3333750"/>
            <a:ext cx="381000" cy="285750"/>
          </a:xfrm>
          <a:custGeom xmlns:a="http://schemas.openxmlformats.org/drawingml/2006/main">
            <a:pathLst>
              <a:path w="381000" h="285750">
                <a:moveTo>
                  <a:pt x="0" y="285750"/>
                </a:moveTo>
                <a:lnTo>
                  <a:pt x="190500" y="0"/>
                </a:lnTo>
                <a:lnTo>
                  <a:pt x="381000" y="285750"/>
                </a:lnTo>
                <a:close/>
              </a:path>
            </a:pathLst>
          </a:custGeom>
          <a:solidFill xmlns:a="http://schemas.openxmlformats.org/drawingml/2006/main">
            <a:srgbClr val="BBBBBB"/>
          </a:solidFill>
          <a:ln xmlns:a="http://schemas.openxmlformats.org/drawingml/2006/main" w="9525">
            <a:solidFill>
              <a:srgbClr val="202020"/>
            </a:solidFill>
          </a:ln>
        </p:spPr>
      </p:sp>
      <p:sp>
        <p:nvSpPr>
          <p:cNvPr id="31" name="!!image-spacing-image-center-tick0">
            <a:extLst xmlns:a="http://schemas.openxmlformats.org/drawingml/2006/main">
              <a:ext uri="{FF2B5EF4-FFF2-40B4-BE49-F238E27FC236}">
                <a16:creationId xmlns:a16="http://schemas.microsoft.com/office/drawing/2014/main" id="{545504B0-6DEE-4471-A82E-2BD3C4074C0D}"/>
              </a:ext>
            </a:extLst>
          </p:cNvPr>
          <p:cNvSpPr>
            <a:spLocks xmlns:a="http://schemas.openxmlformats.org/drawingml/2006/main" noGrp="1"/>
          </p:cNvSpPr>
          <p:nvPr/>
        </p:nvSpPr>
        <p:spPr>
          <a:xfrm xmlns:a="http://schemas.openxmlformats.org/drawingml/2006/main">
            <a:off x="2476500" y="36195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2" name="!!image-spacing-wanted-label0">
            <a:extLst xmlns:a="http://schemas.openxmlformats.org/drawingml/2006/main">
              <a:ext uri="{FF2B5EF4-FFF2-40B4-BE49-F238E27FC236}">
                <a16:creationId xmlns:a16="http://schemas.microsoft.com/office/drawing/2014/main" id="{3897984B-5814-4A25-AAC5-1AED881FE503}"/>
              </a:ext>
            </a:extLst>
          </p:cNvPr>
          <p:cNvSpPr>
            <a:spLocks xmlns:a="http://schemas.openxmlformats.org/drawingml/2006/main" noGrp="1"/>
          </p:cNvSpPr>
          <p:nvPr/>
        </p:nvSpPr>
        <p:spPr>
          <a:xfrm xmlns:a="http://schemas.openxmlformats.org/drawingml/2006/main">
            <a:off x="3600450" y="2933700"/>
            <a:ext cx="1562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Wanted: pass</a:t>
            </a:r>
          </a:p>
        </p:txBody>
      </p:sp>
      <p:sp>
        <p:nvSpPr>
          <p:cNvPr id="33" name="!!image-spacing-image-label0">
            <a:extLst xmlns:a="http://schemas.openxmlformats.org/drawingml/2006/main">
              <a:ext uri="{FF2B5EF4-FFF2-40B4-BE49-F238E27FC236}">
                <a16:creationId xmlns:a16="http://schemas.microsoft.com/office/drawing/2014/main" id="{F8590031-14C2-4027-A303-59EB319D5BE5}"/>
              </a:ext>
            </a:extLst>
          </p:cNvPr>
          <p:cNvSpPr>
            <a:spLocks xmlns:a="http://schemas.openxmlformats.org/drawingml/2006/main" noGrp="1"/>
          </p:cNvSpPr>
          <p:nvPr/>
        </p:nvSpPr>
        <p:spPr>
          <a:xfrm xmlns:a="http://schemas.openxmlformats.org/drawingml/2006/main">
            <a:off x="1695450" y="3067050"/>
            <a:ext cx="1562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Image: reject</a:t>
            </a:r>
          </a:p>
        </p:txBody>
      </p:sp>
      <p:sp>
        <p:nvSpPr>
          <p:cNvPr id="34" name="!!image-spacing-edge-guide-upper0-64">
            <a:extLst xmlns:a="http://schemas.openxmlformats.org/drawingml/2006/main">
              <a:ext uri="{FF2B5EF4-FFF2-40B4-BE49-F238E27FC236}">
                <a16:creationId xmlns:a16="http://schemas.microsoft.com/office/drawing/2014/main" id="{42D9A8CC-61DC-4F65-AE2B-09F11743384F}"/>
              </a:ext>
            </a:extLst>
          </p:cNvPr>
          <p:cNvSpPr>
            <a:spLocks xmlns:a="http://schemas.openxmlformats.org/drawingml/2006/main" noGrp="1"/>
          </p:cNvSpPr>
          <p:nvPr/>
        </p:nvSpPr>
        <p:spPr>
          <a:xfrm xmlns:a="http://schemas.openxmlformats.org/drawingml/2006/main">
            <a:off x="2667000" y="3571875"/>
            <a:ext cx="953" cy="466725"/>
          </a:xfrm>
          <a:custGeom xmlns:a="http://schemas.openxmlformats.org/drawingml/2006/main">
            <a:pathLst>
              <a:path w="953" h="466725">
                <a:moveTo>
                  <a:pt x="0" y="0"/>
                </a:moveTo>
                <a:lnTo>
                  <a:pt x="0" y="466725"/>
                </a:lnTo>
              </a:path>
            </a:pathLst>
          </a:custGeom>
          <a:noFill xmlns:a="http://schemas.openxmlformats.org/drawingml/2006/main"/>
          <a:ln xmlns:a="http://schemas.openxmlformats.org/drawingml/2006/main" w="7620">
            <a:solidFill>
              <a:srgbClr val="AAAAAA"/>
            </a:solidFill>
          </a:ln>
        </p:spPr>
      </p:sp>
      <p:sp>
        <p:nvSpPr>
          <p:cNvPr id="35" name="!!image-spacing-edge-guide-lower0-64">
            <a:extLst xmlns:a="http://schemas.openxmlformats.org/drawingml/2006/main">
              <a:ext uri="{FF2B5EF4-FFF2-40B4-BE49-F238E27FC236}">
                <a16:creationId xmlns:a16="http://schemas.microsoft.com/office/drawing/2014/main" id="{306F6F84-B796-46C7-B589-D40F2081E4CD}"/>
              </a:ext>
            </a:extLst>
          </p:cNvPr>
          <p:cNvSpPr>
            <a:spLocks xmlns:a="http://schemas.openxmlformats.org/drawingml/2006/main" noGrp="1"/>
          </p:cNvSpPr>
          <p:nvPr/>
        </p:nvSpPr>
        <p:spPr>
          <a:xfrm xmlns:a="http://schemas.openxmlformats.org/drawingml/2006/main">
            <a:off x="2667000" y="4381500"/>
            <a:ext cx="953" cy="323850"/>
          </a:xfrm>
          <a:custGeom xmlns:a="http://schemas.openxmlformats.org/drawingml/2006/main">
            <a:pathLst>
              <a:path w="953" h="323850">
                <a:moveTo>
                  <a:pt x="0" y="0"/>
                </a:moveTo>
                <a:lnTo>
                  <a:pt x="0" y="323850"/>
                </a:lnTo>
              </a:path>
            </a:pathLst>
          </a:custGeom>
          <a:noFill xmlns:a="http://schemas.openxmlformats.org/drawingml/2006/main"/>
          <a:ln xmlns:a="http://schemas.openxmlformats.org/drawingml/2006/main" w="7620">
            <a:solidFill>
              <a:srgbClr val="AAAAAA"/>
            </a:solidFill>
          </a:ln>
        </p:spPr>
      </p:sp>
      <p:sp>
        <p:nvSpPr>
          <p:cNvPr id="36" name="!!image-spacing-edge-guide-upper0-96">
            <a:extLst xmlns:a="http://schemas.openxmlformats.org/drawingml/2006/main">
              <a:ext uri="{FF2B5EF4-FFF2-40B4-BE49-F238E27FC236}">
                <a16:creationId xmlns:a16="http://schemas.microsoft.com/office/drawing/2014/main" id="{66153E08-1D31-43FD-90ED-D6B94FBF039C}"/>
              </a:ext>
            </a:extLst>
          </p:cNvPr>
          <p:cNvSpPr>
            <a:spLocks xmlns:a="http://schemas.openxmlformats.org/drawingml/2006/main" noGrp="1"/>
          </p:cNvSpPr>
          <p:nvPr/>
        </p:nvSpPr>
        <p:spPr>
          <a:xfrm xmlns:a="http://schemas.openxmlformats.org/drawingml/2006/main">
            <a:off x="4191000" y="3571875"/>
            <a:ext cx="953" cy="466725"/>
          </a:xfrm>
          <a:custGeom xmlns:a="http://schemas.openxmlformats.org/drawingml/2006/main">
            <a:pathLst>
              <a:path w="953" h="466725">
                <a:moveTo>
                  <a:pt x="0" y="0"/>
                </a:moveTo>
                <a:lnTo>
                  <a:pt x="0" y="466725"/>
                </a:lnTo>
              </a:path>
            </a:pathLst>
          </a:custGeom>
          <a:noFill xmlns:a="http://schemas.openxmlformats.org/drawingml/2006/main"/>
          <a:ln xmlns:a="http://schemas.openxmlformats.org/drawingml/2006/main" w="7620">
            <a:solidFill>
              <a:srgbClr val="AAAAAA"/>
            </a:solidFill>
          </a:ln>
        </p:spPr>
      </p:sp>
      <p:sp>
        <p:nvSpPr>
          <p:cNvPr id="37" name="!!image-spacing-edge-guide-lower0-96">
            <a:extLst xmlns:a="http://schemas.openxmlformats.org/drawingml/2006/main">
              <a:ext uri="{FF2B5EF4-FFF2-40B4-BE49-F238E27FC236}">
                <a16:creationId xmlns:a16="http://schemas.microsoft.com/office/drawing/2014/main" id="{7B9F4A98-5A46-4E54-A0D1-8D00A6B7176A}"/>
              </a:ext>
            </a:extLst>
          </p:cNvPr>
          <p:cNvSpPr>
            <a:spLocks xmlns:a="http://schemas.openxmlformats.org/drawingml/2006/main" noGrp="1"/>
          </p:cNvSpPr>
          <p:nvPr/>
        </p:nvSpPr>
        <p:spPr>
          <a:xfrm xmlns:a="http://schemas.openxmlformats.org/drawingml/2006/main">
            <a:off x="4191000" y="4381500"/>
            <a:ext cx="953" cy="323850"/>
          </a:xfrm>
          <a:custGeom xmlns:a="http://schemas.openxmlformats.org/drawingml/2006/main">
            <a:pathLst>
              <a:path w="953" h="323850">
                <a:moveTo>
                  <a:pt x="0" y="0"/>
                </a:moveTo>
                <a:lnTo>
                  <a:pt x="0" y="323850"/>
                </a:lnTo>
              </a:path>
            </a:pathLst>
          </a:custGeom>
          <a:noFill xmlns:a="http://schemas.openxmlformats.org/drawingml/2006/main"/>
          <a:ln xmlns:a="http://schemas.openxmlformats.org/drawingml/2006/main" w="7620">
            <a:solidFill>
              <a:srgbClr val="AAAAAA"/>
            </a:solidFill>
          </a:ln>
        </p:spPr>
      </p:sp>
      <p:sp>
        <p:nvSpPr>
          <p:cNvPr id="38" name="!!image-spacing-gap-bracket0">
            <a:extLst xmlns:a="http://schemas.openxmlformats.org/drawingml/2006/main">
              <a:ext uri="{FF2B5EF4-FFF2-40B4-BE49-F238E27FC236}">
                <a16:creationId xmlns:a16="http://schemas.microsoft.com/office/drawing/2014/main" id="{53956F01-514B-404B-AF8D-3E25642B69DB}"/>
              </a:ext>
            </a:extLst>
          </p:cNvPr>
          <p:cNvSpPr>
            <a:spLocks xmlns:a="http://schemas.openxmlformats.org/drawingml/2006/main" noGrp="1"/>
          </p:cNvSpPr>
          <p:nvPr/>
        </p:nvSpPr>
        <p:spPr>
          <a:xfrm xmlns:a="http://schemas.openxmlformats.org/drawingml/2006/main">
            <a:off x="2667000" y="4800600"/>
            <a:ext cx="1524000" cy="47625"/>
          </a:xfrm>
          <a:custGeom xmlns:a="http://schemas.openxmlformats.org/drawingml/2006/main">
            <a:pathLst>
              <a:path w="1524000" h="47625">
                <a:moveTo>
                  <a:pt x="0" y="0"/>
                </a:moveTo>
                <a:lnTo>
                  <a:pt x="0" y="47625"/>
                </a:lnTo>
                <a:lnTo>
                  <a:pt x="1524000" y="47625"/>
                </a:lnTo>
                <a:lnTo>
                  <a:pt x="1524000" y="0"/>
                </a:lnTo>
              </a:path>
            </a:pathLst>
          </a:custGeom>
          <a:noFill xmlns:a="http://schemas.openxmlformats.org/drawingml/2006/main"/>
          <a:ln xmlns:a="http://schemas.openxmlformats.org/drawingml/2006/main" w="11430">
            <a:solidFill>
              <a:srgbClr val="202020"/>
            </a:solidFill>
          </a:ln>
        </p:spPr>
      </p:sp>
      <p:sp>
        <p:nvSpPr>
          <p:cNvPr id="39" name="!!image-spacing-bpf-response0">
            <a:extLst xmlns:a="http://schemas.openxmlformats.org/drawingml/2006/main">
              <a:ext uri="{FF2B5EF4-FFF2-40B4-BE49-F238E27FC236}">
                <a16:creationId xmlns:a16="http://schemas.microsoft.com/office/drawing/2014/main" id="{CD2B08A2-C069-4B21-885E-04F7440757B7}"/>
              </a:ext>
            </a:extLst>
          </p:cNvPr>
          <p:cNvSpPr>
            <a:spLocks xmlns:a="http://schemas.openxmlformats.org/drawingml/2006/main" noGrp="1"/>
          </p:cNvSpPr>
          <p:nvPr/>
        </p:nvSpPr>
        <p:spPr>
          <a:xfrm xmlns:a="http://schemas.openxmlformats.org/drawingml/2006/main">
            <a:off x="809625" y="4267200"/>
            <a:ext cx="4286250" cy="400050"/>
          </a:xfrm>
          <a:custGeom xmlns:a="http://schemas.openxmlformats.org/drawingml/2006/main">
            <a:pathLst>
              <a:path w="4286250" h="400050">
                <a:moveTo>
                  <a:pt x="0" y="400050"/>
                </a:moveTo>
                <a:lnTo>
                  <a:pt x="1857375" y="400050"/>
                </a:lnTo>
                <a:lnTo>
                  <a:pt x="3381375" y="0"/>
                </a:lnTo>
                <a:lnTo>
                  <a:pt x="3762375" y="0"/>
                </a:lnTo>
                <a:lnTo>
                  <a:pt x="4143375" y="400050"/>
                </a:lnTo>
                <a:lnTo>
                  <a:pt x="4286250" y="400050"/>
                </a:lnTo>
              </a:path>
            </a:pathLst>
          </a:custGeom>
          <a:noFill xmlns:a="http://schemas.openxmlformats.org/drawingml/2006/main"/>
          <a:ln xmlns:a="http://schemas.openxmlformats.org/drawingml/2006/main" w="19050">
            <a:solidFill>
              <a:srgbClr val="202020"/>
            </a:solidFill>
          </a:ln>
        </p:spPr>
      </p:sp>
      <p:sp>
        <p:nvSpPr>
          <p:cNvPr id="40" name="!!image-spacing-signal-axis1-line">
            <a:extLst xmlns:a="http://schemas.openxmlformats.org/drawingml/2006/main">
              <a:ext uri="{FF2B5EF4-FFF2-40B4-BE49-F238E27FC236}">
                <a16:creationId xmlns:a16="http://schemas.microsoft.com/office/drawing/2014/main" id="{576AD8A3-9F54-4F89-AF69-66AA7A4AFD51}"/>
              </a:ext>
            </a:extLst>
          </p:cNvPr>
          <p:cNvSpPr>
            <a:spLocks xmlns:a="http://schemas.openxmlformats.org/drawingml/2006/main" noGrp="1"/>
          </p:cNvSpPr>
          <p:nvPr/>
        </p:nvSpPr>
        <p:spPr>
          <a:xfrm xmlns:a="http://schemas.openxmlformats.org/drawingml/2006/main">
            <a:off x="7000875" y="3619500"/>
            <a:ext cx="4191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1" name="!!image-spacing-signal-axis1-head">
            <a:extLst xmlns:a="http://schemas.openxmlformats.org/drawingml/2006/main">
              <a:ext uri="{FF2B5EF4-FFF2-40B4-BE49-F238E27FC236}">
                <a16:creationId xmlns:a16="http://schemas.microsoft.com/office/drawing/2014/main" id="{00F2DB35-E20F-4083-905C-89DC91DBA72B}"/>
              </a:ext>
            </a:extLst>
          </p:cNvPr>
          <p:cNvSpPr>
            <a:spLocks xmlns:a="http://schemas.openxmlformats.org/drawingml/2006/main" noGrp="1"/>
          </p:cNvSpPr>
          <p:nvPr/>
        </p:nvSpPr>
        <p:spPr>
          <a:xfrm xmlns:a="http://schemas.openxmlformats.org/drawingml/2006/main" rot="5400000">
            <a:off x="11172825" y="35718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42" name="!!image-spacing-response-axis1-line">
            <a:extLst xmlns:a="http://schemas.openxmlformats.org/drawingml/2006/main">
              <a:ext uri="{FF2B5EF4-FFF2-40B4-BE49-F238E27FC236}">
                <a16:creationId xmlns:a16="http://schemas.microsoft.com/office/drawing/2014/main" id="{B7825C11-72BC-4AC9-8BB8-BE02FD212C1B}"/>
              </a:ext>
            </a:extLst>
          </p:cNvPr>
          <p:cNvSpPr>
            <a:spLocks xmlns:a="http://schemas.openxmlformats.org/drawingml/2006/main" noGrp="1"/>
          </p:cNvSpPr>
          <p:nvPr/>
        </p:nvSpPr>
        <p:spPr>
          <a:xfrm xmlns:a="http://schemas.openxmlformats.org/drawingml/2006/main">
            <a:off x="7000875" y="4667250"/>
            <a:ext cx="419100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3" name="!!image-spacing-response-axis1-head">
            <a:extLst xmlns:a="http://schemas.openxmlformats.org/drawingml/2006/main">
              <a:ext uri="{FF2B5EF4-FFF2-40B4-BE49-F238E27FC236}">
                <a16:creationId xmlns:a16="http://schemas.microsoft.com/office/drawing/2014/main" id="{DF1DA1A0-34C4-4AE1-A680-5EE9A8930495}"/>
              </a:ext>
            </a:extLst>
          </p:cNvPr>
          <p:cNvSpPr>
            <a:spLocks xmlns:a="http://schemas.openxmlformats.org/drawingml/2006/main" noGrp="1"/>
          </p:cNvSpPr>
          <p:nvPr/>
        </p:nvSpPr>
        <p:spPr>
          <a:xfrm xmlns:a="http://schemas.openxmlformats.org/drawingml/2006/main" rot="5400000">
            <a:off x="11172825" y="4619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44" name="!!image-spacing-response-label1">
            <a:extLst xmlns:a="http://schemas.openxmlformats.org/drawingml/2006/main">
              <a:ext uri="{FF2B5EF4-FFF2-40B4-BE49-F238E27FC236}">
                <a16:creationId xmlns:a16="http://schemas.microsoft.com/office/drawing/2014/main" id="{FC9D94C8-6E79-42A4-A5E1-7AD79B50A4E1}"/>
              </a:ext>
            </a:extLst>
          </p:cNvPr>
          <p:cNvSpPr>
            <a:spLocks xmlns:a="http://schemas.openxmlformats.org/drawingml/2006/main" noGrp="1"/>
          </p:cNvSpPr>
          <p:nvPr/>
        </p:nvSpPr>
        <p:spPr>
          <a:xfrm xmlns:a="http://schemas.openxmlformats.org/drawingml/2006/main">
            <a:off x="7000875" y="4095750"/>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Input BPF response</a:t>
            </a:r>
          </a:p>
        </p:txBody>
      </p:sp>
      <p:sp>
        <p:nvSpPr>
          <p:cNvPr id="45" name="!!image-spacing-response-level-axis1">
            <a:extLst xmlns:a="http://schemas.openxmlformats.org/drawingml/2006/main">
              <a:ext uri="{FF2B5EF4-FFF2-40B4-BE49-F238E27FC236}">
                <a16:creationId xmlns:a16="http://schemas.microsoft.com/office/drawing/2014/main" id="{1A0CFB2F-5A2C-47D7-A161-52A49D68E6DF}"/>
              </a:ext>
            </a:extLst>
          </p:cNvPr>
          <p:cNvSpPr>
            <a:spLocks xmlns:a="http://schemas.openxmlformats.org/drawingml/2006/main" noGrp="1"/>
          </p:cNvSpPr>
          <p:nvPr/>
        </p:nvSpPr>
        <p:spPr>
          <a:xfrm xmlns:a="http://schemas.openxmlformats.org/drawingml/2006/main">
            <a:off x="7000875" y="4229100"/>
            <a:ext cx="953" cy="438150"/>
          </a:xfrm>
          <a:custGeom xmlns:a="http://schemas.openxmlformats.org/drawingml/2006/main">
            <a:pathLst>
              <a:path w="953" h="438150">
                <a:moveTo>
                  <a:pt x="0" y="438150"/>
                </a:moveTo>
                <a:lnTo>
                  <a:pt x="0" y="0"/>
                </a:lnTo>
              </a:path>
            </a:pathLst>
          </a:custGeom>
          <a:noFill xmlns:a="http://schemas.openxmlformats.org/drawingml/2006/main"/>
          <a:ln xmlns:a="http://schemas.openxmlformats.org/drawingml/2006/main" w="9525">
            <a:solidFill>
              <a:srgbClr val="777777"/>
            </a:solidFill>
          </a:ln>
        </p:spPr>
      </p:sp>
      <p:sp>
        <p:nvSpPr>
          <p:cNvPr id="46" name="!!image-spacing-wanted1">
            <a:extLst xmlns:a="http://schemas.openxmlformats.org/drawingml/2006/main">
              <a:ext uri="{FF2B5EF4-FFF2-40B4-BE49-F238E27FC236}">
                <a16:creationId xmlns:a16="http://schemas.microsoft.com/office/drawing/2014/main" id="{C05DB7E3-6E55-4713-A88E-1B7C18E3B39B}"/>
              </a:ext>
            </a:extLst>
          </p:cNvPr>
          <p:cNvSpPr>
            <a:spLocks xmlns:a="http://schemas.openxmlformats.org/drawingml/2006/main" noGrp="1"/>
          </p:cNvSpPr>
          <p:nvPr/>
        </p:nvSpPr>
        <p:spPr>
          <a:xfrm xmlns:a="http://schemas.openxmlformats.org/drawingml/2006/main">
            <a:off x="10382250" y="3200400"/>
            <a:ext cx="381000" cy="419100"/>
          </a:xfrm>
          <a:custGeom xmlns:a="http://schemas.openxmlformats.org/drawingml/2006/main">
            <a:pathLst>
              <a:path w="381000" h="419100">
                <a:moveTo>
                  <a:pt x="0" y="419100"/>
                </a:moveTo>
                <a:lnTo>
                  <a:pt x="190500" y="0"/>
                </a:lnTo>
                <a:lnTo>
                  <a:pt x="381000" y="419100"/>
                </a:lnTo>
                <a:close/>
              </a:path>
            </a:pathLst>
          </a:custGeom>
          <a:solidFill xmlns:a="http://schemas.openxmlformats.org/drawingml/2006/main">
            <a:srgbClr val="535353"/>
          </a:solidFill>
          <a:ln xmlns:a="http://schemas.openxmlformats.org/drawingml/2006/main" w="9525">
            <a:solidFill>
              <a:srgbClr val="202020"/>
            </a:solidFill>
          </a:ln>
        </p:spPr>
      </p:sp>
      <p:sp>
        <p:nvSpPr>
          <p:cNvPr id="47" name="!!image-spacing-wanted-center-tick1">
            <a:extLst xmlns:a="http://schemas.openxmlformats.org/drawingml/2006/main">
              <a:ext uri="{FF2B5EF4-FFF2-40B4-BE49-F238E27FC236}">
                <a16:creationId xmlns:a16="http://schemas.microsoft.com/office/drawing/2014/main" id="{25411B73-C737-48AE-A947-FC901AA7C44A}"/>
              </a:ext>
            </a:extLst>
          </p:cNvPr>
          <p:cNvSpPr>
            <a:spLocks xmlns:a="http://schemas.openxmlformats.org/drawingml/2006/main" noGrp="1"/>
          </p:cNvSpPr>
          <p:nvPr/>
        </p:nvSpPr>
        <p:spPr>
          <a:xfrm xmlns:a="http://schemas.openxmlformats.org/drawingml/2006/main">
            <a:off x="10572750" y="36195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8" name="!!image-spacing-image1">
            <a:extLst xmlns:a="http://schemas.openxmlformats.org/drawingml/2006/main">
              <a:ext uri="{FF2B5EF4-FFF2-40B4-BE49-F238E27FC236}">
                <a16:creationId xmlns:a16="http://schemas.microsoft.com/office/drawing/2014/main" id="{FD061011-A094-4C77-9332-E4419665D647}"/>
              </a:ext>
            </a:extLst>
          </p:cNvPr>
          <p:cNvSpPr>
            <a:spLocks xmlns:a="http://schemas.openxmlformats.org/drawingml/2006/main" noGrp="1"/>
          </p:cNvSpPr>
          <p:nvPr/>
        </p:nvSpPr>
        <p:spPr>
          <a:xfrm xmlns:a="http://schemas.openxmlformats.org/drawingml/2006/main">
            <a:off x="7524750" y="3333750"/>
            <a:ext cx="381000" cy="285750"/>
          </a:xfrm>
          <a:custGeom xmlns:a="http://schemas.openxmlformats.org/drawingml/2006/main">
            <a:pathLst>
              <a:path w="381000" h="285750">
                <a:moveTo>
                  <a:pt x="0" y="285750"/>
                </a:moveTo>
                <a:lnTo>
                  <a:pt x="190500" y="0"/>
                </a:lnTo>
                <a:lnTo>
                  <a:pt x="381000" y="285750"/>
                </a:lnTo>
                <a:close/>
              </a:path>
            </a:pathLst>
          </a:custGeom>
          <a:solidFill xmlns:a="http://schemas.openxmlformats.org/drawingml/2006/main">
            <a:srgbClr val="BBBBBB"/>
          </a:solidFill>
          <a:ln xmlns:a="http://schemas.openxmlformats.org/drawingml/2006/main" w="9525">
            <a:solidFill>
              <a:srgbClr val="202020"/>
            </a:solidFill>
          </a:ln>
        </p:spPr>
      </p:sp>
      <p:sp>
        <p:nvSpPr>
          <p:cNvPr id="49" name="!!image-spacing-image-center-tick1">
            <a:extLst xmlns:a="http://schemas.openxmlformats.org/drawingml/2006/main">
              <a:ext uri="{FF2B5EF4-FFF2-40B4-BE49-F238E27FC236}">
                <a16:creationId xmlns:a16="http://schemas.microsoft.com/office/drawing/2014/main" id="{3B2419D0-34D9-4110-A2E1-F676A35199C4}"/>
              </a:ext>
            </a:extLst>
          </p:cNvPr>
          <p:cNvSpPr>
            <a:spLocks xmlns:a="http://schemas.openxmlformats.org/drawingml/2006/main" noGrp="1"/>
          </p:cNvSpPr>
          <p:nvPr/>
        </p:nvSpPr>
        <p:spPr>
          <a:xfrm xmlns:a="http://schemas.openxmlformats.org/drawingml/2006/main">
            <a:off x="7715250" y="36195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0" name="!!image-spacing-wanted-label1">
            <a:extLst xmlns:a="http://schemas.openxmlformats.org/drawingml/2006/main">
              <a:ext uri="{FF2B5EF4-FFF2-40B4-BE49-F238E27FC236}">
                <a16:creationId xmlns:a16="http://schemas.microsoft.com/office/drawing/2014/main" id="{61A7F887-655B-4520-A570-7254CCB85E68}"/>
              </a:ext>
            </a:extLst>
          </p:cNvPr>
          <p:cNvSpPr>
            <a:spLocks xmlns:a="http://schemas.openxmlformats.org/drawingml/2006/main" noGrp="1"/>
          </p:cNvSpPr>
          <p:nvPr/>
        </p:nvSpPr>
        <p:spPr>
          <a:xfrm xmlns:a="http://schemas.openxmlformats.org/drawingml/2006/main">
            <a:off x="9791700" y="2933700"/>
            <a:ext cx="1562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Wanted: pass</a:t>
            </a:r>
          </a:p>
        </p:txBody>
      </p:sp>
      <p:sp>
        <p:nvSpPr>
          <p:cNvPr id="51" name="!!image-spacing-image-label1">
            <a:extLst xmlns:a="http://schemas.openxmlformats.org/drawingml/2006/main">
              <a:ext uri="{FF2B5EF4-FFF2-40B4-BE49-F238E27FC236}">
                <a16:creationId xmlns:a16="http://schemas.microsoft.com/office/drawing/2014/main" id="{93F4607A-C4FF-4A0F-A959-18C42E2D9CD7}"/>
              </a:ext>
            </a:extLst>
          </p:cNvPr>
          <p:cNvSpPr>
            <a:spLocks xmlns:a="http://schemas.openxmlformats.org/drawingml/2006/main" noGrp="1"/>
          </p:cNvSpPr>
          <p:nvPr/>
        </p:nvSpPr>
        <p:spPr>
          <a:xfrm xmlns:a="http://schemas.openxmlformats.org/drawingml/2006/main">
            <a:off x="6934200" y="3067050"/>
            <a:ext cx="1562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Image: reject</a:t>
            </a:r>
          </a:p>
        </p:txBody>
      </p:sp>
      <p:sp>
        <p:nvSpPr>
          <p:cNvPr id="52" name="!!image-spacing-edge-guide-upper1-44">
            <a:extLst xmlns:a="http://schemas.openxmlformats.org/drawingml/2006/main">
              <a:ext uri="{FF2B5EF4-FFF2-40B4-BE49-F238E27FC236}">
                <a16:creationId xmlns:a16="http://schemas.microsoft.com/office/drawing/2014/main" id="{68C26E90-1565-4165-B546-A9B5031B4A4A}"/>
              </a:ext>
            </a:extLst>
          </p:cNvPr>
          <p:cNvSpPr>
            <a:spLocks xmlns:a="http://schemas.openxmlformats.org/drawingml/2006/main" noGrp="1"/>
          </p:cNvSpPr>
          <p:nvPr/>
        </p:nvSpPr>
        <p:spPr>
          <a:xfrm xmlns:a="http://schemas.openxmlformats.org/drawingml/2006/main">
            <a:off x="7905750" y="3571875"/>
            <a:ext cx="953" cy="466725"/>
          </a:xfrm>
          <a:custGeom xmlns:a="http://schemas.openxmlformats.org/drawingml/2006/main">
            <a:pathLst>
              <a:path w="953" h="466725">
                <a:moveTo>
                  <a:pt x="0" y="0"/>
                </a:moveTo>
                <a:lnTo>
                  <a:pt x="0" y="466725"/>
                </a:lnTo>
              </a:path>
            </a:pathLst>
          </a:custGeom>
          <a:noFill xmlns:a="http://schemas.openxmlformats.org/drawingml/2006/main"/>
          <a:ln xmlns:a="http://schemas.openxmlformats.org/drawingml/2006/main" w="7620">
            <a:solidFill>
              <a:srgbClr val="AAAAAA"/>
            </a:solidFill>
          </a:ln>
        </p:spPr>
      </p:sp>
      <p:sp>
        <p:nvSpPr>
          <p:cNvPr id="53" name="!!image-spacing-edge-guide-lower1-44">
            <a:extLst xmlns:a="http://schemas.openxmlformats.org/drawingml/2006/main">
              <a:ext uri="{FF2B5EF4-FFF2-40B4-BE49-F238E27FC236}">
                <a16:creationId xmlns:a16="http://schemas.microsoft.com/office/drawing/2014/main" id="{926974A9-9FF5-4E04-8CD6-5A7AFEF14CB6}"/>
              </a:ext>
            </a:extLst>
          </p:cNvPr>
          <p:cNvSpPr>
            <a:spLocks xmlns:a="http://schemas.openxmlformats.org/drawingml/2006/main" noGrp="1"/>
          </p:cNvSpPr>
          <p:nvPr/>
        </p:nvSpPr>
        <p:spPr>
          <a:xfrm xmlns:a="http://schemas.openxmlformats.org/drawingml/2006/main">
            <a:off x="7905750" y="4381500"/>
            <a:ext cx="953" cy="323850"/>
          </a:xfrm>
          <a:custGeom xmlns:a="http://schemas.openxmlformats.org/drawingml/2006/main">
            <a:pathLst>
              <a:path w="953" h="323850">
                <a:moveTo>
                  <a:pt x="0" y="0"/>
                </a:moveTo>
                <a:lnTo>
                  <a:pt x="0" y="323850"/>
                </a:lnTo>
              </a:path>
            </a:pathLst>
          </a:custGeom>
          <a:noFill xmlns:a="http://schemas.openxmlformats.org/drawingml/2006/main"/>
          <a:ln xmlns:a="http://schemas.openxmlformats.org/drawingml/2006/main" w="7620">
            <a:solidFill>
              <a:srgbClr val="AAAAAA"/>
            </a:solidFill>
          </a:ln>
        </p:spPr>
      </p:sp>
      <p:sp>
        <p:nvSpPr>
          <p:cNvPr id="54" name="!!image-spacing-edge-guide-upper1-96">
            <a:extLst xmlns:a="http://schemas.openxmlformats.org/drawingml/2006/main">
              <a:ext uri="{FF2B5EF4-FFF2-40B4-BE49-F238E27FC236}">
                <a16:creationId xmlns:a16="http://schemas.microsoft.com/office/drawing/2014/main" id="{4CA0AB09-6594-4687-89F4-00D1C646B1E2}"/>
              </a:ext>
            </a:extLst>
          </p:cNvPr>
          <p:cNvSpPr>
            <a:spLocks xmlns:a="http://schemas.openxmlformats.org/drawingml/2006/main" noGrp="1"/>
          </p:cNvSpPr>
          <p:nvPr/>
        </p:nvSpPr>
        <p:spPr>
          <a:xfrm xmlns:a="http://schemas.openxmlformats.org/drawingml/2006/main">
            <a:off x="10382250" y="3571875"/>
            <a:ext cx="953" cy="466725"/>
          </a:xfrm>
          <a:custGeom xmlns:a="http://schemas.openxmlformats.org/drawingml/2006/main">
            <a:pathLst>
              <a:path w="953" h="466725">
                <a:moveTo>
                  <a:pt x="0" y="0"/>
                </a:moveTo>
                <a:lnTo>
                  <a:pt x="0" y="466725"/>
                </a:lnTo>
              </a:path>
            </a:pathLst>
          </a:custGeom>
          <a:noFill xmlns:a="http://schemas.openxmlformats.org/drawingml/2006/main"/>
          <a:ln xmlns:a="http://schemas.openxmlformats.org/drawingml/2006/main" w="7620">
            <a:solidFill>
              <a:srgbClr val="AAAAAA"/>
            </a:solidFill>
          </a:ln>
        </p:spPr>
      </p:sp>
      <p:sp>
        <p:nvSpPr>
          <p:cNvPr id="55" name="!!image-spacing-edge-guide-lower1-96">
            <a:extLst xmlns:a="http://schemas.openxmlformats.org/drawingml/2006/main">
              <a:ext uri="{FF2B5EF4-FFF2-40B4-BE49-F238E27FC236}">
                <a16:creationId xmlns:a16="http://schemas.microsoft.com/office/drawing/2014/main" id="{0F41FA11-0331-44F5-9ACD-9CE169541A22}"/>
              </a:ext>
            </a:extLst>
          </p:cNvPr>
          <p:cNvSpPr>
            <a:spLocks xmlns:a="http://schemas.openxmlformats.org/drawingml/2006/main" noGrp="1"/>
          </p:cNvSpPr>
          <p:nvPr/>
        </p:nvSpPr>
        <p:spPr>
          <a:xfrm xmlns:a="http://schemas.openxmlformats.org/drawingml/2006/main">
            <a:off x="10382250" y="4381500"/>
            <a:ext cx="953" cy="323850"/>
          </a:xfrm>
          <a:custGeom xmlns:a="http://schemas.openxmlformats.org/drawingml/2006/main">
            <a:pathLst>
              <a:path w="953" h="323850">
                <a:moveTo>
                  <a:pt x="0" y="0"/>
                </a:moveTo>
                <a:lnTo>
                  <a:pt x="0" y="323850"/>
                </a:lnTo>
              </a:path>
            </a:pathLst>
          </a:custGeom>
          <a:noFill xmlns:a="http://schemas.openxmlformats.org/drawingml/2006/main"/>
          <a:ln xmlns:a="http://schemas.openxmlformats.org/drawingml/2006/main" w="7620">
            <a:solidFill>
              <a:srgbClr val="AAAAAA"/>
            </a:solidFill>
          </a:ln>
        </p:spPr>
      </p:sp>
      <p:sp>
        <p:nvSpPr>
          <p:cNvPr id="56" name="!!image-spacing-gap-bracket1">
            <a:extLst xmlns:a="http://schemas.openxmlformats.org/drawingml/2006/main">
              <a:ext uri="{FF2B5EF4-FFF2-40B4-BE49-F238E27FC236}">
                <a16:creationId xmlns:a16="http://schemas.microsoft.com/office/drawing/2014/main" id="{06153A9A-800C-40A7-83CA-3973B766BB66}"/>
              </a:ext>
            </a:extLst>
          </p:cNvPr>
          <p:cNvSpPr>
            <a:spLocks xmlns:a="http://schemas.openxmlformats.org/drawingml/2006/main" noGrp="1"/>
          </p:cNvSpPr>
          <p:nvPr/>
        </p:nvSpPr>
        <p:spPr>
          <a:xfrm xmlns:a="http://schemas.openxmlformats.org/drawingml/2006/main">
            <a:off x="7905750" y="4800600"/>
            <a:ext cx="2476500" cy="47625"/>
          </a:xfrm>
          <a:custGeom xmlns:a="http://schemas.openxmlformats.org/drawingml/2006/main">
            <a:pathLst>
              <a:path w="2476500" h="47625">
                <a:moveTo>
                  <a:pt x="0" y="0"/>
                </a:moveTo>
                <a:lnTo>
                  <a:pt x="0" y="47625"/>
                </a:lnTo>
                <a:lnTo>
                  <a:pt x="2476500" y="47625"/>
                </a:lnTo>
                <a:lnTo>
                  <a:pt x="2476500" y="0"/>
                </a:lnTo>
              </a:path>
            </a:pathLst>
          </a:custGeom>
          <a:noFill xmlns:a="http://schemas.openxmlformats.org/drawingml/2006/main"/>
          <a:ln xmlns:a="http://schemas.openxmlformats.org/drawingml/2006/main" w="11430">
            <a:solidFill>
              <a:srgbClr val="202020"/>
            </a:solidFill>
          </a:ln>
        </p:spPr>
      </p:sp>
      <p:sp>
        <p:nvSpPr>
          <p:cNvPr id="57" name="!!image-spacing-bpf-response1">
            <a:extLst xmlns:a="http://schemas.openxmlformats.org/drawingml/2006/main">
              <a:ext uri="{FF2B5EF4-FFF2-40B4-BE49-F238E27FC236}">
                <a16:creationId xmlns:a16="http://schemas.microsoft.com/office/drawing/2014/main" id="{A126EB59-C686-49B0-B1F6-1AB446D8DC5C}"/>
              </a:ext>
            </a:extLst>
          </p:cNvPr>
          <p:cNvSpPr>
            <a:spLocks xmlns:a="http://schemas.openxmlformats.org/drawingml/2006/main" noGrp="1"/>
          </p:cNvSpPr>
          <p:nvPr/>
        </p:nvSpPr>
        <p:spPr>
          <a:xfrm xmlns:a="http://schemas.openxmlformats.org/drawingml/2006/main">
            <a:off x="7000875" y="4267200"/>
            <a:ext cx="4286250" cy="400050"/>
          </a:xfrm>
          <a:custGeom xmlns:a="http://schemas.openxmlformats.org/drawingml/2006/main">
            <a:pathLst>
              <a:path w="4286250" h="400050">
                <a:moveTo>
                  <a:pt x="0" y="400050"/>
                </a:moveTo>
                <a:lnTo>
                  <a:pt x="904875" y="400050"/>
                </a:lnTo>
                <a:lnTo>
                  <a:pt x="3381375" y="0"/>
                </a:lnTo>
                <a:lnTo>
                  <a:pt x="3762375" y="0"/>
                </a:lnTo>
                <a:lnTo>
                  <a:pt x="4143375" y="400050"/>
                </a:lnTo>
                <a:lnTo>
                  <a:pt x="4286250" y="400050"/>
                </a:lnTo>
              </a:path>
            </a:pathLst>
          </a:custGeom>
          <a:noFill xmlns:a="http://schemas.openxmlformats.org/drawingml/2006/main"/>
          <a:ln xmlns:a="http://schemas.openxmlformats.org/drawingml/2006/main" w="19050">
            <a:solidFill>
              <a:srgbClr val="202020"/>
            </a:solidFill>
          </a:ln>
        </p:spPr>
      </p:sp>
      <p:sp>
        <p:nvSpPr>
          <p:cNvPr id="58" name="!!image-spacing-conclusion">
            <a:extLst xmlns:a="http://schemas.openxmlformats.org/drawingml/2006/main">
              <a:ext uri="{FF2B5EF4-FFF2-40B4-BE49-F238E27FC236}">
                <a16:creationId xmlns:a16="http://schemas.microsoft.com/office/drawing/2014/main" id="{9D132DB9-A0F6-4437-B0A3-42BEC0B004C5}"/>
              </a:ext>
            </a:extLst>
          </p:cNvPr>
          <p:cNvSpPr>
            <a:spLocks xmlns:a="http://schemas.openxmlformats.org/drawingml/2006/main" noGrp="1"/>
          </p:cNvSpPr>
          <p:nvPr/>
        </p:nvSpPr>
        <p:spPr>
          <a:xfrm xmlns:a="http://schemas.openxmlformats.org/drawingml/2006/main">
            <a:off x="666750" y="63722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Higher IF: a less steep input BPF is sufficient.</a:t>
            </a:r>
          </a:p>
        </p:txBody>
      </p:sp>
      <p:pic>
        <p:nvPicPr>
          <p:cNvPr id="146" name="!!image-spacing-route-m" descr="m(t)">
            <ns0:hlinkClick xmlns:ns0="http://schemas.openxmlformats.org/drawingml/2006/main" xmlns:ns1="http://schemas.openxmlformats.org/officeDocument/2006/relationships" ns1:id="rIdmethods_Link7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4c3cc9bd3e44224">
            <a:extLst>
              <a:ext uri="{96DAC541-7B7A-43D3-8B79-37D633B846F1}">
                <ns0:svgBlip xmlns:ns0="http://schemas.microsoft.com/office/drawing/2016/SVG/main" r:embed="rIdVectormf00402"/>
              </a:ext>
            </a:extLst>
          </a:blip>
          <a:stretch xmlns:a="http://schemas.openxmlformats.org/drawingml/2006/main"/>
        </p:blipFill>
        <p:spPr>
          <a:xfrm xmlns:a="http://schemas.openxmlformats.org/drawingml/2006/main">
            <a:off x="2159318" y="1181100"/>
            <a:ext cx="920115" cy="400050"/>
          </a:xfrm>
          <a:prstGeom xmlns:a="http://schemas.openxmlformats.org/drawingml/2006/main" prst="rect">
            <a:avLst/>
          </a:prstGeom>
        </p:spPr>
      </p:pic>
      <p:pic>
        <p:nvPicPr>
          <p:cNvPr id="147" name="!!image-spacing-route-s" descr="s_{RF}(t)">
            <ns0:hlinkClick xmlns:ns0="http://schemas.openxmlformats.org/drawingml/2006/main" xmlns:ns1="http://schemas.openxmlformats.org/officeDocument/2006/relationships" ns1:id="rIdmethods_Link76"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f07558537094488">
            <a:extLst>
              <a:ext uri="{96DAC541-7B7A-43D3-8B79-37D633B846F1}">
                <ns1:svgBlip xmlns:ns1="http://schemas.microsoft.com/office/drawing/2016/SVG/main" r:embed="rIdVectormf00403"/>
              </a:ext>
            </a:extLst>
          </a:blip>
          <a:stretch xmlns:a="http://schemas.openxmlformats.org/drawingml/2006/main"/>
        </p:blipFill>
        <p:spPr>
          <a:xfrm xmlns:a="http://schemas.openxmlformats.org/drawingml/2006/main">
            <a:off x="5479774" y="1181100"/>
            <a:ext cx="1232452" cy="400050"/>
          </a:xfrm>
          <a:prstGeom xmlns:a="http://schemas.openxmlformats.org/drawingml/2006/main" prst="rect">
            <a:avLst/>
          </a:prstGeom>
        </p:spPr>
      </p:pic>
      <p:pic>
        <p:nvPicPr>
          <p:cNvPr id="148" name="!!image-spacing-route-restored" descr="m(t)">
            <ns0:hlinkClick xmlns:ns0="http://schemas.openxmlformats.org/drawingml/2006/main" xmlns:ns1="http://schemas.openxmlformats.org/officeDocument/2006/relationships" ns1:id="rIdmethods_Link7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1311fe616e94fb2">
            <a:extLst>
              <a:ext uri="{96DAC541-7B7A-43D3-8B79-37D633B846F1}">
                <ns2:svgBlip xmlns:ns2="http://schemas.microsoft.com/office/drawing/2016/SVG/main" r:embed="rIdVectormf00404"/>
              </a:ext>
            </a:extLst>
          </a:blip>
          <a:stretch xmlns:a="http://schemas.openxmlformats.org/drawingml/2006/main"/>
        </p:blipFill>
        <p:spPr>
          <a:xfrm xmlns:a="http://schemas.openxmlformats.org/drawingml/2006/main">
            <a:off x="9112568" y="1181100"/>
            <a:ext cx="920115" cy="400050"/>
          </a:xfrm>
          <a:prstGeom xmlns:a="http://schemas.openxmlformats.org/drawingml/2006/main" prst="rect">
            <a:avLst/>
          </a:prstGeom>
        </p:spPr>
      </p:pic>
      <p:pic>
        <p:nvPicPr>
          <p:cNvPr id="149" name="!!image-spacing-chain-input" descr="s_{RF}(t)"/>
          <p:cNvPicPr>
            <a:picLocks xmlns:a="http://schemas.openxmlformats.org/drawingml/2006/main" noChangeAspect="1"/>
          </p:cNvPicPr>
          <p:nvPr/>
        </p:nvPicPr>
        <p:blipFill>
          <a:blip xmlns:r="http://schemas.openxmlformats.org/officeDocument/2006/relationships" xmlns:a="http://schemas.openxmlformats.org/drawingml/2006/main" r:embed="Raab72ed200e14ee2">
            <a:extLst>
              <a:ext uri="{96DAC541-7B7A-43D3-8B79-37D633B846F1}">
                <ns3:svgBlip xmlns:ns3="http://schemas.microsoft.com/office/drawing/2016/SVG/main" r:embed="rIdVectormf00405"/>
              </a:ext>
            </a:extLst>
          </a:blip>
          <a:stretch xmlns:a="http://schemas.openxmlformats.org/drawingml/2006/main"/>
        </p:blipFill>
        <p:spPr>
          <a:xfrm xmlns:a="http://schemas.openxmlformats.org/drawingml/2006/main">
            <a:off x="716851" y="1905000"/>
            <a:ext cx="792291" cy="257175"/>
          </a:xfrm>
          <a:prstGeom xmlns:a="http://schemas.openxmlformats.org/drawingml/2006/main" prst="rect">
            <a:avLst/>
          </a:prstGeom>
        </p:spPr>
      </p:pic>
      <p:pic>
        <p:nvPicPr>
          <p:cNvPr id="150" name="!!image-spacing-bandwidth" descr="W=4\ \mathrm{kHz}"/>
          <p:cNvPicPr>
            <a:picLocks xmlns:a="http://schemas.openxmlformats.org/drawingml/2006/main" noChangeAspect="1"/>
          </p:cNvPicPr>
          <p:nvPr/>
        </p:nvPicPr>
        <p:blipFill>
          <a:blip xmlns:r="http://schemas.openxmlformats.org/officeDocument/2006/relationships" xmlns:a="http://schemas.openxmlformats.org/drawingml/2006/main" r:embed="Rc1805e09e8f94a51">
            <a:extLst>
              <a:ext uri="{96DAC541-7B7A-43D3-8B79-37D633B846F1}">
                <ns4:svgBlip xmlns:ns4="http://schemas.microsoft.com/office/drawing/2016/SVG/main" r:embed="rIdVectormf00406"/>
              </a:ext>
            </a:extLst>
          </a:blip>
          <a:stretch xmlns:a="http://schemas.openxmlformats.org/drawingml/2006/main"/>
        </p:blipFill>
        <p:spPr>
          <a:xfrm xmlns:a="http://schemas.openxmlformats.org/drawingml/2006/main">
            <a:off x="5449253" y="2678192"/>
            <a:ext cx="1303020" cy="158591"/>
          </a:xfrm>
          <a:prstGeom xmlns:a="http://schemas.openxmlformats.org/drawingml/2006/main" prst="rect">
            <a:avLst/>
          </a:prstGeom>
        </p:spPr>
      </p:pic>
      <p:pic>
        <p:nvPicPr>
          <p:cNvPr id="151" name="!!image-spacing-case0" descr="f_{IF}=20\ \mathrm{kHz}"/>
          <p:cNvPicPr>
            <a:picLocks xmlns:a="http://schemas.openxmlformats.org/drawingml/2006/main" noChangeAspect="1"/>
          </p:cNvPicPr>
          <p:nvPr/>
        </p:nvPicPr>
        <p:blipFill>
          <a:blip xmlns:r="http://schemas.openxmlformats.org/officeDocument/2006/relationships" xmlns:a="http://schemas.openxmlformats.org/drawingml/2006/main" r:embed="Rae892cdf20984bca">
            <a:extLst>
              <a:ext uri="{96DAC541-7B7A-43D3-8B79-37D633B846F1}">
                <ns5:svgBlip xmlns:ns5="http://schemas.microsoft.com/office/drawing/2016/SVG/main" r:embed="rIdVectormf00407"/>
              </a:ext>
            </a:extLst>
          </a:blip>
          <a:stretch xmlns:a="http://schemas.openxmlformats.org/drawingml/2006/main"/>
        </p:blipFill>
        <p:spPr>
          <a:xfrm xmlns:a="http://schemas.openxmlformats.org/drawingml/2006/main">
            <a:off x="850717" y="2658428"/>
            <a:ext cx="1502777" cy="198120"/>
          </a:xfrm>
          <a:prstGeom xmlns:a="http://schemas.openxmlformats.org/drawingml/2006/main" prst="rect">
            <a:avLst/>
          </a:prstGeom>
        </p:spPr>
      </p:pic>
      <p:pic>
        <p:nvPicPr>
          <p:cNvPr id="152" name="!!image-spacing-frequency-unit0" descr="f\ (\mathrm{kHz})"/>
          <p:cNvPicPr>
            <a:picLocks xmlns:a="http://schemas.openxmlformats.org/drawingml/2006/main" noChangeAspect="1"/>
          </p:cNvPicPr>
          <p:nvPr/>
        </p:nvPicPr>
        <p:blipFill>
          <a:blip xmlns:r="http://schemas.openxmlformats.org/officeDocument/2006/relationships" xmlns:a="http://schemas.openxmlformats.org/drawingml/2006/main" r:embed="R66c0e76655a946ed">
            <a:extLst>
              <a:ext uri="{96DAC541-7B7A-43D3-8B79-37D633B846F1}">
                <ns6:svgBlip xmlns:ns6="http://schemas.microsoft.com/office/drawing/2016/SVG/main" r:embed="rIdVectormf00408"/>
              </a:ext>
            </a:extLst>
          </a:blip>
          <a:stretch xmlns:a="http://schemas.openxmlformats.org/drawingml/2006/main"/>
        </p:blipFill>
        <p:spPr>
          <a:xfrm xmlns:a="http://schemas.openxmlformats.org/drawingml/2006/main">
            <a:off x="4905375" y="3796784"/>
            <a:ext cx="634365" cy="169307"/>
          </a:xfrm>
          <a:prstGeom xmlns:a="http://schemas.openxmlformats.org/drawingml/2006/main" prst="rect">
            <a:avLst/>
          </a:prstGeom>
        </p:spPr>
      </p:pic>
      <p:pic>
        <p:nvPicPr>
          <p:cNvPr id="153" name="!!image-spacing-response-one0" descr="1"/>
          <p:cNvPicPr>
            <a:picLocks xmlns:a="http://schemas.openxmlformats.org/drawingml/2006/main" noChangeAspect="1"/>
          </p:cNvPicPr>
          <p:nvPr/>
        </p:nvPicPr>
        <p:blipFill>
          <a:blip xmlns:r="http://schemas.openxmlformats.org/officeDocument/2006/relationships" xmlns:a="http://schemas.openxmlformats.org/drawingml/2006/main" r:embed="Ra0ed7636c39242c6">
            <a:extLst>
              <a:ext uri="{96DAC541-7B7A-43D3-8B79-37D633B846F1}">
                <ns7:svgBlip xmlns:ns7="http://schemas.microsoft.com/office/drawing/2016/SVG/main" r:embed="rIdVectormf00409"/>
              </a:ext>
            </a:extLst>
          </a:blip>
          <a:stretch xmlns:a="http://schemas.openxmlformats.org/drawingml/2006/main"/>
        </p:blipFill>
        <p:spPr>
          <a:xfrm xmlns:a="http://schemas.openxmlformats.org/drawingml/2006/main">
            <a:off x="576960" y="4225290"/>
            <a:ext cx="91951" cy="102870"/>
          </a:xfrm>
          <a:prstGeom xmlns:a="http://schemas.openxmlformats.org/drawingml/2006/main" prst="rect">
            <a:avLst/>
          </a:prstGeom>
        </p:spPr>
      </p:pic>
      <p:pic>
        <p:nvPicPr>
          <p:cNvPr id="154" name="!!image-spacing-response-zero0" descr="0"/>
          <p:cNvPicPr>
            <a:picLocks xmlns:a="http://schemas.openxmlformats.org/drawingml/2006/main" noChangeAspect="1"/>
          </p:cNvPicPr>
          <p:nvPr/>
        </p:nvPicPr>
        <p:blipFill>
          <a:blip xmlns:r="http://schemas.openxmlformats.org/officeDocument/2006/relationships" xmlns:a="http://schemas.openxmlformats.org/drawingml/2006/main" r:embed="Rc4c1698fc8f14286">
            <a:extLst>
              <a:ext uri="{96DAC541-7B7A-43D3-8B79-37D633B846F1}">
                <ns8:svgBlip xmlns:ns8="http://schemas.microsoft.com/office/drawing/2016/SVG/main" r:embed="rIdVectormf00410"/>
              </a:ext>
            </a:extLst>
          </a:blip>
          <a:stretch xmlns:a="http://schemas.openxmlformats.org/drawingml/2006/main"/>
        </p:blipFill>
        <p:spPr>
          <a:xfrm xmlns:a="http://schemas.openxmlformats.org/drawingml/2006/main">
            <a:off x="576960" y="4625340"/>
            <a:ext cx="91951" cy="102870"/>
          </a:xfrm>
          <a:prstGeom xmlns:a="http://schemas.openxmlformats.org/drawingml/2006/main" prst="rect">
            <a:avLst/>
          </a:prstGeom>
        </p:spPr>
      </p:pic>
      <p:pic>
        <p:nvPicPr>
          <p:cNvPr id="155" name="!!image-spacing-wanted-center0" descr="100"/>
          <p:cNvPicPr>
            <a:picLocks xmlns:a="http://schemas.openxmlformats.org/drawingml/2006/main" noChangeAspect="1"/>
          </p:cNvPicPr>
          <p:nvPr/>
        </p:nvPicPr>
        <p:blipFill>
          <a:blip xmlns:r="http://schemas.openxmlformats.org/officeDocument/2006/relationships" xmlns:a="http://schemas.openxmlformats.org/drawingml/2006/main" r:embed="Ra70e116515d44f46">
            <a:extLst>
              <a:ext uri="{96DAC541-7B7A-43D3-8B79-37D633B846F1}">
                <ns9:svgBlip xmlns:ns9="http://schemas.microsoft.com/office/drawing/2016/SVG/main" r:embed="rIdVectormf00411"/>
              </a:ext>
            </a:extLst>
          </a:blip>
          <a:stretch xmlns:a="http://schemas.openxmlformats.org/drawingml/2006/main"/>
        </p:blipFill>
        <p:spPr>
          <a:xfrm xmlns:a="http://schemas.openxmlformats.org/drawingml/2006/main">
            <a:off x="4236720" y="3746183"/>
            <a:ext cx="289560" cy="108585"/>
          </a:xfrm>
          <a:prstGeom xmlns:a="http://schemas.openxmlformats.org/drawingml/2006/main" prst="rect">
            <a:avLst/>
          </a:prstGeom>
        </p:spPr>
      </p:pic>
      <p:pic>
        <p:nvPicPr>
          <p:cNvPr id="156" name="!!image-spacing-image-center0" descr="60"/>
          <p:cNvPicPr>
            <a:picLocks xmlns:a="http://schemas.openxmlformats.org/drawingml/2006/main" noChangeAspect="1"/>
          </p:cNvPicPr>
          <p:nvPr/>
        </p:nvPicPr>
        <p:blipFill>
          <a:blip xmlns:r="http://schemas.openxmlformats.org/officeDocument/2006/relationships" xmlns:a="http://schemas.openxmlformats.org/drawingml/2006/main" r:embed="R14fd2f4300b04363">
            <a:extLst>
              <a:ext uri="{96DAC541-7B7A-43D3-8B79-37D633B846F1}">
                <ns10:svgBlip xmlns:ns10="http://schemas.microsoft.com/office/drawing/2016/SVG/main" r:embed="rIdVectormf00412"/>
              </a:ext>
            </a:extLst>
          </a:blip>
          <a:stretch xmlns:a="http://schemas.openxmlformats.org/drawingml/2006/main"/>
        </p:blipFill>
        <p:spPr>
          <a:xfrm xmlns:a="http://schemas.openxmlformats.org/drawingml/2006/main">
            <a:off x="2379441" y="3746183"/>
            <a:ext cx="194118" cy="108585"/>
          </a:xfrm>
          <a:prstGeom xmlns:a="http://schemas.openxmlformats.org/drawingml/2006/main" prst="rect">
            <a:avLst/>
          </a:prstGeom>
        </p:spPr>
      </p:pic>
      <p:pic>
        <p:nvPicPr>
          <p:cNvPr id="157" name="!!image-spacing-image-origin0" descr="\textstyle f_{im}=100-2(20)=60"/>
          <p:cNvPicPr>
            <a:picLocks xmlns:a="http://schemas.openxmlformats.org/drawingml/2006/main" noChangeAspect="1"/>
          </p:cNvPicPr>
          <p:nvPr/>
        </p:nvPicPr>
        <p:blipFill>
          <a:blip xmlns:r="http://schemas.openxmlformats.org/officeDocument/2006/relationships" xmlns:a="http://schemas.openxmlformats.org/drawingml/2006/main" r:embed="R37e072266b774787">
            <a:extLst>
              <a:ext uri="{96DAC541-7B7A-43D3-8B79-37D633B846F1}">
                <ns11:svgBlip xmlns:ns11="http://schemas.microsoft.com/office/drawing/2016/SVG/main" r:embed="rIdVectormf00413"/>
              </a:ext>
            </a:extLst>
          </a:blip>
          <a:stretch xmlns:a="http://schemas.openxmlformats.org/drawingml/2006/main"/>
        </p:blipFill>
        <p:spPr>
          <a:xfrm xmlns:a="http://schemas.openxmlformats.org/drawingml/2006/main">
            <a:off x="666750" y="5268099"/>
            <a:ext cx="2798445" cy="246102"/>
          </a:xfrm>
          <a:prstGeom xmlns:a="http://schemas.openxmlformats.org/drawingml/2006/main" prst="rect">
            <a:avLst/>
          </a:prstGeom>
        </p:spPr>
      </p:pic>
      <p:pic>
        <p:nvPicPr>
          <p:cNvPr id="158" name="!!image-spacing-edge-label0-64" descr="64"/>
          <p:cNvPicPr>
            <a:picLocks xmlns:a="http://schemas.openxmlformats.org/drawingml/2006/main" noChangeAspect="1"/>
          </p:cNvPicPr>
          <p:nvPr/>
        </p:nvPicPr>
        <p:blipFill>
          <a:blip xmlns:r="http://schemas.openxmlformats.org/officeDocument/2006/relationships" xmlns:a="http://schemas.openxmlformats.org/drawingml/2006/main" r:embed="Rd70f8916f646493a">
            <a:extLst>
              <a:ext uri="{96DAC541-7B7A-43D3-8B79-37D633B846F1}">
                <ns12:svgBlip xmlns:ns12="http://schemas.microsoft.com/office/drawing/2016/SVG/main" r:embed="rIdVectormf00414"/>
              </a:ext>
            </a:extLst>
          </a:blip>
          <a:stretch xmlns:a="http://schemas.openxmlformats.org/drawingml/2006/main"/>
        </p:blipFill>
        <p:spPr>
          <a:xfrm xmlns:a="http://schemas.openxmlformats.org/drawingml/2006/main">
            <a:off x="2569941" y="3955733"/>
            <a:ext cx="194118" cy="108585"/>
          </a:xfrm>
          <a:prstGeom xmlns:a="http://schemas.openxmlformats.org/drawingml/2006/main" prst="rect">
            <a:avLst/>
          </a:prstGeom>
        </p:spPr>
      </p:pic>
      <p:pic>
        <p:nvPicPr>
          <p:cNvPr id="159" name="!!image-spacing-edge-label0-96" descr="96"/>
          <p:cNvPicPr>
            <a:picLocks xmlns:a="http://schemas.openxmlformats.org/drawingml/2006/main" noChangeAspect="1"/>
          </p:cNvPicPr>
          <p:nvPr/>
        </p:nvPicPr>
        <p:blipFill>
          <a:blip xmlns:r="http://schemas.openxmlformats.org/officeDocument/2006/relationships" xmlns:a="http://schemas.openxmlformats.org/drawingml/2006/main" r:embed="R78bfe3a44e0b44ee">
            <a:extLst>
              <a:ext uri="{96DAC541-7B7A-43D3-8B79-37D633B846F1}">
                <ns13:svgBlip xmlns:ns13="http://schemas.microsoft.com/office/drawing/2016/SVG/main" r:embed="rIdVectormf00415"/>
              </a:ext>
            </a:extLst>
          </a:blip>
          <a:stretch xmlns:a="http://schemas.openxmlformats.org/drawingml/2006/main"/>
        </p:blipFill>
        <p:spPr>
          <a:xfrm xmlns:a="http://schemas.openxmlformats.org/drawingml/2006/main">
            <a:off x="4093941" y="3955733"/>
            <a:ext cx="194118" cy="108585"/>
          </a:xfrm>
          <a:prstGeom xmlns:a="http://schemas.openxmlformats.org/drawingml/2006/main" prst="rect">
            <a:avLst/>
          </a:prstGeom>
        </p:spPr>
      </p:pic>
      <p:pic>
        <p:nvPicPr>
          <p:cNvPr id="160" name="!!image-spacing-edge-derivation0" descr="\textstyle 100-4=96,\quad60+4=64"/>
          <p:cNvPicPr>
            <a:picLocks xmlns:a="http://schemas.openxmlformats.org/drawingml/2006/main" noChangeAspect="1"/>
          </p:cNvPicPr>
          <p:nvPr/>
        </p:nvPicPr>
        <p:blipFill>
          <a:blip xmlns:r="http://schemas.openxmlformats.org/officeDocument/2006/relationships" xmlns:a="http://schemas.openxmlformats.org/drawingml/2006/main" r:embed="Rc019d9567faa46df">
            <a:extLst>
              <a:ext uri="{96DAC541-7B7A-43D3-8B79-37D633B846F1}">
                <ns14:svgBlip xmlns:ns14="http://schemas.microsoft.com/office/drawing/2016/SVG/main" r:embed="rIdVectormf00416"/>
              </a:ext>
            </a:extLst>
          </a:blip>
          <a:stretch xmlns:a="http://schemas.openxmlformats.org/drawingml/2006/main"/>
        </p:blipFill>
        <p:spPr>
          <a:xfrm xmlns:a="http://schemas.openxmlformats.org/drawingml/2006/main">
            <a:off x="743263" y="5644515"/>
            <a:ext cx="3264544" cy="198120"/>
          </a:xfrm>
          <a:prstGeom xmlns:a="http://schemas.openxmlformats.org/drawingml/2006/main" prst="rect">
            <a:avLst/>
          </a:prstGeom>
        </p:spPr>
      </p:pic>
      <p:pic>
        <p:nvPicPr>
          <p:cNvPr id="161" name="!!image-spacing-gap-value0" descr="\textstyle 32\ \mathrm{kHz}"/>
          <p:cNvPicPr>
            <a:picLocks xmlns:a="http://schemas.openxmlformats.org/drawingml/2006/main" noChangeAspect="1"/>
          </p:cNvPicPr>
          <p:nvPr/>
        </p:nvPicPr>
        <p:blipFill>
          <a:blip xmlns:r="http://schemas.openxmlformats.org/officeDocument/2006/relationships" xmlns:a="http://schemas.openxmlformats.org/drawingml/2006/main" r:embed="Rcb2903d016c84ad5">
            <a:extLst>
              <a:ext uri="{96DAC541-7B7A-43D3-8B79-37D633B846F1}">
                <ns15:svgBlip xmlns:ns15="http://schemas.microsoft.com/office/drawing/2016/SVG/main" r:embed="rIdVectormf00417"/>
              </a:ext>
            </a:extLst>
          </a:blip>
          <a:stretch xmlns:a="http://schemas.openxmlformats.org/drawingml/2006/main"/>
        </p:blipFill>
        <p:spPr>
          <a:xfrm xmlns:a="http://schemas.openxmlformats.org/drawingml/2006/main">
            <a:off x="2995613" y="4982170"/>
            <a:ext cx="866775" cy="170259"/>
          </a:xfrm>
          <a:prstGeom xmlns:a="http://schemas.openxmlformats.org/drawingml/2006/main" prst="rect">
            <a:avLst/>
          </a:prstGeom>
        </p:spPr>
      </p:pic>
      <p:pic>
        <p:nvPicPr>
          <p:cNvPr id="162" name="!!image-spacing-gap-derivation0" descr="\textstyle 96-64=32\ \mathrm{kHz}"/>
          <p:cNvPicPr>
            <a:picLocks xmlns:a="http://schemas.openxmlformats.org/drawingml/2006/main" noChangeAspect="1"/>
          </p:cNvPicPr>
          <p:nvPr/>
        </p:nvPicPr>
        <p:blipFill>
          <a:blip xmlns:r="http://schemas.openxmlformats.org/officeDocument/2006/relationships" xmlns:a="http://schemas.openxmlformats.org/drawingml/2006/main" r:embed="R8605a9a411f04540">
            <a:extLst>
              <a:ext uri="{96DAC541-7B7A-43D3-8B79-37D633B846F1}">
                <ns16:svgBlip xmlns:ns16="http://schemas.microsoft.com/office/drawing/2016/SVG/main" r:embed="rIdVectormf00418"/>
              </a:ext>
            </a:extLst>
          </a:blip>
          <a:stretch xmlns:a="http://schemas.openxmlformats.org/drawingml/2006/main"/>
        </p:blipFill>
        <p:spPr>
          <a:xfrm xmlns:a="http://schemas.openxmlformats.org/drawingml/2006/main">
            <a:off x="707715" y="5996940"/>
            <a:ext cx="2097391" cy="198120"/>
          </a:xfrm>
          <a:prstGeom xmlns:a="http://schemas.openxmlformats.org/drawingml/2006/main" prst="rect">
            <a:avLst/>
          </a:prstGeom>
        </p:spPr>
      </p:pic>
      <p:pic>
        <p:nvPicPr>
          <p:cNvPr id="163" name="!!image-spacing-case1" descr="f_{IF}=30\ \mathrm{kHz}"/>
          <p:cNvPicPr>
            <a:picLocks xmlns:a="http://schemas.openxmlformats.org/drawingml/2006/main" noChangeAspect="1"/>
          </p:cNvPicPr>
          <p:nvPr/>
        </p:nvPicPr>
        <p:blipFill>
          <a:blip xmlns:r="http://schemas.openxmlformats.org/officeDocument/2006/relationships" xmlns:a="http://schemas.openxmlformats.org/drawingml/2006/main" r:embed="R09326f203dbb48f6">
            <a:extLst>
              <a:ext uri="{96DAC541-7B7A-43D3-8B79-37D633B846F1}">
                <ns17:svgBlip xmlns:ns17="http://schemas.microsoft.com/office/drawing/2016/SVG/main" r:embed="rIdVectormf00419"/>
              </a:ext>
            </a:extLst>
          </a:blip>
          <a:stretch xmlns:a="http://schemas.openxmlformats.org/drawingml/2006/main"/>
        </p:blipFill>
        <p:spPr>
          <a:xfrm xmlns:a="http://schemas.openxmlformats.org/drawingml/2006/main">
            <a:off x="7041967" y="2658428"/>
            <a:ext cx="1502777" cy="198120"/>
          </a:xfrm>
          <a:prstGeom xmlns:a="http://schemas.openxmlformats.org/drawingml/2006/main" prst="rect">
            <a:avLst/>
          </a:prstGeom>
        </p:spPr>
      </p:pic>
      <p:pic>
        <p:nvPicPr>
          <p:cNvPr id="164" name="!!image-spacing-frequency-unit1" descr="f\ (\mathrm{kHz})"/>
          <p:cNvPicPr>
            <a:picLocks xmlns:a="http://schemas.openxmlformats.org/drawingml/2006/main" noChangeAspect="1"/>
          </p:cNvPicPr>
          <p:nvPr/>
        </p:nvPicPr>
        <p:blipFill>
          <a:blip xmlns:r="http://schemas.openxmlformats.org/officeDocument/2006/relationships" xmlns:a="http://schemas.openxmlformats.org/drawingml/2006/main" r:embed="Rb464d5849b6647cb">
            <a:extLst>
              <a:ext uri="{96DAC541-7B7A-43D3-8B79-37D633B846F1}">
                <ns18:svgBlip xmlns:ns18="http://schemas.microsoft.com/office/drawing/2016/SVG/main" r:embed="rIdVectormf00420"/>
              </a:ext>
            </a:extLst>
          </a:blip>
          <a:stretch xmlns:a="http://schemas.openxmlformats.org/drawingml/2006/main"/>
        </p:blipFill>
        <p:spPr>
          <a:xfrm xmlns:a="http://schemas.openxmlformats.org/drawingml/2006/main">
            <a:off x="11096625" y="3796784"/>
            <a:ext cx="634365" cy="169307"/>
          </a:xfrm>
          <a:prstGeom xmlns:a="http://schemas.openxmlformats.org/drawingml/2006/main" prst="rect">
            <a:avLst/>
          </a:prstGeom>
        </p:spPr>
      </p:pic>
      <p:pic>
        <p:nvPicPr>
          <p:cNvPr id="165" name="!!image-spacing-response-one1" descr="1"/>
          <p:cNvPicPr>
            <a:picLocks xmlns:a="http://schemas.openxmlformats.org/drawingml/2006/main" noChangeAspect="1"/>
          </p:cNvPicPr>
          <p:nvPr/>
        </p:nvPicPr>
        <p:blipFill>
          <a:blip xmlns:r="http://schemas.openxmlformats.org/officeDocument/2006/relationships" xmlns:a="http://schemas.openxmlformats.org/drawingml/2006/main" r:embed="R7cc9af0e88814754">
            <a:extLst>
              <a:ext uri="{96DAC541-7B7A-43D3-8B79-37D633B846F1}">
                <ns19:svgBlip xmlns:ns19="http://schemas.microsoft.com/office/drawing/2016/SVG/main" r:embed="rIdVectormf00421"/>
              </a:ext>
            </a:extLst>
          </a:blip>
          <a:stretch xmlns:a="http://schemas.openxmlformats.org/drawingml/2006/main"/>
        </p:blipFill>
        <p:spPr>
          <a:xfrm xmlns:a="http://schemas.openxmlformats.org/drawingml/2006/main">
            <a:off x="6768210" y="4225290"/>
            <a:ext cx="91951" cy="102870"/>
          </a:xfrm>
          <a:prstGeom xmlns:a="http://schemas.openxmlformats.org/drawingml/2006/main" prst="rect">
            <a:avLst/>
          </a:prstGeom>
        </p:spPr>
      </p:pic>
      <p:pic>
        <p:nvPicPr>
          <p:cNvPr id="166" name="!!image-spacing-response-zero1" descr="0"/>
          <p:cNvPicPr>
            <a:picLocks xmlns:a="http://schemas.openxmlformats.org/drawingml/2006/main" noChangeAspect="1"/>
          </p:cNvPicPr>
          <p:nvPr/>
        </p:nvPicPr>
        <p:blipFill>
          <a:blip xmlns:r="http://schemas.openxmlformats.org/officeDocument/2006/relationships" xmlns:a="http://schemas.openxmlformats.org/drawingml/2006/main" r:embed="R2952c24090c14b4a">
            <a:extLst>
              <a:ext uri="{96DAC541-7B7A-43D3-8B79-37D633B846F1}">
                <ns20:svgBlip xmlns:ns20="http://schemas.microsoft.com/office/drawing/2016/SVG/main" r:embed="rIdVectormf00422"/>
              </a:ext>
            </a:extLst>
          </a:blip>
          <a:stretch xmlns:a="http://schemas.openxmlformats.org/drawingml/2006/main"/>
        </p:blipFill>
        <p:spPr>
          <a:xfrm xmlns:a="http://schemas.openxmlformats.org/drawingml/2006/main">
            <a:off x="6768210" y="4625340"/>
            <a:ext cx="91951" cy="102870"/>
          </a:xfrm>
          <a:prstGeom xmlns:a="http://schemas.openxmlformats.org/drawingml/2006/main" prst="rect">
            <a:avLst/>
          </a:prstGeom>
        </p:spPr>
      </p:pic>
      <p:pic>
        <p:nvPicPr>
          <p:cNvPr id="167" name="!!image-spacing-wanted-center1" descr="100"/>
          <p:cNvPicPr>
            <a:picLocks xmlns:a="http://schemas.openxmlformats.org/drawingml/2006/main" noChangeAspect="1"/>
          </p:cNvPicPr>
          <p:nvPr/>
        </p:nvPicPr>
        <p:blipFill>
          <a:blip xmlns:r="http://schemas.openxmlformats.org/officeDocument/2006/relationships" xmlns:a="http://schemas.openxmlformats.org/drawingml/2006/main" r:embed="R8fd54b3d018940f6">
            <a:extLst>
              <a:ext uri="{96DAC541-7B7A-43D3-8B79-37D633B846F1}">
                <ns21:svgBlip xmlns:ns21="http://schemas.microsoft.com/office/drawing/2016/SVG/main" r:embed="rIdVectormf00423"/>
              </a:ext>
            </a:extLst>
          </a:blip>
          <a:stretch xmlns:a="http://schemas.openxmlformats.org/drawingml/2006/main"/>
        </p:blipFill>
        <p:spPr>
          <a:xfrm xmlns:a="http://schemas.openxmlformats.org/drawingml/2006/main">
            <a:off x="10427970" y="3746183"/>
            <a:ext cx="289560" cy="108585"/>
          </a:xfrm>
          <a:prstGeom xmlns:a="http://schemas.openxmlformats.org/drawingml/2006/main" prst="rect">
            <a:avLst/>
          </a:prstGeom>
        </p:spPr>
      </p:pic>
      <p:pic>
        <p:nvPicPr>
          <p:cNvPr id="168" name="!!image-spacing-image-center1" descr="40"/>
          <p:cNvPicPr>
            <a:picLocks xmlns:a="http://schemas.openxmlformats.org/drawingml/2006/main" noChangeAspect="1"/>
          </p:cNvPicPr>
          <p:nvPr/>
        </p:nvPicPr>
        <p:blipFill>
          <a:blip xmlns:r="http://schemas.openxmlformats.org/officeDocument/2006/relationships" xmlns:a="http://schemas.openxmlformats.org/drawingml/2006/main" r:embed="R2e9ecc123b1348b4">
            <a:extLst>
              <a:ext uri="{96DAC541-7B7A-43D3-8B79-37D633B846F1}">
                <ns22:svgBlip xmlns:ns22="http://schemas.microsoft.com/office/drawing/2016/SVG/main" r:embed="rIdVectormf00424"/>
              </a:ext>
            </a:extLst>
          </a:blip>
          <a:stretch xmlns:a="http://schemas.openxmlformats.org/drawingml/2006/main"/>
        </p:blipFill>
        <p:spPr>
          <a:xfrm xmlns:a="http://schemas.openxmlformats.org/drawingml/2006/main">
            <a:off x="7618191" y="3746183"/>
            <a:ext cx="194118" cy="108585"/>
          </a:xfrm>
          <a:prstGeom xmlns:a="http://schemas.openxmlformats.org/drawingml/2006/main" prst="rect">
            <a:avLst/>
          </a:prstGeom>
        </p:spPr>
      </p:pic>
      <p:pic>
        <p:nvPicPr>
          <p:cNvPr id="169" name="!!image-spacing-image-origin1" descr="\textstyle f_{im}=100-2(30)=40"/>
          <p:cNvPicPr>
            <a:picLocks xmlns:a="http://schemas.openxmlformats.org/drawingml/2006/main" noChangeAspect="1"/>
          </p:cNvPicPr>
          <p:nvPr/>
        </p:nvPicPr>
        <p:blipFill>
          <a:blip xmlns:r="http://schemas.openxmlformats.org/officeDocument/2006/relationships" xmlns:a="http://schemas.openxmlformats.org/drawingml/2006/main" r:embed="R41d9f528d4b1417c">
            <a:extLst>
              <a:ext uri="{96DAC541-7B7A-43D3-8B79-37D633B846F1}">
                <ns23:svgBlip xmlns:ns23="http://schemas.microsoft.com/office/drawing/2016/SVG/main" r:embed="rIdVectormf00425"/>
              </a:ext>
            </a:extLst>
          </a:blip>
          <a:stretch xmlns:a="http://schemas.openxmlformats.org/drawingml/2006/main"/>
        </p:blipFill>
        <p:spPr>
          <a:xfrm xmlns:a="http://schemas.openxmlformats.org/drawingml/2006/main">
            <a:off x="6858000" y="5268099"/>
            <a:ext cx="2798445" cy="246102"/>
          </a:xfrm>
          <a:prstGeom xmlns:a="http://schemas.openxmlformats.org/drawingml/2006/main" prst="rect">
            <a:avLst/>
          </a:prstGeom>
        </p:spPr>
      </p:pic>
      <p:pic>
        <p:nvPicPr>
          <p:cNvPr id="170" name="!!image-spacing-edge-label1-44" descr="44"/>
          <p:cNvPicPr>
            <a:picLocks xmlns:a="http://schemas.openxmlformats.org/drawingml/2006/main" noChangeAspect="1"/>
          </p:cNvPicPr>
          <p:nvPr/>
        </p:nvPicPr>
        <p:blipFill>
          <a:blip xmlns:r="http://schemas.openxmlformats.org/officeDocument/2006/relationships" xmlns:a="http://schemas.openxmlformats.org/drawingml/2006/main" r:embed="R3c128104d69d4448">
            <a:extLst>
              <a:ext uri="{96DAC541-7B7A-43D3-8B79-37D633B846F1}">
                <ns24:svgBlip xmlns:ns24="http://schemas.microsoft.com/office/drawing/2016/SVG/main" r:embed="rIdVectormf00426"/>
              </a:ext>
            </a:extLst>
          </a:blip>
          <a:stretch xmlns:a="http://schemas.openxmlformats.org/drawingml/2006/main"/>
        </p:blipFill>
        <p:spPr>
          <a:xfrm xmlns:a="http://schemas.openxmlformats.org/drawingml/2006/main">
            <a:off x="7808691" y="3955733"/>
            <a:ext cx="194118" cy="108585"/>
          </a:xfrm>
          <a:prstGeom xmlns:a="http://schemas.openxmlformats.org/drawingml/2006/main" prst="rect">
            <a:avLst/>
          </a:prstGeom>
        </p:spPr>
      </p:pic>
      <p:pic>
        <p:nvPicPr>
          <p:cNvPr id="171" name="!!image-spacing-edge-label1-96" descr="96"/>
          <p:cNvPicPr>
            <a:picLocks xmlns:a="http://schemas.openxmlformats.org/drawingml/2006/main" noChangeAspect="1"/>
          </p:cNvPicPr>
          <p:nvPr/>
        </p:nvPicPr>
        <p:blipFill>
          <a:blip xmlns:r="http://schemas.openxmlformats.org/officeDocument/2006/relationships" xmlns:a="http://schemas.openxmlformats.org/drawingml/2006/main" r:embed="Rae5a5782bf3247f1">
            <a:extLst>
              <a:ext uri="{96DAC541-7B7A-43D3-8B79-37D633B846F1}">
                <ns25:svgBlip xmlns:ns25="http://schemas.microsoft.com/office/drawing/2016/SVG/main" r:embed="rIdVectormf00427"/>
              </a:ext>
            </a:extLst>
          </a:blip>
          <a:stretch xmlns:a="http://schemas.openxmlformats.org/drawingml/2006/main"/>
        </p:blipFill>
        <p:spPr>
          <a:xfrm xmlns:a="http://schemas.openxmlformats.org/drawingml/2006/main">
            <a:off x="10285191" y="3955733"/>
            <a:ext cx="194118" cy="108585"/>
          </a:xfrm>
          <a:prstGeom xmlns:a="http://schemas.openxmlformats.org/drawingml/2006/main" prst="rect">
            <a:avLst/>
          </a:prstGeom>
        </p:spPr>
      </p:pic>
      <p:pic>
        <p:nvPicPr>
          <p:cNvPr id="172" name="!!image-spacing-edge-derivation1" descr="\textstyle 100-4=96,\quad40+4=44"/>
          <p:cNvPicPr>
            <a:picLocks xmlns:a="http://schemas.openxmlformats.org/drawingml/2006/main" noChangeAspect="1"/>
          </p:cNvPicPr>
          <p:nvPr/>
        </p:nvPicPr>
        <p:blipFill>
          <a:blip xmlns:r="http://schemas.openxmlformats.org/officeDocument/2006/relationships" xmlns:a="http://schemas.openxmlformats.org/drawingml/2006/main" r:embed="R42d08c716c254324">
            <a:extLst>
              <a:ext uri="{96DAC541-7B7A-43D3-8B79-37D633B846F1}">
                <ns26:svgBlip xmlns:ns26="http://schemas.microsoft.com/office/drawing/2016/SVG/main" r:embed="rIdVectormf00428"/>
              </a:ext>
            </a:extLst>
          </a:blip>
          <a:stretch xmlns:a="http://schemas.openxmlformats.org/drawingml/2006/main"/>
        </p:blipFill>
        <p:spPr>
          <a:xfrm xmlns:a="http://schemas.openxmlformats.org/drawingml/2006/main">
            <a:off x="6934513" y="5644515"/>
            <a:ext cx="3264544" cy="198120"/>
          </a:xfrm>
          <a:prstGeom xmlns:a="http://schemas.openxmlformats.org/drawingml/2006/main" prst="rect">
            <a:avLst/>
          </a:prstGeom>
        </p:spPr>
      </p:pic>
      <p:pic>
        <p:nvPicPr>
          <p:cNvPr id="173" name="!!image-spacing-gap-value1" descr="\textstyle 52\ \mathrm{kHz}"/>
          <p:cNvPicPr>
            <a:picLocks xmlns:a="http://schemas.openxmlformats.org/drawingml/2006/main" noChangeAspect="1"/>
          </p:cNvPicPr>
          <p:nvPr/>
        </p:nvPicPr>
        <p:blipFill>
          <a:blip xmlns:r="http://schemas.openxmlformats.org/officeDocument/2006/relationships" xmlns:a="http://schemas.openxmlformats.org/drawingml/2006/main" r:embed="Rf516e25daff34337">
            <a:extLst>
              <a:ext uri="{96DAC541-7B7A-43D3-8B79-37D633B846F1}">
                <ns27:svgBlip xmlns:ns27="http://schemas.microsoft.com/office/drawing/2016/SVG/main" r:embed="rIdVectormf00429"/>
              </a:ext>
            </a:extLst>
          </a:blip>
          <a:stretch xmlns:a="http://schemas.openxmlformats.org/drawingml/2006/main"/>
        </p:blipFill>
        <p:spPr>
          <a:xfrm xmlns:a="http://schemas.openxmlformats.org/drawingml/2006/main">
            <a:off x="8710613" y="4982170"/>
            <a:ext cx="866775" cy="170259"/>
          </a:xfrm>
          <a:prstGeom xmlns:a="http://schemas.openxmlformats.org/drawingml/2006/main" prst="rect">
            <a:avLst/>
          </a:prstGeom>
        </p:spPr>
      </p:pic>
      <p:pic>
        <p:nvPicPr>
          <p:cNvPr id="174" name="!!image-spacing-gap-derivation1" descr="\textstyle 96-44=52\ \mathrm{kHz}"/>
          <p:cNvPicPr>
            <a:picLocks xmlns:a="http://schemas.openxmlformats.org/drawingml/2006/main" noChangeAspect="1"/>
          </p:cNvPicPr>
          <p:nvPr/>
        </p:nvPicPr>
        <p:blipFill>
          <a:blip xmlns:r="http://schemas.openxmlformats.org/officeDocument/2006/relationships" xmlns:a="http://schemas.openxmlformats.org/drawingml/2006/main" r:embed="R1075c90d99f74510">
            <a:extLst>
              <a:ext uri="{96DAC541-7B7A-43D3-8B79-37D633B846F1}">
                <ns28:svgBlip xmlns:ns28="http://schemas.microsoft.com/office/drawing/2016/SVG/main" r:embed="rIdVectormf00430"/>
              </a:ext>
            </a:extLst>
          </a:blip>
          <a:stretch xmlns:a="http://schemas.openxmlformats.org/drawingml/2006/main"/>
        </p:blipFill>
        <p:spPr>
          <a:xfrm xmlns:a="http://schemas.openxmlformats.org/drawingml/2006/main">
            <a:off x="6898965" y="5996940"/>
            <a:ext cx="2097391" cy="198120"/>
          </a:xfrm>
          <a:prstGeom xmlns:a="http://schemas.openxmlformats.org/drawingml/2006/main" prst="rect">
            <a:avLst/>
          </a:prstGeom>
        </p:spPr>
      </p:pic>
    </p:spTree>
    <p:extLst>
      <p:ext uri="{BB962C8B-B14F-4D97-AF65-F5344CB8AC3E}">
        <p14:creationId xmlns:p14="http://schemas.microsoft.com/office/powerpoint/2010/main" val="205348840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4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155"/>
                                        </p:tgtEl>
                                        <p:attrNameLst>
                                          <p:attrName>style.visibility</p:attrName>
                                        </p:attrNameLst>
                                      </p:cBhvr>
                                      <p:to>
                                        <p:strVal val="visible"/>
                                      </p:to>
                                    </p:set>
                                    <p:animEffect transition="in" filter="fade">
                                      <p:cBhvr>
                                        <p:cTn id="13" dur="400"/>
                                        <p:tgtEl>
                                          <p:spTgt spid="155"/>
                                        </p:tgtEl>
                                      </p:cBhvr>
                                    </p:animEffect>
                                  </p:childTnLst>
                                </p:cTn>
                              </p:par>
                              <p:par>
                                <p:cTn id="14" presetID="10" presetClass="entr" presetSubtype="0"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400"/>
                                        <p:tgtEl>
                                          <p:spTgt spid="30"/>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156"/>
                                        </p:tgtEl>
                                        <p:attrNameLst>
                                          <p:attrName>style.visibility</p:attrName>
                                        </p:attrNameLst>
                                      </p:cBhvr>
                                      <p:to>
                                        <p:strVal val="visible"/>
                                      </p:to>
                                    </p:set>
                                    <p:animEffect transition="in" filter="fade">
                                      <p:cBhvr>
                                        <p:cTn id="22" dur="400"/>
                                        <p:tgtEl>
                                          <p:spTgt spid="156"/>
                                        </p:tgtEl>
                                      </p:cBhvr>
                                    </p:animEffect>
                                  </p:childTnLst>
                                </p:cTn>
                              </p:par>
                              <p:par>
                                <p:cTn id="23" presetID="10"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400"/>
                                        <p:tgtEl>
                                          <p:spTgt spid="32"/>
                                        </p:tgtEl>
                                      </p:cBhvr>
                                    </p:animEffect>
                                  </p:childTnLst>
                                </p:cTn>
                              </p:par>
                              <p:par>
                                <p:cTn id="26" presetID="10" presetClass="entr" presetSubtype="0" fill="hold"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400"/>
                                        <p:tgtEl>
                                          <p:spTgt spid="33"/>
                                        </p:tgtEl>
                                      </p:cBhvr>
                                    </p:animEffect>
                                  </p:childTnLst>
                                </p:cTn>
                              </p:par>
                              <p:par>
                                <p:cTn id="29" presetID="10" presetClass="entr" presetSubtype="0" fill="hold" nodeType="withEffect">
                                  <p:stCondLst>
                                    <p:cond delay="0"/>
                                  </p:stCondLst>
                                  <p:childTnLst>
                                    <p:set>
                                      <p:cBhvr>
                                        <p:cTn id="30" dur="1" fill="hold">
                                          <p:stCondLst>
                                            <p:cond delay="0"/>
                                          </p:stCondLst>
                                        </p:cTn>
                                        <p:tgtEl>
                                          <p:spTgt spid="157"/>
                                        </p:tgtEl>
                                        <p:attrNameLst>
                                          <p:attrName>style.visibility</p:attrName>
                                        </p:attrNameLst>
                                      </p:cBhvr>
                                      <p:to>
                                        <p:strVal val="visible"/>
                                      </p:to>
                                    </p:set>
                                    <p:animEffect transition="in" filter="fade">
                                      <p:cBhvr>
                                        <p:cTn id="31" dur="400"/>
                                        <p:tgtEl>
                                          <p:spTgt spid="157"/>
                                        </p:tgtEl>
                                      </p:cBhvr>
                                    </p:animEffect>
                                  </p:childTnLst>
                                </p:cTn>
                              </p:par>
                              <p:par>
                                <p:cTn id="32" presetID="10" presetClass="entr" presetSubtype="0" fill="hold"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400"/>
                                        <p:tgtEl>
                                          <p:spTgt spid="46"/>
                                        </p:tgtEl>
                                      </p:cBhvr>
                                    </p:animEffect>
                                  </p:childTnLst>
                                </p:cTn>
                              </p:par>
                              <p:par>
                                <p:cTn id="35" presetID="10"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00"/>
                                        <p:tgtEl>
                                          <p:spTgt spid="47"/>
                                        </p:tgtEl>
                                      </p:cBhvr>
                                    </p:animEffect>
                                  </p:childTnLst>
                                </p:cTn>
                              </p:par>
                              <p:par>
                                <p:cTn id="38" presetID="10" presetClass="entr" presetSubtype="0" fill="hold" nodeType="withEffect">
                                  <p:stCondLst>
                                    <p:cond delay="0"/>
                                  </p:stCondLst>
                                  <p:childTnLst>
                                    <p:set>
                                      <p:cBhvr>
                                        <p:cTn id="39" dur="1" fill="hold">
                                          <p:stCondLst>
                                            <p:cond delay="0"/>
                                          </p:stCondLst>
                                        </p:cTn>
                                        <p:tgtEl>
                                          <p:spTgt spid="167"/>
                                        </p:tgtEl>
                                        <p:attrNameLst>
                                          <p:attrName>style.visibility</p:attrName>
                                        </p:attrNameLst>
                                      </p:cBhvr>
                                      <p:to>
                                        <p:strVal val="visible"/>
                                      </p:to>
                                    </p:set>
                                    <p:animEffect transition="in" filter="fade">
                                      <p:cBhvr>
                                        <p:cTn id="40" dur="400"/>
                                        <p:tgtEl>
                                          <p:spTgt spid="167"/>
                                        </p:tgtEl>
                                      </p:cBhvr>
                                    </p:animEffect>
                                  </p:childTnLst>
                                </p:cTn>
                              </p:par>
                              <p:par>
                                <p:cTn id="41" presetID="10" presetClass="entr" presetSubtype="0" fill="hold"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fade">
                                      <p:cBhvr>
                                        <p:cTn id="43" dur="400"/>
                                        <p:tgtEl>
                                          <p:spTgt spid="48"/>
                                        </p:tgtEl>
                                      </p:cBhvr>
                                    </p:animEffect>
                                  </p:childTnLst>
                                </p:cTn>
                              </p:par>
                              <p:par>
                                <p:cTn id="44" presetID="10" presetClass="entr" presetSubtype="0" fill="hold" nodeType="withEffect">
                                  <p:stCondLst>
                                    <p:cond delay="0"/>
                                  </p:stCondLst>
                                  <p:childTnLst>
                                    <p:set>
                                      <p:cBhvr>
                                        <p:cTn id="45" dur="1" fill="hold">
                                          <p:stCondLst>
                                            <p:cond delay="0"/>
                                          </p:stCondLst>
                                        </p:cTn>
                                        <p:tgtEl>
                                          <p:spTgt spid="49"/>
                                        </p:tgtEl>
                                        <p:attrNameLst>
                                          <p:attrName>style.visibility</p:attrName>
                                        </p:attrNameLst>
                                      </p:cBhvr>
                                      <p:to>
                                        <p:strVal val="visible"/>
                                      </p:to>
                                    </p:set>
                                    <p:animEffect transition="in" filter="fade">
                                      <p:cBhvr>
                                        <p:cTn id="46" dur="400"/>
                                        <p:tgtEl>
                                          <p:spTgt spid="49"/>
                                        </p:tgtEl>
                                      </p:cBhvr>
                                    </p:animEffect>
                                  </p:childTnLst>
                                </p:cTn>
                              </p:par>
                              <p:par>
                                <p:cTn id="47" presetID="10" presetClass="entr" presetSubtype="0" fill="hold" nodeType="withEffect">
                                  <p:stCondLst>
                                    <p:cond delay="0"/>
                                  </p:stCondLst>
                                  <p:childTnLst>
                                    <p:set>
                                      <p:cBhvr>
                                        <p:cTn id="48" dur="1" fill="hold">
                                          <p:stCondLst>
                                            <p:cond delay="0"/>
                                          </p:stCondLst>
                                        </p:cTn>
                                        <p:tgtEl>
                                          <p:spTgt spid="168"/>
                                        </p:tgtEl>
                                        <p:attrNameLst>
                                          <p:attrName>style.visibility</p:attrName>
                                        </p:attrNameLst>
                                      </p:cBhvr>
                                      <p:to>
                                        <p:strVal val="visible"/>
                                      </p:to>
                                    </p:set>
                                    <p:animEffect transition="in" filter="fade">
                                      <p:cBhvr>
                                        <p:cTn id="49" dur="400"/>
                                        <p:tgtEl>
                                          <p:spTgt spid="168"/>
                                        </p:tgtEl>
                                      </p:cBhvr>
                                    </p:animEffect>
                                  </p:childTnLst>
                                </p:cTn>
                              </p:par>
                              <p:par>
                                <p:cTn id="50" presetID="10" presetClass="entr" presetSubtype="0" fill="hold"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400"/>
                                        <p:tgtEl>
                                          <p:spTgt spid="50"/>
                                        </p:tgtEl>
                                      </p:cBhvr>
                                    </p:animEffect>
                                  </p:childTnLst>
                                </p:cTn>
                              </p:par>
                              <p:par>
                                <p:cTn id="53" presetID="10" presetClass="entr" presetSubtype="0" fill="hold" nodeType="with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fade">
                                      <p:cBhvr>
                                        <p:cTn id="55" dur="400"/>
                                        <p:tgtEl>
                                          <p:spTgt spid="51"/>
                                        </p:tgtEl>
                                      </p:cBhvr>
                                    </p:animEffect>
                                  </p:childTnLst>
                                </p:cTn>
                              </p:par>
                              <p:par>
                                <p:cTn id="56" presetID="10" presetClass="entr" presetSubtype="0" fill="hold" nodeType="withEffect">
                                  <p:stCondLst>
                                    <p:cond delay="0"/>
                                  </p:stCondLst>
                                  <p:childTnLst>
                                    <p:set>
                                      <p:cBhvr>
                                        <p:cTn id="57" dur="1" fill="hold">
                                          <p:stCondLst>
                                            <p:cond delay="0"/>
                                          </p:stCondLst>
                                        </p:cTn>
                                        <p:tgtEl>
                                          <p:spTgt spid="169"/>
                                        </p:tgtEl>
                                        <p:attrNameLst>
                                          <p:attrName>style.visibility</p:attrName>
                                        </p:attrNameLst>
                                      </p:cBhvr>
                                      <p:to>
                                        <p:strVal val="visible"/>
                                      </p:to>
                                    </p:set>
                                    <p:animEffect transition="in" filter="fade">
                                      <p:cBhvr>
                                        <p:cTn id="58" dur="400"/>
                                        <p:tgtEl>
                                          <p:spTgt spid="16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400"/>
                                        <p:tgtEl>
                                          <p:spTgt spid="34"/>
                                        </p:tgtEl>
                                      </p:cBhvr>
                                    </p:animEffect>
                                  </p:childTnLst>
                                </p:cTn>
                              </p:par>
                              <p:par>
                                <p:cTn id="64" presetID="10" presetClass="entr" presetSubtype="0" fill="hold"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400"/>
                                        <p:tgtEl>
                                          <p:spTgt spid="35"/>
                                        </p:tgtEl>
                                      </p:cBhvr>
                                    </p:animEffect>
                                  </p:childTnLst>
                                </p:cTn>
                              </p:par>
                              <p:par>
                                <p:cTn id="67" presetID="10" presetClass="entr" presetSubtype="0" fill="hold" nodeType="withEffect">
                                  <p:stCondLst>
                                    <p:cond delay="0"/>
                                  </p:stCondLst>
                                  <p:childTnLst>
                                    <p:set>
                                      <p:cBhvr>
                                        <p:cTn id="68" dur="1" fill="hold">
                                          <p:stCondLst>
                                            <p:cond delay="0"/>
                                          </p:stCondLst>
                                        </p:cTn>
                                        <p:tgtEl>
                                          <p:spTgt spid="158"/>
                                        </p:tgtEl>
                                        <p:attrNameLst>
                                          <p:attrName>style.visibility</p:attrName>
                                        </p:attrNameLst>
                                      </p:cBhvr>
                                      <p:to>
                                        <p:strVal val="visible"/>
                                      </p:to>
                                    </p:set>
                                    <p:animEffect transition="in" filter="fade">
                                      <p:cBhvr>
                                        <p:cTn id="69" dur="400"/>
                                        <p:tgtEl>
                                          <p:spTgt spid="158"/>
                                        </p:tgtEl>
                                      </p:cBhvr>
                                    </p:animEffect>
                                  </p:childTnLst>
                                </p:cTn>
                              </p:par>
                              <p:par>
                                <p:cTn id="70" presetID="10" presetClass="entr" presetSubtype="0" fill="hold"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400"/>
                                        <p:tgtEl>
                                          <p:spTgt spid="36"/>
                                        </p:tgtEl>
                                      </p:cBhvr>
                                    </p:animEffect>
                                  </p:childTnLst>
                                </p:cTn>
                              </p:par>
                              <p:par>
                                <p:cTn id="73" presetID="10"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400"/>
                                        <p:tgtEl>
                                          <p:spTgt spid="37"/>
                                        </p:tgtEl>
                                      </p:cBhvr>
                                    </p:animEffect>
                                  </p:childTnLst>
                                </p:cTn>
                              </p:par>
                              <p:par>
                                <p:cTn id="76" presetID="10" presetClass="entr" presetSubtype="0" fill="hold" nodeType="withEffect">
                                  <p:stCondLst>
                                    <p:cond delay="0"/>
                                  </p:stCondLst>
                                  <p:childTnLst>
                                    <p:set>
                                      <p:cBhvr>
                                        <p:cTn id="77" dur="1" fill="hold">
                                          <p:stCondLst>
                                            <p:cond delay="0"/>
                                          </p:stCondLst>
                                        </p:cTn>
                                        <p:tgtEl>
                                          <p:spTgt spid="159"/>
                                        </p:tgtEl>
                                        <p:attrNameLst>
                                          <p:attrName>style.visibility</p:attrName>
                                        </p:attrNameLst>
                                      </p:cBhvr>
                                      <p:to>
                                        <p:strVal val="visible"/>
                                      </p:to>
                                    </p:set>
                                    <p:animEffect transition="in" filter="fade">
                                      <p:cBhvr>
                                        <p:cTn id="78" dur="400"/>
                                        <p:tgtEl>
                                          <p:spTgt spid="159"/>
                                        </p:tgtEl>
                                      </p:cBhvr>
                                    </p:animEffect>
                                  </p:childTnLst>
                                </p:cTn>
                              </p:par>
                              <p:par>
                                <p:cTn id="79" presetID="10" presetClass="entr" presetSubtype="0" fill="hold" nodeType="withEffect">
                                  <p:stCondLst>
                                    <p:cond delay="0"/>
                                  </p:stCondLst>
                                  <p:childTnLst>
                                    <p:set>
                                      <p:cBhvr>
                                        <p:cTn id="80" dur="1" fill="hold">
                                          <p:stCondLst>
                                            <p:cond delay="0"/>
                                          </p:stCondLst>
                                        </p:cTn>
                                        <p:tgtEl>
                                          <p:spTgt spid="160"/>
                                        </p:tgtEl>
                                        <p:attrNameLst>
                                          <p:attrName>style.visibility</p:attrName>
                                        </p:attrNameLst>
                                      </p:cBhvr>
                                      <p:to>
                                        <p:strVal val="visible"/>
                                      </p:to>
                                    </p:set>
                                    <p:animEffect transition="in" filter="fade">
                                      <p:cBhvr>
                                        <p:cTn id="81" dur="400"/>
                                        <p:tgtEl>
                                          <p:spTgt spid="160"/>
                                        </p:tgtEl>
                                      </p:cBhvr>
                                    </p:animEffect>
                                  </p:childTnLst>
                                </p:cTn>
                              </p:par>
                              <p:par>
                                <p:cTn id="82" presetID="10" presetClass="entr" presetSubtype="0" fill="hold" nodeType="withEffect">
                                  <p:stCondLst>
                                    <p:cond delay="0"/>
                                  </p:stCondLst>
                                  <p:childTnLst>
                                    <p:set>
                                      <p:cBhvr>
                                        <p:cTn id="83" dur="1" fill="hold">
                                          <p:stCondLst>
                                            <p:cond delay="0"/>
                                          </p:stCondLst>
                                        </p:cTn>
                                        <p:tgtEl>
                                          <p:spTgt spid="52"/>
                                        </p:tgtEl>
                                        <p:attrNameLst>
                                          <p:attrName>style.visibility</p:attrName>
                                        </p:attrNameLst>
                                      </p:cBhvr>
                                      <p:to>
                                        <p:strVal val="visible"/>
                                      </p:to>
                                    </p:set>
                                    <p:animEffect transition="in" filter="fade">
                                      <p:cBhvr>
                                        <p:cTn id="84" dur="400"/>
                                        <p:tgtEl>
                                          <p:spTgt spid="52"/>
                                        </p:tgtEl>
                                      </p:cBhvr>
                                    </p:animEffect>
                                  </p:childTnLst>
                                </p:cTn>
                              </p:par>
                              <p:par>
                                <p:cTn id="85" presetID="10" presetClass="entr" presetSubtype="0" fill="hold" nodeType="withEffect">
                                  <p:stCondLst>
                                    <p:cond delay="0"/>
                                  </p:stCondLst>
                                  <p:childTnLst>
                                    <p:set>
                                      <p:cBhvr>
                                        <p:cTn id="86" dur="1" fill="hold">
                                          <p:stCondLst>
                                            <p:cond delay="0"/>
                                          </p:stCondLst>
                                        </p:cTn>
                                        <p:tgtEl>
                                          <p:spTgt spid="53"/>
                                        </p:tgtEl>
                                        <p:attrNameLst>
                                          <p:attrName>style.visibility</p:attrName>
                                        </p:attrNameLst>
                                      </p:cBhvr>
                                      <p:to>
                                        <p:strVal val="visible"/>
                                      </p:to>
                                    </p:set>
                                    <p:animEffect transition="in" filter="fade">
                                      <p:cBhvr>
                                        <p:cTn id="87" dur="400"/>
                                        <p:tgtEl>
                                          <p:spTgt spid="53"/>
                                        </p:tgtEl>
                                      </p:cBhvr>
                                    </p:animEffect>
                                  </p:childTnLst>
                                </p:cTn>
                              </p:par>
                              <p:par>
                                <p:cTn id="88" presetID="10" presetClass="entr" presetSubtype="0" fill="hold" nodeType="withEffect">
                                  <p:stCondLst>
                                    <p:cond delay="0"/>
                                  </p:stCondLst>
                                  <p:childTnLst>
                                    <p:set>
                                      <p:cBhvr>
                                        <p:cTn id="89" dur="1" fill="hold">
                                          <p:stCondLst>
                                            <p:cond delay="0"/>
                                          </p:stCondLst>
                                        </p:cTn>
                                        <p:tgtEl>
                                          <p:spTgt spid="170"/>
                                        </p:tgtEl>
                                        <p:attrNameLst>
                                          <p:attrName>style.visibility</p:attrName>
                                        </p:attrNameLst>
                                      </p:cBhvr>
                                      <p:to>
                                        <p:strVal val="visible"/>
                                      </p:to>
                                    </p:set>
                                    <p:animEffect transition="in" filter="fade">
                                      <p:cBhvr>
                                        <p:cTn id="90" dur="400"/>
                                        <p:tgtEl>
                                          <p:spTgt spid="170"/>
                                        </p:tgtEl>
                                      </p:cBhvr>
                                    </p:animEffect>
                                  </p:childTnLst>
                                </p:cTn>
                              </p:par>
                              <p:par>
                                <p:cTn id="91" presetID="10" presetClass="entr" presetSubtype="0" fill="hold" nodeType="with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fade">
                                      <p:cBhvr>
                                        <p:cTn id="93" dur="400"/>
                                        <p:tgtEl>
                                          <p:spTgt spid="54"/>
                                        </p:tgtEl>
                                      </p:cBhvr>
                                    </p:animEffect>
                                  </p:childTnLst>
                                </p:cTn>
                              </p:par>
                              <p:par>
                                <p:cTn id="94" presetID="10" presetClass="entr" presetSubtype="0" fill="hold" nodeType="withEffect">
                                  <p:stCondLst>
                                    <p:cond delay="0"/>
                                  </p:stCondLst>
                                  <p:childTnLst>
                                    <p:set>
                                      <p:cBhvr>
                                        <p:cTn id="95" dur="1" fill="hold">
                                          <p:stCondLst>
                                            <p:cond delay="0"/>
                                          </p:stCondLst>
                                        </p:cTn>
                                        <p:tgtEl>
                                          <p:spTgt spid="55"/>
                                        </p:tgtEl>
                                        <p:attrNameLst>
                                          <p:attrName>style.visibility</p:attrName>
                                        </p:attrNameLst>
                                      </p:cBhvr>
                                      <p:to>
                                        <p:strVal val="visible"/>
                                      </p:to>
                                    </p:set>
                                    <p:animEffect transition="in" filter="fade">
                                      <p:cBhvr>
                                        <p:cTn id="96" dur="400"/>
                                        <p:tgtEl>
                                          <p:spTgt spid="55"/>
                                        </p:tgtEl>
                                      </p:cBhvr>
                                    </p:animEffect>
                                  </p:childTnLst>
                                </p:cTn>
                              </p:par>
                              <p:par>
                                <p:cTn id="97" presetID="10" presetClass="entr" presetSubtype="0" fill="hold" nodeType="withEffect">
                                  <p:stCondLst>
                                    <p:cond delay="0"/>
                                  </p:stCondLst>
                                  <p:childTnLst>
                                    <p:set>
                                      <p:cBhvr>
                                        <p:cTn id="98" dur="1" fill="hold">
                                          <p:stCondLst>
                                            <p:cond delay="0"/>
                                          </p:stCondLst>
                                        </p:cTn>
                                        <p:tgtEl>
                                          <p:spTgt spid="171"/>
                                        </p:tgtEl>
                                        <p:attrNameLst>
                                          <p:attrName>style.visibility</p:attrName>
                                        </p:attrNameLst>
                                      </p:cBhvr>
                                      <p:to>
                                        <p:strVal val="visible"/>
                                      </p:to>
                                    </p:set>
                                    <p:animEffect transition="in" filter="fade">
                                      <p:cBhvr>
                                        <p:cTn id="99" dur="400"/>
                                        <p:tgtEl>
                                          <p:spTgt spid="171"/>
                                        </p:tgtEl>
                                      </p:cBhvr>
                                    </p:animEffect>
                                  </p:childTnLst>
                                </p:cTn>
                              </p:par>
                              <p:par>
                                <p:cTn id="100" presetID="10" presetClass="entr" presetSubtype="0" fill="hold" nodeType="withEffect">
                                  <p:stCondLst>
                                    <p:cond delay="0"/>
                                  </p:stCondLst>
                                  <p:childTnLst>
                                    <p:set>
                                      <p:cBhvr>
                                        <p:cTn id="101" dur="1" fill="hold">
                                          <p:stCondLst>
                                            <p:cond delay="0"/>
                                          </p:stCondLst>
                                        </p:cTn>
                                        <p:tgtEl>
                                          <p:spTgt spid="172"/>
                                        </p:tgtEl>
                                        <p:attrNameLst>
                                          <p:attrName>style.visibility</p:attrName>
                                        </p:attrNameLst>
                                      </p:cBhvr>
                                      <p:to>
                                        <p:strVal val="visible"/>
                                      </p:to>
                                    </p:set>
                                    <p:animEffect transition="in" filter="fade">
                                      <p:cBhvr>
                                        <p:cTn id="102" dur="400"/>
                                        <p:tgtEl>
                                          <p:spTgt spid="172"/>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400"/>
                                        <p:tgtEl>
                                          <p:spTgt spid="38"/>
                                        </p:tgtEl>
                                      </p:cBhvr>
                                    </p:animEffect>
                                  </p:childTnLst>
                                </p:cTn>
                              </p:par>
                              <p:par>
                                <p:cTn id="108" presetID="10" presetClass="entr" presetSubtype="0" fill="hold" nodeType="withEffect">
                                  <p:stCondLst>
                                    <p:cond delay="0"/>
                                  </p:stCondLst>
                                  <p:childTnLst>
                                    <p:set>
                                      <p:cBhvr>
                                        <p:cTn id="109" dur="1" fill="hold">
                                          <p:stCondLst>
                                            <p:cond delay="0"/>
                                          </p:stCondLst>
                                        </p:cTn>
                                        <p:tgtEl>
                                          <p:spTgt spid="161"/>
                                        </p:tgtEl>
                                        <p:attrNameLst>
                                          <p:attrName>style.visibility</p:attrName>
                                        </p:attrNameLst>
                                      </p:cBhvr>
                                      <p:to>
                                        <p:strVal val="visible"/>
                                      </p:to>
                                    </p:set>
                                    <p:animEffect transition="in" filter="fade">
                                      <p:cBhvr>
                                        <p:cTn id="110" dur="400"/>
                                        <p:tgtEl>
                                          <p:spTgt spid="161"/>
                                        </p:tgtEl>
                                      </p:cBhvr>
                                    </p:animEffect>
                                  </p:childTnLst>
                                </p:cTn>
                              </p:par>
                              <p:par>
                                <p:cTn id="111" presetID="10" presetClass="entr" presetSubtype="0" fill="hold" nodeType="withEffect">
                                  <p:stCondLst>
                                    <p:cond delay="0"/>
                                  </p:stCondLst>
                                  <p:childTnLst>
                                    <p:set>
                                      <p:cBhvr>
                                        <p:cTn id="112" dur="1" fill="hold">
                                          <p:stCondLst>
                                            <p:cond delay="0"/>
                                          </p:stCondLst>
                                        </p:cTn>
                                        <p:tgtEl>
                                          <p:spTgt spid="162"/>
                                        </p:tgtEl>
                                        <p:attrNameLst>
                                          <p:attrName>style.visibility</p:attrName>
                                        </p:attrNameLst>
                                      </p:cBhvr>
                                      <p:to>
                                        <p:strVal val="visible"/>
                                      </p:to>
                                    </p:set>
                                    <p:animEffect transition="in" filter="fade">
                                      <p:cBhvr>
                                        <p:cTn id="113" dur="400"/>
                                        <p:tgtEl>
                                          <p:spTgt spid="162"/>
                                        </p:tgtEl>
                                      </p:cBhvr>
                                    </p:animEffect>
                                  </p:childTnLst>
                                </p:cTn>
                              </p:par>
                              <p:par>
                                <p:cTn id="114" presetID="10" presetClass="entr" presetSubtype="0" fill="hold"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par>
                                <p:cTn id="117" presetID="10" presetClass="entr" presetSubtype="0" fill="hold" nodeType="withEffect">
                                  <p:stCondLst>
                                    <p:cond delay="0"/>
                                  </p:stCondLst>
                                  <p:childTnLst>
                                    <p:set>
                                      <p:cBhvr>
                                        <p:cTn id="118" dur="1" fill="hold">
                                          <p:stCondLst>
                                            <p:cond delay="0"/>
                                          </p:stCondLst>
                                        </p:cTn>
                                        <p:tgtEl>
                                          <p:spTgt spid="173"/>
                                        </p:tgtEl>
                                        <p:attrNameLst>
                                          <p:attrName>style.visibility</p:attrName>
                                        </p:attrNameLst>
                                      </p:cBhvr>
                                      <p:to>
                                        <p:strVal val="visible"/>
                                      </p:to>
                                    </p:set>
                                    <p:animEffect transition="in" filter="fade">
                                      <p:cBhvr>
                                        <p:cTn id="119" dur="400"/>
                                        <p:tgtEl>
                                          <p:spTgt spid="173"/>
                                        </p:tgtEl>
                                      </p:cBhvr>
                                    </p:animEffect>
                                  </p:childTnLst>
                                </p:cTn>
                              </p:par>
                              <p:par>
                                <p:cTn id="120" presetID="10" presetClass="entr" presetSubtype="0" fill="hold" nodeType="withEffect">
                                  <p:stCondLst>
                                    <p:cond delay="0"/>
                                  </p:stCondLst>
                                  <p:childTnLst>
                                    <p:set>
                                      <p:cBhvr>
                                        <p:cTn id="121" dur="1" fill="hold">
                                          <p:stCondLst>
                                            <p:cond delay="0"/>
                                          </p:stCondLst>
                                        </p:cTn>
                                        <p:tgtEl>
                                          <p:spTgt spid="174"/>
                                        </p:tgtEl>
                                        <p:attrNameLst>
                                          <p:attrName>style.visibility</p:attrName>
                                        </p:attrNameLst>
                                      </p:cBhvr>
                                      <p:to>
                                        <p:strVal val="visible"/>
                                      </p:to>
                                    </p:set>
                                    <p:animEffect transition="in" filter="fade">
                                      <p:cBhvr>
                                        <p:cTn id="122" dur="400"/>
                                        <p:tgtEl>
                                          <p:spTgt spid="174"/>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7" dur="400"/>
                                        <p:tgtEl>
                                          <p:spTgt spid="39"/>
                                        </p:tgtEl>
                                      </p:cBhvr>
                                    </p:animEffect>
                                  </p:childTnLst>
                                </p:cTn>
                              </p:par>
                              <p:par>
                                <p:cTn id="128" presetID="10" presetClass="entr" presetSubtype="0" fill="hold" nodeType="withEffect">
                                  <p:stCondLst>
                                    <p:cond delay="0"/>
                                  </p:stCondLst>
                                  <p:childTnLst>
                                    <p:set>
                                      <p:cBhvr>
                                        <p:cTn id="129" dur="1" fill="hold">
                                          <p:stCondLst>
                                            <p:cond delay="0"/>
                                          </p:stCondLst>
                                        </p:cTn>
                                        <p:tgtEl>
                                          <p:spTgt spid="57"/>
                                        </p:tgtEl>
                                        <p:attrNameLst>
                                          <p:attrName>style.visibility</p:attrName>
                                        </p:attrNameLst>
                                      </p:cBhvr>
                                      <p:to>
                                        <p:strVal val="visible"/>
                                      </p:to>
                                    </p:set>
                                    <p:animEffect transition="in" filter="fade">
                                      <p:cBhvr>
                                        <p:cTn id="130" dur="400"/>
                                        <p:tgtEl>
                                          <p:spTgt spid="57"/>
                                        </p:tgtEl>
                                      </p:cBhvr>
                                    </p:animEffect>
                                  </p:childTnLst>
                                </p:cTn>
                              </p:par>
                              <p:par>
                                <p:cTn id="131" presetID="10" presetClass="entr" presetSubtype="0" fill="hold" nodeType="withEffect">
                                  <p:stCondLst>
                                    <p:cond delay="0"/>
                                  </p:stCondLst>
                                  <p:childTnLst>
                                    <p:set>
                                      <p:cBhvr>
                                        <p:cTn id="132" dur="1" fill="hold">
                                          <p:stCondLst>
                                            <p:cond delay="0"/>
                                          </p:stCondLst>
                                        </p:cTn>
                                        <p:tgtEl>
                                          <p:spTgt spid="58"/>
                                        </p:tgtEl>
                                        <p:attrNameLst>
                                          <p:attrName>style.visibility</p:attrName>
                                        </p:attrNameLst>
                                      </p:cBhvr>
                                      <p:to>
                                        <p:strVal val="visible"/>
                                      </p:to>
                                    </p:set>
                                    <p:animEffect transition="in" filter="fade">
                                      <p:cBhvr>
                                        <p:cTn id="133"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50" grpId="0" animBg="1"/>
      <p:bldP spid="51" grpId="0" animBg="1"/>
      <p:bldP spid="58" grpId="0" animBg="1"/>
    </p:bldLst>
  </p:timing>
</p:sld>
</file>

<file path=ppt/slides/methods_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q5-title">
            <ns0:hlinkClick xmlns:ns0="http://schemas.openxmlformats.org/drawingml/2006/main" xmlns:ns1="http://schemas.openxmlformats.org/officeDocument/2006/relationships" ns1:id="rIdmethods_Link78" action="ppaction://hlinksldjump"/>
            <a:extLst xmlns:a="http://schemas.openxmlformats.org/drawingml/2006/main">
              <a:ext uri="{FF2B5EF4-FFF2-40B4-BE49-F238E27FC236}">
                <a16:creationId xmlns:a16="http://schemas.microsoft.com/office/drawing/2014/main" id="{3B20062F-8B5A-4975-810A-D4FC7F5742F8}"/>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78" action="ppaction://hlinksldjump"/>
              </a:rPr>
              <a:t>FDM</a:t>
            </a:r>
          </a:p>
        </p:txBody>
      </p:sp>
      <p:sp>
        <p:nvSpPr>
          <p:cNvPr id="2" name="!!q5-subtitle">
            <a:extLst xmlns:a="http://schemas.openxmlformats.org/drawingml/2006/main">
              <a:ext uri="{FF2B5EF4-FFF2-40B4-BE49-F238E27FC236}">
                <a16:creationId xmlns:a16="http://schemas.microsoft.com/office/drawing/2014/main" id="{E43B4BBD-3BF6-4DC6-995E-BB8483290851}"/>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 baseband signals</a:t>
            </a:r>
          </a:p>
        </p:txBody>
      </p:sp>
      <p:sp>
        <p:nvSpPr>
          <p:cNvPr id="3" name="!!q5-route-tx-line">
            <a:extLst xmlns:a="http://schemas.openxmlformats.org/drawingml/2006/main">
              <a:ext uri="{FF2B5EF4-FFF2-40B4-BE49-F238E27FC236}">
                <a16:creationId xmlns:a16="http://schemas.microsoft.com/office/drawing/2014/main" id="{134826A9-98B2-46DF-BFE2-8432BDB837B7}"/>
              </a:ext>
            </a:extLst>
          </p:cNvPr>
          <p:cNvSpPr>
            <a:spLocks xmlns:a="http://schemas.openxmlformats.org/drawingml/2006/main" noGrp="1"/>
          </p:cNvSpPr>
          <p:nvPr/>
        </p:nvSpPr>
        <p:spPr>
          <a:xfrm xmlns:a="http://schemas.openxmlformats.org/drawingml/2006/main">
            <a:off x="3800475" y="1381125"/>
            <a:ext cx="115252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q5-route-tx-head">
            <a:extLst xmlns:a="http://schemas.openxmlformats.org/drawingml/2006/main">
              <a:ext uri="{FF2B5EF4-FFF2-40B4-BE49-F238E27FC236}">
                <a16:creationId xmlns:a16="http://schemas.microsoft.com/office/drawing/2014/main" id="{EE65362F-D198-41D9-9D4B-8574874D4910}"/>
              </a:ext>
            </a:extLst>
          </p:cNvPr>
          <p:cNvSpPr>
            <a:spLocks xmlns:a="http://schemas.openxmlformats.org/drawingml/2006/main" noGrp="1"/>
          </p:cNvSpPr>
          <p:nvPr/>
        </p:nvSpPr>
        <p:spPr>
          <a:xfrm xmlns:a="http://schemas.openxmlformats.org/drawingml/2006/main" rot="5400000">
            <a:off x="4933950" y="13335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q5-route-rx-line">
            <a:extLst xmlns:a="http://schemas.openxmlformats.org/drawingml/2006/main">
              <a:ext uri="{FF2B5EF4-FFF2-40B4-BE49-F238E27FC236}">
                <a16:creationId xmlns:a16="http://schemas.microsoft.com/office/drawing/2014/main" id="{2B0FA388-5402-47C5-9B62-3E79B08B208B}"/>
              </a:ext>
            </a:extLst>
          </p:cNvPr>
          <p:cNvSpPr>
            <a:spLocks xmlns:a="http://schemas.openxmlformats.org/drawingml/2006/main" noGrp="1"/>
          </p:cNvSpPr>
          <p:nvPr/>
        </p:nvSpPr>
        <p:spPr>
          <a:xfrm xmlns:a="http://schemas.openxmlformats.org/drawingml/2006/main">
            <a:off x="7096125" y="138112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q5-route-rx-head">
            <a:extLst xmlns:a="http://schemas.openxmlformats.org/drawingml/2006/main">
              <a:ext uri="{FF2B5EF4-FFF2-40B4-BE49-F238E27FC236}">
                <a16:creationId xmlns:a16="http://schemas.microsoft.com/office/drawing/2014/main" id="{0321D6D4-C0E9-4BA7-9146-840C610F0615}"/>
              </a:ext>
            </a:extLst>
          </p:cNvPr>
          <p:cNvSpPr>
            <a:spLocks xmlns:a="http://schemas.openxmlformats.org/drawingml/2006/main" noGrp="1"/>
          </p:cNvSpPr>
          <p:nvPr/>
        </p:nvSpPr>
        <p:spPr>
          <a:xfrm xmlns:a="http://schemas.openxmlformats.org/drawingml/2006/main" rot="5400000">
            <a:off x="8410575" y="133350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q5-question">
            <a:extLst xmlns:a="http://schemas.openxmlformats.org/drawingml/2006/main">
              <a:ext uri="{FF2B5EF4-FFF2-40B4-BE49-F238E27FC236}">
                <a16:creationId xmlns:a16="http://schemas.microsoft.com/office/drawing/2014/main" id="{23E192B7-F871-449B-8C6C-6EFDA7A64048}"/>
              </a:ext>
            </a:extLst>
          </p:cNvPr>
          <p:cNvSpPr>
            <a:spLocks xmlns:a="http://schemas.openxmlformats.org/drawingml/2006/main" noGrp="1"/>
          </p:cNvSpPr>
          <p:nvPr/>
        </p:nvSpPr>
        <p:spPr>
          <a:xfrm xmlns:a="http://schemas.openxmlformats.org/drawingml/2006/main">
            <a:off x="666750" y="17430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Compare how many messages share the same frequency band.</a:t>
            </a:r>
          </a:p>
        </p:txBody>
      </p:sp>
      <p:sp>
        <p:nvSpPr>
          <p:cNvPr id="8" name="!!q5-given-filters">
            <a:extLst xmlns:a="http://schemas.openxmlformats.org/drawingml/2006/main">
              <a:ext uri="{FF2B5EF4-FFF2-40B4-BE49-F238E27FC236}">
                <a16:creationId xmlns:a16="http://schemas.microsoft.com/office/drawing/2014/main" id="{1F1F9E8D-F411-452A-AB2F-39F71351803B}"/>
              </a:ext>
            </a:extLst>
          </p:cNvPr>
          <p:cNvSpPr>
            <a:spLocks xmlns:a="http://schemas.openxmlformats.org/drawingml/2006/main" noGrp="1"/>
          </p:cNvSpPr>
          <p:nvPr/>
        </p:nvSpPr>
        <p:spPr>
          <a:xfrm xmlns:a="http://schemas.openxmlformats.org/drawingml/2006/main">
            <a:off x="6572250" y="22288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Ideal filters; no guard bands.</a:t>
            </a:r>
          </a:p>
        </p:txBody>
      </p:sp>
      <p:sp>
        <p:nvSpPr>
          <p:cNvPr id="9" name="!!q5-allocation">
            <a:extLst xmlns:a="http://schemas.openxmlformats.org/drawingml/2006/main">
              <a:ext uri="{FF2B5EF4-FFF2-40B4-BE49-F238E27FC236}">
                <a16:creationId xmlns:a16="http://schemas.microsoft.com/office/drawing/2014/main" id="{1B62266D-01FB-4CB5-ACA4-C15BADDA4CBD}"/>
              </a:ext>
            </a:extLst>
          </p:cNvPr>
          <p:cNvSpPr>
            <a:spLocks xmlns:a="http://schemas.openxmlformats.org/drawingml/2006/main" noGrp="1"/>
          </p:cNvSpPr>
          <p:nvPr/>
        </p:nvSpPr>
        <p:spPr>
          <a:xfrm xmlns:a="http://schemas.openxmlformats.org/drawingml/2006/main">
            <a:off x="857250" y="2952750"/>
            <a:ext cx="10429875" cy="419100"/>
          </a:xfrm>
          <a:prstGeom xmlns:a="http://schemas.openxmlformats.org/drawingml/2006/main" prst="rect">
            <a:avLst/>
          </a:prstGeom>
          <a:solidFill xmlns:a="http://schemas.openxmlformats.org/drawingml/2006/main">
            <a:srgbClr val="DDDDDD"/>
          </a:solidFill>
          <a:ln xmlns:a="http://schemas.openxmlformats.org/drawingml/2006/main" w="9525">
            <a:solidFill>
              <a:srgbClr val="666666"/>
            </a:solidFill>
          </a:ln>
        </p:spPr>
      </p:sp>
      <p:sp>
        <p:nvSpPr>
          <p:cNvPr id="10" name="!!q5-start">
            <a:extLst xmlns:a="http://schemas.openxmlformats.org/drawingml/2006/main">
              <a:ext uri="{FF2B5EF4-FFF2-40B4-BE49-F238E27FC236}">
                <a16:creationId xmlns:a16="http://schemas.microsoft.com/office/drawing/2014/main" id="{A7E5C80C-AD7E-482D-A127-ABB529262006}"/>
              </a:ext>
            </a:extLst>
          </p:cNvPr>
          <p:cNvSpPr>
            <a:spLocks xmlns:a="http://schemas.openxmlformats.org/drawingml/2006/main" noGrp="1"/>
          </p:cNvSpPr>
          <p:nvPr/>
        </p:nvSpPr>
        <p:spPr>
          <a:xfrm xmlns:a="http://schemas.openxmlformats.org/drawingml/2006/main">
            <a:off x="1000125" y="29908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800 MHz</a:t>
            </a:r>
          </a:p>
        </p:txBody>
      </p:sp>
      <p:sp>
        <p:nvSpPr>
          <p:cNvPr id="11" name="!!q5-end">
            <a:extLst xmlns:a="http://schemas.openxmlformats.org/drawingml/2006/main">
              <a:ext uri="{FF2B5EF4-FFF2-40B4-BE49-F238E27FC236}">
                <a16:creationId xmlns:a16="http://schemas.microsoft.com/office/drawing/2014/main" id="{B3712560-0604-456B-92AE-05074045FA72}"/>
              </a:ext>
            </a:extLst>
          </p:cNvPr>
          <p:cNvSpPr>
            <a:spLocks xmlns:a="http://schemas.openxmlformats.org/drawingml/2006/main" noGrp="1"/>
          </p:cNvSpPr>
          <p:nvPr/>
        </p:nvSpPr>
        <p:spPr>
          <a:xfrm xmlns:a="http://schemas.openxmlformats.org/drawingml/2006/main">
            <a:off x="9448800" y="2990850"/>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820 MHz</a:t>
            </a:r>
          </a:p>
        </p:txBody>
      </p:sp>
      <p:sp>
        <p:nvSpPr>
          <p:cNvPr id="12" name="!!q5-method0">
            <a:extLst xmlns:a="http://schemas.openxmlformats.org/drawingml/2006/main">
              <a:ext uri="{FF2B5EF4-FFF2-40B4-BE49-F238E27FC236}">
                <a16:creationId xmlns:a16="http://schemas.microsoft.com/office/drawing/2014/main" id="{5918D2DB-5231-45CA-AEE9-1514E77E45DF}"/>
              </a:ext>
            </a:extLst>
          </p:cNvPr>
          <p:cNvSpPr>
            <a:spLocks xmlns:a="http://schemas.openxmlformats.org/drawingml/2006/main" noGrp="1"/>
          </p:cNvSpPr>
          <p:nvPr/>
        </p:nvSpPr>
        <p:spPr>
          <a:xfrm xmlns:a="http://schemas.openxmlformats.org/drawingml/2006/main">
            <a:off x="904875" y="36004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DSB-SC</a:t>
            </a:r>
          </a:p>
        </p:txBody>
      </p:sp>
      <p:sp>
        <p:nvSpPr>
          <p:cNvPr id="13" name="!!q5-method1">
            <a:extLst xmlns:a="http://schemas.openxmlformats.org/drawingml/2006/main">
              <a:ext uri="{FF2B5EF4-FFF2-40B4-BE49-F238E27FC236}">
                <a16:creationId xmlns:a16="http://schemas.microsoft.com/office/drawing/2014/main" id="{320C7F6A-E6FD-4160-8D05-150C2D261A09}"/>
              </a:ext>
            </a:extLst>
          </p:cNvPr>
          <p:cNvSpPr>
            <a:spLocks xmlns:a="http://schemas.openxmlformats.org/drawingml/2006/main" noGrp="1"/>
          </p:cNvSpPr>
          <p:nvPr/>
        </p:nvSpPr>
        <p:spPr>
          <a:xfrm xmlns:a="http://schemas.openxmlformats.org/drawingml/2006/main">
            <a:off x="4476750" y="36004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SSB</a:t>
            </a:r>
          </a:p>
        </p:txBody>
      </p:sp>
      <p:sp>
        <p:nvSpPr>
          <p:cNvPr id="14" name="!!q5-method2">
            <a:extLst xmlns:a="http://schemas.openxmlformats.org/drawingml/2006/main">
              <a:ext uri="{FF2B5EF4-FFF2-40B4-BE49-F238E27FC236}">
                <a16:creationId xmlns:a16="http://schemas.microsoft.com/office/drawing/2014/main" id="{B38DA2B0-13B1-442C-8465-35954A40F0DE}"/>
              </a:ext>
            </a:extLst>
          </p:cNvPr>
          <p:cNvSpPr>
            <a:spLocks xmlns:a="http://schemas.openxmlformats.org/drawingml/2006/main" noGrp="1"/>
          </p:cNvSpPr>
          <p:nvPr/>
        </p:nvSpPr>
        <p:spPr>
          <a:xfrm xmlns:a="http://schemas.openxmlformats.org/drawingml/2006/main">
            <a:off x="8048625" y="36004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QAM</a:t>
            </a:r>
          </a:p>
        </p:txBody>
      </p:sp>
      <p:sp>
        <p:nvSpPr>
          <p:cNvPr id="15" name="!!q5-per0">
            <a:extLst xmlns:a="http://schemas.openxmlformats.org/drawingml/2006/main">
              <a:ext uri="{FF2B5EF4-FFF2-40B4-BE49-F238E27FC236}">
                <a16:creationId xmlns:a16="http://schemas.microsoft.com/office/drawing/2014/main" id="{794AE0E6-9316-4EB5-ADA0-20CCD0CC8094}"/>
              </a:ext>
            </a:extLst>
          </p:cNvPr>
          <p:cNvSpPr>
            <a:spLocks xmlns:a="http://schemas.openxmlformats.org/drawingml/2006/main" noGrp="1"/>
          </p:cNvSpPr>
          <p:nvPr/>
        </p:nvSpPr>
        <p:spPr>
          <a:xfrm xmlns:a="http://schemas.openxmlformats.org/drawingml/2006/main">
            <a:off x="904875" y="40767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2W / client</a:t>
            </a:r>
          </a:p>
        </p:txBody>
      </p:sp>
      <p:sp>
        <p:nvSpPr>
          <p:cNvPr id="16" name="!!q5-per1">
            <a:extLst xmlns:a="http://schemas.openxmlformats.org/drawingml/2006/main">
              <a:ext uri="{FF2B5EF4-FFF2-40B4-BE49-F238E27FC236}">
                <a16:creationId xmlns:a16="http://schemas.microsoft.com/office/drawing/2014/main" id="{7160B3A0-C1E5-4231-B799-06CE57815F4C}"/>
              </a:ext>
            </a:extLst>
          </p:cNvPr>
          <p:cNvSpPr>
            <a:spLocks xmlns:a="http://schemas.openxmlformats.org/drawingml/2006/main" noGrp="1"/>
          </p:cNvSpPr>
          <p:nvPr/>
        </p:nvSpPr>
        <p:spPr>
          <a:xfrm xmlns:a="http://schemas.openxmlformats.org/drawingml/2006/main">
            <a:off x="4476750" y="40767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W / client</a:t>
            </a:r>
          </a:p>
        </p:txBody>
      </p:sp>
      <p:sp>
        <p:nvSpPr>
          <p:cNvPr id="17" name="!!q5-per2">
            <a:extLst xmlns:a="http://schemas.openxmlformats.org/drawingml/2006/main">
              <a:ext uri="{FF2B5EF4-FFF2-40B4-BE49-F238E27FC236}">
                <a16:creationId xmlns:a16="http://schemas.microsoft.com/office/drawing/2014/main" id="{5F933DC5-A2DB-44FF-8F7C-AF4BF7D12B66}"/>
              </a:ext>
            </a:extLst>
          </p:cNvPr>
          <p:cNvSpPr>
            <a:spLocks xmlns:a="http://schemas.openxmlformats.org/drawingml/2006/main" noGrp="1"/>
          </p:cNvSpPr>
          <p:nvPr/>
        </p:nvSpPr>
        <p:spPr>
          <a:xfrm xmlns:a="http://schemas.openxmlformats.org/drawingml/2006/main">
            <a:off x="8048625" y="40767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2W / 2 clients</a:t>
            </a:r>
          </a:p>
        </p:txBody>
      </p:sp>
      <p:pic>
        <p:nvPicPr>
          <p:cNvPr id="43" name="!!q5-route-m" descr="m_1,m_2,m_3">
            <ns0:hlinkClick xmlns:ns0="http://schemas.openxmlformats.org/drawingml/2006/main" xmlns:ns1="http://schemas.openxmlformats.org/officeDocument/2006/relationships" ns1:id="rIdmethods_Link7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01e0803ffd9a4ed3">
            <a:extLst>
              <a:ext uri="{96DAC541-7B7A-43D3-8B79-37D633B846F1}">
                <ns0:svgBlip xmlns:ns0="http://schemas.microsoft.com/office/drawing/2016/SVG/main" r:embed="rIdVectormf00431"/>
              </a:ext>
            </a:extLst>
          </a:blip>
          <a:stretch xmlns:a="http://schemas.openxmlformats.org/drawingml/2006/main"/>
        </p:blipFill>
        <p:spPr>
          <a:xfrm xmlns:a="http://schemas.openxmlformats.org/drawingml/2006/main">
            <a:off x="1714028" y="1273295"/>
            <a:ext cx="1810693" cy="215660"/>
          </a:xfrm>
          <a:prstGeom xmlns:a="http://schemas.openxmlformats.org/drawingml/2006/main" prst="rect">
            <a:avLst/>
          </a:prstGeom>
        </p:spPr>
      </p:pic>
      <p:pic>
        <p:nvPicPr>
          <p:cNvPr id="44" name="!!q5-route-s" descr="s(t)">
            <ns0:hlinkClick xmlns:ns0="http://schemas.openxmlformats.org/drawingml/2006/main" xmlns:ns1="http://schemas.openxmlformats.org/officeDocument/2006/relationships" ns1:id="rIdmethods_Link80"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b50f729e56174199">
            <a:extLst>
              <a:ext uri="{96DAC541-7B7A-43D3-8B79-37D633B846F1}">
                <ns1:svgBlip xmlns:ns1="http://schemas.microsoft.com/office/drawing/2016/SVG/main" r:embed="rIdVectormf00432"/>
              </a:ext>
            </a:extLst>
          </a:blip>
          <a:stretch xmlns:a="http://schemas.openxmlformats.org/drawingml/2006/main"/>
        </p:blipFill>
        <p:spPr>
          <a:xfrm xmlns:a="http://schemas.openxmlformats.org/drawingml/2006/main">
            <a:off x="5736404" y="1181100"/>
            <a:ext cx="719191" cy="400050"/>
          </a:xfrm>
          <a:prstGeom xmlns:a="http://schemas.openxmlformats.org/drawingml/2006/main" prst="rect">
            <a:avLst/>
          </a:prstGeom>
        </p:spPr>
      </p:pic>
      <p:pic>
        <p:nvPicPr>
          <p:cNvPr id="45" name="!!q5-route-restored" descr="m_2(t)">
            <ns0:hlinkClick xmlns:ns0="http://schemas.openxmlformats.org/drawingml/2006/main" xmlns:ns1="http://schemas.openxmlformats.org/officeDocument/2006/relationships" ns1:id="rIdmethods_Link8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05188fad0d9b40d4">
            <a:extLst>
              <a:ext uri="{96DAC541-7B7A-43D3-8B79-37D633B846F1}">
                <ns2:svgBlip xmlns:ns2="http://schemas.microsoft.com/office/drawing/2016/SVG/main" r:embed="rIdVectormf00433"/>
              </a:ext>
            </a:extLst>
          </a:blip>
          <a:stretch xmlns:a="http://schemas.openxmlformats.org/drawingml/2006/main"/>
        </p:blipFill>
        <p:spPr>
          <a:xfrm xmlns:a="http://schemas.openxmlformats.org/drawingml/2006/main">
            <a:off x="9012555" y="1181100"/>
            <a:ext cx="1120140" cy="400050"/>
          </a:xfrm>
          <a:prstGeom xmlns:a="http://schemas.openxmlformats.org/drawingml/2006/main" prst="rect">
            <a:avLst/>
          </a:prstGeom>
        </p:spPr>
      </p:pic>
      <p:pic>
        <p:nvPicPr>
          <p:cNvPr id="46" name="!!q5-given-width" descr="W=10\ \mathrm{kHz}\quad\text{per client}"/>
          <p:cNvPicPr>
            <a:picLocks xmlns:a="http://schemas.openxmlformats.org/drawingml/2006/main" noChangeAspect="1"/>
          </p:cNvPicPr>
          <p:nvPr/>
        </p:nvPicPr>
        <p:blipFill>
          <a:blip xmlns:r="http://schemas.openxmlformats.org/officeDocument/2006/relationships" xmlns:a="http://schemas.openxmlformats.org/drawingml/2006/main" r:embed="R15e00f8feb1a4757">
            <a:extLst>
              <a:ext uri="{96DAC541-7B7A-43D3-8B79-37D633B846F1}">
                <ns3:svgBlip xmlns:ns3="http://schemas.microsoft.com/office/drawing/2016/SVG/main" r:embed="rIdVectormf00434"/>
              </a:ext>
            </a:extLst>
          </a:blip>
          <a:stretch xmlns:a="http://schemas.openxmlformats.org/drawingml/2006/main"/>
        </p:blipFill>
        <p:spPr>
          <a:xfrm xmlns:a="http://schemas.openxmlformats.org/drawingml/2006/main">
            <a:off x="609600" y="2309455"/>
            <a:ext cx="3021330" cy="219789"/>
          </a:xfrm>
          <a:prstGeom xmlns:a="http://schemas.openxmlformats.org/drawingml/2006/main" prst="rect">
            <a:avLst/>
          </a:prstGeom>
        </p:spPr>
      </p:pic>
      <p:pic>
        <p:nvPicPr>
          <p:cNvPr id="47" name="!!q5-dense-equation-0" descr="\textstyle B=820-800=20\ \mathrm{MHz}=20{,}000\ \mathrm{kHz}"/>
          <p:cNvPicPr>
            <a:picLocks xmlns:a="http://schemas.openxmlformats.org/drawingml/2006/main" noChangeAspect="1"/>
          </p:cNvPicPr>
          <p:nvPr/>
        </p:nvPicPr>
        <p:blipFill>
          <a:blip xmlns:r="http://schemas.openxmlformats.org/officeDocument/2006/relationships" xmlns:a="http://schemas.openxmlformats.org/drawingml/2006/main" r:embed="R004de2800a6f44b6">
            <a:extLst>
              <a:ext uri="{96DAC541-7B7A-43D3-8B79-37D633B846F1}">
                <ns4:svgBlip xmlns:ns4="http://schemas.microsoft.com/office/drawing/2016/SVG/main" r:embed="rIdVectormf00435"/>
              </a:ext>
            </a:extLst>
          </a:blip>
          <a:stretch xmlns:a="http://schemas.openxmlformats.org/drawingml/2006/main"/>
        </p:blipFill>
        <p:spPr>
          <a:xfrm xmlns:a="http://schemas.openxmlformats.org/drawingml/2006/main">
            <a:off x="609600" y="4928652"/>
            <a:ext cx="4903470" cy="218242"/>
          </a:xfrm>
          <a:prstGeom xmlns:a="http://schemas.openxmlformats.org/drawingml/2006/main" prst="rect">
            <a:avLst/>
          </a:prstGeom>
        </p:spPr>
      </p:pic>
      <p:pic>
        <p:nvPicPr>
          <p:cNvPr id="48" name="!!q5-dense-equation-1" descr="\textstyle N_{DSB}=\frac{20{,}000}{20}=1000\ \text{clients}"/>
          <p:cNvPicPr>
            <a:picLocks xmlns:a="http://schemas.openxmlformats.org/drawingml/2006/main" noChangeAspect="1"/>
          </p:cNvPicPr>
          <p:nvPr/>
        </p:nvPicPr>
        <p:blipFill>
          <a:blip xmlns:r="http://schemas.openxmlformats.org/officeDocument/2006/relationships" xmlns:a="http://schemas.openxmlformats.org/drawingml/2006/main" r:embed="Re5ffcbf9dd5c4093">
            <a:extLst>
              <a:ext uri="{96DAC541-7B7A-43D3-8B79-37D633B846F1}">
                <ns5:svgBlip xmlns:ns5="http://schemas.microsoft.com/office/drawing/2016/SVG/main" r:embed="rIdVectormf00436"/>
              </a:ext>
            </a:extLst>
          </a:blip>
          <a:stretch xmlns:a="http://schemas.openxmlformats.org/drawingml/2006/main"/>
        </p:blipFill>
        <p:spPr>
          <a:xfrm xmlns:a="http://schemas.openxmlformats.org/drawingml/2006/main">
            <a:off x="609600" y="5271968"/>
            <a:ext cx="3566160" cy="312658"/>
          </a:xfrm>
          <a:prstGeom xmlns:a="http://schemas.openxmlformats.org/drawingml/2006/main" prst="rect">
            <a:avLst/>
          </a:prstGeom>
        </p:spPr>
      </p:pic>
      <p:pic>
        <p:nvPicPr>
          <p:cNvPr id="49" name="!!q5-dense-equation-2" descr="\textstyle N_{SSB}=\frac{20{,}000}{10}=2000\ \text{clients}"/>
          <p:cNvPicPr>
            <a:picLocks xmlns:a="http://schemas.openxmlformats.org/drawingml/2006/main" noChangeAspect="1"/>
          </p:cNvPicPr>
          <p:nvPr/>
        </p:nvPicPr>
        <p:blipFill>
          <a:blip xmlns:r="http://schemas.openxmlformats.org/officeDocument/2006/relationships" xmlns:a="http://schemas.openxmlformats.org/drawingml/2006/main" r:embed="R4368b9781a0942a0">
            <a:extLst>
              <a:ext uri="{96DAC541-7B7A-43D3-8B79-37D633B846F1}">
                <ns6:svgBlip xmlns:ns6="http://schemas.microsoft.com/office/drawing/2016/SVG/main" r:embed="rIdVectormf00437"/>
              </a:ext>
            </a:extLst>
          </a:blip>
          <a:stretch xmlns:a="http://schemas.openxmlformats.org/drawingml/2006/main"/>
        </p:blipFill>
        <p:spPr>
          <a:xfrm xmlns:a="http://schemas.openxmlformats.org/drawingml/2006/main">
            <a:off x="609600" y="5662493"/>
            <a:ext cx="3516630" cy="312658"/>
          </a:xfrm>
          <a:prstGeom xmlns:a="http://schemas.openxmlformats.org/drawingml/2006/main" prst="rect">
            <a:avLst/>
          </a:prstGeom>
        </p:spPr>
      </p:pic>
      <p:pic>
        <p:nvPicPr>
          <p:cNvPr id="50" name="!!q5-dense-equation-3" descr="\textstyle N_{QAM}=\frac{20{,}000}{20}\times2=2000\ \text{clients}"/>
          <p:cNvPicPr>
            <a:picLocks xmlns:a="http://schemas.openxmlformats.org/drawingml/2006/main" noChangeAspect="1"/>
          </p:cNvPicPr>
          <p:nvPr/>
        </p:nvPicPr>
        <p:blipFill>
          <a:blip xmlns:r="http://schemas.openxmlformats.org/officeDocument/2006/relationships" xmlns:a="http://schemas.openxmlformats.org/drawingml/2006/main" r:embed="R16f2163f2a7c49c5">
            <a:extLst>
              <a:ext uri="{96DAC541-7B7A-43D3-8B79-37D633B846F1}">
                <ns7:svgBlip xmlns:ns7="http://schemas.microsoft.com/office/drawing/2016/SVG/main" r:embed="rIdVectormf00438"/>
              </a:ext>
            </a:extLst>
          </a:blip>
          <a:stretch xmlns:a="http://schemas.openxmlformats.org/drawingml/2006/main"/>
        </p:blipFill>
        <p:spPr>
          <a:xfrm xmlns:a="http://schemas.openxmlformats.org/drawingml/2006/main">
            <a:off x="609600" y="6052245"/>
            <a:ext cx="4160520" cy="314206"/>
          </a:xfrm>
          <a:prstGeom xmlns:a="http://schemas.openxmlformats.org/drawingml/2006/main" prst="rect">
            <a:avLst/>
          </a:prstGeom>
        </p:spPr>
      </p:pic>
    </p:spTree>
    <p:extLst>
      <p:ext uri="{BB962C8B-B14F-4D97-AF65-F5344CB8AC3E}">
        <p14:creationId xmlns:p14="http://schemas.microsoft.com/office/powerpoint/2010/main" val="912516730"/>
      </p:ext>
    </p:extLst>
  </p:cSld>
</p:sld>
</file>

<file path=ppt/slides/methods_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dm-title">
            <ns0:hlinkClick xmlns:ns0="http://schemas.openxmlformats.org/drawingml/2006/main" xmlns:ns1="http://schemas.openxmlformats.org/officeDocument/2006/relationships" ns1:id="rIdmethods_Link82" action="ppaction://hlinksldjump"/>
            <a:extLst xmlns:a="http://schemas.openxmlformats.org/drawingml/2006/main">
              <a:ext uri="{FF2B5EF4-FFF2-40B4-BE49-F238E27FC236}">
                <a16:creationId xmlns:a16="http://schemas.microsoft.com/office/drawing/2014/main" id="{5C1E4BF1-460B-4BF4-A633-9286DEC17179}"/>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82" action="ppaction://hlinksldjump"/>
              </a:rPr>
              <a:t>FDM</a:t>
            </a:r>
          </a:p>
        </p:txBody>
      </p:sp>
      <p:sp>
        <p:nvSpPr>
          <p:cNvPr id="2" name="!!fdm-send-arrow-line">
            <a:extLst xmlns:a="http://schemas.openxmlformats.org/drawingml/2006/main">
              <a:ext uri="{FF2B5EF4-FFF2-40B4-BE49-F238E27FC236}">
                <a16:creationId xmlns:a16="http://schemas.microsoft.com/office/drawing/2014/main" id="{10E4088C-0DDE-4481-BADD-186FFB750DB6}"/>
              </a:ext>
            </a:extLst>
          </p:cNvPr>
          <p:cNvSpPr>
            <a:spLocks xmlns:a="http://schemas.openxmlformats.org/drawingml/2006/main" noGrp="1"/>
          </p:cNvSpPr>
          <p:nvPr/>
        </p:nvSpPr>
        <p:spPr>
          <a:xfrm xmlns:a="http://schemas.openxmlformats.org/drawingml/2006/main">
            <a:off x="2476500" y="3238500"/>
            <a:ext cx="2857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fdm-send-arrow-head">
            <a:extLst xmlns:a="http://schemas.openxmlformats.org/drawingml/2006/main">
              <a:ext uri="{FF2B5EF4-FFF2-40B4-BE49-F238E27FC236}">
                <a16:creationId xmlns:a16="http://schemas.microsoft.com/office/drawing/2014/main" id="{4805763D-2882-4FBB-8290-FE632244EB3B}"/>
              </a:ext>
            </a:extLst>
          </p:cNvPr>
          <p:cNvSpPr>
            <a:spLocks xmlns:a="http://schemas.openxmlformats.org/drawingml/2006/main" noGrp="1"/>
          </p:cNvSpPr>
          <p:nvPr/>
        </p:nvSpPr>
        <p:spPr>
          <a:xfrm xmlns:a="http://schemas.openxmlformats.org/drawingml/2006/main" rot="5400000">
            <a:off x="5314950" y="31908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fdm-receive-arrow-line">
            <a:extLst xmlns:a="http://schemas.openxmlformats.org/drawingml/2006/main">
              <a:ext uri="{FF2B5EF4-FFF2-40B4-BE49-F238E27FC236}">
                <a16:creationId xmlns:a16="http://schemas.microsoft.com/office/drawing/2014/main" id="{D3F8B31F-EBA5-409B-AD0D-B5E9D7F91C79}"/>
              </a:ext>
            </a:extLst>
          </p:cNvPr>
          <p:cNvSpPr>
            <a:spLocks xmlns:a="http://schemas.openxmlformats.org/drawingml/2006/main" noGrp="1"/>
          </p:cNvSpPr>
          <p:nvPr/>
        </p:nvSpPr>
        <p:spPr>
          <a:xfrm xmlns:a="http://schemas.openxmlformats.org/drawingml/2006/main">
            <a:off x="7239000" y="3238500"/>
            <a:ext cx="2857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fdm-receive-arrow-head">
            <a:extLst xmlns:a="http://schemas.openxmlformats.org/drawingml/2006/main">
              <a:ext uri="{FF2B5EF4-FFF2-40B4-BE49-F238E27FC236}">
                <a16:creationId xmlns:a16="http://schemas.microsoft.com/office/drawing/2014/main" id="{692E9C3F-4A8C-4CD5-A39F-C90106D4F63B}"/>
              </a:ext>
            </a:extLst>
          </p:cNvPr>
          <p:cNvSpPr>
            <a:spLocks xmlns:a="http://schemas.openxmlformats.org/drawingml/2006/main" noGrp="1"/>
          </p:cNvSpPr>
          <p:nvPr/>
        </p:nvSpPr>
        <p:spPr>
          <a:xfrm xmlns:a="http://schemas.openxmlformats.org/drawingml/2006/main" rot="5400000">
            <a:off x="10077450" y="31908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fdm-send-shift">
            <a:extLst xmlns:a="http://schemas.openxmlformats.org/drawingml/2006/main">
              <a:ext uri="{FF2B5EF4-FFF2-40B4-BE49-F238E27FC236}">
                <a16:creationId xmlns:a16="http://schemas.microsoft.com/office/drawing/2014/main" id="{6A685416-81A0-4E35-A48C-55C7A505F939}"/>
              </a:ext>
            </a:extLst>
          </p:cNvPr>
          <p:cNvSpPr>
            <a:spLocks xmlns:a="http://schemas.openxmlformats.org/drawingml/2006/main" noGrp="1"/>
          </p:cNvSpPr>
          <p:nvPr/>
        </p:nvSpPr>
        <p:spPr>
          <a:xfrm xmlns:a="http://schemas.openxmlformats.org/drawingml/2006/main">
            <a:off x="2571750" y="22383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Freq. Translation</a:t>
            </a:r>
          </a:p>
        </p:txBody>
      </p:sp>
      <p:sp>
        <p:nvSpPr>
          <p:cNvPr id="7" name="!!fdm-send-add">
            <a:extLst xmlns:a="http://schemas.openxmlformats.org/drawingml/2006/main">
              <a:ext uri="{FF2B5EF4-FFF2-40B4-BE49-F238E27FC236}">
                <a16:creationId xmlns:a16="http://schemas.microsoft.com/office/drawing/2014/main" id="{7AD75994-ABDC-4E83-8A8B-F41959DF0979}"/>
              </a:ext>
            </a:extLst>
          </p:cNvPr>
          <p:cNvSpPr>
            <a:spLocks xmlns:a="http://schemas.openxmlformats.org/drawingml/2006/main" noGrp="1"/>
          </p:cNvSpPr>
          <p:nvPr/>
        </p:nvSpPr>
        <p:spPr>
          <a:xfrm xmlns:a="http://schemas.openxmlformats.org/drawingml/2006/main">
            <a:off x="2571750" y="26479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 Add</a:t>
            </a:r>
          </a:p>
        </p:txBody>
      </p:sp>
      <p:sp>
        <p:nvSpPr>
          <p:cNvPr id="8" name="!!fdm-receive-select">
            <a:extLst xmlns:a="http://schemas.openxmlformats.org/drawingml/2006/main">
              <a:ext uri="{FF2B5EF4-FFF2-40B4-BE49-F238E27FC236}">
                <a16:creationId xmlns:a16="http://schemas.microsoft.com/office/drawing/2014/main" id="{2F316A73-AC07-46D4-B7F0-6C4E3459D8BA}"/>
              </a:ext>
            </a:extLst>
          </p:cNvPr>
          <p:cNvSpPr>
            <a:spLocks xmlns:a="http://schemas.openxmlformats.org/drawingml/2006/main" noGrp="1"/>
          </p:cNvSpPr>
          <p:nvPr/>
        </p:nvSpPr>
        <p:spPr>
          <a:xfrm xmlns:a="http://schemas.openxmlformats.org/drawingml/2006/main">
            <a:off x="7286625" y="2238375"/>
            <a:ext cx="290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BPF Select</a:t>
            </a:r>
          </a:p>
        </p:txBody>
      </p:sp>
      <p:sp>
        <p:nvSpPr>
          <p:cNvPr id="9" name="!!fdm-receive-shift">
            <a:extLst xmlns:a="http://schemas.openxmlformats.org/drawingml/2006/main">
              <a:ext uri="{FF2B5EF4-FFF2-40B4-BE49-F238E27FC236}">
                <a16:creationId xmlns:a16="http://schemas.microsoft.com/office/drawing/2014/main" id="{1C9ADE30-B710-43F9-974D-C2C877963DAB}"/>
              </a:ext>
            </a:extLst>
          </p:cNvPr>
          <p:cNvSpPr>
            <a:spLocks xmlns:a="http://schemas.openxmlformats.org/drawingml/2006/main" noGrp="1"/>
          </p:cNvSpPr>
          <p:nvPr/>
        </p:nvSpPr>
        <p:spPr>
          <a:xfrm xmlns:a="http://schemas.openxmlformats.org/drawingml/2006/main">
            <a:off x="7200900" y="2647950"/>
            <a:ext cx="3076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 Freq. Translation</a:t>
            </a:r>
          </a:p>
        </p:txBody>
      </p:sp>
      <p:sp>
        <p:nvSpPr>
          <p:cNvPr id="10" name="!!fdm-receive-lpf">
            <a:extLst xmlns:a="http://schemas.openxmlformats.org/drawingml/2006/main">
              <a:ext uri="{FF2B5EF4-FFF2-40B4-BE49-F238E27FC236}">
                <a16:creationId xmlns:a16="http://schemas.microsoft.com/office/drawing/2014/main" id="{02643202-90E1-4236-881C-B8753BE1B1C0}"/>
              </a:ext>
            </a:extLst>
          </p:cNvPr>
          <p:cNvSpPr>
            <a:spLocks xmlns:a="http://schemas.openxmlformats.org/drawingml/2006/main" noGrp="1"/>
          </p:cNvSpPr>
          <p:nvPr/>
        </p:nvSpPr>
        <p:spPr>
          <a:xfrm xmlns:a="http://schemas.openxmlformats.org/drawingml/2006/main">
            <a:off x="7286625" y="3438525"/>
            <a:ext cx="2905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 LPF</a:t>
            </a:r>
          </a:p>
        </p:txBody>
      </p:sp>
      <p:pic>
        <p:nvPicPr>
          <p:cNvPr id="26" name="!!fdm-signal0" descr="m_1,m_2,\ldots">
            <ns0:hlinkClick xmlns:ns0="http://schemas.openxmlformats.org/drawingml/2006/main" xmlns:ns1="http://schemas.openxmlformats.org/officeDocument/2006/relationships" ns1:id="rIdmethods_Link8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e3a9980fc6c04c71">
            <a:extLst>
              <a:ext uri="{96DAC541-7B7A-43D3-8B79-37D633B846F1}">
                <ns0:svgBlip xmlns:ns0="http://schemas.microsoft.com/office/drawing/2016/SVG/main" r:embed="rIdVectormf00439"/>
              </a:ext>
            </a:extLst>
          </a:blip>
          <a:stretch xmlns:a="http://schemas.openxmlformats.org/drawingml/2006/main"/>
        </p:blipFill>
        <p:spPr>
          <a:xfrm xmlns:a="http://schemas.openxmlformats.org/drawingml/2006/main">
            <a:off x="579904" y="3130670"/>
            <a:ext cx="1792941" cy="215660"/>
          </a:xfrm>
          <a:prstGeom xmlns:a="http://schemas.openxmlformats.org/drawingml/2006/main" prst="rect">
            <a:avLst/>
          </a:prstGeom>
        </p:spPr>
      </p:pic>
      <p:pic>
        <p:nvPicPr>
          <p:cNvPr id="27" name="!!fdm-signal1" descr="s(t)">
            <ns0:hlinkClick xmlns:ns0="http://schemas.openxmlformats.org/drawingml/2006/main" xmlns:ns1="http://schemas.openxmlformats.org/officeDocument/2006/relationships" ns1:id="rIdmethods_Link8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bb0ea036aaac4059">
            <a:extLst>
              <a:ext uri="{96DAC541-7B7A-43D3-8B79-37D633B846F1}">
                <ns1:svgBlip xmlns:ns1="http://schemas.microsoft.com/office/drawing/2016/SVG/main" r:embed="rIdVectormf00440"/>
              </a:ext>
            </a:extLst>
          </a:blip>
          <a:stretch xmlns:a="http://schemas.openxmlformats.org/drawingml/2006/main"/>
        </p:blipFill>
        <p:spPr>
          <a:xfrm xmlns:a="http://schemas.openxmlformats.org/drawingml/2006/main">
            <a:off x="6008777" y="3057525"/>
            <a:ext cx="650697" cy="361950"/>
          </a:xfrm>
          <a:prstGeom xmlns:a="http://schemas.openxmlformats.org/drawingml/2006/main" prst="rect">
            <a:avLst/>
          </a:prstGeom>
        </p:spPr>
      </p:pic>
      <p:pic>
        <p:nvPicPr>
          <p:cNvPr id="28" name="!!fdm-signal2" descr="m_k(t)">
            <ns0:hlinkClick xmlns:ns0="http://schemas.openxmlformats.org/drawingml/2006/main" xmlns:ns1="http://schemas.openxmlformats.org/officeDocument/2006/relationships" ns1:id="rIdmethods_Link8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cc2c90577e704808">
            <a:extLst>
              <a:ext uri="{96DAC541-7B7A-43D3-8B79-37D633B846F1}">
                <ns2:svgBlip xmlns:ns2="http://schemas.microsoft.com/office/drawing/2016/SVG/main" r:embed="rIdVectormf00441"/>
              </a:ext>
            </a:extLst>
          </a:blip>
          <a:stretch xmlns:a="http://schemas.openxmlformats.org/drawingml/2006/main"/>
        </p:blipFill>
        <p:spPr>
          <a:xfrm xmlns:a="http://schemas.openxmlformats.org/drawingml/2006/main">
            <a:off x="10518458" y="3059787"/>
            <a:ext cx="1013460" cy="357426"/>
          </a:xfrm>
          <a:prstGeom xmlns:a="http://schemas.openxmlformats.org/drawingml/2006/main" prst="rect">
            <a:avLst/>
          </a:prstGeom>
        </p:spPr>
      </p:pic>
      <p:pic>
        <p:nvPicPr>
          <p:cNvPr id="29" name="!!fdm-send-formula" descr="s(t)=\sum_k A_cm_k(t)\cos(2\pi f_{c,k}t)"/>
          <p:cNvPicPr>
            <a:picLocks xmlns:a="http://schemas.openxmlformats.org/drawingml/2006/main" noChangeAspect="1"/>
          </p:cNvPicPr>
          <p:nvPr/>
        </p:nvPicPr>
        <p:blipFill>
          <a:blip xmlns:r="http://schemas.openxmlformats.org/officeDocument/2006/relationships" xmlns:a="http://schemas.openxmlformats.org/drawingml/2006/main" r:embed="R870415760e254ac1">
            <a:extLst>
              <a:ext uri="{96DAC541-7B7A-43D3-8B79-37D633B846F1}">
                <ns3:svgBlip xmlns:ns3="http://schemas.microsoft.com/office/drawing/2016/SVG/main" r:embed="rIdVectormf00442"/>
              </a:ext>
            </a:extLst>
          </a:blip>
          <a:stretch xmlns:a="http://schemas.openxmlformats.org/drawingml/2006/main"/>
        </p:blipFill>
        <p:spPr>
          <a:xfrm xmlns:a="http://schemas.openxmlformats.org/drawingml/2006/main">
            <a:off x="890583" y="4381500"/>
            <a:ext cx="3352375" cy="504825"/>
          </a:xfrm>
          <a:prstGeom xmlns:a="http://schemas.openxmlformats.org/drawingml/2006/main" prst="rect">
            <a:avLst/>
          </a:prstGeom>
        </p:spPr>
      </p:pic>
      <p:pic>
        <p:nvPicPr>
          <p:cNvPr id="30" name="!!fdm-receive-formula" descr="\textstyle s(t)\xrightarrow{\mathrm{BPF}}s_k(t)\xrightarrow{\times(2/A_c)\cos(2\pi f_{c,k}t),\ \mathrm{LPF}}m_k(t)"/>
          <p:cNvPicPr>
            <a:picLocks xmlns:a="http://schemas.openxmlformats.org/drawingml/2006/main" noChangeAspect="1"/>
          </p:cNvPicPr>
          <p:nvPr/>
        </p:nvPicPr>
        <p:blipFill>
          <a:blip xmlns:r="http://schemas.openxmlformats.org/officeDocument/2006/relationships" xmlns:a="http://schemas.openxmlformats.org/drawingml/2006/main" r:embed="R3556e183e7e747cc">
            <a:extLst>
              <a:ext uri="{96DAC541-7B7A-43D3-8B79-37D633B846F1}">
                <ns4:svgBlip xmlns:ns4="http://schemas.microsoft.com/office/drawing/2016/SVG/main" r:embed="rIdVectormf00443"/>
              </a:ext>
            </a:extLst>
          </a:blip>
          <a:stretch xmlns:a="http://schemas.openxmlformats.org/drawingml/2006/main"/>
        </p:blipFill>
        <p:spPr>
          <a:xfrm xmlns:a="http://schemas.openxmlformats.org/drawingml/2006/main">
            <a:off x="857250" y="4949250"/>
            <a:ext cx="5448300" cy="363736"/>
          </a:xfrm>
          <a:prstGeom xmlns:a="http://schemas.openxmlformats.org/drawingml/2006/main" prst="rect">
            <a:avLst/>
          </a:prstGeom>
        </p:spPr>
      </p:pic>
    </p:spTree>
    <p:extLst>
      <p:ext uri="{BB962C8B-B14F-4D97-AF65-F5344CB8AC3E}">
        <p14:creationId xmlns:p14="http://schemas.microsoft.com/office/powerpoint/2010/main" val="788062917"/>
      </p:ext>
    </p:extLst>
  </p:cSld>
</p:sld>
</file>

<file path=ppt/slides/methods_slide20.xml><?xml version="1.0" encoding="utf-8"?>
<p:sld xmlns:p="http://schemas.openxmlformats.org/presentationml/2006/main">
  <p:cSld>
    <p:bg>
      <p:bgPr>
        <a:solidFill xmlns:a="http://schemas.openxmlformats.org/drawingml/2006/main">
          <a:srgbClr val="FFFFFF"/>
        </a:solidFill>
      </p:bgPr>
    </p:bg>
    <p:spTree>
      <p:nvGrpSpPr>
        <p:cNvPr id="1" name="!!detail_"/>
        <p:cNvGrpSpPr/>
        <p:nvPr/>
      </p:nvGrpSpPr>
      <p:grpSpPr>
        <a:xfrm xmlns:a="http://schemas.openxmlformats.org/drawingml/2006/main"/>
      </p:grpSpPr>
      <p:sp>
        <p:nvSpPr>
          <p:cNvPr id="71" name="!!detail_tx_AM">
            <ns0:hlinkClick xmlns:ns0="http://schemas.openxmlformats.org/drawingml/2006/main" xmlns:ns1="http://schemas.openxmlformats.org/officeDocument/2006/relationships" ns1:id="rIdWeeklyAMReview" action="ppaction://hlinksldjump"/>
            <a:extLst xmlns:a="http://schemas.openxmlformats.org/drawingml/2006/main">
              <a:ext uri="{FF2B5EF4-FFF2-40B4-BE49-F238E27FC236}">
                <a16:creationId xmlns:a16="http://schemas.microsoft.com/office/drawing/2014/main" id="{7D0A69BF-2474-41FF-860A-EBA0F7533C41}"/>
              </a:ext>
            </a:extLst>
          </p:cNvPr>
          <p:cNvSpPr>
            <a:spLocks xmlns:a="http://schemas.openxmlformats.org/drawingml/2006/main" noGrp="1"/>
          </p:cNvSpPr>
          <p:nvPr/>
        </p:nvSpPr>
        <p:spPr>
          <a:xfrm xmlns:a="http://schemas.openxmlformats.org/drawingml/2006/main">
            <a:off x="4352925" y="35147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hlinkClick xmlns:ns1="http://schemas.openxmlformats.org/officeDocument/2006/relationships" ns1:id="rIdWeeklyAMReview" action="ppaction://hlinksldjump"/>
              </a:rPr>
              <a:t>AM schemes</a:t>
            </a:r>
          </a:p>
        </p:txBody>
      </p:sp>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43c9675d9fb14bb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514306" y="452438"/>
            <a:ext cx="1163389" cy="647700"/>
          </a:xfrm>
          <a:prstGeom xmlns:a="http://schemas.openxmlformats.org/drawingml/2006/main" prst="rect">
            <a:avLst/>
          </a:prstGeom>
        </p:spPr>
      </p:pic>
      <p:sp>
        <p:nvSpPr>
          <p:cNvPr id="7" name="!!detail_tx_PM">
            <a:extLst xmlns:a="http://schemas.openxmlformats.org/drawingml/2006/main">
              <a:ext uri="{FF2B5EF4-FFF2-40B4-BE49-F238E27FC236}">
                <a16:creationId xmlns:a16="http://schemas.microsoft.com/office/drawing/2014/main" id="{61E7A5FB-E391-4C24-8DAB-8D18D3792A4C}"/>
              </a:ext>
            </a:extLst>
          </p:cNvPr>
          <p:cNvSpPr>
            <a:spLocks xmlns:a="http://schemas.openxmlformats.org/drawingml/2006/main" noGrp="1"/>
          </p:cNvSpPr>
          <p:nvPr/>
        </p:nvSpPr>
        <p:spPr>
          <a:xfrm xmlns:a="http://schemas.openxmlformats.org/drawingml/2006/main">
            <a:off x="6886575"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PM</a:t>
            </a:r>
          </a:p>
        </p:txBody>
      </p:sp>
      <p:sp>
        <p:nvSpPr>
          <p:cNvPr id="8" name="!!detail_tx_FM">
            <a:extLst xmlns:a="http://schemas.openxmlformats.org/drawingml/2006/main">
              <a:ext uri="{FF2B5EF4-FFF2-40B4-BE49-F238E27FC236}">
                <a16:creationId xmlns:a16="http://schemas.microsoft.com/office/drawing/2014/main" id="{2A5B3CF0-B4FF-4E77-9CE9-83727EE3A364}"/>
              </a:ext>
            </a:extLst>
          </p:cNvPr>
          <p:cNvSpPr>
            <a:spLocks xmlns:a="http://schemas.openxmlformats.org/drawingml/2006/main" noGrp="1"/>
          </p:cNvSpPr>
          <p:nvPr/>
        </p:nvSpPr>
        <p:spPr>
          <a:xfrm xmlns:a="http://schemas.openxmlformats.org/drawingml/2006/main">
            <a:off x="9296400"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FM</a:t>
            </a:r>
          </a:p>
        </p:txBody>
      </p:sp>
      <p:sp>
        <p:nvSpPr>
          <p:cNvPr id="9" name="!!detail_tx_PAM">
            <a:extLst xmlns:a="http://schemas.openxmlformats.org/drawingml/2006/main">
              <a:ext uri="{FF2B5EF4-FFF2-40B4-BE49-F238E27FC236}">
                <a16:creationId xmlns:a16="http://schemas.microsoft.com/office/drawing/2014/main" id="{5CCF5FA2-2D7B-4DEC-B02B-5F0F46372B79}"/>
              </a:ext>
            </a:extLst>
          </p:cNvPr>
          <p:cNvSpPr>
            <a:spLocks xmlns:a="http://schemas.openxmlformats.org/drawingml/2006/main" noGrp="1"/>
          </p:cNvSpPr>
          <p:nvPr/>
        </p:nvSpPr>
        <p:spPr>
          <a:xfrm xmlns:a="http://schemas.openxmlformats.org/drawingml/2006/main">
            <a:off x="5613437" y="597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PAM</a:t>
            </a:r>
          </a:p>
        </p:txBody>
      </p:sp>
      <p:pic>
        <p:nvPicPr>
          <p:cNvPr id="10" name="!!detail_sinusoid_formula" descr="LaTeX formula: sinusoid_formula"/>
          <p:cNvPicPr>
            <a:picLocks xmlns:a="http://schemas.openxmlformats.org/drawingml/2006/main" noChangeAspect="1"/>
          </p:cNvPicPr>
          <p:nvPr/>
        </p:nvPicPr>
        <p:blipFill>
          <a:blip xmlns:r="http://schemas.openxmlformats.org/officeDocument/2006/relationships" xmlns:a="http://schemas.openxmlformats.org/drawingml/2006/main" r:embed="R81eaae8cb5ff4a78">
            <a:extLst>
              <a:ext uri="{96DAC541-7B7A-43D3-8B79-37D633B846F1}">
                <asvg:svgBlip xmlns:asvg="http://schemas.microsoft.com/office/drawing/2016/SVG/main" r:embed="rIdLatex10"/>
              </a:ext>
            </a:extLst>
          </a:blip>
          <a:stretch xmlns:a="http://schemas.openxmlformats.org/drawingml/2006/main"/>
        </p:blipFill>
        <p:spPr>
          <a:xfrm xmlns:a="http://schemas.openxmlformats.org/drawingml/2006/main">
            <a:off x="3257550" y="1992075"/>
            <a:ext cx="4435959" cy="454501"/>
          </a:xfrm>
          <a:prstGeom xmlns:a="http://schemas.openxmlformats.org/drawingml/2006/main" prst="rect">
            <a:avLst/>
          </a:prstGeom>
        </p:spPr>
      </p:pic>
      <p:pic>
        <p:nvPicPr>
          <p:cNvPr id="11" name="!!detail_pulse_formula" descr="LaTeX formula: pulse_formula"/>
          <p:cNvPicPr>
            <a:picLocks xmlns:a="http://schemas.openxmlformats.org/drawingml/2006/main" noChangeAspect="1"/>
          </p:cNvPicPr>
          <p:nvPr/>
        </p:nvPicPr>
        <p:blipFill>
          <a:blip xmlns:r="http://schemas.openxmlformats.org/officeDocument/2006/relationships" xmlns:a="http://schemas.openxmlformats.org/drawingml/2006/main" r:embed="Rd1e86a2e8e854418">
            <a:extLst>
              <a:ext uri="{96DAC541-7B7A-43D3-8B79-37D633B846F1}">
                <asvg:svgBlip xmlns:asvg="http://schemas.microsoft.com/office/drawing/2016/SVG/main" r:embed="rIdLatex11"/>
              </a:ext>
            </a:extLst>
          </a:blip>
          <a:stretch xmlns:a="http://schemas.openxmlformats.org/drawingml/2006/main"/>
        </p:blipFill>
        <p:spPr>
          <a:xfrm xmlns:a="http://schemas.openxmlformats.org/drawingml/2006/main">
            <a:off x="3257550" y="4393878"/>
            <a:ext cx="5734050" cy="895358"/>
          </a:xfrm>
          <a:prstGeom xmlns:a="http://schemas.openxmlformats.org/drawingml/2006/main" prst="rect">
            <a:avLst/>
          </a:prstGeom>
        </p:spPr>
      </p:pic>
      <p:sp>
        <p:nvSpPr>
          <p:cNvPr id="22" name="!!detail_choice_spine">
            <a:extLst xmlns:a="http://schemas.openxmlformats.org/drawingml/2006/main">
              <a:ext uri="{FF2B5EF4-FFF2-40B4-BE49-F238E27FC236}">
                <a16:creationId xmlns:a16="http://schemas.microsoft.com/office/drawing/2014/main" id="{7F92CC80-F529-43B1-A520-E79066FFFF05}"/>
              </a:ext>
            </a:extLst>
          </p:cNvPr>
          <p:cNvSpPr>
            <a:spLocks xmlns:a="http://schemas.openxmlformats.org/drawingml/2006/main" noGrp="1"/>
          </p:cNvSpPr>
          <p:nvPr/>
        </p:nvSpPr>
        <p:spPr>
          <a:xfrm xmlns:a="http://schemas.openxmlformats.org/drawingml/2006/main">
            <a:off x="2390775" y="1352550"/>
            <a:ext cx="13335" cy="34671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3" name="!!detail_sinusoid_choice_shaft">
            <a:extLst xmlns:a="http://schemas.openxmlformats.org/drawingml/2006/main">
              <a:ext uri="{FF2B5EF4-FFF2-40B4-BE49-F238E27FC236}">
                <a16:creationId xmlns:a16="http://schemas.microsoft.com/office/drawing/2014/main" id="{1A5AFF7A-4617-401A-A295-23B13CB9169F}"/>
              </a:ext>
            </a:extLst>
          </p:cNvPr>
          <p:cNvSpPr>
            <a:spLocks xmlns:a="http://schemas.openxmlformats.org/drawingml/2006/main" noGrp="1"/>
          </p:cNvSpPr>
          <p:nvPr/>
        </p:nvSpPr>
        <p:spPr>
          <a:xfrm xmlns:a="http://schemas.openxmlformats.org/drawingml/2006/main">
            <a:off x="2390775" y="2238375"/>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4" name="!!detail_sinusoid_choice_head">
            <a:extLst xmlns:a="http://schemas.openxmlformats.org/drawingml/2006/main">
              <a:ext uri="{FF2B5EF4-FFF2-40B4-BE49-F238E27FC236}">
                <a16:creationId xmlns:a16="http://schemas.microsoft.com/office/drawing/2014/main" id="{2DAD7307-0893-4989-9F3C-A6DCE0B4F43D}"/>
              </a:ext>
            </a:extLst>
          </p:cNvPr>
          <p:cNvSpPr>
            <a:spLocks xmlns:a="http://schemas.openxmlformats.org/drawingml/2006/main" noGrp="1"/>
          </p:cNvSpPr>
          <p:nvPr/>
        </p:nvSpPr>
        <p:spPr>
          <a:xfrm xmlns:a="http://schemas.openxmlformats.org/drawingml/2006/main" rot="5400000">
            <a:off x="3009900" y="2200275"/>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5" name="!!detail_pulse_choice_shaft">
            <a:extLst xmlns:a="http://schemas.openxmlformats.org/drawingml/2006/main">
              <a:ext uri="{FF2B5EF4-FFF2-40B4-BE49-F238E27FC236}">
                <a16:creationId xmlns:a16="http://schemas.microsoft.com/office/drawing/2014/main" id="{CCAE4AED-EBE1-43B7-BBF3-96AE959E3084}"/>
              </a:ext>
            </a:extLst>
          </p:cNvPr>
          <p:cNvSpPr>
            <a:spLocks xmlns:a="http://schemas.openxmlformats.org/drawingml/2006/main" noGrp="1"/>
          </p:cNvSpPr>
          <p:nvPr/>
        </p:nvSpPr>
        <p:spPr>
          <a:xfrm xmlns:a="http://schemas.openxmlformats.org/drawingml/2006/main">
            <a:off x="2390775" y="4819650"/>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6" name="!!detail_pulse_choice_head">
            <a:extLst xmlns:a="http://schemas.openxmlformats.org/drawingml/2006/main">
              <a:ext uri="{FF2B5EF4-FFF2-40B4-BE49-F238E27FC236}">
                <a16:creationId xmlns:a16="http://schemas.microsoft.com/office/drawing/2014/main" id="{E02B1C5F-B445-4D8A-B112-76C0B6980D62}"/>
              </a:ext>
            </a:extLst>
          </p:cNvPr>
          <p:cNvSpPr>
            <a:spLocks xmlns:a="http://schemas.openxmlformats.org/drawingml/2006/main" noGrp="1"/>
          </p:cNvSpPr>
          <p:nvPr/>
        </p:nvSpPr>
        <p:spPr>
          <a:xfrm xmlns:a="http://schemas.openxmlformats.org/drawingml/2006/main" rot="5400000">
            <a:off x="3009900" y="4781550"/>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7" name="!!detail_sinusoid_label">
            <a:extLst xmlns:a="http://schemas.openxmlformats.org/drawingml/2006/main">
              <a:ext uri="{FF2B5EF4-FFF2-40B4-BE49-F238E27FC236}">
                <a16:creationId xmlns:a16="http://schemas.microsoft.com/office/drawing/2014/main" id="{0A2F6D01-EDDC-47E7-9F20-58FE33FCD567}"/>
              </a:ext>
            </a:extLst>
          </p:cNvPr>
          <p:cNvSpPr>
            <a:spLocks xmlns:a="http://schemas.openxmlformats.org/drawingml/2006/main" noGrp="1"/>
          </p:cNvSpPr>
          <p:nvPr/>
        </p:nvSpPr>
        <p:spPr>
          <a:xfrm xmlns:a="http://schemas.openxmlformats.org/drawingml/2006/main">
            <a:off x="3257550" y="15525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Sinusoidal carrier</a:t>
            </a:r>
          </a:p>
        </p:txBody>
      </p:sp>
      <p:sp>
        <p:nvSpPr>
          <p:cNvPr id="31" name="!!detail_amplitude_bracket_l">
            <a:extLst xmlns:a="http://schemas.openxmlformats.org/drawingml/2006/main">
              <a:ext uri="{FF2B5EF4-FFF2-40B4-BE49-F238E27FC236}">
                <a16:creationId xmlns:a16="http://schemas.microsoft.com/office/drawing/2014/main" id="{DC27978C-5957-4E66-93BA-A0933C5BB337}"/>
              </a:ext>
            </a:extLst>
          </p:cNvPr>
          <p:cNvSpPr>
            <a:spLocks xmlns:a="http://schemas.openxmlformats.org/drawingml/2006/main" noGrp="1"/>
          </p:cNvSpPr>
          <p:nvPr/>
        </p:nvSpPr>
        <p:spPr>
          <a:xfrm xmlns:a="http://schemas.openxmlformats.org/drawingml/2006/main">
            <a:off x="482510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detail_amplitude_bracket_b">
            <a:extLst xmlns:a="http://schemas.openxmlformats.org/drawingml/2006/main">
              <a:ext uri="{FF2B5EF4-FFF2-40B4-BE49-F238E27FC236}">
                <a16:creationId xmlns:a16="http://schemas.microsoft.com/office/drawing/2014/main" id="{2C73468E-34D8-43FE-A03B-A705BC8D31AA}"/>
              </a:ext>
            </a:extLst>
          </p:cNvPr>
          <p:cNvSpPr>
            <a:spLocks xmlns:a="http://schemas.openxmlformats.org/drawingml/2006/main" noGrp="1"/>
          </p:cNvSpPr>
          <p:nvPr/>
        </p:nvSpPr>
        <p:spPr>
          <a:xfrm xmlns:a="http://schemas.openxmlformats.org/drawingml/2006/main">
            <a:off x="4825102" y="2619375"/>
            <a:ext cx="1010915"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3" name="!!detail_amplitude_bracket_r">
            <a:extLst xmlns:a="http://schemas.openxmlformats.org/drawingml/2006/main">
              <a:ext uri="{FF2B5EF4-FFF2-40B4-BE49-F238E27FC236}">
                <a16:creationId xmlns:a16="http://schemas.microsoft.com/office/drawing/2014/main" id="{4D9E8214-856D-42A0-8BC0-F2FBC944886B}"/>
              </a:ext>
            </a:extLst>
          </p:cNvPr>
          <p:cNvSpPr>
            <a:spLocks xmlns:a="http://schemas.openxmlformats.org/drawingml/2006/main" noGrp="1"/>
          </p:cNvSpPr>
          <p:nvPr/>
        </p:nvSpPr>
        <p:spPr>
          <a:xfrm xmlns:a="http://schemas.openxmlformats.org/drawingml/2006/main">
            <a:off x="5836017"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4" name="!!detail_amplitude_branch_shaft">
            <a:extLst xmlns:a="http://schemas.openxmlformats.org/drawingml/2006/main">
              <a:ext uri="{FF2B5EF4-FFF2-40B4-BE49-F238E27FC236}">
                <a16:creationId xmlns:a16="http://schemas.microsoft.com/office/drawing/2014/main" id="{39BC7B6E-5362-4820-A697-73E5A4DE12F1}"/>
              </a:ext>
            </a:extLst>
          </p:cNvPr>
          <p:cNvSpPr>
            <a:spLocks xmlns:a="http://schemas.openxmlformats.org/drawingml/2006/main" noGrp="1"/>
          </p:cNvSpPr>
          <p:nvPr/>
        </p:nvSpPr>
        <p:spPr>
          <a:xfrm xmlns:a="http://schemas.openxmlformats.org/drawingml/2006/main">
            <a:off x="5330560" y="2619375"/>
            <a:ext cx="13335" cy="3619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5" name="!!detail_amplitude_branch_head">
            <a:extLst xmlns:a="http://schemas.openxmlformats.org/drawingml/2006/main">
              <a:ext uri="{FF2B5EF4-FFF2-40B4-BE49-F238E27FC236}">
                <a16:creationId xmlns:a16="http://schemas.microsoft.com/office/drawing/2014/main" id="{5C8FCF61-D7E7-4225-BB71-7F98DFDC6C78}"/>
              </a:ext>
            </a:extLst>
          </p:cNvPr>
          <p:cNvSpPr>
            <a:spLocks xmlns:a="http://schemas.openxmlformats.org/drawingml/2006/main" noGrp="1"/>
          </p:cNvSpPr>
          <p:nvPr/>
        </p:nvSpPr>
        <p:spPr>
          <a:xfrm xmlns:a="http://schemas.openxmlformats.org/drawingml/2006/main" rot="10800000">
            <a:off x="5297222"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36" name="!!detail_phase_bracket_l">
            <a:extLst xmlns:a="http://schemas.openxmlformats.org/drawingml/2006/main">
              <a:ext uri="{FF2B5EF4-FFF2-40B4-BE49-F238E27FC236}">
                <a16:creationId xmlns:a16="http://schemas.microsoft.com/office/drawing/2014/main" id="{697B075C-3AEE-42CA-89CD-2F090725308D}"/>
              </a:ext>
            </a:extLst>
          </p:cNvPr>
          <p:cNvSpPr>
            <a:spLocks xmlns:a="http://schemas.openxmlformats.org/drawingml/2006/main" noGrp="1"/>
          </p:cNvSpPr>
          <p:nvPr/>
        </p:nvSpPr>
        <p:spPr>
          <a:xfrm xmlns:a="http://schemas.openxmlformats.org/drawingml/2006/main">
            <a:off x="671523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7" name="!!detail_phase_bracket_b">
            <a:extLst xmlns:a="http://schemas.openxmlformats.org/drawingml/2006/main">
              <a:ext uri="{FF2B5EF4-FFF2-40B4-BE49-F238E27FC236}">
                <a16:creationId xmlns:a16="http://schemas.microsoft.com/office/drawing/2014/main" id="{7FD58E20-7B17-437F-B628-17296FB20B27}"/>
              </a:ext>
            </a:extLst>
          </p:cNvPr>
          <p:cNvSpPr>
            <a:spLocks xmlns:a="http://schemas.openxmlformats.org/drawingml/2006/main" noGrp="1"/>
          </p:cNvSpPr>
          <p:nvPr/>
        </p:nvSpPr>
        <p:spPr>
          <a:xfrm xmlns:a="http://schemas.openxmlformats.org/drawingml/2006/main">
            <a:off x="6715232" y="2619375"/>
            <a:ext cx="910106"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8" name="!!detail_phase_bracket_r">
            <a:extLst xmlns:a="http://schemas.openxmlformats.org/drawingml/2006/main">
              <a:ext uri="{FF2B5EF4-FFF2-40B4-BE49-F238E27FC236}">
                <a16:creationId xmlns:a16="http://schemas.microsoft.com/office/drawing/2014/main" id="{C075D25A-F507-44DA-B4FF-6AC91DAE8B79}"/>
              </a:ext>
            </a:extLst>
          </p:cNvPr>
          <p:cNvSpPr>
            <a:spLocks xmlns:a="http://schemas.openxmlformats.org/drawingml/2006/main" noGrp="1"/>
          </p:cNvSpPr>
          <p:nvPr/>
        </p:nvSpPr>
        <p:spPr>
          <a:xfrm xmlns:a="http://schemas.openxmlformats.org/drawingml/2006/main">
            <a:off x="7625338"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9" name="!!detail_phase_stem">
            <a:extLst xmlns:a="http://schemas.openxmlformats.org/drawingml/2006/main">
              <a:ext uri="{FF2B5EF4-FFF2-40B4-BE49-F238E27FC236}">
                <a16:creationId xmlns:a16="http://schemas.microsoft.com/office/drawing/2014/main" id="{2BE84FCB-6862-49FF-AAE3-C39F22226AF9}"/>
              </a:ext>
            </a:extLst>
          </p:cNvPr>
          <p:cNvSpPr>
            <a:spLocks xmlns:a="http://schemas.openxmlformats.org/drawingml/2006/main" noGrp="1"/>
          </p:cNvSpPr>
          <p:nvPr/>
        </p:nvSpPr>
        <p:spPr>
          <a:xfrm xmlns:a="http://schemas.openxmlformats.org/drawingml/2006/main">
            <a:off x="7170285" y="2619375"/>
            <a:ext cx="13335" cy="2095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0" name="!!detail_phase_fork">
            <a:extLst xmlns:a="http://schemas.openxmlformats.org/drawingml/2006/main">
              <a:ext uri="{FF2B5EF4-FFF2-40B4-BE49-F238E27FC236}">
                <a16:creationId xmlns:a16="http://schemas.microsoft.com/office/drawing/2014/main" id="{E969F3D8-1646-4397-BD84-C8D183A32675}"/>
              </a:ext>
            </a:extLst>
          </p:cNvPr>
          <p:cNvSpPr>
            <a:spLocks xmlns:a="http://schemas.openxmlformats.org/drawingml/2006/main" noGrp="1"/>
          </p:cNvSpPr>
          <p:nvPr/>
        </p:nvSpPr>
        <p:spPr>
          <a:xfrm xmlns:a="http://schemas.openxmlformats.org/drawingml/2006/main">
            <a:off x="7170285" y="2828925"/>
            <a:ext cx="259284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1" name="!!detail_pm_branch_shaft">
            <a:extLst xmlns:a="http://schemas.openxmlformats.org/drawingml/2006/main">
              <a:ext uri="{FF2B5EF4-FFF2-40B4-BE49-F238E27FC236}">
                <a16:creationId xmlns:a16="http://schemas.microsoft.com/office/drawing/2014/main" id="{DA9BBF5A-9A6E-46D5-BF43-C66CF5AC05E3}"/>
              </a:ext>
            </a:extLst>
          </p:cNvPr>
          <p:cNvSpPr>
            <a:spLocks xmlns:a="http://schemas.openxmlformats.org/drawingml/2006/main" noGrp="1"/>
          </p:cNvSpPr>
          <p:nvPr/>
        </p:nvSpPr>
        <p:spPr>
          <a:xfrm xmlns:a="http://schemas.openxmlformats.org/drawingml/2006/main">
            <a:off x="7353300"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2" name="!!detail_pm_branch_head">
            <a:extLst xmlns:a="http://schemas.openxmlformats.org/drawingml/2006/main">
              <a:ext uri="{FF2B5EF4-FFF2-40B4-BE49-F238E27FC236}">
                <a16:creationId xmlns:a16="http://schemas.microsoft.com/office/drawing/2014/main" id="{D16E8E93-1F43-4C1B-A92C-CF604DC49268}"/>
              </a:ext>
            </a:extLst>
          </p:cNvPr>
          <p:cNvSpPr>
            <a:spLocks xmlns:a="http://schemas.openxmlformats.org/drawingml/2006/main" noGrp="1"/>
          </p:cNvSpPr>
          <p:nvPr/>
        </p:nvSpPr>
        <p:spPr>
          <a:xfrm xmlns:a="http://schemas.openxmlformats.org/drawingml/2006/main" rot="10800000">
            <a:off x="7319963"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3" name="!!detail_fm_branch_shaft">
            <a:extLst xmlns:a="http://schemas.openxmlformats.org/drawingml/2006/main">
              <a:ext uri="{FF2B5EF4-FFF2-40B4-BE49-F238E27FC236}">
                <a16:creationId xmlns:a16="http://schemas.microsoft.com/office/drawing/2014/main" id="{7E6992DC-24C0-4B2D-A29A-E18AA01E9A95}"/>
              </a:ext>
            </a:extLst>
          </p:cNvPr>
          <p:cNvSpPr>
            <a:spLocks xmlns:a="http://schemas.openxmlformats.org/drawingml/2006/main" noGrp="1"/>
          </p:cNvSpPr>
          <p:nvPr/>
        </p:nvSpPr>
        <p:spPr>
          <a:xfrm xmlns:a="http://schemas.openxmlformats.org/drawingml/2006/main">
            <a:off x="9763125"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4" name="!!detail_fm_branch_head">
            <a:extLst xmlns:a="http://schemas.openxmlformats.org/drawingml/2006/main">
              <a:ext uri="{FF2B5EF4-FFF2-40B4-BE49-F238E27FC236}">
                <a16:creationId xmlns:a16="http://schemas.microsoft.com/office/drawing/2014/main" id="{2A42B708-6D65-4625-8E55-D4AE49AEE1DF}"/>
              </a:ext>
            </a:extLst>
          </p:cNvPr>
          <p:cNvSpPr>
            <a:spLocks xmlns:a="http://schemas.openxmlformats.org/drawingml/2006/main" noGrp="1"/>
          </p:cNvSpPr>
          <p:nvPr/>
        </p:nvSpPr>
        <p:spPr>
          <a:xfrm xmlns:a="http://schemas.openxmlformats.org/drawingml/2006/main" rot="10800000">
            <a:off x="9729788"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5" name="!!detail_amplitude_operation">
            <a:extLst xmlns:a="http://schemas.openxmlformats.org/drawingml/2006/main">
              <a:ext uri="{FF2B5EF4-FFF2-40B4-BE49-F238E27FC236}">
                <a16:creationId xmlns:a16="http://schemas.microsoft.com/office/drawing/2014/main" id="{018F10CA-D063-4AD8-B169-06EC470B17C2}"/>
              </a:ext>
            </a:extLst>
          </p:cNvPr>
          <p:cNvSpPr>
            <a:spLocks xmlns:a="http://schemas.openxmlformats.org/drawingml/2006/main" noGrp="1"/>
          </p:cNvSpPr>
          <p:nvPr/>
        </p:nvSpPr>
        <p:spPr>
          <a:xfrm xmlns:a="http://schemas.openxmlformats.org/drawingml/2006/main">
            <a:off x="3981450" y="307657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amplitude</a:t>
            </a:r>
          </a:p>
        </p:txBody>
      </p:sp>
      <p:sp>
        <p:nvSpPr>
          <p:cNvPr id="46" name="!!detail_phase_operation">
            <a:extLst xmlns:a="http://schemas.openxmlformats.org/drawingml/2006/main">
              <a:ext uri="{FF2B5EF4-FFF2-40B4-BE49-F238E27FC236}">
                <a16:creationId xmlns:a16="http://schemas.microsoft.com/office/drawing/2014/main" id="{98278DB6-EAAE-4C18-AEB0-2D61526D2B78}"/>
              </a:ext>
            </a:extLst>
          </p:cNvPr>
          <p:cNvSpPr>
            <a:spLocks xmlns:a="http://schemas.openxmlformats.org/drawingml/2006/main" noGrp="1"/>
          </p:cNvSpPr>
          <p:nvPr/>
        </p:nvSpPr>
        <p:spPr>
          <a:xfrm xmlns:a="http://schemas.openxmlformats.org/drawingml/2006/main">
            <a:off x="6419850" y="3076575"/>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phase</a:t>
            </a:r>
          </a:p>
        </p:txBody>
      </p:sp>
      <p:sp>
        <p:nvSpPr>
          <p:cNvPr id="47" name="!!detail_frequency_operation">
            <a:extLst xmlns:a="http://schemas.openxmlformats.org/drawingml/2006/main">
              <a:ext uri="{FF2B5EF4-FFF2-40B4-BE49-F238E27FC236}">
                <a16:creationId xmlns:a16="http://schemas.microsoft.com/office/drawing/2014/main" id="{334E0337-EB6F-4A08-950F-4454F4489244}"/>
              </a:ext>
            </a:extLst>
          </p:cNvPr>
          <p:cNvSpPr>
            <a:spLocks xmlns:a="http://schemas.openxmlformats.org/drawingml/2006/main" noGrp="1"/>
          </p:cNvSpPr>
          <p:nvPr/>
        </p:nvSpPr>
        <p:spPr>
          <a:xfrm xmlns:a="http://schemas.openxmlformats.org/drawingml/2006/main">
            <a:off x="8524875"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frequency</a:t>
            </a:r>
          </a:p>
        </p:txBody>
      </p:sp>
      <p:sp>
        <p:nvSpPr>
          <p:cNvPr id="48" name="!!detail_pulse_label">
            <a:extLst xmlns:a="http://schemas.openxmlformats.org/drawingml/2006/main">
              <a:ext uri="{FF2B5EF4-FFF2-40B4-BE49-F238E27FC236}">
                <a16:creationId xmlns:a16="http://schemas.microsoft.com/office/drawing/2014/main" id="{3C0AD1B9-73D9-4DAB-B5F5-6AD48C94B925}"/>
              </a:ext>
            </a:extLst>
          </p:cNvPr>
          <p:cNvSpPr>
            <a:spLocks xmlns:a="http://schemas.openxmlformats.org/drawingml/2006/main" noGrp="1"/>
          </p:cNvSpPr>
          <p:nvPr/>
        </p:nvSpPr>
        <p:spPr>
          <a:xfrm xmlns:a="http://schemas.openxmlformats.org/drawingml/2006/main">
            <a:off x="3257550" y="4152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Pulses</a:t>
            </a:r>
          </a:p>
        </p:txBody>
      </p:sp>
      <p:sp>
        <p:nvSpPr>
          <p:cNvPr id="52" name="!!detail_sample_bracket_l">
            <a:extLst xmlns:a="http://schemas.openxmlformats.org/drawingml/2006/main">
              <a:ext uri="{FF2B5EF4-FFF2-40B4-BE49-F238E27FC236}">
                <a16:creationId xmlns:a16="http://schemas.microsoft.com/office/drawing/2014/main" id="{A81E0BB7-EA35-443E-9A9A-DFE0D7156D28}"/>
              </a:ext>
            </a:extLst>
          </p:cNvPr>
          <p:cNvSpPr>
            <a:spLocks xmlns:a="http://schemas.openxmlformats.org/drawingml/2006/main" noGrp="1"/>
          </p:cNvSpPr>
          <p:nvPr/>
        </p:nvSpPr>
        <p:spPr>
          <a:xfrm xmlns:a="http://schemas.openxmlformats.org/drawingml/2006/main">
            <a:off x="5331927"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3" name="!!detail_sample_bracket_b">
            <a:extLst xmlns:a="http://schemas.openxmlformats.org/drawingml/2006/main">
              <a:ext uri="{FF2B5EF4-FFF2-40B4-BE49-F238E27FC236}">
                <a16:creationId xmlns:a16="http://schemas.microsoft.com/office/drawing/2014/main" id="{8C3FDFD7-B55E-4D35-867F-C18CF30CAD25}"/>
              </a:ext>
            </a:extLst>
          </p:cNvPr>
          <p:cNvSpPr>
            <a:spLocks xmlns:a="http://schemas.openxmlformats.org/drawingml/2006/main" noGrp="1"/>
          </p:cNvSpPr>
          <p:nvPr/>
        </p:nvSpPr>
        <p:spPr>
          <a:xfrm xmlns:a="http://schemas.openxmlformats.org/drawingml/2006/main">
            <a:off x="5331927" y="5181600"/>
            <a:ext cx="1515522"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4" name="!!detail_sample_bracket_r">
            <a:extLst xmlns:a="http://schemas.openxmlformats.org/drawingml/2006/main">
              <a:ext uri="{FF2B5EF4-FFF2-40B4-BE49-F238E27FC236}">
                <a16:creationId xmlns:a16="http://schemas.microsoft.com/office/drawing/2014/main" id="{D606A1BB-29C9-4E49-9001-00324A0D4427}"/>
              </a:ext>
            </a:extLst>
          </p:cNvPr>
          <p:cNvSpPr>
            <a:spLocks xmlns:a="http://schemas.openxmlformats.org/drawingml/2006/main" noGrp="1"/>
          </p:cNvSpPr>
          <p:nvPr/>
        </p:nvSpPr>
        <p:spPr>
          <a:xfrm xmlns:a="http://schemas.openxmlformats.org/drawingml/2006/main">
            <a:off x="6847448"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5" name="!!detail_pulse_control_shaft">
            <a:extLst xmlns:a="http://schemas.openxmlformats.org/drawingml/2006/main">
              <a:ext uri="{FF2B5EF4-FFF2-40B4-BE49-F238E27FC236}">
                <a16:creationId xmlns:a16="http://schemas.microsoft.com/office/drawing/2014/main" id="{D973FD33-8853-4F09-B677-108AE2E2FF2B}"/>
              </a:ext>
            </a:extLst>
          </p:cNvPr>
          <p:cNvSpPr>
            <a:spLocks xmlns:a="http://schemas.openxmlformats.org/drawingml/2006/main" noGrp="1"/>
          </p:cNvSpPr>
          <p:nvPr/>
        </p:nvSpPr>
        <p:spPr>
          <a:xfrm xmlns:a="http://schemas.openxmlformats.org/drawingml/2006/main">
            <a:off x="6089687" y="5181600"/>
            <a:ext cx="13335" cy="2571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6" name="!!detail_pulse_control_head">
            <a:extLst xmlns:a="http://schemas.openxmlformats.org/drawingml/2006/main">
              <a:ext uri="{FF2B5EF4-FFF2-40B4-BE49-F238E27FC236}">
                <a16:creationId xmlns:a16="http://schemas.microsoft.com/office/drawing/2014/main" id="{5AC0C46B-5CE2-4E57-88F9-A19750E5B211}"/>
              </a:ext>
            </a:extLst>
          </p:cNvPr>
          <p:cNvSpPr>
            <a:spLocks xmlns:a="http://schemas.openxmlformats.org/drawingml/2006/main" noGrp="1"/>
          </p:cNvSpPr>
          <p:nvPr/>
        </p:nvSpPr>
        <p:spPr>
          <a:xfrm xmlns:a="http://schemas.openxmlformats.org/drawingml/2006/main" rot="10800000">
            <a:off x="6056350" y="541972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57" name="!!detail_pulse_operation">
            <a:extLst xmlns:a="http://schemas.openxmlformats.org/drawingml/2006/main">
              <a:ext uri="{FF2B5EF4-FFF2-40B4-BE49-F238E27FC236}">
                <a16:creationId xmlns:a16="http://schemas.microsoft.com/office/drawing/2014/main" id="{CF939668-3D26-47C9-BBF1-0E1ABE593230}"/>
              </a:ext>
            </a:extLst>
          </p:cNvPr>
          <p:cNvSpPr>
            <a:spLocks xmlns:a="http://schemas.openxmlformats.org/drawingml/2006/main" noGrp="1"/>
          </p:cNvSpPr>
          <p:nvPr/>
        </p:nvSpPr>
        <p:spPr>
          <a:xfrm xmlns:a="http://schemas.openxmlformats.org/drawingml/2006/main">
            <a:off x="4756187" y="5543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pulse height</a:t>
            </a:r>
          </a:p>
        </p:txBody>
      </p:sp>
      <p:pic>
        <p:nvPicPr>
          <p:cNvPr id="58"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6c33fe8690204575">
            <a:alphaModFix amt="35000"/>
            <a:extLst>
              <a:ext uri="{96DAC541-7B7A-43D3-8B79-37D633B846F1}">
                <asvg:svgBlip xmlns:asvg="http://schemas.microsoft.com/office/drawing/2016/SVG/main" r:embed="rIdLatex58"/>
              </a:ext>
            </a:extLst>
          </a:blip>
          <a:stretch xmlns:a="http://schemas.openxmlformats.org/drawingml/2006/main"/>
        </p:blipFill>
        <p:spPr>
          <a:xfrm xmlns:a="http://schemas.openxmlformats.org/drawingml/2006/main">
            <a:off x="1862138" y="666762"/>
            <a:ext cx="657225" cy="285725"/>
          </a:xfrm>
          <a:prstGeom xmlns:a="http://schemas.openxmlformats.org/drawingml/2006/main" prst="rect">
            <a:avLst/>
          </a:prstGeom>
        </p:spPr>
      </p:pic>
      <p:pic>
        <p:nvPicPr>
          <p:cNvPr id="59"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e6a39991428447d5">
            <a:alphaModFix amt="35000"/>
            <a:extLst>
              <a:ext uri="{96DAC541-7B7A-43D3-8B79-37D633B846F1}">
                <asvg:svgBlip xmlns:asvg="http://schemas.microsoft.com/office/drawing/2016/SVG/main" r:embed="rIdLatex59"/>
              </a:ext>
            </a:extLst>
          </a:blip>
          <a:stretch xmlns:a="http://schemas.openxmlformats.org/drawingml/2006/main"/>
        </p:blipFill>
        <p:spPr>
          <a:xfrm xmlns:a="http://schemas.openxmlformats.org/drawingml/2006/main">
            <a:off x="9672638" y="666762"/>
            <a:ext cx="657225" cy="285725"/>
          </a:xfrm>
          <a:prstGeom xmlns:a="http://schemas.openxmlformats.org/drawingml/2006/main" prst="rect">
            <a:avLst/>
          </a:prstGeom>
        </p:spPr>
      </p:pic>
      <p:sp>
        <p:nvSpPr>
          <p:cNvPr id="60" name="!!tx_shaft">
            <a:extLst xmlns:a="http://schemas.openxmlformats.org/drawingml/2006/main">
              <a:ext uri="{FF2B5EF4-FFF2-40B4-BE49-F238E27FC236}">
                <a16:creationId xmlns:a16="http://schemas.microsoft.com/office/drawing/2014/main" id="{DA5D3AC2-F845-442D-BFBF-2932A196DE8C}"/>
              </a:ext>
            </a:extLst>
          </p:cNvPr>
          <p:cNvSpPr>
            <a:spLocks xmlns:a="http://schemas.openxmlformats.org/drawingml/2006/main" noGrp="1"/>
          </p:cNvSpPr>
          <p:nvPr/>
        </p:nvSpPr>
        <p:spPr>
          <a:xfrm xmlns:a="http://schemas.openxmlformats.org/drawingml/2006/main">
            <a:off x="29051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1" name="!!tx_head">
            <a:extLst xmlns:a="http://schemas.openxmlformats.org/drawingml/2006/main">
              <a:ext uri="{FF2B5EF4-FFF2-40B4-BE49-F238E27FC236}">
                <a16:creationId xmlns:a16="http://schemas.microsoft.com/office/drawing/2014/main" id="{2F0FD6C9-7ADC-4400-9620-B71568B42746}"/>
              </a:ext>
            </a:extLst>
          </p:cNvPr>
          <p:cNvSpPr>
            <a:spLocks xmlns:a="http://schemas.openxmlformats.org/drawingml/2006/main" noGrp="1"/>
          </p:cNvSpPr>
          <p:nvPr/>
        </p:nvSpPr>
        <p:spPr>
          <a:xfrm xmlns:a="http://schemas.openxmlformats.org/drawingml/2006/main" rot="5400000">
            <a:off x="50387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2" name="!!rx_shaft">
            <a:extLst xmlns:a="http://schemas.openxmlformats.org/drawingml/2006/main">
              <a:ext uri="{FF2B5EF4-FFF2-40B4-BE49-F238E27FC236}">
                <a16:creationId xmlns:a16="http://schemas.microsoft.com/office/drawing/2014/main" id="{14E7D56D-AF07-4F65-9FA7-27C71C366D5E}"/>
              </a:ext>
            </a:extLst>
          </p:cNvPr>
          <p:cNvSpPr>
            <a:spLocks xmlns:a="http://schemas.openxmlformats.org/drawingml/2006/main" noGrp="1"/>
          </p:cNvSpPr>
          <p:nvPr/>
        </p:nvSpPr>
        <p:spPr>
          <a:xfrm xmlns:a="http://schemas.openxmlformats.org/drawingml/2006/main">
            <a:off x="70580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3" name="!!rx_head">
            <a:extLst xmlns:a="http://schemas.openxmlformats.org/drawingml/2006/main">
              <a:ext uri="{FF2B5EF4-FFF2-40B4-BE49-F238E27FC236}">
                <a16:creationId xmlns:a16="http://schemas.microsoft.com/office/drawing/2014/main" id="{ED4F3CEF-0986-4097-9C7A-B8ABC14FA105}"/>
              </a:ext>
            </a:extLst>
          </p:cNvPr>
          <p:cNvSpPr>
            <a:spLocks xmlns:a="http://schemas.openxmlformats.org/drawingml/2006/main" noGrp="1"/>
          </p:cNvSpPr>
          <p:nvPr/>
        </p:nvSpPr>
        <p:spPr>
          <a:xfrm xmlns:a="http://schemas.openxmlformats.org/drawingml/2006/main" rot="5400000">
            <a:off x="91916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4" name="!!detail_focus_stem">
            <a:extLst xmlns:a="http://schemas.openxmlformats.org/drawingml/2006/main">
              <a:ext uri="{FF2B5EF4-FFF2-40B4-BE49-F238E27FC236}">
                <a16:creationId xmlns:a16="http://schemas.microsoft.com/office/drawing/2014/main" id="{845FC1F8-8527-49FA-9B69-05011554E2DB}"/>
              </a:ext>
            </a:extLst>
          </p:cNvPr>
          <p:cNvSpPr>
            <a:spLocks xmlns:a="http://schemas.openxmlformats.org/drawingml/2006/main" noGrp="1"/>
          </p:cNvSpPr>
          <p:nvPr/>
        </p:nvSpPr>
        <p:spPr>
          <a:xfrm xmlns:a="http://schemas.openxmlformats.org/drawingml/2006/main">
            <a:off x="6096000" y="1209675"/>
            <a:ext cx="13335" cy="1428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5" name="!!detail_focus_cross">
            <a:extLst xmlns:a="http://schemas.openxmlformats.org/drawingml/2006/main">
              <a:ext uri="{FF2B5EF4-FFF2-40B4-BE49-F238E27FC236}">
                <a16:creationId xmlns:a16="http://schemas.microsoft.com/office/drawing/2014/main" id="{6FA5E81D-8D14-47BD-9849-9877B447DAAB}"/>
              </a:ext>
            </a:extLst>
          </p:cNvPr>
          <p:cNvSpPr>
            <a:spLocks xmlns:a="http://schemas.openxmlformats.org/drawingml/2006/main" noGrp="1"/>
          </p:cNvSpPr>
          <p:nvPr/>
        </p:nvSpPr>
        <p:spPr>
          <a:xfrm xmlns:a="http://schemas.openxmlformats.org/drawingml/2006/main">
            <a:off x="2390775" y="1352550"/>
            <a:ext cx="371856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1560762499"/>
      </p:ext>
    </p:extLst>
  </p:cSld>
</p:sld>
</file>

<file path=ppt/slides/methods_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mreview-title">
            <ns0:hlinkClick xmlns:ns0="http://schemas.openxmlformats.org/drawingml/2006/main" xmlns:ns1="http://schemas.openxmlformats.org/officeDocument/2006/relationships" ns1:id="rIdmethods_Link90" action="ppaction://hlinksldjump"/>
            <a:extLst xmlns:a="http://schemas.openxmlformats.org/drawingml/2006/main">
              <a:ext uri="{FF2B5EF4-FFF2-40B4-BE49-F238E27FC236}">
                <a16:creationId xmlns:a16="http://schemas.microsoft.com/office/drawing/2014/main" id="{A06165D2-06FC-40CE-AE19-973654BA0FE5}"/>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90" action="ppaction://hlinksldjump"/>
              </a:rPr>
              <a:t>AM schemes</a:t>
            </a:r>
          </a:p>
        </p:txBody>
      </p:sp>
      <p:sp>
        <p:nvSpPr>
          <p:cNvPr id="2" name="!!amreview-route-tx-line">
            <a:extLst xmlns:a="http://schemas.openxmlformats.org/drawingml/2006/main">
              <a:ext uri="{FF2B5EF4-FFF2-40B4-BE49-F238E27FC236}">
                <a16:creationId xmlns:a16="http://schemas.microsoft.com/office/drawing/2014/main" id="{CBB12659-63F1-467C-82A9-D299CA0D0075}"/>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amreview-route-tx-head">
            <a:extLst xmlns:a="http://schemas.openxmlformats.org/drawingml/2006/main">
              <a:ext uri="{FF2B5EF4-FFF2-40B4-BE49-F238E27FC236}">
                <a16:creationId xmlns:a16="http://schemas.microsoft.com/office/drawing/2014/main" id="{71F55EDF-0007-4018-9FA8-D6A36F47A5D2}"/>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amreview-route-rx-line">
            <a:extLst xmlns:a="http://schemas.openxmlformats.org/drawingml/2006/main">
              <a:ext uri="{FF2B5EF4-FFF2-40B4-BE49-F238E27FC236}">
                <a16:creationId xmlns:a16="http://schemas.microsoft.com/office/drawing/2014/main" id="{12849CF2-CD33-4633-8EEE-C7F37C207411}"/>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amreview-route-rx-head">
            <a:extLst xmlns:a="http://schemas.openxmlformats.org/drawingml/2006/main">
              <a:ext uri="{FF2B5EF4-FFF2-40B4-BE49-F238E27FC236}">
                <a16:creationId xmlns:a16="http://schemas.microsoft.com/office/drawing/2014/main" id="{53440C85-E3F3-4CD0-91A6-48595E652CAD}"/>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mreview-review-purpose">
            <a:extLst xmlns:a="http://schemas.openxmlformats.org/drawingml/2006/main">
              <a:ext uri="{FF2B5EF4-FFF2-40B4-BE49-F238E27FC236}">
                <a16:creationId xmlns:a16="http://schemas.microsoft.com/office/drawing/2014/main" id="{676A4519-390A-4D92-930E-48F3BED7B48E}"/>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Change the carrier amplitude in four ways</a:t>
            </a:r>
          </a:p>
        </p:txBody>
      </p:sp>
      <p:sp>
        <p:nvSpPr>
          <p:cNvPr id="7" name="!!amreview-method0">
            <ns0:hlinkClick xmlns:ns0="http://schemas.openxmlformats.org/drawingml/2006/main" xmlns:ns1="http://schemas.openxmlformats.org/officeDocument/2006/relationships" ns1:id="rIdmethods_Link94" action="ppaction://hlinksldjump"/>
            <a:extLst xmlns:a="http://schemas.openxmlformats.org/drawingml/2006/main">
              <a:ext uri="{FF2B5EF4-FFF2-40B4-BE49-F238E27FC236}">
                <a16:creationId xmlns:a16="http://schemas.microsoft.com/office/drawing/2014/main" id="{1249B047-7D95-4BAE-B7FA-330B4A09524D}"/>
              </a:ext>
            </a:extLst>
          </p:cNvPr>
          <p:cNvSpPr>
            <a:spLocks xmlns:a="http://schemas.openxmlformats.org/drawingml/2006/main" noGrp="1"/>
          </p:cNvSpPr>
          <p:nvPr/>
        </p:nvSpPr>
        <p:spPr>
          <a:xfrm xmlns:a="http://schemas.openxmlformats.org/drawingml/2006/main">
            <a:off x="857250" y="22860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hlinkClick xmlns:ns1="http://schemas.openxmlformats.org/officeDocument/2006/relationships" ns1:id="rIdmethods_Link94" action="ppaction://hlinksldjump"/>
              </a:rPr>
              <a:t>DSB-SC</a:t>
            </a:r>
          </a:p>
        </p:txBody>
      </p:sp>
      <p:sp>
        <p:nvSpPr>
          <p:cNvPr id="8" name="!!amreview-method1">
            <ns0:hlinkClick xmlns:ns0="http://schemas.openxmlformats.org/drawingml/2006/main" xmlns:ns1="http://schemas.openxmlformats.org/officeDocument/2006/relationships" ns1:id="rIdmethods_Link96" action="ppaction://hlinksldjump"/>
            <a:extLst xmlns:a="http://schemas.openxmlformats.org/drawingml/2006/main">
              <a:ext uri="{FF2B5EF4-FFF2-40B4-BE49-F238E27FC236}">
                <a16:creationId xmlns:a16="http://schemas.microsoft.com/office/drawing/2014/main" id="{E7B419E6-1708-4784-B73D-833740E132E8}"/>
              </a:ext>
            </a:extLst>
          </p:cNvPr>
          <p:cNvSpPr>
            <a:spLocks xmlns:a="http://schemas.openxmlformats.org/drawingml/2006/main" noGrp="1"/>
          </p:cNvSpPr>
          <p:nvPr/>
        </p:nvSpPr>
        <p:spPr>
          <a:xfrm xmlns:a="http://schemas.openxmlformats.org/drawingml/2006/main">
            <a:off x="857250" y="32004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hlinkClick xmlns:ns1="http://schemas.openxmlformats.org/officeDocument/2006/relationships" ns1:id="rIdmethods_Link96" action="ppaction://hlinksldjump"/>
              </a:rPr>
              <a:t>AM</a:t>
            </a:r>
          </a:p>
        </p:txBody>
      </p:sp>
      <p:sp>
        <p:nvSpPr>
          <p:cNvPr id="9" name="!!amreview-method2">
            <ns0:hlinkClick xmlns:ns0="http://schemas.openxmlformats.org/drawingml/2006/main" xmlns:ns1="http://schemas.openxmlformats.org/officeDocument/2006/relationships" ns1:id="rIdmethods_Link98" action="ppaction://hlinksldjump"/>
            <a:extLst xmlns:a="http://schemas.openxmlformats.org/drawingml/2006/main">
              <a:ext uri="{FF2B5EF4-FFF2-40B4-BE49-F238E27FC236}">
                <a16:creationId xmlns:a16="http://schemas.microsoft.com/office/drawing/2014/main" id="{F5F94425-E428-49A7-8C7F-54B15951CCE5}"/>
              </a:ext>
            </a:extLst>
          </p:cNvPr>
          <p:cNvSpPr>
            <a:spLocks xmlns:a="http://schemas.openxmlformats.org/drawingml/2006/main" noGrp="1"/>
          </p:cNvSpPr>
          <p:nvPr/>
        </p:nvSpPr>
        <p:spPr>
          <a:xfrm xmlns:a="http://schemas.openxmlformats.org/drawingml/2006/main">
            <a:off x="857250" y="41148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hlinkClick xmlns:ns1="http://schemas.openxmlformats.org/officeDocument/2006/relationships" ns1:id="rIdmethods_Link98" action="ppaction://hlinksldjump"/>
              </a:rPr>
              <a:t>SSB</a:t>
            </a:r>
          </a:p>
        </p:txBody>
      </p:sp>
      <p:sp>
        <p:nvSpPr>
          <p:cNvPr id="10" name="!!amreview-method3">
            <ns0:hlinkClick xmlns:ns0="http://schemas.openxmlformats.org/drawingml/2006/main" xmlns:ns1="http://schemas.openxmlformats.org/officeDocument/2006/relationships" ns1:id="rIdmethods_Link100" action="ppaction://hlinksldjump"/>
            <a:extLst xmlns:a="http://schemas.openxmlformats.org/drawingml/2006/main">
              <a:ext uri="{FF2B5EF4-FFF2-40B4-BE49-F238E27FC236}">
                <a16:creationId xmlns:a16="http://schemas.microsoft.com/office/drawing/2014/main" id="{E6DC30E5-78EA-4828-8ABF-5280368C54D4}"/>
              </a:ext>
            </a:extLst>
          </p:cNvPr>
          <p:cNvSpPr>
            <a:spLocks xmlns:a="http://schemas.openxmlformats.org/drawingml/2006/main" noGrp="1"/>
          </p:cNvSpPr>
          <p:nvPr/>
        </p:nvSpPr>
        <p:spPr>
          <a:xfrm xmlns:a="http://schemas.openxmlformats.org/drawingml/2006/main">
            <a:off x="857250" y="50292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hlinkClick xmlns:ns1="http://schemas.openxmlformats.org/officeDocument/2006/relationships" ns1:id="rIdmethods_Link100" action="ppaction://hlinksldjump"/>
              </a:rPr>
              <a:t>QAM</a:t>
            </a:r>
          </a:p>
        </p:txBody>
      </p:sp>
      <p:pic>
        <p:nvPicPr>
          <p:cNvPr id="28" name="!!amreview-route-m" descr="m(t)">
            <ns0:hlinkClick xmlns:ns0="http://schemas.openxmlformats.org/drawingml/2006/main" xmlns:ns1="http://schemas.openxmlformats.org/officeDocument/2006/relationships" ns1:id="rIdmethods_Link9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ca485e6c23bb4ff5">
            <a:extLst>
              <a:ext uri="{96DAC541-7B7A-43D3-8B79-37D633B846F1}">
                <ns0:svgBlip xmlns:ns0="http://schemas.microsoft.com/office/drawing/2016/SVG/main" r:embed="rIdVectormf00447"/>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29" name="!!amreview-route-s" descr="s(t)">
            <ns0:hlinkClick xmlns:ns0="http://schemas.openxmlformats.org/drawingml/2006/main" xmlns:ns1="http://schemas.openxmlformats.org/officeDocument/2006/relationships" ns1:id="rIdmethods_Link9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0648ba578db2449e">
            <a:extLst>
              <a:ext uri="{96DAC541-7B7A-43D3-8B79-37D633B846F1}">
                <ns1:svgBlip xmlns:ns1="http://schemas.microsoft.com/office/drawing/2016/SVG/main" r:embed="rIdVectormf00448"/>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30" name="!!amreview-route-restored" descr="m(t)">
            <ns0:hlinkClick xmlns:ns0="http://schemas.openxmlformats.org/drawingml/2006/main" xmlns:ns1="http://schemas.openxmlformats.org/officeDocument/2006/relationships" ns1:id="rIdmethods_Link9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5523330139db4a2b">
            <a:extLst>
              <a:ext uri="{96DAC541-7B7A-43D3-8B79-37D633B846F1}">
                <ns2:svgBlip xmlns:ns2="http://schemas.microsoft.com/office/drawing/2016/SVG/main" r:embed="rIdVectormf00449"/>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31" name="!!amreview-operation0" descr="m(t)\times A_c\cos(2\pi f_ct)">
            <ns0:hlinkClick xmlns:ns0="http://schemas.openxmlformats.org/drawingml/2006/main" xmlns:ns1="http://schemas.openxmlformats.org/officeDocument/2006/relationships" ns1:id="rIdmethods_Link9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59efc46683f4a8f">
            <a:extLst>
              <a:ext uri="{96DAC541-7B7A-43D3-8B79-37D633B846F1}">
                <ns3:svgBlip xmlns:ns3="http://schemas.microsoft.com/office/drawing/2016/SVG/main" r:embed="rIdVectormf00450"/>
              </a:ext>
            </a:extLst>
          </a:blip>
          <a:stretch xmlns:a="http://schemas.openxmlformats.org/drawingml/2006/main"/>
        </p:blipFill>
        <p:spPr>
          <a:xfrm xmlns:a="http://schemas.openxmlformats.org/drawingml/2006/main">
            <a:off x="3476625" y="2372588"/>
            <a:ext cx="2789873" cy="274499"/>
          </a:xfrm>
          <a:prstGeom xmlns:a="http://schemas.openxmlformats.org/drawingml/2006/main" prst="rect">
            <a:avLst/>
          </a:prstGeom>
        </p:spPr>
      </p:pic>
      <p:pic>
        <p:nvPicPr>
          <p:cNvPr id="32" name="!!amreview-operation1" descr="[1+k_am(t)]\times A_c\cos(2\pi f_ct)">
            <ns0:hlinkClick xmlns:ns0="http://schemas.openxmlformats.org/drawingml/2006/main" xmlns:ns1="http://schemas.openxmlformats.org/officeDocument/2006/relationships" ns1:id="rIdmethods_Link9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e366682ed5ad4ce8">
            <a:extLst>
              <a:ext uri="{96DAC541-7B7A-43D3-8B79-37D633B846F1}">
                <ns4:svgBlip xmlns:ns4="http://schemas.microsoft.com/office/drawing/2016/SVG/main" r:embed="rIdVectormf00451"/>
              </a:ext>
            </a:extLst>
          </a:blip>
          <a:stretch xmlns:a="http://schemas.openxmlformats.org/drawingml/2006/main"/>
        </p:blipFill>
        <p:spPr>
          <a:xfrm xmlns:a="http://schemas.openxmlformats.org/drawingml/2006/main">
            <a:off x="3476625" y="3286988"/>
            <a:ext cx="3811905" cy="274499"/>
          </a:xfrm>
          <a:prstGeom xmlns:a="http://schemas.openxmlformats.org/drawingml/2006/main" prst="rect">
            <a:avLst/>
          </a:prstGeom>
        </p:spPr>
      </p:pic>
      <p:pic>
        <p:nvPicPr>
          <p:cNvPr id="33" name="!!amreview-operation2" descr="\mathrm{DSB\! -\! SC}\ \longrightarrow\ \text{keep one sideband + its mirror}">
            <ns0:hlinkClick xmlns:ns0="http://schemas.openxmlformats.org/drawingml/2006/main" xmlns:ns1="http://schemas.openxmlformats.org/officeDocument/2006/relationships" ns1:id="rIdmethods_Link9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ff485bf793a4698">
            <a:extLst>
              <a:ext uri="{96DAC541-7B7A-43D3-8B79-37D633B846F1}">
                <ns5:svgBlip xmlns:ns5="http://schemas.microsoft.com/office/drawing/2016/SVG/main" r:embed="rIdVectormf00452"/>
              </a:ext>
            </a:extLst>
          </a:blip>
          <a:stretch xmlns:a="http://schemas.openxmlformats.org/drawingml/2006/main"/>
        </p:blipFill>
        <p:spPr>
          <a:xfrm xmlns:a="http://schemas.openxmlformats.org/drawingml/2006/main">
            <a:off x="3476625" y="4216063"/>
            <a:ext cx="6546533" cy="245150"/>
          </a:xfrm>
          <a:prstGeom xmlns:a="http://schemas.openxmlformats.org/drawingml/2006/main" prst="rect">
            <a:avLst/>
          </a:prstGeom>
        </p:spPr>
      </p:pic>
      <p:pic>
        <p:nvPicPr>
          <p:cNvPr id="34" name="!!amreview-operation3" descr="\textstyle A_cm_1(t)\cos(2\pi f_ct)+A_cm_2(t)\sin(2\pi f_ct)">
            <ns0:hlinkClick xmlns:ns0="http://schemas.openxmlformats.org/drawingml/2006/main" xmlns:ns1="http://schemas.openxmlformats.org/officeDocument/2006/relationships" ns1:id="rIdmethods_Link10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604d9a17458e4920">
            <a:extLst>
              <a:ext uri="{96DAC541-7B7A-43D3-8B79-37D633B846F1}">
                <ns6:svgBlip xmlns:ns6="http://schemas.microsoft.com/office/drawing/2016/SVG/main" r:embed="rIdVectormf00453"/>
              </a:ext>
            </a:extLst>
          </a:blip>
          <a:stretch xmlns:a="http://schemas.openxmlformats.org/drawingml/2006/main"/>
        </p:blipFill>
        <p:spPr>
          <a:xfrm xmlns:a="http://schemas.openxmlformats.org/drawingml/2006/main">
            <a:off x="3476625" y="5129213"/>
            <a:ext cx="4878705" cy="247650"/>
          </a:xfrm>
          <a:prstGeom xmlns:a="http://schemas.openxmlformats.org/drawingml/2006/main" prst="rect">
            <a:avLst/>
          </a:prstGeom>
        </p:spPr>
      </p:pic>
    </p:spTree>
    <p:extLst>
      <p:ext uri="{BB962C8B-B14F-4D97-AF65-F5344CB8AC3E}">
        <p14:creationId xmlns:p14="http://schemas.microsoft.com/office/powerpoint/2010/main" val="1817649017"/>
      </p:ext>
    </p:extLst>
  </p:cSld>
</p:sld>
</file>

<file path=ppt/slides/methods_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dsbsc-title">
            <ns0:hlinkClick xmlns:ns0="http://schemas.openxmlformats.org/drawingml/2006/main" xmlns:ns1="http://schemas.openxmlformats.org/officeDocument/2006/relationships" ns1:id="rIdmethods_Link102" action="ppaction://hlinksldjump"/>
            <a:extLst xmlns:a="http://schemas.openxmlformats.org/drawingml/2006/main">
              <a:ext uri="{FF2B5EF4-FFF2-40B4-BE49-F238E27FC236}">
                <a16:creationId xmlns:a16="http://schemas.microsoft.com/office/drawing/2014/main" id="{94C16370-CE8C-4C67-A09C-FB5F4F085C7E}"/>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02" action="ppaction://hlinksldjump"/>
              </a:rPr>
              <a:t>DSB-SC</a:t>
            </a:r>
          </a:p>
        </p:txBody>
      </p:sp>
      <p:sp>
        <p:nvSpPr>
          <p:cNvPr id="2" name="!!dsbsc-route-tx-line">
            <a:extLst xmlns:a="http://schemas.openxmlformats.org/drawingml/2006/main">
              <a:ext uri="{FF2B5EF4-FFF2-40B4-BE49-F238E27FC236}">
                <a16:creationId xmlns:a16="http://schemas.microsoft.com/office/drawing/2014/main" id="{409ED381-87FB-42EE-8260-06AB32DD0E90}"/>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dsbsc-route-tx-head">
            <a:extLst xmlns:a="http://schemas.openxmlformats.org/drawingml/2006/main">
              <a:ext uri="{FF2B5EF4-FFF2-40B4-BE49-F238E27FC236}">
                <a16:creationId xmlns:a16="http://schemas.microsoft.com/office/drawing/2014/main" id="{63CB6D09-9732-4D6A-B717-36BD3D35ECD0}"/>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dsbsc-route-rx-line">
            <a:extLst xmlns:a="http://schemas.openxmlformats.org/drawingml/2006/main">
              <a:ext uri="{FF2B5EF4-FFF2-40B4-BE49-F238E27FC236}">
                <a16:creationId xmlns:a16="http://schemas.microsoft.com/office/drawing/2014/main" id="{6DFA2FA2-5719-4478-8E01-AF8D38AB10AC}"/>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dsbsc-route-rx-head">
            <a:extLst xmlns:a="http://schemas.openxmlformats.org/drawingml/2006/main">
              <a:ext uri="{FF2B5EF4-FFF2-40B4-BE49-F238E27FC236}">
                <a16:creationId xmlns:a16="http://schemas.microsoft.com/office/drawing/2014/main" id="{D314E25F-9C9E-48AC-AF54-F580ADC3C470}"/>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dsbsc-review-purpose">
            <a:extLst xmlns:a="http://schemas.openxmlformats.org/drawingml/2006/main">
              <a:ext uri="{FF2B5EF4-FFF2-40B4-BE49-F238E27FC236}">
                <a16:creationId xmlns:a16="http://schemas.microsoft.com/office/drawing/2014/main" id="{D44827DD-027F-4D42-B165-85C31AC80030}"/>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One message: waveform and spectrum</a:t>
            </a:r>
          </a:p>
        </p:txBody>
      </p:sp>
      <p:sp>
        <p:nvSpPr>
          <p:cNvPr id="7" name="!!dsbsc-message-time-axis-line">
            <a:extLst xmlns:a="http://schemas.openxmlformats.org/drawingml/2006/main">
              <a:ext uri="{FF2B5EF4-FFF2-40B4-BE49-F238E27FC236}">
                <a16:creationId xmlns:a16="http://schemas.microsoft.com/office/drawing/2014/main" id="{A12FE2DB-2998-441C-A889-40E582DEEA2B}"/>
              </a:ext>
            </a:extLst>
          </p:cNvPr>
          <p:cNvSpPr>
            <a:spLocks xmlns:a="http://schemas.openxmlformats.org/drawingml/2006/main" noGrp="1"/>
          </p:cNvSpPr>
          <p:nvPr/>
        </p:nvSpPr>
        <p:spPr>
          <a:xfrm xmlns:a="http://schemas.openxmlformats.org/drawingml/2006/main">
            <a:off x="723900" y="3381375"/>
            <a:ext cx="42862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dsbsc-message-time-axis-head">
            <a:extLst xmlns:a="http://schemas.openxmlformats.org/drawingml/2006/main">
              <a:ext uri="{FF2B5EF4-FFF2-40B4-BE49-F238E27FC236}">
                <a16:creationId xmlns:a16="http://schemas.microsoft.com/office/drawing/2014/main" id="{50868717-6DB0-4B57-8AE4-4D02B38C6655}"/>
              </a:ext>
            </a:extLst>
          </p:cNvPr>
          <p:cNvSpPr>
            <a:spLocks xmlns:a="http://schemas.openxmlformats.org/drawingml/2006/main" noGrp="1"/>
          </p:cNvSpPr>
          <p:nvPr/>
        </p:nvSpPr>
        <p:spPr>
          <a:xfrm xmlns:a="http://schemas.openxmlformats.org/drawingml/2006/main" rot="5400000">
            <a:off x="4991100" y="3333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dsbsc-message-time-wave">
            <a:extLst xmlns:a="http://schemas.openxmlformats.org/drawingml/2006/main">
              <a:ext uri="{FF2B5EF4-FFF2-40B4-BE49-F238E27FC236}">
                <a16:creationId xmlns:a16="http://schemas.microsoft.com/office/drawing/2014/main" id="{24518754-1B70-4521-9057-B62385CBC7A2}"/>
              </a:ext>
            </a:extLst>
          </p:cNvPr>
          <p:cNvSpPr>
            <a:spLocks xmlns:a="http://schemas.openxmlformats.org/drawingml/2006/main" noGrp="1"/>
          </p:cNvSpPr>
          <p:nvPr/>
        </p:nvSpPr>
        <p:spPr>
          <a:xfrm xmlns:a="http://schemas.openxmlformats.org/drawingml/2006/main">
            <a:off x="723900" y="2619375"/>
            <a:ext cx="4381500" cy="762000"/>
          </a:xfrm>
          <a:custGeom xmlns:a="http://schemas.openxmlformats.org/drawingml/2006/main">
            <a:pathLst>
              <a:path w="4381500" h="762000">
                <a:moveTo>
                  <a:pt x="0" y="762000"/>
                </a:moveTo>
                <a:lnTo>
                  <a:pt x="5477" y="761995"/>
                </a:lnTo>
                <a:lnTo>
                  <a:pt x="10954" y="761981"/>
                </a:lnTo>
                <a:lnTo>
                  <a:pt x="16431" y="761957"/>
                </a:lnTo>
                <a:lnTo>
                  <a:pt x="21907" y="761923"/>
                </a:lnTo>
                <a:lnTo>
                  <a:pt x="27384" y="761879"/>
                </a:lnTo>
                <a:lnTo>
                  <a:pt x="32861" y="761825"/>
                </a:lnTo>
                <a:lnTo>
                  <a:pt x="38338" y="761762"/>
                </a:lnTo>
                <a:lnTo>
                  <a:pt x="43815" y="761689"/>
                </a:lnTo>
                <a:lnTo>
                  <a:pt x="49292" y="761607"/>
                </a:lnTo>
                <a:lnTo>
                  <a:pt x="54769" y="761515"/>
                </a:lnTo>
                <a:lnTo>
                  <a:pt x="60246" y="761415"/>
                </a:lnTo>
                <a:lnTo>
                  <a:pt x="65723" y="761305"/>
                </a:lnTo>
                <a:lnTo>
                  <a:pt x="71199" y="761187"/>
                </a:lnTo>
                <a:lnTo>
                  <a:pt x="76676" y="761061"/>
                </a:lnTo>
                <a:lnTo>
                  <a:pt x="82153" y="760926"/>
                </a:lnTo>
                <a:lnTo>
                  <a:pt x="87630" y="760785"/>
                </a:lnTo>
                <a:lnTo>
                  <a:pt x="93107" y="760636"/>
                </a:lnTo>
                <a:lnTo>
                  <a:pt x="98584" y="760481"/>
                </a:lnTo>
                <a:lnTo>
                  <a:pt x="104061" y="760320"/>
                </a:lnTo>
                <a:lnTo>
                  <a:pt x="109538" y="760153"/>
                </a:lnTo>
                <a:lnTo>
                  <a:pt x="115014" y="759981"/>
                </a:lnTo>
                <a:lnTo>
                  <a:pt x="120491" y="759805"/>
                </a:lnTo>
                <a:lnTo>
                  <a:pt x="125968" y="759624"/>
                </a:lnTo>
                <a:lnTo>
                  <a:pt x="131445" y="759441"/>
                </a:lnTo>
                <a:lnTo>
                  <a:pt x="136922" y="759255"/>
                </a:lnTo>
                <a:lnTo>
                  <a:pt x="142399" y="759067"/>
                </a:lnTo>
                <a:lnTo>
                  <a:pt x="147876" y="758878"/>
                </a:lnTo>
                <a:lnTo>
                  <a:pt x="153352" y="758688"/>
                </a:lnTo>
                <a:lnTo>
                  <a:pt x="158829" y="758498"/>
                </a:lnTo>
                <a:lnTo>
                  <a:pt x="164306" y="758309"/>
                </a:lnTo>
                <a:lnTo>
                  <a:pt x="169783" y="758121"/>
                </a:lnTo>
                <a:lnTo>
                  <a:pt x="175260" y="757936"/>
                </a:lnTo>
                <a:lnTo>
                  <a:pt x="180737" y="757753"/>
                </a:lnTo>
                <a:lnTo>
                  <a:pt x="186214" y="757574"/>
                </a:lnTo>
                <a:lnTo>
                  <a:pt x="191691" y="757399"/>
                </a:lnTo>
                <a:lnTo>
                  <a:pt x="197168" y="757229"/>
                </a:lnTo>
                <a:lnTo>
                  <a:pt x="202644" y="757065"/>
                </a:lnTo>
                <a:lnTo>
                  <a:pt x="208121" y="756907"/>
                </a:lnTo>
                <a:lnTo>
                  <a:pt x="213598" y="756755"/>
                </a:lnTo>
                <a:lnTo>
                  <a:pt x="219075" y="756612"/>
                </a:lnTo>
                <a:lnTo>
                  <a:pt x="224552" y="756476"/>
                </a:lnTo>
                <a:lnTo>
                  <a:pt x="230029" y="756349"/>
                </a:lnTo>
                <a:lnTo>
                  <a:pt x="235506" y="756230"/>
                </a:lnTo>
                <a:lnTo>
                  <a:pt x="240982" y="756122"/>
                </a:lnTo>
                <a:lnTo>
                  <a:pt x="246459" y="756024"/>
                </a:lnTo>
                <a:lnTo>
                  <a:pt x="251936" y="755936"/>
                </a:lnTo>
                <a:lnTo>
                  <a:pt x="257413" y="755859"/>
                </a:lnTo>
                <a:lnTo>
                  <a:pt x="262890" y="755793"/>
                </a:lnTo>
                <a:lnTo>
                  <a:pt x="268367" y="755739"/>
                </a:lnTo>
                <a:lnTo>
                  <a:pt x="273844" y="755697"/>
                </a:lnTo>
                <a:lnTo>
                  <a:pt x="279321" y="755667"/>
                </a:lnTo>
                <a:lnTo>
                  <a:pt x="284798" y="755650"/>
                </a:lnTo>
                <a:lnTo>
                  <a:pt x="290274" y="755645"/>
                </a:lnTo>
                <a:lnTo>
                  <a:pt x="295751" y="755652"/>
                </a:lnTo>
                <a:lnTo>
                  <a:pt x="301228" y="755672"/>
                </a:lnTo>
                <a:lnTo>
                  <a:pt x="306705" y="755705"/>
                </a:lnTo>
                <a:lnTo>
                  <a:pt x="312182" y="755750"/>
                </a:lnTo>
                <a:lnTo>
                  <a:pt x="317659" y="755807"/>
                </a:lnTo>
                <a:lnTo>
                  <a:pt x="323136" y="755877"/>
                </a:lnTo>
                <a:lnTo>
                  <a:pt x="328613" y="755959"/>
                </a:lnTo>
                <a:lnTo>
                  <a:pt x="334089" y="756053"/>
                </a:lnTo>
                <a:lnTo>
                  <a:pt x="339566" y="756158"/>
                </a:lnTo>
                <a:lnTo>
                  <a:pt x="345043" y="756274"/>
                </a:lnTo>
                <a:lnTo>
                  <a:pt x="350520" y="756401"/>
                </a:lnTo>
                <a:lnTo>
                  <a:pt x="355997" y="756538"/>
                </a:lnTo>
                <a:lnTo>
                  <a:pt x="361474" y="756685"/>
                </a:lnTo>
                <a:lnTo>
                  <a:pt x="366951" y="756842"/>
                </a:lnTo>
                <a:lnTo>
                  <a:pt x="372427" y="757007"/>
                </a:lnTo>
                <a:lnTo>
                  <a:pt x="377904" y="757179"/>
                </a:lnTo>
                <a:lnTo>
                  <a:pt x="383381" y="757360"/>
                </a:lnTo>
                <a:lnTo>
                  <a:pt x="388858" y="757547"/>
                </a:lnTo>
                <a:lnTo>
                  <a:pt x="394335" y="757739"/>
                </a:lnTo>
                <a:lnTo>
                  <a:pt x="399812" y="757937"/>
                </a:lnTo>
                <a:lnTo>
                  <a:pt x="405289" y="758140"/>
                </a:lnTo>
                <a:lnTo>
                  <a:pt x="410766" y="758345"/>
                </a:lnTo>
                <a:lnTo>
                  <a:pt x="416243" y="758554"/>
                </a:lnTo>
                <a:lnTo>
                  <a:pt x="421719" y="758764"/>
                </a:lnTo>
                <a:lnTo>
                  <a:pt x="427196" y="758974"/>
                </a:lnTo>
                <a:lnTo>
                  <a:pt x="432673" y="759185"/>
                </a:lnTo>
                <a:lnTo>
                  <a:pt x="438150" y="759395"/>
                </a:lnTo>
                <a:lnTo>
                  <a:pt x="443627" y="759603"/>
                </a:lnTo>
                <a:lnTo>
                  <a:pt x="449104" y="759808"/>
                </a:lnTo>
                <a:lnTo>
                  <a:pt x="454581" y="760009"/>
                </a:lnTo>
                <a:lnTo>
                  <a:pt x="460058" y="760206"/>
                </a:lnTo>
                <a:lnTo>
                  <a:pt x="465534" y="760396"/>
                </a:lnTo>
                <a:lnTo>
                  <a:pt x="471011" y="760580"/>
                </a:lnTo>
                <a:lnTo>
                  <a:pt x="476488" y="760757"/>
                </a:lnTo>
                <a:lnTo>
                  <a:pt x="481965" y="760925"/>
                </a:lnTo>
                <a:lnTo>
                  <a:pt x="487442" y="761084"/>
                </a:lnTo>
                <a:lnTo>
                  <a:pt x="492919" y="761233"/>
                </a:lnTo>
                <a:lnTo>
                  <a:pt x="498396" y="761371"/>
                </a:lnTo>
                <a:lnTo>
                  <a:pt x="503873" y="761497"/>
                </a:lnTo>
                <a:lnTo>
                  <a:pt x="509349" y="761610"/>
                </a:lnTo>
                <a:lnTo>
                  <a:pt x="514826" y="761710"/>
                </a:lnTo>
                <a:lnTo>
                  <a:pt x="520303" y="761797"/>
                </a:lnTo>
                <a:lnTo>
                  <a:pt x="525780" y="761869"/>
                </a:lnTo>
                <a:lnTo>
                  <a:pt x="531257" y="761926"/>
                </a:lnTo>
                <a:lnTo>
                  <a:pt x="536734" y="761967"/>
                </a:lnTo>
                <a:lnTo>
                  <a:pt x="542211" y="761992"/>
                </a:lnTo>
                <a:lnTo>
                  <a:pt x="547688" y="762000"/>
                </a:lnTo>
                <a:lnTo>
                  <a:pt x="553164" y="761991"/>
                </a:lnTo>
                <a:lnTo>
                  <a:pt x="558641" y="761966"/>
                </a:lnTo>
                <a:lnTo>
                  <a:pt x="564118" y="761922"/>
                </a:lnTo>
                <a:lnTo>
                  <a:pt x="569595" y="761862"/>
                </a:lnTo>
                <a:lnTo>
                  <a:pt x="575072" y="761783"/>
                </a:lnTo>
                <a:lnTo>
                  <a:pt x="580549" y="761686"/>
                </a:lnTo>
                <a:lnTo>
                  <a:pt x="586026" y="761572"/>
                </a:lnTo>
                <a:lnTo>
                  <a:pt x="591503" y="761440"/>
                </a:lnTo>
                <a:lnTo>
                  <a:pt x="596979" y="761290"/>
                </a:lnTo>
                <a:lnTo>
                  <a:pt x="602456" y="761123"/>
                </a:lnTo>
                <a:lnTo>
                  <a:pt x="607933" y="760939"/>
                </a:lnTo>
                <a:lnTo>
                  <a:pt x="613410" y="760739"/>
                </a:lnTo>
                <a:lnTo>
                  <a:pt x="618887" y="760522"/>
                </a:lnTo>
                <a:lnTo>
                  <a:pt x="624364" y="760289"/>
                </a:lnTo>
                <a:lnTo>
                  <a:pt x="629841" y="760041"/>
                </a:lnTo>
                <a:lnTo>
                  <a:pt x="635317" y="759778"/>
                </a:lnTo>
                <a:lnTo>
                  <a:pt x="640794" y="759502"/>
                </a:lnTo>
                <a:lnTo>
                  <a:pt x="646271" y="759213"/>
                </a:lnTo>
                <a:lnTo>
                  <a:pt x="651748" y="758911"/>
                </a:lnTo>
                <a:lnTo>
                  <a:pt x="657225" y="758598"/>
                </a:lnTo>
                <a:lnTo>
                  <a:pt x="662702" y="758274"/>
                </a:lnTo>
                <a:lnTo>
                  <a:pt x="668179" y="757941"/>
                </a:lnTo>
                <a:lnTo>
                  <a:pt x="673656" y="757599"/>
                </a:lnTo>
                <a:lnTo>
                  <a:pt x="679133" y="757251"/>
                </a:lnTo>
                <a:lnTo>
                  <a:pt x="684609" y="756895"/>
                </a:lnTo>
                <a:lnTo>
                  <a:pt x="690086" y="756535"/>
                </a:lnTo>
                <a:lnTo>
                  <a:pt x="695563" y="756171"/>
                </a:lnTo>
                <a:lnTo>
                  <a:pt x="701040" y="755804"/>
                </a:lnTo>
                <a:lnTo>
                  <a:pt x="706517" y="755436"/>
                </a:lnTo>
                <a:lnTo>
                  <a:pt x="711994" y="755068"/>
                </a:lnTo>
                <a:lnTo>
                  <a:pt x="717471" y="754701"/>
                </a:lnTo>
                <a:lnTo>
                  <a:pt x="722948" y="754337"/>
                </a:lnTo>
                <a:lnTo>
                  <a:pt x="728424" y="753976"/>
                </a:lnTo>
                <a:lnTo>
                  <a:pt x="733901" y="753621"/>
                </a:lnTo>
                <a:lnTo>
                  <a:pt x="739378" y="753272"/>
                </a:lnTo>
                <a:lnTo>
                  <a:pt x="744855" y="752931"/>
                </a:lnTo>
                <a:lnTo>
                  <a:pt x="750332" y="752599"/>
                </a:lnTo>
                <a:lnTo>
                  <a:pt x="755809" y="752277"/>
                </a:lnTo>
                <a:lnTo>
                  <a:pt x="761286" y="751967"/>
                </a:lnTo>
                <a:lnTo>
                  <a:pt x="766763" y="751670"/>
                </a:lnTo>
                <a:lnTo>
                  <a:pt x="772239" y="751386"/>
                </a:lnTo>
                <a:lnTo>
                  <a:pt x="777716" y="751118"/>
                </a:lnTo>
                <a:lnTo>
                  <a:pt x="783193" y="750867"/>
                </a:lnTo>
                <a:lnTo>
                  <a:pt x="788670" y="750633"/>
                </a:lnTo>
                <a:lnTo>
                  <a:pt x="794147" y="750417"/>
                </a:lnTo>
                <a:lnTo>
                  <a:pt x="799624" y="750221"/>
                </a:lnTo>
                <a:lnTo>
                  <a:pt x="805101" y="750045"/>
                </a:lnTo>
                <a:lnTo>
                  <a:pt x="810578" y="749890"/>
                </a:lnTo>
                <a:lnTo>
                  <a:pt x="816054" y="749757"/>
                </a:lnTo>
                <a:lnTo>
                  <a:pt x="821531" y="749647"/>
                </a:lnTo>
                <a:lnTo>
                  <a:pt x="827008" y="749560"/>
                </a:lnTo>
                <a:lnTo>
                  <a:pt x="832485" y="749496"/>
                </a:lnTo>
                <a:lnTo>
                  <a:pt x="837962" y="749457"/>
                </a:lnTo>
                <a:lnTo>
                  <a:pt x="843439" y="749442"/>
                </a:lnTo>
                <a:lnTo>
                  <a:pt x="848916" y="749452"/>
                </a:lnTo>
                <a:lnTo>
                  <a:pt x="854392" y="749487"/>
                </a:lnTo>
                <a:lnTo>
                  <a:pt x="859869" y="749547"/>
                </a:lnTo>
                <a:lnTo>
                  <a:pt x="865346" y="749632"/>
                </a:lnTo>
                <a:lnTo>
                  <a:pt x="870823" y="749742"/>
                </a:lnTo>
                <a:lnTo>
                  <a:pt x="876300" y="749876"/>
                </a:lnTo>
                <a:lnTo>
                  <a:pt x="881777" y="750035"/>
                </a:lnTo>
                <a:lnTo>
                  <a:pt x="887254" y="750217"/>
                </a:lnTo>
                <a:lnTo>
                  <a:pt x="892731" y="750423"/>
                </a:lnTo>
                <a:lnTo>
                  <a:pt x="898208" y="750651"/>
                </a:lnTo>
                <a:lnTo>
                  <a:pt x="903684" y="750901"/>
                </a:lnTo>
                <a:lnTo>
                  <a:pt x="909161" y="751172"/>
                </a:lnTo>
                <a:lnTo>
                  <a:pt x="914638" y="751464"/>
                </a:lnTo>
                <a:lnTo>
                  <a:pt x="920115" y="751774"/>
                </a:lnTo>
                <a:lnTo>
                  <a:pt x="925592" y="752102"/>
                </a:lnTo>
                <a:lnTo>
                  <a:pt x="931069" y="752448"/>
                </a:lnTo>
                <a:lnTo>
                  <a:pt x="936546" y="752808"/>
                </a:lnTo>
                <a:lnTo>
                  <a:pt x="942023" y="753182"/>
                </a:lnTo>
                <a:lnTo>
                  <a:pt x="947499" y="753569"/>
                </a:lnTo>
                <a:lnTo>
                  <a:pt x="952976" y="753967"/>
                </a:lnTo>
                <a:lnTo>
                  <a:pt x="958453" y="754375"/>
                </a:lnTo>
                <a:lnTo>
                  <a:pt x="963930" y="754789"/>
                </a:lnTo>
                <a:lnTo>
                  <a:pt x="969407" y="755210"/>
                </a:lnTo>
                <a:lnTo>
                  <a:pt x="974884" y="755635"/>
                </a:lnTo>
                <a:lnTo>
                  <a:pt x="980361" y="756062"/>
                </a:lnTo>
                <a:lnTo>
                  <a:pt x="985838" y="756489"/>
                </a:lnTo>
                <a:lnTo>
                  <a:pt x="991314" y="756914"/>
                </a:lnTo>
                <a:lnTo>
                  <a:pt x="996791" y="757336"/>
                </a:lnTo>
                <a:lnTo>
                  <a:pt x="1002268" y="757751"/>
                </a:lnTo>
                <a:lnTo>
                  <a:pt x="1007745" y="758159"/>
                </a:lnTo>
                <a:lnTo>
                  <a:pt x="1013222" y="758558"/>
                </a:lnTo>
                <a:lnTo>
                  <a:pt x="1018699" y="758944"/>
                </a:lnTo>
                <a:lnTo>
                  <a:pt x="1024176" y="759316"/>
                </a:lnTo>
                <a:lnTo>
                  <a:pt x="1029653" y="759672"/>
                </a:lnTo>
                <a:lnTo>
                  <a:pt x="1035129" y="760010"/>
                </a:lnTo>
                <a:lnTo>
                  <a:pt x="1040606" y="760328"/>
                </a:lnTo>
                <a:lnTo>
                  <a:pt x="1046083" y="760624"/>
                </a:lnTo>
                <a:lnTo>
                  <a:pt x="1051560" y="760896"/>
                </a:lnTo>
                <a:lnTo>
                  <a:pt x="1057037" y="761143"/>
                </a:lnTo>
                <a:lnTo>
                  <a:pt x="1062514" y="761361"/>
                </a:lnTo>
                <a:lnTo>
                  <a:pt x="1067991" y="761550"/>
                </a:lnTo>
                <a:lnTo>
                  <a:pt x="1073468" y="761709"/>
                </a:lnTo>
                <a:lnTo>
                  <a:pt x="1078944" y="761834"/>
                </a:lnTo>
                <a:lnTo>
                  <a:pt x="1084421" y="761925"/>
                </a:lnTo>
                <a:lnTo>
                  <a:pt x="1089898" y="761981"/>
                </a:lnTo>
                <a:lnTo>
                  <a:pt x="1095375" y="762000"/>
                </a:lnTo>
                <a:lnTo>
                  <a:pt x="1100852" y="761981"/>
                </a:lnTo>
                <a:lnTo>
                  <a:pt x="1106329" y="761922"/>
                </a:lnTo>
                <a:lnTo>
                  <a:pt x="1111806" y="761824"/>
                </a:lnTo>
                <a:lnTo>
                  <a:pt x="1117283" y="761684"/>
                </a:lnTo>
                <a:lnTo>
                  <a:pt x="1122759" y="761503"/>
                </a:lnTo>
                <a:lnTo>
                  <a:pt x="1128236" y="761280"/>
                </a:lnTo>
                <a:lnTo>
                  <a:pt x="1133713" y="761014"/>
                </a:lnTo>
                <a:lnTo>
                  <a:pt x="1139190" y="760705"/>
                </a:lnTo>
                <a:lnTo>
                  <a:pt x="1144667" y="760353"/>
                </a:lnTo>
                <a:lnTo>
                  <a:pt x="1150144" y="759958"/>
                </a:lnTo>
                <a:lnTo>
                  <a:pt x="1155621" y="759520"/>
                </a:lnTo>
                <a:lnTo>
                  <a:pt x="1161098" y="759040"/>
                </a:lnTo>
                <a:lnTo>
                  <a:pt x="1166574" y="758518"/>
                </a:lnTo>
                <a:lnTo>
                  <a:pt x="1172051" y="757954"/>
                </a:lnTo>
                <a:lnTo>
                  <a:pt x="1177528" y="757351"/>
                </a:lnTo>
                <a:lnTo>
                  <a:pt x="1183005" y="756707"/>
                </a:lnTo>
                <a:lnTo>
                  <a:pt x="1188482" y="756026"/>
                </a:lnTo>
                <a:lnTo>
                  <a:pt x="1193959" y="755308"/>
                </a:lnTo>
                <a:lnTo>
                  <a:pt x="1199436" y="754554"/>
                </a:lnTo>
                <a:lnTo>
                  <a:pt x="1204913" y="753767"/>
                </a:lnTo>
                <a:lnTo>
                  <a:pt x="1210389" y="752948"/>
                </a:lnTo>
                <a:lnTo>
                  <a:pt x="1215866" y="752099"/>
                </a:lnTo>
                <a:lnTo>
                  <a:pt x="1221343" y="751222"/>
                </a:lnTo>
                <a:lnTo>
                  <a:pt x="1226820" y="750320"/>
                </a:lnTo>
                <a:lnTo>
                  <a:pt x="1232297" y="749395"/>
                </a:lnTo>
                <a:lnTo>
                  <a:pt x="1237774" y="748449"/>
                </a:lnTo>
                <a:lnTo>
                  <a:pt x="1243251" y="747485"/>
                </a:lnTo>
                <a:lnTo>
                  <a:pt x="1248728" y="746506"/>
                </a:lnTo>
                <a:lnTo>
                  <a:pt x="1254204" y="745515"/>
                </a:lnTo>
                <a:lnTo>
                  <a:pt x="1259681" y="744515"/>
                </a:lnTo>
                <a:lnTo>
                  <a:pt x="1265158" y="743508"/>
                </a:lnTo>
                <a:lnTo>
                  <a:pt x="1270635" y="742499"/>
                </a:lnTo>
                <a:lnTo>
                  <a:pt x="1276112" y="741490"/>
                </a:lnTo>
                <a:lnTo>
                  <a:pt x="1281589" y="740485"/>
                </a:lnTo>
                <a:lnTo>
                  <a:pt x="1287066" y="739486"/>
                </a:lnTo>
                <a:lnTo>
                  <a:pt x="1292543" y="738498"/>
                </a:lnTo>
                <a:lnTo>
                  <a:pt x="1298019" y="737524"/>
                </a:lnTo>
                <a:lnTo>
                  <a:pt x="1303496" y="736568"/>
                </a:lnTo>
                <a:lnTo>
                  <a:pt x="1308973" y="735632"/>
                </a:lnTo>
                <a:lnTo>
                  <a:pt x="1314450" y="734721"/>
                </a:lnTo>
                <a:lnTo>
                  <a:pt x="1319927" y="733838"/>
                </a:lnTo>
                <a:lnTo>
                  <a:pt x="1325404" y="732986"/>
                </a:lnTo>
                <a:lnTo>
                  <a:pt x="1330881" y="732168"/>
                </a:lnTo>
                <a:lnTo>
                  <a:pt x="1336358" y="731389"/>
                </a:lnTo>
                <a:lnTo>
                  <a:pt x="1341834" y="730650"/>
                </a:lnTo>
                <a:lnTo>
                  <a:pt x="1347311" y="729957"/>
                </a:lnTo>
                <a:lnTo>
                  <a:pt x="1352788" y="729310"/>
                </a:lnTo>
                <a:lnTo>
                  <a:pt x="1358265" y="728715"/>
                </a:lnTo>
                <a:lnTo>
                  <a:pt x="1363742" y="728172"/>
                </a:lnTo>
                <a:lnTo>
                  <a:pt x="1369219" y="727686"/>
                </a:lnTo>
                <a:lnTo>
                  <a:pt x="1374696" y="727258"/>
                </a:lnTo>
                <a:lnTo>
                  <a:pt x="1380173" y="726891"/>
                </a:lnTo>
                <a:lnTo>
                  <a:pt x="1385649" y="726587"/>
                </a:lnTo>
                <a:lnTo>
                  <a:pt x="1391126" y="726349"/>
                </a:lnTo>
                <a:lnTo>
                  <a:pt x="1396603" y="726177"/>
                </a:lnTo>
                <a:lnTo>
                  <a:pt x="1402080" y="726074"/>
                </a:lnTo>
                <a:lnTo>
                  <a:pt x="1407557" y="726041"/>
                </a:lnTo>
                <a:lnTo>
                  <a:pt x="1413034" y="726079"/>
                </a:lnTo>
                <a:lnTo>
                  <a:pt x="1418511" y="726188"/>
                </a:lnTo>
                <a:lnTo>
                  <a:pt x="1423988" y="726370"/>
                </a:lnTo>
                <a:lnTo>
                  <a:pt x="1429464" y="726625"/>
                </a:lnTo>
                <a:lnTo>
                  <a:pt x="1434941" y="726953"/>
                </a:lnTo>
                <a:lnTo>
                  <a:pt x="1440418" y="727353"/>
                </a:lnTo>
                <a:lnTo>
                  <a:pt x="1445895" y="727825"/>
                </a:lnTo>
                <a:lnTo>
                  <a:pt x="1451372" y="728368"/>
                </a:lnTo>
                <a:lnTo>
                  <a:pt x="1456849" y="728981"/>
                </a:lnTo>
                <a:lnTo>
                  <a:pt x="1462326" y="729663"/>
                </a:lnTo>
                <a:lnTo>
                  <a:pt x="1467803" y="730411"/>
                </a:lnTo>
                <a:lnTo>
                  <a:pt x="1473279" y="731224"/>
                </a:lnTo>
                <a:lnTo>
                  <a:pt x="1478756" y="732099"/>
                </a:lnTo>
                <a:lnTo>
                  <a:pt x="1484233" y="733033"/>
                </a:lnTo>
                <a:lnTo>
                  <a:pt x="1489710" y="734023"/>
                </a:lnTo>
                <a:lnTo>
                  <a:pt x="1495187" y="735066"/>
                </a:lnTo>
                <a:lnTo>
                  <a:pt x="1500664" y="736158"/>
                </a:lnTo>
                <a:lnTo>
                  <a:pt x="1506141" y="737294"/>
                </a:lnTo>
                <a:lnTo>
                  <a:pt x="1511618" y="738470"/>
                </a:lnTo>
                <a:lnTo>
                  <a:pt x="1517094" y="739682"/>
                </a:lnTo>
                <a:lnTo>
                  <a:pt x="1522571" y="740924"/>
                </a:lnTo>
                <a:lnTo>
                  <a:pt x="1528048" y="742190"/>
                </a:lnTo>
                <a:lnTo>
                  <a:pt x="1533525" y="743476"/>
                </a:lnTo>
                <a:lnTo>
                  <a:pt x="1539002" y="744775"/>
                </a:lnTo>
                <a:lnTo>
                  <a:pt x="1544479" y="746080"/>
                </a:lnTo>
                <a:lnTo>
                  <a:pt x="1549956" y="747385"/>
                </a:lnTo>
                <a:lnTo>
                  <a:pt x="1555433" y="748684"/>
                </a:lnTo>
                <a:lnTo>
                  <a:pt x="1560909" y="749968"/>
                </a:lnTo>
                <a:lnTo>
                  <a:pt x="1566386" y="751230"/>
                </a:lnTo>
                <a:lnTo>
                  <a:pt x="1571863" y="752463"/>
                </a:lnTo>
                <a:lnTo>
                  <a:pt x="1577340" y="753659"/>
                </a:lnTo>
                <a:lnTo>
                  <a:pt x="1582817" y="754810"/>
                </a:lnTo>
                <a:lnTo>
                  <a:pt x="1588294" y="755907"/>
                </a:lnTo>
                <a:lnTo>
                  <a:pt x="1593771" y="756942"/>
                </a:lnTo>
                <a:lnTo>
                  <a:pt x="1599248" y="757906"/>
                </a:lnTo>
                <a:lnTo>
                  <a:pt x="1604724" y="758791"/>
                </a:lnTo>
                <a:lnTo>
                  <a:pt x="1610201" y="759587"/>
                </a:lnTo>
                <a:lnTo>
                  <a:pt x="1615678" y="760286"/>
                </a:lnTo>
                <a:lnTo>
                  <a:pt x="1621155" y="760879"/>
                </a:lnTo>
                <a:lnTo>
                  <a:pt x="1626632" y="761355"/>
                </a:lnTo>
                <a:lnTo>
                  <a:pt x="1632109" y="761707"/>
                </a:lnTo>
                <a:lnTo>
                  <a:pt x="1637586" y="761925"/>
                </a:lnTo>
                <a:lnTo>
                  <a:pt x="1643063" y="762000"/>
                </a:lnTo>
                <a:lnTo>
                  <a:pt x="1648539" y="761922"/>
                </a:lnTo>
                <a:lnTo>
                  <a:pt x="1654016" y="761683"/>
                </a:lnTo>
                <a:lnTo>
                  <a:pt x="1659493" y="761273"/>
                </a:lnTo>
                <a:lnTo>
                  <a:pt x="1664970" y="760684"/>
                </a:lnTo>
                <a:lnTo>
                  <a:pt x="1670447" y="759907"/>
                </a:lnTo>
                <a:lnTo>
                  <a:pt x="1675924" y="758932"/>
                </a:lnTo>
                <a:lnTo>
                  <a:pt x="1681401" y="757752"/>
                </a:lnTo>
                <a:lnTo>
                  <a:pt x="1686878" y="756358"/>
                </a:lnTo>
                <a:lnTo>
                  <a:pt x="1692354" y="754743"/>
                </a:lnTo>
                <a:lnTo>
                  <a:pt x="1697831" y="752898"/>
                </a:lnTo>
                <a:lnTo>
                  <a:pt x="1703308" y="750816"/>
                </a:lnTo>
                <a:lnTo>
                  <a:pt x="1708785" y="748489"/>
                </a:lnTo>
                <a:lnTo>
                  <a:pt x="1714262" y="745911"/>
                </a:lnTo>
                <a:lnTo>
                  <a:pt x="1719739" y="743075"/>
                </a:lnTo>
                <a:lnTo>
                  <a:pt x="1725216" y="739975"/>
                </a:lnTo>
                <a:lnTo>
                  <a:pt x="1730693" y="736605"/>
                </a:lnTo>
                <a:lnTo>
                  <a:pt x="1736169" y="732959"/>
                </a:lnTo>
                <a:lnTo>
                  <a:pt x="1741646" y="729033"/>
                </a:lnTo>
                <a:lnTo>
                  <a:pt x="1747123" y="724822"/>
                </a:lnTo>
                <a:lnTo>
                  <a:pt x="1752600" y="720321"/>
                </a:lnTo>
                <a:lnTo>
                  <a:pt x="1758077" y="715528"/>
                </a:lnTo>
                <a:lnTo>
                  <a:pt x="1763554" y="710439"/>
                </a:lnTo>
                <a:lnTo>
                  <a:pt x="1769031" y="705051"/>
                </a:lnTo>
                <a:lnTo>
                  <a:pt x="1774508" y="699362"/>
                </a:lnTo>
                <a:lnTo>
                  <a:pt x="1779984" y="693372"/>
                </a:lnTo>
                <a:lnTo>
                  <a:pt x="1785461" y="687078"/>
                </a:lnTo>
                <a:lnTo>
                  <a:pt x="1790938" y="680481"/>
                </a:lnTo>
                <a:lnTo>
                  <a:pt x="1796415" y="673580"/>
                </a:lnTo>
                <a:lnTo>
                  <a:pt x="1801892" y="666377"/>
                </a:lnTo>
                <a:lnTo>
                  <a:pt x="1807369" y="658873"/>
                </a:lnTo>
                <a:lnTo>
                  <a:pt x="1812846" y="651069"/>
                </a:lnTo>
                <a:lnTo>
                  <a:pt x="1818322" y="642969"/>
                </a:lnTo>
                <a:lnTo>
                  <a:pt x="1823799" y="634576"/>
                </a:lnTo>
                <a:lnTo>
                  <a:pt x="1829276" y="625893"/>
                </a:lnTo>
                <a:lnTo>
                  <a:pt x="1834753" y="616926"/>
                </a:lnTo>
                <a:lnTo>
                  <a:pt x="1840230" y="607679"/>
                </a:lnTo>
                <a:lnTo>
                  <a:pt x="1845707" y="598157"/>
                </a:lnTo>
                <a:lnTo>
                  <a:pt x="1851184" y="588368"/>
                </a:lnTo>
                <a:lnTo>
                  <a:pt x="1856661" y="578319"/>
                </a:lnTo>
                <a:lnTo>
                  <a:pt x="1862138" y="568016"/>
                </a:lnTo>
                <a:lnTo>
                  <a:pt x="1867614" y="557469"/>
                </a:lnTo>
                <a:lnTo>
                  <a:pt x="1873091" y="546686"/>
                </a:lnTo>
                <a:lnTo>
                  <a:pt x="1878568" y="535676"/>
                </a:lnTo>
                <a:lnTo>
                  <a:pt x="1884045" y="524449"/>
                </a:lnTo>
                <a:lnTo>
                  <a:pt x="1889522" y="513017"/>
                </a:lnTo>
                <a:lnTo>
                  <a:pt x="1894999" y="501390"/>
                </a:lnTo>
                <a:lnTo>
                  <a:pt x="1900476" y="489579"/>
                </a:lnTo>
                <a:lnTo>
                  <a:pt x="1905953" y="477598"/>
                </a:lnTo>
                <a:lnTo>
                  <a:pt x="1911429" y="465458"/>
                </a:lnTo>
                <a:lnTo>
                  <a:pt x="1916906" y="453173"/>
                </a:lnTo>
                <a:lnTo>
                  <a:pt x="1922383" y="440756"/>
                </a:lnTo>
                <a:lnTo>
                  <a:pt x="1927860" y="428222"/>
                </a:lnTo>
                <a:lnTo>
                  <a:pt x="1933337" y="415585"/>
                </a:lnTo>
                <a:lnTo>
                  <a:pt x="1938814" y="402860"/>
                </a:lnTo>
                <a:lnTo>
                  <a:pt x="1944291" y="390062"/>
                </a:lnTo>
                <a:lnTo>
                  <a:pt x="1949768" y="377207"/>
                </a:lnTo>
                <a:lnTo>
                  <a:pt x="1955244" y="364311"/>
                </a:lnTo>
                <a:lnTo>
                  <a:pt x="1960721" y="351389"/>
                </a:lnTo>
                <a:lnTo>
                  <a:pt x="1966198" y="338459"/>
                </a:lnTo>
                <a:lnTo>
                  <a:pt x="1971675" y="325537"/>
                </a:lnTo>
                <a:lnTo>
                  <a:pt x="1977152" y="312639"/>
                </a:lnTo>
                <a:lnTo>
                  <a:pt x="1982629" y="299784"/>
                </a:lnTo>
                <a:lnTo>
                  <a:pt x="1988106" y="286988"/>
                </a:lnTo>
                <a:lnTo>
                  <a:pt x="1993583" y="274268"/>
                </a:lnTo>
                <a:lnTo>
                  <a:pt x="1999059" y="261642"/>
                </a:lnTo>
                <a:lnTo>
                  <a:pt x="2004536" y="249127"/>
                </a:lnTo>
                <a:lnTo>
                  <a:pt x="2010013" y="236741"/>
                </a:lnTo>
                <a:lnTo>
                  <a:pt x="2015490" y="224501"/>
                </a:lnTo>
                <a:lnTo>
                  <a:pt x="2020967" y="212424"/>
                </a:lnTo>
                <a:lnTo>
                  <a:pt x="2026444" y="200528"/>
                </a:lnTo>
                <a:lnTo>
                  <a:pt x="2031921" y="188830"/>
                </a:lnTo>
                <a:lnTo>
                  <a:pt x="2037397" y="177345"/>
                </a:lnTo>
                <a:lnTo>
                  <a:pt x="2042874" y="166093"/>
                </a:lnTo>
                <a:lnTo>
                  <a:pt x="2048351" y="155087"/>
                </a:lnTo>
                <a:lnTo>
                  <a:pt x="2053828" y="144346"/>
                </a:lnTo>
                <a:lnTo>
                  <a:pt x="2059305" y="133885"/>
                </a:lnTo>
                <a:lnTo>
                  <a:pt x="2064782" y="123719"/>
                </a:lnTo>
                <a:lnTo>
                  <a:pt x="2070259" y="113863"/>
                </a:lnTo>
                <a:lnTo>
                  <a:pt x="2075736" y="104333"/>
                </a:lnTo>
                <a:lnTo>
                  <a:pt x="2081213" y="95143"/>
                </a:lnTo>
                <a:lnTo>
                  <a:pt x="2086689" y="86307"/>
                </a:lnTo>
                <a:lnTo>
                  <a:pt x="2092166" y="77838"/>
                </a:lnTo>
                <a:lnTo>
                  <a:pt x="2097643" y="69749"/>
                </a:lnTo>
                <a:lnTo>
                  <a:pt x="2103120" y="62053"/>
                </a:lnTo>
                <a:lnTo>
                  <a:pt x="2108597" y="54761"/>
                </a:lnTo>
                <a:lnTo>
                  <a:pt x="2114074" y="47885"/>
                </a:lnTo>
                <a:lnTo>
                  <a:pt x="2119551" y="41435"/>
                </a:lnTo>
                <a:lnTo>
                  <a:pt x="2125028" y="35422"/>
                </a:lnTo>
                <a:lnTo>
                  <a:pt x="2130504" y="29854"/>
                </a:lnTo>
                <a:lnTo>
                  <a:pt x="2135981" y="24741"/>
                </a:lnTo>
                <a:lnTo>
                  <a:pt x="2141458" y="20091"/>
                </a:lnTo>
                <a:lnTo>
                  <a:pt x="2146935" y="15910"/>
                </a:lnTo>
                <a:lnTo>
                  <a:pt x="2152412" y="12205"/>
                </a:lnTo>
                <a:lnTo>
                  <a:pt x="2157889" y="8982"/>
                </a:lnTo>
                <a:lnTo>
                  <a:pt x="2163366" y="6247"/>
                </a:lnTo>
                <a:lnTo>
                  <a:pt x="2168843" y="4003"/>
                </a:lnTo>
                <a:lnTo>
                  <a:pt x="2174319" y="2254"/>
                </a:lnTo>
                <a:lnTo>
                  <a:pt x="2179796" y="1002"/>
                </a:lnTo>
                <a:lnTo>
                  <a:pt x="2185273" y="251"/>
                </a:lnTo>
                <a:lnTo>
                  <a:pt x="2190750" y="0"/>
                </a:lnTo>
                <a:lnTo>
                  <a:pt x="2196227" y="251"/>
                </a:lnTo>
                <a:lnTo>
                  <a:pt x="2201704" y="1002"/>
                </a:lnTo>
                <a:lnTo>
                  <a:pt x="2207181" y="2254"/>
                </a:lnTo>
                <a:lnTo>
                  <a:pt x="2212658" y="4003"/>
                </a:lnTo>
                <a:lnTo>
                  <a:pt x="2218134" y="6247"/>
                </a:lnTo>
                <a:lnTo>
                  <a:pt x="2223611" y="8982"/>
                </a:lnTo>
                <a:lnTo>
                  <a:pt x="2229088" y="12205"/>
                </a:lnTo>
                <a:lnTo>
                  <a:pt x="2234565" y="15910"/>
                </a:lnTo>
                <a:lnTo>
                  <a:pt x="2240042" y="20091"/>
                </a:lnTo>
                <a:lnTo>
                  <a:pt x="2245519" y="24741"/>
                </a:lnTo>
                <a:lnTo>
                  <a:pt x="2250996" y="29854"/>
                </a:lnTo>
                <a:lnTo>
                  <a:pt x="2256473" y="35422"/>
                </a:lnTo>
                <a:lnTo>
                  <a:pt x="2261949" y="41435"/>
                </a:lnTo>
                <a:lnTo>
                  <a:pt x="2267426" y="47885"/>
                </a:lnTo>
                <a:lnTo>
                  <a:pt x="2272903" y="54761"/>
                </a:lnTo>
                <a:lnTo>
                  <a:pt x="2278380" y="62053"/>
                </a:lnTo>
                <a:lnTo>
                  <a:pt x="2283857" y="69749"/>
                </a:lnTo>
                <a:lnTo>
                  <a:pt x="2289334" y="77838"/>
                </a:lnTo>
                <a:lnTo>
                  <a:pt x="2294811" y="86307"/>
                </a:lnTo>
                <a:lnTo>
                  <a:pt x="2300288" y="95143"/>
                </a:lnTo>
                <a:lnTo>
                  <a:pt x="2305764" y="104333"/>
                </a:lnTo>
                <a:lnTo>
                  <a:pt x="2311241" y="113863"/>
                </a:lnTo>
                <a:lnTo>
                  <a:pt x="2316718" y="123719"/>
                </a:lnTo>
                <a:lnTo>
                  <a:pt x="2322195" y="133885"/>
                </a:lnTo>
                <a:lnTo>
                  <a:pt x="2327672" y="144346"/>
                </a:lnTo>
                <a:lnTo>
                  <a:pt x="2333149" y="155087"/>
                </a:lnTo>
                <a:lnTo>
                  <a:pt x="2338626" y="166093"/>
                </a:lnTo>
                <a:lnTo>
                  <a:pt x="2344103" y="177345"/>
                </a:lnTo>
                <a:lnTo>
                  <a:pt x="2349579" y="188830"/>
                </a:lnTo>
                <a:lnTo>
                  <a:pt x="2355056" y="200528"/>
                </a:lnTo>
                <a:lnTo>
                  <a:pt x="2360533" y="212424"/>
                </a:lnTo>
                <a:lnTo>
                  <a:pt x="2366010" y="224501"/>
                </a:lnTo>
                <a:lnTo>
                  <a:pt x="2371487" y="236741"/>
                </a:lnTo>
                <a:lnTo>
                  <a:pt x="2376964" y="249127"/>
                </a:lnTo>
                <a:lnTo>
                  <a:pt x="2382441" y="261642"/>
                </a:lnTo>
                <a:lnTo>
                  <a:pt x="2387918" y="274268"/>
                </a:lnTo>
                <a:lnTo>
                  <a:pt x="2393394" y="286988"/>
                </a:lnTo>
                <a:lnTo>
                  <a:pt x="2398871" y="299784"/>
                </a:lnTo>
                <a:lnTo>
                  <a:pt x="2404348" y="312639"/>
                </a:lnTo>
                <a:lnTo>
                  <a:pt x="2409825" y="325537"/>
                </a:lnTo>
                <a:lnTo>
                  <a:pt x="2415302" y="338459"/>
                </a:lnTo>
                <a:lnTo>
                  <a:pt x="2420779" y="351389"/>
                </a:lnTo>
                <a:lnTo>
                  <a:pt x="2426256" y="364311"/>
                </a:lnTo>
                <a:lnTo>
                  <a:pt x="2431733" y="377207"/>
                </a:lnTo>
                <a:lnTo>
                  <a:pt x="2437209" y="390062"/>
                </a:lnTo>
                <a:lnTo>
                  <a:pt x="2442686" y="402860"/>
                </a:lnTo>
                <a:lnTo>
                  <a:pt x="2448163" y="415585"/>
                </a:lnTo>
                <a:lnTo>
                  <a:pt x="2453640" y="428222"/>
                </a:lnTo>
                <a:lnTo>
                  <a:pt x="2459117" y="440756"/>
                </a:lnTo>
                <a:lnTo>
                  <a:pt x="2464594" y="453173"/>
                </a:lnTo>
                <a:lnTo>
                  <a:pt x="2470071" y="465458"/>
                </a:lnTo>
                <a:lnTo>
                  <a:pt x="2475548" y="477598"/>
                </a:lnTo>
                <a:lnTo>
                  <a:pt x="2481024" y="489579"/>
                </a:lnTo>
                <a:lnTo>
                  <a:pt x="2486501" y="501390"/>
                </a:lnTo>
                <a:lnTo>
                  <a:pt x="2491978" y="513017"/>
                </a:lnTo>
                <a:lnTo>
                  <a:pt x="2497455" y="524449"/>
                </a:lnTo>
                <a:lnTo>
                  <a:pt x="2502932" y="535676"/>
                </a:lnTo>
                <a:lnTo>
                  <a:pt x="2508409" y="546686"/>
                </a:lnTo>
                <a:lnTo>
                  <a:pt x="2513886" y="557469"/>
                </a:lnTo>
                <a:lnTo>
                  <a:pt x="2519363" y="568016"/>
                </a:lnTo>
                <a:lnTo>
                  <a:pt x="2524839" y="578319"/>
                </a:lnTo>
                <a:lnTo>
                  <a:pt x="2530316" y="588368"/>
                </a:lnTo>
                <a:lnTo>
                  <a:pt x="2535793" y="598157"/>
                </a:lnTo>
                <a:lnTo>
                  <a:pt x="2541270" y="607679"/>
                </a:lnTo>
                <a:lnTo>
                  <a:pt x="2546747" y="616926"/>
                </a:lnTo>
                <a:lnTo>
                  <a:pt x="2552224" y="625893"/>
                </a:lnTo>
                <a:lnTo>
                  <a:pt x="2557701" y="634576"/>
                </a:lnTo>
                <a:lnTo>
                  <a:pt x="2563178" y="642969"/>
                </a:lnTo>
                <a:lnTo>
                  <a:pt x="2568654" y="651069"/>
                </a:lnTo>
                <a:lnTo>
                  <a:pt x="2574131" y="658873"/>
                </a:lnTo>
                <a:lnTo>
                  <a:pt x="2579608" y="666377"/>
                </a:lnTo>
                <a:lnTo>
                  <a:pt x="2585085" y="673580"/>
                </a:lnTo>
                <a:lnTo>
                  <a:pt x="2590562" y="680481"/>
                </a:lnTo>
                <a:lnTo>
                  <a:pt x="2596039" y="687078"/>
                </a:lnTo>
                <a:lnTo>
                  <a:pt x="2601516" y="693372"/>
                </a:lnTo>
                <a:lnTo>
                  <a:pt x="2606993" y="699362"/>
                </a:lnTo>
                <a:lnTo>
                  <a:pt x="2612469" y="705051"/>
                </a:lnTo>
                <a:lnTo>
                  <a:pt x="2617946" y="710439"/>
                </a:lnTo>
                <a:lnTo>
                  <a:pt x="2623423" y="715528"/>
                </a:lnTo>
                <a:lnTo>
                  <a:pt x="2628900" y="720321"/>
                </a:lnTo>
                <a:lnTo>
                  <a:pt x="2634377" y="724822"/>
                </a:lnTo>
                <a:lnTo>
                  <a:pt x="2639854" y="729033"/>
                </a:lnTo>
                <a:lnTo>
                  <a:pt x="2645331" y="732959"/>
                </a:lnTo>
                <a:lnTo>
                  <a:pt x="2650808" y="736605"/>
                </a:lnTo>
                <a:lnTo>
                  <a:pt x="2656284" y="739975"/>
                </a:lnTo>
                <a:lnTo>
                  <a:pt x="2661761" y="743075"/>
                </a:lnTo>
                <a:lnTo>
                  <a:pt x="2667238" y="745911"/>
                </a:lnTo>
                <a:lnTo>
                  <a:pt x="2672715" y="748489"/>
                </a:lnTo>
                <a:lnTo>
                  <a:pt x="2678192" y="750816"/>
                </a:lnTo>
                <a:lnTo>
                  <a:pt x="2683669" y="752898"/>
                </a:lnTo>
                <a:lnTo>
                  <a:pt x="2689146" y="754743"/>
                </a:lnTo>
                <a:lnTo>
                  <a:pt x="2694623" y="756358"/>
                </a:lnTo>
                <a:lnTo>
                  <a:pt x="2700099" y="757752"/>
                </a:lnTo>
                <a:lnTo>
                  <a:pt x="2705576" y="758932"/>
                </a:lnTo>
                <a:lnTo>
                  <a:pt x="2711053" y="759907"/>
                </a:lnTo>
                <a:lnTo>
                  <a:pt x="2716530" y="760684"/>
                </a:lnTo>
                <a:lnTo>
                  <a:pt x="2722007" y="761273"/>
                </a:lnTo>
                <a:lnTo>
                  <a:pt x="2727484" y="761683"/>
                </a:lnTo>
                <a:lnTo>
                  <a:pt x="2732961" y="761922"/>
                </a:lnTo>
                <a:lnTo>
                  <a:pt x="2738438" y="762000"/>
                </a:lnTo>
                <a:lnTo>
                  <a:pt x="2743914" y="761925"/>
                </a:lnTo>
                <a:lnTo>
                  <a:pt x="2749391" y="761707"/>
                </a:lnTo>
                <a:lnTo>
                  <a:pt x="2754868" y="761355"/>
                </a:lnTo>
                <a:lnTo>
                  <a:pt x="2760345" y="760879"/>
                </a:lnTo>
                <a:lnTo>
                  <a:pt x="2765822" y="760286"/>
                </a:lnTo>
                <a:lnTo>
                  <a:pt x="2771299" y="759587"/>
                </a:lnTo>
                <a:lnTo>
                  <a:pt x="2776776" y="758791"/>
                </a:lnTo>
                <a:lnTo>
                  <a:pt x="2782253" y="757906"/>
                </a:lnTo>
                <a:lnTo>
                  <a:pt x="2787729" y="756942"/>
                </a:lnTo>
                <a:lnTo>
                  <a:pt x="2793206" y="755907"/>
                </a:lnTo>
                <a:lnTo>
                  <a:pt x="2798683" y="754810"/>
                </a:lnTo>
                <a:lnTo>
                  <a:pt x="2804160" y="753659"/>
                </a:lnTo>
                <a:lnTo>
                  <a:pt x="2809637" y="752463"/>
                </a:lnTo>
                <a:lnTo>
                  <a:pt x="2815114" y="751230"/>
                </a:lnTo>
                <a:lnTo>
                  <a:pt x="2820591" y="749968"/>
                </a:lnTo>
                <a:lnTo>
                  <a:pt x="2826068" y="748684"/>
                </a:lnTo>
                <a:lnTo>
                  <a:pt x="2831544" y="747385"/>
                </a:lnTo>
                <a:lnTo>
                  <a:pt x="2837021" y="746080"/>
                </a:lnTo>
                <a:lnTo>
                  <a:pt x="2842498" y="744775"/>
                </a:lnTo>
                <a:lnTo>
                  <a:pt x="2847975" y="743476"/>
                </a:lnTo>
                <a:lnTo>
                  <a:pt x="2853452" y="742190"/>
                </a:lnTo>
                <a:lnTo>
                  <a:pt x="2858929" y="740924"/>
                </a:lnTo>
                <a:lnTo>
                  <a:pt x="2864406" y="739682"/>
                </a:lnTo>
                <a:lnTo>
                  <a:pt x="2869883" y="738470"/>
                </a:lnTo>
                <a:lnTo>
                  <a:pt x="2875359" y="737294"/>
                </a:lnTo>
                <a:lnTo>
                  <a:pt x="2880836" y="736158"/>
                </a:lnTo>
                <a:lnTo>
                  <a:pt x="2886313" y="735066"/>
                </a:lnTo>
                <a:lnTo>
                  <a:pt x="2891790" y="734023"/>
                </a:lnTo>
                <a:lnTo>
                  <a:pt x="2897267" y="733033"/>
                </a:lnTo>
                <a:lnTo>
                  <a:pt x="2902744" y="732099"/>
                </a:lnTo>
                <a:lnTo>
                  <a:pt x="2908221" y="731224"/>
                </a:lnTo>
                <a:lnTo>
                  <a:pt x="2913698" y="730411"/>
                </a:lnTo>
                <a:lnTo>
                  <a:pt x="2919174" y="729663"/>
                </a:lnTo>
                <a:lnTo>
                  <a:pt x="2924651" y="728981"/>
                </a:lnTo>
                <a:lnTo>
                  <a:pt x="2930128" y="728368"/>
                </a:lnTo>
                <a:lnTo>
                  <a:pt x="2935605" y="727825"/>
                </a:lnTo>
                <a:lnTo>
                  <a:pt x="2941082" y="727353"/>
                </a:lnTo>
                <a:lnTo>
                  <a:pt x="2946559" y="726953"/>
                </a:lnTo>
                <a:lnTo>
                  <a:pt x="2952036" y="726625"/>
                </a:lnTo>
                <a:lnTo>
                  <a:pt x="2957513" y="726370"/>
                </a:lnTo>
                <a:lnTo>
                  <a:pt x="2962989" y="726188"/>
                </a:lnTo>
                <a:lnTo>
                  <a:pt x="2968466" y="726079"/>
                </a:lnTo>
                <a:lnTo>
                  <a:pt x="2973943" y="726041"/>
                </a:lnTo>
                <a:lnTo>
                  <a:pt x="2979420" y="726074"/>
                </a:lnTo>
                <a:lnTo>
                  <a:pt x="2984897" y="726177"/>
                </a:lnTo>
                <a:lnTo>
                  <a:pt x="2990374" y="726349"/>
                </a:lnTo>
                <a:lnTo>
                  <a:pt x="2995851" y="726587"/>
                </a:lnTo>
                <a:lnTo>
                  <a:pt x="3001328" y="726891"/>
                </a:lnTo>
                <a:lnTo>
                  <a:pt x="3006804" y="727258"/>
                </a:lnTo>
                <a:lnTo>
                  <a:pt x="3012281" y="727686"/>
                </a:lnTo>
                <a:lnTo>
                  <a:pt x="3017758" y="728172"/>
                </a:lnTo>
                <a:lnTo>
                  <a:pt x="3023235" y="728715"/>
                </a:lnTo>
                <a:lnTo>
                  <a:pt x="3028712" y="729310"/>
                </a:lnTo>
                <a:lnTo>
                  <a:pt x="3034189" y="729957"/>
                </a:lnTo>
                <a:lnTo>
                  <a:pt x="3039666" y="730650"/>
                </a:lnTo>
                <a:lnTo>
                  <a:pt x="3045143" y="731389"/>
                </a:lnTo>
                <a:lnTo>
                  <a:pt x="3050619" y="732168"/>
                </a:lnTo>
                <a:lnTo>
                  <a:pt x="3056096" y="732986"/>
                </a:lnTo>
                <a:lnTo>
                  <a:pt x="3061573" y="733838"/>
                </a:lnTo>
                <a:lnTo>
                  <a:pt x="3067050" y="734721"/>
                </a:lnTo>
                <a:lnTo>
                  <a:pt x="3072527" y="735632"/>
                </a:lnTo>
                <a:lnTo>
                  <a:pt x="3078004" y="736568"/>
                </a:lnTo>
                <a:lnTo>
                  <a:pt x="3083481" y="737524"/>
                </a:lnTo>
                <a:lnTo>
                  <a:pt x="3088958" y="738498"/>
                </a:lnTo>
                <a:lnTo>
                  <a:pt x="3094434" y="739486"/>
                </a:lnTo>
                <a:lnTo>
                  <a:pt x="3099911" y="740485"/>
                </a:lnTo>
                <a:lnTo>
                  <a:pt x="3105388" y="741490"/>
                </a:lnTo>
                <a:lnTo>
                  <a:pt x="3110865" y="742499"/>
                </a:lnTo>
                <a:lnTo>
                  <a:pt x="3116342" y="743508"/>
                </a:lnTo>
                <a:lnTo>
                  <a:pt x="3121819" y="744515"/>
                </a:lnTo>
                <a:lnTo>
                  <a:pt x="3127296" y="745515"/>
                </a:lnTo>
                <a:lnTo>
                  <a:pt x="3132773" y="746506"/>
                </a:lnTo>
                <a:lnTo>
                  <a:pt x="3138249" y="747485"/>
                </a:lnTo>
                <a:lnTo>
                  <a:pt x="3143726" y="748449"/>
                </a:lnTo>
                <a:lnTo>
                  <a:pt x="3149203" y="749395"/>
                </a:lnTo>
                <a:lnTo>
                  <a:pt x="3154680" y="750320"/>
                </a:lnTo>
                <a:lnTo>
                  <a:pt x="3160157" y="751222"/>
                </a:lnTo>
                <a:lnTo>
                  <a:pt x="3165634" y="752099"/>
                </a:lnTo>
                <a:lnTo>
                  <a:pt x="3171111" y="752948"/>
                </a:lnTo>
                <a:lnTo>
                  <a:pt x="3176588" y="753767"/>
                </a:lnTo>
                <a:lnTo>
                  <a:pt x="3182064" y="754554"/>
                </a:lnTo>
                <a:lnTo>
                  <a:pt x="3187541" y="755308"/>
                </a:lnTo>
                <a:lnTo>
                  <a:pt x="3193018" y="756026"/>
                </a:lnTo>
                <a:lnTo>
                  <a:pt x="3198495" y="756707"/>
                </a:lnTo>
                <a:lnTo>
                  <a:pt x="3203972" y="757351"/>
                </a:lnTo>
                <a:lnTo>
                  <a:pt x="3209449" y="757954"/>
                </a:lnTo>
                <a:lnTo>
                  <a:pt x="3214926" y="758518"/>
                </a:lnTo>
                <a:lnTo>
                  <a:pt x="3220403" y="759040"/>
                </a:lnTo>
                <a:lnTo>
                  <a:pt x="3225879" y="759520"/>
                </a:lnTo>
                <a:lnTo>
                  <a:pt x="3231356" y="759958"/>
                </a:lnTo>
                <a:lnTo>
                  <a:pt x="3236833" y="760353"/>
                </a:lnTo>
                <a:lnTo>
                  <a:pt x="3242310" y="760705"/>
                </a:lnTo>
                <a:lnTo>
                  <a:pt x="3247787" y="761014"/>
                </a:lnTo>
                <a:lnTo>
                  <a:pt x="3253264" y="761280"/>
                </a:lnTo>
                <a:lnTo>
                  <a:pt x="3258741" y="761503"/>
                </a:lnTo>
                <a:lnTo>
                  <a:pt x="3264218" y="761684"/>
                </a:lnTo>
                <a:lnTo>
                  <a:pt x="3269694" y="761824"/>
                </a:lnTo>
                <a:lnTo>
                  <a:pt x="3275171" y="761922"/>
                </a:lnTo>
                <a:lnTo>
                  <a:pt x="3280648" y="761981"/>
                </a:lnTo>
                <a:lnTo>
                  <a:pt x="3286125" y="762000"/>
                </a:lnTo>
                <a:lnTo>
                  <a:pt x="3291602" y="761981"/>
                </a:lnTo>
                <a:lnTo>
                  <a:pt x="3297079" y="761925"/>
                </a:lnTo>
                <a:lnTo>
                  <a:pt x="3302556" y="761834"/>
                </a:lnTo>
                <a:lnTo>
                  <a:pt x="3308033" y="761709"/>
                </a:lnTo>
                <a:lnTo>
                  <a:pt x="3313509" y="761550"/>
                </a:lnTo>
                <a:lnTo>
                  <a:pt x="3318986" y="761361"/>
                </a:lnTo>
                <a:lnTo>
                  <a:pt x="3324463" y="761143"/>
                </a:lnTo>
                <a:lnTo>
                  <a:pt x="3329940" y="760896"/>
                </a:lnTo>
                <a:lnTo>
                  <a:pt x="3335417" y="760624"/>
                </a:lnTo>
                <a:lnTo>
                  <a:pt x="3340894" y="760328"/>
                </a:lnTo>
                <a:lnTo>
                  <a:pt x="3346371" y="760010"/>
                </a:lnTo>
                <a:lnTo>
                  <a:pt x="3351848" y="759672"/>
                </a:lnTo>
                <a:lnTo>
                  <a:pt x="3357324" y="759316"/>
                </a:lnTo>
                <a:lnTo>
                  <a:pt x="3362801" y="758944"/>
                </a:lnTo>
                <a:lnTo>
                  <a:pt x="3368278" y="758558"/>
                </a:lnTo>
                <a:lnTo>
                  <a:pt x="3373755" y="758159"/>
                </a:lnTo>
                <a:lnTo>
                  <a:pt x="3379232" y="757751"/>
                </a:lnTo>
                <a:lnTo>
                  <a:pt x="3384709" y="757336"/>
                </a:lnTo>
                <a:lnTo>
                  <a:pt x="3390186" y="756914"/>
                </a:lnTo>
                <a:lnTo>
                  <a:pt x="3395663" y="756489"/>
                </a:lnTo>
                <a:lnTo>
                  <a:pt x="3401139" y="756062"/>
                </a:lnTo>
                <a:lnTo>
                  <a:pt x="3406616" y="755635"/>
                </a:lnTo>
                <a:lnTo>
                  <a:pt x="3412093" y="755210"/>
                </a:lnTo>
                <a:lnTo>
                  <a:pt x="3417570" y="754789"/>
                </a:lnTo>
                <a:lnTo>
                  <a:pt x="3423047" y="754375"/>
                </a:lnTo>
                <a:lnTo>
                  <a:pt x="3428524" y="753967"/>
                </a:lnTo>
                <a:lnTo>
                  <a:pt x="3434001" y="753569"/>
                </a:lnTo>
                <a:lnTo>
                  <a:pt x="3439478" y="753182"/>
                </a:lnTo>
                <a:lnTo>
                  <a:pt x="3444954" y="752808"/>
                </a:lnTo>
                <a:lnTo>
                  <a:pt x="3450431" y="752448"/>
                </a:lnTo>
                <a:lnTo>
                  <a:pt x="3455908" y="752102"/>
                </a:lnTo>
                <a:lnTo>
                  <a:pt x="3461385" y="751774"/>
                </a:lnTo>
                <a:lnTo>
                  <a:pt x="3466862" y="751464"/>
                </a:lnTo>
                <a:lnTo>
                  <a:pt x="3472339" y="751172"/>
                </a:lnTo>
                <a:lnTo>
                  <a:pt x="3477816" y="750901"/>
                </a:lnTo>
                <a:lnTo>
                  <a:pt x="3483293" y="750651"/>
                </a:lnTo>
                <a:lnTo>
                  <a:pt x="3488769" y="750423"/>
                </a:lnTo>
                <a:lnTo>
                  <a:pt x="3494246" y="750217"/>
                </a:lnTo>
                <a:lnTo>
                  <a:pt x="3499723" y="750035"/>
                </a:lnTo>
                <a:lnTo>
                  <a:pt x="3505200" y="749876"/>
                </a:lnTo>
                <a:lnTo>
                  <a:pt x="3510677" y="749742"/>
                </a:lnTo>
                <a:lnTo>
                  <a:pt x="3516154" y="749632"/>
                </a:lnTo>
                <a:lnTo>
                  <a:pt x="3521631" y="749547"/>
                </a:lnTo>
                <a:lnTo>
                  <a:pt x="3527108" y="749487"/>
                </a:lnTo>
                <a:lnTo>
                  <a:pt x="3532584" y="749452"/>
                </a:lnTo>
                <a:lnTo>
                  <a:pt x="3538061" y="749442"/>
                </a:lnTo>
                <a:lnTo>
                  <a:pt x="3543538" y="749457"/>
                </a:lnTo>
                <a:lnTo>
                  <a:pt x="3549015" y="749496"/>
                </a:lnTo>
                <a:lnTo>
                  <a:pt x="3554492" y="749560"/>
                </a:lnTo>
                <a:lnTo>
                  <a:pt x="3559969" y="749647"/>
                </a:lnTo>
                <a:lnTo>
                  <a:pt x="3565446" y="749757"/>
                </a:lnTo>
                <a:lnTo>
                  <a:pt x="3570923" y="749890"/>
                </a:lnTo>
                <a:lnTo>
                  <a:pt x="3576399" y="750045"/>
                </a:lnTo>
                <a:lnTo>
                  <a:pt x="3581876" y="750221"/>
                </a:lnTo>
                <a:lnTo>
                  <a:pt x="3587353" y="750417"/>
                </a:lnTo>
                <a:lnTo>
                  <a:pt x="3592830" y="750633"/>
                </a:lnTo>
                <a:lnTo>
                  <a:pt x="3598307" y="750867"/>
                </a:lnTo>
                <a:lnTo>
                  <a:pt x="3603784" y="751118"/>
                </a:lnTo>
                <a:lnTo>
                  <a:pt x="3609261" y="751386"/>
                </a:lnTo>
                <a:lnTo>
                  <a:pt x="3614738" y="751670"/>
                </a:lnTo>
                <a:lnTo>
                  <a:pt x="3620214" y="751967"/>
                </a:lnTo>
                <a:lnTo>
                  <a:pt x="3625691" y="752277"/>
                </a:lnTo>
                <a:lnTo>
                  <a:pt x="3631168" y="752599"/>
                </a:lnTo>
                <a:lnTo>
                  <a:pt x="3636645" y="752931"/>
                </a:lnTo>
                <a:lnTo>
                  <a:pt x="3642122" y="753272"/>
                </a:lnTo>
                <a:lnTo>
                  <a:pt x="3647599" y="753621"/>
                </a:lnTo>
                <a:lnTo>
                  <a:pt x="3653076" y="753976"/>
                </a:lnTo>
                <a:lnTo>
                  <a:pt x="3658553" y="754337"/>
                </a:lnTo>
                <a:lnTo>
                  <a:pt x="3664029" y="754701"/>
                </a:lnTo>
                <a:lnTo>
                  <a:pt x="3669506" y="755068"/>
                </a:lnTo>
                <a:lnTo>
                  <a:pt x="3674983" y="755436"/>
                </a:lnTo>
                <a:lnTo>
                  <a:pt x="3680460" y="755804"/>
                </a:lnTo>
                <a:lnTo>
                  <a:pt x="3685937" y="756171"/>
                </a:lnTo>
                <a:lnTo>
                  <a:pt x="3691414" y="756535"/>
                </a:lnTo>
                <a:lnTo>
                  <a:pt x="3696891" y="756895"/>
                </a:lnTo>
                <a:lnTo>
                  <a:pt x="3702368" y="757251"/>
                </a:lnTo>
                <a:lnTo>
                  <a:pt x="3707844" y="757599"/>
                </a:lnTo>
                <a:lnTo>
                  <a:pt x="3713321" y="757941"/>
                </a:lnTo>
                <a:lnTo>
                  <a:pt x="3718798" y="758274"/>
                </a:lnTo>
                <a:lnTo>
                  <a:pt x="3724275" y="758598"/>
                </a:lnTo>
                <a:lnTo>
                  <a:pt x="3729752" y="758911"/>
                </a:lnTo>
                <a:lnTo>
                  <a:pt x="3735229" y="759213"/>
                </a:lnTo>
                <a:lnTo>
                  <a:pt x="3740706" y="759502"/>
                </a:lnTo>
                <a:lnTo>
                  <a:pt x="3746183" y="759778"/>
                </a:lnTo>
                <a:lnTo>
                  <a:pt x="3751659" y="760041"/>
                </a:lnTo>
                <a:lnTo>
                  <a:pt x="3757136" y="760289"/>
                </a:lnTo>
                <a:lnTo>
                  <a:pt x="3762613" y="760522"/>
                </a:lnTo>
                <a:lnTo>
                  <a:pt x="3768090" y="760739"/>
                </a:lnTo>
                <a:lnTo>
                  <a:pt x="3773567" y="760939"/>
                </a:lnTo>
                <a:lnTo>
                  <a:pt x="3779044" y="761123"/>
                </a:lnTo>
                <a:lnTo>
                  <a:pt x="3784521" y="761290"/>
                </a:lnTo>
                <a:lnTo>
                  <a:pt x="3789998" y="761440"/>
                </a:lnTo>
                <a:lnTo>
                  <a:pt x="3795474" y="761572"/>
                </a:lnTo>
                <a:lnTo>
                  <a:pt x="3800951" y="761686"/>
                </a:lnTo>
                <a:lnTo>
                  <a:pt x="3806428" y="761783"/>
                </a:lnTo>
                <a:lnTo>
                  <a:pt x="3811905" y="761862"/>
                </a:lnTo>
                <a:lnTo>
                  <a:pt x="3817382" y="761922"/>
                </a:lnTo>
                <a:lnTo>
                  <a:pt x="3822859" y="761966"/>
                </a:lnTo>
                <a:lnTo>
                  <a:pt x="3828336" y="761991"/>
                </a:lnTo>
                <a:lnTo>
                  <a:pt x="3833813" y="762000"/>
                </a:lnTo>
                <a:lnTo>
                  <a:pt x="3839289" y="761992"/>
                </a:lnTo>
                <a:lnTo>
                  <a:pt x="3844766" y="761967"/>
                </a:lnTo>
                <a:lnTo>
                  <a:pt x="3850243" y="761926"/>
                </a:lnTo>
                <a:lnTo>
                  <a:pt x="3855720" y="761869"/>
                </a:lnTo>
                <a:lnTo>
                  <a:pt x="3861197" y="761797"/>
                </a:lnTo>
                <a:lnTo>
                  <a:pt x="3866674" y="761710"/>
                </a:lnTo>
                <a:lnTo>
                  <a:pt x="3872151" y="761610"/>
                </a:lnTo>
                <a:lnTo>
                  <a:pt x="3877628" y="761497"/>
                </a:lnTo>
                <a:lnTo>
                  <a:pt x="3883104" y="761371"/>
                </a:lnTo>
                <a:lnTo>
                  <a:pt x="3888581" y="761233"/>
                </a:lnTo>
                <a:lnTo>
                  <a:pt x="3894058" y="761084"/>
                </a:lnTo>
                <a:lnTo>
                  <a:pt x="3899535" y="760925"/>
                </a:lnTo>
                <a:lnTo>
                  <a:pt x="3905012" y="760757"/>
                </a:lnTo>
                <a:lnTo>
                  <a:pt x="3910489" y="760580"/>
                </a:lnTo>
                <a:lnTo>
                  <a:pt x="3915966" y="760396"/>
                </a:lnTo>
                <a:lnTo>
                  <a:pt x="3921443" y="760206"/>
                </a:lnTo>
                <a:lnTo>
                  <a:pt x="3926919" y="760009"/>
                </a:lnTo>
                <a:lnTo>
                  <a:pt x="3932396" y="759808"/>
                </a:lnTo>
                <a:lnTo>
                  <a:pt x="3937873" y="759603"/>
                </a:lnTo>
                <a:lnTo>
                  <a:pt x="3943350" y="759395"/>
                </a:lnTo>
                <a:lnTo>
                  <a:pt x="3948827" y="759185"/>
                </a:lnTo>
                <a:lnTo>
                  <a:pt x="3954304" y="758974"/>
                </a:lnTo>
                <a:lnTo>
                  <a:pt x="3959781" y="758764"/>
                </a:lnTo>
                <a:lnTo>
                  <a:pt x="3965258" y="758554"/>
                </a:lnTo>
                <a:lnTo>
                  <a:pt x="3970734" y="758345"/>
                </a:lnTo>
                <a:lnTo>
                  <a:pt x="3976211" y="758140"/>
                </a:lnTo>
                <a:lnTo>
                  <a:pt x="3981688" y="757937"/>
                </a:lnTo>
                <a:lnTo>
                  <a:pt x="3987165" y="757739"/>
                </a:lnTo>
                <a:lnTo>
                  <a:pt x="3992642" y="757547"/>
                </a:lnTo>
                <a:lnTo>
                  <a:pt x="3998119" y="757360"/>
                </a:lnTo>
                <a:lnTo>
                  <a:pt x="4003596" y="757179"/>
                </a:lnTo>
                <a:lnTo>
                  <a:pt x="4009073" y="757007"/>
                </a:lnTo>
                <a:lnTo>
                  <a:pt x="4014549" y="756842"/>
                </a:lnTo>
                <a:lnTo>
                  <a:pt x="4020026" y="756685"/>
                </a:lnTo>
                <a:lnTo>
                  <a:pt x="4025503" y="756538"/>
                </a:lnTo>
                <a:lnTo>
                  <a:pt x="4030980" y="756401"/>
                </a:lnTo>
                <a:lnTo>
                  <a:pt x="4036457" y="756274"/>
                </a:lnTo>
                <a:lnTo>
                  <a:pt x="4041934" y="756158"/>
                </a:lnTo>
                <a:lnTo>
                  <a:pt x="4047411" y="756053"/>
                </a:lnTo>
                <a:lnTo>
                  <a:pt x="4052888" y="755959"/>
                </a:lnTo>
                <a:lnTo>
                  <a:pt x="4058364" y="755877"/>
                </a:lnTo>
                <a:lnTo>
                  <a:pt x="4063841" y="755807"/>
                </a:lnTo>
                <a:lnTo>
                  <a:pt x="4069318" y="755750"/>
                </a:lnTo>
                <a:lnTo>
                  <a:pt x="4074795" y="755705"/>
                </a:lnTo>
                <a:lnTo>
                  <a:pt x="4080272" y="755672"/>
                </a:lnTo>
                <a:lnTo>
                  <a:pt x="4085749" y="755652"/>
                </a:lnTo>
                <a:lnTo>
                  <a:pt x="4091226" y="755645"/>
                </a:lnTo>
                <a:lnTo>
                  <a:pt x="4096703" y="755650"/>
                </a:lnTo>
                <a:lnTo>
                  <a:pt x="4102179" y="755667"/>
                </a:lnTo>
                <a:lnTo>
                  <a:pt x="4107656" y="755697"/>
                </a:lnTo>
                <a:lnTo>
                  <a:pt x="4113133" y="755739"/>
                </a:lnTo>
                <a:lnTo>
                  <a:pt x="4118610" y="755793"/>
                </a:lnTo>
                <a:lnTo>
                  <a:pt x="4124087" y="755859"/>
                </a:lnTo>
                <a:lnTo>
                  <a:pt x="4129564" y="755936"/>
                </a:lnTo>
                <a:lnTo>
                  <a:pt x="4135041" y="756024"/>
                </a:lnTo>
                <a:lnTo>
                  <a:pt x="4140518" y="756122"/>
                </a:lnTo>
                <a:lnTo>
                  <a:pt x="4145994" y="756230"/>
                </a:lnTo>
                <a:lnTo>
                  <a:pt x="4151471" y="756349"/>
                </a:lnTo>
                <a:lnTo>
                  <a:pt x="4156948" y="756476"/>
                </a:lnTo>
                <a:lnTo>
                  <a:pt x="4162425" y="756612"/>
                </a:lnTo>
                <a:lnTo>
                  <a:pt x="4167902" y="756755"/>
                </a:lnTo>
                <a:lnTo>
                  <a:pt x="4173379" y="756907"/>
                </a:lnTo>
                <a:lnTo>
                  <a:pt x="4178856" y="757065"/>
                </a:lnTo>
                <a:lnTo>
                  <a:pt x="4184332" y="757229"/>
                </a:lnTo>
                <a:lnTo>
                  <a:pt x="4189809" y="757399"/>
                </a:lnTo>
                <a:lnTo>
                  <a:pt x="4195286" y="757574"/>
                </a:lnTo>
                <a:lnTo>
                  <a:pt x="4200763" y="757753"/>
                </a:lnTo>
                <a:lnTo>
                  <a:pt x="4206240" y="757936"/>
                </a:lnTo>
                <a:lnTo>
                  <a:pt x="4211717" y="758121"/>
                </a:lnTo>
                <a:lnTo>
                  <a:pt x="4217194" y="758309"/>
                </a:lnTo>
                <a:lnTo>
                  <a:pt x="4222671" y="758498"/>
                </a:lnTo>
                <a:lnTo>
                  <a:pt x="4228148" y="758688"/>
                </a:lnTo>
                <a:lnTo>
                  <a:pt x="4233624" y="758878"/>
                </a:lnTo>
                <a:lnTo>
                  <a:pt x="4239101" y="759067"/>
                </a:lnTo>
                <a:lnTo>
                  <a:pt x="4244578" y="759255"/>
                </a:lnTo>
                <a:lnTo>
                  <a:pt x="4250055" y="759441"/>
                </a:lnTo>
                <a:lnTo>
                  <a:pt x="4255532" y="759624"/>
                </a:lnTo>
                <a:lnTo>
                  <a:pt x="4261009" y="759805"/>
                </a:lnTo>
                <a:lnTo>
                  <a:pt x="4266486" y="759981"/>
                </a:lnTo>
                <a:lnTo>
                  <a:pt x="4271963" y="760153"/>
                </a:lnTo>
                <a:lnTo>
                  <a:pt x="4277439" y="760320"/>
                </a:lnTo>
                <a:lnTo>
                  <a:pt x="4282916" y="760481"/>
                </a:lnTo>
                <a:lnTo>
                  <a:pt x="4288393" y="760636"/>
                </a:lnTo>
                <a:lnTo>
                  <a:pt x="4293870" y="760785"/>
                </a:lnTo>
                <a:lnTo>
                  <a:pt x="4299347" y="760926"/>
                </a:lnTo>
                <a:lnTo>
                  <a:pt x="4304824" y="761061"/>
                </a:lnTo>
                <a:lnTo>
                  <a:pt x="4310301" y="761187"/>
                </a:lnTo>
                <a:lnTo>
                  <a:pt x="4315778" y="761305"/>
                </a:lnTo>
                <a:lnTo>
                  <a:pt x="4321254" y="761415"/>
                </a:lnTo>
                <a:lnTo>
                  <a:pt x="4326731" y="761515"/>
                </a:lnTo>
                <a:lnTo>
                  <a:pt x="4332208" y="761607"/>
                </a:lnTo>
                <a:lnTo>
                  <a:pt x="4337685" y="761689"/>
                </a:lnTo>
                <a:lnTo>
                  <a:pt x="4343162" y="761762"/>
                </a:lnTo>
                <a:lnTo>
                  <a:pt x="4348639" y="761825"/>
                </a:lnTo>
                <a:lnTo>
                  <a:pt x="4354116" y="761879"/>
                </a:lnTo>
                <a:lnTo>
                  <a:pt x="4359593" y="761923"/>
                </a:lnTo>
                <a:lnTo>
                  <a:pt x="4365069" y="761957"/>
                </a:lnTo>
                <a:lnTo>
                  <a:pt x="4370546" y="761981"/>
                </a:lnTo>
                <a:lnTo>
                  <a:pt x="4376023" y="761995"/>
                </a:lnTo>
                <a:lnTo>
                  <a:pt x="4381500" y="762000"/>
                </a:lnTo>
              </a:path>
            </a:pathLst>
          </a:custGeom>
          <a:noFill xmlns:a="http://schemas.openxmlformats.org/drawingml/2006/main"/>
          <a:ln xmlns:a="http://schemas.openxmlformats.org/drawingml/2006/main" w="18098">
            <a:solidFill>
              <a:srgbClr val="202020"/>
            </a:solidFill>
          </a:ln>
        </p:spPr>
      </p:sp>
      <p:sp>
        <p:nvSpPr>
          <p:cNvPr id="10" name="!!dsbsc-m-axis-line">
            <a:extLst xmlns:a="http://schemas.openxmlformats.org/drawingml/2006/main">
              <a:ext uri="{FF2B5EF4-FFF2-40B4-BE49-F238E27FC236}">
                <a16:creationId xmlns:a16="http://schemas.microsoft.com/office/drawing/2014/main" id="{DD944B2A-5CB1-4BAD-B7C2-0FCA651B5CA9}"/>
              </a:ext>
            </a:extLst>
          </p:cNvPr>
          <p:cNvSpPr>
            <a:spLocks xmlns:a="http://schemas.openxmlformats.org/drawingml/2006/main" noGrp="1"/>
          </p:cNvSpPr>
          <p:nvPr/>
        </p:nvSpPr>
        <p:spPr>
          <a:xfrm xmlns:a="http://schemas.openxmlformats.org/drawingml/2006/main">
            <a:off x="7086600" y="3924300"/>
            <a:ext cx="42862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dsbsc-m-axis-head">
            <a:extLst xmlns:a="http://schemas.openxmlformats.org/drawingml/2006/main">
              <a:ext uri="{FF2B5EF4-FFF2-40B4-BE49-F238E27FC236}">
                <a16:creationId xmlns:a16="http://schemas.microsoft.com/office/drawing/2014/main" id="{FD7C3BF8-E50F-4A29-9607-388681455664}"/>
              </a:ext>
            </a:extLst>
          </p:cNvPr>
          <p:cNvSpPr>
            <a:spLocks xmlns:a="http://schemas.openxmlformats.org/drawingml/2006/main" noGrp="1"/>
          </p:cNvSpPr>
          <p:nvPr/>
        </p:nvSpPr>
        <p:spPr>
          <a:xfrm xmlns:a="http://schemas.openxmlformats.org/drawingml/2006/main" rot="5400000">
            <a:off x="11353800" y="38766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dsbsc-m-tick0">
            <a:extLst xmlns:a="http://schemas.openxmlformats.org/drawingml/2006/main">
              <a:ext uri="{FF2B5EF4-FFF2-40B4-BE49-F238E27FC236}">
                <a16:creationId xmlns:a16="http://schemas.microsoft.com/office/drawing/2014/main" id="{099E4B7F-7FED-4456-A919-7DE3513D10F1}"/>
              </a:ext>
            </a:extLst>
          </p:cNvPr>
          <p:cNvSpPr>
            <a:spLocks xmlns:a="http://schemas.openxmlformats.org/drawingml/2006/main" noGrp="1"/>
          </p:cNvSpPr>
          <p:nvPr/>
        </p:nvSpPr>
        <p:spPr>
          <a:xfrm xmlns:a="http://schemas.openxmlformats.org/drawingml/2006/main">
            <a:off x="9003506" y="39243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dsbsc-m-tick1">
            <a:extLst xmlns:a="http://schemas.openxmlformats.org/drawingml/2006/main">
              <a:ext uri="{FF2B5EF4-FFF2-40B4-BE49-F238E27FC236}">
                <a16:creationId xmlns:a16="http://schemas.microsoft.com/office/drawing/2014/main" id="{E223BFEF-E5AC-4407-BF26-67982441FD36}"/>
              </a:ext>
            </a:extLst>
          </p:cNvPr>
          <p:cNvSpPr>
            <a:spLocks xmlns:a="http://schemas.openxmlformats.org/drawingml/2006/main" noGrp="1"/>
          </p:cNvSpPr>
          <p:nvPr/>
        </p:nvSpPr>
        <p:spPr>
          <a:xfrm xmlns:a="http://schemas.openxmlformats.org/drawingml/2006/main">
            <a:off x="9277350" y="39243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dsbsc-m-tick2">
            <a:extLst xmlns:a="http://schemas.openxmlformats.org/drawingml/2006/main">
              <a:ext uri="{FF2B5EF4-FFF2-40B4-BE49-F238E27FC236}">
                <a16:creationId xmlns:a16="http://schemas.microsoft.com/office/drawing/2014/main" id="{D2D9FECD-5EAC-488C-AA95-56943453322F}"/>
              </a:ext>
            </a:extLst>
          </p:cNvPr>
          <p:cNvSpPr>
            <a:spLocks xmlns:a="http://schemas.openxmlformats.org/drawingml/2006/main" noGrp="1"/>
          </p:cNvSpPr>
          <p:nvPr/>
        </p:nvSpPr>
        <p:spPr>
          <a:xfrm xmlns:a="http://schemas.openxmlformats.org/drawingml/2006/main">
            <a:off x="9551194" y="39243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dsbsc-m-c">
            <a:extLst xmlns:a="http://schemas.openxmlformats.org/drawingml/2006/main">
              <a:ext uri="{FF2B5EF4-FFF2-40B4-BE49-F238E27FC236}">
                <a16:creationId xmlns:a16="http://schemas.microsoft.com/office/drawing/2014/main" id="{8041F0BA-9769-402C-A261-5F4D0B058303}"/>
              </a:ext>
            </a:extLst>
          </p:cNvPr>
          <p:cNvSpPr>
            <a:spLocks xmlns:a="http://schemas.openxmlformats.org/drawingml/2006/main" noGrp="1"/>
          </p:cNvSpPr>
          <p:nvPr/>
        </p:nvSpPr>
        <p:spPr>
          <a:xfrm xmlns:a="http://schemas.openxmlformats.org/drawingml/2006/main">
            <a:off x="9003506" y="3257550"/>
            <a:ext cx="547688" cy="666750"/>
          </a:xfrm>
          <a:prstGeom xmlns:a="http://schemas.openxmlformats.org/drawingml/2006/main" prst="triangle">
            <a:avLst/>
          </a:prstGeom>
          <a:solidFill xmlns:a="http://schemas.openxmlformats.org/drawingml/2006/main">
            <a:srgbClr val="535353"/>
          </a:solidFill>
          <a:ln xmlns:a="http://schemas.openxmlformats.org/drawingml/2006/main" w="12383">
            <a:solidFill>
              <a:srgbClr val="202020"/>
            </a:solidFill>
          </a:ln>
        </p:spPr>
      </p:sp>
      <p:sp>
        <p:nvSpPr>
          <p:cNvPr id="16" name="!!dsbsc-same-signal-label">
            <a:extLst xmlns:a="http://schemas.openxmlformats.org/drawingml/2006/main">
              <a:ext uri="{FF2B5EF4-FFF2-40B4-BE49-F238E27FC236}">
                <a16:creationId xmlns:a16="http://schemas.microsoft.com/office/drawing/2014/main" id="{719E72A5-ABD8-4CD6-9A6B-E268A251F89E}"/>
              </a:ext>
            </a:extLst>
          </p:cNvPr>
          <p:cNvSpPr>
            <a:spLocks xmlns:a="http://schemas.openxmlformats.org/drawingml/2006/main" noGrp="1"/>
          </p:cNvSpPr>
          <p:nvPr/>
        </p:nvSpPr>
        <p:spPr>
          <a:xfrm xmlns:a="http://schemas.openxmlformats.org/drawingml/2006/main">
            <a:off x="5305425" y="28098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Same signal</a:t>
            </a:r>
          </a:p>
        </p:txBody>
      </p:sp>
      <p:pic>
        <p:nvPicPr>
          <p:cNvPr id="46" name="!!dsbsc-route-m" descr="m(t)">
            <ns0:hlinkClick xmlns:ns0="http://schemas.openxmlformats.org/drawingml/2006/main" xmlns:ns1="http://schemas.openxmlformats.org/officeDocument/2006/relationships" ns1:id="rIdmethods_Link10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f556696101d346c9">
            <a:extLst>
              <a:ext uri="{96DAC541-7B7A-43D3-8B79-37D633B846F1}">
                <ns0:svgBlip xmlns:ns0="http://schemas.microsoft.com/office/drawing/2016/SVG/main" r:embed="rIdVectormf00454"/>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47" name="!!dsbsc-route-s" descr="s(t)">
            <ns0:hlinkClick xmlns:ns0="http://schemas.openxmlformats.org/drawingml/2006/main" xmlns:ns1="http://schemas.openxmlformats.org/officeDocument/2006/relationships" ns1:id="rIdmethods_Link10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560c5ed8cec64ac2">
            <a:extLst>
              <a:ext uri="{96DAC541-7B7A-43D3-8B79-37D633B846F1}">
                <ns1:svgBlip xmlns:ns1="http://schemas.microsoft.com/office/drawing/2016/SVG/main" r:embed="rIdVectormf00455"/>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48" name="!!dsbsc-route-restored" descr="m(t)">
            <ns0:hlinkClick xmlns:ns0="http://schemas.openxmlformats.org/drawingml/2006/main" xmlns:ns1="http://schemas.openxmlformats.org/officeDocument/2006/relationships" ns1:id="rIdmethods_Link10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08d9ae364dff4680">
            <a:extLst>
              <a:ext uri="{96DAC541-7B7A-43D3-8B79-37D633B846F1}">
                <ns2:svgBlip xmlns:ns2="http://schemas.microsoft.com/office/drawing/2016/SVG/main" r:embed="rIdVectormf00456"/>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49" name="!!dsbsc-message-time-domain" descr="t"/>
          <p:cNvPicPr>
            <a:picLocks xmlns:a="http://schemas.openxmlformats.org/drawingml/2006/main" noChangeAspect="1"/>
          </p:cNvPicPr>
          <p:nvPr/>
        </p:nvPicPr>
        <p:blipFill>
          <a:blip xmlns:r="http://schemas.openxmlformats.org/officeDocument/2006/relationships" xmlns:a="http://schemas.openxmlformats.org/drawingml/2006/main" r:embed="R2bd3988a61bd4bad">
            <a:extLst>
              <a:ext uri="{96DAC541-7B7A-43D3-8B79-37D633B846F1}">
                <ns3:svgBlip xmlns:ns3="http://schemas.microsoft.com/office/drawing/2016/SVG/main" r:embed="rIdVectormf00457"/>
              </a:ext>
            </a:extLst>
          </a:blip>
          <a:stretch xmlns:a="http://schemas.openxmlformats.org/drawingml/2006/main"/>
        </p:blipFill>
        <p:spPr>
          <a:xfrm xmlns:a="http://schemas.openxmlformats.org/drawingml/2006/main">
            <a:off x="5153025" y="2928551"/>
            <a:ext cx="87630" cy="124599"/>
          </a:xfrm>
          <a:prstGeom xmlns:a="http://schemas.openxmlformats.org/drawingml/2006/main" prst="rect">
            <a:avLst/>
          </a:prstGeom>
        </p:spPr>
      </p:pic>
      <p:pic>
        <p:nvPicPr>
          <p:cNvPr id="50" name="!!dsbsc-message-time-label" descr="m(t)"/>
          <p:cNvPicPr>
            <a:picLocks xmlns:a="http://schemas.openxmlformats.org/drawingml/2006/main" noChangeAspect="1"/>
          </p:cNvPicPr>
          <p:nvPr/>
        </p:nvPicPr>
        <p:blipFill>
          <a:blip xmlns:r="http://schemas.openxmlformats.org/officeDocument/2006/relationships" xmlns:a="http://schemas.openxmlformats.org/drawingml/2006/main" r:embed="Rbb52dbbdf8eb4d1f">
            <a:extLst>
              <a:ext uri="{96DAC541-7B7A-43D3-8B79-37D633B846F1}">
                <ns4:svgBlip xmlns:ns4="http://schemas.microsoft.com/office/drawing/2016/SVG/main" r:embed="rIdVectormf00458"/>
              </a:ext>
            </a:extLst>
          </a:blip>
          <a:stretch xmlns:a="http://schemas.openxmlformats.org/drawingml/2006/main"/>
        </p:blipFill>
        <p:spPr>
          <a:xfrm xmlns:a="http://schemas.openxmlformats.org/drawingml/2006/main">
            <a:off x="723900" y="2162175"/>
            <a:ext cx="657225" cy="285750"/>
          </a:xfrm>
          <a:prstGeom xmlns:a="http://schemas.openxmlformats.org/drawingml/2006/main" prst="rect">
            <a:avLst/>
          </a:prstGeom>
        </p:spPr>
      </p:pic>
      <p:pic>
        <p:nvPicPr>
          <p:cNvPr id="51" name="!!dsbsc-m-label" descr="M(f)"/>
          <p:cNvPicPr>
            <a:picLocks xmlns:a="http://schemas.openxmlformats.org/drawingml/2006/main" noChangeAspect="1"/>
          </p:cNvPicPr>
          <p:nvPr/>
        </p:nvPicPr>
        <p:blipFill>
          <a:blip xmlns:r="http://schemas.openxmlformats.org/officeDocument/2006/relationships" xmlns:a="http://schemas.openxmlformats.org/drawingml/2006/main" r:embed="R80e4a579df6b4d98">
            <a:extLst>
              <a:ext uri="{96DAC541-7B7A-43D3-8B79-37D633B846F1}">
                <ns5:svgBlip xmlns:ns5="http://schemas.microsoft.com/office/drawing/2016/SVG/main" r:embed="rIdVectormf00459"/>
              </a:ext>
            </a:extLst>
          </a:blip>
          <a:stretch xmlns:a="http://schemas.openxmlformats.org/drawingml/2006/main"/>
        </p:blipFill>
        <p:spPr>
          <a:xfrm xmlns:a="http://schemas.openxmlformats.org/drawingml/2006/main">
            <a:off x="7086600" y="2155329"/>
            <a:ext cx="685800" cy="280392"/>
          </a:xfrm>
          <a:prstGeom xmlns:a="http://schemas.openxmlformats.org/drawingml/2006/main" prst="rect">
            <a:avLst/>
          </a:prstGeom>
        </p:spPr>
      </p:pic>
      <p:pic>
        <p:nvPicPr>
          <p:cNvPr id="52" name="!!dsbsc-m-domain" descr="f"/>
          <p:cNvPicPr>
            <a:picLocks xmlns:a="http://schemas.openxmlformats.org/drawingml/2006/main" noChangeAspect="1"/>
          </p:cNvPicPr>
          <p:nvPr/>
        </p:nvPicPr>
        <p:blipFill>
          <a:blip xmlns:r="http://schemas.openxmlformats.org/officeDocument/2006/relationships" xmlns:a="http://schemas.openxmlformats.org/drawingml/2006/main" r:embed="R9c6e2be65c904052">
            <a:extLst>
              <a:ext uri="{96DAC541-7B7A-43D3-8B79-37D633B846F1}">
                <ns6:svgBlip xmlns:ns6="http://schemas.microsoft.com/office/drawing/2016/SVG/main" r:embed="rIdVectormf00460"/>
              </a:ext>
            </a:extLst>
          </a:blip>
          <a:stretch xmlns:a="http://schemas.openxmlformats.org/drawingml/2006/main"/>
        </p:blipFill>
        <p:spPr>
          <a:xfrm xmlns:a="http://schemas.openxmlformats.org/drawingml/2006/main">
            <a:off x="11519588" y="3457099"/>
            <a:ext cx="101811" cy="153352"/>
          </a:xfrm>
          <a:prstGeom xmlns:a="http://schemas.openxmlformats.org/drawingml/2006/main" prst="rect">
            <a:avLst/>
          </a:prstGeom>
        </p:spPr>
      </p:pic>
      <p:pic>
        <p:nvPicPr>
          <p:cNvPr id="53" name="!!dsbsc-m-ticklabel0" descr="-W"/>
          <p:cNvPicPr>
            <a:picLocks xmlns:a="http://schemas.openxmlformats.org/drawingml/2006/main" noChangeAspect="1"/>
          </p:cNvPicPr>
          <p:nvPr/>
        </p:nvPicPr>
        <p:blipFill>
          <a:blip xmlns:r="http://schemas.openxmlformats.org/officeDocument/2006/relationships" xmlns:a="http://schemas.openxmlformats.org/drawingml/2006/main" r:embed="Ra4f6b9356f13470f">
            <a:extLst>
              <a:ext uri="{96DAC541-7B7A-43D3-8B79-37D633B846F1}">
                <ns7:svgBlip xmlns:ns7="http://schemas.microsoft.com/office/drawing/2016/SVG/main" r:embed="rIdVectormf00461"/>
              </a:ext>
            </a:extLst>
          </a:blip>
          <a:stretch xmlns:a="http://schemas.openxmlformats.org/drawingml/2006/main"/>
        </p:blipFill>
        <p:spPr>
          <a:xfrm xmlns:a="http://schemas.openxmlformats.org/drawingml/2006/main">
            <a:off x="8798290" y="4087178"/>
            <a:ext cx="410433" cy="160020"/>
          </a:xfrm>
          <a:prstGeom xmlns:a="http://schemas.openxmlformats.org/drawingml/2006/main" prst="rect">
            <a:avLst/>
          </a:prstGeom>
        </p:spPr>
      </p:pic>
      <p:pic>
        <p:nvPicPr>
          <p:cNvPr id="54" name="!!dsbsc-m-ticklabel1" descr="0"/>
          <p:cNvPicPr>
            <a:picLocks xmlns:a="http://schemas.openxmlformats.org/drawingml/2006/main" noChangeAspect="1"/>
          </p:cNvPicPr>
          <p:nvPr/>
        </p:nvPicPr>
        <p:blipFill>
          <a:blip xmlns:r="http://schemas.openxmlformats.org/officeDocument/2006/relationships" xmlns:a="http://schemas.openxmlformats.org/drawingml/2006/main" r:embed="R29b567ca2ae147c1">
            <a:extLst>
              <a:ext uri="{96DAC541-7B7A-43D3-8B79-37D633B846F1}">
                <ns8:svgBlip xmlns:ns8="http://schemas.microsoft.com/office/drawing/2016/SVG/main" r:embed="rIdVectormf00462"/>
              </a:ext>
            </a:extLst>
          </a:blip>
          <a:stretch xmlns:a="http://schemas.openxmlformats.org/drawingml/2006/main"/>
        </p:blipFill>
        <p:spPr>
          <a:xfrm xmlns:a="http://schemas.openxmlformats.org/drawingml/2006/main">
            <a:off x="9223712" y="4326255"/>
            <a:ext cx="107276" cy="120015"/>
          </a:xfrm>
          <a:prstGeom xmlns:a="http://schemas.openxmlformats.org/drawingml/2006/main" prst="rect">
            <a:avLst/>
          </a:prstGeom>
        </p:spPr>
      </p:pic>
      <p:pic>
        <p:nvPicPr>
          <p:cNvPr id="55" name="!!dsbsc-m-ticklabel2" descr="W"/>
          <p:cNvPicPr>
            <a:picLocks xmlns:a="http://schemas.openxmlformats.org/drawingml/2006/main" noChangeAspect="1"/>
          </p:cNvPicPr>
          <p:nvPr/>
        </p:nvPicPr>
        <p:blipFill>
          <a:blip xmlns:r="http://schemas.openxmlformats.org/officeDocument/2006/relationships" xmlns:a="http://schemas.openxmlformats.org/drawingml/2006/main" r:embed="Re09da271db994fa5">
            <a:extLst>
              <a:ext uri="{96DAC541-7B7A-43D3-8B79-37D633B846F1}">
                <ns9:svgBlip xmlns:ns9="http://schemas.microsoft.com/office/drawing/2016/SVG/main" r:embed="rIdVectormf00463"/>
              </a:ext>
            </a:extLst>
          </a:blip>
          <a:stretch xmlns:a="http://schemas.openxmlformats.org/drawingml/2006/main"/>
        </p:blipFill>
        <p:spPr>
          <a:xfrm xmlns:a="http://schemas.openxmlformats.org/drawingml/2006/main">
            <a:off x="9431179" y="4098929"/>
            <a:ext cx="240030" cy="136517"/>
          </a:xfrm>
          <a:prstGeom xmlns:a="http://schemas.openxmlformats.org/drawingml/2006/main" prst="rect">
            <a:avLst/>
          </a:prstGeom>
        </p:spPr>
      </p:pic>
      <p:pic>
        <p:nvPicPr>
          <p:cNvPr id="56" name="!!dsbsc-m-peak0" descr="1"/>
          <p:cNvPicPr>
            <a:picLocks xmlns:a="http://schemas.openxmlformats.org/drawingml/2006/main" noChangeAspect="1"/>
          </p:cNvPicPr>
          <p:nvPr/>
        </p:nvPicPr>
        <p:blipFill>
          <a:blip xmlns:r="http://schemas.openxmlformats.org/officeDocument/2006/relationships" xmlns:a="http://schemas.openxmlformats.org/drawingml/2006/main" r:embed="Rc9c0c563494f4945">
            <a:extLst>
              <a:ext uri="{96DAC541-7B7A-43D3-8B79-37D633B846F1}">
                <ns10:svgBlip xmlns:ns10="http://schemas.microsoft.com/office/drawing/2016/SVG/main" r:embed="rIdVectormf00464"/>
              </a:ext>
            </a:extLst>
          </a:blip>
          <a:stretch xmlns:a="http://schemas.openxmlformats.org/drawingml/2006/main"/>
        </p:blipFill>
        <p:spPr>
          <a:xfrm xmlns:a="http://schemas.openxmlformats.org/drawingml/2006/main">
            <a:off x="9208387" y="2889885"/>
            <a:ext cx="137926" cy="154305"/>
          </a:xfrm>
          <a:prstGeom xmlns:a="http://schemas.openxmlformats.org/drawingml/2006/main" prst="rect">
            <a:avLst/>
          </a:prstGeom>
        </p:spPr>
      </p:pic>
      <p:pic>
        <p:nvPicPr>
          <p:cNvPr id="57" name="!!dsbsc-same-signal" descr="\longleftrightarrow"/>
          <p:cNvPicPr>
            <a:picLocks xmlns:a="http://schemas.openxmlformats.org/drawingml/2006/main" noChangeAspect="1"/>
          </p:cNvPicPr>
          <p:nvPr/>
        </p:nvPicPr>
        <p:blipFill>
          <a:blip xmlns:r="http://schemas.openxmlformats.org/officeDocument/2006/relationships" xmlns:a="http://schemas.openxmlformats.org/drawingml/2006/main" r:embed="Re4953780a3d64b48">
            <a:extLst>
              <a:ext uri="{96DAC541-7B7A-43D3-8B79-37D633B846F1}">
                <ns11:svgBlip xmlns:ns11="http://schemas.microsoft.com/office/drawing/2016/SVG/main" r:embed="rIdVectormf00465"/>
              </a:ext>
            </a:extLst>
          </a:blip>
          <a:stretch xmlns:a="http://schemas.openxmlformats.org/drawingml/2006/main"/>
        </p:blipFill>
        <p:spPr>
          <a:xfrm xmlns:a="http://schemas.openxmlformats.org/drawingml/2006/main">
            <a:off x="5715953" y="3440013"/>
            <a:ext cx="760095" cy="101798"/>
          </a:xfrm>
          <a:prstGeom xmlns:a="http://schemas.openxmlformats.org/drawingml/2006/main" prst="rect">
            <a:avLst/>
          </a:prstGeom>
        </p:spPr>
      </p:pic>
      <p:pic>
        <p:nvPicPr>
          <p:cNvPr id="58" name="!!dsbsc-pair" descr="\textstyle m(t)\longleftrightarrow M(f),\qquad M(f)=0\ (|f|&gt;W)"/>
          <p:cNvPicPr>
            <a:picLocks xmlns:a="http://schemas.openxmlformats.org/drawingml/2006/main" noChangeAspect="1"/>
          </p:cNvPicPr>
          <p:nvPr/>
        </p:nvPicPr>
        <p:blipFill>
          <a:blip xmlns:r="http://schemas.openxmlformats.org/officeDocument/2006/relationships" xmlns:a="http://schemas.openxmlformats.org/drawingml/2006/main" r:embed="R1a28fcfc807f423e">
            <a:extLst>
              <a:ext uri="{96DAC541-7B7A-43D3-8B79-37D633B846F1}">
                <ns12:svgBlip xmlns:ns12="http://schemas.microsoft.com/office/drawing/2016/SVG/main" r:embed="rIdVectormf00466"/>
              </a:ext>
            </a:extLst>
          </a:blip>
          <a:stretch xmlns:a="http://schemas.openxmlformats.org/drawingml/2006/main"/>
        </p:blipFill>
        <p:spPr>
          <a:xfrm xmlns:a="http://schemas.openxmlformats.org/drawingml/2006/main">
            <a:off x="876300" y="5330011"/>
            <a:ext cx="4928235" cy="246102"/>
          </a:xfrm>
          <a:prstGeom xmlns:a="http://schemas.openxmlformats.org/drawingml/2006/main" prst="rect">
            <a:avLst/>
          </a:prstGeom>
        </p:spPr>
      </p:pic>
    </p:spTree>
    <p:extLst>
      <p:ext uri="{BB962C8B-B14F-4D97-AF65-F5344CB8AC3E}">
        <p14:creationId xmlns:p14="http://schemas.microsoft.com/office/powerpoint/2010/main" val="249336378"/>
      </p:ext>
    </p:extLst>
  </p:cSld>
</p:sld>
</file>

<file path=ppt/slides/methods_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dsbsc-title">
            <ns0:hlinkClick xmlns:ns0="http://schemas.openxmlformats.org/drawingml/2006/main" xmlns:ns1="http://schemas.openxmlformats.org/officeDocument/2006/relationships" ns1:id="rIdmethods_Link106" action="ppaction://hlinksldjump"/>
            <a:extLst xmlns:a="http://schemas.openxmlformats.org/drawingml/2006/main">
              <a:ext uri="{FF2B5EF4-FFF2-40B4-BE49-F238E27FC236}">
                <a16:creationId xmlns:a16="http://schemas.microsoft.com/office/drawing/2014/main" id="{DA7889ED-71B6-4C6B-9A35-7F3F0012EAC8}"/>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06" action="ppaction://hlinksldjump"/>
              </a:rPr>
              <a:t>DSB-SC</a:t>
            </a:r>
          </a:p>
        </p:txBody>
      </p:sp>
      <p:sp>
        <p:nvSpPr>
          <p:cNvPr id="2" name="!!dsbsc-route-tx-line">
            <a:extLst xmlns:a="http://schemas.openxmlformats.org/drawingml/2006/main">
              <a:ext uri="{FF2B5EF4-FFF2-40B4-BE49-F238E27FC236}">
                <a16:creationId xmlns:a16="http://schemas.microsoft.com/office/drawing/2014/main" id="{F8CD68D2-4943-4D06-B08E-D98E4523D13B}"/>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dsbsc-route-tx-head">
            <a:extLst xmlns:a="http://schemas.openxmlformats.org/drawingml/2006/main">
              <a:ext uri="{FF2B5EF4-FFF2-40B4-BE49-F238E27FC236}">
                <a16:creationId xmlns:a16="http://schemas.microsoft.com/office/drawing/2014/main" id="{28327691-DBE7-4DC4-B1B6-3CC5BE115E45}"/>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dsbsc-route-rx-line">
            <a:extLst xmlns:a="http://schemas.openxmlformats.org/drawingml/2006/main">
              <a:ext uri="{FF2B5EF4-FFF2-40B4-BE49-F238E27FC236}">
                <a16:creationId xmlns:a16="http://schemas.microsoft.com/office/drawing/2014/main" id="{2F3C2305-36D0-4CDF-877E-12FC82C28E83}"/>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dsbsc-route-rx-head">
            <a:extLst xmlns:a="http://schemas.openxmlformats.org/drawingml/2006/main">
              <a:ext uri="{FF2B5EF4-FFF2-40B4-BE49-F238E27FC236}">
                <a16:creationId xmlns:a16="http://schemas.microsoft.com/office/drawing/2014/main" id="{C82552DE-FFE4-43CD-8F82-DD43C673A15D}"/>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dsbsc-review-purpose">
            <a:extLst xmlns:a="http://schemas.openxmlformats.org/drawingml/2006/main">
              <a:ext uri="{FF2B5EF4-FFF2-40B4-BE49-F238E27FC236}">
                <a16:creationId xmlns:a16="http://schemas.microsoft.com/office/drawing/2014/main" id="{C6A9327E-1F82-441E-9372-8E80A0AE1B3A}"/>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Multiply by cosine: make two shifted copies</a:t>
            </a:r>
          </a:p>
        </p:txBody>
      </p:sp>
      <p:sp>
        <p:nvSpPr>
          <p:cNvPr id="7" name="!!dsbsc-dsb-send-g0-r0-axis-line">
            <a:extLst xmlns:a="http://schemas.openxmlformats.org/drawingml/2006/main">
              <a:ext uri="{FF2B5EF4-FFF2-40B4-BE49-F238E27FC236}">
                <a16:creationId xmlns:a16="http://schemas.microsoft.com/office/drawing/2014/main" id="{75FFC10B-D25E-49C7-99E4-B43D078D46AC}"/>
              </a:ext>
            </a:extLst>
          </p:cNvPr>
          <p:cNvSpPr>
            <a:spLocks xmlns:a="http://schemas.openxmlformats.org/drawingml/2006/main" noGrp="1"/>
          </p:cNvSpPr>
          <p:nvPr/>
        </p:nvSpPr>
        <p:spPr>
          <a:xfrm xmlns:a="http://schemas.openxmlformats.org/drawingml/2006/main">
            <a:off x="571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dsbsc-dsb-send-g0-r0-axis-head">
            <a:extLst xmlns:a="http://schemas.openxmlformats.org/drawingml/2006/main">
              <a:ext uri="{FF2B5EF4-FFF2-40B4-BE49-F238E27FC236}">
                <a16:creationId xmlns:a16="http://schemas.microsoft.com/office/drawing/2014/main" id="{36487EA6-E4B2-4BB8-86DB-AC9926D3063B}"/>
              </a:ext>
            </a:extLst>
          </p:cNvPr>
          <p:cNvSpPr>
            <a:spLocks xmlns:a="http://schemas.openxmlformats.org/drawingml/2006/main" noGrp="1"/>
          </p:cNvSpPr>
          <p:nvPr/>
        </p:nvSpPr>
        <p:spPr>
          <a:xfrm xmlns:a="http://schemas.openxmlformats.org/drawingml/2006/main" rot="5400000">
            <a:off x="3238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dsbsc-dsb-send-g0-r0-tick0">
            <a:extLst xmlns:a="http://schemas.openxmlformats.org/drawingml/2006/main">
              <a:ext uri="{FF2B5EF4-FFF2-40B4-BE49-F238E27FC236}">
                <a16:creationId xmlns:a16="http://schemas.microsoft.com/office/drawing/2014/main" id="{40DEEE30-EEB9-4703-BB4A-C9F869641281}"/>
              </a:ext>
            </a:extLst>
          </p:cNvPr>
          <p:cNvSpPr>
            <a:spLocks xmlns:a="http://schemas.openxmlformats.org/drawingml/2006/main" noGrp="1"/>
          </p:cNvSpPr>
          <p:nvPr/>
        </p:nvSpPr>
        <p:spPr>
          <a:xfrm xmlns:a="http://schemas.openxmlformats.org/drawingml/2006/main">
            <a:off x="17883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dsbsc-dsb-send-g0-r0-tick1">
            <a:extLst xmlns:a="http://schemas.openxmlformats.org/drawingml/2006/main">
              <a:ext uri="{FF2B5EF4-FFF2-40B4-BE49-F238E27FC236}">
                <a16:creationId xmlns:a16="http://schemas.microsoft.com/office/drawing/2014/main" id="{8515A629-D23B-456F-8F27-557D0CF09713}"/>
              </a:ext>
            </a:extLst>
          </p:cNvPr>
          <p:cNvSpPr>
            <a:spLocks xmlns:a="http://schemas.openxmlformats.org/drawingml/2006/main" noGrp="1"/>
          </p:cNvSpPr>
          <p:nvPr/>
        </p:nvSpPr>
        <p:spPr>
          <a:xfrm xmlns:a="http://schemas.openxmlformats.org/drawingml/2006/main">
            <a:off x="1962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dsbsc-dsb-send-g0-r0-tick2">
            <a:extLst xmlns:a="http://schemas.openxmlformats.org/drawingml/2006/main">
              <a:ext uri="{FF2B5EF4-FFF2-40B4-BE49-F238E27FC236}">
                <a16:creationId xmlns:a16="http://schemas.microsoft.com/office/drawing/2014/main" id="{5B3AC8FD-7415-4A0C-B958-01E991CD6926}"/>
              </a:ext>
            </a:extLst>
          </p:cNvPr>
          <p:cNvSpPr>
            <a:spLocks xmlns:a="http://schemas.openxmlformats.org/drawingml/2006/main" noGrp="1"/>
          </p:cNvSpPr>
          <p:nvPr/>
        </p:nvSpPr>
        <p:spPr>
          <a:xfrm xmlns:a="http://schemas.openxmlformats.org/drawingml/2006/main">
            <a:off x="21359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dsbsc-dsb-send-g1-r0-axis-line">
            <a:extLst xmlns:a="http://schemas.openxmlformats.org/drawingml/2006/main">
              <a:ext uri="{FF2B5EF4-FFF2-40B4-BE49-F238E27FC236}">
                <a16:creationId xmlns:a16="http://schemas.microsoft.com/office/drawing/2014/main" id="{9852362A-DF46-4A8D-BD03-5A653FA486AF}"/>
              </a:ext>
            </a:extLst>
          </p:cNvPr>
          <p:cNvSpPr>
            <a:spLocks xmlns:a="http://schemas.openxmlformats.org/drawingml/2006/main" noGrp="1"/>
          </p:cNvSpPr>
          <p:nvPr/>
        </p:nvSpPr>
        <p:spPr>
          <a:xfrm xmlns:a="http://schemas.openxmlformats.org/drawingml/2006/main">
            <a:off x="45720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dsbsc-dsb-send-g1-r0-axis-head">
            <a:extLst xmlns:a="http://schemas.openxmlformats.org/drawingml/2006/main">
              <a:ext uri="{FF2B5EF4-FFF2-40B4-BE49-F238E27FC236}">
                <a16:creationId xmlns:a16="http://schemas.microsoft.com/office/drawing/2014/main" id="{6CD9B296-C7EE-4859-8263-8140AC4D38CB}"/>
              </a:ext>
            </a:extLst>
          </p:cNvPr>
          <p:cNvSpPr>
            <a:spLocks xmlns:a="http://schemas.openxmlformats.org/drawingml/2006/main" noGrp="1"/>
          </p:cNvSpPr>
          <p:nvPr/>
        </p:nvSpPr>
        <p:spPr>
          <a:xfrm xmlns:a="http://schemas.openxmlformats.org/drawingml/2006/main" rot="5400000">
            <a:off x="72390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4" name="!!dsbsc-dsb-send-g1-r0-tick0">
            <a:extLst xmlns:a="http://schemas.openxmlformats.org/drawingml/2006/main">
              <a:ext uri="{FF2B5EF4-FFF2-40B4-BE49-F238E27FC236}">
                <a16:creationId xmlns:a16="http://schemas.microsoft.com/office/drawing/2014/main" id="{616B2084-2E82-4F78-833B-5B535EB70D0A}"/>
              </a:ext>
            </a:extLst>
          </p:cNvPr>
          <p:cNvSpPr>
            <a:spLocks xmlns:a="http://schemas.openxmlformats.org/drawingml/2006/main" noGrp="1"/>
          </p:cNvSpPr>
          <p:nvPr/>
        </p:nvSpPr>
        <p:spPr>
          <a:xfrm xmlns:a="http://schemas.openxmlformats.org/drawingml/2006/main">
            <a:off x="5441156"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dsbsc-dsb-send-g1-r0-tick1">
            <a:extLst xmlns:a="http://schemas.openxmlformats.org/drawingml/2006/main">
              <a:ext uri="{FF2B5EF4-FFF2-40B4-BE49-F238E27FC236}">
                <a16:creationId xmlns:a16="http://schemas.microsoft.com/office/drawing/2014/main" id="{C7A366D1-9F97-4A8A-9D92-434E775A1EA6}"/>
              </a:ext>
            </a:extLst>
          </p:cNvPr>
          <p:cNvSpPr>
            <a:spLocks xmlns:a="http://schemas.openxmlformats.org/drawingml/2006/main" noGrp="1"/>
          </p:cNvSpPr>
          <p:nvPr/>
        </p:nvSpPr>
        <p:spPr>
          <a:xfrm xmlns:a="http://schemas.openxmlformats.org/drawingml/2006/main">
            <a:off x="59626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dsbsc-dsb-send-g1-r0-tick2">
            <a:extLst xmlns:a="http://schemas.openxmlformats.org/drawingml/2006/main">
              <a:ext uri="{FF2B5EF4-FFF2-40B4-BE49-F238E27FC236}">
                <a16:creationId xmlns:a16="http://schemas.microsoft.com/office/drawing/2014/main" id="{AA3BD668-30EE-4BE4-8CB9-2DE09B0A0E38}"/>
              </a:ext>
            </a:extLst>
          </p:cNvPr>
          <p:cNvSpPr>
            <a:spLocks xmlns:a="http://schemas.openxmlformats.org/drawingml/2006/main" noGrp="1"/>
          </p:cNvSpPr>
          <p:nvPr/>
        </p:nvSpPr>
        <p:spPr>
          <a:xfrm xmlns:a="http://schemas.openxmlformats.org/drawingml/2006/main">
            <a:off x="6484144"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dsbsc-dsb-send-g0-c">
            <a:extLst xmlns:a="http://schemas.openxmlformats.org/drawingml/2006/main">
              <a:ext uri="{FF2B5EF4-FFF2-40B4-BE49-F238E27FC236}">
                <a16:creationId xmlns:a16="http://schemas.microsoft.com/office/drawing/2014/main" id="{1F1CEFC4-2186-40D6-8979-A529AAA554C0}"/>
              </a:ext>
            </a:extLst>
          </p:cNvPr>
          <p:cNvSpPr>
            <a:spLocks xmlns:a="http://schemas.openxmlformats.org/drawingml/2006/main" noGrp="1"/>
          </p:cNvSpPr>
          <p:nvPr/>
        </p:nvSpPr>
        <p:spPr>
          <a:xfrm xmlns:a="http://schemas.openxmlformats.org/drawingml/2006/main">
            <a:off x="1788319"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18" name="!!dsbsc-dsb-send-arrow-line">
            <a:extLst xmlns:a="http://schemas.openxmlformats.org/drawingml/2006/main">
              <a:ext uri="{FF2B5EF4-FFF2-40B4-BE49-F238E27FC236}">
                <a16:creationId xmlns:a16="http://schemas.microsoft.com/office/drawing/2014/main" id="{85757535-DD3F-4DCE-9274-E8EB96F94289}"/>
              </a:ext>
            </a:extLst>
          </p:cNvPr>
          <p:cNvSpPr>
            <a:spLocks xmlns:a="http://schemas.openxmlformats.org/drawingml/2006/main" noGrp="1"/>
          </p:cNvSpPr>
          <p:nvPr/>
        </p:nvSpPr>
        <p:spPr>
          <a:xfrm xmlns:a="http://schemas.openxmlformats.org/drawingml/2006/main">
            <a:off x="35814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dsbsc-dsb-send-arrow-head">
            <a:extLst xmlns:a="http://schemas.openxmlformats.org/drawingml/2006/main">
              <a:ext uri="{FF2B5EF4-FFF2-40B4-BE49-F238E27FC236}">
                <a16:creationId xmlns:a16="http://schemas.microsoft.com/office/drawing/2014/main" id="{55B7990D-F898-4E89-B69D-A8B60FDC8EDE}"/>
              </a:ext>
            </a:extLst>
          </p:cNvPr>
          <p:cNvSpPr>
            <a:spLocks xmlns:a="http://schemas.openxmlformats.org/drawingml/2006/main" noGrp="1"/>
          </p:cNvSpPr>
          <p:nvPr/>
        </p:nvSpPr>
        <p:spPr>
          <a:xfrm xmlns:a="http://schemas.openxmlformats.org/drawingml/2006/main" rot="5400000">
            <a:off x="42291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0" name="!!dsbsc-dsb-send-g1-sn">
            <a:extLst xmlns:a="http://schemas.openxmlformats.org/drawingml/2006/main">
              <a:ext uri="{FF2B5EF4-FFF2-40B4-BE49-F238E27FC236}">
                <a16:creationId xmlns:a16="http://schemas.microsoft.com/office/drawing/2014/main" id="{5A3753D0-D274-4402-BF97-BF7E3FCEC6DA}"/>
              </a:ext>
            </a:extLst>
          </p:cNvPr>
          <p:cNvSpPr>
            <a:spLocks xmlns:a="http://schemas.openxmlformats.org/drawingml/2006/main" noGrp="1"/>
          </p:cNvSpPr>
          <p:nvPr/>
        </p:nvSpPr>
        <p:spPr>
          <a:xfrm xmlns:a="http://schemas.openxmlformats.org/drawingml/2006/main">
            <a:off x="5267325"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21" name="!!dsbsc-dsb-send-g1-sp">
            <a:extLst xmlns:a="http://schemas.openxmlformats.org/drawingml/2006/main">
              <a:ext uri="{FF2B5EF4-FFF2-40B4-BE49-F238E27FC236}">
                <a16:creationId xmlns:a16="http://schemas.microsoft.com/office/drawing/2014/main" id="{53A76ED9-4712-4FF9-B62A-87C4023C3BCE}"/>
              </a:ext>
            </a:extLst>
          </p:cNvPr>
          <p:cNvSpPr>
            <a:spLocks xmlns:a="http://schemas.openxmlformats.org/drawingml/2006/main" noGrp="1"/>
          </p:cNvSpPr>
          <p:nvPr/>
        </p:nvSpPr>
        <p:spPr>
          <a:xfrm xmlns:a="http://schemas.openxmlformats.org/drawingml/2006/main">
            <a:off x="6310313"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pic>
        <p:nvPicPr>
          <p:cNvPr id="64" name="!!dsbsc-route-m" descr="m(t)">
            <ns0:hlinkClick xmlns:ns0="http://schemas.openxmlformats.org/drawingml/2006/main" xmlns:ns1="http://schemas.openxmlformats.org/officeDocument/2006/relationships" ns1:id="rIdmethods_Link10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bdecac82e87414d">
            <a:extLst>
              <a:ext uri="{96DAC541-7B7A-43D3-8B79-37D633B846F1}">
                <ns0:svgBlip xmlns:ns0="http://schemas.microsoft.com/office/drawing/2016/SVG/main" r:embed="rIdVectormf00467"/>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65" name="!!dsbsc-route-s" descr="s(t)">
            <ns0:hlinkClick xmlns:ns0="http://schemas.openxmlformats.org/drawingml/2006/main" xmlns:ns1="http://schemas.openxmlformats.org/officeDocument/2006/relationships" ns1:id="rIdmethods_Link108"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1b403876c86843ca">
            <a:extLst>
              <a:ext uri="{96DAC541-7B7A-43D3-8B79-37D633B846F1}">
                <ns1:svgBlip xmlns:ns1="http://schemas.microsoft.com/office/drawing/2016/SVG/main" r:embed="rIdVectormf00468"/>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66" name="!!dsbsc-route-restored" descr="m(t)">
            <ns0:hlinkClick xmlns:ns0="http://schemas.openxmlformats.org/drawingml/2006/main" xmlns:ns1="http://schemas.openxmlformats.org/officeDocument/2006/relationships" ns1:id="rIdmethods_Link10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3f997975f7a448c">
            <a:extLst>
              <a:ext uri="{96DAC541-7B7A-43D3-8B79-37D633B846F1}">
                <ns2:svgBlip xmlns:ns2="http://schemas.microsoft.com/office/drawing/2016/SVG/main" r:embed="rIdVectormf00469"/>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67" name="!!dsbsc-dsb-send-g0-r0-domain" descr="f"/>
          <p:cNvPicPr>
            <a:picLocks xmlns:a="http://schemas.openxmlformats.org/drawingml/2006/main" noChangeAspect="1"/>
          </p:cNvPicPr>
          <p:nvPr/>
        </p:nvPicPr>
        <p:blipFill>
          <a:blip xmlns:r="http://schemas.openxmlformats.org/officeDocument/2006/relationships" xmlns:a="http://schemas.openxmlformats.org/drawingml/2006/main" r:embed="Ra3fb3bb0e3794d0c">
            <a:extLst>
              <a:ext uri="{96DAC541-7B7A-43D3-8B79-37D633B846F1}">
                <ns3:svgBlip xmlns:ns3="http://schemas.microsoft.com/office/drawing/2016/SVG/main" r:embed="rIdVectormf00470"/>
              </a:ext>
            </a:extLst>
          </a:blip>
          <a:stretch xmlns:a="http://schemas.openxmlformats.org/drawingml/2006/main"/>
        </p:blipFill>
        <p:spPr>
          <a:xfrm xmlns:a="http://schemas.openxmlformats.org/drawingml/2006/main">
            <a:off x="3374873" y="3311843"/>
            <a:ext cx="79678" cy="120015"/>
          </a:xfrm>
          <a:prstGeom xmlns:a="http://schemas.openxmlformats.org/drawingml/2006/main" prst="rect">
            <a:avLst/>
          </a:prstGeom>
        </p:spPr>
      </p:pic>
      <p:pic>
        <p:nvPicPr>
          <p:cNvPr id="68" name="!!dsbsc-dsb-send-g0-r0-ticklabel0" descr="-W"/>
          <p:cNvPicPr>
            <a:picLocks xmlns:a="http://schemas.openxmlformats.org/drawingml/2006/main" noChangeAspect="1"/>
          </p:cNvPicPr>
          <p:nvPr/>
        </p:nvPicPr>
        <p:blipFill>
          <a:blip xmlns:r="http://schemas.openxmlformats.org/officeDocument/2006/relationships" xmlns:a="http://schemas.openxmlformats.org/drawingml/2006/main" r:embed="Rcf28c46bbcf7472d">
            <a:extLst>
              <a:ext uri="{96DAC541-7B7A-43D3-8B79-37D633B846F1}">
                <ns4:svgBlip xmlns:ns4="http://schemas.microsoft.com/office/drawing/2016/SVG/main" r:embed="rIdVectormf00471"/>
              </a:ext>
            </a:extLst>
          </a:blip>
          <a:stretch xmlns:a="http://schemas.openxmlformats.org/drawingml/2006/main"/>
        </p:blipFill>
        <p:spPr>
          <a:xfrm xmlns:a="http://schemas.openxmlformats.org/drawingml/2006/main">
            <a:off x="1612419" y="3646170"/>
            <a:ext cx="351800" cy="137160"/>
          </a:xfrm>
          <a:prstGeom xmlns:a="http://schemas.openxmlformats.org/drawingml/2006/main" prst="rect">
            <a:avLst/>
          </a:prstGeom>
        </p:spPr>
      </p:pic>
      <p:pic>
        <p:nvPicPr>
          <p:cNvPr id="69" name="!!dsbsc-dsb-send-g0-r0-ticklabel1" descr="0"/>
          <p:cNvPicPr>
            <a:picLocks xmlns:a="http://schemas.openxmlformats.org/drawingml/2006/main" noChangeAspect="1"/>
          </p:cNvPicPr>
          <p:nvPr/>
        </p:nvPicPr>
        <p:blipFill>
          <a:blip xmlns:r="http://schemas.openxmlformats.org/officeDocument/2006/relationships" xmlns:a="http://schemas.openxmlformats.org/drawingml/2006/main" r:embed="Rd10db02d51aa41d8">
            <a:extLst>
              <a:ext uri="{96DAC541-7B7A-43D3-8B79-37D633B846F1}">
                <ns5:svgBlip xmlns:ns5="http://schemas.microsoft.com/office/drawing/2016/SVG/main" r:embed="rIdVectormf00472"/>
              </a:ext>
            </a:extLst>
          </a:blip>
          <a:stretch xmlns:a="http://schemas.openxmlformats.org/drawingml/2006/main"/>
        </p:blipFill>
        <p:spPr>
          <a:xfrm xmlns:a="http://schemas.openxmlformats.org/drawingml/2006/main">
            <a:off x="1916175" y="3863340"/>
            <a:ext cx="91951" cy="102870"/>
          </a:xfrm>
          <a:prstGeom xmlns:a="http://schemas.openxmlformats.org/drawingml/2006/main" prst="rect">
            <a:avLst/>
          </a:prstGeom>
        </p:spPr>
      </p:pic>
      <p:pic>
        <p:nvPicPr>
          <p:cNvPr id="70" name="!!dsbsc-dsb-send-g0-r0-ticklabel2" descr="W"/>
          <p:cNvPicPr>
            <a:picLocks xmlns:a="http://schemas.openxmlformats.org/drawingml/2006/main" noChangeAspect="1"/>
          </p:cNvPicPr>
          <p:nvPr/>
        </p:nvPicPr>
        <p:blipFill>
          <a:blip xmlns:r="http://schemas.openxmlformats.org/officeDocument/2006/relationships" xmlns:a="http://schemas.openxmlformats.org/drawingml/2006/main" r:embed="Ra8b5b7c27aa44996">
            <a:extLst>
              <a:ext uri="{96DAC541-7B7A-43D3-8B79-37D633B846F1}">
                <ns6:svgBlip xmlns:ns6="http://schemas.microsoft.com/office/drawing/2016/SVG/main" r:embed="rIdVectormf00473"/>
              </a:ext>
            </a:extLst>
          </a:blip>
          <a:stretch xmlns:a="http://schemas.openxmlformats.org/drawingml/2006/main"/>
        </p:blipFill>
        <p:spPr>
          <a:xfrm xmlns:a="http://schemas.openxmlformats.org/drawingml/2006/main">
            <a:off x="2033111" y="3656243"/>
            <a:ext cx="205740" cy="117015"/>
          </a:xfrm>
          <a:prstGeom xmlns:a="http://schemas.openxmlformats.org/drawingml/2006/main" prst="rect">
            <a:avLst/>
          </a:prstGeom>
        </p:spPr>
      </p:pic>
      <p:pic>
        <p:nvPicPr>
          <p:cNvPr id="71" name="!!dsbsc-dsb-send-g0-r0-label" descr="\textstyle M(f)"/>
          <p:cNvPicPr>
            <a:picLocks xmlns:a="http://schemas.openxmlformats.org/drawingml/2006/main" noChangeAspect="1"/>
          </p:cNvPicPr>
          <p:nvPr/>
        </p:nvPicPr>
        <p:blipFill>
          <a:blip xmlns:r="http://schemas.openxmlformats.org/officeDocument/2006/relationships" xmlns:a="http://schemas.openxmlformats.org/drawingml/2006/main" r:embed="Rd3e996ccbce3440f">
            <a:extLst>
              <a:ext uri="{96DAC541-7B7A-43D3-8B79-37D633B846F1}">
                <ns7:svgBlip xmlns:ns7="http://schemas.microsoft.com/office/drawing/2016/SVG/main" r:embed="rIdVectormf00474"/>
              </a:ext>
            </a:extLst>
          </a:blip>
          <a:stretch xmlns:a="http://schemas.openxmlformats.org/drawingml/2006/main"/>
        </p:blipFill>
        <p:spPr>
          <a:xfrm xmlns:a="http://schemas.openxmlformats.org/drawingml/2006/main">
            <a:off x="571500" y="2383215"/>
            <a:ext cx="502920" cy="205621"/>
          </a:xfrm>
          <a:prstGeom xmlns:a="http://schemas.openxmlformats.org/drawingml/2006/main" prst="rect">
            <a:avLst/>
          </a:prstGeom>
        </p:spPr>
      </p:pic>
      <p:pic>
        <p:nvPicPr>
          <p:cNvPr id="72" name="!!dsbsc-dsb-send-g1-r0-domain" descr="f"/>
          <p:cNvPicPr>
            <a:picLocks xmlns:a="http://schemas.openxmlformats.org/drawingml/2006/main" noChangeAspect="1"/>
          </p:cNvPicPr>
          <p:nvPr/>
        </p:nvPicPr>
        <p:blipFill>
          <a:blip xmlns:r="http://schemas.openxmlformats.org/officeDocument/2006/relationships" xmlns:a="http://schemas.openxmlformats.org/drawingml/2006/main" r:embed="R170e44acfb4748b8">
            <a:extLst>
              <a:ext uri="{96DAC541-7B7A-43D3-8B79-37D633B846F1}">
                <ns8:svgBlip xmlns:ns8="http://schemas.microsoft.com/office/drawing/2016/SVG/main" r:embed="rIdVectormf00475"/>
              </a:ext>
            </a:extLst>
          </a:blip>
          <a:stretch xmlns:a="http://schemas.openxmlformats.org/drawingml/2006/main"/>
        </p:blipFill>
        <p:spPr>
          <a:xfrm xmlns:a="http://schemas.openxmlformats.org/drawingml/2006/main">
            <a:off x="7375373" y="3311843"/>
            <a:ext cx="79678" cy="120015"/>
          </a:xfrm>
          <a:prstGeom xmlns:a="http://schemas.openxmlformats.org/drawingml/2006/main" prst="rect">
            <a:avLst/>
          </a:prstGeom>
        </p:spPr>
      </p:pic>
      <p:pic>
        <p:nvPicPr>
          <p:cNvPr id="73" name="!!dsbsc-dsb-send-g1-r0-ticklabel0" descr="-f_c"/>
          <p:cNvPicPr>
            <a:picLocks xmlns:a="http://schemas.openxmlformats.org/drawingml/2006/main" noChangeAspect="1"/>
          </p:cNvPicPr>
          <p:nvPr/>
        </p:nvPicPr>
        <p:blipFill>
          <a:blip xmlns:r="http://schemas.openxmlformats.org/officeDocument/2006/relationships" xmlns:a="http://schemas.openxmlformats.org/drawingml/2006/main" r:embed="R89d597fe60e44d98">
            <a:extLst>
              <a:ext uri="{96DAC541-7B7A-43D3-8B79-37D633B846F1}">
                <ns9:svgBlip xmlns:ns9="http://schemas.microsoft.com/office/drawing/2016/SVG/main" r:embed="rIdVectormf00476"/>
              </a:ext>
            </a:extLst>
          </a:blip>
          <a:stretch xmlns:a="http://schemas.openxmlformats.org/drawingml/2006/main"/>
        </p:blipFill>
        <p:spPr>
          <a:xfrm xmlns:a="http://schemas.openxmlformats.org/drawingml/2006/main">
            <a:off x="5307342" y="3646170"/>
            <a:ext cx="267629" cy="137160"/>
          </a:xfrm>
          <a:prstGeom xmlns:a="http://schemas.openxmlformats.org/drawingml/2006/main" prst="rect">
            <a:avLst/>
          </a:prstGeom>
        </p:spPr>
      </p:pic>
      <p:pic>
        <p:nvPicPr>
          <p:cNvPr id="74" name="!!dsbsc-dsb-send-g1-r0-ticklabel1" descr="0"/>
          <p:cNvPicPr>
            <a:picLocks xmlns:a="http://schemas.openxmlformats.org/drawingml/2006/main" noChangeAspect="1"/>
          </p:cNvPicPr>
          <p:nvPr/>
        </p:nvPicPr>
        <p:blipFill>
          <a:blip xmlns:r="http://schemas.openxmlformats.org/officeDocument/2006/relationships" xmlns:a="http://schemas.openxmlformats.org/drawingml/2006/main" r:embed="Raecdebb7edff418d">
            <a:extLst>
              <a:ext uri="{96DAC541-7B7A-43D3-8B79-37D633B846F1}">
                <ns10:svgBlip xmlns:ns10="http://schemas.microsoft.com/office/drawing/2016/SVG/main" r:embed="rIdVectormf00477"/>
              </a:ext>
            </a:extLst>
          </a:blip>
          <a:stretch xmlns:a="http://schemas.openxmlformats.org/drawingml/2006/main"/>
        </p:blipFill>
        <p:spPr>
          <a:xfrm xmlns:a="http://schemas.openxmlformats.org/drawingml/2006/main">
            <a:off x="5916675" y="3663315"/>
            <a:ext cx="91951" cy="102870"/>
          </a:xfrm>
          <a:prstGeom xmlns:a="http://schemas.openxmlformats.org/drawingml/2006/main" prst="rect">
            <a:avLst/>
          </a:prstGeom>
        </p:spPr>
      </p:pic>
      <p:pic>
        <p:nvPicPr>
          <p:cNvPr id="75" name="!!dsbsc-dsb-send-g1-r0-ticklabel2" descr="f_c"/>
          <p:cNvPicPr>
            <a:picLocks xmlns:a="http://schemas.openxmlformats.org/drawingml/2006/main" noChangeAspect="1"/>
          </p:cNvPicPr>
          <p:nvPr/>
        </p:nvPicPr>
        <p:blipFill>
          <a:blip xmlns:r="http://schemas.openxmlformats.org/officeDocument/2006/relationships" xmlns:a="http://schemas.openxmlformats.org/drawingml/2006/main" r:embed="R8030a9f7656c4f3e">
            <a:extLst>
              <a:ext uri="{96DAC541-7B7A-43D3-8B79-37D633B846F1}">
                <ns11:svgBlip xmlns:ns11="http://schemas.microsoft.com/office/drawing/2016/SVG/main" r:embed="rIdVectormf00478"/>
              </a:ext>
            </a:extLst>
          </a:blip>
          <a:stretch xmlns:a="http://schemas.openxmlformats.org/drawingml/2006/main"/>
        </p:blipFill>
        <p:spPr>
          <a:xfrm xmlns:a="http://schemas.openxmlformats.org/drawingml/2006/main">
            <a:off x="6422843" y="3646170"/>
            <a:ext cx="122601" cy="137160"/>
          </a:xfrm>
          <a:prstGeom xmlns:a="http://schemas.openxmlformats.org/drawingml/2006/main" prst="rect">
            <a:avLst/>
          </a:prstGeom>
        </p:spPr>
      </p:pic>
      <p:pic>
        <p:nvPicPr>
          <p:cNvPr id="76" name="!!dsbsc-dsb-send-g1-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b2cf29b2957841cc">
            <a:extLst>
              <a:ext uri="{96DAC541-7B7A-43D3-8B79-37D633B846F1}">
                <ns12:svgBlip xmlns:ns12="http://schemas.microsoft.com/office/drawing/2016/SVG/main" r:embed="rIdVectormf00479"/>
              </a:ext>
            </a:extLst>
          </a:blip>
          <a:stretch xmlns:a="http://schemas.openxmlformats.org/drawingml/2006/main"/>
        </p:blipFill>
        <p:spPr>
          <a:xfrm xmlns:a="http://schemas.openxmlformats.org/drawingml/2006/main">
            <a:off x="4572000" y="2381250"/>
            <a:ext cx="419100" cy="209550"/>
          </a:xfrm>
          <a:prstGeom xmlns:a="http://schemas.openxmlformats.org/drawingml/2006/main" prst="rect">
            <a:avLst/>
          </a:prstGeom>
        </p:spPr>
      </p:pic>
      <p:pic>
        <p:nvPicPr>
          <p:cNvPr id="77" name="!!dsbsc-dsb-send-g0-r0-peak0" descr="1"/>
          <p:cNvPicPr>
            <a:picLocks xmlns:a="http://schemas.openxmlformats.org/drawingml/2006/main" noChangeAspect="1"/>
          </p:cNvPicPr>
          <p:nvPr/>
        </p:nvPicPr>
        <p:blipFill>
          <a:blip xmlns:r="http://schemas.openxmlformats.org/officeDocument/2006/relationships" xmlns:a="http://schemas.openxmlformats.org/drawingml/2006/main" r:embed="Ra591fbc4feb34c7d">
            <a:extLst>
              <a:ext uri="{96DAC541-7B7A-43D3-8B79-37D633B846F1}">
                <ns13:svgBlip xmlns:ns13="http://schemas.microsoft.com/office/drawing/2016/SVG/main" r:embed="rIdVectormf00480"/>
              </a:ext>
            </a:extLst>
          </a:blip>
          <a:stretch xmlns:a="http://schemas.openxmlformats.org/drawingml/2006/main"/>
        </p:blipFill>
        <p:spPr>
          <a:xfrm xmlns:a="http://schemas.openxmlformats.org/drawingml/2006/main">
            <a:off x="1911066" y="2747963"/>
            <a:ext cx="102168" cy="114300"/>
          </a:xfrm>
          <a:prstGeom xmlns:a="http://schemas.openxmlformats.org/drawingml/2006/main" prst="rect">
            <a:avLst/>
          </a:prstGeom>
        </p:spPr>
      </p:pic>
      <p:pic>
        <p:nvPicPr>
          <p:cNvPr id="78" name="!!dsbsc-dsb-send-g0-illustration" descr="\text{Illustration: }A_c=A'_c=2,\quad f_c=3W"/>
          <p:cNvPicPr>
            <a:picLocks xmlns:a="http://schemas.openxmlformats.org/drawingml/2006/main" noChangeAspect="1"/>
          </p:cNvPicPr>
          <p:nvPr/>
        </p:nvPicPr>
        <p:blipFill>
          <a:blip xmlns:r="http://schemas.openxmlformats.org/officeDocument/2006/relationships" xmlns:a="http://schemas.openxmlformats.org/drawingml/2006/main" r:embed="R6751d9458e46492c">
            <a:extLst>
              <a:ext uri="{96DAC541-7B7A-43D3-8B79-37D633B846F1}">
                <ns14:svgBlip xmlns:ns14="http://schemas.microsoft.com/office/drawing/2016/SVG/main" r:embed="rIdVectormf00481"/>
              </a:ext>
            </a:extLst>
          </a:blip>
          <a:stretch xmlns:a="http://schemas.openxmlformats.org/drawingml/2006/main"/>
        </p:blipFill>
        <p:spPr>
          <a:xfrm xmlns:a="http://schemas.openxmlformats.org/drawingml/2006/main">
            <a:off x="633359" y="1993583"/>
            <a:ext cx="4181582" cy="251460"/>
          </a:xfrm>
          <a:prstGeom xmlns:a="http://schemas.openxmlformats.org/drawingml/2006/main" prst="rect">
            <a:avLst/>
          </a:prstGeom>
        </p:spPr>
      </p:pic>
      <p:pic>
        <p:nvPicPr>
          <p:cNvPr id="79" name="!!dsbsc-dsb-send-math" descr="\textstyle \times A_c\cos(2\pi f_ct)"/>
          <p:cNvPicPr>
            <a:picLocks xmlns:a="http://schemas.openxmlformats.org/drawingml/2006/main" noChangeAspect="1"/>
          </p:cNvPicPr>
          <p:nvPr/>
        </p:nvPicPr>
        <p:blipFill>
          <a:blip xmlns:r="http://schemas.openxmlformats.org/officeDocument/2006/relationships" xmlns:a="http://schemas.openxmlformats.org/drawingml/2006/main" r:embed="R1c54a7ff674e4c83">
            <a:extLst>
              <a:ext uri="{96DAC541-7B7A-43D3-8B79-37D633B846F1}">
                <ns15:svgBlip xmlns:ns15="http://schemas.microsoft.com/office/drawing/2016/SVG/main" r:embed="rIdVectormf00482"/>
              </a:ext>
            </a:extLst>
          </a:blip>
          <a:stretch xmlns:a="http://schemas.openxmlformats.org/drawingml/2006/main"/>
        </p:blipFill>
        <p:spPr>
          <a:xfrm xmlns:a="http://schemas.openxmlformats.org/drawingml/2006/main">
            <a:off x="3128010" y="3010614"/>
            <a:ext cx="1668780" cy="227171"/>
          </a:xfrm>
          <a:prstGeom xmlns:a="http://schemas.openxmlformats.org/drawingml/2006/main" prst="rect">
            <a:avLst/>
          </a:prstGeom>
        </p:spPr>
      </p:pic>
      <p:pic>
        <p:nvPicPr>
          <p:cNvPr id="80" name="!!dsbsc-dsb-send-condition" descr="f_c&gt;W"/>
          <p:cNvPicPr>
            <a:picLocks xmlns:a="http://schemas.openxmlformats.org/drawingml/2006/main" noChangeAspect="1"/>
          </p:cNvPicPr>
          <p:nvPr/>
        </p:nvPicPr>
        <p:blipFill>
          <a:blip xmlns:r="http://schemas.openxmlformats.org/officeDocument/2006/relationships" xmlns:a="http://schemas.openxmlformats.org/drawingml/2006/main" r:embed="Re34347d0c0af48a2">
            <a:extLst>
              <a:ext uri="{96DAC541-7B7A-43D3-8B79-37D633B846F1}">
                <ns16:svgBlip xmlns:ns16="http://schemas.microsoft.com/office/drawing/2016/SVG/main" r:embed="rIdVectormf00483"/>
              </a:ext>
            </a:extLst>
          </a:blip>
          <a:stretch xmlns:a="http://schemas.openxmlformats.org/drawingml/2006/main"/>
        </p:blipFill>
        <p:spPr>
          <a:xfrm xmlns:a="http://schemas.openxmlformats.org/drawingml/2006/main">
            <a:off x="3625516" y="2672715"/>
            <a:ext cx="673768" cy="160020"/>
          </a:xfrm>
          <a:prstGeom xmlns:a="http://schemas.openxmlformats.org/drawingml/2006/main" prst="rect">
            <a:avLst/>
          </a:prstGeom>
        </p:spPr>
      </p:pic>
      <p:pic>
        <p:nvPicPr>
          <p:cNvPr id="81" name="!!dsbsc-dsb-send-g1-r0-peak0" descr="\frac{A_c}{2}"/>
          <p:cNvPicPr>
            <a:picLocks xmlns:a="http://schemas.openxmlformats.org/drawingml/2006/main" noChangeAspect="1"/>
          </p:cNvPicPr>
          <p:nvPr/>
        </p:nvPicPr>
        <p:blipFill>
          <a:blip xmlns:r="http://schemas.openxmlformats.org/officeDocument/2006/relationships" xmlns:a="http://schemas.openxmlformats.org/drawingml/2006/main" r:embed="R1447c4980fc0430f">
            <a:extLst>
              <a:ext uri="{96DAC541-7B7A-43D3-8B79-37D633B846F1}">
                <ns17:svgBlip xmlns:ns17="http://schemas.microsoft.com/office/drawing/2016/SVG/main" r:embed="rIdVectormf00484"/>
              </a:ext>
            </a:extLst>
          </a:blip>
          <a:stretch xmlns:a="http://schemas.openxmlformats.org/drawingml/2006/main"/>
        </p:blipFill>
        <p:spPr>
          <a:xfrm xmlns:a="http://schemas.openxmlformats.org/drawingml/2006/main">
            <a:off x="6377204" y="2628328"/>
            <a:ext cx="213880" cy="353570"/>
          </a:xfrm>
          <a:prstGeom xmlns:a="http://schemas.openxmlformats.org/drawingml/2006/main" prst="rect">
            <a:avLst/>
          </a:prstGeom>
        </p:spPr>
      </p:pic>
      <p:pic>
        <p:nvPicPr>
          <p:cNvPr id="82" name="!!dsbsc-dense-equation-0" descr="\textstyle m(t)\longleftrightarrow M(f)"/>
          <p:cNvPicPr>
            <a:picLocks xmlns:a="http://schemas.openxmlformats.org/drawingml/2006/main" noChangeAspect="1"/>
          </p:cNvPicPr>
          <p:nvPr/>
        </p:nvPicPr>
        <p:blipFill>
          <a:blip xmlns:r="http://schemas.openxmlformats.org/officeDocument/2006/relationships" xmlns:a="http://schemas.openxmlformats.org/drawingml/2006/main" r:embed="Rdedfa9d3e91b4b4d">
            <a:extLst>
              <a:ext uri="{96DAC541-7B7A-43D3-8B79-37D633B846F1}">
                <ns18:svgBlip xmlns:ns18="http://schemas.microsoft.com/office/drawing/2016/SVG/main" r:embed="rIdVectormf00485"/>
              </a:ext>
            </a:extLst>
          </a:blip>
          <a:stretch xmlns:a="http://schemas.openxmlformats.org/drawingml/2006/main"/>
        </p:blipFill>
        <p:spPr>
          <a:xfrm xmlns:a="http://schemas.openxmlformats.org/drawingml/2006/main">
            <a:off x="609600" y="4831556"/>
            <a:ext cx="1857375" cy="247650"/>
          </a:xfrm>
          <a:prstGeom xmlns:a="http://schemas.openxmlformats.org/drawingml/2006/main" prst="rect">
            <a:avLst/>
          </a:prstGeom>
        </p:spPr>
      </p:pic>
      <p:pic>
        <p:nvPicPr>
          <p:cNvPr id="83" name="!!dsbsc-dense-equation-1" descr="\textstyle s(t)=A_cm(t)\cos(2\pi f_ct)"/>
          <p:cNvPicPr>
            <a:picLocks xmlns:a="http://schemas.openxmlformats.org/drawingml/2006/main" noChangeAspect="1"/>
          </p:cNvPicPr>
          <p:nvPr/>
        </p:nvPicPr>
        <p:blipFill>
          <a:blip xmlns:r="http://schemas.openxmlformats.org/officeDocument/2006/relationships" xmlns:a="http://schemas.openxmlformats.org/drawingml/2006/main" r:embed="Rdbba04bf46da457f">
            <a:extLst>
              <a:ext uri="{96DAC541-7B7A-43D3-8B79-37D633B846F1}">
                <ns19:svgBlip xmlns:ns19="http://schemas.microsoft.com/office/drawing/2016/SVG/main" r:embed="rIdVectormf00486"/>
              </a:ext>
            </a:extLst>
          </a:blip>
          <a:stretch xmlns:a="http://schemas.openxmlformats.org/drawingml/2006/main"/>
        </p:blipFill>
        <p:spPr>
          <a:xfrm xmlns:a="http://schemas.openxmlformats.org/drawingml/2006/main">
            <a:off x="609600" y="5270480"/>
            <a:ext cx="2971800" cy="246102"/>
          </a:xfrm>
          <a:prstGeom xmlns:a="http://schemas.openxmlformats.org/drawingml/2006/main" prst="rect">
            <a:avLst/>
          </a:prstGeom>
        </p:spPr>
      </p:pic>
      <p:pic>
        <p:nvPicPr>
          <p:cNvPr id="84" name="!!dsbsc-dense-equation-2" descr="\textstyle S(f)=\frac{A_c}{2}[M(f-f_c)+M(f+f_c)]"/>
          <p:cNvPicPr>
            <a:picLocks xmlns:a="http://schemas.openxmlformats.org/drawingml/2006/main" noChangeAspect="1"/>
          </p:cNvPicPr>
          <p:nvPr/>
        </p:nvPicPr>
        <p:blipFill>
          <a:blip xmlns:r="http://schemas.openxmlformats.org/officeDocument/2006/relationships" xmlns:a="http://schemas.openxmlformats.org/drawingml/2006/main" r:embed="R0d1bdfeaba4a459c">
            <a:extLst>
              <a:ext uri="{96DAC541-7B7A-43D3-8B79-37D633B846F1}">
                <ns20:svgBlip xmlns:ns20="http://schemas.microsoft.com/office/drawing/2016/SVG/main" r:embed="rIdVectormf00487"/>
              </a:ext>
            </a:extLst>
          </a:blip>
          <a:stretch xmlns:a="http://schemas.openxmlformats.org/drawingml/2006/main"/>
        </p:blipFill>
        <p:spPr>
          <a:xfrm xmlns:a="http://schemas.openxmlformats.org/drawingml/2006/main">
            <a:off x="609600" y="5673804"/>
            <a:ext cx="3987165" cy="315754"/>
          </a:xfrm>
          <a:prstGeom xmlns:a="http://schemas.openxmlformats.org/drawingml/2006/main" prst="rect">
            <a:avLst/>
          </a:prstGeom>
        </p:spPr>
      </p:pic>
    </p:spTree>
    <p:extLst>
      <p:ext uri="{BB962C8B-B14F-4D97-AF65-F5344CB8AC3E}">
        <p14:creationId xmlns:p14="http://schemas.microsoft.com/office/powerpoint/2010/main" val="134900080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400"/>
                                        <p:tgtEl>
                                          <p:spTgt spid="79"/>
                                        </p:tgtEl>
                                      </p:cBhvr>
                                    </p:animEffect>
                                  </p:childTnLst>
                                </p:cTn>
                              </p:par>
                              <p:par>
                                <p:cTn id="14" presetID="10" presetClass="entr" presetSubtype="0" fill="hold" nodeType="withEffect">
                                  <p:stCondLst>
                                    <p:cond delay="0"/>
                                  </p:stCondLst>
                                  <p:childTnLst>
                                    <p:set>
                                      <p:cBhvr>
                                        <p:cTn id="15" dur="1" fill="hold">
                                          <p:stCondLst>
                                            <p:cond delay="0"/>
                                          </p:stCondLst>
                                        </p:cTn>
                                        <p:tgtEl>
                                          <p:spTgt spid="80"/>
                                        </p:tgtEl>
                                        <p:attrNameLst>
                                          <p:attrName>style.visibility</p:attrName>
                                        </p:attrNameLst>
                                      </p:cBhvr>
                                      <p:to>
                                        <p:strVal val="visible"/>
                                      </p:to>
                                    </p:set>
                                    <p:animEffect transition="in" filter="fade">
                                      <p:cBhvr>
                                        <p:cTn id="16" dur="400"/>
                                        <p:tgtEl>
                                          <p:spTgt spid="80"/>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00"/>
                                        <p:tgtEl>
                                          <p:spTgt spid="20"/>
                                        </p:tgtEl>
                                      </p:cBhvr>
                                    </p:animEffect>
                                    <p:animMotion origin="layout" pathEditMode="relative" path="M -0.28535154 0.00000000 L 0.00000000 0.00000000 E">
                                      <p:cBhvr>
                                        <p:cTn id="20" dur="700" fill="hold"/>
                                        <p:tgtEl>
                                          <p:spTgt spid="20"/>
                                        </p:tgtEl>
                                        <p:attrNameLst>
                                          <p:attrName>ppt_x</p:attrName>
                                          <p:attrName>ppt_y</p:attrName>
                                        </p:attrNameLst>
                                      </p:cBhvr>
                                    </p:animMotion>
                                    <p:animScale zoomContents="1">
                                      <p:cBhvr>
                                        <p:cTn id="21" dur="700" fill="hold"/>
                                        <p:tgtEl>
                                          <p:spTgt spid="20"/>
                                        </p:tgtEl>
                                      </p:cBhvr>
                                      <p:from x="100000" y="100000"/>
                                      <p:to x="100000" y="100000"/>
                                    </p:animScale>
                                  </p:childTnLst>
                                </p:cTn>
                              </p:par>
                              <p:par>
                                <p:cTn id="22" presetID="10" presetClass="entr" presetSubtype="0"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200"/>
                                        <p:tgtEl>
                                          <p:spTgt spid="21"/>
                                        </p:tgtEl>
                                      </p:cBhvr>
                                    </p:animEffect>
                                    <p:animMotion origin="layout" pathEditMode="relative" path="M -0.37089846 0.00000000 L 0.00000000 0.00000000 E">
                                      <p:cBhvr>
                                        <p:cTn id="25" dur="700" fill="hold"/>
                                        <p:tgtEl>
                                          <p:spTgt spid="21"/>
                                        </p:tgtEl>
                                        <p:attrNameLst>
                                          <p:attrName>ppt_x</p:attrName>
                                          <p:attrName>ppt_y</p:attrName>
                                        </p:attrNameLst>
                                      </p:cBhvr>
                                    </p:animMotion>
                                    <p:animScale zoomContents="1">
                                      <p:cBhvr>
                                        <p:cTn id="26" dur="700" fill="hold"/>
                                        <p:tgtEl>
                                          <p:spTgt spid="21"/>
                                        </p:tgtEl>
                                      </p:cBhvr>
                                      <p:from x="100000" y="100000"/>
                                      <p:to x="100000" y="100000"/>
                                    </p:animScale>
                                  </p:childTnLst>
                                </p:cTn>
                              </p:par>
                              <p:par>
                                <p:cTn id="27" presetID="10" presetClass="entr" presetSubtype="0" fill="hold" nodeType="withEffect">
                                  <p:stCondLst>
                                    <p:cond delay="0"/>
                                  </p:stCondLst>
                                  <p:childTnLst>
                                    <p:set>
                                      <p:cBhvr>
                                        <p:cTn id="28" dur="1" fill="hold">
                                          <p:stCondLst>
                                            <p:cond delay="0"/>
                                          </p:stCondLst>
                                        </p:cTn>
                                        <p:tgtEl>
                                          <p:spTgt spid="81"/>
                                        </p:tgtEl>
                                        <p:attrNameLst>
                                          <p:attrName>style.visibility</p:attrName>
                                        </p:attrNameLst>
                                      </p:cBhvr>
                                      <p:to>
                                        <p:strVal val="visible"/>
                                      </p:to>
                                    </p:set>
                                    <p:animEffect transition="in" filter="fade">
                                      <p:cBhvr>
                                        <p:cTn id="29" dur="400"/>
                                        <p:tgtEl>
                                          <p:spTgt spid="81"/>
                                        </p:tgtEl>
                                      </p:cBhvr>
                                    </p:animEffect>
                                  </p:childTnLst>
                                </p:cTn>
                              </p:par>
                              <p:par>
                                <p:cTn id="30" presetID="10" presetClass="entr" presetSubtype="0" fill="hold" nodeType="with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fade">
                                      <p:cBhvr>
                                        <p:cTn id="32" dur="400"/>
                                        <p:tgtEl>
                                          <p:spTgt spid="8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4"/>
                                        </p:tgtEl>
                                        <p:attrNameLst>
                                          <p:attrName>style.visibility</p:attrName>
                                        </p:attrNameLst>
                                      </p:cBhvr>
                                      <p:to>
                                        <p:strVal val="visible"/>
                                      </p:to>
                                    </p:set>
                                    <p:animEffect transition="in" filter="fade">
                                      <p:cBhvr>
                                        <p:cTn id="37"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dsbsc-title">
            <ns0:hlinkClick xmlns:ns0="http://schemas.openxmlformats.org/drawingml/2006/main" xmlns:ns1="http://schemas.openxmlformats.org/officeDocument/2006/relationships" ns1:id="rIdmethods_Link110" action="ppaction://hlinksldjump"/>
            <a:extLst xmlns:a="http://schemas.openxmlformats.org/drawingml/2006/main">
              <a:ext uri="{FF2B5EF4-FFF2-40B4-BE49-F238E27FC236}">
                <a16:creationId xmlns:a16="http://schemas.microsoft.com/office/drawing/2014/main" id="{8EABAFE0-26BA-4C61-98A3-0460740DE63A}"/>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10" action="ppaction://hlinksldjump"/>
              </a:rPr>
              <a:t>DSB-SC</a:t>
            </a:r>
          </a:p>
        </p:txBody>
      </p:sp>
      <p:sp>
        <p:nvSpPr>
          <p:cNvPr id="2" name="!!dsbsc-route-tx-line">
            <a:extLst xmlns:a="http://schemas.openxmlformats.org/drawingml/2006/main">
              <a:ext uri="{FF2B5EF4-FFF2-40B4-BE49-F238E27FC236}">
                <a16:creationId xmlns:a16="http://schemas.microsoft.com/office/drawing/2014/main" id="{3F48277F-5E84-40D6-9060-076633945B3B}"/>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dsbsc-route-tx-head">
            <a:extLst xmlns:a="http://schemas.openxmlformats.org/drawingml/2006/main">
              <a:ext uri="{FF2B5EF4-FFF2-40B4-BE49-F238E27FC236}">
                <a16:creationId xmlns:a16="http://schemas.microsoft.com/office/drawing/2014/main" id="{0411810C-7F49-46AE-B742-B89A6F0C5460}"/>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dsbsc-route-rx-line">
            <a:extLst xmlns:a="http://schemas.openxmlformats.org/drawingml/2006/main">
              <a:ext uri="{FF2B5EF4-FFF2-40B4-BE49-F238E27FC236}">
                <a16:creationId xmlns:a16="http://schemas.microsoft.com/office/drawing/2014/main" id="{3E4487DE-E5E7-473F-89B8-C8B7357E5781}"/>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dsbsc-route-rx-head">
            <a:extLst xmlns:a="http://schemas.openxmlformats.org/drawingml/2006/main">
              <a:ext uri="{FF2B5EF4-FFF2-40B4-BE49-F238E27FC236}">
                <a16:creationId xmlns:a16="http://schemas.microsoft.com/office/drawing/2014/main" id="{A1E5E8E5-FAE7-4101-864D-F22620C55C34}"/>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dsbsc-review-purpose">
            <a:extLst xmlns:a="http://schemas.openxmlformats.org/drawingml/2006/main">
              <a:ext uri="{FF2B5EF4-FFF2-40B4-BE49-F238E27FC236}">
                <a16:creationId xmlns:a16="http://schemas.microsoft.com/office/drawing/2014/main" id="{503D6BA6-4364-4EB5-AA28-0D10F23A2878}"/>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Shift back; keep the copy around zero</a:t>
            </a:r>
          </a:p>
        </p:txBody>
      </p:sp>
      <p:sp>
        <p:nvSpPr>
          <p:cNvPr id="7" name="!!dsbsc-dsb-multiply-g0-r0-axis-line">
            <a:extLst xmlns:a="http://schemas.openxmlformats.org/drawingml/2006/main">
              <a:ext uri="{FF2B5EF4-FFF2-40B4-BE49-F238E27FC236}">
                <a16:creationId xmlns:a16="http://schemas.microsoft.com/office/drawing/2014/main" id="{B1D0E9E9-1FF9-42CD-94EF-54F7F6A92AE4}"/>
              </a:ext>
            </a:extLst>
          </p:cNvPr>
          <p:cNvSpPr>
            <a:spLocks xmlns:a="http://schemas.openxmlformats.org/drawingml/2006/main" noGrp="1"/>
          </p:cNvSpPr>
          <p:nvPr/>
        </p:nvSpPr>
        <p:spPr>
          <a:xfrm xmlns:a="http://schemas.openxmlformats.org/drawingml/2006/main">
            <a:off x="571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dsbsc-dsb-multiply-g0-r0-axis-head">
            <a:extLst xmlns:a="http://schemas.openxmlformats.org/drawingml/2006/main">
              <a:ext uri="{FF2B5EF4-FFF2-40B4-BE49-F238E27FC236}">
                <a16:creationId xmlns:a16="http://schemas.microsoft.com/office/drawing/2014/main" id="{FF36842E-7BCA-43B0-B984-3CD52FDCD174}"/>
              </a:ext>
            </a:extLst>
          </p:cNvPr>
          <p:cNvSpPr>
            <a:spLocks xmlns:a="http://schemas.openxmlformats.org/drawingml/2006/main" noGrp="1"/>
          </p:cNvSpPr>
          <p:nvPr/>
        </p:nvSpPr>
        <p:spPr>
          <a:xfrm xmlns:a="http://schemas.openxmlformats.org/drawingml/2006/main" rot="5400000">
            <a:off x="3238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dsbsc-dsb-multiply-g0-r0-tick0">
            <a:extLst xmlns:a="http://schemas.openxmlformats.org/drawingml/2006/main">
              <a:ext uri="{FF2B5EF4-FFF2-40B4-BE49-F238E27FC236}">
                <a16:creationId xmlns:a16="http://schemas.microsoft.com/office/drawing/2014/main" id="{9D8292B5-76AD-4D3D-9361-421BBFFD1D06}"/>
              </a:ext>
            </a:extLst>
          </p:cNvPr>
          <p:cNvSpPr>
            <a:spLocks xmlns:a="http://schemas.openxmlformats.org/drawingml/2006/main" noGrp="1"/>
          </p:cNvSpPr>
          <p:nvPr/>
        </p:nvSpPr>
        <p:spPr>
          <a:xfrm xmlns:a="http://schemas.openxmlformats.org/drawingml/2006/main">
            <a:off x="1440656"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dsbsc-dsb-multiply-g0-r0-tick1">
            <a:extLst xmlns:a="http://schemas.openxmlformats.org/drawingml/2006/main">
              <a:ext uri="{FF2B5EF4-FFF2-40B4-BE49-F238E27FC236}">
                <a16:creationId xmlns:a16="http://schemas.microsoft.com/office/drawing/2014/main" id="{E5889775-B0E2-4380-92FD-E331B00B6D22}"/>
              </a:ext>
            </a:extLst>
          </p:cNvPr>
          <p:cNvSpPr>
            <a:spLocks xmlns:a="http://schemas.openxmlformats.org/drawingml/2006/main" noGrp="1"/>
          </p:cNvSpPr>
          <p:nvPr/>
        </p:nvSpPr>
        <p:spPr>
          <a:xfrm xmlns:a="http://schemas.openxmlformats.org/drawingml/2006/main">
            <a:off x="1962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dsbsc-dsb-multiply-g0-r0-tick2">
            <a:extLst xmlns:a="http://schemas.openxmlformats.org/drawingml/2006/main">
              <a:ext uri="{FF2B5EF4-FFF2-40B4-BE49-F238E27FC236}">
                <a16:creationId xmlns:a16="http://schemas.microsoft.com/office/drawing/2014/main" id="{9FBBB62F-D199-4594-BE63-E650E4183FA6}"/>
              </a:ext>
            </a:extLst>
          </p:cNvPr>
          <p:cNvSpPr>
            <a:spLocks xmlns:a="http://schemas.openxmlformats.org/drawingml/2006/main" noGrp="1"/>
          </p:cNvSpPr>
          <p:nvPr/>
        </p:nvSpPr>
        <p:spPr>
          <a:xfrm xmlns:a="http://schemas.openxmlformats.org/drawingml/2006/main">
            <a:off x="2483644"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dsbsc-dsb-multiply-g1-r0-axis-line">
            <a:extLst xmlns:a="http://schemas.openxmlformats.org/drawingml/2006/main">
              <a:ext uri="{FF2B5EF4-FFF2-40B4-BE49-F238E27FC236}">
                <a16:creationId xmlns:a16="http://schemas.microsoft.com/office/drawing/2014/main" id="{B9AF53C3-DF25-4004-ADFD-C0A2853EA2D2}"/>
              </a:ext>
            </a:extLst>
          </p:cNvPr>
          <p:cNvSpPr>
            <a:spLocks xmlns:a="http://schemas.openxmlformats.org/drawingml/2006/main" noGrp="1"/>
          </p:cNvSpPr>
          <p:nvPr/>
        </p:nvSpPr>
        <p:spPr>
          <a:xfrm xmlns:a="http://schemas.openxmlformats.org/drawingml/2006/main">
            <a:off x="45720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dsbsc-dsb-multiply-g1-r0-axis-head">
            <a:extLst xmlns:a="http://schemas.openxmlformats.org/drawingml/2006/main">
              <a:ext uri="{FF2B5EF4-FFF2-40B4-BE49-F238E27FC236}">
                <a16:creationId xmlns:a16="http://schemas.microsoft.com/office/drawing/2014/main" id="{AECBD5F7-614A-4734-9FE7-D5CF362C7405}"/>
              </a:ext>
            </a:extLst>
          </p:cNvPr>
          <p:cNvSpPr>
            <a:spLocks xmlns:a="http://schemas.openxmlformats.org/drawingml/2006/main" noGrp="1"/>
          </p:cNvSpPr>
          <p:nvPr/>
        </p:nvSpPr>
        <p:spPr>
          <a:xfrm xmlns:a="http://schemas.openxmlformats.org/drawingml/2006/main" rot="5400000">
            <a:off x="72390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4" name="!!dsbsc-dsb-multiply-g1-r0-tick0">
            <a:extLst xmlns:a="http://schemas.openxmlformats.org/drawingml/2006/main">
              <a:ext uri="{FF2B5EF4-FFF2-40B4-BE49-F238E27FC236}">
                <a16:creationId xmlns:a16="http://schemas.microsoft.com/office/drawing/2014/main" id="{FB2B40DC-A97D-4B86-990F-0E9115D263AA}"/>
              </a:ext>
            </a:extLst>
          </p:cNvPr>
          <p:cNvSpPr>
            <a:spLocks xmlns:a="http://schemas.openxmlformats.org/drawingml/2006/main" noGrp="1"/>
          </p:cNvSpPr>
          <p:nvPr/>
        </p:nvSpPr>
        <p:spPr>
          <a:xfrm xmlns:a="http://schemas.openxmlformats.org/drawingml/2006/main">
            <a:off x="4919663"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dsbsc-dsb-multiply-g1-r0-tick1">
            <a:extLst xmlns:a="http://schemas.openxmlformats.org/drawingml/2006/main">
              <a:ext uri="{FF2B5EF4-FFF2-40B4-BE49-F238E27FC236}">
                <a16:creationId xmlns:a16="http://schemas.microsoft.com/office/drawing/2014/main" id="{2964D79B-26A0-46F8-9232-C9153EE427E5}"/>
              </a:ext>
            </a:extLst>
          </p:cNvPr>
          <p:cNvSpPr>
            <a:spLocks xmlns:a="http://schemas.openxmlformats.org/drawingml/2006/main" noGrp="1"/>
          </p:cNvSpPr>
          <p:nvPr/>
        </p:nvSpPr>
        <p:spPr>
          <a:xfrm xmlns:a="http://schemas.openxmlformats.org/drawingml/2006/main">
            <a:off x="59626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dsbsc-dsb-multiply-g1-r0-tick2">
            <a:extLst xmlns:a="http://schemas.openxmlformats.org/drawingml/2006/main">
              <a:ext uri="{FF2B5EF4-FFF2-40B4-BE49-F238E27FC236}">
                <a16:creationId xmlns:a16="http://schemas.microsoft.com/office/drawing/2014/main" id="{59FD930D-9FEF-4F65-B36D-FFBF896A1BAC}"/>
              </a:ext>
            </a:extLst>
          </p:cNvPr>
          <p:cNvSpPr>
            <a:spLocks xmlns:a="http://schemas.openxmlformats.org/drawingml/2006/main" noGrp="1"/>
          </p:cNvSpPr>
          <p:nvPr/>
        </p:nvSpPr>
        <p:spPr>
          <a:xfrm xmlns:a="http://schemas.openxmlformats.org/drawingml/2006/main">
            <a:off x="7005638"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dsbsc-dsb-multiply-g2-r0-axis-line">
            <a:extLst xmlns:a="http://schemas.openxmlformats.org/drawingml/2006/main">
              <a:ext uri="{FF2B5EF4-FFF2-40B4-BE49-F238E27FC236}">
                <a16:creationId xmlns:a16="http://schemas.microsoft.com/office/drawing/2014/main" id="{AFFFBF73-B9CE-4DFB-A158-C698F926F6A4}"/>
              </a:ext>
            </a:extLst>
          </p:cNvPr>
          <p:cNvSpPr>
            <a:spLocks xmlns:a="http://schemas.openxmlformats.org/drawingml/2006/main" noGrp="1"/>
          </p:cNvSpPr>
          <p:nvPr/>
        </p:nvSpPr>
        <p:spPr>
          <a:xfrm xmlns:a="http://schemas.openxmlformats.org/drawingml/2006/main">
            <a:off x="8572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dsbsc-dsb-multiply-g2-r0-axis-head">
            <a:extLst xmlns:a="http://schemas.openxmlformats.org/drawingml/2006/main">
              <a:ext uri="{FF2B5EF4-FFF2-40B4-BE49-F238E27FC236}">
                <a16:creationId xmlns:a16="http://schemas.microsoft.com/office/drawing/2014/main" id="{FE145AD2-5DF9-4A44-963E-D5B4BE3D22D0}"/>
              </a:ext>
            </a:extLst>
          </p:cNvPr>
          <p:cNvSpPr>
            <a:spLocks xmlns:a="http://schemas.openxmlformats.org/drawingml/2006/main" noGrp="1"/>
          </p:cNvSpPr>
          <p:nvPr/>
        </p:nvSpPr>
        <p:spPr>
          <a:xfrm xmlns:a="http://schemas.openxmlformats.org/drawingml/2006/main" rot="5400000">
            <a:off x="11239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9" name="!!dsbsc-dsb-multiply-g2-r0-tick0">
            <a:extLst xmlns:a="http://schemas.openxmlformats.org/drawingml/2006/main">
              <a:ext uri="{FF2B5EF4-FFF2-40B4-BE49-F238E27FC236}">
                <a16:creationId xmlns:a16="http://schemas.microsoft.com/office/drawing/2014/main" id="{280B5234-3E74-4DC4-80A5-99E0BAB569E4}"/>
              </a:ext>
            </a:extLst>
          </p:cNvPr>
          <p:cNvSpPr>
            <a:spLocks xmlns:a="http://schemas.openxmlformats.org/drawingml/2006/main" noGrp="1"/>
          </p:cNvSpPr>
          <p:nvPr/>
        </p:nvSpPr>
        <p:spPr>
          <a:xfrm xmlns:a="http://schemas.openxmlformats.org/drawingml/2006/main">
            <a:off x="97893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dsbsc-dsb-multiply-g2-r0-tick1">
            <a:extLst xmlns:a="http://schemas.openxmlformats.org/drawingml/2006/main">
              <a:ext uri="{FF2B5EF4-FFF2-40B4-BE49-F238E27FC236}">
                <a16:creationId xmlns:a16="http://schemas.microsoft.com/office/drawing/2014/main" id="{502764B6-AF13-470E-82D7-44CC977AE5D0}"/>
              </a:ext>
            </a:extLst>
          </p:cNvPr>
          <p:cNvSpPr>
            <a:spLocks xmlns:a="http://schemas.openxmlformats.org/drawingml/2006/main" noGrp="1"/>
          </p:cNvSpPr>
          <p:nvPr/>
        </p:nvSpPr>
        <p:spPr>
          <a:xfrm xmlns:a="http://schemas.openxmlformats.org/drawingml/2006/main">
            <a:off x="9963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dsbsc-dsb-multiply-g2-r0-tick2">
            <a:extLst xmlns:a="http://schemas.openxmlformats.org/drawingml/2006/main">
              <a:ext uri="{FF2B5EF4-FFF2-40B4-BE49-F238E27FC236}">
                <a16:creationId xmlns:a16="http://schemas.microsoft.com/office/drawing/2014/main" id="{FF4EBB84-FB02-4983-B693-15C18D3C4114}"/>
              </a:ext>
            </a:extLst>
          </p:cNvPr>
          <p:cNvSpPr>
            <a:spLocks xmlns:a="http://schemas.openxmlformats.org/drawingml/2006/main" noGrp="1"/>
          </p:cNvSpPr>
          <p:nvPr/>
        </p:nvSpPr>
        <p:spPr>
          <a:xfrm xmlns:a="http://schemas.openxmlformats.org/drawingml/2006/main">
            <a:off x="101369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dsbsc-dsb-multiply-g0-sn">
            <a:extLst xmlns:a="http://schemas.openxmlformats.org/drawingml/2006/main">
              <a:ext uri="{FF2B5EF4-FFF2-40B4-BE49-F238E27FC236}">
                <a16:creationId xmlns:a16="http://schemas.microsoft.com/office/drawing/2014/main" id="{3034B0B9-7B2C-4358-B561-06EFD33E0C7B}"/>
              </a:ext>
            </a:extLst>
          </p:cNvPr>
          <p:cNvSpPr>
            <a:spLocks xmlns:a="http://schemas.openxmlformats.org/drawingml/2006/main" noGrp="1"/>
          </p:cNvSpPr>
          <p:nvPr/>
        </p:nvSpPr>
        <p:spPr>
          <a:xfrm xmlns:a="http://schemas.openxmlformats.org/drawingml/2006/main">
            <a:off x="1266825"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23" name="!!dsbsc-dsb-multiply-g0-sp">
            <a:extLst xmlns:a="http://schemas.openxmlformats.org/drawingml/2006/main">
              <a:ext uri="{FF2B5EF4-FFF2-40B4-BE49-F238E27FC236}">
                <a16:creationId xmlns:a16="http://schemas.microsoft.com/office/drawing/2014/main" id="{DA71A0F3-3754-4CF1-8EEF-796FF21A3A67}"/>
              </a:ext>
            </a:extLst>
          </p:cNvPr>
          <p:cNvSpPr>
            <a:spLocks xmlns:a="http://schemas.openxmlformats.org/drawingml/2006/main" noGrp="1"/>
          </p:cNvSpPr>
          <p:nvPr/>
        </p:nvSpPr>
        <p:spPr>
          <a:xfrm xmlns:a="http://schemas.openxmlformats.org/drawingml/2006/main">
            <a:off x="2309813"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24" name="!!dsbsc-dsb-multiply-arrow-line">
            <a:extLst xmlns:a="http://schemas.openxmlformats.org/drawingml/2006/main">
              <a:ext uri="{FF2B5EF4-FFF2-40B4-BE49-F238E27FC236}">
                <a16:creationId xmlns:a16="http://schemas.microsoft.com/office/drawing/2014/main" id="{DB723D74-5ACB-4E0C-9611-FAD25E3C8346}"/>
              </a:ext>
            </a:extLst>
          </p:cNvPr>
          <p:cNvSpPr>
            <a:spLocks xmlns:a="http://schemas.openxmlformats.org/drawingml/2006/main" noGrp="1"/>
          </p:cNvSpPr>
          <p:nvPr/>
        </p:nvSpPr>
        <p:spPr>
          <a:xfrm xmlns:a="http://schemas.openxmlformats.org/drawingml/2006/main">
            <a:off x="35814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5" name="!!dsbsc-dsb-multiply-arrow-head">
            <a:extLst xmlns:a="http://schemas.openxmlformats.org/drawingml/2006/main">
              <a:ext uri="{FF2B5EF4-FFF2-40B4-BE49-F238E27FC236}">
                <a16:creationId xmlns:a16="http://schemas.microsoft.com/office/drawing/2014/main" id="{0885CC4F-1FA2-49AC-ABF5-FBDCFD283421}"/>
              </a:ext>
            </a:extLst>
          </p:cNvPr>
          <p:cNvSpPr>
            <a:spLocks xmlns:a="http://schemas.openxmlformats.org/drawingml/2006/main" noGrp="1"/>
          </p:cNvSpPr>
          <p:nvPr/>
        </p:nvSpPr>
        <p:spPr>
          <a:xfrm xmlns:a="http://schemas.openxmlformats.org/drawingml/2006/main" rot="5400000">
            <a:off x="42291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6" name="!!dsbsc-dsb-multiply-g1-on">
            <a:extLst xmlns:a="http://schemas.openxmlformats.org/drawingml/2006/main">
              <a:ext uri="{FF2B5EF4-FFF2-40B4-BE49-F238E27FC236}">
                <a16:creationId xmlns:a16="http://schemas.microsoft.com/office/drawing/2014/main" id="{6511F0B6-25F1-4D52-AEA6-B5EC8AAD0516}"/>
              </a:ext>
            </a:extLst>
          </p:cNvPr>
          <p:cNvSpPr>
            <a:spLocks xmlns:a="http://schemas.openxmlformats.org/drawingml/2006/main" noGrp="1"/>
          </p:cNvSpPr>
          <p:nvPr/>
        </p:nvSpPr>
        <p:spPr>
          <a:xfrm xmlns:a="http://schemas.openxmlformats.org/drawingml/2006/main">
            <a:off x="4745831"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27" name="!!dsbsc-dsb-multiply-g1-op">
            <a:extLst xmlns:a="http://schemas.openxmlformats.org/drawingml/2006/main">
              <a:ext uri="{FF2B5EF4-FFF2-40B4-BE49-F238E27FC236}">
                <a16:creationId xmlns:a16="http://schemas.microsoft.com/office/drawing/2014/main" id="{3A33992C-3609-499B-9CC3-F18329545C7E}"/>
              </a:ext>
            </a:extLst>
          </p:cNvPr>
          <p:cNvSpPr>
            <a:spLocks xmlns:a="http://schemas.openxmlformats.org/drawingml/2006/main" noGrp="1"/>
          </p:cNvSpPr>
          <p:nvPr/>
        </p:nvSpPr>
        <p:spPr>
          <a:xfrm xmlns:a="http://schemas.openxmlformats.org/drawingml/2006/main">
            <a:off x="6831806"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28" name="!!dsbsc-dsb-multiply-g1-in-n">
            <a:extLst xmlns:a="http://schemas.openxmlformats.org/drawingml/2006/main">
              <a:ext uri="{FF2B5EF4-FFF2-40B4-BE49-F238E27FC236}">
                <a16:creationId xmlns:a16="http://schemas.microsoft.com/office/drawing/2014/main" id="{FAEC3E89-0805-4D2E-849D-51DBD8106545}"/>
              </a:ext>
            </a:extLst>
          </p:cNvPr>
          <p:cNvSpPr>
            <a:spLocks xmlns:a="http://schemas.openxmlformats.org/drawingml/2006/main" noGrp="1"/>
          </p:cNvSpPr>
          <p:nvPr/>
        </p:nvSpPr>
        <p:spPr>
          <a:xfrm xmlns:a="http://schemas.openxmlformats.org/drawingml/2006/main">
            <a:off x="5788819"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29" name="!!dsbsc-dsb-multiply-g1-in-p">
            <a:extLst xmlns:a="http://schemas.openxmlformats.org/drawingml/2006/main">
              <a:ext uri="{FF2B5EF4-FFF2-40B4-BE49-F238E27FC236}">
                <a16:creationId xmlns:a16="http://schemas.microsoft.com/office/drawing/2014/main" id="{9710BDD0-72F9-4C88-B5AF-F5B745F0A022}"/>
              </a:ext>
            </a:extLst>
          </p:cNvPr>
          <p:cNvSpPr>
            <a:spLocks xmlns:a="http://schemas.openxmlformats.org/drawingml/2006/main" noGrp="1"/>
          </p:cNvSpPr>
          <p:nvPr/>
        </p:nvSpPr>
        <p:spPr>
          <a:xfrm xmlns:a="http://schemas.openxmlformats.org/drawingml/2006/main">
            <a:off x="5788819"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30" name="!!dsbsc-dsb-multiply-g1-c">
            <a:extLst xmlns:a="http://schemas.openxmlformats.org/drawingml/2006/main">
              <a:ext uri="{FF2B5EF4-FFF2-40B4-BE49-F238E27FC236}">
                <a16:creationId xmlns:a16="http://schemas.microsoft.com/office/drawing/2014/main" id="{6727051D-9E58-44D9-85C1-FC4B33ECE8D6}"/>
              </a:ext>
            </a:extLst>
          </p:cNvPr>
          <p:cNvSpPr>
            <a:spLocks xmlns:a="http://schemas.openxmlformats.org/drawingml/2006/main" noGrp="1"/>
          </p:cNvSpPr>
          <p:nvPr/>
        </p:nvSpPr>
        <p:spPr>
          <a:xfrm xmlns:a="http://schemas.openxmlformats.org/drawingml/2006/main">
            <a:off x="5788819" y="2790825"/>
            <a:ext cx="347663" cy="733425"/>
          </a:xfrm>
          <a:custGeom xmlns:a="http://schemas.openxmlformats.org/drawingml/2006/main">
            <a:pathLst>
              <a:path w="347663" h="733425">
                <a:moveTo>
                  <a:pt x="0" y="733425"/>
                </a:moveTo>
                <a:lnTo>
                  <a:pt x="173831" y="0"/>
                </a:lnTo>
                <a:lnTo>
                  <a:pt x="347663" y="733425"/>
                </a:lnTo>
                <a:close/>
              </a:path>
            </a:pathLst>
          </a:custGeom>
          <a:solidFill xmlns:a="http://schemas.openxmlformats.org/drawingml/2006/main">
            <a:srgbClr val="535353"/>
          </a:solidFill>
          <a:ln xmlns:a="http://schemas.openxmlformats.org/drawingml/2006/main" w="10478">
            <a:solidFill>
              <a:srgbClr val="202020"/>
            </a:solidFill>
          </a:ln>
        </p:spPr>
      </p:sp>
      <p:sp>
        <p:nvSpPr>
          <p:cNvPr id="31" name="!!dsbsc-dsb-lpf-arrow-line">
            <a:extLst xmlns:a="http://schemas.openxmlformats.org/drawingml/2006/main">
              <a:ext uri="{FF2B5EF4-FFF2-40B4-BE49-F238E27FC236}">
                <a16:creationId xmlns:a16="http://schemas.microsoft.com/office/drawing/2014/main" id="{4C081B47-C3A5-4642-9964-AC878C24F5B3}"/>
              </a:ext>
            </a:extLst>
          </p:cNvPr>
          <p:cNvSpPr>
            <a:spLocks xmlns:a="http://schemas.openxmlformats.org/drawingml/2006/main" noGrp="1"/>
          </p:cNvSpPr>
          <p:nvPr/>
        </p:nvSpPr>
        <p:spPr>
          <a:xfrm xmlns:a="http://schemas.openxmlformats.org/drawingml/2006/main">
            <a:off x="75819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2" name="!!dsbsc-dsb-lpf-arrow-head">
            <a:extLst xmlns:a="http://schemas.openxmlformats.org/drawingml/2006/main">
              <a:ext uri="{FF2B5EF4-FFF2-40B4-BE49-F238E27FC236}">
                <a16:creationId xmlns:a16="http://schemas.microsoft.com/office/drawing/2014/main" id="{D342FE3F-8556-4F30-8DFA-9C7E01DD62F7}"/>
              </a:ext>
            </a:extLst>
          </p:cNvPr>
          <p:cNvSpPr>
            <a:spLocks xmlns:a="http://schemas.openxmlformats.org/drawingml/2006/main" noGrp="1"/>
          </p:cNvSpPr>
          <p:nvPr/>
        </p:nvSpPr>
        <p:spPr>
          <a:xfrm xmlns:a="http://schemas.openxmlformats.org/drawingml/2006/main" rot="5400000">
            <a:off x="82296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3" name="!!dsbsc-dsb-lpf-label">
            <a:extLst xmlns:a="http://schemas.openxmlformats.org/drawingml/2006/main">
              <a:ext uri="{FF2B5EF4-FFF2-40B4-BE49-F238E27FC236}">
                <a16:creationId xmlns:a16="http://schemas.microsoft.com/office/drawing/2014/main" id="{03498708-AD66-4EDE-BC82-46CC758AC5F5}"/>
              </a:ext>
            </a:extLst>
          </p:cNvPr>
          <p:cNvSpPr>
            <a:spLocks xmlns:a="http://schemas.openxmlformats.org/drawingml/2006/main" noGrp="1"/>
          </p:cNvSpPr>
          <p:nvPr/>
        </p:nvSpPr>
        <p:spPr>
          <a:xfrm xmlns:a="http://schemas.openxmlformats.org/drawingml/2006/main">
            <a:off x="7058025" y="29908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LPF</a:t>
            </a:r>
          </a:p>
        </p:txBody>
      </p:sp>
      <p:sp>
        <p:nvSpPr>
          <p:cNvPr id="34" name="!!dsbsc-dsb-multiply-g1-r0-filter0">
            <a:extLst xmlns:a="http://schemas.openxmlformats.org/drawingml/2006/main">
              <a:ext uri="{FF2B5EF4-FFF2-40B4-BE49-F238E27FC236}">
                <a16:creationId xmlns:a16="http://schemas.microsoft.com/office/drawing/2014/main" id="{70DD1570-FD81-4014-B758-03F4112322D0}"/>
              </a:ext>
            </a:extLst>
          </p:cNvPr>
          <p:cNvSpPr>
            <a:spLocks xmlns:a="http://schemas.openxmlformats.org/drawingml/2006/main" noGrp="1"/>
          </p:cNvSpPr>
          <p:nvPr/>
        </p:nvSpPr>
        <p:spPr>
          <a:xfrm xmlns:a="http://schemas.openxmlformats.org/drawingml/2006/main">
            <a:off x="5788819" y="2695575"/>
            <a:ext cx="347663" cy="942975"/>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5" name="!!dsbsc-dsb-multiply-g1-filter-name">
            <a:extLst xmlns:a="http://schemas.openxmlformats.org/drawingml/2006/main">
              <a:ext uri="{FF2B5EF4-FFF2-40B4-BE49-F238E27FC236}">
                <a16:creationId xmlns:a16="http://schemas.microsoft.com/office/drawing/2014/main" id="{5E90A764-9EA0-4ECB-A6FD-312127B3E44C}"/>
              </a:ext>
            </a:extLst>
          </p:cNvPr>
          <p:cNvSpPr>
            <a:spLocks xmlns:a="http://schemas.openxmlformats.org/drawingml/2006/main" noGrp="1"/>
          </p:cNvSpPr>
          <p:nvPr/>
        </p:nvSpPr>
        <p:spPr>
          <a:xfrm xmlns:a="http://schemas.openxmlformats.org/drawingml/2006/main">
            <a:off x="4572000" y="4171950"/>
            <a:ext cx="2781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LPF: pass -W to W</a:t>
            </a:r>
          </a:p>
        </p:txBody>
      </p:sp>
      <p:sp>
        <p:nvSpPr>
          <p:cNvPr id="36" name="!!dsbsc-dsb-multiply-g2-c">
            <a:extLst xmlns:a="http://schemas.openxmlformats.org/drawingml/2006/main">
              <a:ext uri="{FF2B5EF4-FFF2-40B4-BE49-F238E27FC236}">
                <a16:creationId xmlns:a16="http://schemas.microsoft.com/office/drawing/2014/main" id="{8949C889-F30F-49AC-B1FC-AC6D17A7AA60}"/>
              </a:ext>
            </a:extLst>
          </p:cNvPr>
          <p:cNvSpPr>
            <a:spLocks xmlns:a="http://schemas.openxmlformats.org/drawingml/2006/main" noGrp="1"/>
          </p:cNvSpPr>
          <p:nvPr/>
        </p:nvSpPr>
        <p:spPr>
          <a:xfrm xmlns:a="http://schemas.openxmlformats.org/drawingml/2006/main">
            <a:off x="9789319" y="2790825"/>
            <a:ext cx="347663" cy="733425"/>
          </a:xfrm>
          <a:custGeom xmlns:a="http://schemas.openxmlformats.org/drawingml/2006/main">
            <a:pathLst>
              <a:path w="347663" h="733425">
                <a:moveTo>
                  <a:pt x="0" y="733425"/>
                </a:moveTo>
                <a:lnTo>
                  <a:pt x="173831" y="0"/>
                </a:lnTo>
                <a:lnTo>
                  <a:pt x="347663" y="733425"/>
                </a:lnTo>
                <a:close/>
              </a:path>
            </a:pathLst>
          </a:custGeom>
          <a:solidFill xmlns:a="http://schemas.openxmlformats.org/drawingml/2006/main">
            <a:srgbClr val="535353"/>
          </a:solidFill>
          <a:ln xmlns:a="http://schemas.openxmlformats.org/drawingml/2006/main" w="10478">
            <a:solidFill>
              <a:srgbClr val="202020"/>
            </a:solidFill>
          </a:ln>
        </p:spPr>
      </p:sp>
      <p:pic>
        <p:nvPicPr>
          <p:cNvPr id="102" name="!!dsbsc-route-m" descr="m(t)">
            <ns0:hlinkClick xmlns:ns0="http://schemas.openxmlformats.org/drawingml/2006/main" xmlns:ns1="http://schemas.openxmlformats.org/officeDocument/2006/relationships" ns1:id="rIdmethods_Link11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707c7f43523401b">
            <a:extLst>
              <a:ext uri="{96DAC541-7B7A-43D3-8B79-37D633B846F1}">
                <ns0:svgBlip xmlns:ns0="http://schemas.microsoft.com/office/drawing/2016/SVG/main" r:embed="rIdVectormf00488"/>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103" name="!!dsbsc-route-s" descr="s(t)">
            <ns0:hlinkClick xmlns:ns0="http://schemas.openxmlformats.org/drawingml/2006/main" xmlns:ns1="http://schemas.openxmlformats.org/officeDocument/2006/relationships" ns1:id="rIdmethods_Link11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cd4c4ae15e714b02">
            <a:extLst>
              <a:ext uri="{96DAC541-7B7A-43D3-8B79-37D633B846F1}">
                <ns1:svgBlip xmlns:ns1="http://schemas.microsoft.com/office/drawing/2016/SVG/main" r:embed="rIdVectormf00489"/>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104" name="!!dsbsc-route-restored" descr="m(t)">
            <ns0:hlinkClick xmlns:ns0="http://schemas.openxmlformats.org/drawingml/2006/main" xmlns:ns1="http://schemas.openxmlformats.org/officeDocument/2006/relationships" ns1:id="rIdmethods_Link11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1a1009712d5640b6">
            <a:extLst>
              <a:ext uri="{96DAC541-7B7A-43D3-8B79-37D633B846F1}">
                <ns2:svgBlip xmlns:ns2="http://schemas.microsoft.com/office/drawing/2016/SVG/main" r:embed="rIdVectormf00490"/>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105" name="!!dsbsc-dsb-multiply-g0-r0-domain" descr="f"/>
          <p:cNvPicPr>
            <a:picLocks xmlns:a="http://schemas.openxmlformats.org/drawingml/2006/main" noChangeAspect="1"/>
          </p:cNvPicPr>
          <p:nvPr/>
        </p:nvPicPr>
        <p:blipFill>
          <a:blip xmlns:r="http://schemas.openxmlformats.org/officeDocument/2006/relationships" xmlns:a="http://schemas.openxmlformats.org/drawingml/2006/main" r:embed="R726a0970f7844db3">
            <a:extLst>
              <a:ext uri="{96DAC541-7B7A-43D3-8B79-37D633B846F1}">
                <ns3:svgBlip xmlns:ns3="http://schemas.microsoft.com/office/drawing/2016/SVG/main" r:embed="rIdVectormf00491"/>
              </a:ext>
            </a:extLst>
          </a:blip>
          <a:stretch xmlns:a="http://schemas.openxmlformats.org/drawingml/2006/main"/>
        </p:blipFill>
        <p:spPr>
          <a:xfrm xmlns:a="http://schemas.openxmlformats.org/drawingml/2006/main">
            <a:off x="3374873" y="3311843"/>
            <a:ext cx="79678" cy="120015"/>
          </a:xfrm>
          <a:prstGeom xmlns:a="http://schemas.openxmlformats.org/drawingml/2006/main" prst="rect">
            <a:avLst/>
          </a:prstGeom>
        </p:spPr>
      </p:pic>
      <p:pic>
        <p:nvPicPr>
          <p:cNvPr id="106" name="!!dsbsc-dsb-multiply-g0-r0-ticklabel0" descr="-f_c"/>
          <p:cNvPicPr>
            <a:picLocks xmlns:a="http://schemas.openxmlformats.org/drawingml/2006/main" noChangeAspect="1"/>
          </p:cNvPicPr>
          <p:nvPr/>
        </p:nvPicPr>
        <p:blipFill>
          <a:blip xmlns:r="http://schemas.openxmlformats.org/officeDocument/2006/relationships" xmlns:a="http://schemas.openxmlformats.org/drawingml/2006/main" r:embed="R1dcebe08d6f5445c">
            <a:extLst>
              <a:ext uri="{96DAC541-7B7A-43D3-8B79-37D633B846F1}">
                <ns4:svgBlip xmlns:ns4="http://schemas.microsoft.com/office/drawing/2016/SVG/main" r:embed="rIdVectormf00492"/>
              </a:ext>
            </a:extLst>
          </a:blip>
          <a:stretch xmlns:a="http://schemas.openxmlformats.org/drawingml/2006/main"/>
        </p:blipFill>
        <p:spPr>
          <a:xfrm xmlns:a="http://schemas.openxmlformats.org/drawingml/2006/main">
            <a:off x="1306842" y="3646170"/>
            <a:ext cx="267629" cy="137160"/>
          </a:xfrm>
          <a:prstGeom xmlns:a="http://schemas.openxmlformats.org/drawingml/2006/main" prst="rect">
            <a:avLst/>
          </a:prstGeom>
        </p:spPr>
      </p:pic>
      <p:pic>
        <p:nvPicPr>
          <p:cNvPr id="107" name="!!dsbsc-dsb-multiply-g0-r0-ticklabel1" descr="0"/>
          <p:cNvPicPr>
            <a:picLocks xmlns:a="http://schemas.openxmlformats.org/drawingml/2006/main" noChangeAspect="1"/>
          </p:cNvPicPr>
          <p:nvPr/>
        </p:nvPicPr>
        <p:blipFill>
          <a:blip xmlns:r="http://schemas.openxmlformats.org/officeDocument/2006/relationships" xmlns:a="http://schemas.openxmlformats.org/drawingml/2006/main" r:embed="R61cab4e942964c01">
            <a:extLst>
              <a:ext uri="{96DAC541-7B7A-43D3-8B79-37D633B846F1}">
                <ns5:svgBlip xmlns:ns5="http://schemas.microsoft.com/office/drawing/2016/SVG/main" r:embed="rIdVectormf00493"/>
              </a:ext>
            </a:extLst>
          </a:blip>
          <a:stretch xmlns:a="http://schemas.openxmlformats.org/drawingml/2006/main"/>
        </p:blipFill>
        <p:spPr>
          <a:xfrm xmlns:a="http://schemas.openxmlformats.org/drawingml/2006/main">
            <a:off x="1916175" y="3663315"/>
            <a:ext cx="91951" cy="102870"/>
          </a:xfrm>
          <a:prstGeom xmlns:a="http://schemas.openxmlformats.org/drawingml/2006/main" prst="rect">
            <a:avLst/>
          </a:prstGeom>
        </p:spPr>
      </p:pic>
      <p:pic>
        <p:nvPicPr>
          <p:cNvPr id="108" name="!!dsbsc-dsb-multiply-g0-r0-ticklabel2" descr="f_c"/>
          <p:cNvPicPr>
            <a:picLocks xmlns:a="http://schemas.openxmlformats.org/drawingml/2006/main" noChangeAspect="1"/>
          </p:cNvPicPr>
          <p:nvPr/>
        </p:nvPicPr>
        <p:blipFill>
          <a:blip xmlns:r="http://schemas.openxmlformats.org/officeDocument/2006/relationships" xmlns:a="http://schemas.openxmlformats.org/drawingml/2006/main" r:embed="R8ee305acd89a422f">
            <a:extLst>
              <a:ext uri="{96DAC541-7B7A-43D3-8B79-37D633B846F1}">
                <ns6:svgBlip xmlns:ns6="http://schemas.microsoft.com/office/drawing/2016/SVG/main" r:embed="rIdVectormf00494"/>
              </a:ext>
            </a:extLst>
          </a:blip>
          <a:stretch xmlns:a="http://schemas.openxmlformats.org/drawingml/2006/main"/>
        </p:blipFill>
        <p:spPr>
          <a:xfrm xmlns:a="http://schemas.openxmlformats.org/drawingml/2006/main">
            <a:off x="2422343" y="3646170"/>
            <a:ext cx="122601" cy="137160"/>
          </a:xfrm>
          <a:prstGeom xmlns:a="http://schemas.openxmlformats.org/drawingml/2006/main" prst="rect">
            <a:avLst/>
          </a:prstGeom>
        </p:spPr>
      </p:pic>
      <p:pic>
        <p:nvPicPr>
          <p:cNvPr id="109" name="!!dsbsc-dsb-multiply-g0-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158d4876b52b4855">
            <a:extLst>
              <a:ext uri="{96DAC541-7B7A-43D3-8B79-37D633B846F1}">
                <ns7:svgBlip xmlns:ns7="http://schemas.microsoft.com/office/drawing/2016/SVG/main" r:embed="rIdVectormf00495"/>
              </a:ext>
            </a:extLst>
          </a:blip>
          <a:stretch xmlns:a="http://schemas.openxmlformats.org/drawingml/2006/main"/>
        </p:blipFill>
        <p:spPr>
          <a:xfrm xmlns:a="http://schemas.openxmlformats.org/drawingml/2006/main">
            <a:off x="571500" y="2381250"/>
            <a:ext cx="419100" cy="209550"/>
          </a:xfrm>
          <a:prstGeom xmlns:a="http://schemas.openxmlformats.org/drawingml/2006/main" prst="rect">
            <a:avLst/>
          </a:prstGeom>
        </p:spPr>
      </p:pic>
      <p:pic>
        <p:nvPicPr>
          <p:cNvPr id="110" name="!!dsbsc-dsb-multiply-g1-r0-domain" descr="f"/>
          <p:cNvPicPr>
            <a:picLocks xmlns:a="http://schemas.openxmlformats.org/drawingml/2006/main" noChangeAspect="1"/>
          </p:cNvPicPr>
          <p:nvPr/>
        </p:nvPicPr>
        <p:blipFill>
          <a:blip xmlns:r="http://schemas.openxmlformats.org/officeDocument/2006/relationships" xmlns:a="http://schemas.openxmlformats.org/drawingml/2006/main" r:embed="R6ce9f60ba6694793">
            <a:extLst>
              <a:ext uri="{96DAC541-7B7A-43D3-8B79-37D633B846F1}">
                <ns8:svgBlip xmlns:ns8="http://schemas.microsoft.com/office/drawing/2016/SVG/main" r:embed="rIdVectormf00496"/>
              </a:ext>
            </a:extLst>
          </a:blip>
          <a:stretch xmlns:a="http://schemas.openxmlformats.org/drawingml/2006/main"/>
        </p:blipFill>
        <p:spPr>
          <a:xfrm xmlns:a="http://schemas.openxmlformats.org/drawingml/2006/main">
            <a:off x="7375373" y="3311843"/>
            <a:ext cx="79678" cy="120015"/>
          </a:xfrm>
          <a:prstGeom xmlns:a="http://schemas.openxmlformats.org/drawingml/2006/main" prst="rect">
            <a:avLst/>
          </a:prstGeom>
        </p:spPr>
      </p:pic>
      <p:pic>
        <p:nvPicPr>
          <p:cNvPr id="111" name="!!dsbsc-dsb-multiply-g1-r0-ticklabel0" descr="-2f_c"/>
          <p:cNvPicPr>
            <a:picLocks xmlns:a="http://schemas.openxmlformats.org/drawingml/2006/main" noChangeAspect="1"/>
          </p:cNvPicPr>
          <p:nvPr/>
        </p:nvPicPr>
        <p:blipFill>
          <a:blip xmlns:r="http://schemas.openxmlformats.org/officeDocument/2006/relationships" xmlns:a="http://schemas.openxmlformats.org/drawingml/2006/main" r:embed="R8af2cd9106b04d69">
            <a:extLst>
              <a:ext uri="{96DAC541-7B7A-43D3-8B79-37D633B846F1}">
                <ns9:svgBlip xmlns:ns9="http://schemas.microsoft.com/office/drawing/2016/SVG/main" r:embed="rIdVectormf00497"/>
              </a:ext>
            </a:extLst>
          </a:blip>
          <a:stretch xmlns:a="http://schemas.openxmlformats.org/drawingml/2006/main"/>
        </p:blipFill>
        <p:spPr>
          <a:xfrm xmlns:a="http://schemas.openxmlformats.org/drawingml/2006/main">
            <a:off x="4738158" y="3646170"/>
            <a:ext cx="363010" cy="137160"/>
          </a:xfrm>
          <a:prstGeom xmlns:a="http://schemas.openxmlformats.org/drawingml/2006/main" prst="rect">
            <a:avLst/>
          </a:prstGeom>
        </p:spPr>
      </p:pic>
      <p:pic>
        <p:nvPicPr>
          <p:cNvPr id="112" name="!!dsbsc-dsb-multiply-g1-r0-ticklabel1" descr="0"/>
          <p:cNvPicPr>
            <a:picLocks xmlns:a="http://schemas.openxmlformats.org/drawingml/2006/main" noChangeAspect="1"/>
          </p:cNvPicPr>
          <p:nvPr/>
        </p:nvPicPr>
        <p:blipFill>
          <a:blip xmlns:r="http://schemas.openxmlformats.org/officeDocument/2006/relationships" xmlns:a="http://schemas.openxmlformats.org/drawingml/2006/main" r:embed="R914745d328e14603">
            <a:extLst>
              <a:ext uri="{96DAC541-7B7A-43D3-8B79-37D633B846F1}">
                <ns10:svgBlip xmlns:ns10="http://schemas.microsoft.com/office/drawing/2016/SVG/main" r:embed="rIdVectormf00498"/>
              </a:ext>
            </a:extLst>
          </a:blip>
          <a:stretch xmlns:a="http://schemas.openxmlformats.org/drawingml/2006/main"/>
        </p:blipFill>
        <p:spPr>
          <a:xfrm xmlns:a="http://schemas.openxmlformats.org/drawingml/2006/main">
            <a:off x="5916675" y="3663315"/>
            <a:ext cx="91951" cy="102870"/>
          </a:xfrm>
          <a:prstGeom xmlns:a="http://schemas.openxmlformats.org/drawingml/2006/main" prst="rect">
            <a:avLst/>
          </a:prstGeom>
        </p:spPr>
      </p:pic>
      <p:pic>
        <p:nvPicPr>
          <p:cNvPr id="113" name="!!dsbsc-dsb-multiply-g1-r0-ticklabel2" descr="2f_c"/>
          <p:cNvPicPr>
            <a:picLocks xmlns:a="http://schemas.openxmlformats.org/drawingml/2006/main" noChangeAspect="1"/>
          </p:cNvPicPr>
          <p:nvPr/>
        </p:nvPicPr>
        <p:blipFill>
          <a:blip xmlns:r="http://schemas.openxmlformats.org/officeDocument/2006/relationships" xmlns:a="http://schemas.openxmlformats.org/drawingml/2006/main" r:embed="R6fea11b873884992">
            <a:extLst>
              <a:ext uri="{96DAC541-7B7A-43D3-8B79-37D633B846F1}">
                <ns11:svgBlip xmlns:ns11="http://schemas.microsoft.com/office/drawing/2016/SVG/main" r:embed="rIdVectormf00499"/>
              </a:ext>
            </a:extLst>
          </a:blip>
          <a:stretch xmlns:a="http://schemas.openxmlformats.org/drawingml/2006/main"/>
        </p:blipFill>
        <p:spPr>
          <a:xfrm xmlns:a="http://schemas.openxmlformats.org/drawingml/2006/main">
            <a:off x="6897531" y="3646170"/>
            <a:ext cx="216213" cy="137160"/>
          </a:xfrm>
          <a:prstGeom xmlns:a="http://schemas.openxmlformats.org/drawingml/2006/main" prst="rect">
            <a:avLst/>
          </a:prstGeom>
        </p:spPr>
      </p:pic>
      <p:pic>
        <p:nvPicPr>
          <p:cNvPr id="114" name="!!dsbsc-dsb-multiply-g1-r0-label" descr="\textstyle V(f)"/>
          <p:cNvPicPr>
            <a:picLocks xmlns:a="http://schemas.openxmlformats.org/drawingml/2006/main" noChangeAspect="1"/>
          </p:cNvPicPr>
          <p:nvPr/>
        </p:nvPicPr>
        <p:blipFill>
          <a:blip xmlns:r="http://schemas.openxmlformats.org/officeDocument/2006/relationships" xmlns:a="http://schemas.openxmlformats.org/drawingml/2006/main" r:embed="Rf793748f405b4b4a">
            <a:extLst>
              <a:ext uri="{96DAC541-7B7A-43D3-8B79-37D633B846F1}">
                <ns12:svgBlip xmlns:ns12="http://schemas.microsoft.com/office/drawing/2016/SVG/main" r:embed="rIdVectormf00500"/>
              </a:ext>
            </a:extLst>
          </a:blip>
          <a:stretch xmlns:a="http://schemas.openxmlformats.org/drawingml/2006/main"/>
        </p:blipFill>
        <p:spPr>
          <a:xfrm xmlns:a="http://schemas.openxmlformats.org/drawingml/2006/main">
            <a:off x="4572000" y="2383215"/>
            <a:ext cx="461010" cy="205621"/>
          </a:xfrm>
          <a:prstGeom xmlns:a="http://schemas.openxmlformats.org/drawingml/2006/main" prst="rect">
            <a:avLst/>
          </a:prstGeom>
        </p:spPr>
      </p:pic>
      <p:pic>
        <p:nvPicPr>
          <p:cNvPr id="115" name="!!dsbsc-dsb-multiply-g2-r0-domain" descr="f"/>
          <p:cNvPicPr>
            <a:picLocks xmlns:a="http://schemas.openxmlformats.org/drawingml/2006/main" noChangeAspect="1"/>
          </p:cNvPicPr>
          <p:nvPr/>
        </p:nvPicPr>
        <p:blipFill>
          <a:blip xmlns:r="http://schemas.openxmlformats.org/officeDocument/2006/relationships" xmlns:a="http://schemas.openxmlformats.org/drawingml/2006/main" r:embed="Rcbe2a900701b4c04">
            <a:extLst>
              <a:ext uri="{96DAC541-7B7A-43D3-8B79-37D633B846F1}">
                <ns13:svgBlip xmlns:ns13="http://schemas.microsoft.com/office/drawing/2016/SVG/main" r:embed="rIdVectormf00501"/>
              </a:ext>
            </a:extLst>
          </a:blip>
          <a:stretch xmlns:a="http://schemas.openxmlformats.org/drawingml/2006/main"/>
        </p:blipFill>
        <p:spPr>
          <a:xfrm xmlns:a="http://schemas.openxmlformats.org/drawingml/2006/main">
            <a:off x="11375873" y="3311843"/>
            <a:ext cx="79678" cy="120015"/>
          </a:xfrm>
          <a:prstGeom xmlns:a="http://schemas.openxmlformats.org/drawingml/2006/main" prst="rect">
            <a:avLst/>
          </a:prstGeom>
        </p:spPr>
      </p:pic>
      <p:pic>
        <p:nvPicPr>
          <p:cNvPr id="116" name="!!dsbsc-dsb-multiply-g2-r0-ticklabel0" descr="-W"/>
          <p:cNvPicPr>
            <a:picLocks xmlns:a="http://schemas.openxmlformats.org/drawingml/2006/main" noChangeAspect="1"/>
          </p:cNvPicPr>
          <p:nvPr/>
        </p:nvPicPr>
        <p:blipFill>
          <a:blip xmlns:r="http://schemas.openxmlformats.org/officeDocument/2006/relationships" xmlns:a="http://schemas.openxmlformats.org/drawingml/2006/main" r:embed="R835b78c44e0c4bd1">
            <a:extLst>
              <a:ext uri="{96DAC541-7B7A-43D3-8B79-37D633B846F1}">
                <ns14:svgBlip xmlns:ns14="http://schemas.microsoft.com/office/drawing/2016/SVG/main" r:embed="rIdVectormf00502"/>
              </a:ext>
            </a:extLst>
          </a:blip>
          <a:stretch xmlns:a="http://schemas.openxmlformats.org/drawingml/2006/main"/>
        </p:blipFill>
        <p:spPr>
          <a:xfrm xmlns:a="http://schemas.openxmlformats.org/drawingml/2006/main">
            <a:off x="9613419" y="3646170"/>
            <a:ext cx="351800" cy="137160"/>
          </a:xfrm>
          <a:prstGeom xmlns:a="http://schemas.openxmlformats.org/drawingml/2006/main" prst="rect">
            <a:avLst/>
          </a:prstGeom>
        </p:spPr>
      </p:pic>
      <p:pic>
        <p:nvPicPr>
          <p:cNvPr id="117" name="!!dsbsc-dsb-multiply-g2-r0-ticklabel1" descr="0"/>
          <p:cNvPicPr>
            <a:picLocks xmlns:a="http://schemas.openxmlformats.org/drawingml/2006/main" noChangeAspect="1"/>
          </p:cNvPicPr>
          <p:nvPr/>
        </p:nvPicPr>
        <p:blipFill>
          <a:blip xmlns:r="http://schemas.openxmlformats.org/officeDocument/2006/relationships" xmlns:a="http://schemas.openxmlformats.org/drawingml/2006/main" r:embed="R44de4bbb8f944734">
            <a:extLst>
              <a:ext uri="{96DAC541-7B7A-43D3-8B79-37D633B846F1}">
                <ns15:svgBlip xmlns:ns15="http://schemas.microsoft.com/office/drawing/2016/SVG/main" r:embed="rIdVectormf00503"/>
              </a:ext>
            </a:extLst>
          </a:blip>
          <a:stretch xmlns:a="http://schemas.openxmlformats.org/drawingml/2006/main"/>
        </p:blipFill>
        <p:spPr>
          <a:xfrm xmlns:a="http://schemas.openxmlformats.org/drawingml/2006/main">
            <a:off x="9917175" y="3863340"/>
            <a:ext cx="91951" cy="102870"/>
          </a:xfrm>
          <a:prstGeom xmlns:a="http://schemas.openxmlformats.org/drawingml/2006/main" prst="rect">
            <a:avLst/>
          </a:prstGeom>
        </p:spPr>
      </p:pic>
      <p:pic>
        <p:nvPicPr>
          <p:cNvPr id="118" name="!!dsbsc-dsb-multiply-g2-r0-ticklabel2" descr="W"/>
          <p:cNvPicPr>
            <a:picLocks xmlns:a="http://schemas.openxmlformats.org/drawingml/2006/main" noChangeAspect="1"/>
          </p:cNvPicPr>
          <p:nvPr/>
        </p:nvPicPr>
        <p:blipFill>
          <a:blip xmlns:r="http://schemas.openxmlformats.org/officeDocument/2006/relationships" xmlns:a="http://schemas.openxmlformats.org/drawingml/2006/main" r:embed="R30501223a5a24f5a">
            <a:extLst>
              <a:ext uri="{96DAC541-7B7A-43D3-8B79-37D633B846F1}">
                <ns16:svgBlip xmlns:ns16="http://schemas.microsoft.com/office/drawing/2016/SVG/main" r:embed="rIdVectormf00504"/>
              </a:ext>
            </a:extLst>
          </a:blip>
          <a:stretch xmlns:a="http://schemas.openxmlformats.org/drawingml/2006/main"/>
        </p:blipFill>
        <p:spPr>
          <a:xfrm xmlns:a="http://schemas.openxmlformats.org/drawingml/2006/main">
            <a:off x="10034111" y="3656243"/>
            <a:ext cx="205740" cy="117015"/>
          </a:xfrm>
          <a:prstGeom xmlns:a="http://schemas.openxmlformats.org/drawingml/2006/main" prst="rect">
            <a:avLst/>
          </a:prstGeom>
        </p:spPr>
      </p:pic>
      <p:pic>
        <p:nvPicPr>
          <p:cNvPr id="119" name="!!dsbsc-dsb-multiply-g2-r0-label" descr="\textstyle V_0(f)"/>
          <p:cNvPicPr>
            <a:picLocks xmlns:a="http://schemas.openxmlformats.org/drawingml/2006/main" noChangeAspect="1"/>
          </p:cNvPicPr>
          <p:nvPr/>
        </p:nvPicPr>
        <p:blipFill>
          <a:blip xmlns:r="http://schemas.openxmlformats.org/officeDocument/2006/relationships" xmlns:a="http://schemas.openxmlformats.org/drawingml/2006/main" r:embed="Rac43426dbf4446d7">
            <a:extLst>
              <a:ext uri="{96DAC541-7B7A-43D3-8B79-37D633B846F1}">
                <ns17:svgBlip xmlns:ns17="http://schemas.microsoft.com/office/drawing/2016/SVG/main" r:embed="rIdVectormf00505"/>
              </a:ext>
            </a:extLst>
          </a:blip>
          <a:stretch xmlns:a="http://schemas.openxmlformats.org/drawingml/2006/main"/>
        </p:blipFill>
        <p:spPr>
          <a:xfrm xmlns:a="http://schemas.openxmlformats.org/drawingml/2006/main">
            <a:off x="8572500" y="2382560"/>
            <a:ext cx="565785" cy="206931"/>
          </a:xfrm>
          <a:prstGeom xmlns:a="http://schemas.openxmlformats.org/drawingml/2006/main" prst="rect">
            <a:avLst/>
          </a:prstGeom>
        </p:spPr>
      </p:pic>
      <p:pic>
        <p:nvPicPr>
          <p:cNvPr id="120" name="!!dsbsc-dsb-multiply-g0-r0-peak0" descr="\frac{A_c}{2}"/>
          <p:cNvPicPr>
            <a:picLocks xmlns:a="http://schemas.openxmlformats.org/drawingml/2006/main" noChangeAspect="1"/>
          </p:cNvPicPr>
          <p:nvPr/>
        </p:nvPicPr>
        <p:blipFill>
          <a:blip xmlns:r="http://schemas.openxmlformats.org/officeDocument/2006/relationships" xmlns:a="http://schemas.openxmlformats.org/drawingml/2006/main" r:embed="R71c290e54cf84d65">
            <a:extLst>
              <a:ext uri="{96DAC541-7B7A-43D3-8B79-37D633B846F1}">
                <ns18:svgBlip xmlns:ns18="http://schemas.microsoft.com/office/drawing/2016/SVG/main" r:embed="rIdVectormf00506"/>
              </a:ext>
            </a:extLst>
          </a:blip>
          <a:stretch xmlns:a="http://schemas.openxmlformats.org/drawingml/2006/main"/>
        </p:blipFill>
        <p:spPr>
          <a:xfrm xmlns:a="http://schemas.openxmlformats.org/drawingml/2006/main">
            <a:off x="2376704" y="2628328"/>
            <a:ext cx="213880" cy="353570"/>
          </a:xfrm>
          <a:prstGeom xmlns:a="http://schemas.openxmlformats.org/drawingml/2006/main" prst="rect">
            <a:avLst/>
          </a:prstGeom>
        </p:spPr>
      </p:pic>
      <p:pic>
        <p:nvPicPr>
          <p:cNvPr id="121" name="!!dsbsc-dsb-multiply-math" descr="\textstyle \times A'_c\cos(2\pi f_ct)"/>
          <p:cNvPicPr>
            <a:picLocks xmlns:a="http://schemas.openxmlformats.org/drawingml/2006/main" noChangeAspect="1"/>
          </p:cNvPicPr>
          <p:nvPr/>
        </p:nvPicPr>
        <p:blipFill>
          <a:blip xmlns:r="http://schemas.openxmlformats.org/officeDocument/2006/relationships" xmlns:a="http://schemas.openxmlformats.org/drawingml/2006/main" r:embed="Rd8d6ac2421454b4e">
            <a:extLst>
              <a:ext uri="{96DAC541-7B7A-43D3-8B79-37D633B846F1}">
                <ns19:svgBlip xmlns:ns19="http://schemas.microsoft.com/office/drawing/2016/SVG/main" r:embed="rIdVectormf00507"/>
              </a:ext>
            </a:extLst>
          </a:blip>
          <a:stretch xmlns:a="http://schemas.openxmlformats.org/drawingml/2006/main"/>
        </p:blipFill>
        <p:spPr>
          <a:xfrm xmlns:a="http://schemas.openxmlformats.org/drawingml/2006/main">
            <a:off x="3128010" y="3003471"/>
            <a:ext cx="1668780" cy="241459"/>
          </a:xfrm>
          <a:prstGeom xmlns:a="http://schemas.openxmlformats.org/drawingml/2006/main" prst="rect">
            <a:avLst/>
          </a:prstGeom>
        </p:spPr>
      </p:pic>
      <p:pic>
        <p:nvPicPr>
          <p:cNvPr id="122" name="!!dsbsc-dsb-multiply-condition" descr="f_{LO}=f_c,\ \upphi=0"/>
          <p:cNvPicPr>
            <a:picLocks xmlns:a="http://schemas.openxmlformats.org/drawingml/2006/main" noChangeAspect="1"/>
          </p:cNvPicPr>
          <p:nvPr/>
        </p:nvPicPr>
        <p:blipFill>
          <a:blip xmlns:r="http://schemas.openxmlformats.org/officeDocument/2006/relationships" xmlns:a="http://schemas.openxmlformats.org/drawingml/2006/main" r:embed="R8613d51987df4fa0">
            <a:extLst>
              <a:ext uri="{96DAC541-7B7A-43D3-8B79-37D633B846F1}">
                <ns20:svgBlip xmlns:ns20="http://schemas.microsoft.com/office/drawing/2016/SVG/main" r:embed="rIdVectormf00508"/>
              </a:ext>
            </a:extLst>
          </a:blip>
          <a:stretch xmlns:a="http://schemas.openxmlformats.org/drawingml/2006/main"/>
        </p:blipFill>
        <p:spPr>
          <a:xfrm xmlns:a="http://schemas.openxmlformats.org/drawingml/2006/main">
            <a:off x="3182303" y="2663339"/>
            <a:ext cx="1560195" cy="178772"/>
          </a:xfrm>
          <a:prstGeom xmlns:a="http://schemas.openxmlformats.org/drawingml/2006/main" prst="rect">
            <a:avLst/>
          </a:prstGeom>
        </p:spPr>
      </p:pic>
      <p:pic>
        <p:nvPicPr>
          <p:cNvPr id="123" name="!!dsbsc-dsb-multiply-g1-r0-peak0" descr="\frac{A_cA'_c}{2}"/>
          <p:cNvPicPr>
            <a:picLocks xmlns:a="http://schemas.openxmlformats.org/drawingml/2006/main" noChangeAspect="1"/>
          </p:cNvPicPr>
          <p:nvPr/>
        </p:nvPicPr>
        <p:blipFill>
          <a:blip xmlns:r="http://schemas.openxmlformats.org/officeDocument/2006/relationships" xmlns:a="http://schemas.openxmlformats.org/drawingml/2006/main" r:embed="Rfcb1528d50d84b94">
            <a:extLst>
              <a:ext uri="{96DAC541-7B7A-43D3-8B79-37D633B846F1}">
                <ns21:svgBlip xmlns:ns21="http://schemas.microsoft.com/office/drawing/2016/SVG/main" r:embed="rIdVectormf00509"/>
              </a:ext>
            </a:extLst>
          </a:blip>
          <a:stretch xmlns:a="http://schemas.openxmlformats.org/drawingml/2006/main"/>
        </p:blipFill>
        <p:spPr>
          <a:xfrm xmlns:a="http://schemas.openxmlformats.org/drawingml/2006/main">
            <a:off x="5749979" y="2257425"/>
            <a:ext cx="425342" cy="361950"/>
          </a:xfrm>
          <a:prstGeom xmlns:a="http://schemas.openxmlformats.org/drawingml/2006/main" prst="rect">
            <a:avLst/>
          </a:prstGeom>
        </p:spPr>
      </p:pic>
      <p:pic>
        <p:nvPicPr>
          <p:cNvPr id="124" name="!!dsbsc-dsb-multiply-g1-r0-peak1" descr="\frac{A_cA'_c}{4}"/>
          <p:cNvPicPr>
            <a:picLocks xmlns:a="http://schemas.openxmlformats.org/drawingml/2006/main" noChangeAspect="1"/>
          </p:cNvPicPr>
          <p:nvPr/>
        </p:nvPicPr>
        <p:blipFill>
          <a:blip xmlns:r="http://schemas.openxmlformats.org/officeDocument/2006/relationships" xmlns:a="http://schemas.openxmlformats.org/drawingml/2006/main" r:embed="Rbf547724a324487d">
            <a:extLst>
              <a:ext uri="{96DAC541-7B7A-43D3-8B79-37D633B846F1}">
                <ns22:svgBlip xmlns:ns22="http://schemas.microsoft.com/office/drawing/2016/SVG/main" r:embed="rIdVectormf00510"/>
              </a:ext>
            </a:extLst>
          </a:blip>
          <a:stretch xmlns:a="http://schemas.openxmlformats.org/drawingml/2006/main"/>
        </p:blipFill>
        <p:spPr>
          <a:xfrm xmlns:a="http://schemas.openxmlformats.org/drawingml/2006/main">
            <a:off x="6792966" y="2624138"/>
            <a:ext cx="425342" cy="361950"/>
          </a:xfrm>
          <a:prstGeom xmlns:a="http://schemas.openxmlformats.org/drawingml/2006/main" prst="rect">
            <a:avLst/>
          </a:prstGeom>
        </p:spPr>
      </p:pic>
      <p:pic>
        <p:nvPicPr>
          <p:cNvPr id="125" name="!!dsbsc-dsb-lpf-condition" descr="|f|\leq W"/>
          <p:cNvPicPr>
            <a:picLocks xmlns:a="http://schemas.openxmlformats.org/drawingml/2006/main" noChangeAspect="1"/>
          </p:cNvPicPr>
          <p:nvPr/>
        </p:nvPicPr>
        <p:blipFill>
          <a:blip xmlns:r="http://schemas.openxmlformats.org/officeDocument/2006/relationships" xmlns:a="http://schemas.openxmlformats.org/drawingml/2006/main" r:embed="R5bbe84ed15d94ef2">
            <a:extLst>
              <a:ext uri="{96DAC541-7B7A-43D3-8B79-37D633B846F1}">
                <ns23:svgBlip xmlns:ns23="http://schemas.microsoft.com/office/drawing/2016/SVG/main" r:embed="rIdVectormf00511"/>
              </a:ext>
            </a:extLst>
          </a:blip>
          <a:stretch xmlns:a="http://schemas.openxmlformats.org/drawingml/2006/main"/>
        </p:blipFill>
        <p:spPr>
          <a:xfrm xmlns:a="http://schemas.openxmlformats.org/drawingml/2006/main">
            <a:off x="7582853" y="2653963"/>
            <a:ext cx="760095" cy="197525"/>
          </a:xfrm>
          <a:prstGeom xmlns:a="http://schemas.openxmlformats.org/drawingml/2006/main" prst="rect">
            <a:avLst/>
          </a:prstGeom>
        </p:spPr>
      </p:pic>
      <p:pic>
        <p:nvPicPr>
          <p:cNvPr id="126" name="!!dsbsc-dsb-multiply-g2-r0-peak0" descr="\frac{A_cA'_c}{2}"/>
          <p:cNvPicPr>
            <a:picLocks xmlns:a="http://schemas.openxmlformats.org/drawingml/2006/main" noChangeAspect="1"/>
          </p:cNvPicPr>
          <p:nvPr/>
        </p:nvPicPr>
        <p:blipFill>
          <a:blip xmlns:r="http://schemas.openxmlformats.org/officeDocument/2006/relationships" xmlns:a="http://schemas.openxmlformats.org/drawingml/2006/main" r:embed="R5257e40f1c2a4cd4">
            <a:extLst>
              <a:ext uri="{96DAC541-7B7A-43D3-8B79-37D633B846F1}">
                <ns24:svgBlip xmlns:ns24="http://schemas.microsoft.com/office/drawing/2016/SVG/main" r:embed="rIdVectormf00512"/>
              </a:ext>
            </a:extLst>
          </a:blip>
          <a:stretch xmlns:a="http://schemas.openxmlformats.org/drawingml/2006/main"/>
        </p:blipFill>
        <p:spPr>
          <a:xfrm xmlns:a="http://schemas.openxmlformats.org/drawingml/2006/main">
            <a:off x="9750479" y="2257425"/>
            <a:ext cx="425342" cy="361950"/>
          </a:xfrm>
          <a:prstGeom xmlns:a="http://schemas.openxmlformats.org/drawingml/2006/main" prst="rect">
            <a:avLst/>
          </a:prstGeom>
        </p:spPr>
      </p:pic>
      <p:pic>
        <p:nvPicPr>
          <p:cNvPr id="127" name="!!dsbsc-dense-equation-0" descr="\textstyle s(t)=A_cm(t)\cos(2\pi f_ct)"/>
          <p:cNvPicPr>
            <a:picLocks xmlns:a="http://schemas.openxmlformats.org/drawingml/2006/main" noChangeAspect="1"/>
          </p:cNvPicPr>
          <p:nvPr/>
        </p:nvPicPr>
        <p:blipFill>
          <a:blip xmlns:r="http://schemas.openxmlformats.org/officeDocument/2006/relationships" xmlns:a="http://schemas.openxmlformats.org/drawingml/2006/main" r:embed="Rf1b0cfb9d9ac41c8">
            <a:extLst>
              <a:ext uri="{96DAC541-7B7A-43D3-8B79-37D633B846F1}">
                <ns25:svgBlip xmlns:ns25="http://schemas.microsoft.com/office/drawing/2016/SVG/main" r:embed="rIdVectormf00513"/>
              </a:ext>
            </a:extLst>
          </a:blip>
          <a:stretch xmlns:a="http://schemas.openxmlformats.org/drawingml/2006/main"/>
        </p:blipFill>
        <p:spPr>
          <a:xfrm xmlns:a="http://schemas.openxmlformats.org/drawingml/2006/main">
            <a:off x="609600" y="4832330"/>
            <a:ext cx="2971800" cy="246102"/>
          </a:xfrm>
          <a:prstGeom xmlns:a="http://schemas.openxmlformats.org/drawingml/2006/main" prst="rect">
            <a:avLst/>
          </a:prstGeom>
        </p:spPr>
      </p:pic>
      <p:pic>
        <p:nvPicPr>
          <p:cNvPr id="128" name="!!dsbsc-dense-equation-1" descr="\textstyle v(t)=s(t)A'_c\cos(2\pi f_ct)=A_cA'_cm(t)\cos^2(2\pi f_ct)"/>
          <p:cNvPicPr>
            <a:picLocks xmlns:a="http://schemas.openxmlformats.org/drawingml/2006/main" noChangeAspect="1"/>
          </p:cNvPicPr>
          <p:nvPr/>
        </p:nvPicPr>
        <p:blipFill>
          <a:blip xmlns:r="http://schemas.openxmlformats.org/officeDocument/2006/relationships" xmlns:a="http://schemas.openxmlformats.org/drawingml/2006/main" r:embed="R4917eaa8e4e14046">
            <a:extLst>
              <a:ext uri="{96DAC541-7B7A-43D3-8B79-37D633B846F1}">
                <ns26:svgBlip xmlns:ns26="http://schemas.microsoft.com/office/drawing/2016/SVG/main" r:embed="rIdVectormf00514"/>
              </a:ext>
            </a:extLst>
          </a:blip>
          <a:stretch xmlns:a="http://schemas.openxmlformats.org/drawingml/2006/main"/>
        </p:blipFill>
        <p:spPr>
          <a:xfrm xmlns:a="http://schemas.openxmlformats.org/drawingml/2006/main">
            <a:off x="658784" y="5257324"/>
            <a:ext cx="5770937" cy="272415"/>
          </a:xfrm>
          <a:prstGeom xmlns:a="http://schemas.openxmlformats.org/drawingml/2006/main" prst="rect">
            <a:avLst/>
          </a:prstGeom>
        </p:spPr>
      </p:pic>
      <p:pic>
        <p:nvPicPr>
          <p:cNvPr id="129" name="!!dsbsc-dense-equation-2" descr="\textstyle \phantom{v(t)}=\frac{A_cA'_c}{2}m(t)+\frac{A_cA'_c}{2}m(t)\cos(4\pi f_ct)"/>
          <p:cNvPicPr>
            <a:picLocks xmlns:a="http://schemas.openxmlformats.org/drawingml/2006/main" noChangeAspect="1"/>
          </p:cNvPicPr>
          <p:nvPr/>
        </p:nvPicPr>
        <p:blipFill>
          <a:blip xmlns:r="http://schemas.openxmlformats.org/officeDocument/2006/relationships" xmlns:a="http://schemas.openxmlformats.org/drawingml/2006/main" r:embed="Reae03d27c34f4ac6">
            <a:extLst>
              <a:ext uri="{96DAC541-7B7A-43D3-8B79-37D633B846F1}">
                <ns27:svgBlip xmlns:ns27="http://schemas.microsoft.com/office/drawing/2016/SVG/main" r:embed="rIdVectormf00515"/>
              </a:ext>
            </a:extLst>
          </a:blip>
          <a:stretch xmlns:a="http://schemas.openxmlformats.org/drawingml/2006/main"/>
        </p:blipFill>
        <p:spPr>
          <a:xfrm xmlns:a="http://schemas.openxmlformats.org/drawingml/2006/main">
            <a:off x="1172099" y="5651361"/>
            <a:ext cx="4210050" cy="360640"/>
          </a:xfrm>
          <a:prstGeom xmlns:a="http://schemas.openxmlformats.org/drawingml/2006/main" prst="rect">
            <a:avLst/>
          </a:prstGeom>
        </p:spPr>
      </p:pic>
      <p:pic>
        <p:nvPicPr>
          <p:cNvPr id="130" name="!!dsbsc-dense-equation-3" descr="\textstyle v_0(t)=\frac{A_cA'_c}{2}m(t)"/>
          <p:cNvPicPr>
            <a:picLocks xmlns:a="http://schemas.openxmlformats.org/drawingml/2006/main" noChangeAspect="1"/>
          </p:cNvPicPr>
          <p:nvPr/>
        </p:nvPicPr>
        <p:blipFill>
          <a:blip xmlns:r="http://schemas.openxmlformats.org/officeDocument/2006/relationships" xmlns:a="http://schemas.openxmlformats.org/drawingml/2006/main" r:embed="R86abab8149c04d1d">
            <a:extLst>
              <a:ext uri="{96DAC541-7B7A-43D3-8B79-37D633B846F1}">
                <ns28:svgBlip xmlns:ns28="http://schemas.microsoft.com/office/drawing/2016/SVG/main" r:embed="rIdVectormf00516"/>
              </a:ext>
            </a:extLst>
          </a:blip>
          <a:stretch xmlns:a="http://schemas.openxmlformats.org/drawingml/2006/main"/>
        </p:blipFill>
        <p:spPr>
          <a:xfrm xmlns:a="http://schemas.openxmlformats.org/drawingml/2006/main">
            <a:off x="609600" y="6089511"/>
            <a:ext cx="2129790" cy="360640"/>
          </a:xfrm>
          <a:prstGeom xmlns:a="http://schemas.openxmlformats.org/drawingml/2006/main" prst="rect">
            <a:avLst/>
          </a:prstGeom>
        </p:spPr>
      </p:pic>
    </p:spTree>
    <p:extLst>
      <p:ext uri="{BB962C8B-B14F-4D97-AF65-F5344CB8AC3E}">
        <p14:creationId xmlns:p14="http://schemas.microsoft.com/office/powerpoint/2010/main" val="23265552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121"/>
                                        </p:tgtEl>
                                        <p:attrNameLst>
                                          <p:attrName>style.visibility</p:attrName>
                                        </p:attrNameLst>
                                      </p:cBhvr>
                                      <p:to>
                                        <p:strVal val="visible"/>
                                      </p:to>
                                    </p:set>
                                    <p:animEffect transition="in" filter="fade">
                                      <p:cBhvr>
                                        <p:cTn id="13" dur="400"/>
                                        <p:tgtEl>
                                          <p:spTgt spid="121"/>
                                        </p:tgtEl>
                                      </p:cBhvr>
                                    </p:animEffect>
                                  </p:childTnLst>
                                </p:cTn>
                              </p:par>
                              <p:par>
                                <p:cTn id="14" presetID="10" presetClass="entr" presetSubtype="0" fill="hold" nodeType="withEffect">
                                  <p:stCondLst>
                                    <p:cond delay="0"/>
                                  </p:stCondLst>
                                  <p:childTnLst>
                                    <p:set>
                                      <p:cBhvr>
                                        <p:cTn id="15" dur="1" fill="hold">
                                          <p:stCondLst>
                                            <p:cond delay="0"/>
                                          </p:stCondLst>
                                        </p:cTn>
                                        <p:tgtEl>
                                          <p:spTgt spid="122"/>
                                        </p:tgtEl>
                                        <p:attrNameLst>
                                          <p:attrName>style.visibility</p:attrName>
                                        </p:attrNameLst>
                                      </p:cBhvr>
                                      <p:to>
                                        <p:strVal val="visible"/>
                                      </p:to>
                                    </p:set>
                                    <p:animEffect transition="in" filter="fade">
                                      <p:cBhvr>
                                        <p:cTn id="16" dur="400"/>
                                        <p:tgtEl>
                                          <p:spTgt spid="122"/>
                                        </p:tgtEl>
                                      </p:cBhvr>
                                    </p:animEffect>
                                  </p:childTnLst>
                                </p:cTn>
                              </p:par>
                              <p:par>
                                <p:cTn id="17" presetID="10" presetClass="entr" presetSubtype="0" fill="hold" nodeType="withEffect">
                                  <p:stCondLst>
                                    <p:cond delay="0"/>
                                  </p:stCondLst>
                                  <p:childTnLst>
                                    <p:set>
                                      <p:cBhvr>
                                        <p:cTn id="18" dur="1" fill="hold">
                                          <p:stCondLst>
                                            <p:cond delay="0"/>
                                          </p:stCondLst>
                                        </p:cTn>
                                        <p:tgtEl>
                                          <p:spTgt spid="128"/>
                                        </p:tgtEl>
                                        <p:attrNameLst>
                                          <p:attrName>style.visibility</p:attrName>
                                        </p:attrNameLst>
                                      </p:cBhvr>
                                      <p:to>
                                        <p:strVal val="visible"/>
                                      </p:to>
                                    </p:set>
                                    <p:animEffect transition="in" filter="fade">
                                      <p:cBhvr>
                                        <p:cTn id="19" dur="400"/>
                                        <p:tgtEl>
                                          <p:spTgt spid="128"/>
                                        </p:tgtEl>
                                      </p:cBhvr>
                                    </p:animEffect>
                                  </p:childTnLst>
                                </p:cTn>
                              </p:par>
                              <p:par>
                                <p:cTn id="20" presetID="10" presetClass="entr" presetSubtype="0" fill="hold" nodeType="with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fade">
                                      <p:cBhvr>
                                        <p:cTn id="22" dur="4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200"/>
                                        <p:tgtEl>
                                          <p:spTgt spid="26"/>
                                        </p:tgtEl>
                                      </p:cBhvr>
                                    </p:animEffect>
                                    <p:animMotion origin="layout" pathEditMode="relative" path="M -0.28535154 0.00000000 L 0.00000000 0.00000000 E">
                                      <p:cBhvr>
                                        <p:cTn id="28" dur="700" fill="hold"/>
                                        <p:tgtEl>
                                          <p:spTgt spid="26"/>
                                        </p:tgtEl>
                                        <p:attrNameLst>
                                          <p:attrName>ppt_x</p:attrName>
                                          <p:attrName>ppt_y</p:attrName>
                                        </p:attrNameLst>
                                      </p:cBhvr>
                                    </p:animMotion>
                                    <p:animScale zoomContents="1">
                                      <p:cBhvr>
                                        <p:cTn id="29" dur="700" fill="hold"/>
                                        <p:tgtEl>
                                          <p:spTgt spid="26"/>
                                        </p:tgtEl>
                                      </p:cBhvr>
                                      <p:from x="100000" y="100000"/>
                                      <p:to x="100000" y="100000"/>
                                    </p:animScale>
                                  </p:childTnLst>
                                </p:cTn>
                              </p:par>
                              <p:par>
                                <p:cTn id="30" presetID="10" presetClass="entr" presetSubtype="0"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200"/>
                                        <p:tgtEl>
                                          <p:spTgt spid="27"/>
                                        </p:tgtEl>
                                      </p:cBhvr>
                                    </p:animEffect>
                                    <p:animMotion origin="layout" pathEditMode="relative" path="M -0.37089838 0.00000000 L 0.00000000 0.00000000 E">
                                      <p:cBhvr>
                                        <p:cTn id="33" dur="700" fill="hold"/>
                                        <p:tgtEl>
                                          <p:spTgt spid="27"/>
                                        </p:tgtEl>
                                        <p:attrNameLst>
                                          <p:attrName>ppt_x</p:attrName>
                                          <p:attrName>ppt_y</p:attrName>
                                        </p:attrNameLst>
                                      </p:cBhvr>
                                    </p:animMotion>
                                    <p:animScale zoomContents="1">
                                      <p:cBhvr>
                                        <p:cTn id="34" dur="700" fill="hold"/>
                                        <p:tgtEl>
                                          <p:spTgt spid="27"/>
                                        </p:tgtEl>
                                      </p:cBhvr>
                                      <p:from x="100000" y="100000"/>
                                      <p:to x="100000" y="100000"/>
                                    </p:animScale>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200"/>
                                        <p:tgtEl>
                                          <p:spTgt spid="28"/>
                                        </p:tgtEl>
                                      </p:cBhvr>
                                    </p:animEffect>
                                    <p:animMotion origin="layout" pathEditMode="relative" path="M -0.37089846 0.00000000 L 0.00000000 0.00000000 E">
                                      <p:cBhvr>
                                        <p:cTn id="38" dur="700" fill="hold"/>
                                        <p:tgtEl>
                                          <p:spTgt spid="28"/>
                                        </p:tgtEl>
                                        <p:attrNameLst>
                                          <p:attrName>ppt_x</p:attrName>
                                          <p:attrName>ppt_y</p:attrName>
                                        </p:attrNameLst>
                                      </p:cBhvr>
                                    </p:animMotion>
                                    <p:animScale zoomContents="1">
                                      <p:cBhvr>
                                        <p:cTn id="39" dur="700" fill="hold"/>
                                        <p:tgtEl>
                                          <p:spTgt spid="28"/>
                                        </p:tgtEl>
                                      </p:cBhvr>
                                      <p:from x="100000" y="100000"/>
                                      <p:to x="100000" y="100000"/>
                                    </p:animScale>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200"/>
                                        <p:tgtEl>
                                          <p:spTgt spid="29"/>
                                        </p:tgtEl>
                                      </p:cBhvr>
                                    </p:animEffect>
                                    <p:animMotion origin="layout" pathEditMode="relative" path="M -0.28535154 0.00000000 L 0.00000000 0.00000000 E">
                                      <p:cBhvr>
                                        <p:cTn id="43" dur="700" fill="hold"/>
                                        <p:tgtEl>
                                          <p:spTgt spid="29"/>
                                        </p:tgtEl>
                                        <p:attrNameLst>
                                          <p:attrName>ppt_x</p:attrName>
                                          <p:attrName>ppt_y</p:attrName>
                                        </p:attrNameLst>
                                      </p:cBhvr>
                                    </p:animMotion>
                                    <p:animScale zoomContents="1">
                                      <p:cBhvr>
                                        <p:cTn id="44" dur="700" fill="hold"/>
                                        <p:tgtEl>
                                          <p:spTgt spid="29"/>
                                        </p:tgtEl>
                                      </p:cBhvr>
                                      <p:from x="100000" y="100000"/>
                                      <p:to x="100000" y="100000"/>
                                    </p:animScale>
                                  </p:childTnLst>
                                </p:cTn>
                              </p:par>
                              <p:par>
                                <p:cTn id="45" presetID="10" presetClass="entr" presetSubtype="0" fill="hold" nodeType="withEffect">
                                  <p:stCondLst>
                                    <p:cond delay="70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400"/>
                                        <p:tgtEl>
                                          <p:spTgt spid="30"/>
                                        </p:tgtEl>
                                      </p:cBhvr>
                                    </p:animEffect>
                                  </p:childTnLst>
                                </p:cTn>
                              </p:par>
                              <p:par>
                                <p:cTn id="48" presetID="10" presetClass="entr" presetSubtype="0" fill="hold" nodeType="withEffect">
                                  <p:stCondLst>
                                    <p:cond delay="700"/>
                                  </p:stCondLst>
                                  <p:childTnLst>
                                    <p:set>
                                      <p:cBhvr>
                                        <p:cTn id="49" dur="1" fill="hold">
                                          <p:stCondLst>
                                            <p:cond delay="0"/>
                                          </p:stCondLst>
                                        </p:cTn>
                                        <p:tgtEl>
                                          <p:spTgt spid="123"/>
                                        </p:tgtEl>
                                        <p:attrNameLst>
                                          <p:attrName>style.visibility</p:attrName>
                                        </p:attrNameLst>
                                      </p:cBhvr>
                                      <p:to>
                                        <p:strVal val="visible"/>
                                      </p:to>
                                    </p:set>
                                    <p:animEffect transition="in" filter="fade">
                                      <p:cBhvr>
                                        <p:cTn id="50" dur="400"/>
                                        <p:tgtEl>
                                          <p:spTgt spid="123"/>
                                        </p:tgtEl>
                                      </p:cBhvr>
                                    </p:animEffect>
                                  </p:childTnLst>
                                </p:cTn>
                              </p:par>
                              <p:par>
                                <p:cTn id="51" presetID="10" presetClass="entr" presetSubtype="0" fill="hold" nodeType="withEffect">
                                  <p:stCondLst>
                                    <p:cond delay="0"/>
                                  </p:stCondLst>
                                  <p:childTnLst>
                                    <p:set>
                                      <p:cBhvr>
                                        <p:cTn id="52" dur="1" fill="hold">
                                          <p:stCondLst>
                                            <p:cond delay="0"/>
                                          </p:stCondLst>
                                        </p:cTn>
                                        <p:tgtEl>
                                          <p:spTgt spid="124"/>
                                        </p:tgtEl>
                                        <p:attrNameLst>
                                          <p:attrName>style.visibility</p:attrName>
                                        </p:attrNameLst>
                                      </p:cBhvr>
                                      <p:to>
                                        <p:strVal val="visible"/>
                                      </p:to>
                                    </p:set>
                                    <p:animEffect transition="in" filter="fade">
                                      <p:cBhvr>
                                        <p:cTn id="53" dur="400"/>
                                        <p:tgtEl>
                                          <p:spTgt spid="12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par>
                                <p:cTn id="59" presetID="10" presetClass="entr" presetSubtype="0" fill="hold"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nodeType="withEffect">
                                  <p:stCondLst>
                                    <p:cond delay="0"/>
                                  </p:stCondLst>
                                  <p:childTnLst>
                                    <p:set>
                                      <p:cBhvr>
                                        <p:cTn id="66" dur="1" fill="hold">
                                          <p:stCondLst>
                                            <p:cond delay="0"/>
                                          </p:stCondLst>
                                        </p:cTn>
                                        <p:tgtEl>
                                          <p:spTgt spid="125"/>
                                        </p:tgtEl>
                                        <p:attrNameLst>
                                          <p:attrName>style.visibility</p:attrName>
                                        </p:attrNameLst>
                                      </p:cBhvr>
                                      <p:to>
                                        <p:strVal val="visible"/>
                                      </p:to>
                                    </p:set>
                                    <p:animEffect transition="in" filter="fade">
                                      <p:cBhvr>
                                        <p:cTn id="67" dur="400"/>
                                        <p:tgtEl>
                                          <p:spTgt spid="125"/>
                                        </p:tgtEl>
                                      </p:cBhvr>
                                    </p:animEffect>
                                  </p:childTnLst>
                                </p:cTn>
                              </p:par>
                              <p:par>
                                <p:cTn id="68" presetID="10" presetClass="entr" presetSubtype="0" fill="hold"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00"/>
                                        <p:tgtEl>
                                          <p:spTgt spid="34"/>
                                        </p:tgtEl>
                                      </p:cBhvr>
                                    </p:animEffect>
                                  </p:childTnLst>
                                </p:cTn>
                              </p:par>
                              <p:par>
                                <p:cTn id="71" presetID="10" presetClass="entr" presetSubtype="0"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400"/>
                                        <p:tgtEl>
                                          <p:spTgt spid="35"/>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200"/>
                                        <p:tgtEl>
                                          <p:spTgt spid="36"/>
                                        </p:tgtEl>
                                      </p:cBhvr>
                                    </p:animEffect>
                                    <p:animMotion origin="layout" pathEditMode="relative" path="M -0.32812500 0.00000000 L 0.00000000 0.00000000 E">
                                      <p:cBhvr>
                                        <p:cTn id="79" dur="700" fill="hold"/>
                                        <p:tgtEl>
                                          <p:spTgt spid="36"/>
                                        </p:tgtEl>
                                        <p:attrNameLst>
                                          <p:attrName>ppt_x</p:attrName>
                                          <p:attrName>ppt_y</p:attrName>
                                        </p:attrNameLst>
                                      </p:cBhvr>
                                    </p:animMotion>
                                    <p:animScale zoomContents="1">
                                      <p:cBhvr>
                                        <p:cTn id="80" dur="700" fill="hold"/>
                                        <p:tgtEl>
                                          <p:spTgt spid="36"/>
                                        </p:tgtEl>
                                      </p:cBhvr>
                                      <p:from x="100000" y="100000"/>
                                      <p:to x="100000" y="100000"/>
                                    </p:animScale>
                                  </p:childTnLst>
                                </p:cTn>
                              </p:par>
                              <p:par>
                                <p:cTn id="81" presetID="10" presetClass="entr" presetSubtype="0" fill="hold" nodeType="withEffect">
                                  <p:stCondLst>
                                    <p:cond delay="0"/>
                                  </p:stCondLst>
                                  <p:childTnLst>
                                    <p:set>
                                      <p:cBhvr>
                                        <p:cTn id="82" dur="1" fill="hold">
                                          <p:stCondLst>
                                            <p:cond delay="0"/>
                                          </p:stCondLst>
                                        </p:cTn>
                                        <p:tgtEl>
                                          <p:spTgt spid="126"/>
                                        </p:tgtEl>
                                        <p:attrNameLst>
                                          <p:attrName>style.visibility</p:attrName>
                                        </p:attrNameLst>
                                      </p:cBhvr>
                                      <p:to>
                                        <p:strVal val="visible"/>
                                      </p:to>
                                    </p:set>
                                    <p:animEffect transition="in" filter="fade">
                                      <p:cBhvr>
                                        <p:cTn id="83" dur="400"/>
                                        <p:tgtEl>
                                          <p:spTgt spid="126"/>
                                        </p:tgtEl>
                                      </p:cBhvr>
                                    </p:animEffect>
                                  </p:childTnLst>
                                </p:cTn>
                              </p:par>
                              <p:par>
                                <p:cTn id="84" presetID="10" presetClass="entr" presetSubtype="0" fill="hold" nodeType="withEffect">
                                  <p:stCondLst>
                                    <p:cond delay="0"/>
                                  </p:stCondLst>
                                  <p:childTnLst>
                                    <p:set>
                                      <p:cBhvr>
                                        <p:cTn id="85" dur="1" fill="hold">
                                          <p:stCondLst>
                                            <p:cond delay="0"/>
                                          </p:stCondLst>
                                        </p:cTn>
                                        <p:tgtEl>
                                          <p:spTgt spid="130"/>
                                        </p:tgtEl>
                                        <p:attrNameLst>
                                          <p:attrName>style.visibility</p:attrName>
                                        </p:attrNameLst>
                                      </p:cBhvr>
                                      <p:to>
                                        <p:strVal val="visible"/>
                                      </p:to>
                                    </p:set>
                                    <p:animEffect transition="in" filter="fade">
                                      <p:cBhvr>
                                        <p:cTn id="86" dur="4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Lst>
  </p:timing>
</p:sld>
</file>

<file path=ppt/slides/methods_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dsbsc-title">
            <ns0:hlinkClick xmlns:ns0="http://schemas.openxmlformats.org/drawingml/2006/main" xmlns:ns1="http://schemas.openxmlformats.org/officeDocument/2006/relationships" ns1:id="rIdmethods_Link114" action="ppaction://hlinksldjump"/>
            <a:extLst xmlns:a="http://schemas.openxmlformats.org/drawingml/2006/main">
              <a:ext uri="{FF2B5EF4-FFF2-40B4-BE49-F238E27FC236}">
                <a16:creationId xmlns:a16="http://schemas.microsoft.com/office/drawing/2014/main" id="{75254B76-65AD-4CF5-B4F6-528A74D0AD3D}"/>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14" action="ppaction://hlinksldjump"/>
              </a:rPr>
              <a:t>DSB-SC</a:t>
            </a:r>
          </a:p>
        </p:txBody>
      </p:sp>
      <p:sp>
        <p:nvSpPr>
          <p:cNvPr id="2" name="!!dsbsc-route-tx-line">
            <a:extLst xmlns:a="http://schemas.openxmlformats.org/drawingml/2006/main">
              <a:ext uri="{FF2B5EF4-FFF2-40B4-BE49-F238E27FC236}">
                <a16:creationId xmlns:a16="http://schemas.microsoft.com/office/drawing/2014/main" id="{67EC31FF-00FF-4A9D-80D0-E4C7D4E2A7C4}"/>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dsbsc-route-tx-head">
            <a:extLst xmlns:a="http://schemas.openxmlformats.org/drawingml/2006/main">
              <a:ext uri="{FF2B5EF4-FFF2-40B4-BE49-F238E27FC236}">
                <a16:creationId xmlns:a16="http://schemas.microsoft.com/office/drawing/2014/main" id="{42CE99D0-1A3F-4DB2-A9B5-746EDE853481}"/>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dsbsc-route-rx-line">
            <a:extLst xmlns:a="http://schemas.openxmlformats.org/drawingml/2006/main">
              <a:ext uri="{FF2B5EF4-FFF2-40B4-BE49-F238E27FC236}">
                <a16:creationId xmlns:a16="http://schemas.microsoft.com/office/drawing/2014/main" id="{6FC746E8-9258-44C3-9CCC-CA24959766A8}"/>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dsbsc-route-rx-head">
            <a:extLst xmlns:a="http://schemas.openxmlformats.org/drawingml/2006/main">
              <a:ext uri="{FF2B5EF4-FFF2-40B4-BE49-F238E27FC236}">
                <a16:creationId xmlns:a16="http://schemas.microsoft.com/office/drawing/2014/main" id="{E5BAC075-CD75-4498-A4DD-6CEE7E908B4A}"/>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dsbsc-review-purpose">
            <a:extLst xmlns:a="http://schemas.openxmlformats.org/drawingml/2006/main">
              <a:ext uri="{FF2B5EF4-FFF2-40B4-BE49-F238E27FC236}">
                <a16:creationId xmlns:a16="http://schemas.microsoft.com/office/drawing/2014/main" id="{2B18990D-4C6D-409D-97F5-BEBBB88248C4}"/>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Remove the known gain to recover m(t)</a:t>
            </a:r>
          </a:p>
        </p:txBody>
      </p:sp>
      <p:sp>
        <p:nvSpPr>
          <p:cNvPr id="7" name="!!dsbsc-dsb-gain-g0-r0-axis-line">
            <a:extLst xmlns:a="http://schemas.openxmlformats.org/drawingml/2006/main">
              <a:ext uri="{FF2B5EF4-FFF2-40B4-BE49-F238E27FC236}">
                <a16:creationId xmlns:a16="http://schemas.microsoft.com/office/drawing/2014/main" id="{4FDCB610-D545-40EA-BE89-087FB0C9530D}"/>
              </a:ext>
            </a:extLst>
          </p:cNvPr>
          <p:cNvSpPr>
            <a:spLocks xmlns:a="http://schemas.openxmlformats.org/drawingml/2006/main" noGrp="1"/>
          </p:cNvSpPr>
          <p:nvPr/>
        </p:nvSpPr>
        <p:spPr>
          <a:xfrm xmlns:a="http://schemas.openxmlformats.org/drawingml/2006/main">
            <a:off x="571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dsbsc-dsb-gain-g0-r0-axis-head">
            <a:extLst xmlns:a="http://schemas.openxmlformats.org/drawingml/2006/main">
              <a:ext uri="{FF2B5EF4-FFF2-40B4-BE49-F238E27FC236}">
                <a16:creationId xmlns:a16="http://schemas.microsoft.com/office/drawing/2014/main" id="{71EEF363-3C65-40F5-9368-D093CA9570F9}"/>
              </a:ext>
            </a:extLst>
          </p:cNvPr>
          <p:cNvSpPr>
            <a:spLocks xmlns:a="http://schemas.openxmlformats.org/drawingml/2006/main" noGrp="1"/>
          </p:cNvSpPr>
          <p:nvPr/>
        </p:nvSpPr>
        <p:spPr>
          <a:xfrm xmlns:a="http://schemas.openxmlformats.org/drawingml/2006/main" rot="5400000">
            <a:off x="3238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dsbsc-dsb-gain-g0-r0-tick0">
            <a:extLst xmlns:a="http://schemas.openxmlformats.org/drawingml/2006/main">
              <a:ext uri="{FF2B5EF4-FFF2-40B4-BE49-F238E27FC236}">
                <a16:creationId xmlns:a16="http://schemas.microsoft.com/office/drawing/2014/main" id="{E5B0DEBC-E30E-48C9-9871-D0A1AE914436}"/>
              </a:ext>
            </a:extLst>
          </p:cNvPr>
          <p:cNvSpPr>
            <a:spLocks xmlns:a="http://schemas.openxmlformats.org/drawingml/2006/main" noGrp="1"/>
          </p:cNvSpPr>
          <p:nvPr/>
        </p:nvSpPr>
        <p:spPr>
          <a:xfrm xmlns:a="http://schemas.openxmlformats.org/drawingml/2006/main">
            <a:off x="17883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dsbsc-dsb-gain-g0-r0-tick1">
            <a:extLst xmlns:a="http://schemas.openxmlformats.org/drawingml/2006/main">
              <a:ext uri="{FF2B5EF4-FFF2-40B4-BE49-F238E27FC236}">
                <a16:creationId xmlns:a16="http://schemas.microsoft.com/office/drawing/2014/main" id="{F6F1470E-B8C6-4EAD-B503-7631428D6CBA}"/>
              </a:ext>
            </a:extLst>
          </p:cNvPr>
          <p:cNvSpPr>
            <a:spLocks xmlns:a="http://schemas.openxmlformats.org/drawingml/2006/main" noGrp="1"/>
          </p:cNvSpPr>
          <p:nvPr/>
        </p:nvSpPr>
        <p:spPr>
          <a:xfrm xmlns:a="http://schemas.openxmlformats.org/drawingml/2006/main">
            <a:off x="1962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dsbsc-dsb-gain-g0-r0-tick2">
            <a:extLst xmlns:a="http://schemas.openxmlformats.org/drawingml/2006/main">
              <a:ext uri="{FF2B5EF4-FFF2-40B4-BE49-F238E27FC236}">
                <a16:creationId xmlns:a16="http://schemas.microsoft.com/office/drawing/2014/main" id="{2F15C7C5-43A7-4395-B346-B1C992A3D499}"/>
              </a:ext>
            </a:extLst>
          </p:cNvPr>
          <p:cNvSpPr>
            <a:spLocks xmlns:a="http://schemas.openxmlformats.org/drawingml/2006/main" noGrp="1"/>
          </p:cNvSpPr>
          <p:nvPr/>
        </p:nvSpPr>
        <p:spPr>
          <a:xfrm xmlns:a="http://schemas.openxmlformats.org/drawingml/2006/main">
            <a:off x="21359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dsbsc-dsb-gain-g1-r0-axis-line">
            <a:extLst xmlns:a="http://schemas.openxmlformats.org/drawingml/2006/main">
              <a:ext uri="{FF2B5EF4-FFF2-40B4-BE49-F238E27FC236}">
                <a16:creationId xmlns:a16="http://schemas.microsoft.com/office/drawing/2014/main" id="{421DFD05-CAC3-4D77-BD3E-929BDF0B028F}"/>
              </a:ext>
            </a:extLst>
          </p:cNvPr>
          <p:cNvSpPr>
            <a:spLocks xmlns:a="http://schemas.openxmlformats.org/drawingml/2006/main" noGrp="1"/>
          </p:cNvSpPr>
          <p:nvPr/>
        </p:nvSpPr>
        <p:spPr>
          <a:xfrm xmlns:a="http://schemas.openxmlformats.org/drawingml/2006/main">
            <a:off x="45720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dsbsc-dsb-gain-g1-r0-axis-head">
            <a:extLst xmlns:a="http://schemas.openxmlformats.org/drawingml/2006/main">
              <a:ext uri="{FF2B5EF4-FFF2-40B4-BE49-F238E27FC236}">
                <a16:creationId xmlns:a16="http://schemas.microsoft.com/office/drawing/2014/main" id="{E3475660-9741-404A-AFFF-C1F5430C1289}"/>
              </a:ext>
            </a:extLst>
          </p:cNvPr>
          <p:cNvSpPr>
            <a:spLocks xmlns:a="http://schemas.openxmlformats.org/drawingml/2006/main" noGrp="1"/>
          </p:cNvSpPr>
          <p:nvPr/>
        </p:nvSpPr>
        <p:spPr>
          <a:xfrm xmlns:a="http://schemas.openxmlformats.org/drawingml/2006/main" rot="5400000">
            <a:off x="72390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4" name="!!dsbsc-dsb-gain-g1-r0-tick0">
            <a:extLst xmlns:a="http://schemas.openxmlformats.org/drawingml/2006/main">
              <a:ext uri="{FF2B5EF4-FFF2-40B4-BE49-F238E27FC236}">
                <a16:creationId xmlns:a16="http://schemas.microsoft.com/office/drawing/2014/main" id="{859B8D3F-B793-4436-A672-C7A90C9FB4C7}"/>
              </a:ext>
            </a:extLst>
          </p:cNvPr>
          <p:cNvSpPr>
            <a:spLocks xmlns:a="http://schemas.openxmlformats.org/drawingml/2006/main" noGrp="1"/>
          </p:cNvSpPr>
          <p:nvPr/>
        </p:nvSpPr>
        <p:spPr>
          <a:xfrm xmlns:a="http://schemas.openxmlformats.org/drawingml/2006/main">
            <a:off x="57888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dsbsc-dsb-gain-g1-r0-tick1">
            <a:extLst xmlns:a="http://schemas.openxmlformats.org/drawingml/2006/main">
              <a:ext uri="{FF2B5EF4-FFF2-40B4-BE49-F238E27FC236}">
                <a16:creationId xmlns:a16="http://schemas.microsoft.com/office/drawing/2014/main" id="{03C8B5C8-BC10-4072-AF87-1846E8432EA4}"/>
              </a:ext>
            </a:extLst>
          </p:cNvPr>
          <p:cNvSpPr>
            <a:spLocks xmlns:a="http://schemas.openxmlformats.org/drawingml/2006/main" noGrp="1"/>
          </p:cNvSpPr>
          <p:nvPr/>
        </p:nvSpPr>
        <p:spPr>
          <a:xfrm xmlns:a="http://schemas.openxmlformats.org/drawingml/2006/main">
            <a:off x="59626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dsbsc-dsb-gain-g1-r0-tick2">
            <a:extLst xmlns:a="http://schemas.openxmlformats.org/drawingml/2006/main">
              <a:ext uri="{FF2B5EF4-FFF2-40B4-BE49-F238E27FC236}">
                <a16:creationId xmlns:a16="http://schemas.microsoft.com/office/drawing/2014/main" id="{D59599C7-7D26-4626-8264-A12B17856FA1}"/>
              </a:ext>
            </a:extLst>
          </p:cNvPr>
          <p:cNvSpPr>
            <a:spLocks xmlns:a="http://schemas.openxmlformats.org/drawingml/2006/main" noGrp="1"/>
          </p:cNvSpPr>
          <p:nvPr/>
        </p:nvSpPr>
        <p:spPr>
          <a:xfrm xmlns:a="http://schemas.openxmlformats.org/drawingml/2006/main">
            <a:off x="61364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dsbsc-dsb-gain-g0-c">
            <a:extLst xmlns:a="http://schemas.openxmlformats.org/drawingml/2006/main">
              <a:ext uri="{FF2B5EF4-FFF2-40B4-BE49-F238E27FC236}">
                <a16:creationId xmlns:a16="http://schemas.microsoft.com/office/drawing/2014/main" id="{7084C995-6753-4B98-A83F-72320E9B1892}"/>
              </a:ext>
            </a:extLst>
          </p:cNvPr>
          <p:cNvSpPr>
            <a:spLocks xmlns:a="http://schemas.openxmlformats.org/drawingml/2006/main" noGrp="1"/>
          </p:cNvSpPr>
          <p:nvPr/>
        </p:nvSpPr>
        <p:spPr>
          <a:xfrm xmlns:a="http://schemas.openxmlformats.org/drawingml/2006/main">
            <a:off x="1788319" y="2790825"/>
            <a:ext cx="347663" cy="733425"/>
          </a:xfrm>
          <a:custGeom xmlns:a="http://schemas.openxmlformats.org/drawingml/2006/main">
            <a:pathLst>
              <a:path w="347663" h="733425">
                <a:moveTo>
                  <a:pt x="0" y="733425"/>
                </a:moveTo>
                <a:lnTo>
                  <a:pt x="173831" y="0"/>
                </a:lnTo>
                <a:lnTo>
                  <a:pt x="347663" y="733425"/>
                </a:lnTo>
                <a:close/>
              </a:path>
            </a:pathLst>
          </a:custGeom>
          <a:solidFill xmlns:a="http://schemas.openxmlformats.org/drawingml/2006/main">
            <a:srgbClr val="535353"/>
          </a:solidFill>
          <a:ln xmlns:a="http://schemas.openxmlformats.org/drawingml/2006/main" w="10478">
            <a:solidFill>
              <a:srgbClr val="202020"/>
            </a:solidFill>
          </a:ln>
        </p:spPr>
      </p:sp>
      <p:sp>
        <p:nvSpPr>
          <p:cNvPr id="18" name="!!dsbsc-dsb-gain-arrow-line">
            <a:extLst xmlns:a="http://schemas.openxmlformats.org/drawingml/2006/main">
              <a:ext uri="{FF2B5EF4-FFF2-40B4-BE49-F238E27FC236}">
                <a16:creationId xmlns:a16="http://schemas.microsoft.com/office/drawing/2014/main" id="{B1272AB2-6BDE-4F07-AB0A-EE5FB85B6102}"/>
              </a:ext>
            </a:extLst>
          </p:cNvPr>
          <p:cNvSpPr>
            <a:spLocks xmlns:a="http://schemas.openxmlformats.org/drawingml/2006/main" noGrp="1"/>
          </p:cNvSpPr>
          <p:nvPr/>
        </p:nvSpPr>
        <p:spPr>
          <a:xfrm xmlns:a="http://schemas.openxmlformats.org/drawingml/2006/main">
            <a:off x="35814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dsbsc-dsb-gain-arrow-head">
            <a:extLst xmlns:a="http://schemas.openxmlformats.org/drawingml/2006/main">
              <a:ext uri="{FF2B5EF4-FFF2-40B4-BE49-F238E27FC236}">
                <a16:creationId xmlns:a16="http://schemas.microsoft.com/office/drawing/2014/main" id="{96939DF3-0DDE-4D06-ADA0-C1F35C5C3454}"/>
              </a:ext>
            </a:extLst>
          </p:cNvPr>
          <p:cNvSpPr>
            <a:spLocks xmlns:a="http://schemas.openxmlformats.org/drawingml/2006/main" noGrp="1"/>
          </p:cNvSpPr>
          <p:nvPr/>
        </p:nvSpPr>
        <p:spPr>
          <a:xfrm xmlns:a="http://schemas.openxmlformats.org/drawingml/2006/main" rot="5400000">
            <a:off x="42291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0" name="!!dsbsc-dsb-gain-g1-c">
            <a:extLst xmlns:a="http://schemas.openxmlformats.org/drawingml/2006/main">
              <a:ext uri="{FF2B5EF4-FFF2-40B4-BE49-F238E27FC236}">
                <a16:creationId xmlns:a16="http://schemas.microsoft.com/office/drawing/2014/main" id="{B667458A-17BC-404D-8630-1969737658FC}"/>
              </a:ext>
            </a:extLst>
          </p:cNvPr>
          <p:cNvSpPr>
            <a:spLocks xmlns:a="http://schemas.openxmlformats.org/drawingml/2006/main" noGrp="1"/>
          </p:cNvSpPr>
          <p:nvPr/>
        </p:nvSpPr>
        <p:spPr>
          <a:xfrm xmlns:a="http://schemas.openxmlformats.org/drawingml/2006/main">
            <a:off x="5788819" y="3157538"/>
            <a:ext cx="347663" cy="366713"/>
          </a:xfrm>
          <a:custGeom xmlns:a="http://schemas.openxmlformats.org/drawingml/2006/main">
            <a:pathLst>
              <a:path w="347663" h="366713">
                <a:moveTo>
                  <a:pt x="0" y="366713"/>
                </a:moveTo>
                <a:lnTo>
                  <a:pt x="173831" y="0"/>
                </a:lnTo>
                <a:lnTo>
                  <a:pt x="347663" y="366713"/>
                </a:lnTo>
                <a:close/>
              </a:path>
            </a:pathLst>
          </a:custGeom>
          <a:solidFill xmlns:a="http://schemas.openxmlformats.org/drawingml/2006/main">
            <a:srgbClr val="535353"/>
          </a:solidFill>
          <a:ln xmlns:a="http://schemas.openxmlformats.org/drawingml/2006/main" w="10478">
            <a:solidFill>
              <a:srgbClr val="202020"/>
            </a:solidFill>
          </a:ln>
        </p:spPr>
      </p:sp>
      <p:sp>
        <p:nvSpPr>
          <p:cNvPr id="21" name="!!dsbsc-dsb-gain-g2-r0-axis-line">
            <a:extLst xmlns:a="http://schemas.openxmlformats.org/drawingml/2006/main">
              <a:ext uri="{FF2B5EF4-FFF2-40B4-BE49-F238E27FC236}">
                <a16:creationId xmlns:a16="http://schemas.microsoft.com/office/drawing/2014/main" id="{6519414B-BD62-4F5D-8ED6-9369AC896A84}"/>
              </a:ext>
            </a:extLst>
          </p:cNvPr>
          <p:cNvSpPr>
            <a:spLocks xmlns:a="http://schemas.openxmlformats.org/drawingml/2006/main" noGrp="1"/>
          </p:cNvSpPr>
          <p:nvPr/>
        </p:nvSpPr>
        <p:spPr>
          <a:xfrm xmlns:a="http://schemas.openxmlformats.org/drawingml/2006/main">
            <a:off x="8572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dsbsc-dsb-gain-g2-r0-axis-head">
            <a:extLst xmlns:a="http://schemas.openxmlformats.org/drawingml/2006/main">
              <a:ext uri="{FF2B5EF4-FFF2-40B4-BE49-F238E27FC236}">
                <a16:creationId xmlns:a16="http://schemas.microsoft.com/office/drawing/2014/main" id="{1FC1B6F9-ABB6-4E63-8B61-CC52FED1053A}"/>
              </a:ext>
            </a:extLst>
          </p:cNvPr>
          <p:cNvSpPr>
            <a:spLocks xmlns:a="http://schemas.openxmlformats.org/drawingml/2006/main" noGrp="1"/>
          </p:cNvSpPr>
          <p:nvPr/>
        </p:nvSpPr>
        <p:spPr>
          <a:xfrm xmlns:a="http://schemas.openxmlformats.org/drawingml/2006/main" rot="5400000">
            <a:off x="11239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3" name="!!dsbsc-dsb-gain-g2-r0-wave">
            <a:extLst xmlns:a="http://schemas.openxmlformats.org/drawingml/2006/main">
              <a:ext uri="{FF2B5EF4-FFF2-40B4-BE49-F238E27FC236}">
                <a16:creationId xmlns:a16="http://schemas.microsoft.com/office/drawing/2014/main" id="{82BC3507-93C9-4860-A863-BEF83C4679E7}"/>
              </a:ext>
            </a:extLst>
          </p:cNvPr>
          <p:cNvSpPr>
            <a:spLocks xmlns:a="http://schemas.openxmlformats.org/drawingml/2006/main" noGrp="1"/>
          </p:cNvSpPr>
          <p:nvPr/>
        </p:nvSpPr>
        <p:spPr>
          <a:xfrm xmlns:a="http://schemas.openxmlformats.org/drawingml/2006/main">
            <a:off x="8572500" y="2790825"/>
            <a:ext cx="2781300" cy="419100"/>
          </a:xfrm>
          <a:custGeom xmlns:a="http://schemas.openxmlformats.org/drawingml/2006/main">
            <a:pathLst>
              <a:path w="2781300" h="419100">
                <a:moveTo>
                  <a:pt x="0" y="419100"/>
                </a:moveTo>
                <a:lnTo>
                  <a:pt x="3477" y="419097"/>
                </a:lnTo>
                <a:lnTo>
                  <a:pt x="6953" y="419089"/>
                </a:lnTo>
                <a:lnTo>
                  <a:pt x="10430" y="419076"/>
                </a:lnTo>
                <a:lnTo>
                  <a:pt x="13907" y="419057"/>
                </a:lnTo>
                <a:lnTo>
                  <a:pt x="17383" y="419033"/>
                </a:lnTo>
                <a:lnTo>
                  <a:pt x="20860" y="419004"/>
                </a:lnTo>
                <a:lnTo>
                  <a:pt x="24336" y="418969"/>
                </a:lnTo>
                <a:lnTo>
                  <a:pt x="27813" y="418929"/>
                </a:lnTo>
                <a:lnTo>
                  <a:pt x="31290" y="418884"/>
                </a:lnTo>
                <a:lnTo>
                  <a:pt x="34766" y="418833"/>
                </a:lnTo>
                <a:lnTo>
                  <a:pt x="38243" y="418778"/>
                </a:lnTo>
                <a:lnTo>
                  <a:pt x="41719" y="418718"/>
                </a:lnTo>
                <a:lnTo>
                  <a:pt x="45196" y="418653"/>
                </a:lnTo>
                <a:lnTo>
                  <a:pt x="48673" y="418583"/>
                </a:lnTo>
                <a:lnTo>
                  <a:pt x="52149" y="418510"/>
                </a:lnTo>
                <a:lnTo>
                  <a:pt x="55626" y="418432"/>
                </a:lnTo>
                <a:lnTo>
                  <a:pt x="59103" y="418350"/>
                </a:lnTo>
                <a:lnTo>
                  <a:pt x="62579" y="418265"/>
                </a:lnTo>
                <a:lnTo>
                  <a:pt x="66056" y="418176"/>
                </a:lnTo>
                <a:lnTo>
                  <a:pt x="69532" y="418084"/>
                </a:lnTo>
                <a:lnTo>
                  <a:pt x="73009" y="417989"/>
                </a:lnTo>
                <a:lnTo>
                  <a:pt x="76486" y="417892"/>
                </a:lnTo>
                <a:lnTo>
                  <a:pt x="79962" y="417793"/>
                </a:lnTo>
                <a:lnTo>
                  <a:pt x="83439" y="417692"/>
                </a:lnTo>
                <a:lnTo>
                  <a:pt x="86916" y="417590"/>
                </a:lnTo>
                <a:lnTo>
                  <a:pt x="90392" y="417487"/>
                </a:lnTo>
                <a:lnTo>
                  <a:pt x="93869" y="417383"/>
                </a:lnTo>
                <a:lnTo>
                  <a:pt x="97346" y="417278"/>
                </a:lnTo>
                <a:lnTo>
                  <a:pt x="100822" y="417174"/>
                </a:lnTo>
                <a:lnTo>
                  <a:pt x="104299" y="417070"/>
                </a:lnTo>
                <a:lnTo>
                  <a:pt x="107775" y="416967"/>
                </a:lnTo>
                <a:lnTo>
                  <a:pt x="111252" y="416865"/>
                </a:lnTo>
                <a:lnTo>
                  <a:pt x="114729" y="416764"/>
                </a:lnTo>
                <a:lnTo>
                  <a:pt x="118205" y="416666"/>
                </a:lnTo>
                <a:lnTo>
                  <a:pt x="121682" y="416570"/>
                </a:lnTo>
                <a:lnTo>
                  <a:pt x="125158" y="416476"/>
                </a:lnTo>
                <a:lnTo>
                  <a:pt x="128635" y="416386"/>
                </a:lnTo>
                <a:lnTo>
                  <a:pt x="132112" y="416299"/>
                </a:lnTo>
                <a:lnTo>
                  <a:pt x="135588" y="416215"/>
                </a:lnTo>
                <a:lnTo>
                  <a:pt x="139065" y="416136"/>
                </a:lnTo>
                <a:lnTo>
                  <a:pt x="142542" y="416062"/>
                </a:lnTo>
                <a:lnTo>
                  <a:pt x="146018" y="415992"/>
                </a:lnTo>
                <a:lnTo>
                  <a:pt x="149495" y="415927"/>
                </a:lnTo>
                <a:lnTo>
                  <a:pt x="152971" y="415867"/>
                </a:lnTo>
                <a:lnTo>
                  <a:pt x="156448" y="415813"/>
                </a:lnTo>
                <a:lnTo>
                  <a:pt x="159925" y="415765"/>
                </a:lnTo>
                <a:lnTo>
                  <a:pt x="163401" y="415722"/>
                </a:lnTo>
                <a:lnTo>
                  <a:pt x="166878" y="415686"/>
                </a:lnTo>
                <a:lnTo>
                  <a:pt x="170355" y="415657"/>
                </a:lnTo>
                <a:lnTo>
                  <a:pt x="173831" y="415634"/>
                </a:lnTo>
                <a:lnTo>
                  <a:pt x="177308" y="415617"/>
                </a:lnTo>
                <a:lnTo>
                  <a:pt x="180785" y="415607"/>
                </a:lnTo>
                <a:lnTo>
                  <a:pt x="184261" y="415605"/>
                </a:lnTo>
                <a:lnTo>
                  <a:pt x="187738" y="415609"/>
                </a:lnTo>
                <a:lnTo>
                  <a:pt x="191214" y="415620"/>
                </a:lnTo>
                <a:lnTo>
                  <a:pt x="194691" y="415638"/>
                </a:lnTo>
                <a:lnTo>
                  <a:pt x="198168" y="415662"/>
                </a:lnTo>
                <a:lnTo>
                  <a:pt x="201644" y="415694"/>
                </a:lnTo>
                <a:lnTo>
                  <a:pt x="205121" y="415732"/>
                </a:lnTo>
                <a:lnTo>
                  <a:pt x="208597" y="415777"/>
                </a:lnTo>
                <a:lnTo>
                  <a:pt x="212074" y="415829"/>
                </a:lnTo>
                <a:lnTo>
                  <a:pt x="215551" y="415887"/>
                </a:lnTo>
                <a:lnTo>
                  <a:pt x="219027" y="415951"/>
                </a:lnTo>
                <a:lnTo>
                  <a:pt x="222504" y="416021"/>
                </a:lnTo>
                <a:lnTo>
                  <a:pt x="225981" y="416096"/>
                </a:lnTo>
                <a:lnTo>
                  <a:pt x="229457" y="416177"/>
                </a:lnTo>
                <a:lnTo>
                  <a:pt x="232934" y="416263"/>
                </a:lnTo>
                <a:lnTo>
                  <a:pt x="236411" y="416354"/>
                </a:lnTo>
                <a:lnTo>
                  <a:pt x="239887" y="416449"/>
                </a:lnTo>
                <a:lnTo>
                  <a:pt x="243364" y="416548"/>
                </a:lnTo>
                <a:lnTo>
                  <a:pt x="246840" y="416651"/>
                </a:lnTo>
                <a:lnTo>
                  <a:pt x="250317" y="416757"/>
                </a:lnTo>
                <a:lnTo>
                  <a:pt x="253794" y="416866"/>
                </a:lnTo>
                <a:lnTo>
                  <a:pt x="257270" y="416977"/>
                </a:lnTo>
                <a:lnTo>
                  <a:pt x="260747" y="417090"/>
                </a:lnTo>
                <a:lnTo>
                  <a:pt x="264224" y="417204"/>
                </a:lnTo>
                <a:lnTo>
                  <a:pt x="267700" y="417320"/>
                </a:lnTo>
                <a:lnTo>
                  <a:pt x="271177" y="417436"/>
                </a:lnTo>
                <a:lnTo>
                  <a:pt x="274653" y="417552"/>
                </a:lnTo>
                <a:lnTo>
                  <a:pt x="278130" y="417667"/>
                </a:lnTo>
                <a:lnTo>
                  <a:pt x="281607" y="417782"/>
                </a:lnTo>
                <a:lnTo>
                  <a:pt x="285083" y="417894"/>
                </a:lnTo>
                <a:lnTo>
                  <a:pt x="288560" y="418005"/>
                </a:lnTo>
                <a:lnTo>
                  <a:pt x="292036" y="418113"/>
                </a:lnTo>
                <a:lnTo>
                  <a:pt x="295513" y="418218"/>
                </a:lnTo>
                <a:lnTo>
                  <a:pt x="298990" y="418319"/>
                </a:lnTo>
                <a:lnTo>
                  <a:pt x="302466" y="418416"/>
                </a:lnTo>
                <a:lnTo>
                  <a:pt x="305943" y="418509"/>
                </a:lnTo>
                <a:lnTo>
                  <a:pt x="309420" y="418596"/>
                </a:lnTo>
                <a:lnTo>
                  <a:pt x="312896" y="418678"/>
                </a:lnTo>
                <a:lnTo>
                  <a:pt x="316373" y="418754"/>
                </a:lnTo>
                <a:lnTo>
                  <a:pt x="319850" y="418823"/>
                </a:lnTo>
                <a:lnTo>
                  <a:pt x="323326" y="418886"/>
                </a:lnTo>
                <a:lnTo>
                  <a:pt x="326803" y="418941"/>
                </a:lnTo>
                <a:lnTo>
                  <a:pt x="330279" y="418988"/>
                </a:lnTo>
                <a:lnTo>
                  <a:pt x="333756" y="419028"/>
                </a:lnTo>
                <a:lnTo>
                  <a:pt x="337233" y="419059"/>
                </a:lnTo>
                <a:lnTo>
                  <a:pt x="340709" y="419082"/>
                </a:lnTo>
                <a:lnTo>
                  <a:pt x="344186" y="419095"/>
                </a:lnTo>
                <a:lnTo>
                  <a:pt x="347663" y="419100"/>
                </a:lnTo>
                <a:lnTo>
                  <a:pt x="351139" y="419095"/>
                </a:lnTo>
                <a:lnTo>
                  <a:pt x="354616" y="419081"/>
                </a:lnTo>
                <a:lnTo>
                  <a:pt x="358092" y="419057"/>
                </a:lnTo>
                <a:lnTo>
                  <a:pt x="361569" y="419024"/>
                </a:lnTo>
                <a:lnTo>
                  <a:pt x="365046" y="418981"/>
                </a:lnTo>
                <a:lnTo>
                  <a:pt x="368522" y="418928"/>
                </a:lnTo>
                <a:lnTo>
                  <a:pt x="371999" y="418865"/>
                </a:lnTo>
                <a:lnTo>
                  <a:pt x="375475" y="418792"/>
                </a:lnTo>
                <a:lnTo>
                  <a:pt x="378952" y="418710"/>
                </a:lnTo>
                <a:lnTo>
                  <a:pt x="382429" y="418618"/>
                </a:lnTo>
                <a:lnTo>
                  <a:pt x="385905" y="418517"/>
                </a:lnTo>
                <a:lnTo>
                  <a:pt x="389382" y="418406"/>
                </a:lnTo>
                <a:lnTo>
                  <a:pt x="392859" y="418287"/>
                </a:lnTo>
                <a:lnTo>
                  <a:pt x="396335" y="418159"/>
                </a:lnTo>
                <a:lnTo>
                  <a:pt x="399812" y="418022"/>
                </a:lnTo>
                <a:lnTo>
                  <a:pt x="403289" y="417878"/>
                </a:lnTo>
                <a:lnTo>
                  <a:pt x="406765" y="417726"/>
                </a:lnTo>
                <a:lnTo>
                  <a:pt x="410242" y="417567"/>
                </a:lnTo>
                <a:lnTo>
                  <a:pt x="413718" y="417401"/>
                </a:lnTo>
                <a:lnTo>
                  <a:pt x="417195" y="417229"/>
                </a:lnTo>
                <a:lnTo>
                  <a:pt x="420672" y="417051"/>
                </a:lnTo>
                <a:lnTo>
                  <a:pt x="424148" y="416868"/>
                </a:lnTo>
                <a:lnTo>
                  <a:pt x="427625" y="416680"/>
                </a:lnTo>
                <a:lnTo>
                  <a:pt x="431101" y="416488"/>
                </a:lnTo>
                <a:lnTo>
                  <a:pt x="434578" y="416292"/>
                </a:lnTo>
                <a:lnTo>
                  <a:pt x="438055" y="416094"/>
                </a:lnTo>
                <a:lnTo>
                  <a:pt x="441531" y="415894"/>
                </a:lnTo>
                <a:lnTo>
                  <a:pt x="445008" y="415692"/>
                </a:lnTo>
                <a:lnTo>
                  <a:pt x="448485" y="415490"/>
                </a:lnTo>
                <a:lnTo>
                  <a:pt x="451961" y="415288"/>
                </a:lnTo>
                <a:lnTo>
                  <a:pt x="455438" y="415086"/>
                </a:lnTo>
                <a:lnTo>
                  <a:pt x="458914" y="414885"/>
                </a:lnTo>
                <a:lnTo>
                  <a:pt x="462391" y="414687"/>
                </a:lnTo>
                <a:lnTo>
                  <a:pt x="465868" y="414491"/>
                </a:lnTo>
                <a:lnTo>
                  <a:pt x="469344" y="414299"/>
                </a:lnTo>
                <a:lnTo>
                  <a:pt x="472821" y="414112"/>
                </a:lnTo>
                <a:lnTo>
                  <a:pt x="476298" y="413929"/>
                </a:lnTo>
                <a:lnTo>
                  <a:pt x="479774" y="413752"/>
                </a:lnTo>
                <a:lnTo>
                  <a:pt x="483251" y="413582"/>
                </a:lnTo>
                <a:lnTo>
                  <a:pt x="486728" y="413418"/>
                </a:lnTo>
                <a:lnTo>
                  <a:pt x="490204" y="413263"/>
                </a:lnTo>
                <a:lnTo>
                  <a:pt x="493681" y="413115"/>
                </a:lnTo>
                <a:lnTo>
                  <a:pt x="497157" y="412977"/>
                </a:lnTo>
                <a:lnTo>
                  <a:pt x="500634" y="412848"/>
                </a:lnTo>
                <a:lnTo>
                  <a:pt x="504111" y="412729"/>
                </a:lnTo>
                <a:lnTo>
                  <a:pt x="507587" y="412622"/>
                </a:lnTo>
                <a:lnTo>
                  <a:pt x="511064" y="412525"/>
                </a:lnTo>
                <a:lnTo>
                  <a:pt x="514540" y="412440"/>
                </a:lnTo>
                <a:lnTo>
                  <a:pt x="518017" y="412366"/>
                </a:lnTo>
                <a:lnTo>
                  <a:pt x="521494" y="412306"/>
                </a:lnTo>
                <a:lnTo>
                  <a:pt x="524970" y="412258"/>
                </a:lnTo>
                <a:lnTo>
                  <a:pt x="528447" y="412223"/>
                </a:lnTo>
                <a:lnTo>
                  <a:pt x="531924" y="412201"/>
                </a:lnTo>
                <a:lnTo>
                  <a:pt x="535400" y="412193"/>
                </a:lnTo>
                <a:lnTo>
                  <a:pt x="538877" y="412199"/>
                </a:lnTo>
                <a:lnTo>
                  <a:pt x="542354" y="412218"/>
                </a:lnTo>
                <a:lnTo>
                  <a:pt x="545830" y="412251"/>
                </a:lnTo>
                <a:lnTo>
                  <a:pt x="549307" y="412298"/>
                </a:lnTo>
                <a:lnTo>
                  <a:pt x="552783" y="412358"/>
                </a:lnTo>
                <a:lnTo>
                  <a:pt x="556260" y="412432"/>
                </a:lnTo>
                <a:lnTo>
                  <a:pt x="559737" y="412519"/>
                </a:lnTo>
                <a:lnTo>
                  <a:pt x="563213" y="412619"/>
                </a:lnTo>
                <a:lnTo>
                  <a:pt x="566690" y="412732"/>
                </a:lnTo>
                <a:lnTo>
                  <a:pt x="570167" y="412858"/>
                </a:lnTo>
                <a:lnTo>
                  <a:pt x="573643" y="412996"/>
                </a:lnTo>
                <a:lnTo>
                  <a:pt x="577120" y="413145"/>
                </a:lnTo>
                <a:lnTo>
                  <a:pt x="580596" y="413305"/>
                </a:lnTo>
                <a:lnTo>
                  <a:pt x="584073" y="413476"/>
                </a:lnTo>
                <a:lnTo>
                  <a:pt x="587550" y="413656"/>
                </a:lnTo>
                <a:lnTo>
                  <a:pt x="591026" y="413846"/>
                </a:lnTo>
                <a:lnTo>
                  <a:pt x="594503" y="414044"/>
                </a:lnTo>
                <a:lnTo>
                  <a:pt x="597979" y="414250"/>
                </a:lnTo>
                <a:lnTo>
                  <a:pt x="601456" y="414463"/>
                </a:lnTo>
                <a:lnTo>
                  <a:pt x="604933" y="414682"/>
                </a:lnTo>
                <a:lnTo>
                  <a:pt x="608409" y="414906"/>
                </a:lnTo>
                <a:lnTo>
                  <a:pt x="611886" y="415134"/>
                </a:lnTo>
                <a:lnTo>
                  <a:pt x="615363" y="415366"/>
                </a:lnTo>
                <a:lnTo>
                  <a:pt x="618839" y="415599"/>
                </a:lnTo>
                <a:lnTo>
                  <a:pt x="622316" y="415834"/>
                </a:lnTo>
                <a:lnTo>
                  <a:pt x="625793" y="416069"/>
                </a:lnTo>
                <a:lnTo>
                  <a:pt x="629269" y="416303"/>
                </a:lnTo>
                <a:lnTo>
                  <a:pt x="632746" y="416535"/>
                </a:lnTo>
                <a:lnTo>
                  <a:pt x="636222" y="416763"/>
                </a:lnTo>
                <a:lnTo>
                  <a:pt x="639699" y="416988"/>
                </a:lnTo>
                <a:lnTo>
                  <a:pt x="643176" y="417207"/>
                </a:lnTo>
                <a:lnTo>
                  <a:pt x="646652" y="417419"/>
                </a:lnTo>
                <a:lnTo>
                  <a:pt x="650129" y="417624"/>
                </a:lnTo>
                <a:lnTo>
                  <a:pt x="653606" y="417820"/>
                </a:lnTo>
                <a:lnTo>
                  <a:pt x="657082" y="418006"/>
                </a:lnTo>
                <a:lnTo>
                  <a:pt x="660559" y="418181"/>
                </a:lnTo>
                <a:lnTo>
                  <a:pt x="664035" y="418343"/>
                </a:lnTo>
                <a:lnTo>
                  <a:pt x="667512" y="418493"/>
                </a:lnTo>
                <a:lnTo>
                  <a:pt x="670989" y="418628"/>
                </a:lnTo>
                <a:lnTo>
                  <a:pt x="674465" y="418749"/>
                </a:lnTo>
                <a:lnTo>
                  <a:pt x="677942" y="418853"/>
                </a:lnTo>
                <a:lnTo>
                  <a:pt x="681418" y="418940"/>
                </a:lnTo>
                <a:lnTo>
                  <a:pt x="684895" y="419009"/>
                </a:lnTo>
                <a:lnTo>
                  <a:pt x="688372" y="419059"/>
                </a:lnTo>
                <a:lnTo>
                  <a:pt x="691848" y="419090"/>
                </a:lnTo>
                <a:lnTo>
                  <a:pt x="695325" y="419100"/>
                </a:lnTo>
                <a:lnTo>
                  <a:pt x="698802" y="419089"/>
                </a:lnTo>
                <a:lnTo>
                  <a:pt x="702278" y="419057"/>
                </a:lnTo>
                <a:lnTo>
                  <a:pt x="705755" y="419003"/>
                </a:lnTo>
                <a:lnTo>
                  <a:pt x="709232" y="418926"/>
                </a:lnTo>
                <a:lnTo>
                  <a:pt x="712708" y="418827"/>
                </a:lnTo>
                <a:lnTo>
                  <a:pt x="716185" y="418704"/>
                </a:lnTo>
                <a:lnTo>
                  <a:pt x="719661" y="418558"/>
                </a:lnTo>
                <a:lnTo>
                  <a:pt x="723138" y="418388"/>
                </a:lnTo>
                <a:lnTo>
                  <a:pt x="726615" y="418194"/>
                </a:lnTo>
                <a:lnTo>
                  <a:pt x="730091" y="417977"/>
                </a:lnTo>
                <a:lnTo>
                  <a:pt x="733568" y="417736"/>
                </a:lnTo>
                <a:lnTo>
                  <a:pt x="737045" y="417472"/>
                </a:lnTo>
                <a:lnTo>
                  <a:pt x="740521" y="417185"/>
                </a:lnTo>
                <a:lnTo>
                  <a:pt x="743998" y="416875"/>
                </a:lnTo>
                <a:lnTo>
                  <a:pt x="747474" y="416543"/>
                </a:lnTo>
                <a:lnTo>
                  <a:pt x="750951" y="416189"/>
                </a:lnTo>
                <a:lnTo>
                  <a:pt x="754428" y="415814"/>
                </a:lnTo>
                <a:lnTo>
                  <a:pt x="757904" y="415419"/>
                </a:lnTo>
                <a:lnTo>
                  <a:pt x="761381" y="415005"/>
                </a:lnTo>
                <a:lnTo>
                  <a:pt x="764857" y="414572"/>
                </a:lnTo>
                <a:lnTo>
                  <a:pt x="768334" y="414121"/>
                </a:lnTo>
                <a:lnTo>
                  <a:pt x="771811" y="413655"/>
                </a:lnTo>
                <a:lnTo>
                  <a:pt x="775287" y="413172"/>
                </a:lnTo>
                <a:lnTo>
                  <a:pt x="778764" y="412676"/>
                </a:lnTo>
                <a:lnTo>
                  <a:pt x="782241" y="412167"/>
                </a:lnTo>
                <a:lnTo>
                  <a:pt x="785717" y="411647"/>
                </a:lnTo>
                <a:lnTo>
                  <a:pt x="789194" y="411117"/>
                </a:lnTo>
                <a:lnTo>
                  <a:pt x="792671" y="410578"/>
                </a:lnTo>
                <a:lnTo>
                  <a:pt x="796147" y="410033"/>
                </a:lnTo>
                <a:lnTo>
                  <a:pt x="799624" y="409483"/>
                </a:lnTo>
                <a:lnTo>
                  <a:pt x="803100" y="408930"/>
                </a:lnTo>
                <a:lnTo>
                  <a:pt x="806577" y="408374"/>
                </a:lnTo>
                <a:lnTo>
                  <a:pt x="810054" y="407819"/>
                </a:lnTo>
                <a:lnTo>
                  <a:pt x="813530" y="407266"/>
                </a:lnTo>
                <a:lnTo>
                  <a:pt x="817007" y="406717"/>
                </a:lnTo>
                <a:lnTo>
                  <a:pt x="820483" y="406174"/>
                </a:lnTo>
                <a:lnTo>
                  <a:pt x="823960" y="405638"/>
                </a:lnTo>
                <a:lnTo>
                  <a:pt x="827437" y="405112"/>
                </a:lnTo>
                <a:lnTo>
                  <a:pt x="830913" y="404598"/>
                </a:lnTo>
                <a:lnTo>
                  <a:pt x="834390" y="404097"/>
                </a:lnTo>
                <a:lnTo>
                  <a:pt x="837867" y="403611"/>
                </a:lnTo>
                <a:lnTo>
                  <a:pt x="841343" y="403142"/>
                </a:lnTo>
                <a:lnTo>
                  <a:pt x="844820" y="402692"/>
                </a:lnTo>
                <a:lnTo>
                  <a:pt x="848296" y="402264"/>
                </a:lnTo>
                <a:lnTo>
                  <a:pt x="851773" y="401858"/>
                </a:lnTo>
                <a:lnTo>
                  <a:pt x="855250" y="401476"/>
                </a:lnTo>
                <a:lnTo>
                  <a:pt x="858726" y="401121"/>
                </a:lnTo>
                <a:lnTo>
                  <a:pt x="862203" y="400793"/>
                </a:lnTo>
                <a:lnTo>
                  <a:pt x="865680" y="400495"/>
                </a:lnTo>
                <a:lnTo>
                  <a:pt x="869156" y="400227"/>
                </a:lnTo>
                <a:lnTo>
                  <a:pt x="872633" y="399992"/>
                </a:lnTo>
                <a:lnTo>
                  <a:pt x="876110" y="399790"/>
                </a:lnTo>
                <a:lnTo>
                  <a:pt x="879586" y="399623"/>
                </a:lnTo>
                <a:lnTo>
                  <a:pt x="883063" y="399492"/>
                </a:lnTo>
                <a:lnTo>
                  <a:pt x="886539" y="399397"/>
                </a:lnTo>
                <a:lnTo>
                  <a:pt x="890016" y="399341"/>
                </a:lnTo>
                <a:lnTo>
                  <a:pt x="893493" y="399322"/>
                </a:lnTo>
                <a:lnTo>
                  <a:pt x="896969" y="399343"/>
                </a:lnTo>
                <a:lnTo>
                  <a:pt x="900446" y="399404"/>
                </a:lnTo>
                <a:lnTo>
                  <a:pt x="903922" y="399504"/>
                </a:lnTo>
                <a:lnTo>
                  <a:pt x="907399" y="399644"/>
                </a:lnTo>
                <a:lnTo>
                  <a:pt x="910876" y="399824"/>
                </a:lnTo>
                <a:lnTo>
                  <a:pt x="914352" y="400044"/>
                </a:lnTo>
                <a:lnTo>
                  <a:pt x="917829" y="400304"/>
                </a:lnTo>
                <a:lnTo>
                  <a:pt x="921306" y="400603"/>
                </a:lnTo>
                <a:lnTo>
                  <a:pt x="924782" y="400940"/>
                </a:lnTo>
                <a:lnTo>
                  <a:pt x="928259" y="401315"/>
                </a:lnTo>
                <a:lnTo>
                  <a:pt x="931735" y="401726"/>
                </a:lnTo>
                <a:lnTo>
                  <a:pt x="935212" y="402173"/>
                </a:lnTo>
                <a:lnTo>
                  <a:pt x="938689" y="402655"/>
                </a:lnTo>
                <a:lnTo>
                  <a:pt x="942165" y="403168"/>
                </a:lnTo>
                <a:lnTo>
                  <a:pt x="945642" y="403713"/>
                </a:lnTo>
                <a:lnTo>
                  <a:pt x="949119" y="404286"/>
                </a:lnTo>
                <a:lnTo>
                  <a:pt x="952595" y="404887"/>
                </a:lnTo>
                <a:lnTo>
                  <a:pt x="956072" y="405512"/>
                </a:lnTo>
                <a:lnTo>
                  <a:pt x="959549" y="406159"/>
                </a:lnTo>
                <a:lnTo>
                  <a:pt x="963025" y="406825"/>
                </a:lnTo>
                <a:lnTo>
                  <a:pt x="966502" y="407508"/>
                </a:lnTo>
                <a:lnTo>
                  <a:pt x="969978" y="408205"/>
                </a:lnTo>
                <a:lnTo>
                  <a:pt x="973455" y="408912"/>
                </a:lnTo>
                <a:lnTo>
                  <a:pt x="976932" y="409626"/>
                </a:lnTo>
                <a:lnTo>
                  <a:pt x="980408" y="410344"/>
                </a:lnTo>
                <a:lnTo>
                  <a:pt x="983885" y="411062"/>
                </a:lnTo>
                <a:lnTo>
                  <a:pt x="987361" y="411776"/>
                </a:lnTo>
                <a:lnTo>
                  <a:pt x="990838" y="412482"/>
                </a:lnTo>
                <a:lnTo>
                  <a:pt x="994315" y="413177"/>
                </a:lnTo>
                <a:lnTo>
                  <a:pt x="997791" y="413855"/>
                </a:lnTo>
                <a:lnTo>
                  <a:pt x="1001268" y="414513"/>
                </a:lnTo>
                <a:lnTo>
                  <a:pt x="1004745" y="415145"/>
                </a:lnTo>
                <a:lnTo>
                  <a:pt x="1008221" y="415749"/>
                </a:lnTo>
                <a:lnTo>
                  <a:pt x="1011698" y="416318"/>
                </a:lnTo>
                <a:lnTo>
                  <a:pt x="1015175" y="416848"/>
                </a:lnTo>
                <a:lnTo>
                  <a:pt x="1018651" y="417335"/>
                </a:lnTo>
                <a:lnTo>
                  <a:pt x="1022128" y="417773"/>
                </a:lnTo>
                <a:lnTo>
                  <a:pt x="1025604" y="418157"/>
                </a:lnTo>
                <a:lnTo>
                  <a:pt x="1029081" y="418483"/>
                </a:lnTo>
                <a:lnTo>
                  <a:pt x="1032558" y="418746"/>
                </a:lnTo>
                <a:lnTo>
                  <a:pt x="1036034" y="418939"/>
                </a:lnTo>
                <a:lnTo>
                  <a:pt x="1039511" y="419059"/>
                </a:lnTo>
                <a:lnTo>
                  <a:pt x="1042988" y="419100"/>
                </a:lnTo>
                <a:lnTo>
                  <a:pt x="1046464" y="419057"/>
                </a:lnTo>
                <a:lnTo>
                  <a:pt x="1049941" y="418926"/>
                </a:lnTo>
                <a:lnTo>
                  <a:pt x="1053417" y="418700"/>
                </a:lnTo>
                <a:lnTo>
                  <a:pt x="1056894" y="418376"/>
                </a:lnTo>
                <a:lnTo>
                  <a:pt x="1060371" y="417949"/>
                </a:lnTo>
                <a:lnTo>
                  <a:pt x="1063847" y="417413"/>
                </a:lnTo>
                <a:lnTo>
                  <a:pt x="1067324" y="416764"/>
                </a:lnTo>
                <a:lnTo>
                  <a:pt x="1070800" y="415997"/>
                </a:lnTo>
                <a:lnTo>
                  <a:pt x="1074277" y="415109"/>
                </a:lnTo>
                <a:lnTo>
                  <a:pt x="1077754" y="414094"/>
                </a:lnTo>
                <a:lnTo>
                  <a:pt x="1081230" y="412949"/>
                </a:lnTo>
                <a:lnTo>
                  <a:pt x="1084707" y="411669"/>
                </a:lnTo>
                <a:lnTo>
                  <a:pt x="1088184" y="410251"/>
                </a:lnTo>
                <a:lnTo>
                  <a:pt x="1091660" y="408691"/>
                </a:lnTo>
                <a:lnTo>
                  <a:pt x="1095137" y="406986"/>
                </a:lnTo>
                <a:lnTo>
                  <a:pt x="1098614" y="405133"/>
                </a:lnTo>
                <a:lnTo>
                  <a:pt x="1102090" y="403128"/>
                </a:lnTo>
                <a:lnTo>
                  <a:pt x="1105567" y="400968"/>
                </a:lnTo>
                <a:lnTo>
                  <a:pt x="1109043" y="398652"/>
                </a:lnTo>
                <a:lnTo>
                  <a:pt x="1112520" y="396177"/>
                </a:lnTo>
                <a:lnTo>
                  <a:pt x="1115997" y="393540"/>
                </a:lnTo>
                <a:lnTo>
                  <a:pt x="1119473" y="390741"/>
                </a:lnTo>
                <a:lnTo>
                  <a:pt x="1122950" y="387778"/>
                </a:lnTo>
                <a:lnTo>
                  <a:pt x="1126427" y="384649"/>
                </a:lnTo>
                <a:lnTo>
                  <a:pt x="1129903" y="381354"/>
                </a:lnTo>
                <a:lnTo>
                  <a:pt x="1133380" y="377893"/>
                </a:lnTo>
                <a:lnTo>
                  <a:pt x="1136856" y="374264"/>
                </a:lnTo>
                <a:lnTo>
                  <a:pt x="1140333" y="370469"/>
                </a:lnTo>
                <a:lnTo>
                  <a:pt x="1143810" y="366507"/>
                </a:lnTo>
                <a:lnTo>
                  <a:pt x="1147286" y="362380"/>
                </a:lnTo>
                <a:lnTo>
                  <a:pt x="1150763" y="358088"/>
                </a:lnTo>
                <a:lnTo>
                  <a:pt x="1154240" y="353633"/>
                </a:lnTo>
                <a:lnTo>
                  <a:pt x="1157716" y="349017"/>
                </a:lnTo>
                <a:lnTo>
                  <a:pt x="1161193" y="344241"/>
                </a:lnTo>
                <a:lnTo>
                  <a:pt x="1164669" y="339309"/>
                </a:lnTo>
                <a:lnTo>
                  <a:pt x="1168146" y="334223"/>
                </a:lnTo>
                <a:lnTo>
                  <a:pt x="1171623" y="328986"/>
                </a:lnTo>
                <a:lnTo>
                  <a:pt x="1175099" y="323603"/>
                </a:lnTo>
                <a:lnTo>
                  <a:pt x="1178576" y="318075"/>
                </a:lnTo>
                <a:lnTo>
                  <a:pt x="1182052" y="312409"/>
                </a:lnTo>
                <a:lnTo>
                  <a:pt x="1185529" y="306608"/>
                </a:lnTo>
                <a:lnTo>
                  <a:pt x="1189006" y="300677"/>
                </a:lnTo>
                <a:lnTo>
                  <a:pt x="1192482" y="294622"/>
                </a:lnTo>
                <a:lnTo>
                  <a:pt x="1195959" y="288447"/>
                </a:lnTo>
                <a:lnTo>
                  <a:pt x="1199436" y="282159"/>
                </a:lnTo>
                <a:lnTo>
                  <a:pt x="1202912" y="275764"/>
                </a:lnTo>
                <a:lnTo>
                  <a:pt x="1206389" y="269269"/>
                </a:lnTo>
                <a:lnTo>
                  <a:pt x="1209865" y="262679"/>
                </a:lnTo>
                <a:lnTo>
                  <a:pt x="1213342" y="256002"/>
                </a:lnTo>
                <a:lnTo>
                  <a:pt x="1216819" y="249245"/>
                </a:lnTo>
                <a:lnTo>
                  <a:pt x="1220295" y="242416"/>
                </a:lnTo>
                <a:lnTo>
                  <a:pt x="1223772" y="235522"/>
                </a:lnTo>
                <a:lnTo>
                  <a:pt x="1227249" y="228572"/>
                </a:lnTo>
                <a:lnTo>
                  <a:pt x="1230725" y="221573"/>
                </a:lnTo>
                <a:lnTo>
                  <a:pt x="1234202" y="214534"/>
                </a:lnTo>
                <a:lnTo>
                  <a:pt x="1237679" y="207464"/>
                </a:lnTo>
                <a:lnTo>
                  <a:pt x="1241155" y="200371"/>
                </a:lnTo>
                <a:lnTo>
                  <a:pt x="1244632" y="193264"/>
                </a:lnTo>
                <a:lnTo>
                  <a:pt x="1248108" y="186152"/>
                </a:lnTo>
                <a:lnTo>
                  <a:pt x="1251585" y="179045"/>
                </a:lnTo>
                <a:lnTo>
                  <a:pt x="1255062" y="171952"/>
                </a:lnTo>
                <a:lnTo>
                  <a:pt x="1258538" y="164881"/>
                </a:lnTo>
                <a:lnTo>
                  <a:pt x="1262015" y="157843"/>
                </a:lnTo>
                <a:lnTo>
                  <a:pt x="1265492" y="150847"/>
                </a:lnTo>
                <a:lnTo>
                  <a:pt x="1268968" y="143903"/>
                </a:lnTo>
                <a:lnTo>
                  <a:pt x="1272445" y="137020"/>
                </a:lnTo>
                <a:lnTo>
                  <a:pt x="1275921" y="130208"/>
                </a:lnTo>
                <a:lnTo>
                  <a:pt x="1279398" y="123476"/>
                </a:lnTo>
                <a:lnTo>
                  <a:pt x="1282875" y="116833"/>
                </a:lnTo>
                <a:lnTo>
                  <a:pt x="1286351" y="110290"/>
                </a:lnTo>
                <a:lnTo>
                  <a:pt x="1289828" y="103856"/>
                </a:lnTo>
                <a:lnTo>
                  <a:pt x="1293304" y="97540"/>
                </a:lnTo>
                <a:lnTo>
                  <a:pt x="1296781" y="91351"/>
                </a:lnTo>
                <a:lnTo>
                  <a:pt x="1300258" y="85298"/>
                </a:lnTo>
                <a:lnTo>
                  <a:pt x="1303734" y="79390"/>
                </a:lnTo>
                <a:lnTo>
                  <a:pt x="1307211" y="73637"/>
                </a:lnTo>
                <a:lnTo>
                  <a:pt x="1310688" y="68045"/>
                </a:lnTo>
                <a:lnTo>
                  <a:pt x="1314164" y="62625"/>
                </a:lnTo>
                <a:lnTo>
                  <a:pt x="1317641" y="57383"/>
                </a:lnTo>
                <a:lnTo>
                  <a:pt x="1321118" y="52329"/>
                </a:lnTo>
                <a:lnTo>
                  <a:pt x="1324594" y="47469"/>
                </a:lnTo>
                <a:lnTo>
                  <a:pt x="1328071" y="42811"/>
                </a:lnTo>
                <a:lnTo>
                  <a:pt x="1331547" y="38362"/>
                </a:lnTo>
                <a:lnTo>
                  <a:pt x="1335024" y="34129"/>
                </a:lnTo>
                <a:lnTo>
                  <a:pt x="1338501" y="30119"/>
                </a:lnTo>
                <a:lnTo>
                  <a:pt x="1341977" y="26337"/>
                </a:lnTo>
                <a:lnTo>
                  <a:pt x="1345454" y="22789"/>
                </a:lnTo>
                <a:lnTo>
                  <a:pt x="1348930" y="19482"/>
                </a:lnTo>
                <a:lnTo>
                  <a:pt x="1352407" y="16420"/>
                </a:lnTo>
                <a:lnTo>
                  <a:pt x="1355884" y="13608"/>
                </a:lnTo>
                <a:lnTo>
                  <a:pt x="1359360" y="11050"/>
                </a:lnTo>
                <a:lnTo>
                  <a:pt x="1362837" y="8750"/>
                </a:lnTo>
                <a:lnTo>
                  <a:pt x="1366314" y="6713"/>
                </a:lnTo>
                <a:lnTo>
                  <a:pt x="1369790" y="4940"/>
                </a:lnTo>
                <a:lnTo>
                  <a:pt x="1373267" y="3436"/>
                </a:lnTo>
                <a:lnTo>
                  <a:pt x="1376743" y="2201"/>
                </a:lnTo>
                <a:lnTo>
                  <a:pt x="1380220" y="1239"/>
                </a:lnTo>
                <a:lnTo>
                  <a:pt x="1383697" y="551"/>
                </a:lnTo>
                <a:lnTo>
                  <a:pt x="1387173" y="138"/>
                </a:lnTo>
                <a:lnTo>
                  <a:pt x="1390650" y="0"/>
                </a:lnTo>
                <a:lnTo>
                  <a:pt x="1394127" y="138"/>
                </a:lnTo>
                <a:lnTo>
                  <a:pt x="1397603" y="551"/>
                </a:lnTo>
                <a:lnTo>
                  <a:pt x="1401080" y="1239"/>
                </a:lnTo>
                <a:lnTo>
                  <a:pt x="1404557" y="2201"/>
                </a:lnTo>
                <a:lnTo>
                  <a:pt x="1408033" y="3436"/>
                </a:lnTo>
                <a:lnTo>
                  <a:pt x="1411510" y="4940"/>
                </a:lnTo>
                <a:lnTo>
                  <a:pt x="1414986" y="6713"/>
                </a:lnTo>
                <a:lnTo>
                  <a:pt x="1418463" y="8750"/>
                </a:lnTo>
                <a:lnTo>
                  <a:pt x="1421940" y="11050"/>
                </a:lnTo>
                <a:lnTo>
                  <a:pt x="1425416" y="13608"/>
                </a:lnTo>
                <a:lnTo>
                  <a:pt x="1428893" y="16420"/>
                </a:lnTo>
                <a:lnTo>
                  <a:pt x="1432370" y="19482"/>
                </a:lnTo>
                <a:lnTo>
                  <a:pt x="1435846" y="22789"/>
                </a:lnTo>
                <a:lnTo>
                  <a:pt x="1439323" y="26337"/>
                </a:lnTo>
                <a:lnTo>
                  <a:pt x="1442799" y="30119"/>
                </a:lnTo>
                <a:lnTo>
                  <a:pt x="1446276" y="34129"/>
                </a:lnTo>
                <a:lnTo>
                  <a:pt x="1449753" y="38362"/>
                </a:lnTo>
                <a:lnTo>
                  <a:pt x="1453229" y="42811"/>
                </a:lnTo>
                <a:lnTo>
                  <a:pt x="1456706" y="47469"/>
                </a:lnTo>
                <a:lnTo>
                  <a:pt x="1460182" y="52329"/>
                </a:lnTo>
                <a:lnTo>
                  <a:pt x="1463659" y="57383"/>
                </a:lnTo>
                <a:lnTo>
                  <a:pt x="1467136" y="62625"/>
                </a:lnTo>
                <a:lnTo>
                  <a:pt x="1470612" y="68045"/>
                </a:lnTo>
                <a:lnTo>
                  <a:pt x="1474089" y="73637"/>
                </a:lnTo>
                <a:lnTo>
                  <a:pt x="1477566" y="79390"/>
                </a:lnTo>
                <a:lnTo>
                  <a:pt x="1481042" y="85298"/>
                </a:lnTo>
                <a:lnTo>
                  <a:pt x="1484519" y="91351"/>
                </a:lnTo>
                <a:lnTo>
                  <a:pt x="1487996" y="97540"/>
                </a:lnTo>
                <a:lnTo>
                  <a:pt x="1491472" y="103856"/>
                </a:lnTo>
                <a:lnTo>
                  <a:pt x="1494949" y="110290"/>
                </a:lnTo>
                <a:lnTo>
                  <a:pt x="1498425" y="116833"/>
                </a:lnTo>
                <a:lnTo>
                  <a:pt x="1501902" y="123476"/>
                </a:lnTo>
                <a:lnTo>
                  <a:pt x="1505379" y="130208"/>
                </a:lnTo>
                <a:lnTo>
                  <a:pt x="1508855" y="137020"/>
                </a:lnTo>
                <a:lnTo>
                  <a:pt x="1512332" y="143903"/>
                </a:lnTo>
                <a:lnTo>
                  <a:pt x="1515808" y="150847"/>
                </a:lnTo>
                <a:lnTo>
                  <a:pt x="1519285" y="157843"/>
                </a:lnTo>
                <a:lnTo>
                  <a:pt x="1522762" y="164881"/>
                </a:lnTo>
                <a:lnTo>
                  <a:pt x="1526238" y="171952"/>
                </a:lnTo>
                <a:lnTo>
                  <a:pt x="1529715" y="179045"/>
                </a:lnTo>
                <a:lnTo>
                  <a:pt x="1533192" y="186152"/>
                </a:lnTo>
                <a:lnTo>
                  <a:pt x="1536668" y="193264"/>
                </a:lnTo>
                <a:lnTo>
                  <a:pt x="1540145" y="200371"/>
                </a:lnTo>
                <a:lnTo>
                  <a:pt x="1543621" y="207464"/>
                </a:lnTo>
                <a:lnTo>
                  <a:pt x="1547098" y="214534"/>
                </a:lnTo>
                <a:lnTo>
                  <a:pt x="1550575" y="221573"/>
                </a:lnTo>
                <a:lnTo>
                  <a:pt x="1554051" y="228572"/>
                </a:lnTo>
                <a:lnTo>
                  <a:pt x="1557528" y="235522"/>
                </a:lnTo>
                <a:lnTo>
                  <a:pt x="1561005" y="242416"/>
                </a:lnTo>
                <a:lnTo>
                  <a:pt x="1564481" y="249245"/>
                </a:lnTo>
                <a:lnTo>
                  <a:pt x="1567958" y="256002"/>
                </a:lnTo>
                <a:lnTo>
                  <a:pt x="1571435" y="262679"/>
                </a:lnTo>
                <a:lnTo>
                  <a:pt x="1574911" y="269269"/>
                </a:lnTo>
                <a:lnTo>
                  <a:pt x="1578388" y="275764"/>
                </a:lnTo>
                <a:lnTo>
                  <a:pt x="1581864" y="282159"/>
                </a:lnTo>
                <a:lnTo>
                  <a:pt x="1585341" y="288447"/>
                </a:lnTo>
                <a:lnTo>
                  <a:pt x="1588818" y="294622"/>
                </a:lnTo>
                <a:lnTo>
                  <a:pt x="1592294" y="300677"/>
                </a:lnTo>
                <a:lnTo>
                  <a:pt x="1595771" y="306608"/>
                </a:lnTo>
                <a:lnTo>
                  <a:pt x="1599248" y="312409"/>
                </a:lnTo>
                <a:lnTo>
                  <a:pt x="1602724" y="318075"/>
                </a:lnTo>
                <a:lnTo>
                  <a:pt x="1606201" y="323603"/>
                </a:lnTo>
                <a:lnTo>
                  <a:pt x="1609677" y="328986"/>
                </a:lnTo>
                <a:lnTo>
                  <a:pt x="1613154" y="334223"/>
                </a:lnTo>
                <a:lnTo>
                  <a:pt x="1616631" y="339309"/>
                </a:lnTo>
                <a:lnTo>
                  <a:pt x="1620107" y="344241"/>
                </a:lnTo>
                <a:lnTo>
                  <a:pt x="1623584" y="349017"/>
                </a:lnTo>
                <a:lnTo>
                  <a:pt x="1627060" y="353633"/>
                </a:lnTo>
                <a:lnTo>
                  <a:pt x="1630537" y="358088"/>
                </a:lnTo>
                <a:lnTo>
                  <a:pt x="1634014" y="362380"/>
                </a:lnTo>
                <a:lnTo>
                  <a:pt x="1637490" y="366507"/>
                </a:lnTo>
                <a:lnTo>
                  <a:pt x="1640967" y="370469"/>
                </a:lnTo>
                <a:lnTo>
                  <a:pt x="1644444" y="374264"/>
                </a:lnTo>
                <a:lnTo>
                  <a:pt x="1647920" y="377893"/>
                </a:lnTo>
                <a:lnTo>
                  <a:pt x="1651397" y="381354"/>
                </a:lnTo>
                <a:lnTo>
                  <a:pt x="1654874" y="384649"/>
                </a:lnTo>
                <a:lnTo>
                  <a:pt x="1658350" y="387778"/>
                </a:lnTo>
                <a:lnTo>
                  <a:pt x="1661827" y="390741"/>
                </a:lnTo>
                <a:lnTo>
                  <a:pt x="1665303" y="393540"/>
                </a:lnTo>
                <a:lnTo>
                  <a:pt x="1668780" y="396177"/>
                </a:lnTo>
                <a:lnTo>
                  <a:pt x="1672257" y="398652"/>
                </a:lnTo>
                <a:lnTo>
                  <a:pt x="1675733" y="400968"/>
                </a:lnTo>
                <a:lnTo>
                  <a:pt x="1679210" y="403128"/>
                </a:lnTo>
                <a:lnTo>
                  <a:pt x="1682687" y="405133"/>
                </a:lnTo>
                <a:lnTo>
                  <a:pt x="1686163" y="406986"/>
                </a:lnTo>
                <a:lnTo>
                  <a:pt x="1689640" y="408691"/>
                </a:lnTo>
                <a:lnTo>
                  <a:pt x="1693116" y="410251"/>
                </a:lnTo>
                <a:lnTo>
                  <a:pt x="1696593" y="411669"/>
                </a:lnTo>
                <a:lnTo>
                  <a:pt x="1700070" y="412949"/>
                </a:lnTo>
                <a:lnTo>
                  <a:pt x="1703546" y="414094"/>
                </a:lnTo>
                <a:lnTo>
                  <a:pt x="1707023" y="415109"/>
                </a:lnTo>
                <a:lnTo>
                  <a:pt x="1710499" y="415997"/>
                </a:lnTo>
                <a:lnTo>
                  <a:pt x="1713976" y="416764"/>
                </a:lnTo>
                <a:lnTo>
                  <a:pt x="1717453" y="417413"/>
                </a:lnTo>
                <a:lnTo>
                  <a:pt x="1720929" y="417949"/>
                </a:lnTo>
                <a:lnTo>
                  <a:pt x="1724406" y="418376"/>
                </a:lnTo>
                <a:lnTo>
                  <a:pt x="1727883" y="418700"/>
                </a:lnTo>
                <a:lnTo>
                  <a:pt x="1731359" y="418926"/>
                </a:lnTo>
                <a:lnTo>
                  <a:pt x="1734836" y="419057"/>
                </a:lnTo>
                <a:lnTo>
                  <a:pt x="1738313" y="419100"/>
                </a:lnTo>
                <a:lnTo>
                  <a:pt x="1741789" y="419059"/>
                </a:lnTo>
                <a:lnTo>
                  <a:pt x="1745266" y="418939"/>
                </a:lnTo>
                <a:lnTo>
                  <a:pt x="1748742" y="418746"/>
                </a:lnTo>
                <a:lnTo>
                  <a:pt x="1752219" y="418483"/>
                </a:lnTo>
                <a:lnTo>
                  <a:pt x="1755696" y="418157"/>
                </a:lnTo>
                <a:lnTo>
                  <a:pt x="1759172" y="417773"/>
                </a:lnTo>
                <a:lnTo>
                  <a:pt x="1762649" y="417335"/>
                </a:lnTo>
                <a:lnTo>
                  <a:pt x="1766126" y="416848"/>
                </a:lnTo>
                <a:lnTo>
                  <a:pt x="1769602" y="416318"/>
                </a:lnTo>
                <a:lnTo>
                  <a:pt x="1773079" y="415749"/>
                </a:lnTo>
                <a:lnTo>
                  <a:pt x="1776555" y="415145"/>
                </a:lnTo>
                <a:lnTo>
                  <a:pt x="1780032" y="414513"/>
                </a:lnTo>
                <a:lnTo>
                  <a:pt x="1783509" y="413855"/>
                </a:lnTo>
                <a:lnTo>
                  <a:pt x="1786985" y="413177"/>
                </a:lnTo>
                <a:lnTo>
                  <a:pt x="1790462" y="412482"/>
                </a:lnTo>
                <a:lnTo>
                  <a:pt x="1793938" y="411776"/>
                </a:lnTo>
                <a:lnTo>
                  <a:pt x="1797415" y="411062"/>
                </a:lnTo>
                <a:lnTo>
                  <a:pt x="1800892" y="410344"/>
                </a:lnTo>
                <a:lnTo>
                  <a:pt x="1804368" y="409626"/>
                </a:lnTo>
                <a:lnTo>
                  <a:pt x="1807845" y="408912"/>
                </a:lnTo>
                <a:lnTo>
                  <a:pt x="1811322" y="408205"/>
                </a:lnTo>
                <a:lnTo>
                  <a:pt x="1814798" y="407508"/>
                </a:lnTo>
                <a:lnTo>
                  <a:pt x="1818275" y="406825"/>
                </a:lnTo>
                <a:lnTo>
                  <a:pt x="1821752" y="406159"/>
                </a:lnTo>
                <a:lnTo>
                  <a:pt x="1825228" y="405512"/>
                </a:lnTo>
                <a:lnTo>
                  <a:pt x="1828705" y="404887"/>
                </a:lnTo>
                <a:lnTo>
                  <a:pt x="1832181" y="404286"/>
                </a:lnTo>
                <a:lnTo>
                  <a:pt x="1835658" y="403713"/>
                </a:lnTo>
                <a:lnTo>
                  <a:pt x="1839135" y="403168"/>
                </a:lnTo>
                <a:lnTo>
                  <a:pt x="1842611" y="402655"/>
                </a:lnTo>
                <a:lnTo>
                  <a:pt x="1846088" y="402173"/>
                </a:lnTo>
                <a:lnTo>
                  <a:pt x="1849565" y="401726"/>
                </a:lnTo>
                <a:lnTo>
                  <a:pt x="1853041" y="401315"/>
                </a:lnTo>
                <a:lnTo>
                  <a:pt x="1856518" y="400940"/>
                </a:lnTo>
                <a:lnTo>
                  <a:pt x="1859994" y="400603"/>
                </a:lnTo>
                <a:lnTo>
                  <a:pt x="1863471" y="400304"/>
                </a:lnTo>
                <a:lnTo>
                  <a:pt x="1866948" y="400044"/>
                </a:lnTo>
                <a:lnTo>
                  <a:pt x="1870424" y="399824"/>
                </a:lnTo>
                <a:lnTo>
                  <a:pt x="1873901" y="399644"/>
                </a:lnTo>
                <a:lnTo>
                  <a:pt x="1877377" y="399504"/>
                </a:lnTo>
                <a:lnTo>
                  <a:pt x="1880854" y="399404"/>
                </a:lnTo>
                <a:lnTo>
                  <a:pt x="1884331" y="399343"/>
                </a:lnTo>
                <a:lnTo>
                  <a:pt x="1887807" y="399322"/>
                </a:lnTo>
                <a:lnTo>
                  <a:pt x="1891284" y="399341"/>
                </a:lnTo>
                <a:lnTo>
                  <a:pt x="1894761" y="399397"/>
                </a:lnTo>
                <a:lnTo>
                  <a:pt x="1898237" y="399492"/>
                </a:lnTo>
                <a:lnTo>
                  <a:pt x="1901714" y="399623"/>
                </a:lnTo>
                <a:lnTo>
                  <a:pt x="1905190" y="399790"/>
                </a:lnTo>
                <a:lnTo>
                  <a:pt x="1908667" y="399992"/>
                </a:lnTo>
                <a:lnTo>
                  <a:pt x="1912144" y="400227"/>
                </a:lnTo>
                <a:lnTo>
                  <a:pt x="1915620" y="400495"/>
                </a:lnTo>
                <a:lnTo>
                  <a:pt x="1919097" y="400793"/>
                </a:lnTo>
                <a:lnTo>
                  <a:pt x="1922574" y="401121"/>
                </a:lnTo>
                <a:lnTo>
                  <a:pt x="1926050" y="401476"/>
                </a:lnTo>
                <a:lnTo>
                  <a:pt x="1929527" y="401858"/>
                </a:lnTo>
                <a:lnTo>
                  <a:pt x="1933004" y="402264"/>
                </a:lnTo>
                <a:lnTo>
                  <a:pt x="1936480" y="402692"/>
                </a:lnTo>
                <a:lnTo>
                  <a:pt x="1939957" y="403142"/>
                </a:lnTo>
                <a:lnTo>
                  <a:pt x="1943433" y="403611"/>
                </a:lnTo>
                <a:lnTo>
                  <a:pt x="1946910" y="404097"/>
                </a:lnTo>
                <a:lnTo>
                  <a:pt x="1950387" y="404598"/>
                </a:lnTo>
                <a:lnTo>
                  <a:pt x="1953863" y="405112"/>
                </a:lnTo>
                <a:lnTo>
                  <a:pt x="1957340" y="405638"/>
                </a:lnTo>
                <a:lnTo>
                  <a:pt x="1960817" y="406174"/>
                </a:lnTo>
                <a:lnTo>
                  <a:pt x="1964293" y="406717"/>
                </a:lnTo>
                <a:lnTo>
                  <a:pt x="1967770" y="407266"/>
                </a:lnTo>
                <a:lnTo>
                  <a:pt x="1971246" y="407819"/>
                </a:lnTo>
                <a:lnTo>
                  <a:pt x="1974723" y="408374"/>
                </a:lnTo>
                <a:lnTo>
                  <a:pt x="1978200" y="408930"/>
                </a:lnTo>
                <a:lnTo>
                  <a:pt x="1981676" y="409483"/>
                </a:lnTo>
                <a:lnTo>
                  <a:pt x="1985153" y="410033"/>
                </a:lnTo>
                <a:lnTo>
                  <a:pt x="1988629" y="410578"/>
                </a:lnTo>
                <a:lnTo>
                  <a:pt x="1992106" y="411117"/>
                </a:lnTo>
                <a:lnTo>
                  <a:pt x="1995583" y="411647"/>
                </a:lnTo>
                <a:lnTo>
                  <a:pt x="1999059" y="412167"/>
                </a:lnTo>
                <a:lnTo>
                  <a:pt x="2002536" y="412676"/>
                </a:lnTo>
                <a:lnTo>
                  <a:pt x="2006013" y="413172"/>
                </a:lnTo>
                <a:lnTo>
                  <a:pt x="2009489" y="413655"/>
                </a:lnTo>
                <a:lnTo>
                  <a:pt x="2012966" y="414121"/>
                </a:lnTo>
                <a:lnTo>
                  <a:pt x="2016443" y="414572"/>
                </a:lnTo>
                <a:lnTo>
                  <a:pt x="2019919" y="415005"/>
                </a:lnTo>
                <a:lnTo>
                  <a:pt x="2023396" y="415419"/>
                </a:lnTo>
                <a:lnTo>
                  <a:pt x="2026872" y="415814"/>
                </a:lnTo>
                <a:lnTo>
                  <a:pt x="2030349" y="416189"/>
                </a:lnTo>
                <a:lnTo>
                  <a:pt x="2033826" y="416543"/>
                </a:lnTo>
                <a:lnTo>
                  <a:pt x="2037302" y="416875"/>
                </a:lnTo>
                <a:lnTo>
                  <a:pt x="2040779" y="417185"/>
                </a:lnTo>
                <a:lnTo>
                  <a:pt x="2044255" y="417472"/>
                </a:lnTo>
                <a:lnTo>
                  <a:pt x="2047732" y="417736"/>
                </a:lnTo>
                <a:lnTo>
                  <a:pt x="2051209" y="417977"/>
                </a:lnTo>
                <a:lnTo>
                  <a:pt x="2054685" y="418194"/>
                </a:lnTo>
                <a:lnTo>
                  <a:pt x="2058162" y="418388"/>
                </a:lnTo>
                <a:lnTo>
                  <a:pt x="2061639" y="418558"/>
                </a:lnTo>
                <a:lnTo>
                  <a:pt x="2065115" y="418704"/>
                </a:lnTo>
                <a:lnTo>
                  <a:pt x="2068592" y="418827"/>
                </a:lnTo>
                <a:lnTo>
                  <a:pt x="2072068" y="418926"/>
                </a:lnTo>
                <a:lnTo>
                  <a:pt x="2075545" y="419003"/>
                </a:lnTo>
                <a:lnTo>
                  <a:pt x="2079022" y="419057"/>
                </a:lnTo>
                <a:lnTo>
                  <a:pt x="2082498" y="419089"/>
                </a:lnTo>
                <a:lnTo>
                  <a:pt x="2085975" y="419100"/>
                </a:lnTo>
                <a:lnTo>
                  <a:pt x="2089452" y="419090"/>
                </a:lnTo>
                <a:lnTo>
                  <a:pt x="2092928" y="419059"/>
                </a:lnTo>
                <a:lnTo>
                  <a:pt x="2096405" y="419009"/>
                </a:lnTo>
                <a:lnTo>
                  <a:pt x="2099882" y="418940"/>
                </a:lnTo>
                <a:lnTo>
                  <a:pt x="2103358" y="418853"/>
                </a:lnTo>
                <a:lnTo>
                  <a:pt x="2106835" y="418749"/>
                </a:lnTo>
                <a:lnTo>
                  <a:pt x="2110311" y="418628"/>
                </a:lnTo>
                <a:lnTo>
                  <a:pt x="2113788" y="418493"/>
                </a:lnTo>
                <a:lnTo>
                  <a:pt x="2117265" y="418343"/>
                </a:lnTo>
                <a:lnTo>
                  <a:pt x="2120741" y="418181"/>
                </a:lnTo>
                <a:lnTo>
                  <a:pt x="2124218" y="418006"/>
                </a:lnTo>
                <a:lnTo>
                  <a:pt x="2127695" y="417820"/>
                </a:lnTo>
                <a:lnTo>
                  <a:pt x="2131171" y="417624"/>
                </a:lnTo>
                <a:lnTo>
                  <a:pt x="2134648" y="417419"/>
                </a:lnTo>
                <a:lnTo>
                  <a:pt x="2138124" y="417207"/>
                </a:lnTo>
                <a:lnTo>
                  <a:pt x="2141601" y="416988"/>
                </a:lnTo>
                <a:lnTo>
                  <a:pt x="2145078" y="416763"/>
                </a:lnTo>
                <a:lnTo>
                  <a:pt x="2148554" y="416535"/>
                </a:lnTo>
                <a:lnTo>
                  <a:pt x="2152031" y="416303"/>
                </a:lnTo>
                <a:lnTo>
                  <a:pt x="2155507" y="416069"/>
                </a:lnTo>
                <a:lnTo>
                  <a:pt x="2158984" y="415834"/>
                </a:lnTo>
                <a:lnTo>
                  <a:pt x="2162461" y="415599"/>
                </a:lnTo>
                <a:lnTo>
                  <a:pt x="2165937" y="415366"/>
                </a:lnTo>
                <a:lnTo>
                  <a:pt x="2169414" y="415134"/>
                </a:lnTo>
                <a:lnTo>
                  <a:pt x="2172891" y="414906"/>
                </a:lnTo>
                <a:lnTo>
                  <a:pt x="2176367" y="414682"/>
                </a:lnTo>
                <a:lnTo>
                  <a:pt x="2179844" y="414463"/>
                </a:lnTo>
                <a:lnTo>
                  <a:pt x="2183321" y="414250"/>
                </a:lnTo>
                <a:lnTo>
                  <a:pt x="2186797" y="414044"/>
                </a:lnTo>
                <a:lnTo>
                  <a:pt x="2190274" y="413846"/>
                </a:lnTo>
                <a:lnTo>
                  <a:pt x="2193750" y="413656"/>
                </a:lnTo>
                <a:lnTo>
                  <a:pt x="2197227" y="413476"/>
                </a:lnTo>
                <a:lnTo>
                  <a:pt x="2200704" y="413305"/>
                </a:lnTo>
                <a:lnTo>
                  <a:pt x="2204180" y="413145"/>
                </a:lnTo>
                <a:lnTo>
                  <a:pt x="2207657" y="412996"/>
                </a:lnTo>
                <a:lnTo>
                  <a:pt x="2211133" y="412858"/>
                </a:lnTo>
                <a:lnTo>
                  <a:pt x="2214610" y="412732"/>
                </a:lnTo>
                <a:lnTo>
                  <a:pt x="2218087" y="412619"/>
                </a:lnTo>
                <a:lnTo>
                  <a:pt x="2221563" y="412519"/>
                </a:lnTo>
                <a:lnTo>
                  <a:pt x="2225040" y="412432"/>
                </a:lnTo>
                <a:lnTo>
                  <a:pt x="2228517" y="412358"/>
                </a:lnTo>
                <a:lnTo>
                  <a:pt x="2231993" y="412298"/>
                </a:lnTo>
                <a:lnTo>
                  <a:pt x="2235470" y="412251"/>
                </a:lnTo>
                <a:lnTo>
                  <a:pt x="2238946" y="412218"/>
                </a:lnTo>
                <a:lnTo>
                  <a:pt x="2242423" y="412199"/>
                </a:lnTo>
                <a:lnTo>
                  <a:pt x="2245900" y="412193"/>
                </a:lnTo>
                <a:lnTo>
                  <a:pt x="2249376" y="412201"/>
                </a:lnTo>
                <a:lnTo>
                  <a:pt x="2252853" y="412223"/>
                </a:lnTo>
                <a:lnTo>
                  <a:pt x="2256330" y="412258"/>
                </a:lnTo>
                <a:lnTo>
                  <a:pt x="2259806" y="412306"/>
                </a:lnTo>
                <a:lnTo>
                  <a:pt x="2263283" y="412366"/>
                </a:lnTo>
                <a:lnTo>
                  <a:pt x="2266760" y="412440"/>
                </a:lnTo>
                <a:lnTo>
                  <a:pt x="2270236" y="412525"/>
                </a:lnTo>
                <a:lnTo>
                  <a:pt x="2273713" y="412622"/>
                </a:lnTo>
                <a:lnTo>
                  <a:pt x="2277189" y="412729"/>
                </a:lnTo>
                <a:lnTo>
                  <a:pt x="2280666" y="412848"/>
                </a:lnTo>
                <a:lnTo>
                  <a:pt x="2284143" y="412977"/>
                </a:lnTo>
                <a:lnTo>
                  <a:pt x="2287619" y="413115"/>
                </a:lnTo>
                <a:lnTo>
                  <a:pt x="2291096" y="413263"/>
                </a:lnTo>
                <a:lnTo>
                  <a:pt x="2294573" y="413418"/>
                </a:lnTo>
                <a:lnTo>
                  <a:pt x="2298049" y="413582"/>
                </a:lnTo>
                <a:lnTo>
                  <a:pt x="2301526" y="413752"/>
                </a:lnTo>
                <a:lnTo>
                  <a:pt x="2305002" y="413929"/>
                </a:lnTo>
                <a:lnTo>
                  <a:pt x="2308479" y="414112"/>
                </a:lnTo>
                <a:lnTo>
                  <a:pt x="2311956" y="414299"/>
                </a:lnTo>
                <a:lnTo>
                  <a:pt x="2315432" y="414491"/>
                </a:lnTo>
                <a:lnTo>
                  <a:pt x="2318909" y="414687"/>
                </a:lnTo>
                <a:lnTo>
                  <a:pt x="2322385" y="414885"/>
                </a:lnTo>
                <a:lnTo>
                  <a:pt x="2325862" y="415086"/>
                </a:lnTo>
                <a:lnTo>
                  <a:pt x="2329339" y="415288"/>
                </a:lnTo>
                <a:lnTo>
                  <a:pt x="2332815" y="415490"/>
                </a:lnTo>
                <a:lnTo>
                  <a:pt x="2336292" y="415692"/>
                </a:lnTo>
                <a:lnTo>
                  <a:pt x="2339769" y="415894"/>
                </a:lnTo>
                <a:lnTo>
                  <a:pt x="2343245" y="416094"/>
                </a:lnTo>
                <a:lnTo>
                  <a:pt x="2346722" y="416292"/>
                </a:lnTo>
                <a:lnTo>
                  <a:pt x="2350199" y="416488"/>
                </a:lnTo>
                <a:lnTo>
                  <a:pt x="2353675" y="416680"/>
                </a:lnTo>
                <a:lnTo>
                  <a:pt x="2357152" y="416868"/>
                </a:lnTo>
                <a:lnTo>
                  <a:pt x="2360628" y="417051"/>
                </a:lnTo>
                <a:lnTo>
                  <a:pt x="2364105" y="417229"/>
                </a:lnTo>
                <a:lnTo>
                  <a:pt x="2367582" y="417401"/>
                </a:lnTo>
                <a:lnTo>
                  <a:pt x="2371058" y="417567"/>
                </a:lnTo>
                <a:lnTo>
                  <a:pt x="2374535" y="417726"/>
                </a:lnTo>
                <a:lnTo>
                  <a:pt x="2378012" y="417878"/>
                </a:lnTo>
                <a:lnTo>
                  <a:pt x="2381488" y="418022"/>
                </a:lnTo>
                <a:lnTo>
                  <a:pt x="2384965" y="418159"/>
                </a:lnTo>
                <a:lnTo>
                  <a:pt x="2388441" y="418287"/>
                </a:lnTo>
                <a:lnTo>
                  <a:pt x="2391918" y="418406"/>
                </a:lnTo>
                <a:lnTo>
                  <a:pt x="2395395" y="418517"/>
                </a:lnTo>
                <a:lnTo>
                  <a:pt x="2398871" y="418618"/>
                </a:lnTo>
                <a:lnTo>
                  <a:pt x="2402348" y="418710"/>
                </a:lnTo>
                <a:lnTo>
                  <a:pt x="2405824" y="418792"/>
                </a:lnTo>
                <a:lnTo>
                  <a:pt x="2409301" y="418865"/>
                </a:lnTo>
                <a:lnTo>
                  <a:pt x="2412778" y="418928"/>
                </a:lnTo>
                <a:lnTo>
                  <a:pt x="2416254" y="418981"/>
                </a:lnTo>
                <a:lnTo>
                  <a:pt x="2419731" y="419024"/>
                </a:lnTo>
                <a:lnTo>
                  <a:pt x="2423208" y="419057"/>
                </a:lnTo>
                <a:lnTo>
                  <a:pt x="2426684" y="419081"/>
                </a:lnTo>
                <a:lnTo>
                  <a:pt x="2430161" y="419095"/>
                </a:lnTo>
                <a:lnTo>
                  <a:pt x="2433638" y="419100"/>
                </a:lnTo>
                <a:lnTo>
                  <a:pt x="2437114" y="419095"/>
                </a:lnTo>
                <a:lnTo>
                  <a:pt x="2440591" y="419082"/>
                </a:lnTo>
                <a:lnTo>
                  <a:pt x="2444067" y="419059"/>
                </a:lnTo>
                <a:lnTo>
                  <a:pt x="2447544" y="419028"/>
                </a:lnTo>
                <a:lnTo>
                  <a:pt x="2451021" y="418988"/>
                </a:lnTo>
                <a:lnTo>
                  <a:pt x="2454497" y="418941"/>
                </a:lnTo>
                <a:lnTo>
                  <a:pt x="2457974" y="418886"/>
                </a:lnTo>
                <a:lnTo>
                  <a:pt x="2461451" y="418823"/>
                </a:lnTo>
                <a:lnTo>
                  <a:pt x="2464927" y="418754"/>
                </a:lnTo>
                <a:lnTo>
                  <a:pt x="2468404" y="418678"/>
                </a:lnTo>
                <a:lnTo>
                  <a:pt x="2471880" y="418596"/>
                </a:lnTo>
                <a:lnTo>
                  <a:pt x="2475357" y="418509"/>
                </a:lnTo>
                <a:lnTo>
                  <a:pt x="2478834" y="418416"/>
                </a:lnTo>
                <a:lnTo>
                  <a:pt x="2482310" y="418319"/>
                </a:lnTo>
                <a:lnTo>
                  <a:pt x="2485787" y="418218"/>
                </a:lnTo>
                <a:lnTo>
                  <a:pt x="2489263" y="418113"/>
                </a:lnTo>
                <a:lnTo>
                  <a:pt x="2492740" y="418005"/>
                </a:lnTo>
                <a:lnTo>
                  <a:pt x="2496217" y="417894"/>
                </a:lnTo>
                <a:lnTo>
                  <a:pt x="2499693" y="417782"/>
                </a:lnTo>
                <a:lnTo>
                  <a:pt x="2503170" y="417667"/>
                </a:lnTo>
                <a:lnTo>
                  <a:pt x="2506647" y="417552"/>
                </a:lnTo>
                <a:lnTo>
                  <a:pt x="2510123" y="417436"/>
                </a:lnTo>
                <a:lnTo>
                  <a:pt x="2513600" y="417320"/>
                </a:lnTo>
                <a:lnTo>
                  <a:pt x="2517077" y="417204"/>
                </a:lnTo>
                <a:lnTo>
                  <a:pt x="2520553" y="417090"/>
                </a:lnTo>
                <a:lnTo>
                  <a:pt x="2524030" y="416977"/>
                </a:lnTo>
                <a:lnTo>
                  <a:pt x="2527506" y="416866"/>
                </a:lnTo>
                <a:lnTo>
                  <a:pt x="2530983" y="416757"/>
                </a:lnTo>
                <a:lnTo>
                  <a:pt x="2534460" y="416651"/>
                </a:lnTo>
                <a:lnTo>
                  <a:pt x="2537936" y="416548"/>
                </a:lnTo>
                <a:lnTo>
                  <a:pt x="2541413" y="416449"/>
                </a:lnTo>
                <a:lnTo>
                  <a:pt x="2544890" y="416354"/>
                </a:lnTo>
                <a:lnTo>
                  <a:pt x="2548366" y="416263"/>
                </a:lnTo>
                <a:lnTo>
                  <a:pt x="2551843" y="416177"/>
                </a:lnTo>
                <a:lnTo>
                  <a:pt x="2555319" y="416096"/>
                </a:lnTo>
                <a:lnTo>
                  <a:pt x="2558796" y="416021"/>
                </a:lnTo>
                <a:lnTo>
                  <a:pt x="2562273" y="415951"/>
                </a:lnTo>
                <a:lnTo>
                  <a:pt x="2565749" y="415887"/>
                </a:lnTo>
                <a:lnTo>
                  <a:pt x="2569226" y="415829"/>
                </a:lnTo>
                <a:lnTo>
                  <a:pt x="2572702" y="415777"/>
                </a:lnTo>
                <a:lnTo>
                  <a:pt x="2576179" y="415732"/>
                </a:lnTo>
                <a:lnTo>
                  <a:pt x="2579656" y="415694"/>
                </a:lnTo>
                <a:lnTo>
                  <a:pt x="2583132" y="415662"/>
                </a:lnTo>
                <a:lnTo>
                  <a:pt x="2586609" y="415638"/>
                </a:lnTo>
                <a:lnTo>
                  <a:pt x="2590086" y="415620"/>
                </a:lnTo>
                <a:lnTo>
                  <a:pt x="2593562" y="415609"/>
                </a:lnTo>
                <a:lnTo>
                  <a:pt x="2597039" y="415605"/>
                </a:lnTo>
                <a:lnTo>
                  <a:pt x="2600516" y="415607"/>
                </a:lnTo>
                <a:lnTo>
                  <a:pt x="2603992" y="415617"/>
                </a:lnTo>
                <a:lnTo>
                  <a:pt x="2607469" y="415634"/>
                </a:lnTo>
                <a:lnTo>
                  <a:pt x="2610945" y="415657"/>
                </a:lnTo>
                <a:lnTo>
                  <a:pt x="2614422" y="415686"/>
                </a:lnTo>
                <a:lnTo>
                  <a:pt x="2617899" y="415722"/>
                </a:lnTo>
                <a:lnTo>
                  <a:pt x="2621375" y="415765"/>
                </a:lnTo>
                <a:lnTo>
                  <a:pt x="2624852" y="415813"/>
                </a:lnTo>
                <a:lnTo>
                  <a:pt x="2628329" y="415867"/>
                </a:lnTo>
                <a:lnTo>
                  <a:pt x="2631805" y="415927"/>
                </a:lnTo>
                <a:lnTo>
                  <a:pt x="2635282" y="415992"/>
                </a:lnTo>
                <a:lnTo>
                  <a:pt x="2638758" y="416062"/>
                </a:lnTo>
                <a:lnTo>
                  <a:pt x="2642235" y="416136"/>
                </a:lnTo>
                <a:lnTo>
                  <a:pt x="2645712" y="416215"/>
                </a:lnTo>
                <a:lnTo>
                  <a:pt x="2649188" y="416299"/>
                </a:lnTo>
                <a:lnTo>
                  <a:pt x="2652665" y="416386"/>
                </a:lnTo>
                <a:lnTo>
                  <a:pt x="2656142" y="416476"/>
                </a:lnTo>
                <a:lnTo>
                  <a:pt x="2659618" y="416570"/>
                </a:lnTo>
                <a:lnTo>
                  <a:pt x="2663095" y="416666"/>
                </a:lnTo>
                <a:lnTo>
                  <a:pt x="2666571" y="416764"/>
                </a:lnTo>
                <a:lnTo>
                  <a:pt x="2670048" y="416865"/>
                </a:lnTo>
                <a:lnTo>
                  <a:pt x="2673525" y="416967"/>
                </a:lnTo>
                <a:lnTo>
                  <a:pt x="2677001" y="417070"/>
                </a:lnTo>
                <a:lnTo>
                  <a:pt x="2680478" y="417174"/>
                </a:lnTo>
                <a:lnTo>
                  <a:pt x="2683954" y="417278"/>
                </a:lnTo>
                <a:lnTo>
                  <a:pt x="2687431" y="417383"/>
                </a:lnTo>
                <a:lnTo>
                  <a:pt x="2690908" y="417487"/>
                </a:lnTo>
                <a:lnTo>
                  <a:pt x="2694384" y="417590"/>
                </a:lnTo>
                <a:lnTo>
                  <a:pt x="2697861" y="417692"/>
                </a:lnTo>
                <a:lnTo>
                  <a:pt x="2701338" y="417793"/>
                </a:lnTo>
                <a:lnTo>
                  <a:pt x="2704814" y="417892"/>
                </a:lnTo>
                <a:lnTo>
                  <a:pt x="2708291" y="417989"/>
                </a:lnTo>
                <a:lnTo>
                  <a:pt x="2711768" y="418084"/>
                </a:lnTo>
                <a:lnTo>
                  <a:pt x="2715244" y="418176"/>
                </a:lnTo>
                <a:lnTo>
                  <a:pt x="2718721" y="418265"/>
                </a:lnTo>
                <a:lnTo>
                  <a:pt x="2722197" y="418350"/>
                </a:lnTo>
                <a:lnTo>
                  <a:pt x="2725674" y="418432"/>
                </a:lnTo>
                <a:lnTo>
                  <a:pt x="2729151" y="418510"/>
                </a:lnTo>
                <a:lnTo>
                  <a:pt x="2732627" y="418583"/>
                </a:lnTo>
                <a:lnTo>
                  <a:pt x="2736104" y="418653"/>
                </a:lnTo>
                <a:lnTo>
                  <a:pt x="2739580" y="418718"/>
                </a:lnTo>
                <a:lnTo>
                  <a:pt x="2743057" y="418778"/>
                </a:lnTo>
                <a:lnTo>
                  <a:pt x="2746534" y="418833"/>
                </a:lnTo>
                <a:lnTo>
                  <a:pt x="2750010" y="418884"/>
                </a:lnTo>
                <a:lnTo>
                  <a:pt x="2753487" y="418929"/>
                </a:lnTo>
                <a:lnTo>
                  <a:pt x="2756964" y="418969"/>
                </a:lnTo>
                <a:lnTo>
                  <a:pt x="2760440" y="419004"/>
                </a:lnTo>
                <a:lnTo>
                  <a:pt x="2763917" y="419033"/>
                </a:lnTo>
                <a:lnTo>
                  <a:pt x="2767393" y="419057"/>
                </a:lnTo>
                <a:lnTo>
                  <a:pt x="2770870" y="419076"/>
                </a:lnTo>
                <a:lnTo>
                  <a:pt x="2774347" y="419089"/>
                </a:lnTo>
                <a:lnTo>
                  <a:pt x="2777823" y="419097"/>
                </a:lnTo>
                <a:lnTo>
                  <a:pt x="2781300" y="419100"/>
                </a:lnTo>
              </a:path>
            </a:pathLst>
          </a:custGeom>
          <a:noFill xmlns:a="http://schemas.openxmlformats.org/drawingml/2006/main"/>
          <a:ln xmlns:a="http://schemas.openxmlformats.org/drawingml/2006/main" w="15240">
            <a:solidFill>
              <a:srgbClr val="202020"/>
            </a:solidFill>
          </a:ln>
        </p:spPr>
      </p:sp>
      <p:pic>
        <p:nvPicPr>
          <p:cNvPr id="69" name="!!dsbsc-route-m" descr="m(t)">
            <ns0:hlinkClick xmlns:ns0="http://schemas.openxmlformats.org/drawingml/2006/main" xmlns:ns1="http://schemas.openxmlformats.org/officeDocument/2006/relationships" ns1:id="rIdmethods_Link11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80eb106450fa4bdb">
            <a:extLst>
              <a:ext uri="{96DAC541-7B7A-43D3-8B79-37D633B846F1}">
                <ns0:svgBlip xmlns:ns0="http://schemas.microsoft.com/office/drawing/2016/SVG/main" r:embed="rIdVectormf00517"/>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70" name="!!dsbsc-route-s" descr="s(t)">
            <ns0:hlinkClick xmlns:ns0="http://schemas.openxmlformats.org/drawingml/2006/main" xmlns:ns1="http://schemas.openxmlformats.org/officeDocument/2006/relationships" ns1:id="rIdmethods_Link116"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8d623a489524984">
            <a:extLst>
              <a:ext uri="{96DAC541-7B7A-43D3-8B79-37D633B846F1}">
                <ns1:svgBlip xmlns:ns1="http://schemas.microsoft.com/office/drawing/2016/SVG/main" r:embed="rIdVectormf00518"/>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71" name="!!dsbsc-route-restored" descr="m(t)">
            <ns0:hlinkClick xmlns:ns0="http://schemas.openxmlformats.org/drawingml/2006/main" xmlns:ns1="http://schemas.openxmlformats.org/officeDocument/2006/relationships" ns1:id="rIdmethods_Link11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b7e67a689ca24e37">
            <a:extLst>
              <a:ext uri="{96DAC541-7B7A-43D3-8B79-37D633B846F1}">
                <ns2:svgBlip xmlns:ns2="http://schemas.microsoft.com/office/drawing/2016/SVG/main" r:embed="rIdVectormf00519"/>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72" name="!!dsbsc-dsb-gain-g0-r0-domain" descr="f"/>
          <p:cNvPicPr>
            <a:picLocks xmlns:a="http://schemas.openxmlformats.org/drawingml/2006/main" noChangeAspect="1"/>
          </p:cNvPicPr>
          <p:nvPr/>
        </p:nvPicPr>
        <p:blipFill>
          <a:blip xmlns:r="http://schemas.openxmlformats.org/officeDocument/2006/relationships" xmlns:a="http://schemas.openxmlformats.org/drawingml/2006/main" r:embed="R117cf3ee3d2d473c">
            <a:extLst>
              <a:ext uri="{96DAC541-7B7A-43D3-8B79-37D633B846F1}">
                <ns3:svgBlip xmlns:ns3="http://schemas.microsoft.com/office/drawing/2016/SVG/main" r:embed="rIdVectormf00520"/>
              </a:ext>
            </a:extLst>
          </a:blip>
          <a:stretch xmlns:a="http://schemas.openxmlformats.org/drawingml/2006/main"/>
        </p:blipFill>
        <p:spPr>
          <a:xfrm xmlns:a="http://schemas.openxmlformats.org/drawingml/2006/main">
            <a:off x="3374873" y="3311843"/>
            <a:ext cx="79678" cy="120015"/>
          </a:xfrm>
          <a:prstGeom xmlns:a="http://schemas.openxmlformats.org/drawingml/2006/main" prst="rect">
            <a:avLst/>
          </a:prstGeom>
        </p:spPr>
      </p:pic>
      <p:pic>
        <p:nvPicPr>
          <p:cNvPr id="73" name="!!dsbsc-dsb-gain-g0-r0-ticklabel0" descr="-W"/>
          <p:cNvPicPr>
            <a:picLocks xmlns:a="http://schemas.openxmlformats.org/drawingml/2006/main" noChangeAspect="1"/>
          </p:cNvPicPr>
          <p:nvPr/>
        </p:nvPicPr>
        <p:blipFill>
          <a:blip xmlns:r="http://schemas.openxmlformats.org/officeDocument/2006/relationships" xmlns:a="http://schemas.openxmlformats.org/drawingml/2006/main" r:embed="R838c47377268402f">
            <a:extLst>
              <a:ext uri="{96DAC541-7B7A-43D3-8B79-37D633B846F1}">
                <ns4:svgBlip xmlns:ns4="http://schemas.microsoft.com/office/drawing/2016/SVG/main" r:embed="rIdVectormf00521"/>
              </a:ext>
            </a:extLst>
          </a:blip>
          <a:stretch xmlns:a="http://schemas.openxmlformats.org/drawingml/2006/main"/>
        </p:blipFill>
        <p:spPr>
          <a:xfrm xmlns:a="http://schemas.openxmlformats.org/drawingml/2006/main">
            <a:off x="1612419" y="3646170"/>
            <a:ext cx="351800" cy="137160"/>
          </a:xfrm>
          <a:prstGeom xmlns:a="http://schemas.openxmlformats.org/drawingml/2006/main" prst="rect">
            <a:avLst/>
          </a:prstGeom>
        </p:spPr>
      </p:pic>
      <p:pic>
        <p:nvPicPr>
          <p:cNvPr id="74" name="!!dsbsc-dsb-gain-g0-r0-ticklabel1" descr="0"/>
          <p:cNvPicPr>
            <a:picLocks xmlns:a="http://schemas.openxmlformats.org/drawingml/2006/main" noChangeAspect="1"/>
          </p:cNvPicPr>
          <p:nvPr/>
        </p:nvPicPr>
        <p:blipFill>
          <a:blip xmlns:r="http://schemas.openxmlformats.org/officeDocument/2006/relationships" xmlns:a="http://schemas.openxmlformats.org/drawingml/2006/main" r:embed="R219dd8ed336a47e1">
            <a:extLst>
              <a:ext uri="{96DAC541-7B7A-43D3-8B79-37D633B846F1}">
                <ns5:svgBlip xmlns:ns5="http://schemas.microsoft.com/office/drawing/2016/SVG/main" r:embed="rIdVectormf00522"/>
              </a:ext>
            </a:extLst>
          </a:blip>
          <a:stretch xmlns:a="http://schemas.openxmlformats.org/drawingml/2006/main"/>
        </p:blipFill>
        <p:spPr>
          <a:xfrm xmlns:a="http://schemas.openxmlformats.org/drawingml/2006/main">
            <a:off x="1916175" y="3863340"/>
            <a:ext cx="91951" cy="102870"/>
          </a:xfrm>
          <a:prstGeom xmlns:a="http://schemas.openxmlformats.org/drawingml/2006/main" prst="rect">
            <a:avLst/>
          </a:prstGeom>
        </p:spPr>
      </p:pic>
      <p:pic>
        <p:nvPicPr>
          <p:cNvPr id="75" name="!!dsbsc-dsb-gain-g0-r0-ticklabel2" descr="W"/>
          <p:cNvPicPr>
            <a:picLocks xmlns:a="http://schemas.openxmlformats.org/drawingml/2006/main" noChangeAspect="1"/>
          </p:cNvPicPr>
          <p:nvPr/>
        </p:nvPicPr>
        <p:blipFill>
          <a:blip xmlns:r="http://schemas.openxmlformats.org/officeDocument/2006/relationships" xmlns:a="http://schemas.openxmlformats.org/drawingml/2006/main" r:embed="Rb63a2c90a1e844e4">
            <a:extLst>
              <a:ext uri="{96DAC541-7B7A-43D3-8B79-37D633B846F1}">
                <ns6:svgBlip xmlns:ns6="http://schemas.microsoft.com/office/drawing/2016/SVG/main" r:embed="rIdVectormf00523"/>
              </a:ext>
            </a:extLst>
          </a:blip>
          <a:stretch xmlns:a="http://schemas.openxmlformats.org/drawingml/2006/main"/>
        </p:blipFill>
        <p:spPr>
          <a:xfrm xmlns:a="http://schemas.openxmlformats.org/drawingml/2006/main">
            <a:off x="2033111" y="3656243"/>
            <a:ext cx="205740" cy="117015"/>
          </a:xfrm>
          <a:prstGeom xmlns:a="http://schemas.openxmlformats.org/drawingml/2006/main" prst="rect">
            <a:avLst/>
          </a:prstGeom>
        </p:spPr>
      </p:pic>
      <p:pic>
        <p:nvPicPr>
          <p:cNvPr id="76" name="!!dsbsc-dsb-gain-g0-r0-label" descr="\textstyle V_0(f)"/>
          <p:cNvPicPr>
            <a:picLocks xmlns:a="http://schemas.openxmlformats.org/drawingml/2006/main" noChangeAspect="1"/>
          </p:cNvPicPr>
          <p:nvPr/>
        </p:nvPicPr>
        <p:blipFill>
          <a:blip xmlns:r="http://schemas.openxmlformats.org/officeDocument/2006/relationships" xmlns:a="http://schemas.openxmlformats.org/drawingml/2006/main" r:embed="R1b9744e58d7a4341">
            <a:extLst>
              <a:ext uri="{96DAC541-7B7A-43D3-8B79-37D633B846F1}">
                <ns7:svgBlip xmlns:ns7="http://schemas.microsoft.com/office/drawing/2016/SVG/main" r:embed="rIdVectormf00524"/>
              </a:ext>
            </a:extLst>
          </a:blip>
          <a:stretch xmlns:a="http://schemas.openxmlformats.org/drawingml/2006/main"/>
        </p:blipFill>
        <p:spPr>
          <a:xfrm xmlns:a="http://schemas.openxmlformats.org/drawingml/2006/main">
            <a:off x="571500" y="2382560"/>
            <a:ext cx="565785" cy="206931"/>
          </a:xfrm>
          <a:prstGeom xmlns:a="http://schemas.openxmlformats.org/drawingml/2006/main" prst="rect">
            <a:avLst/>
          </a:prstGeom>
        </p:spPr>
      </p:pic>
      <p:pic>
        <p:nvPicPr>
          <p:cNvPr id="77" name="!!dsbsc-dsb-gain-g1-r0-domain" descr="f"/>
          <p:cNvPicPr>
            <a:picLocks xmlns:a="http://schemas.openxmlformats.org/drawingml/2006/main" noChangeAspect="1"/>
          </p:cNvPicPr>
          <p:nvPr/>
        </p:nvPicPr>
        <p:blipFill>
          <a:blip xmlns:r="http://schemas.openxmlformats.org/officeDocument/2006/relationships" xmlns:a="http://schemas.openxmlformats.org/drawingml/2006/main" r:embed="R187cfda23d6d43d1">
            <a:extLst>
              <a:ext uri="{96DAC541-7B7A-43D3-8B79-37D633B846F1}">
                <ns8:svgBlip xmlns:ns8="http://schemas.microsoft.com/office/drawing/2016/SVG/main" r:embed="rIdVectormf00525"/>
              </a:ext>
            </a:extLst>
          </a:blip>
          <a:stretch xmlns:a="http://schemas.openxmlformats.org/drawingml/2006/main"/>
        </p:blipFill>
        <p:spPr>
          <a:xfrm xmlns:a="http://schemas.openxmlformats.org/drawingml/2006/main">
            <a:off x="7375373" y="3311843"/>
            <a:ext cx="79678" cy="120015"/>
          </a:xfrm>
          <a:prstGeom xmlns:a="http://schemas.openxmlformats.org/drawingml/2006/main" prst="rect">
            <a:avLst/>
          </a:prstGeom>
        </p:spPr>
      </p:pic>
      <p:pic>
        <p:nvPicPr>
          <p:cNvPr id="78" name="!!dsbsc-dsb-gain-g1-r0-ticklabel0" descr="-W"/>
          <p:cNvPicPr>
            <a:picLocks xmlns:a="http://schemas.openxmlformats.org/drawingml/2006/main" noChangeAspect="1"/>
          </p:cNvPicPr>
          <p:nvPr/>
        </p:nvPicPr>
        <p:blipFill>
          <a:blip xmlns:r="http://schemas.openxmlformats.org/officeDocument/2006/relationships" xmlns:a="http://schemas.openxmlformats.org/drawingml/2006/main" r:embed="R80a86fc022eb492e">
            <a:extLst>
              <a:ext uri="{96DAC541-7B7A-43D3-8B79-37D633B846F1}">
                <ns9:svgBlip xmlns:ns9="http://schemas.microsoft.com/office/drawing/2016/SVG/main" r:embed="rIdVectormf00526"/>
              </a:ext>
            </a:extLst>
          </a:blip>
          <a:stretch xmlns:a="http://schemas.openxmlformats.org/drawingml/2006/main"/>
        </p:blipFill>
        <p:spPr>
          <a:xfrm xmlns:a="http://schemas.openxmlformats.org/drawingml/2006/main">
            <a:off x="5612919" y="3646170"/>
            <a:ext cx="351800" cy="137160"/>
          </a:xfrm>
          <a:prstGeom xmlns:a="http://schemas.openxmlformats.org/drawingml/2006/main" prst="rect">
            <a:avLst/>
          </a:prstGeom>
        </p:spPr>
      </p:pic>
      <p:pic>
        <p:nvPicPr>
          <p:cNvPr id="79" name="!!dsbsc-dsb-gain-g1-r0-ticklabel1" descr="0"/>
          <p:cNvPicPr>
            <a:picLocks xmlns:a="http://schemas.openxmlformats.org/drawingml/2006/main" noChangeAspect="1"/>
          </p:cNvPicPr>
          <p:nvPr/>
        </p:nvPicPr>
        <p:blipFill>
          <a:blip xmlns:r="http://schemas.openxmlformats.org/officeDocument/2006/relationships" xmlns:a="http://schemas.openxmlformats.org/drawingml/2006/main" r:embed="Rfbcec41587214a72">
            <a:extLst>
              <a:ext uri="{96DAC541-7B7A-43D3-8B79-37D633B846F1}">
                <ns10:svgBlip xmlns:ns10="http://schemas.microsoft.com/office/drawing/2016/SVG/main" r:embed="rIdVectormf00527"/>
              </a:ext>
            </a:extLst>
          </a:blip>
          <a:stretch xmlns:a="http://schemas.openxmlformats.org/drawingml/2006/main"/>
        </p:blipFill>
        <p:spPr>
          <a:xfrm xmlns:a="http://schemas.openxmlformats.org/drawingml/2006/main">
            <a:off x="5916675" y="3863340"/>
            <a:ext cx="91951" cy="102870"/>
          </a:xfrm>
          <a:prstGeom xmlns:a="http://schemas.openxmlformats.org/drawingml/2006/main" prst="rect">
            <a:avLst/>
          </a:prstGeom>
        </p:spPr>
      </p:pic>
      <p:pic>
        <p:nvPicPr>
          <p:cNvPr id="80" name="!!dsbsc-dsb-gain-g1-r0-ticklabel2" descr="W"/>
          <p:cNvPicPr>
            <a:picLocks xmlns:a="http://schemas.openxmlformats.org/drawingml/2006/main" noChangeAspect="1"/>
          </p:cNvPicPr>
          <p:nvPr/>
        </p:nvPicPr>
        <p:blipFill>
          <a:blip xmlns:r="http://schemas.openxmlformats.org/officeDocument/2006/relationships" xmlns:a="http://schemas.openxmlformats.org/drawingml/2006/main" r:embed="Rd9aae01e00b14fe4">
            <a:extLst>
              <a:ext uri="{96DAC541-7B7A-43D3-8B79-37D633B846F1}">
                <ns11:svgBlip xmlns:ns11="http://schemas.microsoft.com/office/drawing/2016/SVG/main" r:embed="rIdVectormf00528"/>
              </a:ext>
            </a:extLst>
          </a:blip>
          <a:stretch xmlns:a="http://schemas.openxmlformats.org/drawingml/2006/main"/>
        </p:blipFill>
        <p:spPr>
          <a:xfrm xmlns:a="http://schemas.openxmlformats.org/drawingml/2006/main">
            <a:off x="6033611" y="3656243"/>
            <a:ext cx="205740" cy="117015"/>
          </a:xfrm>
          <a:prstGeom xmlns:a="http://schemas.openxmlformats.org/drawingml/2006/main" prst="rect">
            <a:avLst/>
          </a:prstGeom>
        </p:spPr>
      </p:pic>
      <p:pic>
        <p:nvPicPr>
          <p:cNvPr id="81" name="!!dsbsc-dsb-gain-g1-r0-label" descr="\textstyle M(f)"/>
          <p:cNvPicPr>
            <a:picLocks xmlns:a="http://schemas.openxmlformats.org/drawingml/2006/main" noChangeAspect="1"/>
          </p:cNvPicPr>
          <p:nvPr/>
        </p:nvPicPr>
        <p:blipFill>
          <a:blip xmlns:r="http://schemas.openxmlformats.org/officeDocument/2006/relationships" xmlns:a="http://schemas.openxmlformats.org/drawingml/2006/main" r:embed="R68e1d80d72bd4efd">
            <a:extLst>
              <a:ext uri="{96DAC541-7B7A-43D3-8B79-37D633B846F1}">
                <ns12:svgBlip xmlns:ns12="http://schemas.microsoft.com/office/drawing/2016/SVG/main" r:embed="rIdVectormf00529"/>
              </a:ext>
            </a:extLst>
          </a:blip>
          <a:stretch xmlns:a="http://schemas.openxmlformats.org/drawingml/2006/main"/>
        </p:blipFill>
        <p:spPr>
          <a:xfrm xmlns:a="http://schemas.openxmlformats.org/drawingml/2006/main">
            <a:off x="4572000" y="2383215"/>
            <a:ext cx="502920" cy="205621"/>
          </a:xfrm>
          <a:prstGeom xmlns:a="http://schemas.openxmlformats.org/drawingml/2006/main" prst="rect">
            <a:avLst/>
          </a:prstGeom>
        </p:spPr>
      </p:pic>
      <p:pic>
        <p:nvPicPr>
          <p:cNvPr id="82" name="!!dsbsc-dsb-gain-g0-r0-peak0" descr="\frac{A_cA'_c}{2}"/>
          <p:cNvPicPr>
            <a:picLocks xmlns:a="http://schemas.openxmlformats.org/drawingml/2006/main" noChangeAspect="1"/>
          </p:cNvPicPr>
          <p:nvPr/>
        </p:nvPicPr>
        <p:blipFill>
          <a:blip xmlns:r="http://schemas.openxmlformats.org/officeDocument/2006/relationships" xmlns:a="http://schemas.openxmlformats.org/drawingml/2006/main" r:embed="R9c7dc9abb9954c45">
            <a:extLst>
              <a:ext uri="{96DAC541-7B7A-43D3-8B79-37D633B846F1}">
                <ns13:svgBlip xmlns:ns13="http://schemas.microsoft.com/office/drawing/2016/SVG/main" r:embed="rIdVectormf00530"/>
              </a:ext>
            </a:extLst>
          </a:blip>
          <a:stretch xmlns:a="http://schemas.openxmlformats.org/drawingml/2006/main"/>
        </p:blipFill>
        <p:spPr>
          <a:xfrm xmlns:a="http://schemas.openxmlformats.org/drawingml/2006/main">
            <a:off x="1749479" y="2257425"/>
            <a:ext cx="425342" cy="361950"/>
          </a:xfrm>
          <a:prstGeom xmlns:a="http://schemas.openxmlformats.org/drawingml/2006/main" prst="rect">
            <a:avLst/>
          </a:prstGeom>
        </p:spPr>
      </p:pic>
      <p:pic>
        <p:nvPicPr>
          <p:cNvPr id="83" name="!!dsbsc-dsb-gain-math" descr="\textstyle \times\frac{2}{A_cA'_c}"/>
          <p:cNvPicPr>
            <a:picLocks xmlns:a="http://schemas.openxmlformats.org/drawingml/2006/main" noChangeAspect="1"/>
          </p:cNvPicPr>
          <p:nvPr/>
        </p:nvPicPr>
        <p:blipFill>
          <a:blip xmlns:r="http://schemas.openxmlformats.org/officeDocument/2006/relationships" xmlns:a="http://schemas.openxmlformats.org/drawingml/2006/main" r:embed="R53ec26b196c744f7">
            <a:extLst>
              <a:ext uri="{96DAC541-7B7A-43D3-8B79-37D633B846F1}">
                <ns14:svgBlip xmlns:ns14="http://schemas.microsoft.com/office/drawing/2016/SVG/main" r:embed="rIdVectormf00531"/>
              </a:ext>
            </a:extLst>
          </a:blip>
          <a:stretch xmlns:a="http://schemas.openxmlformats.org/drawingml/2006/main"/>
        </p:blipFill>
        <p:spPr>
          <a:xfrm xmlns:a="http://schemas.openxmlformats.org/drawingml/2006/main">
            <a:off x="3672305" y="2990850"/>
            <a:ext cx="580189" cy="266700"/>
          </a:xfrm>
          <a:prstGeom xmlns:a="http://schemas.openxmlformats.org/drawingml/2006/main" prst="rect">
            <a:avLst/>
          </a:prstGeom>
        </p:spPr>
      </p:pic>
      <p:pic>
        <p:nvPicPr>
          <p:cNvPr id="84" name="!!dsbsc-dsb-gain-g1-r0-peak0" descr="1"/>
          <p:cNvPicPr>
            <a:picLocks xmlns:a="http://schemas.openxmlformats.org/drawingml/2006/main" noChangeAspect="1"/>
          </p:cNvPicPr>
          <p:nvPr/>
        </p:nvPicPr>
        <p:blipFill>
          <a:blip xmlns:r="http://schemas.openxmlformats.org/officeDocument/2006/relationships" xmlns:a="http://schemas.openxmlformats.org/drawingml/2006/main" r:embed="R9dad3d78e279431c">
            <a:extLst>
              <a:ext uri="{96DAC541-7B7A-43D3-8B79-37D633B846F1}">
                <ns15:svgBlip xmlns:ns15="http://schemas.microsoft.com/office/drawing/2016/SVG/main" r:embed="rIdVectormf00532"/>
              </a:ext>
            </a:extLst>
          </a:blip>
          <a:stretch xmlns:a="http://schemas.openxmlformats.org/drawingml/2006/main"/>
        </p:blipFill>
        <p:spPr>
          <a:xfrm xmlns:a="http://schemas.openxmlformats.org/drawingml/2006/main">
            <a:off x="5911566" y="2747963"/>
            <a:ext cx="102168" cy="114300"/>
          </a:xfrm>
          <a:prstGeom xmlns:a="http://schemas.openxmlformats.org/drawingml/2006/main" prst="rect">
            <a:avLst/>
          </a:prstGeom>
        </p:spPr>
      </p:pic>
      <p:pic>
        <p:nvPicPr>
          <p:cNvPr id="85" name="!!dsbsc-dsb-gain-g2-r0-domain" descr="t"/>
          <p:cNvPicPr>
            <a:picLocks xmlns:a="http://schemas.openxmlformats.org/drawingml/2006/main" noChangeAspect="1"/>
          </p:cNvPicPr>
          <p:nvPr/>
        </p:nvPicPr>
        <p:blipFill>
          <a:blip xmlns:r="http://schemas.openxmlformats.org/officeDocument/2006/relationships" xmlns:a="http://schemas.openxmlformats.org/drawingml/2006/main" r:embed="R8be0e9131ca14a0f">
            <a:extLst>
              <a:ext uri="{96DAC541-7B7A-43D3-8B79-37D633B846F1}">
                <ns16:svgBlip xmlns:ns16="http://schemas.microsoft.com/office/drawing/2016/SVG/main" r:embed="rIdVectormf00533"/>
              </a:ext>
            </a:extLst>
          </a:blip>
          <a:stretch xmlns:a="http://schemas.openxmlformats.org/drawingml/2006/main"/>
        </p:blipFill>
        <p:spPr>
          <a:xfrm xmlns:a="http://schemas.openxmlformats.org/drawingml/2006/main">
            <a:off x="11372850" y="3008769"/>
            <a:ext cx="68580" cy="97512"/>
          </a:xfrm>
          <a:prstGeom xmlns:a="http://schemas.openxmlformats.org/drawingml/2006/main" prst="rect">
            <a:avLst/>
          </a:prstGeom>
        </p:spPr>
      </p:pic>
      <p:pic>
        <p:nvPicPr>
          <p:cNvPr id="86" name="!!dsbsc-dsb-gain-g2-r0-label" descr="\textstyle m(t)"/>
          <p:cNvPicPr>
            <a:picLocks xmlns:a="http://schemas.openxmlformats.org/drawingml/2006/main" noChangeAspect="1"/>
          </p:cNvPicPr>
          <p:nvPr/>
        </p:nvPicPr>
        <p:blipFill>
          <a:blip xmlns:r="http://schemas.openxmlformats.org/officeDocument/2006/relationships" xmlns:a="http://schemas.openxmlformats.org/drawingml/2006/main" r:embed="Rd1c0737bd9ac4e43">
            <a:extLst>
              <a:ext uri="{96DAC541-7B7A-43D3-8B79-37D633B846F1}">
                <ns17:svgBlip xmlns:ns17="http://schemas.microsoft.com/office/drawing/2016/SVG/main" r:embed="rIdVectormf00534"/>
              </a:ext>
            </a:extLst>
          </a:blip>
          <a:stretch xmlns:a="http://schemas.openxmlformats.org/drawingml/2006/main"/>
        </p:blipFill>
        <p:spPr>
          <a:xfrm xmlns:a="http://schemas.openxmlformats.org/drawingml/2006/main">
            <a:off x="8572500" y="2381250"/>
            <a:ext cx="481965" cy="209550"/>
          </a:xfrm>
          <a:prstGeom xmlns:a="http://schemas.openxmlformats.org/drawingml/2006/main" prst="rect">
            <a:avLst/>
          </a:prstGeom>
        </p:spPr>
      </p:pic>
      <p:pic>
        <p:nvPicPr>
          <p:cNvPr id="87" name="!!dsbsc-dsb-gain-pair-pair" descr="\longleftrightarrow"/>
          <p:cNvPicPr>
            <a:picLocks xmlns:a="http://schemas.openxmlformats.org/drawingml/2006/main" noChangeAspect="1"/>
          </p:cNvPicPr>
          <p:nvPr/>
        </p:nvPicPr>
        <p:blipFill>
          <a:blip xmlns:r="http://schemas.openxmlformats.org/officeDocument/2006/relationships" xmlns:a="http://schemas.openxmlformats.org/drawingml/2006/main" r:embed="R78eaa72d944842b2">
            <a:extLst>
              <a:ext uri="{96DAC541-7B7A-43D3-8B79-37D633B846F1}">
                <ns18:svgBlip xmlns:ns18="http://schemas.microsoft.com/office/drawing/2016/SVG/main" r:embed="rIdVectormf00535"/>
              </a:ext>
            </a:extLst>
          </a:blip>
          <a:stretch xmlns:a="http://schemas.openxmlformats.org/drawingml/2006/main"/>
        </p:blipFill>
        <p:spPr>
          <a:xfrm xmlns:a="http://schemas.openxmlformats.org/drawingml/2006/main">
            <a:off x="7662863" y="3284041"/>
            <a:ext cx="600075" cy="80367"/>
          </a:xfrm>
          <a:prstGeom xmlns:a="http://schemas.openxmlformats.org/drawingml/2006/main" prst="rect">
            <a:avLst/>
          </a:prstGeom>
        </p:spPr>
      </p:pic>
      <p:pic>
        <p:nvPicPr>
          <p:cNvPr id="88" name="!!dsbsc-dense-equation-0" descr="\textstyle v_0(t)=\frac{A_cA'_c}{2}m(t)"/>
          <p:cNvPicPr>
            <a:picLocks xmlns:a="http://schemas.openxmlformats.org/drawingml/2006/main" noChangeAspect="1"/>
          </p:cNvPicPr>
          <p:nvPr/>
        </p:nvPicPr>
        <p:blipFill>
          <a:blip xmlns:r="http://schemas.openxmlformats.org/officeDocument/2006/relationships" xmlns:a="http://schemas.openxmlformats.org/drawingml/2006/main" r:embed="R862ec9986bcb41aa">
            <a:extLst>
              <a:ext uri="{96DAC541-7B7A-43D3-8B79-37D633B846F1}">
                <ns19:svgBlip xmlns:ns19="http://schemas.microsoft.com/office/drawing/2016/SVG/main" r:embed="rIdVectormf00536"/>
              </a:ext>
            </a:extLst>
          </a:blip>
          <a:stretch xmlns:a="http://schemas.openxmlformats.org/drawingml/2006/main"/>
        </p:blipFill>
        <p:spPr>
          <a:xfrm xmlns:a="http://schemas.openxmlformats.org/drawingml/2006/main">
            <a:off x="609600" y="4787444"/>
            <a:ext cx="2129790" cy="360640"/>
          </a:xfrm>
          <a:prstGeom xmlns:a="http://schemas.openxmlformats.org/drawingml/2006/main" prst="rect">
            <a:avLst/>
          </a:prstGeom>
        </p:spPr>
      </p:pic>
      <p:pic>
        <p:nvPicPr>
          <p:cNvPr id="89" name="!!dsbsc-dense-equation-1" descr="\textstyle \frac{2}{A_cA'_c}v_0(t)=m(t)"/>
          <p:cNvPicPr>
            <a:picLocks xmlns:a="http://schemas.openxmlformats.org/drawingml/2006/main" noChangeAspect="1"/>
          </p:cNvPicPr>
          <p:nvPr/>
        </p:nvPicPr>
        <p:blipFill>
          <a:blip xmlns:r="http://schemas.openxmlformats.org/officeDocument/2006/relationships" xmlns:a="http://schemas.openxmlformats.org/drawingml/2006/main" r:embed="R07e166d866cb43a7">
            <a:extLst>
              <a:ext uri="{96DAC541-7B7A-43D3-8B79-37D633B846F1}">
                <ns20:svgBlip xmlns:ns20="http://schemas.microsoft.com/office/drawing/2016/SVG/main" r:embed="rIdVectormf00537"/>
              </a:ext>
            </a:extLst>
          </a:blip>
          <a:stretch xmlns:a="http://schemas.openxmlformats.org/drawingml/2006/main"/>
        </p:blipFill>
        <p:spPr>
          <a:xfrm xmlns:a="http://schemas.openxmlformats.org/drawingml/2006/main">
            <a:off x="641494" y="5232559"/>
            <a:ext cx="2041236" cy="346710"/>
          </a:xfrm>
          <a:prstGeom xmlns:a="http://schemas.openxmlformats.org/drawingml/2006/main" prst="rect">
            <a:avLst/>
          </a:prstGeom>
        </p:spPr>
      </p:pic>
      <p:pic>
        <p:nvPicPr>
          <p:cNvPr id="90" name="!!dsbsc-dense-equation-2" descr="\textstyle \frac{2V_0(f)}{A_cA'_c}=M(f)\quad\longleftrightarrow\quad\frac{2v_0(t)}{A_cA'_c}=m(t)"/>
          <p:cNvPicPr>
            <a:picLocks xmlns:a="http://schemas.openxmlformats.org/drawingml/2006/main" noChangeAspect="1"/>
          </p:cNvPicPr>
          <p:nvPr/>
        </p:nvPicPr>
        <p:blipFill>
          <a:blip xmlns:r="http://schemas.openxmlformats.org/officeDocument/2006/relationships" xmlns:a="http://schemas.openxmlformats.org/drawingml/2006/main" r:embed="R852b7f172cdc4874">
            <a:extLst>
              <a:ext uri="{96DAC541-7B7A-43D3-8B79-37D633B846F1}">
                <ns21:svgBlip xmlns:ns21="http://schemas.microsoft.com/office/drawing/2016/SVG/main" r:embed="rIdVectormf00538"/>
              </a:ext>
            </a:extLst>
          </a:blip>
          <a:stretch xmlns:a="http://schemas.openxmlformats.org/drawingml/2006/main"/>
        </p:blipFill>
        <p:spPr>
          <a:xfrm xmlns:a="http://schemas.openxmlformats.org/drawingml/2006/main">
            <a:off x="609600" y="5648265"/>
            <a:ext cx="4507230" cy="391597"/>
          </a:xfrm>
          <a:prstGeom xmlns:a="http://schemas.openxmlformats.org/drawingml/2006/main" prst="rect">
            <a:avLst/>
          </a:prstGeom>
        </p:spPr>
      </p:pic>
    </p:spTree>
    <p:extLst>
      <p:ext uri="{BB962C8B-B14F-4D97-AF65-F5344CB8AC3E}">
        <p14:creationId xmlns:p14="http://schemas.microsoft.com/office/powerpoint/2010/main" val="21345296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83"/>
                                        </p:tgtEl>
                                        <p:attrNameLst>
                                          <p:attrName>style.visibility</p:attrName>
                                        </p:attrNameLst>
                                      </p:cBhvr>
                                      <p:to>
                                        <p:strVal val="visible"/>
                                      </p:to>
                                    </p:set>
                                    <p:animEffect transition="in" filter="fade">
                                      <p:cBhvr>
                                        <p:cTn id="13" dur="400"/>
                                        <p:tgtEl>
                                          <p:spTgt spid="83"/>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200"/>
                                        <p:tgtEl>
                                          <p:spTgt spid="20"/>
                                        </p:tgtEl>
                                      </p:cBhvr>
                                    </p:animEffect>
                                    <p:animMotion origin="layout" pathEditMode="relative" path="M -0.32812500 -0.02673622 L 0.00000000 0.00000000 E">
                                      <p:cBhvr>
                                        <p:cTn id="17" dur="700" fill="hold"/>
                                        <p:tgtEl>
                                          <p:spTgt spid="20"/>
                                        </p:tgtEl>
                                        <p:attrNameLst>
                                          <p:attrName>ppt_x</p:attrName>
                                          <p:attrName>ppt_y</p:attrName>
                                        </p:attrNameLst>
                                      </p:cBhvr>
                                    </p:animMotion>
                                    <p:animScale zoomContents="1">
                                      <p:cBhvr>
                                        <p:cTn id="18" dur="700" fill="hold"/>
                                        <p:tgtEl>
                                          <p:spTgt spid="20"/>
                                        </p:tgtEl>
                                      </p:cBhvr>
                                      <p:from x="100000" y="200000"/>
                                      <p:to x="100000" y="100000"/>
                                    </p:animScale>
                                  </p:childTnLst>
                                </p:cTn>
                              </p:par>
                              <p:par>
                                <p:cTn id="19" presetID="10" presetClass="entr" presetSubtype="0" fill="hold" nodeType="withEffect">
                                  <p:stCondLst>
                                    <p:cond delay="0"/>
                                  </p:stCondLst>
                                  <p:childTnLst>
                                    <p:set>
                                      <p:cBhvr>
                                        <p:cTn id="20" dur="1" fill="hold">
                                          <p:stCondLst>
                                            <p:cond delay="0"/>
                                          </p:stCondLst>
                                        </p:cTn>
                                        <p:tgtEl>
                                          <p:spTgt spid="84"/>
                                        </p:tgtEl>
                                        <p:attrNameLst>
                                          <p:attrName>style.visibility</p:attrName>
                                        </p:attrNameLst>
                                      </p:cBhvr>
                                      <p:to>
                                        <p:strVal val="visible"/>
                                      </p:to>
                                    </p:set>
                                    <p:animEffect transition="in" filter="fade">
                                      <p:cBhvr>
                                        <p:cTn id="21" dur="400"/>
                                        <p:tgtEl>
                                          <p:spTgt spid="84"/>
                                        </p:tgtEl>
                                      </p:cBhvr>
                                    </p:animEffect>
                                  </p:childTnLst>
                                </p:cTn>
                              </p:par>
                              <p:par>
                                <p:cTn id="22" presetID="10" presetClass="entr" presetSubtype="0" fill="hold" nodeType="withEffect">
                                  <p:stCondLst>
                                    <p:cond delay="0"/>
                                  </p:stCondLst>
                                  <p:childTnLst>
                                    <p:set>
                                      <p:cBhvr>
                                        <p:cTn id="23" dur="1" fill="hold">
                                          <p:stCondLst>
                                            <p:cond delay="0"/>
                                          </p:stCondLst>
                                        </p:cTn>
                                        <p:tgtEl>
                                          <p:spTgt spid="89"/>
                                        </p:tgtEl>
                                        <p:attrNameLst>
                                          <p:attrName>style.visibility</p:attrName>
                                        </p:attrNameLst>
                                      </p:cBhvr>
                                      <p:to>
                                        <p:strVal val="visible"/>
                                      </p:to>
                                    </p:set>
                                    <p:animEffect transition="in" filter="fade">
                                      <p:cBhvr>
                                        <p:cTn id="24" dur="400"/>
                                        <p:tgtEl>
                                          <p:spTgt spid="8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nodeType="withEffect">
                                  <p:stCondLst>
                                    <p:cond delay="0"/>
                                  </p:stCondLst>
                                  <p:childTnLst>
                                    <p:set>
                                      <p:cBhvr>
                                        <p:cTn id="34" dur="1" fill="hold">
                                          <p:stCondLst>
                                            <p:cond delay="0"/>
                                          </p:stCondLst>
                                        </p:cTn>
                                        <p:tgtEl>
                                          <p:spTgt spid="85"/>
                                        </p:tgtEl>
                                        <p:attrNameLst>
                                          <p:attrName>style.visibility</p:attrName>
                                        </p:attrNameLst>
                                      </p:cBhvr>
                                      <p:to>
                                        <p:strVal val="visible"/>
                                      </p:to>
                                    </p:set>
                                    <p:animEffect transition="in" filter="fade">
                                      <p:cBhvr>
                                        <p:cTn id="35" dur="400"/>
                                        <p:tgtEl>
                                          <p:spTgt spid="85"/>
                                        </p:tgtEl>
                                      </p:cBhvr>
                                    </p:animEffect>
                                  </p:childTnLst>
                                </p:cTn>
                              </p:par>
                              <p:par>
                                <p:cTn id="36" presetID="10" presetClass="entr" presetSubtype="0" fill="hold" nodeType="withEffect">
                                  <p:stCondLst>
                                    <p:cond delay="0"/>
                                  </p:stCondLst>
                                  <p:childTnLst>
                                    <p:set>
                                      <p:cBhvr>
                                        <p:cTn id="37" dur="1" fill="hold">
                                          <p:stCondLst>
                                            <p:cond delay="0"/>
                                          </p:stCondLst>
                                        </p:cTn>
                                        <p:tgtEl>
                                          <p:spTgt spid="86"/>
                                        </p:tgtEl>
                                        <p:attrNameLst>
                                          <p:attrName>style.visibility</p:attrName>
                                        </p:attrNameLst>
                                      </p:cBhvr>
                                      <p:to>
                                        <p:strVal val="visible"/>
                                      </p:to>
                                    </p:set>
                                    <p:animEffect transition="in" filter="fade">
                                      <p:cBhvr>
                                        <p:cTn id="38" dur="400"/>
                                        <p:tgtEl>
                                          <p:spTgt spid="86"/>
                                        </p:tgtEl>
                                      </p:cBhvr>
                                    </p:animEffect>
                                  </p:childTnLst>
                                </p:cTn>
                              </p:par>
                              <p:par>
                                <p:cTn id="39" presetID="10"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00"/>
                                        <p:tgtEl>
                                          <p:spTgt spid="23"/>
                                        </p:tgtEl>
                                      </p:cBhvr>
                                    </p:animEffect>
                                  </p:childTnLst>
                                </p:cTn>
                              </p:par>
                              <p:par>
                                <p:cTn id="42" presetID="10" presetClass="entr" presetSubtype="0" fill="hold" nodeType="withEffect">
                                  <p:stCondLst>
                                    <p:cond delay="0"/>
                                  </p:stCondLst>
                                  <p:childTnLst>
                                    <p:set>
                                      <p:cBhvr>
                                        <p:cTn id="43" dur="1" fill="hold">
                                          <p:stCondLst>
                                            <p:cond delay="0"/>
                                          </p:stCondLst>
                                        </p:cTn>
                                        <p:tgtEl>
                                          <p:spTgt spid="87"/>
                                        </p:tgtEl>
                                        <p:attrNameLst>
                                          <p:attrName>style.visibility</p:attrName>
                                        </p:attrNameLst>
                                      </p:cBhvr>
                                      <p:to>
                                        <p:strVal val="visible"/>
                                      </p:to>
                                    </p:set>
                                    <p:animEffect transition="in" filter="fade">
                                      <p:cBhvr>
                                        <p:cTn id="44" dur="400"/>
                                        <p:tgtEl>
                                          <p:spTgt spid="87"/>
                                        </p:tgtEl>
                                      </p:cBhvr>
                                    </p:animEffect>
                                  </p:childTnLst>
                                </p:cTn>
                              </p:par>
                              <p:par>
                                <p:cTn id="45" presetID="10" presetClass="entr" presetSubtype="0" fill="hold" nodeType="withEffect">
                                  <p:stCondLst>
                                    <p:cond delay="0"/>
                                  </p:stCondLst>
                                  <p:childTnLst>
                                    <p:set>
                                      <p:cBhvr>
                                        <p:cTn id="46" dur="1" fill="hold">
                                          <p:stCondLst>
                                            <p:cond delay="0"/>
                                          </p:stCondLst>
                                        </p:cTn>
                                        <p:tgtEl>
                                          <p:spTgt spid="90"/>
                                        </p:tgtEl>
                                        <p:attrNameLst>
                                          <p:attrName>style.visibility</p:attrName>
                                        </p:attrNameLst>
                                      </p:cBhvr>
                                      <p:to>
                                        <p:strVal val="visible"/>
                                      </p:to>
                                    </p:set>
                                    <p:animEffect transition="in" filter="fade">
                                      <p:cBhvr>
                                        <p:cTn id="47" dur="4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am-title">
            <ns0:hlinkClick xmlns:ns0="http://schemas.openxmlformats.org/drawingml/2006/main" xmlns:ns1="http://schemas.openxmlformats.org/officeDocument/2006/relationships" ns1:id="rIdmethods_Link118" action="ppaction://hlinksldjump"/>
            <a:extLst xmlns:a="http://schemas.openxmlformats.org/drawingml/2006/main">
              <a:ext uri="{FF2B5EF4-FFF2-40B4-BE49-F238E27FC236}">
                <a16:creationId xmlns:a16="http://schemas.microsoft.com/office/drawing/2014/main" id="{8C81D6BF-3153-4B35-8AC4-2D0FD230ABFB}"/>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18" action="ppaction://hlinksldjump"/>
              </a:rPr>
              <a:t>AM</a:t>
            </a:r>
          </a:p>
        </p:txBody>
      </p:sp>
      <p:sp>
        <p:nvSpPr>
          <p:cNvPr id="2" name="!!am-route-tx-line">
            <a:extLst xmlns:a="http://schemas.openxmlformats.org/drawingml/2006/main">
              <a:ext uri="{FF2B5EF4-FFF2-40B4-BE49-F238E27FC236}">
                <a16:creationId xmlns:a16="http://schemas.microsoft.com/office/drawing/2014/main" id="{48ED008F-6012-4750-BFC6-0CCDEB9CA03B}"/>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am-route-tx-head">
            <a:extLst xmlns:a="http://schemas.openxmlformats.org/drawingml/2006/main">
              <a:ext uri="{FF2B5EF4-FFF2-40B4-BE49-F238E27FC236}">
                <a16:creationId xmlns:a16="http://schemas.microsoft.com/office/drawing/2014/main" id="{1BE9E5D7-DF69-4E9B-8CCE-3F3973F5D8E0}"/>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am-route-rx-line">
            <a:extLst xmlns:a="http://schemas.openxmlformats.org/drawingml/2006/main">
              <a:ext uri="{FF2B5EF4-FFF2-40B4-BE49-F238E27FC236}">
                <a16:creationId xmlns:a16="http://schemas.microsoft.com/office/drawing/2014/main" id="{A30FCDC2-66CE-4EF4-A125-AC06C4862220}"/>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am-route-rx-head">
            <a:extLst xmlns:a="http://schemas.openxmlformats.org/drawingml/2006/main">
              <a:ext uri="{FF2B5EF4-FFF2-40B4-BE49-F238E27FC236}">
                <a16:creationId xmlns:a16="http://schemas.microsoft.com/office/drawing/2014/main" id="{CAA0B232-7C45-4EAE-8FD0-5DEB56C7E673}"/>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am-review-purpose">
            <a:extLst xmlns:a="http://schemas.openxmlformats.org/drawingml/2006/main">
              <a:ext uri="{FF2B5EF4-FFF2-40B4-BE49-F238E27FC236}">
                <a16:creationId xmlns:a16="http://schemas.microsoft.com/office/drawing/2014/main" id="{26177470-E8C5-4879-BDBE-C5FC0A557646}"/>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Add a bias so the envelope stays nonnegative</a:t>
            </a:r>
          </a:p>
        </p:txBody>
      </p:sp>
      <p:sp>
        <p:nvSpPr>
          <p:cNvPr id="7" name="!!am-am-scale-g0-r0-axis-line">
            <a:extLst xmlns:a="http://schemas.openxmlformats.org/drawingml/2006/main">
              <a:ext uri="{FF2B5EF4-FFF2-40B4-BE49-F238E27FC236}">
                <a16:creationId xmlns:a16="http://schemas.microsoft.com/office/drawing/2014/main" id="{DDE00719-650C-40BC-97BC-1BFEFBD692F6}"/>
              </a:ext>
            </a:extLst>
          </p:cNvPr>
          <p:cNvSpPr>
            <a:spLocks xmlns:a="http://schemas.openxmlformats.org/drawingml/2006/main" noGrp="1"/>
          </p:cNvSpPr>
          <p:nvPr/>
        </p:nvSpPr>
        <p:spPr>
          <a:xfrm xmlns:a="http://schemas.openxmlformats.org/drawingml/2006/main">
            <a:off x="571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m-am-scale-g0-r0-axis-head">
            <a:extLst xmlns:a="http://schemas.openxmlformats.org/drawingml/2006/main">
              <a:ext uri="{FF2B5EF4-FFF2-40B4-BE49-F238E27FC236}">
                <a16:creationId xmlns:a16="http://schemas.microsoft.com/office/drawing/2014/main" id="{2D32BFC5-9206-401D-B295-B1684D04BEAB}"/>
              </a:ext>
            </a:extLst>
          </p:cNvPr>
          <p:cNvSpPr>
            <a:spLocks xmlns:a="http://schemas.openxmlformats.org/drawingml/2006/main" noGrp="1"/>
          </p:cNvSpPr>
          <p:nvPr/>
        </p:nvSpPr>
        <p:spPr>
          <a:xfrm xmlns:a="http://schemas.openxmlformats.org/drawingml/2006/main" rot="5400000">
            <a:off x="3238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am-am-scale-g1-r0-axis-line">
            <a:extLst xmlns:a="http://schemas.openxmlformats.org/drawingml/2006/main">
              <a:ext uri="{FF2B5EF4-FFF2-40B4-BE49-F238E27FC236}">
                <a16:creationId xmlns:a16="http://schemas.microsoft.com/office/drawing/2014/main" id="{BEAE33A5-975C-4EA3-AD10-ECFE115D28AD}"/>
              </a:ext>
            </a:extLst>
          </p:cNvPr>
          <p:cNvSpPr>
            <a:spLocks xmlns:a="http://schemas.openxmlformats.org/drawingml/2006/main" noGrp="1"/>
          </p:cNvSpPr>
          <p:nvPr/>
        </p:nvSpPr>
        <p:spPr>
          <a:xfrm xmlns:a="http://schemas.openxmlformats.org/drawingml/2006/main">
            <a:off x="45720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m-am-scale-g1-r0-axis-head">
            <a:extLst xmlns:a="http://schemas.openxmlformats.org/drawingml/2006/main">
              <a:ext uri="{FF2B5EF4-FFF2-40B4-BE49-F238E27FC236}">
                <a16:creationId xmlns:a16="http://schemas.microsoft.com/office/drawing/2014/main" id="{94685194-58A4-4CCE-A0EC-ACCAD5F48CDC}"/>
              </a:ext>
            </a:extLst>
          </p:cNvPr>
          <p:cNvSpPr>
            <a:spLocks xmlns:a="http://schemas.openxmlformats.org/drawingml/2006/main" noGrp="1"/>
          </p:cNvSpPr>
          <p:nvPr/>
        </p:nvSpPr>
        <p:spPr>
          <a:xfrm xmlns:a="http://schemas.openxmlformats.org/drawingml/2006/main" rot="5400000">
            <a:off x="72390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am-am-scale-g2-r0-axis-line">
            <a:extLst xmlns:a="http://schemas.openxmlformats.org/drawingml/2006/main">
              <a:ext uri="{FF2B5EF4-FFF2-40B4-BE49-F238E27FC236}">
                <a16:creationId xmlns:a16="http://schemas.microsoft.com/office/drawing/2014/main" id="{006E3C87-1326-45F7-8A84-B9C29F71E9BF}"/>
              </a:ext>
            </a:extLst>
          </p:cNvPr>
          <p:cNvSpPr>
            <a:spLocks xmlns:a="http://schemas.openxmlformats.org/drawingml/2006/main" noGrp="1"/>
          </p:cNvSpPr>
          <p:nvPr/>
        </p:nvSpPr>
        <p:spPr>
          <a:xfrm xmlns:a="http://schemas.openxmlformats.org/drawingml/2006/main">
            <a:off x="8572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m-am-scale-g2-r0-axis-head">
            <a:extLst xmlns:a="http://schemas.openxmlformats.org/drawingml/2006/main">
              <a:ext uri="{FF2B5EF4-FFF2-40B4-BE49-F238E27FC236}">
                <a16:creationId xmlns:a16="http://schemas.microsoft.com/office/drawing/2014/main" id="{E51DBC92-81F2-4865-9E94-DFDA17F3693F}"/>
              </a:ext>
            </a:extLst>
          </p:cNvPr>
          <p:cNvSpPr>
            <a:spLocks xmlns:a="http://schemas.openxmlformats.org/drawingml/2006/main" noGrp="1"/>
          </p:cNvSpPr>
          <p:nvPr/>
        </p:nvSpPr>
        <p:spPr>
          <a:xfrm xmlns:a="http://schemas.openxmlformats.org/drawingml/2006/main" rot="5400000">
            <a:off x="11239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3" name="!!am-am-scale-g0-r0-wave">
            <a:extLst xmlns:a="http://schemas.openxmlformats.org/drawingml/2006/main">
              <a:ext uri="{FF2B5EF4-FFF2-40B4-BE49-F238E27FC236}">
                <a16:creationId xmlns:a16="http://schemas.microsoft.com/office/drawing/2014/main" id="{1B787498-C4DB-4538-ACD9-2BB1739506B5}"/>
              </a:ext>
            </a:extLst>
          </p:cNvPr>
          <p:cNvSpPr>
            <a:spLocks xmlns:a="http://schemas.openxmlformats.org/drawingml/2006/main" noGrp="1"/>
          </p:cNvSpPr>
          <p:nvPr/>
        </p:nvSpPr>
        <p:spPr>
          <a:xfrm xmlns:a="http://schemas.openxmlformats.org/drawingml/2006/main">
            <a:off x="571500" y="2921794"/>
            <a:ext cx="2781300" cy="576263"/>
          </a:xfrm>
          <a:custGeom xmlns:a="http://schemas.openxmlformats.org/drawingml/2006/main">
            <a:pathLst>
              <a:path w="2781300" h="576263">
                <a:moveTo>
                  <a:pt x="0" y="288131"/>
                </a:moveTo>
                <a:lnTo>
                  <a:pt x="3477" y="285868"/>
                </a:lnTo>
                <a:lnTo>
                  <a:pt x="6953" y="283605"/>
                </a:lnTo>
                <a:lnTo>
                  <a:pt x="10430" y="281343"/>
                </a:lnTo>
                <a:lnTo>
                  <a:pt x="13907" y="279081"/>
                </a:lnTo>
                <a:lnTo>
                  <a:pt x="17383" y="276819"/>
                </a:lnTo>
                <a:lnTo>
                  <a:pt x="20860" y="274558"/>
                </a:lnTo>
                <a:lnTo>
                  <a:pt x="24336" y="272298"/>
                </a:lnTo>
                <a:lnTo>
                  <a:pt x="27813" y="270039"/>
                </a:lnTo>
                <a:lnTo>
                  <a:pt x="31290" y="267781"/>
                </a:lnTo>
                <a:lnTo>
                  <a:pt x="34766" y="265525"/>
                </a:lnTo>
                <a:lnTo>
                  <a:pt x="38243" y="263269"/>
                </a:lnTo>
                <a:lnTo>
                  <a:pt x="41719" y="261016"/>
                </a:lnTo>
                <a:lnTo>
                  <a:pt x="45196" y="258764"/>
                </a:lnTo>
                <a:lnTo>
                  <a:pt x="48673" y="256513"/>
                </a:lnTo>
                <a:lnTo>
                  <a:pt x="52149" y="254265"/>
                </a:lnTo>
                <a:lnTo>
                  <a:pt x="55626" y="252019"/>
                </a:lnTo>
                <a:lnTo>
                  <a:pt x="59103" y="249775"/>
                </a:lnTo>
                <a:lnTo>
                  <a:pt x="62579" y="247533"/>
                </a:lnTo>
                <a:lnTo>
                  <a:pt x="66056" y="245294"/>
                </a:lnTo>
                <a:lnTo>
                  <a:pt x="69532" y="243058"/>
                </a:lnTo>
                <a:lnTo>
                  <a:pt x="73009" y="240824"/>
                </a:lnTo>
                <a:lnTo>
                  <a:pt x="76486" y="238593"/>
                </a:lnTo>
                <a:lnTo>
                  <a:pt x="79962" y="236365"/>
                </a:lnTo>
                <a:lnTo>
                  <a:pt x="83439" y="234141"/>
                </a:lnTo>
                <a:lnTo>
                  <a:pt x="86916" y="231920"/>
                </a:lnTo>
                <a:lnTo>
                  <a:pt x="90392" y="229702"/>
                </a:lnTo>
                <a:lnTo>
                  <a:pt x="93869" y="227488"/>
                </a:lnTo>
                <a:lnTo>
                  <a:pt x="97345" y="225277"/>
                </a:lnTo>
                <a:lnTo>
                  <a:pt x="100822" y="223071"/>
                </a:lnTo>
                <a:lnTo>
                  <a:pt x="104299" y="220868"/>
                </a:lnTo>
                <a:lnTo>
                  <a:pt x="107775" y="218670"/>
                </a:lnTo>
                <a:lnTo>
                  <a:pt x="111252" y="216476"/>
                </a:lnTo>
                <a:lnTo>
                  <a:pt x="114729" y="214286"/>
                </a:lnTo>
                <a:lnTo>
                  <a:pt x="118205" y="212101"/>
                </a:lnTo>
                <a:lnTo>
                  <a:pt x="121682" y="209921"/>
                </a:lnTo>
                <a:lnTo>
                  <a:pt x="125159" y="207745"/>
                </a:lnTo>
                <a:lnTo>
                  <a:pt x="128635" y="205575"/>
                </a:lnTo>
                <a:lnTo>
                  <a:pt x="132112" y="203409"/>
                </a:lnTo>
                <a:lnTo>
                  <a:pt x="135588" y="201249"/>
                </a:lnTo>
                <a:lnTo>
                  <a:pt x="139065" y="199094"/>
                </a:lnTo>
                <a:lnTo>
                  <a:pt x="142542" y="196944"/>
                </a:lnTo>
                <a:lnTo>
                  <a:pt x="146018" y="194801"/>
                </a:lnTo>
                <a:lnTo>
                  <a:pt x="149495" y="192662"/>
                </a:lnTo>
                <a:lnTo>
                  <a:pt x="152972" y="190530"/>
                </a:lnTo>
                <a:lnTo>
                  <a:pt x="156448" y="188404"/>
                </a:lnTo>
                <a:lnTo>
                  <a:pt x="159925" y="186284"/>
                </a:lnTo>
                <a:lnTo>
                  <a:pt x="163401" y="184170"/>
                </a:lnTo>
                <a:lnTo>
                  <a:pt x="166878" y="182063"/>
                </a:lnTo>
                <a:lnTo>
                  <a:pt x="170355" y="179962"/>
                </a:lnTo>
                <a:lnTo>
                  <a:pt x="173831" y="177868"/>
                </a:lnTo>
                <a:lnTo>
                  <a:pt x="177308" y="175781"/>
                </a:lnTo>
                <a:lnTo>
                  <a:pt x="180785" y="173701"/>
                </a:lnTo>
                <a:lnTo>
                  <a:pt x="184261" y="171627"/>
                </a:lnTo>
                <a:lnTo>
                  <a:pt x="187738" y="169561"/>
                </a:lnTo>
                <a:lnTo>
                  <a:pt x="191214" y="167502"/>
                </a:lnTo>
                <a:lnTo>
                  <a:pt x="194691" y="165451"/>
                </a:lnTo>
                <a:lnTo>
                  <a:pt x="198168" y="163407"/>
                </a:lnTo>
                <a:lnTo>
                  <a:pt x="201644" y="161371"/>
                </a:lnTo>
                <a:lnTo>
                  <a:pt x="205121" y="159343"/>
                </a:lnTo>
                <a:lnTo>
                  <a:pt x="208598" y="157322"/>
                </a:lnTo>
                <a:lnTo>
                  <a:pt x="212074" y="155310"/>
                </a:lnTo>
                <a:lnTo>
                  <a:pt x="215551" y="153306"/>
                </a:lnTo>
                <a:lnTo>
                  <a:pt x="219027" y="151310"/>
                </a:lnTo>
                <a:lnTo>
                  <a:pt x="222504" y="149323"/>
                </a:lnTo>
                <a:lnTo>
                  <a:pt x="225981" y="147344"/>
                </a:lnTo>
                <a:lnTo>
                  <a:pt x="229457" y="145374"/>
                </a:lnTo>
                <a:lnTo>
                  <a:pt x="232934" y="143413"/>
                </a:lnTo>
                <a:lnTo>
                  <a:pt x="236410" y="141461"/>
                </a:lnTo>
                <a:lnTo>
                  <a:pt x="239887" y="139517"/>
                </a:lnTo>
                <a:lnTo>
                  <a:pt x="243364" y="137583"/>
                </a:lnTo>
                <a:lnTo>
                  <a:pt x="246840" y="135658"/>
                </a:lnTo>
                <a:lnTo>
                  <a:pt x="250317" y="133743"/>
                </a:lnTo>
                <a:lnTo>
                  <a:pt x="253794" y="131837"/>
                </a:lnTo>
                <a:lnTo>
                  <a:pt x="257270" y="129941"/>
                </a:lnTo>
                <a:lnTo>
                  <a:pt x="260747" y="128054"/>
                </a:lnTo>
                <a:lnTo>
                  <a:pt x="264223" y="126177"/>
                </a:lnTo>
                <a:lnTo>
                  <a:pt x="267700" y="124311"/>
                </a:lnTo>
                <a:lnTo>
                  <a:pt x="271177" y="122454"/>
                </a:lnTo>
                <a:lnTo>
                  <a:pt x="274653" y="120608"/>
                </a:lnTo>
                <a:lnTo>
                  <a:pt x="278130" y="118772"/>
                </a:lnTo>
                <a:lnTo>
                  <a:pt x="281607" y="116946"/>
                </a:lnTo>
                <a:lnTo>
                  <a:pt x="285083" y="115131"/>
                </a:lnTo>
                <a:lnTo>
                  <a:pt x="288560" y="113327"/>
                </a:lnTo>
                <a:lnTo>
                  <a:pt x="292036" y="111534"/>
                </a:lnTo>
                <a:lnTo>
                  <a:pt x="295513" y="109751"/>
                </a:lnTo>
                <a:lnTo>
                  <a:pt x="298990" y="107979"/>
                </a:lnTo>
                <a:lnTo>
                  <a:pt x="302466" y="106219"/>
                </a:lnTo>
                <a:lnTo>
                  <a:pt x="305943" y="104469"/>
                </a:lnTo>
                <a:lnTo>
                  <a:pt x="309420" y="102732"/>
                </a:lnTo>
                <a:lnTo>
                  <a:pt x="312896" y="101005"/>
                </a:lnTo>
                <a:lnTo>
                  <a:pt x="316373" y="99290"/>
                </a:lnTo>
                <a:lnTo>
                  <a:pt x="319850" y="97587"/>
                </a:lnTo>
                <a:lnTo>
                  <a:pt x="323326" y="95895"/>
                </a:lnTo>
                <a:lnTo>
                  <a:pt x="326803" y="94215"/>
                </a:lnTo>
                <a:lnTo>
                  <a:pt x="330279" y="92548"/>
                </a:lnTo>
                <a:lnTo>
                  <a:pt x="333756" y="90892"/>
                </a:lnTo>
                <a:lnTo>
                  <a:pt x="337233" y="89248"/>
                </a:lnTo>
                <a:lnTo>
                  <a:pt x="340709" y="87617"/>
                </a:lnTo>
                <a:lnTo>
                  <a:pt x="344186" y="85998"/>
                </a:lnTo>
                <a:lnTo>
                  <a:pt x="347663" y="84392"/>
                </a:lnTo>
                <a:lnTo>
                  <a:pt x="351139" y="82798"/>
                </a:lnTo>
                <a:lnTo>
                  <a:pt x="354616" y="81217"/>
                </a:lnTo>
                <a:lnTo>
                  <a:pt x="358092" y="79648"/>
                </a:lnTo>
                <a:lnTo>
                  <a:pt x="361569" y="78093"/>
                </a:lnTo>
                <a:lnTo>
                  <a:pt x="365046" y="76550"/>
                </a:lnTo>
                <a:lnTo>
                  <a:pt x="368522" y="75020"/>
                </a:lnTo>
                <a:lnTo>
                  <a:pt x="371999" y="73504"/>
                </a:lnTo>
                <a:lnTo>
                  <a:pt x="375476" y="72001"/>
                </a:lnTo>
                <a:lnTo>
                  <a:pt x="378952" y="70511"/>
                </a:lnTo>
                <a:lnTo>
                  <a:pt x="382429" y="69035"/>
                </a:lnTo>
                <a:lnTo>
                  <a:pt x="385905" y="67572"/>
                </a:lnTo>
                <a:lnTo>
                  <a:pt x="389382" y="66122"/>
                </a:lnTo>
                <a:lnTo>
                  <a:pt x="392859" y="64687"/>
                </a:lnTo>
                <a:lnTo>
                  <a:pt x="396335" y="63265"/>
                </a:lnTo>
                <a:lnTo>
                  <a:pt x="399812" y="61857"/>
                </a:lnTo>
                <a:lnTo>
                  <a:pt x="403289" y="60463"/>
                </a:lnTo>
                <a:lnTo>
                  <a:pt x="406765" y="59083"/>
                </a:lnTo>
                <a:lnTo>
                  <a:pt x="410242" y="57717"/>
                </a:lnTo>
                <a:lnTo>
                  <a:pt x="413718" y="56365"/>
                </a:lnTo>
                <a:lnTo>
                  <a:pt x="417195" y="55028"/>
                </a:lnTo>
                <a:lnTo>
                  <a:pt x="420672" y="53705"/>
                </a:lnTo>
                <a:lnTo>
                  <a:pt x="424148" y="52397"/>
                </a:lnTo>
                <a:lnTo>
                  <a:pt x="427625" y="51103"/>
                </a:lnTo>
                <a:lnTo>
                  <a:pt x="431101" y="49823"/>
                </a:lnTo>
                <a:lnTo>
                  <a:pt x="434578" y="48559"/>
                </a:lnTo>
                <a:lnTo>
                  <a:pt x="438055" y="47309"/>
                </a:lnTo>
                <a:lnTo>
                  <a:pt x="441531" y="46074"/>
                </a:lnTo>
                <a:lnTo>
                  <a:pt x="445008" y="44854"/>
                </a:lnTo>
                <a:lnTo>
                  <a:pt x="448485" y="43649"/>
                </a:lnTo>
                <a:lnTo>
                  <a:pt x="451961" y="42459"/>
                </a:lnTo>
                <a:lnTo>
                  <a:pt x="455438" y="41284"/>
                </a:lnTo>
                <a:lnTo>
                  <a:pt x="458915" y="40125"/>
                </a:lnTo>
                <a:lnTo>
                  <a:pt x="462391" y="38980"/>
                </a:lnTo>
                <a:lnTo>
                  <a:pt x="465868" y="37851"/>
                </a:lnTo>
                <a:lnTo>
                  <a:pt x="469344" y="36738"/>
                </a:lnTo>
                <a:lnTo>
                  <a:pt x="472821" y="35640"/>
                </a:lnTo>
                <a:lnTo>
                  <a:pt x="476298" y="34558"/>
                </a:lnTo>
                <a:lnTo>
                  <a:pt x="479774" y="33491"/>
                </a:lnTo>
                <a:lnTo>
                  <a:pt x="483251" y="32440"/>
                </a:lnTo>
                <a:lnTo>
                  <a:pt x="486727" y="31404"/>
                </a:lnTo>
                <a:lnTo>
                  <a:pt x="490204" y="30385"/>
                </a:lnTo>
                <a:lnTo>
                  <a:pt x="493681" y="29381"/>
                </a:lnTo>
                <a:lnTo>
                  <a:pt x="497157" y="28394"/>
                </a:lnTo>
                <a:lnTo>
                  <a:pt x="500634" y="27422"/>
                </a:lnTo>
                <a:lnTo>
                  <a:pt x="504111" y="26467"/>
                </a:lnTo>
                <a:lnTo>
                  <a:pt x="507587" y="25527"/>
                </a:lnTo>
                <a:lnTo>
                  <a:pt x="511064" y="24604"/>
                </a:lnTo>
                <a:lnTo>
                  <a:pt x="514541" y="23697"/>
                </a:lnTo>
                <a:lnTo>
                  <a:pt x="518017" y="22807"/>
                </a:lnTo>
                <a:lnTo>
                  <a:pt x="521494" y="21933"/>
                </a:lnTo>
                <a:lnTo>
                  <a:pt x="524970" y="21075"/>
                </a:lnTo>
                <a:lnTo>
                  <a:pt x="528447" y="20234"/>
                </a:lnTo>
                <a:lnTo>
                  <a:pt x="531924" y="19409"/>
                </a:lnTo>
                <a:lnTo>
                  <a:pt x="535400" y="18601"/>
                </a:lnTo>
                <a:lnTo>
                  <a:pt x="538877" y="17809"/>
                </a:lnTo>
                <a:lnTo>
                  <a:pt x="542354" y="17034"/>
                </a:lnTo>
                <a:lnTo>
                  <a:pt x="545830" y="16276"/>
                </a:lnTo>
                <a:lnTo>
                  <a:pt x="549307" y="15534"/>
                </a:lnTo>
                <a:lnTo>
                  <a:pt x="552783" y="14810"/>
                </a:lnTo>
                <a:lnTo>
                  <a:pt x="556260" y="14102"/>
                </a:lnTo>
                <a:lnTo>
                  <a:pt x="559737" y="13411"/>
                </a:lnTo>
                <a:lnTo>
                  <a:pt x="563213" y="12737"/>
                </a:lnTo>
                <a:lnTo>
                  <a:pt x="566690" y="12081"/>
                </a:lnTo>
                <a:lnTo>
                  <a:pt x="570167" y="11441"/>
                </a:lnTo>
                <a:lnTo>
                  <a:pt x="573643" y="10818"/>
                </a:lnTo>
                <a:lnTo>
                  <a:pt x="577120" y="10212"/>
                </a:lnTo>
                <a:lnTo>
                  <a:pt x="580596" y="9624"/>
                </a:lnTo>
                <a:lnTo>
                  <a:pt x="584073" y="9052"/>
                </a:lnTo>
                <a:lnTo>
                  <a:pt x="587550" y="8498"/>
                </a:lnTo>
                <a:lnTo>
                  <a:pt x="591026" y="7961"/>
                </a:lnTo>
                <a:lnTo>
                  <a:pt x="594503" y="7441"/>
                </a:lnTo>
                <a:lnTo>
                  <a:pt x="597980" y="6939"/>
                </a:lnTo>
                <a:lnTo>
                  <a:pt x="601456" y="6454"/>
                </a:lnTo>
                <a:lnTo>
                  <a:pt x="604933" y="5987"/>
                </a:lnTo>
                <a:lnTo>
                  <a:pt x="608409" y="5536"/>
                </a:lnTo>
                <a:lnTo>
                  <a:pt x="611886" y="5104"/>
                </a:lnTo>
                <a:lnTo>
                  <a:pt x="615363" y="4688"/>
                </a:lnTo>
                <a:lnTo>
                  <a:pt x="618839" y="4290"/>
                </a:lnTo>
                <a:lnTo>
                  <a:pt x="622316" y="3910"/>
                </a:lnTo>
                <a:lnTo>
                  <a:pt x="625793" y="3547"/>
                </a:lnTo>
                <a:lnTo>
                  <a:pt x="629269" y="3202"/>
                </a:lnTo>
                <a:lnTo>
                  <a:pt x="632746" y="2874"/>
                </a:lnTo>
                <a:lnTo>
                  <a:pt x="636222" y="2564"/>
                </a:lnTo>
                <a:lnTo>
                  <a:pt x="639699" y="2272"/>
                </a:lnTo>
                <a:lnTo>
                  <a:pt x="643176" y="1997"/>
                </a:lnTo>
                <a:lnTo>
                  <a:pt x="646652" y="1740"/>
                </a:lnTo>
                <a:lnTo>
                  <a:pt x="650129" y="1501"/>
                </a:lnTo>
                <a:lnTo>
                  <a:pt x="653606" y="1279"/>
                </a:lnTo>
                <a:lnTo>
                  <a:pt x="657082" y="1075"/>
                </a:lnTo>
                <a:lnTo>
                  <a:pt x="660559" y="888"/>
                </a:lnTo>
                <a:lnTo>
                  <a:pt x="664035" y="720"/>
                </a:lnTo>
                <a:lnTo>
                  <a:pt x="667512" y="569"/>
                </a:lnTo>
                <a:lnTo>
                  <a:pt x="670989" y="435"/>
                </a:lnTo>
                <a:lnTo>
                  <a:pt x="674465" y="320"/>
                </a:lnTo>
                <a:lnTo>
                  <a:pt x="677942" y="222"/>
                </a:lnTo>
                <a:lnTo>
                  <a:pt x="681419" y="142"/>
                </a:lnTo>
                <a:lnTo>
                  <a:pt x="684895" y="80"/>
                </a:lnTo>
                <a:lnTo>
                  <a:pt x="688372" y="36"/>
                </a:lnTo>
                <a:lnTo>
                  <a:pt x="691848" y="9"/>
                </a:lnTo>
                <a:lnTo>
                  <a:pt x="695325" y="0"/>
                </a:lnTo>
                <a:lnTo>
                  <a:pt x="698802" y="9"/>
                </a:lnTo>
                <a:lnTo>
                  <a:pt x="702278" y="36"/>
                </a:lnTo>
                <a:lnTo>
                  <a:pt x="705755" y="80"/>
                </a:lnTo>
                <a:lnTo>
                  <a:pt x="709231" y="142"/>
                </a:lnTo>
                <a:lnTo>
                  <a:pt x="712708" y="222"/>
                </a:lnTo>
                <a:lnTo>
                  <a:pt x="716185" y="320"/>
                </a:lnTo>
                <a:lnTo>
                  <a:pt x="719661" y="435"/>
                </a:lnTo>
                <a:lnTo>
                  <a:pt x="723138" y="569"/>
                </a:lnTo>
                <a:lnTo>
                  <a:pt x="726615" y="720"/>
                </a:lnTo>
                <a:lnTo>
                  <a:pt x="730091" y="888"/>
                </a:lnTo>
                <a:lnTo>
                  <a:pt x="733568" y="1075"/>
                </a:lnTo>
                <a:lnTo>
                  <a:pt x="737045" y="1279"/>
                </a:lnTo>
                <a:lnTo>
                  <a:pt x="740521" y="1501"/>
                </a:lnTo>
                <a:lnTo>
                  <a:pt x="743998" y="1740"/>
                </a:lnTo>
                <a:lnTo>
                  <a:pt x="747474" y="1997"/>
                </a:lnTo>
                <a:lnTo>
                  <a:pt x="750951" y="2272"/>
                </a:lnTo>
                <a:lnTo>
                  <a:pt x="754428" y="2564"/>
                </a:lnTo>
                <a:lnTo>
                  <a:pt x="757904" y="2874"/>
                </a:lnTo>
                <a:lnTo>
                  <a:pt x="761381" y="3202"/>
                </a:lnTo>
                <a:lnTo>
                  <a:pt x="764858" y="3547"/>
                </a:lnTo>
                <a:lnTo>
                  <a:pt x="768334" y="3910"/>
                </a:lnTo>
                <a:lnTo>
                  <a:pt x="771811" y="4290"/>
                </a:lnTo>
                <a:lnTo>
                  <a:pt x="775287" y="4688"/>
                </a:lnTo>
                <a:lnTo>
                  <a:pt x="778764" y="5104"/>
                </a:lnTo>
                <a:lnTo>
                  <a:pt x="782241" y="5536"/>
                </a:lnTo>
                <a:lnTo>
                  <a:pt x="785717" y="5987"/>
                </a:lnTo>
                <a:lnTo>
                  <a:pt x="789194" y="6454"/>
                </a:lnTo>
                <a:lnTo>
                  <a:pt x="792671" y="6939"/>
                </a:lnTo>
                <a:lnTo>
                  <a:pt x="796147" y="7441"/>
                </a:lnTo>
                <a:lnTo>
                  <a:pt x="799624" y="7961"/>
                </a:lnTo>
                <a:lnTo>
                  <a:pt x="803100" y="8498"/>
                </a:lnTo>
                <a:lnTo>
                  <a:pt x="806577" y="9052"/>
                </a:lnTo>
                <a:lnTo>
                  <a:pt x="810054" y="9624"/>
                </a:lnTo>
                <a:lnTo>
                  <a:pt x="813530" y="10212"/>
                </a:lnTo>
                <a:lnTo>
                  <a:pt x="817007" y="10818"/>
                </a:lnTo>
                <a:lnTo>
                  <a:pt x="820483" y="11441"/>
                </a:lnTo>
                <a:lnTo>
                  <a:pt x="823960" y="12081"/>
                </a:lnTo>
                <a:lnTo>
                  <a:pt x="827437" y="12737"/>
                </a:lnTo>
                <a:lnTo>
                  <a:pt x="830913" y="13411"/>
                </a:lnTo>
                <a:lnTo>
                  <a:pt x="834390" y="14102"/>
                </a:lnTo>
                <a:lnTo>
                  <a:pt x="837867" y="14810"/>
                </a:lnTo>
                <a:lnTo>
                  <a:pt x="841343" y="15534"/>
                </a:lnTo>
                <a:lnTo>
                  <a:pt x="844820" y="16276"/>
                </a:lnTo>
                <a:lnTo>
                  <a:pt x="848297" y="17034"/>
                </a:lnTo>
                <a:lnTo>
                  <a:pt x="851773" y="17809"/>
                </a:lnTo>
                <a:lnTo>
                  <a:pt x="855250" y="18601"/>
                </a:lnTo>
                <a:lnTo>
                  <a:pt x="858726" y="19409"/>
                </a:lnTo>
                <a:lnTo>
                  <a:pt x="862203" y="20234"/>
                </a:lnTo>
                <a:lnTo>
                  <a:pt x="865680" y="21075"/>
                </a:lnTo>
                <a:lnTo>
                  <a:pt x="869156" y="21933"/>
                </a:lnTo>
                <a:lnTo>
                  <a:pt x="872633" y="22807"/>
                </a:lnTo>
                <a:lnTo>
                  <a:pt x="876110" y="23697"/>
                </a:lnTo>
                <a:lnTo>
                  <a:pt x="879586" y="24604"/>
                </a:lnTo>
                <a:lnTo>
                  <a:pt x="883063" y="25527"/>
                </a:lnTo>
                <a:lnTo>
                  <a:pt x="886539" y="26467"/>
                </a:lnTo>
                <a:lnTo>
                  <a:pt x="890016" y="27422"/>
                </a:lnTo>
                <a:lnTo>
                  <a:pt x="893493" y="28394"/>
                </a:lnTo>
                <a:lnTo>
                  <a:pt x="896969" y="29381"/>
                </a:lnTo>
                <a:lnTo>
                  <a:pt x="900446" y="30385"/>
                </a:lnTo>
                <a:lnTo>
                  <a:pt x="903923" y="31404"/>
                </a:lnTo>
                <a:lnTo>
                  <a:pt x="907399" y="32440"/>
                </a:lnTo>
                <a:lnTo>
                  <a:pt x="910876" y="33491"/>
                </a:lnTo>
                <a:lnTo>
                  <a:pt x="914352" y="34558"/>
                </a:lnTo>
                <a:lnTo>
                  <a:pt x="917829" y="35640"/>
                </a:lnTo>
                <a:lnTo>
                  <a:pt x="921306" y="36738"/>
                </a:lnTo>
                <a:lnTo>
                  <a:pt x="924782" y="37851"/>
                </a:lnTo>
                <a:lnTo>
                  <a:pt x="928259" y="38980"/>
                </a:lnTo>
                <a:lnTo>
                  <a:pt x="931735" y="40125"/>
                </a:lnTo>
                <a:lnTo>
                  <a:pt x="935212" y="41284"/>
                </a:lnTo>
                <a:lnTo>
                  <a:pt x="938689" y="42459"/>
                </a:lnTo>
                <a:lnTo>
                  <a:pt x="942165" y="43649"/>
                </a:lnTo>
                <a:lnTo>
                  <a:pt x="945642" y="44854"/>
                </a:lnTo>
                <a:lnTo>
                  <a:pt x="949119" y="46074"/>
                </a:lnTo>
                <a:lnTo>
                  <a:pt x="952595" y="47309"/>
                </a:lnTo>
                <a:lnTo>
                  <a:pt x="956072" y="48559"/>
                </a:lnTo>
                <a:lnTo>
                  <a:pt x="959549" y="49823"/>
                </a:lnTo>
                <a:lnTo>
                  <a:pt x="963025" y="51103"/>
                </a:lnTo>
                <a:lnTo>
                  <a:pt x="966502" y="52397"/>
                </a:lnTo>
                <a:lnTo>
                  <a:pt x="969978" y="53705"/>
                </a:lnTo>
                <a:lnTo>
                  <a:pt x="973455" y="55028"/>
                </a:lnTo>
                <a:lnTo>
                  <a:pt x="976932" y="56365"/>
                </a:lnTo>
                <a:lnTo>
                  <a:pt x="980408" y="57717"/>
                </a:lnTo>
                <a:lnTo>
                  <a:pt x="983885" y="59083"/>
                </a:lnTo>
                <a:lnTo>
                  <a:pt x="987362" y="60463"/>
                </a:lnTo>
                <a:lnTo>
                  <a:pt x="990838" y="61857"/>
                </a:lnTo>
                <a:lnTo>
                  <a:pt x="994315" y="63265"/>
                </a:lnTo>
                <a:lnTo>
                  <a:pt x="997791" y="64687"/>
                </a:lnTo>
                <a:lnTo>
                  <a:pt x="1001268" y="66122"/>
                </a:lnTo>
                <a:lnTo>
                  <a:pt x="1004745" y="67572"/>
                </a:lnTo>
                <a:lnTo>
                  <a:pt x="1008221" y="69035"/>
                </a:lnTo>
                <a:lnTo>
                  <a:pt x="1011698" y="70511"/>
                </a:lnTo>
                <a:lnTo>
                  <a:pt x="1015174" y="72001"/>
                </a:lnTo>
                <a:lnTo>
                  <a:pt x="1018651" y="73504"/>
                </a:lnTo>
                <a:lnTo>
                  <a:pt x="1022128" y="75020"/>
                </a:lnTo>
                <a:lnTo>
                  <a:pt x="1025604" y="76550"/>
                </a:lnTo>
                <a:lnTo>
                  <a:pt x="1029081" y="78093"/>
                </a:lnTo>
                <a:lnTo>
                  <a:pt x="1032558" y="79648"/>
                </a:lnTo>
                <a:lnTo>
                  <a:pt x="1036034" y="81217"/>
                </a:lnTo>
                <a:lnTo>
                  <a:pt x="1039511" y="82798"/>
                </a:lnTo>
                <a:lnTo>
                  <a:pt x="1042988" y="84392"/>
                </a:lnTo>
                <a:lnTo>
                  <a:pt x="1046464" y="85998"/>
                </a:lnTo>
                <a:lnTo>
                  <a:pt x="1049941" y="87617"/>
                </a:lnTo>
                <a:lnTo>
                  <a:pt x="1053417" y="89248"/>
                </a:lnTo>
                <a:lnTo>
                  <a:pt x="1056894" y="90892"/>
                </a:lnTo>
                <a:lnTo>
                  <a:pt x="1060371" y="92548"/>
                </a:lnTo>
                <a:lnTo>
                  <a:pt x="1063847" y="94215"/>
                </a:lnTo>
                <a:lnTo>
                  <a:pt x="1067324" y="95895"/>
                </a:lnTo>
                <a:lnTo>
                  <a:pt x="1070801" y="97587"/>
                </a:lnTo>
                <a:lnTo>
                  <a:pt x="1074277" y="99290"/>
                </a:lnTo>
                <a:lnTo>
                  <a:pt x="1077754" y="101005"/>
                </a:lnTo>
                <a:lnTo>
                  <a:pt x="1081230" y="102732"/>
                </a:lnTo>
                <a:lnTo>
                  <a:pt x="1084707" y="104469"/>
                </a:lnTo>
                <a:lnTo>
                  <a:pt x="1088184" y="106219"/>
                </a:lnTo>
                <a:lnTo>
                  <a:pt x="1091660" y="107979"/>
                </a:lnTo>
                <a:lnTo>
                  <a:pt x="1095137" y="109751"/>
                </a:lnTo>
                <a:lnTo>
                  <a:pt x="1098614" y="111534"/>
                </a:lnTo>
                <a:lnTo>
                  <a:pt x="1102090" y="113327"/>
                </a:lnTo>
                <a:lnTo>
                  <a:pt x="1105567" y="115131"/>
                </a:lnTo>
                <a:lnTo>
                  <a:pt x="1109043" y="116946"/>
                </a:lnTo>
                <a:lnTo>
                  <a:pt x="1112520" y="118772"/>
                </a:lnTo>
                <a:lnTo>
                  <a:pt x="1115997" y="120608"/>
                </a:lnTo>
                <a:lnTo>
                  <a:pt x="1119473" y="122454"/>
                </a:lnTo>
                <a:lnTo>
                  <a:pt x="1122950" y="124311"/>
                </a:lnTo>
                <a:lnTo>
                  <a:pt x="1126427" y="126177"/>
                </a:lnTo>
                <a:lnTo>
                  <a:pt x="1129903" y="128054"/>
                </a:lnTo>
                <a:lnTo>
                  <a:pt x="1133380" y="129941"/>
                </a:lnTo>
                <a:lnTo>
                  <a:pt x="1136856" y="131837"/>
                </a:lnTo>
                <a:lnTo>
                  <a:pt x="1140333" y="133743"/>
                </a:lnTo>
                <a:lnTo>
                  <a:pt x="1143810" y="135658"/>
                </a:lnTo>
                <a:lnTo>
                  <a:pt x="1147286" y="137583"/>
                </a:lnTo>
                <a:lnTo>
                  <a:pt x="1150763" y="139517"/>
                </a:lnTo>
                <a:lnTo>
                  <a:pt x="1154240" y="141461"/>
                </a:lnTo>
                <a:lnTo>
                  <a:pt x="1157716" y="143413"/>
                </a:lnTo>
                <a:lnTo>
                  <a:pt x="1161193" y="145374"/>
                </a:lnTo>
                <a:lnTo>
                  <a:pt x="1164669" y="147344"/>
                </a:lnTo>
                <a:lnTo>
                  <a:pt x="1168146" y="149323"/>
                </a:lnTo>
                <a:lnTo>
                  <a:pt x="1171623" y="151310"/>
                </a:lnTo>
                <a:lnTo>
                  <a:pt x="1175099" y="153306"/>
                </a:lnTo>
                <a:lnTo>
                  <a:pt x="1178576" y="155310"/>
                </a:lnTo>
                <a:lnTo>
                  <a:pt x="1182053" y="157322"/>
                </a:lnTo>
                <a:lnTo>
                  <a:pt x="1185529" y="159343"/>
                </a:lnTo>
                <a:lnTo>
                  <a:pt x="1189006" y="161371"/>
                </a:lnTo>
                <a:lnTo>
                  <a:pt x="1192482" y="163407"/>
                </a:lnTo>
                <a:lnTo>
                  <a:pt x="1195959" y="165451"/>
                </a:lnTo>
                <a:lnTo>
                  <a:pt x="1199436" y="167502"/>
                </a:lnTo>
                <a:lnTo>
                  <a:pt x="1202912" y="169561"/>
                </a:lnTo>
                <a:lnTo>
                  <a:pt x="1206389" y="171627"/>
                </a:lnTo>
                <a:lnTo>
                  <a:pt x="1209865" y="173701"/>
                </a:lnTo>
                <a:lnTo>
                  <a:pt x="1213342" y="175781"/>
                </a:lnTo>
                <a:lnTo>
                  <a:pt x="1216819" y="177868"/>
                </a:lnTo>
                <a:lnTo>
                  <a:pt x="1220295" y="179962"/>
                </a:lnTo>
                <a:lnTo>
                  <a:pt x="1223772" y="182063"/>
                </a:lnTo>
                <a:lnTo>
                  <a:pt x="1227249" y="184170"/>
                </a:lnTo>
                <a:lnTo>
                  <a:pt x="1230725" y="186284"/>
                </a:lnTo>
                <a:lnTo>
                  <a:pt x="1234202" y="188404"/>
                </a:lnTo>
                <a:lnTo>
                  <a:pt x="1237679" y="190530"/>
                </a:lnTo>
                <a:lnTo>
                  <a:pt x="1241155" y="192662"/>
                </a:lnTo>
                <a:lnTo>
                  <a:pt x="1244632" y="194801"/>
                </a:lnTo>
                <a:lnTo>
                  <a:pt x="1248108" y="196944"/>
                </a:lnTo>
                <a:lnTo>
                  <a:pt x="1251585" y="199094"/>
                </a:lnTo>
                <a:lnTo>
                  <a:pt x="1255062" y="201249"/>
                </a:lnTo>
                <a:lnTo>
                  <a:pt x="1258538" y="203409"/>
                </a:lnTo>
                <a:lnTo>
                  <a:pt x="1262015" y="205575"/>
                </a:lnTo>
                <a:lnTo>
                  <a:pt x="1265492" y="207745"/>
                </a:lnTo>
                <a:lnTo>
                  <a:pt x="1268968" y="209921"/>
                </a:lnTo>
                <a:lnTo>
                  <a:pt x="1272445" y="212101"/>
                </a:lnTo>
                <a:lnTo>
                  <a:pt x="1275921" y="214286"/>
                </a:lnTo>
                <a:lnTo>
                  <a:pt x="1279398" y="216476"/>
                </a:lnTo>
                <a:lnTo>
                  <a:pt x="1282875" y="218670"/>
                </a:lnTo>
                <a:lnTo>
                  <a:pt x="1286351" y="220868"/>
                </a:lnTo>
                <a:lnTo>
                  <a:pt x="1289828" y="223071"/>
                </a:lnTo>
                <a:lnTo>
                  <a:pt x="1293305" y="225277"/>
                </a:lnTo>
                <a:lnTo>
                  <a:pt x="1296781" y="227488"/>
                </a:lnTo>
                <a:lnTo>
                  <a:pt x="1300258" y="229702"/>
                </a:lnTo>
                <a:lnTo>
                  <a:pt x="1303734" y="231920"/>
                </a:lnTo>
                <a:lnTo>
                  <a:pt x="1307211" y="234141"/>
                </a:lnTo>
                <a:lnTo>
                  <a:pt x="1310688" y="236365"/>
                </a:lnTo>
                <a:lnTo>
                  <a:pt x="1314164" y="238593"/>
                </a:lnTo>
                <a:lnTo>
                  <a:pt x="1317641" y="240824"/>
                </a:lnTo>
                <a:lnTo>
                  <a:pt x="1321118" y="243058"/>
                </a:lnTo>
                <a:lnTo>
                  <a:pt x="1324594" y="245294"/>
                </a:lnTo>
                <a:lnTo>
                  <a:pt x="1328071" y="247533"/>
                </a:lnTo>
                <a:lnTo>
                  <a:pt x="1331547" y="249775"/>
                </a:lnTo>
                <a:lnTo>
                  <a:pt x="1335024" y="252019"/>
                </a:lnTo>
                <a:lnTo>
                  <a:pt x="1338501" y="254265"/>
                </a:lnTo>
                <a:lnTo>
                  <a:pt x="1341977" y="256513"/>
                </a:lnTo>
                <a:lnTo>
                  <a:pt x="1345454" y="258764"/>
                </a:lnTo>
                <a:lnTo>
                  <a:pt x="1348931" y="261016"/>
                </a:lnTo>
                <a:lnTo>
                  <a:pt x="1352407" y="263269"/>
                </a:lnTo>
                <a:lnTo>
                  <a:pt x="1355884" y="265525"/>
                </a:lnTo>
                <a:lnTo>
                  <a:pt x="1359360" y="267781"/>
                </a:lnTo>
                <a:lnTo>
                  <a:pt x="1362837" y="270039"/>
                </a:lnTo>
                <a:lnTo>
                  <a:pt x="1366314" y="272298"/>
                </a:lnTo>
                <a:lnTo>
                  <a:pt x="1369790" y="274558"/>
                </a:lnTo>
                <a:lnTo>
                  <a:pt x="1373267" y="276819"/>
                </a:lnTo>
                <a:lnTo>
                  <a:pt x="1376744" y="279081"/>
                </a:lnTo>
                <a:lnTo>
                  <a:pt x="1380220" y="281343"/>
                </a:lnTo>
                <a:lnTo>
                  <a:pt x="1383697" y="283605"/>
                </a:lnTo>
                <a:lnTo>
                  <a:pt x="1387173" y="285868"/>
                </a:lnTo>
                <a:lnTo>
                  <a:pt x="1390650" y="288131"/>
                </a:lnTo>
                <a:lnTo>
                  <a:pt x="1394127" y="290394"/>
                </a:lnTo>
                <a:lnTo>
                  <a:pt x="1397603" y="292657"/>
                </a:lnTo>
                <a:lnTo>
                  <a:pt x="1401080" y="294920"/>
                </a:lnTo>
                <a:lnTo>
                  <a:pt x="1404557" y="297182"/>
                </a:lnTo>
                <a:lnTo>
                  <a:pt x="1408033" y="299443"/>
                </a:lnTo>
                <a:lnTo>
                  <a:pt x="1411510" y="301704"/>
                </a:lnTo>
                <a:lnTo>
                  <a:pt x="1414986" y="303964"/>
                </a:lnTo>
                <a:lnTo>
                  <a:pt x="1418463" y="306223"/>
                </a:lnTo>
                <a:lnTo>
                  <a:pt x="1421940" y="308481"/>
                </a:lnTo>
                <a:lnTo>
                  <a:pt x="1425416" y="310738"/>
                </a:lnTo>
                <a:lnTo>
                  <a:pt x="1428893" y="312993"/>
                </a:lnTo>
                <a:lnTo>
                  <a:pt x="1432370" y="315247"/>
                </a:lnTo>
                <a:lnTo>
                  <a:pt x="1435846" y="317499"/>
                </a:lnTo>
                <a:lnTo>
                  <a:pt x="1439323" y="319749"/>
                </a:lnTo>
                <a:lnTo>
                  <a:pt x="1442799" y="321997"/>
                </a:lnTo>
                <a:lnTo>
                  <a:pt x="1446276" y="324244"/>
                </a:lnTo>
                <a:lnTo>
                  <a:pt x="1449753" y="326488"/>
                </a:lnTo>
                <a:lnTo>
                  <a:pt x="1453229" y="328729"/>
                </a:lnTo>
                <a:lnTo>
                  <a:pt x="1456706" y="330968"/>
                </a:lnTo>
                <a:lnTo>
                  <a:pt x="1460183" y="333205"/>
                </a:lnTo>
                <a:lnTo>
                  <a:pt x="1463659" y="335439"/>
                </a:lnTo>
                <a:lnTo>
                  <a:pt x="1467136" y="337669"/>
                </a:lnTo>
                <a:lnTo>
                  <a:pt x="1470612" y="339897"/>
                </a:lnTo>
                <a:lnTo>
                  <a:pt x="1474089" y="342122"/>
                </a:lnTo>
                <a:lnTo>
                  <a:pt x="1477566" y="344343"/>
                </a:lnTo>
                <a:lnTo>
                  <a:pt x="1481042" y="346561"/>
                </a:lnTo>
                <a:lnTo>
                  <a:pt x="1484519" y="348775"/>
                </a:lnTo>
                <a:lnTo>
                  <a:pt x="1487996" y="350985"/>
                </a:lnTo>
                <a:lnTo>
                  <a:pt x="1491472" y="353192"/>
                </a:lnTo>
                <a:lnTo>
                  <a:pt x="1494949" y="355394"/>
                </a:lnTo>
                <a:lnTo>
                  <a:pt x="1498425" y="357593"/>
                </a:lnTo>
                <a:lnTo>
                  <a:pt x="1501902" y="359787"/>
                </a:lnTo>
                <a:lnTo>
                  <a:pt x="1505379" y="361976"/>
                </a:lnTo>
                <a:lnTo>
                  <a:pt x="1508855" y="364161"/>
                </a:lnTo>
                <a:lnTo>
                  <a:pt x="1512332" y="366342"/>
                </a:lnTo>
                <a:lnTo>
                  <a:pt x="1515808" y="368517"/>
                </a:lnTo>
                <a:lnTo>
                  <a:pt x="1519285" y="370688"/>
                </a:lnTo>
                <a:lnTo>
                  <a:pt x="1522762" y="372853"/>
                </a:lnTo>
                <a:lnTo>
                  <a:pt x="1526238" y="375014"/>
                </a:lnTo>
                <a:lnTo>
                  <a:pt x="1529715" y="377169"/>
                </a:lnTo>
                <a:lnTo>
                  <a:pt x="1533192" y="379318"/>
                </a:lnTo>
                <a:lnTo>
                  <a:pt x="1536668" y="381462"/>
                </a:lnTo>
                <a:lnTo>
                  <a:pt x="1540145" y="383600"/>
                </a:lnTo>
                <a:lnTo>
                  <a:pt x="1543622" y="385732"/>
                </a:lnTo>
                <a:lnTo>
                  <a:pt x="1547098" y="387858"/>
                </a:lnTo>
                <a:lnTo>
                  <a:pt x="1550575" y="389978"/>
                </a:lnTo>
                <a:lnTo>
                  <a:pt x="1554051" y="392092"/>
                </a:lnTo>
                <a:lnTo>
                  <a:pt x="1557528" y="394199"/>
                </a:lnTo>
                <a:lnTo>
                  <a:pt x="1561005" y="396300"/>
                </a:lnTo>
                <a:lnTo>
                  <a:pt x="1564481" y="398394"/>
                </a:lnTo>
                <a:lnTo>
                  <a:pt x="1567958" y="400482"/>
                </a:lnTo>
                <a:lnTo>
                  <a:pt x="1571435" y="402562"/>
                </a:lnTo>
                <a:lnTo>
                  <a:pt x="1574911" y="404635"/>
                </a:lnTo>
                <a:lnTo>
                  <a:pt x="1578388" y="406701"/>
                </a:lnTo>
                <a:lnTo>
                  <a:pt x="1581864" y="408760"/>
                </a:lnTo>
                <a:lnTo>
                  <a:pt x="1585341" y="410812"/>
                </a:lnTo>
                <a:lnTo>
                  <a:pt x="1588818" y="412855"/>
                </a:lnTo>
                <a:lnTo>
                  <a:pt x="1592294" y="414891"/>
                </a:lnTo>
                <a:lnTo>
                  <a:pt x="1595771" y="416920"/>
                </a:lnTo>
                <a:lnTo>
                  <a:pt x="1599248" y="418940"/>
                </a:lnTo>
                <a:lnTo>
                  <a:pt x="1602724" y="420952"/>
                </a:lnTo>
                <a:lnTo>
                  <a:pt x="1606201" y="422956"/>
                </a:lnTo>
                <a:lnTo>
                  <a:pt x="1609677" y="424952"/>
                </a:lnTo>
                <a:lnTo>
                  <a:pt x="1613154" y="426940"/>
                </a:lnTo>
                <a:lnTo>
                  <a:pt x="1616631" y="428918"/>
                </a:lnTo>
                <a:lnTo>
                  <a:pt x="1620107" y="430888"/>
                </a:lnTo>
                <a:lnTo>
                  <a:pt x="1623584" y="432850"/>
                </a:lnTo>
                <a:lnTo>
                  <a:pt x="1627061" y="434802"/>
                </a:lnTo>
                <a:lnTo>
                  <a:pt x="1630537" y="436745"/>
                </a:lnTo>
                <a:lnTo>
                  <a:pt x="1634014" y="438679"/>
                </a:lnTo>
                <a:lnTo>
                  <a:pt x="1637490" y="440604"/>
                </a:lnTo>
                <a:lnTo>
                  <a:pt x="1640967" y="442520"/>
                </a:lnTo>
                <a:lnTo>
                  <a:pt x="1644444" y="444426"/>
                </a:lnTo>
                <a:lnTo>
                  <a:pt x="1647920" y="446322"/>
                </a:lnTo>
                <a:lnTo>
                  <a:pt x="1651397" y="448208"/>
                </a:lnTo>
                <a:lnTo>
                  <a:pt x="1654874" y="450085"/>
                </a:lnTo>
                <a:lnTo>
                  <a:pt x="1658350" y="451952"/>
                </a:lnTo>
                <a:lnTo>
                  <a:pt x="1661827" y="453808"/>
                </a:lnTo>
                <a:lnTo>
                  <a:pt x="1665303" y="455655"/>
                </a:lnTo>
                <a:lnTo>
                  <a:pt x="1668780" y="457491"/>
                </a:lnTo>
                <a:lnTo>
                  <a:pt x="1672257" y="459316"/>
                </a:lnTo>
                <a:lnTo>
                  <a:pt x="1675733" y="461131"/>
                </a:lnTo>
                <a:lnTo>
                  <a:pt x="1679210" y="462935"/>
                </a:lnTo>
                <a:lnTo>
                  <a:pt x="1682687" y="464729"/>
                </a:lnTo>
                <a:lnTo>
                  <a:pt x="1686163" y="466512"/>
                </a:lnTo>
                <a:lnTo>
                  <a:pt x="1689640" y="468283"/>
                </a:lnTo>
                <a:lnTo>
                  <a:pt x="1693116" y="470044"/>
                </a:lnTo>
                <a:lnTo>
                  <a:pt x="1696593" y="471793"/>
                </a:lnTo>
                <a:lnTo>
                  <a:pt x="1700070" y="473531"/>
                </a:lnTo>
                <a:lnTo>
                  <a:pt x="1703546" y="475258"/>
                </a:lnTo>
                <a:lnTo>
                  <a:pt x="1707023" y="476973"/>
                </a:lnTo>
                <a:lnTo>
                  <a:pt x="1710500" y="478676"/>
                </a:lnTo>
                <a:lnTo>
                  <a:pt x="1713976" y="480367"/>
                </a:lnTo>
                <a:lnTo>
                  <a:pt x="1717453" y="482047"/>
                </a:lnTo>
                <a:lnTo>
                  <a:pt x="1720929" y="483715"/>
                </a:lnTo>
                <a:lnTo>
                  <a:pt x="1724406" y="485371"/>
                </a:lnTo>
                <a:lnTo>
                  <a:pt x="1727883" y="487014"/>
                </a:lnTo>
                <a:lnTo>
                  <a:pt x="1731359" y="488645"/>
                </a:lnTo>
                <a:lnTo>
                  <a:pt x="1734836" y="490264"/>
                </a:lnTo>
                <a:lnTo>
                  <a:pt x="1738313" y="491871"/>
                </a:lnTo>
                <a:lnTo>
                  <a:pt x="1741789" y="493465"/>
                </a:lnTo>
                <a:lnTo>
                  <a:pt x="1745266" y="495046"/>
                </a:lnTo>
                <a:lnTo>
                  <a:pt x="1748742" y="496614"/>
                </a:lnTo>
                <a:lnTo>
                  <a:pt x="1752219" y="498170"/>
                </a:lnTo>
                <a:lnTo>
                  <a:pt x="1755696" y="499713"/>
                </a:lnTo>
                <a:lnTo>
                  <a:pt x="1759172" y="501242"/>
                </a:lnTo>
                <a:lnTo>
                  <a:pt x="1762649" y="502759"/>
                </a:lnTo>
                <a:lnTo>
                  <a:pt x="1766125" y="504262"/>
                </a:lnTo>
                <a:lnTo>
                  <a:pt x="1769602" y="505752"/>
                </a:lnTo>
                <a:lnTo>
                  <a:pt x="1773079" y="507228"/>
                </a:lnTo>
                <a:lnTo>
                  <a:pt x="1776555" y="508691"/>
                </a:lnTo>
                <a:lnTo>
                  <a:pt x="1780032" y="510140"/>
                </a:lnTo>
                <a:lnTo>
                  <a:pt x="1783509" y="511576"/>
                </a:lnTo>
                <a:lnTo>
                  <a:pt x="1786985" y="512998"/>
                </a:lnTo>
                <a:lnTo>
                  <a:pt x="1790462" y="514406"/>
                </a:lnTo>
                <a:lnTo>
                  <a:pt x="1793939" y="515800"/>
                </a:lnTo>
                <a:lnTo>
                  <a:pt x="1797415" y="517180"/>
                </a:lnTo>
                <a:lnTo>
                  <a:pt x="1800892" y="518545"/>
                </a:lnTo>
                <a:lnTo>
                  <a:pt x="1804368" y="519897"/>
                </a:lnTo>
                <a:lnTo>
                  <a:pt x="1807845" y="521234"/>
                </a:lnTo>
                <a:lnTo>
                  <a:pt x="1811322" y="522557"/>
                </a:lnTo>
                <a:lnTo>
                  <a:pt x="1814798" y="523866"/>
                </a:lnTo>
                <a:lnTo>
                  <a:pt x="1818275" y="525160"/>
                </a:lnTo>
                <a:lnTo>
                  <a:pt x="1821752" y="526439"/>
                </a:lnTo>
                <a:lnTo>
                  <a:pt x="1825228" y="527704"/>
                </a:lnTo>
                <a:lnTo>
                  <a:pt x="1828705" y="528953"/>
                </a:lnTo>
                <a:lnTo>
                  <a:pt x="1832181" y="530188"/>
                </a:lnTo>
                <a:lnTo>
                  <a:pt x="1835658" y="531409"/>
                </a:lnTo>
                <a:lnTo>
                  <a:pt x="1839135" y="532614"/>
                </a:lnTo>
                <a:lnTo>
                  <a:pt x="1842611" y="533804"/>
                </a:lnTo>
                <a:lnTo>
                  <a:pt x="1846088" y="534978"/>
                </a:lnTo>
                <a:lnTo>
                  <a:pt x="1849565" y="536138"/>
                </a:lnTo>
                <a:lnTo>
                  <a:pt x="1853041" y="537282"/>
                </a:lnTo>
                <a:lnTo>
                  <a:pt x="1856518" y="538411"/>
                </a:lnTo>
                <a:lnTo>
                  <a:pt x="1859994" y="539525"/>
                </a:lnTo>
                <a:lnTo>
                  <a:pt x="1863471" y="540623"/>
                </a:lnTo>
                <a:lnTo>
                  <a:pt x="1866948" y="541705"/>
                </a:lnTo>
                <a:lnTo>
                  <a:pt x="1870424" y="542772"/>
                </a:lnTo>
                <a:lnTo>
                  <a:pt x="1873901" y="543823"/>
                </a:lnTo>
                <a:lnTo>
                  <a:pt x="1877378" y="544858"/>
                </a:lnTo>
                <a:lnTo>
                  <a:pt x="1880854" y="545878"/>
                </a:lnTo>
                <a:lnTo>
                  <a:pt x="1884331" y="546881"/>
                </a:lnTo>
                <a:lnTo>
                  <a:pt x="1887807" y="547869"/>
                </a:lnTo>
                <a:lnTo>
                  <a:pt x="1891284" y="548840"/>
                </a:lnTo>
                <a:lnTo>
                  <a:pt x="1894761" y="549796"/>
                </a:lnTo>
                <a:lnTo>
                  <a:pt x="1898237" y="550735"/>
                </a:lnTo>
                <a:lnTo>
                  <a:pt x="1901714" y="551658"/>
                </a:lnTo>
                <a:lnTo>
                  <a:pt x="1905190" y="552565"/>
                </a:lnTo>
                <a:lnTo>
                  <a:pt x="1908667" y="553456"/>
                </a:lnTo>
                <a:lnTo>
                  <a:pt x="1912144" y="554330"/>
                </a:lnTo>
                <a:lnTo>
                  <a:pt x="1915620" y="555188"/>
                </a:lnTo>
                <a:lnTo>
                  <a:pt x="1919097" y="556029"/>
                </a:lnTo>
                <a:lnTo>
                  <a:pt x="1922574" y="556854"/>
                </a:lnTo>
                <a:lnTo>
                  <a:pt x="1926050" y="557662"/>
                </a:lnTo>
                <a:lnTo>
                  <a:pt x="1929527" y="558453"/>
                </a:lnTo>
                <a:lnTo>
                  <a:pt x="1933004" y="559228"/>
                </a:lnTo>
                <a:lnTo>
                  <a:pt x="1936480" y="559987"/>
                </a:lnTo>
                <a:lnTo>
                  <a:pt x="1939957" y="560728"/>
                </a:lnTo>
                <a:lnTo>
                  <a:pt x="1943433" y="561453"/>
                </a:lnTo>
                <a:lnTo>
                  <a:pt x="1946910" y="562160"/>
                </a:lnTo>
                <a:lnTo>
                  <a:pt x="1950387" y="562851"/>
                </a:lnTo>
                <a:lnTo>
                  <a:pt x="1953863" y="563525"/>
                </a:lnTo>
                <a:lnTo>
                  <a:pt x="1957340" y="564182"/>
                </a:lnTo>
                <a:lnTo>
                  <a:pt x="1960817" y="564822"/>
                </a:lnTo>
                <a:lnTo>
                  <a:pt x="1964293" y="565445"/>
                </a:lnTo>
                <a:lnTo>
                  <a:pt x="1967770" y="566050"/>
                </a:lnTo>
                <a:lnTo>
                  <a:pt x="1971246" y="566639"/>
                </a:lnTo>
                <a:lnTo>
                  <a:pt x="1974723" y="567210"/>
                </a:lnTo>
                <a:lnTo>
                  <a:pt x="1978200" y="567764"/>
                </a:lnTo>
                <a:lnTo>
                  <a:pt x="1981676" y="568301"/>
                </a:lnTo>
                <a:lnTo>
                  <a:pt x="1985153" y="568821"/>
                </a:lnTo>
                <a:lnTo>
                  <a:pt x="1988629" y="569323"/>
                </a:lnTo>
                <a:lnTo>
                  <a:pt x="1992106" y="569808"/>
                </a:lnTo>
                <a:lnTo>
                  <a:pt x="1995583" y="570276"/>
                </a:lnTo>
                <a:lnTo>
                  <a:pt x="1999059" y="570726"/>
                </a:lnTo>
                <a:lnTo>
                  <a:pt x="2002536" y="571159"/>
                </a:lnTo>
                <a:lnTo>
                  <a:pt x="2006013" y="571574"/>
                </a:lnTo>
                <a:lnTo>
                  <a:pt x="2009489" y="571972"/>
                </a:lnTo>
                <a:lnTo>
                  <a:pt x="2012966" y="572352"/>
                </a:lnTo>
                <a:lnTo>
                  <a:pt x="2016443" y="572715"/>
                </a:lnTo>
                <a:lnTo>
                  <a:pt x="2019919" y="573060"/>
                </a:lnTo>
                <a:lnTo>
                  <a:pt x="2023396" y="573388"/>
                </a:lnTo>
                <a:lnTo>
                  <a:pt x="2026872" y="573698"/>
                </a:lnTo>
                <a:lnTo>
                  <a:pt x="2030349" y="573990"/>
                </a:lnTo>
                <a:lnTo>
                  <a:pt x="2033826" y="574265"/>
                </a:lnTo>
                <a:lnTo>
                  <a:pt x="2037302" y="574522"/>
                </a:lnTo>
                <a:lnTo>
                  <a:pt x="2040779" y="574762"/>
                </a:lnTo>
                <a:lnTo>
                  <a:pt x="2044256" y="574984"/>
                </a:lnTo>
                <a:lnTo>
                  <a:pt x="2047732" y="575188"/>
                </a:lnTo>
                <a:lnTo>
                  <a:pt x="2051209" y="575374"/>
                </a:lnTo>
                <a:lnTo>
                  <a:pt x="2054685" y="575543"/>
                </a:lnTo>
                <a:lnTo>
                  <a:pt x="2058162" y="575694"/>
                </a:lnTo>
                <a:lnTo>
                  <a:pt x="2061639" y="575827"/>
                </a:lnTo>
                <a:lnTo>
                  <a:pt x="2065115" y="575943"/>
                </a:lnTo>
                <a:lnTo>
                  <a:pt x="2068592" y="576040"/>
                </a:lnTo>
                <a:lnTo>
                  <a:pt x="2072068" y="576120"/>
                </a:lnTo>
                <a:lnTo>
                  <a:pt x="2075545" y="576183"/>
                </a:lnTo>
                <a:lnTo>
                  <a:pt x="2079022" y="576227"/>
                </a:lnTo>
                <a:lnTo>
                  <a:pt x="2082498" y="576254"/>
                </a:lnTo>
                <a:lnTo>
                  <a:pt x="2085975" y="576263"/>
                </a:lnTo>
                <a:lnTo>
                  <a:pt x="2089452" y="576254"/>
                </a:lnTo>
                <a:lnTo>
                  <a:pt x="2092928" y="576227"/>
                </a:lnTo>
                <a:lnTo>
                  <a:pt x="2096405" y="576183"/>
                </a:lnTo>
                <a:lnTo>
                  <a:pt x="2099882" y="576120"/>
                </a:lnTo>
                <a:lnTo>
                  <a:pt x="2103358" y="576040"/>
                </a:lnTo>
                <a:lnTo>
                  <a:pt x="2106835" y="575943"/>
                </a:lnTo>
                <a:lnTo>
                  <a:pt x="2110311" y="575827"/>
                </a:lnTo>
                <a:lnTo>
                  <a:pt x="2113788" y="575694"/>
                </a:lnTo>
                <a:lnTo>
                  <a:pt x="2117265" y="575543"/>
                </a:lnTo>
                <a:lnTo>
                  <a:pt x="2120741" y="575374"/>
                </a:lnTo>
                <a:lnTo>
                  <a:pt x="2124218" y="575188"/>
                </a:lnTo>
                <a:lnTo>
                  <a:pt x="2127695" y="574984"/>
                </a:lnTo>
                <a:lnTo>
                  <a:pt x="2131171" y="574762"/>
                </a:lnTo>
                <a:lnTo>
                  <a:pt x="2134648" y="574522"/>
                </a:lnTo>
                <a:lnTo>
                  <a:pt x="2138124" y="574265"/>
                </a:lnTo>
                <a:lnTo>
                  <a:pt x="2141601" y="573990"/>
                </a:lnTo>
                <a:lnTo>
                  <a:pt x="2145078" y="573698"/>
                </a:lnTo>
                <a:lnTo>
                  <a:pt x="2148554" y="573388"/>
                </a:lnTo>
                <a:lnTo>
                  <a:pt x="2152031" y="573060"/>
                </a:lnTo>
                <a:lnTo>
                  <a:pt x="2155508" y="572715"/>
                </a:lnTo>
                <a:lnTo>
                  <a:pt x="2158984" y="572352"/>
                </a:lnTo>
                <a:lnTo>
                  <a:pt x="2162461" y="571972"/>
                </a:lnTo>
                <a:lnTo>
                  <a:pt x="2165937" y="571574"/>
                </a:lnTo>
                <a:lnTo>
                  <a:pt x="2169414" y="571159"/>
                </a:lnTo>
                <a:lnTo>
                  <a:pt x="2172891" y="570726"/>
                </a:lnTo>
                <a:lnTo>
                  <a:pt x="2176367" y="570276"/>
                </a:lnTo>
                <a:lnTo>
                  <a:pt x="2179844" y="569808"/>
                </a:lnTo>
                <a:lnTo>
                  <a:pt x="2183321" y="569323"/>
                </a:lnTo>
                <a:lnTo>
                  <a:pt x="2186797" y="568821"/>
                </a:lnTo>
                <a:lnTo>
                  <a:pt x="2190274" y="568301"/>
                </a:lnTo>
                <a:lnTo>
                  <a:pt x="2193750" y="567764"/>
                </a:lnTo>
                <a:lnTo>
                  <a:pt x="2197227" y="567210"/>
                </a:lnTo>
                <a:lnTo>
                  <a:pt x="2200704" y="566639"/>
                </a:lnTo>
                <a:lnTo>
                  <a:pt x="2204180" y="566050"/>
                </a:lnTo>
                <a:lnTo>
                  <a:pt x="2207657" y="565445"/>
                </a:lnTo>
                <a:lnTo>
                  <a:pt x="2211134" y="564822"/>
                </a:lnTo>
                <a:lnTo>
                  <a:pt x="2214610" y="564182"/>
                </a:lnTo>
                <a:lnTo>
                  <a:pt x="2218087" y="563525"/>
                </a:lnTo>
                <a:lnTo>
                  <a:pt x="2221563" y="562851"/>
                </a:lnTo>
                <a:lnTo>
                  <a:pt x="2225040" y="562160"/>
                </a:lnTo>
                <a:lnTo>
                  <a:pt x="2228517" y="561453"/>
                </a:lnTo>
                <a:lnTo>
                  <a:pt x="2231993" y="560728"/>
                </a:lnTo>
                <a:lnTo>
                  <a:pt x="2235470" y="559987"/>
                </a:lnTo>
                <a:lnTo>
                  <a:pt x="2238947" y="559228"/>
                </a:lnTo>
                <a:lnTo>
                  <a:pt x="2242423" y="558453"/>
                </a:lnTo>
                <a:lnTo>
                  <a:pt x="2245900" y="557662"/>
                </a:lnTo>
                <a:lnTo>
                  <a:pt x="2249376" y="556854"/>
                </a:lnTo>
                <a:lnTo>
                  <a:pt x="2252853" y="556029"/>
                </a:lnTo>
                <a:lnTo>
                  <a:pt x="2256330" y="555188"/>
                </a:lnTo>
                <a:lnTo>
                  <a:pt x="2259806" y="554330"/>
                </a:lnTo>
                <a:lnTo>
                  <a:pt x="2263283" y="553456"/>
                </a:lnTo>
                <a:lnTo>
                  <a:pt x="2266760" y="552565"/>
                </a:lnTo>
                <a:lnTo>
                  <a:pt x="2270236" y="551658"/>
                </a:lnTo>
                <a:lnTo>
                  <a:pt x="2273713" y="550735"/>
                </a:lnTo>
                <a:lnTo>
                  <a:pt x="2277189" y="549796"/>
                </a:lnTo>
                <a:lnTo>
                  <a:pt x="2280666" y="548840"/>
                </a:lnTo>
                <a:lnTo>
                  <a:pt x="2284143" y="547869"/>
                </a:lnTo>
                <a:lnTo>
                  <a:pt x="2287619" y="546881"/>
                </a:lnTo>
                <a:lnTo>
                  <a:pt x="2291096" y="545878"/>
                </a:lnTo>
                <a:lnTo>
                  <a:pt x="2294573" y="544858"/>
                </a:lnTo>
                <a:lnTo>
                  <a:pt x="2298049" y="543823"/>
                </a:lnTo>
                <a:lnTo>
                  <a:pt x="2301526" y="542772"/>
                </a:lnTo>
                <a:lnTo>
                  <a:pt x="2305002" y="541705"/>
                </a:lnTo>
                <a:lnTo>
                  <a:pt x="2308479" y="540623"/>
                </a:lnTo>
                <a:lnTo>
                  <a:pt x="2311956" y="539525"/>
                </a:lnTo>
                <a:lnTo>
                  <a:pt x="2315432" y="538411"/>
                </a:lnTo>
                <a:lnTo>
                  <a:pt x="2318909" y="537282"/>
                </a:lnTo>
                <a:lnTo>
                  <a:pt x="2322386" y="536138"/>
                </a:lnTo>
                <a:lnTo>
                  <a:pt x="2325862" y="534978"/>
                </a:lnTo>
                <a:lnTo>
                  <a:pt x="2329339" y="533804"/>
                </a:lnTo>
                <a:lnTo>
                  <a:pt x="2332815" y="532614"/>
                </a:lnTo>
                <a:lnTo>
                  <a:pt x="2336292" y="531409"/>
                </a:lnTo>
                <a:lnTo>
                  <a:pt x="2339769" y="530188"/>
                </a:lnTo>
                <a:lnTo>
                  <a:pt x="2343245" y="528953"/>
                </a:lnTo>
                <a:lnTo>
                  <a:pt x="2346722" y="527704"/>
                </a:lnTo>
                <a:lnTo>
                  <a:pt x="2350199" y="526439"/>
                </a:lnTo>
                <a:lnTo>
                  <a:pt x="2353675" y="525160"/>
                </a:lnTo>
                <a:lnTo>
                  <a:pt x="2357152" y="523866"/>
                </a:lnTo>
                <a:lnTo>
                  <a:pt x="2360628" y="522557"/>
                </a:lnTo>
                <a:lnTo>
                  <a:pt x="2364105" y="521234"/>
                </a:lnTo>
                <a:lnTo>
                  <a:pt x="2367582" y="519897"/>
                </a:lnTo>
                <a:lnTo>
                  <a:pt x="2371058" y="518545"/>
                </a:lnTo>
                <a:lnTo>
                  <a:pt x="2374535" y="517180"/>
                </a:lnTo>
                <a:lnTo>
                  <a:pt x="2378011" y="515800"/>
                </a:lnTo>
                <a:lnTo>
                  <a:pt x="2381488" y="514406"/>
                </a:lnTo>
                <a:lnTo>
                  <a:pt x="2384965" y="512998"/>
                </a:lnTo>
                <a:lnTo>
                  <a:pt x="2388441" y="511576"/>
                </a:lnTo>
                <a:lnTo>
                  <a:pt x="2391918" y="510140"/>
                </a:lnTo>
                <a:lnTo>
                  <a:pt x="2395395" y="508691"/>
                </a:lnTo>
                <a:lnTo>
                  <a:pt x="2398871" y="507228"/>
                </a:lnTo>
                <a:lnTo>
                  <a:pt x="2402348" y="505752"/>
                </a:lnTo>
                <a:lnTo>
                  <a:pt x="2405825" y="504262"/>
                </a:lnTo>
                <a:lnTo>
                  <a:pt x="2409301" y="502759"/>
                </a:lnTo>
                <a:lnTo>
                  <a:pt x="2412778" y="501242"/>
                </a:lnTo>
                <a:lnTo>
                  <a:pt x="2416254" y="499713"/>
                </a:lnTo>
                <a:lnTo>
                  <a:pt x="2419731" y="498170"/>
                </a:lnTo>
                <a:lnTo>
                  <a:pt x="2423208" y="496614"/>
                </a:lnTo>
                <a:lnTo>
                  <a:pt x="2426684" y="495046"/>
                </a:lnTo>
                <a:lnTo>
                  <a:pt x="2430161" y="493465"/>
                </a:lnTo>
                <a:lnTo>
                  <a:pt x="2433638" y="491871"/>
                </a:lnTo>
                <a:lnTo>
                  <a:pt x="2437114" y="490264"/>
                </a:lnTo>
                <a:lnTo>
                  <a:pt x="2440591" y="488645"/>
                </a:lnTo>
                <a:lnTo>
                  <a:pt x="2444067" y="487014"/>
                </a:lnTo>
                <a:lnTo>
                  <a:pt x="2447544" y="485371"/>
                </a:lnTo>
                <a:lnTo>
                  <a:pt x="2451021" y="483715"/>
                </a:lnTo>
                <a:lnTo>
                  <a:pt x="2454497" y="482047"/>
                </a:lnTo>
                <a:lnTo>
                  <a:pt x="2457974" y="480367"/>
                </a:lnTo>
                <a:lnTo>
                  <a:pt x="2461451" y="478676"/>
                </a:lnTo>
                <a:lnTo>
                  <a:pt x="2464927" y="476973"/>
                </a:lnTo>
                <a:lnTo>
                  <a:pt x="2468404" y="475258"/>
                </a:lnTo>
                <a:lnTo>
                  <a:pt x="2471880" y="473531"/>
                </a:lnTo>
                <a:lnTo>
                  <a:pt x="2475357" y="471793"/>
                </a:lnTo>
                <a:lnTo>
                  <a:pt x="2478834" y="470044"/>
                </a:lnTo>
                <a:lnTo>
                  <a:pt x="2482310" y="468283"/>
                </a:lnTo>
                <a:lnTo>
                  <a:pt x="2485787" y="466512"/>
                </a:lnTo>
                <a:lnTo>
                  <a:pt x="2489263" y="464729"/>
                </a:lnTo>
                <a:lnTo>
                  <a:pt x="2492740" y="462935"/>
                </a:lnTo>
                <a:lnTo>
                  <a:pt x="2496217" y="461131"/>
                </a:lnTo>
                <a:lnTo>
                  <a:pt x="2499693" y="459316"/>
                </a:lnTo>
                <a:lnTo>
                  <a:pt x="2503170" y="457491"/>
                </a:lnTo>
                <a:lnTo>
                  <a:pt x="2506647" y="455655"/>
                </a:lnTo>
                <a:lnTo>
                  <a:pt x="2510123" y="453808"/>
                </a:lnTo>
                <a:lnTo>
                  <a:pt x="2513600" y="451952"/>
                </a:lnTo>
                <a:lnTo>
                  <a:pt x="2517077" y="450085"/>
                </a:lnTo>
                <a:lnTo>
                  <a:pt x="2520553" y="448208"/>
                </a:lnTo>
                <a:lnTo>
                  <a:pt x="2524030" y="446322"/>
                </a:lnTo>
                <a:lnTo>
                  <a:pt x="2527506" y="444426"/>
                </a:lnTo>
                <a:lnTo>
                  <a:pt x="2530983" y="442520"/>
                </a:lnTo>
                <a:lnTo>
                  <a:pt x="2534460" y="440604"/>
                </a:lnTo>
                <a:lnTo>
                  <a:pt x="2537936" y="438679"/>
                </a:lnTo>
                <a:lnTo>
                  <a:pt x="2541413" y="436745"/>
                </a:lnTo>
                <a:lnTo>
                  <a:pt x="2544890" y="434802"/>
                </a:lnTo>
                <a:lnTo>
                  <a:pt x="2548366" y="432850"/>
                </a:lnTo>
                <a:lnTo>
                  <a:pt x="2551843" y="430888"/>
                </a:lnTo>
                <a:lnTo>
                  <a:pt x="2555319" y="428918"/>
                </a:lnTo>
                <a:lnTo>
                  <a:pt x="2558796" y="426940"/>
                </a:lnTo>
                <a:lnTo>
                  <a:pt x="2562273" y="424952"/>
                </a:lnTo>
                <a:lnTo>
                  <a:pt x="2565749" y="422956"/>
                </a:lnTo>
                <a:lnTo>
                  <a:pt x="2569226" y="420952"/>
                </a:lnTo>
                <a:lnTo>
                  <a:pt x="2572703" y="418940"/>
                </a:lnTo>
                <a:lnTo>
                  <a:pt x="2576179" y="416920"/>
                </a:lnTo>
                <a:lnTo>
                  <a:pt x="2579656" y="414891"/>
                </a:lnTo>
                <a:lnTo>
                  <a:pt x="2583132" y="412855"/>
                </a:lnTo>
                <a:lnTo>
                  <a:pt x="2586609" y="410812"/>
                </a:lnTo>
                <a:lnTo>
                  <a:pt x="2590086" y="408760"/>
                </a:lnTo>
                <a:lnTo>
                  <a:pt x="2593562" y="406701"/>
                </a:lnTo>
                <a:lnTo>
                  <a:pt x="2597039" y="404635"/>
                </a:lnTo>
                <a:lnTo>
                  <a:pt x="2600516" y="402562"/>
                </a:lnTo>
                <a:lnTo>
                  <a:pt x="2603992" y="400482"/>
                </a:lnTo>
                <a:lnTo>
                  <a:pt x="2607469" y="398394"/>
                </a:lnTo>
                <a:lnTo>
                  <a:pt x="2610945" y="396300"/>
                </a:lnTo>
                <a:lnTo>
                  <a:pt x="2614422" y="394199"/>
                </a:lnTo>
                <a:lnTo>
                  <a:pt x="2617899" y="392092"/>
                </a:lnTo>
                <a:lnTo>
                  <a:pt x="2621375" y="389978"/>
                </a:lnTo>
                <a:lnTo>
                  <a:pt x="2624852" y="387858"/>
                </a:lnTo>
                <a:lnTo>
                  <a:pt x="2628329" y="385732"/>
                </a:lnTo>
                <a:lnTo>
                  <a:pt x="2631805" y="383600"/>
                </a:lnTo>
                <a:lnTo>
                  <a:pt x="2635282" y="381462"/>
                </a:lnTo>
                <a:lnTo>
                  <a:pt x="2638758" y="379318"/>
                </a:lnTo>
                <a:lnTo>
                  <a:pt x="2642235" y="377169"/>
                </a:lnTo>
                <a:lnTo>
                  <a:pt x="2645712" y="375014"/>
                </a:lnTo>
                <a:lnTo>
                  <a:pt x="2649188" y="372853"/>
                </a:lnTo>
                <a:lnTo>
                  <a:pt x="2652665" y="370688"/>
                </a:lnTo>
                <a:lnTo>
                  <a:pt x="2656142" y="368517"/>
                </a:lnTo>
                <a:lnTo>
                  <a:pt x="2659618" y="366342"/>
                </a:lnTo>
                <a:lnTo>
                  <a:pt x="2663095" y="364161"/>
                </a:lnTo>
                <a:lnTo>
                  <a:pt x="2666571" y="361976"/>
                </a:lnTo>
                <a:lnTo>
                  <a:pt x="2670048" y="359787"/>
                </a:lnTo>
                <a:lnTo>
                  <a:pt x="2673525" y="357593"/>
                </a:lnTo>
                <a:lnTo>
                  <a:pt x="2677001" y="355394"/>
                </a:lnTo>
                <a:lnTo>
                  <a:pt x="2680478" y="353192"/>
                </a:lnTo>
                <a:lnTo>
                  <a:pt x="2683954" y="350985"/>
                </a:lnTo>
                <a:lnTo>
                  <a:pt x="2687431" y="348775"/>
                </a:lnTo>
                <a:lnTo>
                  <a:pt x="2690908" y="346561"/>
                </a:lnTo>
                <a:lnTo>
                  <a:pt x="2694384" y="344343"/>
                </a:lnTo>
                <a:lnTo>
                  <a:pt x="2697861" y="342122"/>
                </a:lnTo>
                <a:lnTo>
                  <a:pt x="2701338" y="339897"/>
                </a:lnTo>
                <a:lnTo>
                  <a:pt x="2704814" y="337669"/>
                </a:lnTo>
                <a:lnTo>
                  <a:pt x="2708291" y="335439"/>
                </a:lnTo>
                <a:lnTo>
                  <a:pt x="2711768" y="333205"/>
                </a:lnTo>
                <a:lnTo>
                  <a:pt x="2715244" y="330968"/>
                </a:lnTo>
                <a:lnTo>
                  <a:pt x="2718721" y="328729"/>
                </a:lnTo>
                <a:lnTo>
                  <a:pt x="2722197" y="326488"/>
                </a:lnTo>
                <a:lnTo>
                  <a:pt x="2725674" y="324244"/>
                </a:lnTo>
                <a:lnTo>
                  <a:pt x="2729151" y="321997"/>
                </a:lnTo>
                <a:lnTo>
                  <a:pt x="2732627" y="319749"/>
                </a:lnTo>
                <a:lnTo>
                  <a:pt x="2736104" y="317499"/>
                </a:lnTo>
                <a:lnTo>
                  <a:pt x="2739581" y="315247"/>
                </a:lnTo>
                <a:lnTo>
                  <a:pt x="2743057" y="312993"/>
                </a:lnTo>
                <a:lnTo>
                  <a:pt x="2746534" y="310738"/>
                </a:lnTo>
                <a:lnTo>
                  <a:pt x="2750010" y="308481"/>
                </a:lnTo>
                <a:lnTo>
                  <a:pt x="2753487" y="306223"/>
                </a:lnTo>
                <a:lnTo>
                  <a:pt x="2756964" y="303964"/>
                </a:lnTo>
                <a:lnTo>
                  <a:pt x="2760440" y="301704"/>
                </a:lnTo>
                <a:lnTo>
                  <a:pt x="2763917" y="299443"/>
                </a:lnTo>
                <a:lnTo>
                  <a:pt x="2767394" y="297182"/>
                </a:lnTo>
                <a:lnTo>
                  <a:pt x="2770870" y="294920"/>
                </a:lnTo>
                <a:lnTo>
                  <a:pt x="2774347" y="292657"/>
                </a:lnTo>
                <a:lnTo>
                  <a:pt x="2777823" y="290394"/>
                </a:lnTo>
                <a:lnTo>
                  <a:pt x="2781300" y="288131"/>
                </a:lnTo>
              </a:path>
            </a:pathLst>
          </a:custGeom>
          <a:noFill xmlns:a="http://schemas.openxmlformats.org/drawingml/2006/main"/>
          <a:ln xmlns:a="http://schemas.openxmlformats.org/drawingml/2006/main" w="15240">
            <a:solidFill>
              <a:srgbClr val="202020"/>
            </a:solidFill>
          </a:ln>
        </p:spPr>
      </p:sp>
      <p:sp>
        <p:nvSpPr>
          <p:cNvPr id="14" name="!!am-am-scale-arrow-line">
            <a:extLst xmlns:a="http://schemas.openxmlformats.org/drawingml/2006/main">
              <a:ext uri="{FF2B5EF4-FFF2-40B4-BE49-F238E27FC236}">
                <a16:creationId xmlns:a16="http://schemas.microsoft.com/office/drawing/2014/main" id="{EEF4764D-41B3-4497-B810-1CCAE07B50E9}"/>
              </a:ext>
            </a:extLst>
          </p:cNvPr>
          <p:cNvSpPr>
            <a:spLocks xmlns:a="http://schemas.openxmlformats.org/drawingml/2006/main" noGrp="1"/>
          </p:cNvSpPr>
          <p:nvPr/>
        </p:nvSpPr>
        <p:spPr>
          <a:xfrm xmlns:a="http://schemas.openxmlformats.org/drawingml/2006/main">
            <a:off x="3581400" y="24098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5" name="!!am-am-scale-arrow-head">
            <a:extLst xmlns:a="http://schemas.openxmlformats.org/drawingml/2006/main">
              <a:ext uri="{FF2B5EF4-FFF2-40B4-BE49-F238E27FC236}">
                <a16:creationId xmlns:a16="http://schemas.microsoft.com/office/drawing/2014/main" id="{61C7FEE0-BCF6-4E52-A962-EAEF30257C90}"/>
              </a:ext>
            </a:extLst>
          </p:cNvPr>
          <p:cNvSpPr>
            <a:spLocks xmlns:a="http://schemas.openxmlformats.org/drawingml/2006/main" noGrp="1"/>
          </p:cNvSpPr>
          <p:nvPr/>
        </p:nvSpPr>
        <p:spPr>
          <a:xfrm xmlns:a="http://schemas.openxmlformats.org/drawingml/2006/main" rot="5400000">
            <a:off x="4229100" y="23622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6" name="!!am-am-scale-g1-r0-wave">
            <a:extLst xmlns:a="http://schemas.openxmlformats.org/drawingml/2006/main">
              <a:ext uri="{FF2B5EF4-FFF2-40B4-BE49-F238E27FC236}">
                <a16:creationId xmlns:a16="http://schemas.microsoft.com/office/drawing/2014/main" id="{5E8332E2-2037-4859-8CEB-DED8587FF23C}"/>
              </a:ext>
            </a:extLst>
          </p:cNvPr>
          <p:cNvSpPr>
            <a:spLocks xmlns:a="http://schemas.openxmlformats.org/drawingml/2006/main" noGrp="1"/>
          </p:cNvSpPr>
          <p:nvPr/>
        </p:nvSpPr>
        <p:spPr>
          <a:xfrm xmlns:a="http://schemas.openxmlformats.org/drawingml/2006/main">
            <a:off x="4572000" y="3037046"/>
            <a:ext cx="2781300" cy="345757"/>
          </a:xfrm>
          <a:custGeom xmlns:a="http://schemas.openxmlformats.org/drawingml/2006/main">
            <a:pathLst>
              <a:path w="2781300" h="345757">
                <a:moveTo>
                  <a:pt x="0" y="172879"/>
                </a:moveTo>
                <a:lnTo>
                  <a:pt x="3477" y="171521"/>
                </a:lnTo>
                <a:lnTo>
                  <a:pt x="6953" y="170163"/>
                </a:lnTo>
                <a:lnTo>
                  <a:pt x="10430" y="168806"/>
                </a:lnTo>
                <a:lnTo>
                  <a:pt x="13906" y="167448"/>
                </a:lnTo>
                <a:lnTo>
                  <a:pt x="17383" y="166092"/>
                </a:lnTo>
                <a:lnTo>
                  <a:pt x="20860" y="164735"/>
                </a:lnTo>
                <a:lnTo>
                  <a:pt x="24336" y="163379"/>
                </a:lnTo>
                <a:lnTo>
                  <a:pt x="27813" y="162024"/>
                </a:lnTo>
                <a:lnTo>
                  <a:pt x="31290" y="160669"/>
                </a:lnTo>
                <a:lnTo>
                  <a:pt x="34766" y="159315"/>
                </a:lnTo>
                <a:lnTo>
                  <a:pt x="38243" y="157962"/>
                </a:lnTo>
                <a:lnTo>
                  <a:pt x="41719" y="156609"/>
                </a:lnTo>
                <a:lnTo>
                  <a:pt x="45196" y="155258"/>
                </a:lnTo>
                <a:lnTo>
                  <a:pt x="48673" y="153908"/>
                </a:lnTo>
                <a:lnTo>
                  <a:pt x="52149" y="152559"/>
                </a:lnTo>
                <a:lnTo>
                  <a:pt x="55626" y="151211"/>
                </a:lnTo>
                <a:lnTo>
                  <a:pt x="59103" y="149865"/>
                </a:lnTo>
                <a:lnTo>
                  <a:pt x="62579" y="148520"/>
                </a:lnTo>
                <a:lnTo>
                  <a:pt x="66056" y="147176"/>
                </a:lnTo>
                <a:lnTo>
                  <a:pt x="69533" y="145835"/>
                </a:lnTo>
                <a:lnTo>
                  <a:pt x="73009" y="144494"/>
                </a:lnTo>
                <a:lnTo>
                  <a:pt x="76486" y="143156"/>
                </a:lnTo>
                <a:lnTo>
                  <a:pt x="79962" y="141819"/>
                </a:lnTo>
                <a:lnTo>
                  <a:pt x="83439" y="140485"/>
                </a:lnTo>
                <a:lnTo>
                  <a:pt x="86916" y="139152"/>
                </a:lnTo>
                <a:lnTo>
                  <a:pt x="90392" y="137821"/>
                </a:lnTo>
                <a:lnTo>
                  <a:pt x="93869" y="136493"/>
                </a:lnTo>
                <a:lnTo>
                  <a:pt x="97346" y="135166"/>
                </a:lnTo>
                <a:lnTo>
                  <a:pt x="100822" y="133843"/>
                </a:lnTo>
                <a:lnTo>
                  <a:pt x="104299" y="132521"/>
                </a:lnTo>
                <a:lnTo>
                  <a:pt x="107775" y="131202"/>
                </a:lnTo>
                <a:lnTo>
                  <a:pt x="111252" y="129886"/>
                </a:lnTo>
                <a:lnTo>
                  <a:pt x="114729" y="128572"/>
                </a:lnTo>
                <a:lnTo>
                  <a:pt x="118205" y="127261"/>
                </a:lnTo>
                <a:lnTo>
                  <a:pt x="121682" y="125952"/>
                </a:lnTo>
                <a:lnTo>
                  <a:pt x="125158" y="124647"/>
                </a:lnTo>
                <a:lnTo>
                  <a:pt x="128635" y="123345"/>
                </a:lnTo>
                <a:lnTo>
                  <a:pt x="132112" y="122045"/>
                </a:lnTo>
                <a:lnTo>
                  <a:pt x="135588" y="120749"/>
                </a:lnTo>
                <a:lnTo>
                  <a:pt x="139065" y="119456"/>
                </a:lnTo>
                <a:lnTo>
                  <a:pt x="142542" y="118167"/>
                </a:lnTo>
                <a:lnTo>
                  <a:pt x="146018" y="116880"/>
                </a:lnTo>
                <a:lnTo>
                  <a:pt x="149495" y="115597"/>
                </a:lnTo>
                <a:lnTo>
                  <a:pt x="152972" y="114318"/>
                </a:lnTo>
                <a:lnTo>
                  <a:pt x="156448" y="113042"/>
                </a:lnTo>
                <a:lnTo>
                  <a:pt x="159925" y="111770"/>
                </a:lnTo>
                <a:lnTo>
                  <a:pt x="163401" y="110502"/>
                </a:lnTo>
                <a:lnTo>
                  <a:pt x="166878" y="109238"/>
                </a:lnTo>
                <a:lnTo>
                  <a:pt x="170355" y="107977"/>
                </a:lnTo>
                <a:lnTo>
                  <a:pt x="173831" y="106721"/>
                </a:lnTo>
                <a:lnTo>
                  <a:pt x="177308" y="105469"/>
                </a:lnTo>
                <a:lnTo>
                  <a:pt x="180785" y="104220"/>
                </a:lnTo>
                <a:lnTo>
                  <a:pt x="184261" y="102976"/>
                </a:lnTo>
                <a:lnTo>
                  <a:pt x="187738" y="101737"/>
                </a:lnTo>
                <a:lnTo>
                  <a:pt x="191214" y="100501"/>
                </a:lnTo>
                <a:lnTo>
                  <a:pt x="194691" y="99271"/>
                </a:lnTo>
                <a:lnTo>
                  <a:pt x="198168" y="98044"/>
                </a:lnTo>
                <a:lnTo>
                  <a:pt x="201644" y="96823"/>
                </a:lnTo>
                <a:lnTo>
                  <a:pt x="205121" y="95606"/>
                </a:lnTo>
                <a:lnTo>
                  <a:pt x="208597" y="94393"/>
                </a:lnTo>
                <a:lnTo>
                  <a:pt x="212074" y="93186"/>
                </a:lnTo>
                <a:lnTo>
                  <a:pt x="215551" y="91984"/>
                </a:lnTo>
                <a:lnTo>
                  <a:pt x="219027" y="90786"/>
                </a:lnTo>
                <a:lnTo>
                  <a:pt x="222504" y="89594"/>
                </a:lnTo>
                <a:lnTo>
                  <a:pt x="225981" y="88407"/>
                </a:lnTo>
                <a:lnTo>
                  <a:pt x="229457" y="87224"/>
                </a:lnTo>
                <a:lnTo>
                  <a:pt x="232934" y="86048"/>
                </a:lnTo>
                <a:lnTo>
                  <a:pt x="236410" y="84876"/>
                </a:lnTo>
                <a:lnTo>
                  <a:pt x="239887" y="83710"/>
                </a:lnTo>
                <a:lnTo>
                  <a:pt x="243364" y="82550"/>
                </a:lnTo>
                <a:lnTo>
                  <a:pt x="246840" y="81395"/>
                </a:lnTo>
                <a:lnTo>
                  <a:pt x="250317" y="80246"/>
                </a:lnTo>
                <a:lnTo>
                  <a:pt x="253794" y="79102"/>
                </a:lnTo>
                <a:lnTo>
                  <a:pt x="257270" y="77964"/>
                </a:lnTo>
                <a:lnTo>
                  <a:pt x="260747" y="76832"/>
                </a:lnTo>
                <a:lnTo>
                  <a:pt x="264224" y="75706"/>
                </a:lnTo>
                <a:lnTo>
                  <a:pt x="267700" y="74586"/>
                </a:lnTo>
                <a:lnTo>
                  <a:pt x="271177" y="73473"/>
                </a:lnTo>
                <a:lnTo>
                  <a:pt x="274653" y="72365"/>
                </a:lnTo>
                <a:lnTo>
                  <a:pt x="278130" y="71263"/>
                </a:lnTo>
                <a:lnTo>
                  <a:pt x="281607" y="70168"/>
                </a:lnTo>
                <a:lnTo>
                  <a:pt x="285083" y="69079"/>
                </a:lnTo>
                <a:lnTo>
                  <a:pt x="288560" y="67996"/>
                </a:lnTo>
                <a:lnTo>
                  <a:pt x="292037" y="66920"/>
                </a:lnTo>
                <a:lnTo>
                  <a:pt x="295513" y="65851"/>
                </a:lnTo>
                <a:lnTo>
                  <a:pt x="298990" y="64788"/>
                </a:lnTo>
                <a:lnTo>
                  <a:pt x="302466" y="63731"/>
                </a:lnTo>
                <a:lnTo>
                  <a:pt x="305943" y="62682"/>
                </a:lnTo>
                <a:lnTo>
                  <a:pt x="309420" y="61639"/>
                </a:lnTo>
                <a:lnTo>
                  <a:pt x="312896" y="60603"/>
                </a:lnTo>
                <a:lnTo>
                  <a:pt x="316373" y="59574"/>
                </a:lnTo>
                <a:lnTo>
                  <a:pt x="319850" y="58552"/>
                </a:lnTo>
                <a:lnTo>
                  <a:pt x="323326" y="57537"/>
                </a:lnTo>
                <a:lnTo>
                  <a:pt x="326803" y="56529"/>
                </a:lnTo>
                <a:lnTo>
                  <a:pt x="330279" y="55529"/>
                </a:lnTo>
                <a:lnTo>
                  <a:pt x="333756" y="54535"/>
                </a:lnTo>
                <a:lnTo>
                  <a:pt x="337233" y="53549"/>
                </a:lnTo>
                <a:lnTo>
                  <a:pt x="340709" y="52570"/>
                </a:lnTo>
                <a:lnTo>
                  <a:pt x="344186" y="51599"/>
                </a:lnTo>
                <a:lnTo>
                  <a:pt x="347663" y="50635"/>
                </a:lnTo>
                <a:lnTo>
                  <a:pt x="351139" y="49679"/>
                </a:lnTo>
                <a:lnTo>
                  <a:pt x="354616" y="48730"/>
                </a:lnTo>
                <a:lnTo>
                  <a:pt x="358092" y="47789"/>
                </a:lnTo>
                <a:lnTo>
                  <a:pt x="361569" y="46856"/>
                </a:lnTo>
                <a:lnTo>
                  <a:pt x="365046" y="45930"/>
                </a:lnTo>
                <a:lnTo>
                  <a:pt x="368522" y="45012"/>
                </a:lnTo>
                <a:lnTo>
                  <a:pt x="371999" y="44102"/>
                </a:lnTo>
                <a:lnTo>
                  <a:pt x="375475" y="43200"/>
                </a:lnTo>
                <a:lnTo>
                  <a:pt x="378952" y="42307"/>
                </a:lnTo>
                <a:lnTo>
                  <a:pt x="382429" y="41421"/>
                </a:lnTo>
                <a:lnTo>
                  <a:pt x="385905" y="40543"/>
                </a:lnTo>
                <a:lnTo>
                  <a:pt x="389382" y="39673"/>
                </a:lnTo>
                <a:lnTo>
                  <a:pt x="392859" y="38812"/>
                </a:lnTo>
                <a:lnTo>
                  <a:pt x="396335" y="37959"/>
                </a:lnTo>
                <a:lnTo>
                  <a:pt x="399812" y="37114"/>
                </a:lnTo>
                <a:lnTo>
                  <a:pt x="403289" y="36278"/>
                </a:lnTo>
                <a:lnTo>
                  <a:pt x="406765" y="35450"/>
                </a:lnTo>
                <a:lnTo>
                  <a:pt x="410242" y="34630"/>
                </a:lnTo>
                <a:lnTo>
                  <a:pt x="413718" y="33819"/>
                </a:lnTo>
                <a:lnTo>
                  <a:pt x="417195" y="33017"/>
                </a:lnTo>
                <a:lnTo>
                  <a:pt x="420672" y="32223"/>
                </a:lnTo>
                <a:lnTo>
                  <a:pt x="424148" y="31438"/>
                </a:lnTo>
                <a:lnTo>
                  <a:pt x="427625" y="30662"/>
                </a:lnTo>
                <a:lnTo>
                  <a:pt x="431101" y="29894"/>
                </a:lnTo>
                <a:lnTo>
                  <a:pt x="434578" y="29135"/>
                </a:lnTo>
                <a:lnTo>
                  <a:pt x="438055" y="28385"/>
                </a:lnTo>
                <a:lnTo>
                  <a:pt x="441531" y="27644"/>
                </a:lnTo>
                <a:lnTo>
                  <a:pt x="445008" y="26912"/>
                </a:lnTo>
                <a:lnTo>
                  <a:pt x="448485" y="26189"/>
                </a:lnTo>
                <a:lnTo>
                  <a:pt x="451961" y="25475"/>
                </a:lnTo>
                <a:lnTo>
                  <a:pt x="455438" y="24770"/>
                </a:lnTo>
                <a:lnTo>
                  <a:pt x="458914" y="24075"/>
                </a:lnTo>
                <a:lnTo>
                  <a:pt x="462391" y="23388"/>
                </a:lnTo>
                <a:lnTo>
                  <a:pt x="465868" y="22711"/>
                </a:lnTo>
                <a:lnTo>
                  <a:pt x="469344" y="22043"/>
                </a:lnTo>
                <a:lnTo>
                  <a:pt x="472821" y="21384"/>
                </a:lnTo>
                <a:lnTo>
                  <a:pt x="476298" y="20735"/>
                </a:lnTo>
                <a:lnTo>
                  <a:pt x="479774" y="20094"/>
                </a:lnTo>
                <a:lnTo>
                  <a:pt x="483251" y="19464"/>
                </a:lnTo>
                <a:lnTo>
                  <a:pt x="486728" y="18843"/>
                </a:lnTo>
                <a:lnTo>
                  <a:pt x="490204" y="18231"/>
                </a:lnTo>
                <a:lnTo>
                  <a:pt x="493681" y="17629"/>
                </a:lnTo>
                <a:lnTo>
                  <a:pt x="497157" y="17036"/>
                </a:lnTo>
                <a:lnTo>
                  <a:pt x="500634" y="16453"/>
                </a:lnTo>
                <a:lnTo>
                  <a:pt x="504111" y="15880"/>
                </a:lnTo>
                <a:lnTo>
                  <a:pt x="507587" y="15316"/>
                </a:lnTo>
                <a:lnTo>
                  <a:pt x="511064" y="14763"/>
                </a:lnTo>
                <a:lnTo>
                  <a:pt x="514540" y="14218"/>
                </a:lnTo>
                <a:lnTo>
                  <a:pt x="518017" y="13684"/>
                </a:lnTo>
                <a:lnTo>
                  <a:pt x="521494" y="13160"/>
                </a:lnTo>
                <a:lnTo>
                  <a:pt x="524970" y="12645"/>
                </a:lnTo>
                <a:lnTo>
                  <a:pt x="528447" y="12140"/>
                </a:lnTo>
                <a:lnTo>
                  <a:pt x="531924" y="11645"/>
                </a:lnTo>
                <a:lnTo>
                  <a:pt x="535400" y="11160"/>
                </a:lnTo>
                <a:lnTo>
                  <a:pt x="538877" y="10685"/>
                </a:lnTo>
                <a:lnTo>
                  <a:pt x="542354" y="10220"/>
                </a:lnTo>
                <a:lnTo>
                  <a:pt x="545830" y="9766"/>
                </a:lnTo>
                <a:lnTo>
                  <a:pt x="549307" y="9321"/>
                </a:lnTo>
                <a:lnTo>
                  <a:pt x="552783" y="8886"/>
                </a:lnTo>
                <a:lnTo>
                  <a:pt x="556260" y="8461"/>
                </a:lnTo>
                <a:lnTo>
                  <a:pt x="559737" y="8047"/>
                </a:lnTo>
                <a:lnTo>
                  <a:pt x="563213" y="7642"/>
                </a:lnTo>
                <a:lnTo>
                  <a:pt x="566690" y="7248"/>
                </a:lnTo>
                <a:lnTo>
                  <a:pt x="570167" y="6864"/>
                </a:lnTo>
                <a:lnTo>
                  <a:pt x="573643" y="6491"/>
                </a:lnTo>
                <a:lnTo>
                  <a:pt x="577120" y="6127"/>
                </a:lnTo>
                <a:lnTo>
                  <a:pt x="580596" y="5774"/>
                </a:lnTo>
                <a:lnTo>
                  <a:pt x="584073" y="5431"/>
                </a:lnTo>
                <a:lnTo>
                  <a:pt x="587550" y="5099"/>
                </a:lnTo>
                <a:lnTo>
                  <a:pt x="591026" y="4777"/>
                </a:lnTo>
                <a:lnTo>
                  <a:pt x="594503" y="4465"/>
                </a:lnTo>
                <a:lnTo>
                  <a:pt x="597979" y="4163"/>
                </a:lnTo>
                <a:lnTo>
                  <a:pt x="601456" y="3872"/>
                </a:lnTo>
                <a:lnTo>
                  <a:pt x="604933" y="3592"/>
                </a:lnTo>
                <a:lnTo>
                  <a:pt x="608409" y="3322"/>
                </a:lnTo>
                <a:lnTo>
                  <a:pt x="611886" y="3062"/>
                </a:lnTo>
                <a:lnTo>
                  <a:pt x="615363" y="2813"/>
                </a:lnTo>
                <a:lnTo>
                  <a:pt x="618839" y="2574"/>
                </a:lnTo>
                <a:lnTo>
                  <a:pt x="622316" y="2346"/>
                </a:lnTo>
                <a:lnTo>
                  <a:pt x="625793" y="2128"/>
                </a:lnTo>
                <a:lnTo>
                  <a:pt x="629269" y="1921"/>
                </a:lnTo>
                <a:lnTo>
                  <a:pt x="632746" y="1725"/>
                </a:lnTo>
                <a:lnTo>
                  <a:pt x="636222" y="1539"/>
                </a:lnTo>
                <a:lnTo>
                  <a:pt x="639699" y="1363"/>
                </a:lnTo>
                <a:lnTo>
                  <a:pt x="643176" y="1198"/>
                </a:lnTo>
                <a:lnTo>
                  <a:pt x="646652" y="1044"/>
                </a:lnTo>
                <a:lnTo>
                  <a:pt x="650129" y="900"/>
                </a:lnTo>
                <a:lnTo>
                  <a:pt x="653606" y="767"/>
                </a:lnTo>
                <a:lnTo>
                  <a:pt x="657082" y="645"/>
                </a:lnTo>
                <a:lnTo>
                  <a:pt x="660559" y="533"/>
                </a:lnTo>
                <a:lnTo>
                  <a:pt x="664035" y="432"/>
                </a:lnTo>
                <a:lnTo>
                  <a:pt x="667512" y="341"/>
                </a:lnTo>
                <a:lnTo>
                  <a:pt x="670989" y="261"/>
                </a:lnTo>
                <a:lnTo>
                  <a:pt x="674465" y="192"/>
                </a:lnTo>
                <a:lnTo>
                  <a:pt x="677942" y="133"/>
                </a:lnTo>
                <a:lnTo>
                  <a:pt x="681418" y="85"/>
                </a:lnTo>
                <a:lnTo>
                  <a:pt x="684895" y="48"/>
                </a:lnTo>
                <a:lnTo>
                  <a:pt x="688372" y="21"/>
                </a:lnTo>
                <a:lnTo>
                  <a:pt x="691848" y="5"/>
                </a:lnTo>
                <a:lnTo>
                  <a:pt x="695325" y="0"/>
                </a:lnTo>
                <a:lnTo>
                  <a:pt x="698802" y="5"/>
                </a:lnTo>
                <a:lnTo>
                  <a:pt x="702278" y="21"/>
                </a:lnTo>
                <a:lnTo>
                  <a:pt x="705755" y="48"/>
                </a:lnTo>
                <a:lnTo>
                  <a:pt x="709232" y="85"/>
                </a:lnTo>
                <a:lnTo>
                  <a:pt x="712708" y="133"/>
                </a:lnTo>
                <a:lnTo>
                  <a:pt x="716185" y="192"/>
                </a:lnTo>
                <a:lnTo>
                  <a:pt x="719661" y="261"/>
                </a:lnTo>
                <a:lnTo>
                  <a:pt x="723138" y="341"/>
                </a:lnTo>
                <a:lnTo>
                  <a:pt x="726615" y="432"/>
                </a:lnTo>
                <a:lnTo>
                  <a:pt x="730091" y="533"/>
                </a:lnTo>
                <a:lnTo>
                  <a:pt x="733568" y="645"/>
                </a:lnTo>
                <a:lnTo>
                  <a:pt x="737045" y="767"/>
                </a:lnTo>
                <a:lnTo>
                  <a:pt x="740521" y="900"/>
                </a:lnTo>
                <a:lnTo>
                  <a:pt x="743998" y="1044"/>
                </a:lnTo>
                <a:lnTo>
                  <a:pt x="747474" y="1198"/>
                </a:lnTo>
                <a:lnTo>
                  <a:pt x="750951" y="1363"/>
                </a:lnTo>
                <a:lnTo>
                  <a:pt x="754428" y="1539"/>
                </a:lnTo>
                <a:lnTo>
                  <a:pt x="757904" y="1725"/>
                </a:lnTo>
                <a:lnTo>
                  <a:pt x="761381" y="1921"/>
                </a:lnTo>
                <a:lnTo>
                  <a:pt x="764857" y="2128"/>
                </a:lnTo>
                <a:lnTo>
                  <a:pt x="768334" y="2346"/>
                </a:lnTo>
                <a:lnTo>
                  <a:pt x="771811" y="2574"/>
                </a:lnTo>
                <a:lnTo>
                  <a:pt x="775287" y="2813"/>
                </a:lnTo>
                <a:lnTo>
                  <a:pt x="778764" y="3062"/>
                </a:lnTo>
                <a:lnTo>
                  <a:pt x="782241" y="3322"/>
                </a:lnTo>
                <a:lnTo>
                  <a:pt x="785717" y="3592"/>
                </a:lnTo>
                <a:lnTo>
                  <a:pt x="789194" y="3872"/>
                </a:lnTo>
                <a:lnTo>
                  <a:pt x="792671" y="4163"/>
                </a:lnTo>
                <a:lnTo>
                  <a:pt x="796147" y="4465"/>
                </a:lnTo>
                <a:lnTo>
                  <a:pt x="799624" y="4777"/>
                </a:lnTo>
                <a:lnTo>
                  <a:pt x="803100" y="5099"/>
                </a:lnTo>
                <a:lnTo>
                  <a:pt x="806577" y="5431"/>
                </a:lnTo>
                <a:lnTo>
                  <a:pt x="810054" y="5774"/>
                </a:lnTo>
                <a:lnTo>
                  <a:pt x="813530" y="6127"/>
                </a:lnTo>
                <a:lnTo>
                  <a:pt x="817007" y="6491"/>
                </a:lnTo>
                <a:lnTo>
                  <a:pt x="820483" y="6864"/>
                </a:lnTo>
                <a:lnTo>
                  <a:pt x="823960" y="7248"/>
                </a:lnTo>
                <a:lnTo>
                  <a:pt x="827437" y="7642"/>
                </a:lnTo>
                <a:lnTo>
                  <a:pt x="830913" y="8047"/>
                </a:lnTo>
                <a:lnTo>
                  <a:pt x="834390" y="8461"/>
                </a:lnTo>
                <a:lnTo>
                  <a:pt x="837867" y="8886"/>
                </a:lnTo>
                <a:lnTo>
                  <a:pt x="841343" y="9321"/>
                </a:lnTo>
                <a:lnTo>
                  <a:pt x="844820" y="9766"/>
                </a:lnTo>
                <a:lnTo>
                  <a:pt x="848296" y="10220"/>
                </a:lnTo>
                <a:lnTo>
                  <a:pt x="851773" y="10685"/>
                </a:lnTo>
                <a:lnTo>
                  <a:pt x="855250" y="11160"/>
                </a:lnTo>
                <a:lnTo>
                  <a:pt x="858726" y="11645"/>
                </a:lnTo>
                <a:lnTo>
                  <a:pt x="862203" y="12140"/>
                </a:lnTo>
                <a:lnTo>
                  <a:pt x="865680" y="12645"/>
                </a:lnTo>
                <a:lnTo>
                  <a:pt x="869156" y="13160"/>
                </a:lnTo>
                <a:lnTo>
                  <a:pt x="872633" y="13684"/>
                </a:lnTo>
                <a:lnTo>
                  <a:pt x="876110" y="14218"/>
                </a:lnTo>
                <a:lnTo>
                  <a:pt x="879586" y="14763"/>
                </a:lnTo>
                <a:lnTo>
                  <a:pt x="883063" y="15316"/>
                </a:lnTo>
                <a:lnTo>
                  <a:pt x="886539" y="15880"/>
                </a:lnTo>
                <a:lnTo>
                  <a:pt x="890016" y="16453"/>
                </a:lnTo>
                <a:lnTo>
                  <a:pt x="893493" y="17036"/>
                </a:lnTo>
                <a:lnTo>
                  <a:pt x="896969" y="17629"/>
                </a:lnTo>
                <a:lnTo>
                  <a:pt x="900446" y="18231"/>
                </a:lnTo>
                <a:lnTo>
                  <a:pt x="903922" y="18843"/>
                </a:lnTo>
                <a:lnTo>
                  <a:pt x="907399" y="19464"/>
                </a:lnTo>
                <a:lnTo>
                  <a:pt x="910876" y="20094"/>
                </a:lnTo>
                <a:lnTo>
                  <a:pt x="914352" y="20735"/>
                </a:lnTo>
                <a:lnTo>
                  <a:pt x="917829" y="21384"/>
                </a:lnTo>
                <a:lnTo>
                  <a:pt x="921306" y="22043"/>
                </a:lnTo>
                <a:lnTo>
                  <a:pt x="924782" y="22711"/>
                </a:lnTo>
                <a:lnTo>
                  <a:pt x="928259" y="23388"/>
                </a:lnTo>
                <a:lnTo>
                  <a:pt x="931735" y="24075"/>
                </a:lnTo>
                <a:lnTo>
                  <a:pt x="935212" y="24770"/>
                </a:lnTo>
                <a:lnTo>
                  <a:pt x="938689" y="25475"/>
                </a:lnTo>
                <a:lnTo>
                  <a:pt x="942165" y="26189"/>
                </a:lnTo>
                <a:lnTo>
                  <a:pt x="945642" y="26912"/>
                </a:lnTo>
                <a:lnTo>
                  <a:pt x="949119" y="27644"/>
                </a:lnTo>
                <a:lnTo>
                  <a:pt x="952595" y="28385"/>
                </a:lnTo>
                <a:lnTo>
                  <a:pt x="956072" y="29135"/>
                </a:lnTo>
                <a:lnTo>
                  <a:pt x="959549" y="29894"/>
                </a:lnTo>
                <a:lnTo>
                  <a:pt x="963025" y="30662"/>
                </a:lnTo>
                <a:lnTo>
                  <a:pt x="966502" y="31438"/>
                </a:lnTo>
                <a:lnTo>
                  <a:pt x="969978" y="32223"/>
                </a:lnTo>
                <a:lnTo>
                  <a:pt x="973455" y="33017"/>
                </a:lnTo>
                <a:lnTo>
                  <a:pt x="976932" y="33819"/>
                </a:lnTo>
                <a:lnTo>
                  <a:pt x="980408" y="34630"/>
                </a:lnTo>
                <a:lnTo>
                  <a:pt x="983885" y="35450"/>
                </a:lnTo>
                <a:lnTo>
                  <a:pt x="987361" y="36278"/>
                </a:lnTo>
                <a:lnTo>
                  <a:pt x="990838" y="37114"/>
                </a:lnTo>
                <a:lnTo>
                  <a:pt x="994315" y="37959"/>
                </a:lnTo>
                <a:lnTo>
                  <a:pt x="997791" y="38812"/>
                </a:lnTo>
                <a:lnTo>
                  <a:pt x="1001268" y="39673"/>
                </a:lnTo>
                <a:lnTo>
                  <a:pt x="1004745" y="40543"/>
                </a:lnTo>
                <a:lnTo>
                  <a:pt x="1008221" y="41421"/>
                </a:lnTo>
                <a:lnTo>
                  <a:pt x="1011698" y="42307"/>
                </a:lnTo>
                <a:lnTo>
                  <a:pt x="1015175" y="43200"/>
                </a:lnTo>
                <a:lnTo>
                  <a:pt x="1018651" y="44102"/>
                </a:lnTo>
                <a:lnTo>
                  <a:pt x="1022128" y="45012"/>
                </a:lnTo>
                <a:lnTo>
                  <a:pt x="1025604" y="45930"/>
                </a:lnTo>
                <a:lnTo>
                  <a:pt x="1029081" y="46856"/>
                </a:lnTo>
                <a:lnTo>
                  <a:pt x="1032558" y="47789"/>
                </a:lnTo>
                <a:lnTo>
                  <a:pt x="1036034" y="48730"/>
                </a:lnTo>
                <a:lnTo>
                  <a:pt x="1039511" y="49679"/>
                </a:lnTo>
                <a:lnTo>
                  <a:pt x="1042988" y="50635"/>
                </a:lnTo>
                <a:lnTo>
                  <a:pt x="1046464" y="51599"/>
                </a:lnTo>
                <a:lnTo>
                  <a:pt x="1049941" y="52570"/>
                </a:lnTo>
                <a:lnTo>
                  <a:pt x="1053417" y="53549"/>
                </a:lnTo>
                <a:lnTo>
                  <a:pt x="1056894" y="54535"/>
                </a:lnTo>
                <a:lnTo>
                  <a:pt x="1060371" y="55529"/>
                </a:lnTo>
                <a:lnTo>
                  <a:pt x="1063847" y="56529"/>
                </a:lnTo>
                <a:lnTo>
                  <a:pt x="1067324" y="57537"/>
                </a:lnTo>
                <a:lnTo>
                  <a:pt x="1070800" y="58552"/>
                </a:lnTo>
                <a:lnTo>
                  <a:pt x="1074277" y="59574"/>
                </a:lnTo>
                <a:lnTo>
                  <a:pt x="1077754" y="60603"/>
                </a:lnTo>
                <a:lnTo>
                  <a:pt x="1081230" y="61639"/>
                </a:lnTo>
                <a:lnTo>
                  <a:pt x="1084707" y="62682"/>
                </a:lnTo>
                <a:lnTo>
                  <a:pt x="1088184" y="63731"/>
                </a:lnTo>
                <a:lnTo>
                  <a:pt x="1091660" y="64788"/>
                </a:lnTo>
                <a:lnTo>
                  <a:pt x="1095137" y="65851"/>
                </a:lnTo>
                <a:lnTo>
                  <a:pt x="1098614" y="66920"/>
                </a:lnTo>
                <a:lnTo>
                  <a:pt x="1102090" y="67996"/>
                </a:lnTo>
                <a:lnTo>
                  <a:pt x="1105567" y="69079"/>
                </a:lnTo>
                <a:lnTo>
                  <a:pt x="1109043" y="70168"/>
                </a:lnTo>
                <a:lnTo>
                  <a:pt x="1112520" y="71263"/>
                </a:lnTo>
                <a:lnTo>
                  <a:pt x="1115997" y="72365"/>
                </a:lnTo>
                <a:lnTo>
                  <a:pt x="1119473" y="73473"/>
                </a:lnTo>
                <a:lnTo>
                  <a:pt x="1122950" y="74586"/>
                </a:lnTo>
                <a:lnTo>
                  <a:pt x="1126427" y="75706"/>
                </a:lnTo>
                <a:lnTo>
                  <a:pt x="1129903" y="76832"/>
                </a:lnTo>
                <a:lnTo>
                  <a:pt x="1133380" y="77964"/>
                </a:lnTo>
                <a:lnTo>
                  <a:pt x="1136856" y="79102"/>
                </a:lnTo>
                <a:lnTo>
                  <a:pt x="1140333" y="80246"/>
                </a:lnTo>
                <a:lnTo>
                  <a:pt x="1143810" y="81395"/>
                </a:lnTo>
                <a:lnTo>
                  <a:pt x="1147286" y="82550"/>
                </a:lnTo>
                <a:lnTo>
                  <a:pt x="1150763" y="83710"/>
                </a:lnTo>
                <a:lnTo>
                  <a:pt x="1154240" y="84876"/>
                </a:lnTo>
                <a:lnTo>
                  <a:pt x="1157716" y="86048"/>
                </a:lnTo>
                <a:lnTo>
                  <a:pt x="1161193" y="87224"/>
                </a:lnTo>
                <a:lnTo>
                  <a:pt x="1164669" y="88407"/>
                </a:lnTo>
                <a:lnTo>
                  <a:pt x="1168146" y="89594"/>
                </a:lnTo>
                <a:lnTo>
                  <a:pt x="1171623" y="90786"/>
                </a:lnTo>
                <a:lnTo>
                  <a:pt x="1175099" y="91984"/>
                </a:lnTo>
                <a:lnTo>
                  <a:pt x="1178576" y="93186"/>
                </a:lnTo>
                <a:lnTo>
                  <a:pt x="1182053" y="94393"/>
                </a:lnTo>
                <a:lnTo>
                  <a:pt x="1185529" y="95606"/>
                </a:lnTo>
                <a:lnTo>
                  <a:pt x="1189006" y="96823"/>
                </a:lnTo>
                <a:lnTo>
                  <a:pt x="1192482" y="98044"/>
                </a:lnTo>
                <a:lnTo>
                  <a:pt x="1195959" y="99271"/>
                </a:lnTo>
                <a:lnTo>
                  <a:pt x="1199436" y="100501"/>
                </a:lnTo>
                <a:lnTo>
                  <a:pt x="1202912" y="101737"/>
                </a:lnTo>
                <a:lnTo>
                  <a:pt x="1206389" y="102976"/>
                </a:lnTo>
                <a:lnTo>
                  <a:pt x="1209865" y="104220"/>
                </a:lnTo>
                <a:lnTo>
                  <a:pt x="1213342" y="105469"/>
                </a:lnTo>
                <a:lnTo>
                  <a:pt x="1216819" y="106721"/>
                </a:lnTo>
                <a:lnTo>
                  <a:pt x="1220295" y="107977"/>
                </a:lnTo>
                <a:lnTo>
                  <a:pt x="1223772" y="109238"/>
                </a:lnTo>
                <a:lnTo>
                  <a:pt x="1227249" y="110502"/>
                </a:lnTo>
                <a:lnTo>
                  <a:pt x="1230725" y="111770"/>
                </a:lnTo>
                <a:lnTo>
                  <a:pt x="1234202" y="113042"/>
                </a:lnTo>
                <a:lnTo>
                  <a:pt x="1237679" y="114318"/>
                </a:lnTo>
                <a:lnTo>
                  <a:pt x="1241155" y="115597"/>
                </a:lnTo>
                <a:lnTo>
                  <a:pt x="1244632" y="116880"/>
                </a:lnTo>
                <a:lnTo>
                  <a:pt x="1248108" y="118167"/>
                </a:lnTo>
                <a:lnTo>
                  <a:pt x="1251585" y="119456"/>
                </a:lnTo>
                <a:lnTo>
                  <a:pt x="1255062" y="120749"/>
                </a:lnTo>
                <a:lnTo>
                  <a:pt x="1258538" y="122045"/>
                </a:lnTo>
                <a:lnTo>
                  <a:pt x="1262015" y="123345"/>
                </a:lnTo>
                <a:lnTo>
                  <a:pt x="1265492" y="124647"/>
                </a:lnTo>
                <a:lnTo>
                  <a:pt x="1268968" y="125952"/>
                </a:lnTo>
                <a:lnTo>
                  <a:pt x="1272445" y="127261"/>
                </a:lnTo>
                <a:lnTo>
                  <a:pt x="1275921" y="128572"/>
                </a:lnTo>
                <a:lnTo>
                  <a:pt x="1279398" y="129886"/>
                </a:lnTo>
                <a:lnTo>
                  <a:pt x="1282875" y="131202"/>
                </a:lnTo>
                <a:lnTo>
                  <a:pt x="1286351" y="132521"/>
                </a:lnTo>
                <a:lnTo>
                  <a:pt x="1289828" y="133843"/>
                </a:lnTo>
                <a:lnTo>
                  <a:pt x="1293304" y="135166"/>
                </a:lnTo>
                <a:lnTo>
                  <a:pt x="1296781" y="136493"/>
                </a:lnTo>
                <a:lnTo>
                  <a:pt x="1300258" y="137821"/>
                </a:lnTo>
                <a:lnTo>
                  <a:pt x="1303734" y="139152"/>
                </a:lnTo>
                <a:lnTo>
                  <a:pt x="1307211" y="140485"/>
                </a:lnTo>
                <a:lnTo>
                  <a:pt x="1310688" y="141819"/>
                </a:lnTo>
                <a:lnTo>
                  <a:pt x="1314164" y="143156"/>
                </a:lnTo>
                <a:lnTo>
                  <a:pt x="1317641" y="144494"/>
                </a:lnTo>
                <a:lnTo>
                  <a:pt x="1321118" y="145835"/>
                </a:lnTo>
                <a:lnTo>
                  <a:pt x="1324594" y="147176"/>
                </a:lnTo>
                <a:lnTo>
                  <a:pt x="1328071" y="148520"/>
                </a:lnTo>
                <a:lnTo>
                  <a:pt x="1331547" y="149865"/>
                </a:lnTo>
                <a:lnTo>
                  <a:pt x="1335024" y="151211"/>
                </a:lnTo>
                <a:lnTo>
                  <a:pt x="1338501" y="152559"/>
                </a:lnTo>
                <a:lnTo>
                  <a:pt x="1341977" y="153908"/>
                </a:lnTo>
                <a:lnTo>
                  <a:pt x="1345454" y="155258"/>
                </a:lnTo>
                <a:lnTo>
                  <a:pt x="1348931" y="156609"/>
                </a:lnTo>
                <a:lnTo>
                  <a:pt x="1352407" y="157962"/>
                </a:lnTo>
                <a:lnTo>
                  <a:pt x="1355884" y="159315"/>
                </a:lnTo>
                <a:lnTo>
                  <a:pt x="1359360" y="160669"/>
                </a:lnTo>
                <a:lnTo>
                  <a:pt x="1362837" y="162024"/>
                </a:lnTo>
                <a:lnTo>
                  <a:pt x="1366314" y="163379"/>
                </a:lnTo>
                <a:lnTo>
                  <a:pt x="1369790" y="164735"/>
                </a:lnTo>
                <a:lnTo>
                  <a:pt x="1373267" y="166092"/>
                </a:lnTo>
                <a:lnTo>
                  <a:pt x="1376743" y="167448"/>
                </a:lnTo>
                <a:lnTo>
                  <a:pt x="1380220" y="168806"/>
                </a:lnTo>
                <a:lnTo>
                  <a:pt x="1383697" y="170163"/>
                </a:lnTo>
                <a:lnTo>
                  <a:pt x="1387173" y="171521"/>
                </a:lnTo>
                <a:lnTo>
                  <a:pt x="1390650" y="172879"/>
                </a:lnTo>
                <a:lnTo>
                  <a:pt x="1394127" y="174237"/>
                </a:lnTo>
                <a:lnTo>
                  <a:pt x="1397603" y="175594"/>
                </a:lnTo>
                <a:lnTo>
                  <a:pt x="1401080" y="176952"/>
                </a:lnTo>
                <a:lnTo>
                  <a:pt x="1404557" y="178309"/>
                </a:lnTo>
                <a:lnTo>
                  <a:pt x="1408033" y="179666"/>
                </a:lnTo>
                <a:lnTo>
                  <a:pt x="1411510" y="181022"/>
                </a:lnTo>
                <a:lnTo>
                  <a:pt x="1414986" y="182378"/>
                </a:lnTo>
                <a:lnTo>
                  <a:pt x="1418463" y="183734"/>
                </a:lnTo>
                <a:lnTo>
                  <a:pt x="1421940" y="185089"/>
                </a:lnTo>
                <a:lnTo>
                  <a:pt x="1425416" y="186443"/>
                </a:lnTo>
                <a:lnTo>
                  <a:pt x="1428893" y="187796"/>
                </a:lnTo>
                <a:lnTo>
                  <a:pt x="1432370" y="189148"/>
                </a:lnTo>
                <a:lnTo>
                  <a:pt x="1435846" y="190499"/>
                </a:lnTo>
                <a:lnTo>
                  <a:pt x="1439323" y="191849"/>
                </a:lnTo>
                <a:lnTo>
                  <a:pt x="1442799" y="193198"/>
                </a:lnTo>
                <a:lnTo>
                  <a:pt x="1446276" y="194546"/>
                </a:lnTo>
                <a:lnTo>
                  <a:pt x="1449753" y="195893"/>
                </a:lnTo>
                <a:lnTo>
                  <a:pt x="1453229" y="197238"/>
                </a:lnTo>
                <a:lnTo>
                  <a:pt x="1456706" y="198581"/>
                </a:lnTo>
                <a:lnTo>
                  <a:pt x="1460182" y="199923"/>
                </a:lnTo>
                <a:lnTo>
                  <a:pt x="1463659" y="201263"/>
                </a:lnTo>
                <a:lnTo>
                  <a:pt x="1467136" y="202602"/>
                </a:lnTo>
                <a:lnTo>
                  <a:pt x="1470612" y="203938"/>
                </a:lnTo>
                <a:lnTo>
                  <a:pt x="1474089" y="205273"/>
                </a:lnTo>
                <a:lnTo>
                  <a:pt x="1477566" y="206606"/>
                </a:lnTo>
                <a:lnTo>
                  <a:pt x="1481042" y="207936"/>
                </a:lnTo>
                <a:lnTo>
                  <a:pt x="1484519" y="209265"/>
                </a:lnTo>
                <a:lnTo>
                  <a:pt x="1487996" y="210591"/>
                </a:lnTo>
                <a:lnTo>
                  <a:pt x="1491472" y="211915"/>
                </a:lnTo>
                <a:lnTo>
                  <a:pt x="1494949" y="213236"/>
                </a:lnTo>
                <a:lnTo>
                  <a:pt x="1498425" y="214556"/>
                </a:lnTo>
                <a:lnTo>
                  <a:pt x="1501902" y="215872"/>
                </a:lnTo>
                <a:lnTo>
                  <a:pt x="1505379" y="217186"/>
                </a:lnTo>
                <a:lnTo>
                  <a:pt x="1508855" y="218497"/>
                </a:lnTo>
                <a:lnTo>
                  <a:pt x="1512332" y="219805"/>
                </a:lnTo>
                <a:lnTo>
                  <a:pt x="1515808" y="221110"/>
                </a:lnTo>
                <a:lnTo>
                  <a:pt x="1519285" y="222413"/>
                </a:lnTo>
                <a:lnTo>
                  <a:pt x="1522762" y="223712"/>
                </a:lnTo>
                <a:lnTo>
                  <a:pt x="1526238" y="225008"/>
                </a:lnTo>
                <a:lnTo>
                  <a:pt x="1529715" y="226301"/>
                </a:lnTo>
                <a:lnTo>
                  <a:pt x="1533192" y="227591"/>
                </a:lnTo>
                <a:lnTo>
                  <a:pt x="1536668" y="228877"/>
                </a:lnTo>
                <a:lnTo>
                  <a:pt x="1540145" y="230160"/>
                </a:lnTo>
                <a:lnTo>
                  <a:pt x="1543621" y="231439"/>
                </a:lnTo>
                <a:lnTo>
                  <a:pt x="1547098" y="232715"/>
                </a:lnTo>
                <a:lnTo>
                  <a:pt x="1550575" y="233987"/>
                </a:lnTo>
                <a:lnTo>
                  <a:pt x="1554051" y="235255"/>
                </a:lnTo>
                <a:lnTo>
                  <a:pt x="1557528" y="236520"/>
                </a:lnTo>
                <a:lnTo>
                  <a:pt x="1561005" y="237780"/>
                </a:lnTo>
                <a:lnTo>
                  <a:pt x="1564481" y="239037"/>
                </a:lnTo>
                <a:lnTo>
                  <a:pt x="1567958" y="240289"/>
                </a:lnTo>
                <a:lnTo>
                  <a:pt x="1571435" y="241537"/>
                </a:lnTo>
                <a:lnTo>
                  <a:pt x="1574911" y="242781"/>
                </a:lnTo>
                <a:lnTo>
                  <a:pt x="1578388" y="244021"/>
                </a:lnTo>
                <a:lnTo>
                  <a:pt x="1581864" y="245256"/>
                </a:lnTo>
                <a:lnTo>
                  <a:pt x="1585341" y="246487"/>
                </a:lnTo>
                <a:lnTo>
                  <a:pt x="1588818" y="247713"/>
                </a:lnTo>
                <a:lnTo>
                  <a:pt x="1592294" y="248935"/>
                </a:lnTo>
                <a:lnTo>
                  <a:pt x="1595771" y="250152"/>
                </a:lnTo>
                <a:lnTo>
                  <a:pt x="1599247" y="251364"/>
                </a:lnTo>
                <a:lnTo>
                  <a:pt x="1602724" y="252571"/>
                </a:lnTo>
                <a:lnTo>
                  <a:pt x="1606201" y="253774"/>
                </a:lnTo>
                <a:lnTo>
                  <a:pt x="1609677" y="254971"/>
                </a:lnTo>
                <a:lnTo>
                  <a:pt x="1613154" y="256164"/>
                </a:lnTo>
                <a:lnTo>
                  <a:pt x="1616631" y="257351"/>
                </a:lnTo>
                <a:lnTo>
                  <a:pt x="1620107" y="258533"/>
                </a:lnTo>
                <a:lnTo>
                  <a:pt x="1623584" y="259710"/>
                </a:lnTo>
                <a:lnTo>
                  <a:pt x="1627060" y="260881"/>
                </a:lnTo>
                <a:lnTo>
                  <a:pt x="1630537" y="262047"/>
                </a:lnTo>
                <a:lnTo>
                  <a:pt x="1634014" y="263208"/>
                </a:lnTo>
                <a:lnTo>
                  <a:pt x="1637490" y="264363"/>
                </a:lnTo>
                <a:lnTo>
                  <a:pt x="1640967" y="265512"/>
                </a:lnTo>
                <a:lnTo>
                  <a:pt x="1644444" y="266655"/>
                </a:lnTo>
                <a:lnTo>
                  <a:pt x="1647920" y="267793"/>
                </a:lnTo>
                <a:lnTo>
                  <a:pt x="1651397" y="268925"/>
                </a:lnTo>
                <a:lnTo>
                  <a:pt x="1654874" y="270051"/>
                </a:lnTo>
                <a:lnTo>
                  <a:pt x="1658350" y="271171"/>
                </a:lnTo>
                <a:lnTo>
                  <a:pt x="1661827" y="272285"/>
                </a:lnTo>
                <a:lnTo>
                  <a:pt x="1665303" y="273393"/>
                </a:lnTo>
                <a:lnTo>
                  <a:pt x="1668780" y="274494"/>
                </a:lnTo>
                <a:lnTo>
                  <a:pt x="1672257" y="275590"/>
                </a:lnTo>
                <a:lnTo>
                  <a:pt x="1675733" y="276679"/>
                </a:lnTo>
                <a:lnTo>
                  <a:pt x="1679210" y="277761"/>
                </a:lnTo>
                <a:lnTo>
                  <a:pt x="1682686" y="278837"/>
                </a:lnTo>
                <a:lnTo>
                  <a:pt x="1686163" y="279907"/>
                </a:lnTo>
                <a:lnTo>
                  <a:pt x="1689640" y="280970"/>
                </a:lnTo>
                <a:lnTo>
                  <a:pt x="1693116" y="282026"/>
                </a:lnTo>
                <a:lnTo>
                  <a:pt x="1696593" y="283076"/>
                </a:lnTo>
                <a:lnTo>
                  <a:pt x="1700070" y="284119"/>
                </a:lnTo>
                <a:lnTo>
                  <a:pt x="1703546" y="285155"/>
                </a:lnTo>
                <a:lnTo>
                  <a:pt x="1707023" y="286184"/>
                </a:lnTo>
                <a:lnTo>
                  <a:pt x="1710500" y="287206"/>
                </a:lnTo>
                <a:lnTo>
                  <a:pt x="1713976" y="288220"/>
                </a:lnTo>
                <a:lnTo>
                  <a:pt x="1717453" y="289228"/>
                </a:lnTo>
                <a:lnTo>
                  <a:pt x="1720929" y="290229"/>
                </a:lnTo>
                <a:lnTo>
                  <a:pt x="1724406" y="291222"/>
                </a:lnTo>
                <a:lnTo>
                  <a:pt x="1727883" y="292209"/>
                </a:lnTo>
                <a:lnTo>
                  <a:pt x="1731359" y="293187"/>
                </a:lnTo>
                <a:lnTo>
                  <a:pt x="1734836" y="294159"/>
                </a:lnTo>
                <a:lnTo>
                  <a:pt x="1738313" y="295122"/>
                </a:lnTo>
                <a:lnTo>
                  <a:pt x="1741789" y="296079"/>
                </a:lnTo>
                <a:lnTo>
                  <a:pt x="1745266" y="297028"/>
                </a:lnTo>
                <a:lnTo>
                  <a:pt x="1748742" y="297969"/>
                </a:lnTo>
                <a:lnTo>
                  <a:pt x="1752219" y="298902"/>
                </a:lnTo>
                <a:lnTo>
                  <a:pt x="1755696" y="299828"/>
                </a:lnTo>
                <a:lnTo>
                  <a:pt x="1759172" y="300745"/>
                </a:lnTo>
                <a:lnTo>
                  <a:pt x="1762649" y="301655"/>
                </a:lnTo>
                <a:lnTo>
                  <a:pt x="1766125" y="302557"/>
                </a:lnTo>
                <a:lnTo>
                  <a:pt x="1769602" y="303451"/>
                </a:lnTo>
                <a:lnTo>
                  <a:pt x="1773079" y="304337"/>
                </a:lnTo>
                <a:lnTo>
                  <a:pt x="1776555" y="305215"/>
                </a:lnTo>
                <a:lnTo>
                  <a:pt x="1780032" y="306084"/>
                </a:lnTo>
                <a:lnTo>
                  <a:pt x="1783509" y="306945"/>
                </a:lnTo>
                <a:lnTo>
                  <a:pt x="1786985" y="307799"/>
                </a:lnTo>
                <a:lnTo>
                  <a:pt x="1790462" y="308643"/>
                </a:lnTo>
                <a:lnTo>
                  <a:pt x="1793939" y="309480"/>
                </a:lnTo>
                <a:lnTo>
                  <a:pt x="1797415" y="310308"/>
                </a:lnTo>
                <a:lnTo>
                  <a:pt x="1800892" y="311127"/>
                </a:lnTo>
                <a:lnTo>
                  <a:pt x="1804368" y="311938"/>
                </a:lnTo>
                <a:lnTo>
                  <a:pt x="1807845" y="312741"/>
                </a:lnTo>
                <a:lnTo>
                  <a:pt x="1811322" y="313534"/>
                </a:lnTo>
                <a:lnTo>
                  <a:pt x="1814798" y="314319"/>
                </a:lnTo>
                <a:lnTo>
                  <a:pt x="1818275" y="315096"/>
                </a:lnTo>
                <a:lnTo>
                  <a:pt x="1821752" y="315863"/>
                </a:lnTo>
                <a:lnTo>
                  <a:pt x="1825228" y="316622"/>
                </a:lnTo>
                <a:lnTo>
                  <a:pt x="1828705" y="317372"/>
                </a:lnTo>
                <a:lnTo>
                  <a:pt x="1832181" y="318113"/>
                </a:lnTo>
                <a:lnTo>
                  <a:pt x="1835658" y="318845"/>
                </a:lnTo>
                <a:lnTo>
                  <a:pt x="1839135" y="319568"/>
                </a:lnTo>
                <a:lnTo>
                  <a:pt x="1842611" y="320282"/>
                </a:lnTo>
                <a:lnTo>
                  <a:pt x="1846088" y="320987"/>
                </a:lnTo>
                <a:lnTo>
                  <a:pt x="1849565" y="321683"/>
                </a:lnTo>
                <a:lnTo>
                  <a:pt x="1853041" y="322369"/>
                </a:lnTo>
                <a:lnTo>
                  <a:pt x="1856518" y="323047"/>
                </a:lnTo>
                <a:lnTo>
                  <a:pt x="1859994" y="323715"/>
                </a:lnTo>
                <a:lnTo>
                  <a:pt x="1863471" y="324374"/>
                </a:lnTo>
                <a:lnTo>
                  <a:pt x="1866948" y="325023"/>
                </a:lnTo>
                <a:lnTo>
                  <a:pt x="1870424" y="325663"/>
                </a:lnTo>
                <a:lnTo>
                  <a:pt x="1873901" y="326294"/>
                </a:lnTo>
                <a:lnTo>
                  <a:pt x="1877378" y="326915"/>
                </a:lnTo>
                <a:lnTo>
                  <a:pt x="1880854" y="327527"/>
                </a:lnTo>
                <a:lnTo>
                  <a:pt x="1884331" y="328129"/>
                </a:lnTo>
                <a:lnTo>
                  <a:pt x="1887807" y="328721"/>
                </a:lnTo>
                <a:lnTo>
                  <a:pt x="1891284" y="329304"/>
                </a:lnTo>
                <a:lnTo>
                  <a:pt x="1894761" y="329877"/>
                </a:lnTo>
                <a:lnTo>
                  <a:pt x="1898237" y="330441"/>
                </a:lnTo>
                <a:lnTo>
                  <a:pt x="1901714" y="330995"/>
                </a:lnTo>
                <a:lnTo>
                  <a:pt x="1905190" y="331539"/>
                </a:lnTo>
                <a:lnTo>
                  <a:pt x="1908667" y="332073"/>
                </a:lnTo>
                <a:lnTo>
                  <a:pt x="1912144" y="332598"/>
                </a:lnTo>
                <a:lnTo>
                  <a:pt x="1915620" y="333113"/>
                </a:lnTo>
                <a:lnTo>
                  <a:pt x="1919097" y="333617"/>
                </a:lnTo>
                <a:lnTo>
                  <a:pt x="1922574" y="334112"/>
                </a:lnTo>
                <a:lnTo>
                  <a:pt x="1926050" y="334597"/>
                </a:lnTo>
                <a:lnTo>
                  <a:pt x="1929527" y="335072"/>
                </a:lnTo>
                <a:lnTo>
                  <a:pt x="1933004" y="335537"/>
                </a:lnTo>
                <a:lnTo>
                  <a:pt x="1936480" y="335992"/>
                </a:lnTo>
                <a:lnTo>
                  <a:pt x="1939957" y="336437"/>
                </a:lnTo>
                <a:lnTo>
                  <a:pt x="1943433" y="336872"/>
                </a:lnTo>
                <a:lnTo>
                  <a:pt x="1946910" y="337296"/>
                </a:lnTo>
                <a:lnTo>
                  <a:pt x="1950387" y="337711"/>
                </a:lnTo>
                <a:lnTo>
                  <a:pt x="1953863" y="338115"/>
                </a:lnTo>
                <a:lnTo>
                  <a:pt x="1957340" y="338509"/>
                </a:lnTo>
                <a:lnTo>
                  <a:pt x="1960817" y="338893"/>
                </a:lnTo>
                <a:lnTo>
                  <a:pt x="1964293" y="339267"/>
                </a:lnTo>
                <a:lnTo>
                  <a:pt x="1967770" y="339630"/>
                </a:lnTo>
                <a:lnTo>
                  <a:pt x="1971246" y="339983"/>
                </a:lnTo>
                <a:lnTo>
                  <a:pt x="1974723" y="340326"/>
                </a:lnTo>
                <a:lnTo>
                  <a:pt x="1978200" y="340659"/>
                </a:lnTo>
                <a:lnTo>
                  <a:pt x="1981676" y="340981"/>
                </a:lnTo>
                <a:lnTo>
                  <a:pt x="1985153" y="341293"/>
                </a:lnTo>
                <a:lnTo>
                  <a:pt x="1988629" y="341594"/>
                </a:lnTo>
                <a:lnTo>
                  <a:pt x="1992106" y="341885"/>
                </a:lnTo>
                <a:lnTo>
                  <a:pt x="1995583" y="342166"/>
                </a:lnTo>
                <a:lnTo>
                  <a:pt x="1999059" y="342436"/>
                </a:lnTo>
                <a:lnTo>
                  <a:pt x="2002536" y="342695"/>
                </a:lnTo>
                <a:lnTo>
                  <a:pt x="2006013" y="342945"/>
                </a:lnTo>
                <a:lnTo>
                  <a:pt x="2009489" y="343183"/>
                </a:lnTo>
                <a:lnTo>
                  <a:pt x="2012966" y="343411"/>
                </a:lnTo>
                <a:lnTo>
                  <a:pt x="2016443" y="343629"/>
                </a:lnTo>
                <a:lnTo>
                  <a:pt x="2019919" y="343836"/>
                </a:lnTo>
                <a:lnTo>
                  <a:pt x="2023396" y="344033"/>
                </a:lnTo>
                <a:lnTo>
                  <a:pt x="2026872" y="344219"/>
                </a:lnTo>
                <a:lnTo>
                  <a:pt x="2030349" y="344394"/>
                </a:lnTo>
                <a:lnTo>
                  <a:pt x="2033826" y="344559"/>
                </a:lnTo>
                <a:lnTo>
                  <a:pt x="2037302" y="344713"/>
                </a:lnTo>
                <a:lnTo>
                  <a:pt x="2040779" y="344857"/>
                </a:lnTo>
                <a:lnTo>
                  <a:pt x="2044256" y="344990"/>
                </a:lnTo>
                <a:lnTo>
                  <a:pt x="2047732" y="345113"/>
                </a:lnTo>
                <a:lnTo>
                  <a:pt x="2051209" y="345225"/>
                </a:lnTo>
                <a:lnTo>
                  <a:pt x="2054685" y="345326"/>
                </a:lnTo>
                <a:lnTo>
                  <a:pt x="2058162" y="345416"/>
                </a:lnTo>
                <a:lnTo>
                  <a:pt x="2061639" y="345496"/>
                </a:lnTo>
                <a:lnTo>
                  <a:pt x="2065115" y="345566"/>
                </a:lnTo>
                <a:lnTo>
                  <a:pt x="2068592" y="345624"/>
                </a:lnTo>
                <a:lnTo>
                  <a:pt x="2072068" y="345672"/>
                </a:lnTo>
                <a:lnTo>
                  <a:pt x="2075545" y="345710"/>
                </a:lnTo>
                <a:lnTo>
                  <a:pt x="2079022" y="345736"/>
                </a:lnTo>
                <a:lnTo>
                  <a:pt x="2082498" y="345752"/>
                </a:lnTo>
                <a:lnTo>
                  <a:pt x="2085975" y="345757"/>
                </a:lnTo>
                <a:lnTo>
                  <a:pt x="2089452" y="345752"/>
                </a:lnTo>
                <a:lnTo>
                  <a:pt x="2092928" y="345736"/>
                </a:lnTo>
                <a:lnTo>
                  <a:pt x="2096405" y="345710"/>
                </a:lnTo>
                <a:lnTo>
                  <a:pt x="2099882" y="345672"/>
                </a:lnTo>
                <a:lnTo>
                  <a:pt x="2103358" y="345624"/>
                </a:lnTo>
                <a:lnTo>
                  <a:pt x="2106835" y="345566"/>
                </a:lnTo>
                <a:lnTo>
                  <a:pt x="2110311" y="345496"/>
                </a:lnTo>
                <a:lnTo>
                  <a:pt x="2113788" y="345416"/>
                </a:lnTo>
                <a:lnTo>
                  <a:pt x="2117265" y="345326"/>
                </a:lnTo>
                <a:lnTo>
                  <a:pt x="2120741" y="345225"/>
                </a:lnTo>
                <a:lnTo>
                  <a:pt x="2124218" y="345113"/>
                </a:lnTo>
                <a:lnTo>
                  <a:pt x="2127695" y="344990"/>
                </a:lnTo>
                <a:lnTo>
                  <a:pt x="2131171" y="344857"/>
                </a:lnTo>
                <a:lnTo>
                  <a:pt x="2134648" y="344713"/>
                </a:lnTo>
                <a:lnTo>
                  <a:pt x="2138124" y="344559"/>
                </a:lnTo>
                <a:lnTo>
                  <a:pt x="2141601" y="344394"/>
                </a:lnTo>
                <a:lnTo>
                  <a:pt x="2145078" y="344219"/>
                </a:lnTo>
                <a:lnTo>
                  <a:pt x="2148554" y="344033"/>
                </a:lnTo>
                <a:lnTo>
                  <a:pt x="2152031" y="343836"/>
                </a:lnTo>
                <a:lnTo>
                  <a:pt x="2155507" y="343629"/>
                </a:lnTo>
                <a:lnTo>
                  <a:pt x="2158984" y="343411"/>
                </a:lnTo>
                <a:lnTo>
                  <a:pt x="2162461" y="343183"/>
                </a:lnTo>
                <a:lnTo>
                  <a:pt x="2165937" y="342945"/>
                </a:lnTo>
                <a:lnTo>
                  <a:pt x="2169414" y="342695"/>
                </a:lnTo>
                <a:lnTo>
                  <a:pt x="2172891" y="342436"/>
                </a:lnTo>
                <a:lnTo>
                  <a:pt x="2176367" y="342166"/>
                </a:lnTo>
                <a:lnTo>
                  <a:pt x="2179844" y="341885"/>
                </a:lnTo>
                <a:lnTo>
                  <a:pt x="2183321" y="341594"/>
                </a:lnTo>
                <a:lnTo>
                  <a:pt x="2186797" y="341293"/>
                </a:lnTo>
                <a:lnTo>
                  <a:pt x="2190274" y="340981"/>
                </a:lnTo>
                <a:lnTo>
                  <a:pt x="2193750" y="340659"/>
                </a:lnTo>
                <a:lnTo>
                  <a:pt x="2197227" y="340326"/>
                </a:lnTo>
                <a:lnTo>
                  <a:pt x="2200704" y="339983"/>
                </a:lnTo>
                <a:lnTo>
                  <a:pt x="2204180" y="339630"/>
                </a:lnTo>
                <a:lnTo>
                  <a:pt x="2207657" y="339267"/>
                </a:lnTo>
                <a:lnTo>
                  <a:pt x="2211134" y="338893"/>
                </a:lnTo>
                <a:lnTo>
                  <a:pt x="2214610" y="338509"/>
                </a:lnTo>
                <a:lnTo>
                  <a:pt x="2218087" y="338115"/>
                </a:lnTo>
                <a:lnTo>
                  <a:pt x="2221563" y="337711"/>
                </a:lnTo>
                <a:lnTo>
                  <a:pt x="2225040" y="337296"/>
                </a:lnTo>
                <a:lnTo>
                  <a:pt x="2228517" y="336872"/>
                </a:lnTo>
                <a:lnTo>
                  <a:pt x="2231993" y="336437"/>
                </a:lnTo>
                <a:lnTo>
                  <a:pt x="2235470" y="335992"/>
                </a:lnTo>
                <a:lnTo>
                  <a:pt x="2238946" y="335537"/>
                </a:lnTo>
                <a:lnTo>
                  <a:pt x="2242423" y="335072"/>
                </a:lnTo>
                <a:lnTo>
                  <a:pt x="2245900" y="334597"/>
                </a:lnTo>
                <a:lnTo>
                  <a:pt x="2249376" y="334112"/>
                </a:lnTo>
                <a:lnTo>
                  <a:pt x="2252853" y="333617"/>
                </a:lnTo>
                <a:lnTo>
                  <a:pt x="2256330" y="333113"/>
                </a:lnTo>
                <a:lnTo>
                  <a:pt x="2259806" y="332598"/>
                </a:lnTo>
                <a:lnTo>
                  <a:pt x="2263283" y="332073"/>
                </a:lnTo>
                <a:lnTo>
                  <a:pt x="2266760" y="331539"/>
                </a:lnTo>
                <a:lnTo>
                  <a:pt x="2270236" y="330995"/>
                </a:lnTo>
                <a:lnTo>
                  <a:pt x="2273713" y="330441"/>
                </a:lnTo>
                <a:lnTo>
                  <a:pt x="2277189" y="329877"/>
                </a:lnTo>
                <a:lnTo>
                  <a:pt x="2280666" y="329304"/>
                </a:lnTo>
                <a:lnTo>
                  <a:pt x="2284143" y="328721"/>
                </a:lnTo>
                <a:lnTo>
                  <a:pt x="2287619" y="328129"/>
                </a:lnTo>
                <a:lnTo>
                  <a:pt x="2291096" y="327527"/>
                </a:lnTo>
                <a:lnTo>
                  <a:pt x="2294573" y="326915"/>
                </a:lnTo>
                <a:lnTo>
                  <a:pt x="2298049" y="326294"/>
                </a:lnTo>
                <a:lnTo>
                  <a:pt x="2301526" y="325663"/>
                </a:lnTo>
                <a:lnTo>
                  <a:pt x="2305002" y="325023"/>
                </a:lnTo>
                <a:lnTo>
                  <a:pt x="2308479" y="324374"/>
                </a:lnTo>
                <a:lnTo>
                  <a:pt x="2311956" y="323715"/>
                </a:lnTo>
                <a:lnTo>
                  <a:pt x="2315432" y="323047"/>
                </a:lnTo>
                <a:lnTo>
                  <a:pt x="2318909" y="322369"/>
                </a:lnTo>
                <a:lnTo>
                  <a:pt x="2322385" y="321683"/>
                </a:lnTo>
                <a:lnTo>
                  <a:pt x="2325862" y="320987"/>
                </a:lnTo>
                <a:lnTo>
                  <a:pt x="2329339" y="320282"/>
                </a:lnTo>
                <a:lnTo>
                  <a:pt x="2332815" y="319568"/>
                </a:lnTo>
                <a:lnTo>
                  <a:pt x="2336292" y="318845"/>
                </a:lnTo>
                <a:lnTo>
                  <a:pt x="2339769" y="318113"/>
                </a:lnTo>
                <a:lnTo>
                  <a:pt x="2343245" y="317372"/>
                </a:lnTo>
                <a:lnTo>
                  <a:pt x="2346722" y="316622"/>
                </a:lnTo>
                <a:lnTo>
                  <a:pt x="2350199" y="315863"/>
                </a:lnTo>
                <a:lnTo>
                  <a:pt x="2353675" y="315096"/>
                </a:lnTo>
                <a:lnTo>
                  <a:pt x="2357152" y="314319"/>
                </a:lnTo>
                <a:lnTo>
                  <a:pt x="2360628" y="313534"/>
                </a:lnTo>
                <a:lnTo>
                  <a:pt x="2364105" y="312741"/>
                </a:lnTo>
                <a:lnTo>
                  <a:pt x="2367582" y="311938"/>
                </a:lnTo>
                <a:lnTo>
                  <a:pt x="2371058" y="311127"/>
                </a:lnTo>
                <a:lnTo>
                  <a:pt x="2374535" y="310308"/>
                </a:lnTo>
                <a:lnTo>
                  <a:pt x="2378011" y="309480"/>
                </a:lnTo>
                <a:lnTo>
                  <a:pt x="2381488" y="308643"/>
                </a:lnTo>
                <a:lnTo>
                  <a:pt x="2384965" y="307799"/>
                </a:lnTo>
                <a:lnTo>
                  <a:pt x="2388441" y="306945"/>
                </a:lnTo>
                <a:lnTo>
                  <a:pt x="2391918" y="306084"/>
                </a:lnTo>
                <a:lnTo>
                  <a:pt x="2395395" y="305215"/>
                </a:lnTo>
                <a:lnTo>
                  <a:pt x="2398871" y="304337"/>
                </a:lnTo>
                <a:lnTo>
                  <a:pt x="2402348" y="303451"/>
                </a:lnTo>
                <a:lnTo>
                  <a:pt x="2405825" y="302557"/>
                </a:lnTo>
                <a:lnTo>
                  <a:pt x="2409301" y="301655"/>
                </a:lnTo>
                <a:lnTo>
                  <a:pt x="2412778" y="300745"/>
                </a:lnTo>
                <a:lnTo>
                  <a:pt x="2416254" y="299828"/>
                </a:lnTo>
                <a:lnTo>
                  <a:pt x="2419731" y="298902"/>
                </a:lnTo>
                <a:lnTo>
                  <a:pt x="2423208" y="297969"/>
                </a:lnTo>
                <a:lnTo>
                  <a:pt x="2426684" y="297028"/>
                </a:lnTo>
                <a:lnTo>
                  <a:pt x="2430161" y="296079"/>
                </a:lnTo>
                <a:lnTo>
                  <a:pt x="2433638" y="295122"/>
                </a:lnTo>
                <a:lnTo>
                  <a:pt x="2437114" y="294159"/>
                </a:lnTo>
                <a:lnTo>
                  <a:pt x="2440591" y="293187"/>
                </a:lnTo>
                <a:lnTo>
                  <a:pt x="2444067" y="292209"/>
                </a:lnTo>
                <a:lnTo>
                  <a:pt x="2447544" y="291222"/>
                </a:lnTo>
                <a:lnTo>
                  <a:pt x="2451021" y="290229"/>
                </a:lnTo>
                <a:lnTo>
                  <a:pt x="2454497" y="289228"/>
                </a:lnTo>
                <a:lnTo>
                  <a:pt x="2457974" y="288220"/>
                </a:lnTo>
                <a:lnTo>
                  <a:pt x="2461451" y="287206"/>
                </a:lnTo>
                <a:lnTo>
                  <a:pt x="2464927" y="286184"/>
                </a:lnTo>
                <a:lnTo>
                  <a:pt x="2468404" y="285155"/>
                </a:lnTo>
                <a:lnTo>
                  <a:pt x="2471880" y="284119"/>
                </a:lnTo>
                <a:lnTo>
                  <a:pt x="2475357" y="283076"/>
                </a:lnTo>
                <a:lnTo>
                  <a:pt x="2478834" y="282026"/>
                </a:lnTo>
                <a:lnTo>
                  <a:pt x="2482310" y="280970"/>
                </a:lnTo>
                <a:lnTo>
                  <a:pt x="2485787" y="279907"/>
                </a:lnTo>
                <a:lnTo>
                  <a:pt x="2489263" y="278837"/>
                </a:lnTo>
                <a:lnTo>
                  <a:pt x="2492740" y="277761"/>
                </a:lnTo>
                <a:lnTo>
                  <a:pt x="2496217" y="276679"/>
                </a:lnTo>
                <a:lnTo>
                  <a:pt x="2499693" y="275590"/>
                </a:lnTo>
                <a:lnTo>
                  <a:pt x="2503170" y="274494"/>
                </a:lnTo>
                <a:lnTo>
                  <a:pt x="2506647" y="273393"/>
                </a:lnTo>
                <a:lnTo>
                  <a:pt x="2510123" y="272285"/>
                </a:lnTo>
                <a:lnTo>
                  <a:pt x="2513600" y="271171"/>
                </a:lnTo>
                <a:lnTo>
                  <a:pt x="2517077" y="270051"/>
                </a:lnTo>
                <a:lnTo>
                  <a:pt x="2520553" y="268925"/>
                </a:lnTo>
                <a:lnTo>
                  <a:pt x="2524030" y="267793"/>
                </a:lnTo>
                <a:lnTo>
                  <a:pt x="2527506" y="266655"/>
                </a:lnTo>
                <a:lnTo>
                  <a:pt x="2530983" y="265512"/>
                </a:lnTo>
                <a:lnTo>
                  <a:pt x="2534460" y="264363"/>
                </a:lnTo>
                <a:lnTo>
                  <a:pt x="2537936" y="263208"/>
                </a:lnTo>
                <a:lnTo>
                  <a:pt x="2541413" y="262047"/>
                </a:lnTo>
                <a:lnTo>
                  <a:pt x="2544890" y="260881"/>
                </a:lnTo>
                <a:lnTo>
                  <a:pt x="2548366" y="259710"/>
                </a:lnTo>
                <a:lnTo>
                  <a:pt x="2551843" y="258533"/>
                </a:lnTo>
                <a:lnTo>
                  <a:pt x="2555319" y="257351"/>
                </a:lnTo>
                <a:lnTo>
                  <a:pt x="2558796" y="256164"/>
                </a:lnTo>
                <a:lnTo>
                  <a:pt x="2562273" y="254971"/>
                </a:lnTo>
                <a:lnTo>
                  <a:pt x="2565749" y="253774"/>
                </a:lnTo>
                <a:lnTo>
                  <a:pt x="2569226" y="252571"/>
                </a:lnTo>
                <a:lnTo>
                  <a:pt x="2572703" y="251364"/>
                </a:lnTo>
                <a:lnTo>
                  <a:pt x="2576179" y="250152"/>
                </a:lnTo>
                <a:lnTo>
                  <a:pt x="2579656" y="248935"/>
                </a:lnTo>
                <a:lnTo>
                  <a:pt x="2583132" y="247713"/>
                </a:lnTo>
                <a:lnTo>
                  <a:pt x="2586609" y="246487"/>
                </a:lnTo>
                <a:lnTo>
                  <a:pt x="2590086" y="245256"/>
                </a:lnTo>
                <a:lnTo>
                  <a:pt x="2593562" y="244021"/>
                </a:lnTo>
                <a:lnTo>
                  <a:pt x="2597039" y="242781"/>
                </a:lnTo>
                <a:lnTo>
                  <a:pt x="2600516" y="241537"/>
                </a:lnTo>
                <a:lnTo>
                  <a:pt x="2603992" y="240289"/>
                </a:lnTo>
                <a:lnTo>
                  <a:pt x="2607469" y="239037"/>
                </a:lnTo>
                <a:lnTo>
                  <a:pt x="2610945" y="237780"/>
                </a:lnTo>
                <a:lnTo>
                  <a:pt x="2614422" y="236520"/>
                </a:lnTo>
                <a:lnTo>
                  <a:pt x="2617899" y="235255"/>
                </a:lnTo>
                <a:lnTo>
                  <a:pt x="2621375" y="233987"/>
                </a:lnTo>
                <a:lnTo>
                  <a:pt x="2624852" y="232715"/>
                </a:lnTo>
                <a:lnTo>
                  <a:pt x="2628329" y="231439"/>
                </a:lnTo>
                <a:lnTo>
                  <a:pt x="2631805" y="230160"/>
                </a:lnTo>
                <a:lnTo>
                  <a:pt x="2635282" y="228877"/>
                </a:lnTo>
                <a:lnTo>
                  <a:pt x="2638758" y="227591"/>
                </a:lnTo>
                <a:lnTo>
                  <a:pt x="2642235" y="226301"/>
                </a:lnTo>
                <a:lnTo>
                  <a:pt x="2645712" y="225008"/>
                </a:lnTo>
                <a:lnTo>
                  <a:pt x="2649188" y="223712"/>
                </a:lnTo>
                <a:lnTo>
                  <a:pt x="2652665" y="222413"/>
                </a:lnTo>
                <a:lnTo>
                  <a:pt x="2656142" y="221110"/>
                </a:lnTo>
                <a:lnTo>
                  <a:pt x="2659618" y="219805"/>
                </a:lnTo>
                <a:lnTo>
                  <a:pt x="2663095" y="218497"/>
                </a:lnTo>
                <a:lnTo>
                  <a:pt x="2666571" y="217186"/>
                </a:lnTo>
                <a:lnTo>
                  <a:pt x="2670048" y="215872"/>
                </a:lnTo>
                <a:lnTo>
                  <a:pt x="2673525" y="214556"/>
                </a:lnTo>
                <a:lnTo>
                  <a:pt x="2677001" y="213236"/>
                </a:lnTo>
                <a:lnTo>
                  <a:pt x="2680478" y="211915"/>
                </a:lnTo>
                <a:lnTo>
                  <a:pt x="2683954" y="210591"/>
                </a:lnTo>
                <a:lnTo>
                  <a:pt x="2687431" y="209265"/>
                </a:lnTo>
                <a:lnTo>
                  <a:pt x="2690908" y="207936"/>
                </a:lnTo>
                <a:lnTo>
                  <a:pt x="2694384" y="206606"/>
                </a:lnTo>
                <a:lnTo>
                  <a:pt x="2697861" y="205273"/>
                </a:lnTo>
                <a:lnTo>
                  <a:pt x="2701338" y="203938"/>
                </a:lnTo>
                <a:lnTo>
                  <a:pt x="2704814" y="202602"/>
                </a:lnTo>
                <a:lnTo>
                  <a:pt x="2708291" y="201263"/>
                </a:lnTo>
                <a:lnTo>
                  <a:pt x="2711768" y="199923"/>
                </a:lnTo>
                <a:lnTo>
                  <a:pt x="2715244" y="198581"/>
                </a:lnTo>
                <a:lnTo>
                  <a:pt x="2718721" y="197238"/>
                </a:lnTo>
                <a:lnTo>
                  <a:pt x="2722197" y="195893"/>
                </a:lnTo>
                <a:lnTo>
                  <a:pt x="2725674" y="194546"/>
                </a:lnTo>
                <a:lnTo>
                  <a:pt x="2729151" y="193198"/>
                </a:lnTo>
                <a:lnTo>
                  <a:pt x="2732627" y="191849"/>
                </a:lnTo>
                <a:lnTo>
                  <a:pt x="2736104" y="190499"/>
                </a:lnTo>
                <a:lnTo>
                  <a:pt x="2739581" y="189148"/>
                </a:lnTo>
                <a:lnTo>
                  <a:pt x="2743057" y="187796"/>
                </a:lnTo>
                <a:lnTo>
                  <a:pt x="2746534" y="186443"/>
                </a:lnTo>
                <a:lnTo>
                  <a:pt x="2750010" y="185089"/>
                </a:lnTo>
                <a:lnTo>
                  <a:pt x="2753487" y="183734"/>
                </a:lnTo>
                <a:lnTo>
                  <a:pt x="2756964" y="182378"/>
                </a:lnTo>
                <a:lnTo>
                  <a:pt x="2760440" y="181022"/>
                </a:lnTo>
                <a:lnTo>
                  <a:pt x="2763917" y="179666"/>
                </a:lnTo>
                <a:lnTo>
                  <a:pt x="2767393" y="178309"/>
                </a:lnTo>
                <a:lnTo>
                  <a:pt x="2770870" y="176952"/>
                </a:lnTo>
                <a:lnTo>
                  <a:pt x="2774347" y="175594"/>
                </a:lnTo>
                <a:lnTo>
                  <a:pt x="2777823" y="174237"/>
                </a:lnTo>
                <a:lnTo>
                  <a:pt x="2781300" y="172879"/>
                </a:lnTo>
              </a:path>
            </a:pathLst>
          </a:custGeom>
          <a:noFill xmlns:a="http://schemas.openxmlformats.org/drawingml/2006/main"/>
          <a:ln xmlns:a="http://schemas.openxmlformats.org/drawingml/2006/main" w="15240">
            <a:solidFill>
              <a:srgbClr val="202020"/>
            </a:solidFill>
          </a:ln>
        </p:spPr>
      </p:sp>
      <p:sp>
        <p:nvSpPr>
          <p:cNvPr id="17" name="!!am-am-bias-arrow-line">
            <a:extLst xmlns:a="http://schemas.openxmlformats.org/drawingml/2006/main">
              <a:ext uri="{FF2B5EF4-FFF2-40B4-BE49-F238E27FC236}">
                <a16:creationId xmlns:a16="http://schemas.microsoft.com/office/drawing/2014/main" id="{3B873851-FB96-4E28-AB34-F794CD7C8910}"/>
              </a:ext>
            </a:extLst>
          </p:cNvPr>
          <p:cNvSpPr>
            <a:spLocks xmlns:a="http://schemas.openxmlformats.org/drawingml/2006/main" noGrp="1"/>
          </p:cNvSpPr>
          <p:nvPr/>
        </p:nvSpPr>
        <p:spPr>
          <a:xfrm xmlns:a="http://schemas.openxmlformats.org/drawingml/2006/main">
            <a:off x="7581900" y="24098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8" name="!!am-am-bias-arrow-head">
            <a:extLst xmlns:a="http://schemas.openxmlformats.org/drawingml/2006/main">
              <a:ext uri="{FF2B5EF4-FFF2-40B4-BE49-F238E27FC236}">
                <a16:creationId xmlns:a16="http://schemas.microsoft.com/office/drawing/2014/main" id="{EEB1EC66-1B58-4728-8972-A4B88BD41623}"/>
              </a:ext>
            </a:extLst>
          </p:cNvPr>
          <p:cNvSpPr>
            <a:spLocks xmlns:a="http://schemas.openxmlformats.org/drawingml/2006/main" noGrp="1"/>
          </p:cNvSpPr>
          <p:nvPr/>
        </p:nvSpPr>
        <p:spPr>
          <a:xfrm xmlns:a="http://schemas.openxmlformats.org/drawingml/2006/main" rot="5400000">
            <a:off x="8229600" y="23622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9" name="!!am-am-scale-g2-r0-wave">
            <a:extLst xmlns:a="http://schemas.openxmlformats.org/drawingml/2006/main">
              <a:ext uri="{FF2B5EF4-FFF2-40B4-BE49-F238E27FC236}">
                <a16:creationId xmlns:a16="http://schemas.microsoft.com/office/drawing/2014/main" id="{6A8EE012-1139-4088-B488-5EEC14363FB2}"/>
              </a:ext>
            </a:extLst>
          </p:cNvPr>
          <p:cNvSpPr>
            <a:spLocks xmlns:a="http://schemas.openxmlformats.org/drawingml/2006/main" noGrp="1"/>
          </p:cNvSpPr>
          <p:nvPr/>
        </p:nvSpPr>
        <p:spPr>
          <a:xfrm xmlns:a="http://schemas.openxmlformats.org/drawingml/2006/main">
            <a:off x="8572500" y="2748915"/>
            <a:ext cx="2781300" cy="345757"/>
          </a:xfrm>
          <a:custGeom xmlns:a="http://schemas.openxmlformats.org/drawingml/2006/main">
            <a:pathLst>
              <a:path w="2781300" h="345757">
                <a:moveTo>
                  <a:pt x="0" y="172879"/>
                </a:moveTo>
                <a:lnTo>
                  <a:pt x="3477" y="171521"/>
                </a:lnTo>
                <a:lnTo>
                  <a:pt x="6953" y="170163"/>
                </a:lnTo>
                <a:lnTo>
                  <a:pt x="10430" y="168806"/>
                </a:lnTo>
                <a:lnTo>
                  <a:pt x="13907" y="167448"/>
                </a:lnTo>
                <a:lnTo>
                  <a:pt x="17383" y="166092"/>
                </a:lnTo>
                <a:lnTo>
                  <a:pt x="20860" y="164735"/>
                </a:lnTo>
                <a:lnTo>
                  <a:pt x="24336" y="163379"/>
                </a:lnTo>
                <a:lnTo>
                  <a:pt x="27813" y="162024"/>
                </a:lnTo>
                <a:lnTo>
                  <a:pt x="31290" y="160669"/>
                </a:lnTo>
                <a:lnTo>
                  <a:pt x="34766" y="159315"/>
                </a:lnTo>
                <a:lnTo>
                  <a:pt x="38243" y="157962"/>
                </a:lnTo>
                <a:lnTo>
                  <a:pt x="41719" y="156609"/>
                </a:lnTo>
                <a:lnTo>
                  <a:pt x="45196" y="155258"/>
                </a:lnTo>
                <a:lnTo>
                  <a:pt x="48673" y="153908"/>
                </a:lnTo>
                <a:lnTo>
                  <a:pt x="52149" y="152559"/>
                </a:lnTo>
                <a:lnTo>
                  <a:pt x="55626" y="151211"/>
                </a:lnTo>
                <a:lnTo>
                  <a:pt x="59103" y="149865"/>
                </a:lnTo>
                <a:lnTo>
                  <a:pt x="62579" y="148520"/>
                </a:lnTo>
                <a:lnTo>
                  <a:pt x="66056" y="147176"/>
                </a:lnTo>
                <a:lnTo>
                  <a:pt x="69532" y="145835"/>
                </a:lnTo>
                <a:lnTo>
                  <a:pt x="73009" y="144494"/>
                </a:lnTo>
                <a:lnTo>
                  <a:pt x="76486" y="143156"/>
                </a:lnTo>
                <a:lnTo>
                  <a:pt x="79962" y="141819"/>
                </a:lnTo>
                <a:lnTo>
                  <a:pt x="83439" y="140485"/>
                </a:lnTo>
                <a:lnTo>
                  <a:pt x="86916" y="139152"/>
                </a:lnTo>
                <a:lnTo>
                  <a:pt x="90392" y="137821"/>
                </a:lnTo>
                <a:lnTo>
                  <a:pt x="93869" y="136493"/>
                </a:lnTo>
                <a:lnTo>
                  <a:pt x="97346" y="135166"/>
                </a:lnTo>
                <a:lnTo>
                  <a:pt x="100822" y="133843"/>
                </a:lnTo>
                <a:lnTo>
                  <a:pt x="104299" y="132521"/>
                </a:lnTo>
                <a:lnTo>
                  <a:pt x="107775" y="131202"/>
                </a:lnTo>
                <a:lnTo>
                  <a:pt x="111252" y="129886"/>
                </a:lnTo>
                <a:lnTo>
                  <a:pt x="114729" y="128572"/>
                </a:lnTo>
                <a:lnTo>
                  <a:pt x="118205" y="127261"/>
                </a:lnTo>
                <a:lnTo>
                  <a:pt x="121682" y="125952"/>
                </a:lnTo>
                <a:lnTo>
                  <a:pt x="125158" y="124647"/>
                </a:lnTo>
                <a:lnTo>
                  <a:pt x="128635" y="123345"/>
                </a:lnTo>
                <a:lnTo>
                  <a:pt x="132112" y="122045"/>
                </a:lnTo>
                <a:lnTo>
                  <a:pt x="135588" y="120749"/>
                </a:lnTo>
                <a:lnTo>
                  <a:pt x="139065" y="119456"/>
                </a:lnTo>
                <a:lnTo>
                  <a:pt x="142542" y="118167"/>
                </a:lnTo>
                <a:lnTo>
                  <a:pt x="146018" y="116880"/>
                </a:lnTo>
                <a:lnTo>
                  <a:pt x="149495" y="115597"/>
                </a:lnTo>
                <a:lnTo>
                  <a:pt x="152971" y="114318"/>
                </a:lnTo>
                <a:lnTo>
                  <a:pt x="156448" y="113042"/>
                </a:lnTo>
                <a:lnTo>
                  <a:pt x="159925" y="111770"/>
                </a:lnTo>
                <a:lnTo>
                  <a:pt x="163401" y="110502"/>
                </a:lnTo>
                <a:lnTo>
                  <a:pt x="166878" y="109238"/>
                </a:lnTo>
                <a:lnTo>
                  <a:pt x="170355" y="107977"/>
                </a:lnTo>
                <a:lnTo>
                  <a:pt x="173831" y="106721"/>
                </a:lnTo>
                <a:lnTo>
                  <a:pt x="177308" y="105469"/>
                </a:lnTo>
                <a:lnTo>
                  <a:pt x="180785" y="104220"/>
                </a:lnTo>
                <a:lnTo>
                  <a:pt x="184261" y="102976"/>
                </a:lnTo>
                <a:lnTo>
                  <a:pt x="187738" y="101737"/>
                </a:lnTo>
                <a:lnTo>
                  <a:pt x="191214" y="100501"/>
                </a:lnTo>
                <a:lnTo>
                  <a:pt x="194691" y="99271"/>
                </a:lnTo>
                <a:lnTo>
                  <a:pt x="198168" y="98044"/>
                </a:lnTo>
                <a:lnTo>
                  <a:pt x="201644" y="96823"/>
                </a:lnTo>
                <a:lnTo>
                  <a:pt x="205121" y="95606"/>
                </a:lnTo>
                <a:lnTo>
                  <a:pt x="208597" y="94393"/>
                </a:lnTo>
                <a:lnTo>
                  <a:pt x="212074" y="93186"/>
                </a:lnTo>
                <a:lnTo>
                  <a:pt x="215551" y="91984"/>
                </a:lnTo>
                <a:lnTo>
                  <a:pt x="219027" y="90786"/>
                </a:lnTo>
                <a:lnTo>
                  <a:pt x="222504" y="89594"/>
                </a:lnTo>
                <a:lnTo>
                  <a:pt x="225981" y="88407"/>
                </a:lnTo>
                <a:lnTo>
                  <a:pt x="229457" y="87224"/>
                </a:lnTo>
                <a:lnTo>
                  <a:pt x="232934" y="86048"/>
                </a:lnTo>
                <a:lnTo>
                  <a:pt x="236411" y="84876"/>
                </a:lnTo>
                <a:lnTo>
                  <a:pt x="239887" y="83710"/>
                </a:lnTo>
                <a:lnTo>
                  <a:pt x="243364" y="82550"/>
                </a:lnTo>
                <a:lnTo>
                  <a:pt x="246840" y="81395"/>
                </a:lnTo>
                <a:lnTo>
                  <a:pt x="250317" y="80246"/>
                </a:lnTo>
                <a:lnTo>
                  <a:pt x="253794" y="79102"/>
                </a:lnTo>
                <a:lnTo>
                  <a:pt x="257270" y="77964"/>
                </a:lnTo>
                <a:lnTo>
                  <a:pt x="260747" y="76832"/>
                </a:lnTo>
                <a:lnTo>
                  <a:pt x="264224" y="75706"/>
                </a:lnTo>
                <a:lnTo>
                  <a:pt x="267700" y="74586"/>
                </a:lnTo>
                <a:lnTo>
                  <a:pt x="271177" y="73473"/>
                </a:lnTo>
                <a:lnTo>
                  <a:pt x="274653" y="72365"/>
                </a:lnTo>
                <a:lnTo>
                  <a:pt x="278130" y="71263"/>
                </a:lnTo>
                <a:lnTo>
                  <a:pt x="281607" y="70168"/>
                </a:lnTo>
                <a:lnTo>
                  <a:pt x="285083" y="69079"/>
                </a:lnTo>
                <a:lnTo>
                  <a:pt x="288560" y="67996"/>
                </a:lnTo>
                <a:lnTo>
                  <a:pt x="292036" y="66920"/>
                </a:lnTo>
                <a:lnTo>
                  <a:pt x="295513" y="65851"/>
                </a:lnTo>
                <a:lnTo>
                  <a:pt x="298990" y="64788"/>
                </a:lnTo>
                <a:lnTo>
                  <a:pt x="302466" y="63731"/>
                </a:lnTo>
                <a:lnTo>
                  <a:pt x="305943" y="62682"/>
                </a:lnTo>
                <a:lnTo>
                  <a:pt x="309420" y="61639"/>
                </a:lnTo>
                <a:lnTo>
                  <a:pt x="312896" y="60603"/>
                </a:lnTo>
                <a:lnTo>
                  <a:pt x="316373" y="59574"/>
                </a:lnTo>
                <a:lnTo>
                  <a:pt x="319850" y="58552"/>
                </a:lnTo>
                <a:lnTo>
                  <a:pt x="323326" y="57537"/>
                </a:lnTo>
                <a:lnTo>
                  <a:pt x="326803" y="56529"/>
                </a:lnTo>
                <a:lnTo>
                  <a:pt x="330279" y="55529"/>
                </a:lnTo>
                <a:lnTo>
                  <a:pt x="333756" y="54535"/>
                </a:lnTo>
                <a:lnTo>
                  <a:pt x="337233" y="53549"/>
                </a:lnTo>
                <a:lnTo>
                  <a:pt x="340709" y="52570"/>
                </a:lnTo>
                <a:lnTo>
                  <a:pt x="344186" y="51599"/>
                </a:lnTo>
                <a:lnTo>
                  <a:pt x="347663" y="50635"/>
                </a:lnTo>
                <a:lnTo>
                  <a:pt x="351139" y="49679"/>
                </a:lnTo>
                <a:lnTo>
                  <a:pt x="354616" y="48730"/>
                </a:lnTo>
                <a:lnTo>
                  <a:pt x="358092" y="47789"/>
                </a:lnTo>
                <a:lnTo>
                  <a:pt x="361569" y="46856"/>
                </a:lnTo>
                <a:lnTo>
                  <a:pt x="365046" y="45930"/>
                </a:lnTo>
                <a:lnTo>
                  <a:pt x="368522" y="45012"/>
                </a:lnTo>
                <a:lnTo>
                  <a:pt x="371999" y="44102"/>
                </a:lnTo>
                <a:lnTo>
                  <a:pt x="375475" y="43200"/>
                </a:lnTo>
                <a:lnTo>
                  <a:pt x="378952" y="42307"/>
                </a:lnTo>
                <a:lnTo>
                  <a:pt x="382429" y="41421"/>
                </a:lnTo>
                <a:lnTo>
                  <a:pt x="385905" y="40543"/>
                </a:lnTo>
                <a:lnTo>
                  <a:pt x="389382" y="39673"/>
                </a:lnTo>
                <a:lnTo>
                  <a:pt x="392859" y="38812"/>
                </a:lnTo>
                <a:lnTo>
                  <a:pt x="396335" y="37959"/>
                </a:lnTo>
                <a:lnTo>
                  <a:pt x="399812" y="37114"/>
                </a:lnTo>
                <a:lnTo>
                  <a:pt x="403289" y="36278"/>
                </a:lnTo>
                <a:lnTo>
                  <a:pt x="406765" y="35450"/>
                </a:lnTo>
                <a:lnTo>
                  <a:pt x="410242" y="34630"/>
                </a:lnTo>
                <a:lnTo>
                  <a:pt x="413718" y="33819"/>
                </a:lnTo>
                <a:lnTo>
                  <a:pt x="417195" y="33017"/>
                </a:lnTo>
                <a:lnTo>
                  <a:pt x="420672" y="32223"/>
                </a:lnTo>
                <a:lnTo>
                  <a:pt x="424148" y="31438"/>
                </a:lnTo>
                <a:lnTo>
                  <a:pt x="427625" y="30662"/>
                </a:lnTo>
                <a:lnTo>
                  <a:pt x="431101" y="29894"/>
                </a:lnTo>
                <a:lnTo>
                  <a:pt x="434578" y="29135"/>
                </a:lnTo>
                <a:lnTo>
                  <a:pt x="438055" y="28385"/>
                </a:lnTo>
                <a:lnTo>
                  <a:pt x="441531" y="27644"/>
                </a:lnTo>
                <a:lnTo>
                  <a:pt x="445008" y="26912"/>
                </a:lnTo>
                <a:lnTo>
                  <a:pt x="448485" y="26189"/>
                </a:lnTo>
                <a:lnTo>
                  <a:pt x="451961" y="25475"/>
                </a:lnTo>
                <a:lnTo>
                  <a:pt x="455438" y="24770"/>
                </a:lnTo>
                <a:lnTo>
                  <a:pt x="458914" y="24075"/>
                </a:lnTo>
                <a:lnTo>
                  <a:pt x="462391" y="23388"/>
                </a:lnTo>
                <a:lnTo>
                  <a:pt x="465868" y="22711"/>
                </a:lnTo>
                <a:lnTo>
                  <a:pt x="469344" y="22043"/>
                </a:lnTo>
                <a:lnTo>
                  <a:pt x="472821" y="21384"/>
                </a:lnTo>
                <a:lnTo>
                  <a:pt x="476298" y="20735"/>
                </a:lnTo>
                <a:lnTo>
                  <a:pt x="479774" y="20094"/>
                </a:lnTo>
                <a:lnTo>
                  <a:pt x="483251" y="19464"/>
                </a:lnTo>
                <a:lnTo>
                  <a:pt x="486728" y="18843"/>
                </a:lnTo>
                <a:lnTo>
                  <a:pt x="490204" y="18231"/>
                </a:lnTo>
                <a:lnTo>
                  <a:pt x="493681" y="17629"/>
                </a:lnTo>
                <a:lnTo>
                  <a:pt x="497157" y="17036"/>
                </a:lnTo>
                <a:lnTo>
                  <a:pt x="500634" y="16453"/>
                </a:lnTo>
                <a:lnTo>
                  <a:pt x="504111" y="15880"/>
                </a:lnTo>
                <a:lnTo>
                  <a:pt x="507587" y="15316"/>
                </a:lnTo>
                <a:lnTo>
                  <a:pt x="511064" y="14763"/>
                </a:lnTo>
                <a:lnTo>
                  <a:pt x="514540" y="14218"/>
                </a:lnTo>
                <a:lnTo>
                  <a:pt x="518017" y="13684"/>
                </a:lnTo>
                <a:lnTo>
                  <a:pt x="521494" y="13160"/>
                </a:lnTo>
                <a:lnTo>
                  <a:pt x="524970" y="12645"/>
                </a:lnTo>
                <a:lnTo>
                  <a:pt x="528447" y="12140"/>
                </a:lnTo>
                <a:lnTo>
                  <a:pt x="531924" y="11645"/>
                </a:lnTo>
                <a:lnTo>
                  <a:pt x="535400" y="11160"/>
                </a:lnTo>
                <a:lnTo>
                  <a:pt x="538877" y="10685"/>
                </a:lnTo>
                <a:lnTo>
                  <a:pt x="542354" y="10220"/>
                </a:lnTo>
                <a:lnTo>
                  <a:pt x="545830" y="9766"/>
                </a:lnTo>
                <a:lnTo>
                  <a:pt x="549307" y="9321"/>
                </a:lnTo>
                <a:lnTo>
                  <a:pt x="552783" y="8886"/>
                </a:lnTo>
                <a:lnTo>
                  <a:pt x="556260" y="8461"/>
                </a:lnTo>
                <a:lnTo>
                  <a:pt x="559737" y="8047"/>
                </a:lnTo>
                <a:lnTo>
                  <a:pt x="563213" y="7642"/>
                </a:lnTo>
                <a:lnTo>
                  <a:pt x="566690" y="7248"/>
                </a:lnTo>
                <a:lnTo>
                  <a:pt x="570167" y="6864"/>
                </a:lnTo>
                <a:lnTo>
                  <a:pt x="573643" y="6491"/>
                </a:lnTo>
                <a:lnTo>
                  <a:pt x="577120" y="6127"/>
                </a:lnTo>
                <a:lnTo>
                  <a:pt x="580596" y="5774"/>
                </a:lnTo>
                <a:lnTo>
                  <a:pt x="584073" y="5431"/>
                </a:lnTo>
                <a:lnTo>
                  <a:pt x="587550" y="5099"/>
                </a:lnTo>
                <a:lnTo>
                  <a:pt x="591026" y="4777"/>
                </a:lnTo>
                <a:lnTo>
                  <a:pt x="594503" y="4465"/>
                </a:lnTo>
                <a:lnTo>
                  <a:pt x="597979" y="4163"/>
                </a:lnTo>
                <a:lnTo>
                  <a:pt x="601456" y="3872"/>
                </a:lnTo>
                <a:lnTo>
                  <a:pt x="604933" y="3592"/>
                </a:lnTo>
                <a:lnTo>
                  <a:pt x="608409" y="3322"/>
                </a:lnTo>
                <a:lnTo>
                  <a:pt x="611886" y="3062"/>
                </a:lnTo>
                <a:lnTo>
                  <a:pt x="615363" y="2813"/>
                </a:lnTo>
                <a:lnTo>
                  <a:pt x="618839" y="2574"/>
                </a:lnTo>
                <a:lnTo>
                  <a:pt x="622316" y="2346"/>
                </a:lnTo>
                <a:lnTo>
                  <a:pt x="625793" y="2128"/>
                </a:lnTo>
                <a:lnTo>
                  <a:pt x="629269" y="1921"/>
                </a:lnTo>
                <a:lnTo>
                  <a:pt x="632746" y="1725"/>
                </a:lnTo>
                <a:lnTo>
                  <a:pt x="636222" y="1539"/>
                </a:lnTo>
                <a:lnTo>
                  <a:pt x="639699" y="1363"/>
                </a:lnTo>
                <a:lnTo>
                  <a:pt x="643176" y="1198"/>
                </a:lnTo>
                <a:lnTo>
                  <a:pt x="646652" y="1044"/>
                </a:lnTo>
                <a:lnTo>
                  <a:pt x="650129" y="900"/>
                </a:lnTo>
                <a:lnTo>
                  <a:pt x="653606" y="767"/>
                </a:lnTo>
                <a:lnTo>
                  <a:pt x="657082" y="645"/>
                </a:lnTo>
                <a:lnTo>
                  <a:pt x="660559" y="533"/>
                </a:lnTo>
                <a:lnTo>
                  <a:pt x="664035" y="432"/>
                </a:lnTo>
                <a:lnTo>
                  <a:pt x="667512" y="341"/>
                </a:lnTo>
                <a:lnTo>
                  <a:pt x="670989" y="261"/>
                </a:lnTo>
                <a:lnTo>
                  <a:pt x="674465" y="192"/>
                </a:lnTo>
                <a:lnTo>
                  <a:pt x="677942" y="133"/>
                </a:lnTo>
                <a:lnTo>
                  <a:pt x="681418" y="85"/>
                </a:lnTo>
                <a:lnTo>
                  <a:pt x="684895" y="48"/>
                </a:lnTo>
                <a:lnTo>
                  <a:pt x="688372" y="21"/>
                </a:lnTo>
                <a:lnTo>
                  <a:pt x="691848" y="5"/>
                </a:lnTo>
                <a:lnTo>
                  <a:pt x="695325" y="0"/>
                </a:lnTo>
                <a:lnTo>
                  <a:pt x="698802" y="5"/>
                </a:lnTo>
                <a:lnTo>
                  <a:pt x="702278" y="21"/>
                </a:lnTo>
                <a:lnTo>
                  <a:pt x="705755" y="48"/>
                </a:lnTo>
                <a:lnTo>
                  <a:pt x="709232" y="85"/>
                </a:lnTo>
                <a:lnTo>
                  <a:pt x="712708" y="133"/>
                </a:lnTo>
                <a:lnTo>
                  <a:pt x="716185" y="192"/>
                </a:lnTo>
                <a:lnTo>
                  <a:pt x="719661" y="261"/>
                </a:lnTo>
                <a:lnTo>
                  <a:pt x="723138" y="341"/>
                </a:lnTo>
                <a:lnTo>
                  <a:pt x="726615" y="432"/>
                </a:lnTo>
                <a:lnTo>
                  <a:pt x="730091" y="533"/>
                </a:lnTo>
                <a:lnTo>
                  <a:pt x="733568" y="645"/>
                </a:lnTo>
                <a:lnTo>
                  <a:pt x="737045" y="767"/>
                </a:lnTo>
                <a:lnTo>
                  <a:pt x="740521" y="900"/>
                </a:lnTo>
                <a:lnTo>
                  <a:pt x="743998" y="1044"/>
                </a:lnTo>
                <a:lnTo>
                  <a:pt x="747474" y="1198"/>
                </a:lnTo>
                <a:lnTo>
                  <a:pt x="750951" y="1363"/>
                </a:lnTo>
                <a:lnTo>
                  <a:pt x="754428" y="1539"/>
                </a:lnTo>
                <a:lnTo>
                  <a:pt x="757904" y="1725"/>
                </a:lnTo>
                <a:lnTo>
                  <a:pt x="761381" y="1921"/>
                </a:lnTo>
                <a:lnTo>
                  <a:pt x="764857" y="2128"/>
                </a:lnTo>
                <a:lnTo>
                  <a:pt x="768334" y="2346"/>
                </a:lnTo>
                <a:lnTo>
                  <a:pt x="771811" y="2574"/>
                </a:lnTo>
                <a:lnTo>
                  <a:pt x="775287" y="2813"/>
                </a:lnTo>
                <a:lnTo>
                  <a:pt x="778764" y="3062"/>
                </a:lnTo>
                <a:lnTo>
                  <a:pt x="782241" y="3322"/>
                </a:lnTo>
                <a:lnTo>
                  <a:pt x="785717" y="3592"/>
                </a:lnTo>
                <a:lnTo>
                  <a:pt x="789194" y="3872"/>
                </a:lnTo>
                <a:lnTo>
                  <a:pt x="792671" y="4163"/>
                </a:lnTo>
                <a:lnTo>
                  <a:pt x="796147" y="4465"/>
                </a:lnTo>
                <a:lnTo>
                  <a:pt x="799624" y="4777"/>
                </a:lnTo>
                <a:lnTo>
                  <a:pt x="803100" y="5099"/>
                </a:lnTo>
                <a:lnTo>
                  <a:pt x="806577" y="5431"/>
                </a:lnTo>
                <a:lnTo>
                  <a:pt x="810054" y="5774"/>
                </a:lnTo>
                <a:lnTo>
                  <a:pt x="813530" y="6127"/>
                </a:lnTo>
                <a:lnTo>
                  <a:pt x="817007" y="6491"/>
                </a:lnTo>
                <a:lnTo>
                  <a:pt x="820483" y="6864"/>
                </a:lnTo>
                <a:lnTo>
                  <a:pt x="823960" y="7248"/>
                </a:lnTo>
                <a:lnTo>
                  <a:pt x="827437" y="7642"/>
                </a:lnTo>
                <a:lnTo>
                  <a:pt x="830913" y="8047"/>
                </a:lnTo>
                <a:lnTo>
                  <a:pt x="834390" y="8461"/>
                </a:lnTo>
                <a:lnTo>
                  <a:pt x="837867" y="8886"/>
                </a:lnTo>
                <a:lnTo>
                  <a:pt x="841343" y="9321"/>
                </a:lnTo>
                <a:lnTo>
                  <a:pt x="844820" y="9766"/>
                </a:lnTo>
                <a:lnTo>
                  <a:pt x="848296" y="10220"/>
                </a:lnTo>
                <a:lnTo>
                  <a:pt x="851773" y="10685"/>
                </a:lnTo>
                <a:lnTo>
                  <a:pt x="855250" y="11160"/>
                </a:lnTo>
                <a:lnTo>
                  <a:pt x="858726" y="11645"/>
                </a:lnTo>
                <a:lnTo>
                  <a:pt x="862203" y="12140"/>
                </a:lnTo>
                <a:lnTo>
                  <a:pt x="865680" y="12645"/>
                </a:lnTo>
                <a:lnTo>
                  <a:pt x="869156" y="13160"/>
                </a:lnTo>
                <a:lnTo>
                  <a:pt x="872633" y="13684"/>
                </a:lnTo>
                <a:lnTo>
                  <a:pt x="876110" y="14218"/>
                </a:lnTo>
                <a:lnTo>
                  <a:pt x="879586" y="14763"/>
                </a:lnTo>
                <a:lnTo>
                  <a:pt x="883063" y="15316"/>
                </a:lnTo>
                <a:lnTo>
                  <a:pt x="886539" y="15880"/>
                </a:lnTo>
                <a:lnTo>
                  <a:pt x="890016" y="16453"/>
                </a:lnTo>
                <a:lnTo>
                  <a:pt x="893493" y="17036"/>
                </a:lnTo>
                <a:lnTo>
                  <a:pt x="896969" y="17629"/>
                </a:lnTo>
                <a:lnTo>
                  <a:pt x="900446" y="18231"/>
                </a:lnTo>
                <a:lnTo>
                  <a:pt x="903922" y="18843"/>
                </a:lnTo>
                <a:lnTo>
                  <a:pt x="907399" y="19464"/>
                </a:lnTo>
                <a:lnTo>
                  <a:pt x="910876" y="20094"/>
                </a:lnTo>
                <a:lnTo>
                  <a:pt x="914352" y="20735"/>
                </a:lnTo>
                <a:lnTo>
                  <a:pt x="917829" y="21384"/>
                </a:lnTo>
                <a:lnTo>
                  <a:pt x="921306" y="22043"/>
                </a:lnTo>
                <a:lnTo>
                  <a:pt x="924782" y="22711"/>
                </a:lnTo>
                <a:lnTo>
                  <a:pt x="928259" y="23388"/>
                </a:lnTo>
                <a:lnTo>
                  <a:pt x="931735" y="24075"/>
                </a:lnTo>
                <a:lnTo>
                  <a:pt x="935212" y="24770"/>
                </a:lnTo>
                <a:lnTo>
                  <a:pt x="938689" y="25475"/>
                </a:lnTo>
                <a:lnTo>
                  <a:pt x="942165" y="26189"/>
                </a:lnTo>
                <a:lnTo>
                  <a:pt x="945642" y="26912"/>
                </a:lnTo>
                <a:lnTo>
                  <a:pt x="949119" y="27644"/>
                </a:lnTo>
                <a:lnTo>
                  <a:pt x="952595" y="28385"/>
                </a:lnTo>
                <a:lnTo>
                  <a:pt x="956072" y="29135"/>
                </a:lnTo>
                <a:lnTo>
                  <a:pt x="959549" y="29894"/>
                </a:lnTo>
                <a:lnTo>
                  <a:pt x="963025" y="30662"/>
                </a:lnTo>
                <a:lnTo>
                  <a:pt x="966502" y="31438"/>
                </a:lnTo>
                <a:lnTo>
                  <a:pt x="969978" y="32223"/>
                </a:lnTo>
                <a:lnTo>
                  <a:pt x="973455" y="33017"/>
                </a:lnTo>
                <a:lnTo>
                  <a:pt x="976932" y="33819"/>
                </a:lnTo>
                <a:lnTo>
                  <a:pt x="980408" y="34630"/>
                </a:lnTo>
                <a:lnTo>
                  <a:pt x="983885" y="35450"/>
                </a:lnTo>
                <a:lnTo>
                  <a:pt x="987361" y="36278"/>
                </a:lnTo>
                <a:lnTo>
                  <a:pt x="990838" y="37114"/>
                </a:lnTo>
                <a:lnTo>
                  <a:pt x="994315" y="37959"/>
                </a:lnTo>
                <a:lnTo>
                  <a:pt x="997791" y="38812"/>
                </a:lnTo>
                <a:lnTo>
                  <a:pt x="1001268" y="39673"/>
                </a:lnTo>
                <a:lnTo>
                  <a:pt x="1004745" y="40543"/>
                </a:lnTo>
                <a:lnTo>
                  <a:pt x="1008221" y="41421"/>
                </a:lnTo>
                <a:lnTo>
                  <a:pt x="1011698" y="42307"/>
                </a:lnTo>
                <a:lnTo>
                  <a:pt x="1015175" y="43200"/>
                </a:lnTo>
                <a:lnTo>
                  <a:pt x="1018651" y="44102"/>
                </a:lnTo>
                <a:lnTo>
                  <a:pt x="1022128" y="45012"/>
                </a:lnTo>
                <a:lnTo>
                  <a:pt x="1025604" y="45930"/>
                </a:lnTo>
                <a:lnTo>
                  <a:pt x="1029081" y="46856"/>
                </a:lnTo>
                <a:lnTo>
                  <a:pt x="1032558" y="47789"/>
                </a:lnTo>
                <a:lnTo>
                  <a:pt x="1036034" y="48730"/>
                </a:lnTo>
                <a:lnTo>
                  <a:pt x="1039511" y="49679"/>
                </a:lnTo>
                <a:lnTo>
                  <a:pt x="1042988" y="50635"/>
                </a:lnTo>
                <a:lnTo>
                  <a:pt x="1046464" y="51599"/>
                </a:lnTo>
                <a:lnTo>
                  <a:pt x="1049941" y="52570"/>
                </a:lnTo>
                <a:lnTo>
                  <a:pt x="1053417" y="53549"/>
                </a:lnTo>
                <a:lnTo>
                  <a:pt x="1056894" y="54535"/>
                </a:lnTo>
                <a:lnTo>
                  <a:pt x="1060371" y="55529"/>
                </a:lnTo>
                <a:lnTo>
                  <a:pt x="1063847" y="56529"/>
                </a:lnTo>
                <a:lnTo>
                  <a:pt x="1067324" y="57537"/>
                </a:lnTo>
                <a:lnTo>
                  <a:pt x="1070800" y="58552"/>
                </a:lnTo>
                <a:lnTo>
                  <a:pt x="1074277" y="59574"/>
                </a:lnTo>
                <a:lnTo>
                  <a:pt x="1077754" y="60603"/>
                </a:lnTo>
                <a:lnTo>
                  <a:pt x="1081230" y="61639"/>
                </a:lnTo>
                <a:lnTo>
                  <a:pt x="1084707" y="62682"/>
                </a:lnTo>
                <a:lnTo>
                  <a:pt x="1088184" y="63731"/>
                </a:lnTo>
                <a:lnTo>
                  <a:pt x="1091660" y="64788"/>
                </a:lnTo>
                <a:lnTo>
                  <a:pt x="1095137" y="65851"/>
                </a:lnTo>
                <a:lnTo>
                  <a:pt x="1098614" y="66920"/>
                </a:lnTo>
                <a:lnTo>
                  <a:pt x="1102090" y="67996"/>
                </a:lnTo>
                <a:lnTo>
                  <a:pt x="1105567" y="69079"/>
                </a:lnTo>
                <a:lnTo>
                  <a:pt x="1109043" y="70168"/>
                </a:lnTo>
                <a:lnTo>
                  <a:pt x="1112520" y="71263"/>
                </a:lnTo>
                <a:lnTo>
                  <a:pt x="1115997" y="72365"/>
                </a:lnTo>
                <a:lnTo>
                  <a:pt x="1119473" y="73473"/>
                </a:lnTo>
                <a:lnTo>
                  <a:pt x="1122950" y="74586"/>
                </a:lnTo>
                <a:lnTo>
                  <a:pt x="1126427" y="75706"/>
                </a:lnTo>
                <a:lnTo>
                  <a:pt x="1129903" y="76832"/>
                </a:lnTo>
                <a:lnTo>
                  <a:pt x="1133380" y="77964"/>
                </a:lnTo>
                <a:lnTo>
                  <a:pt x="1136856" y="79102"/>
                </a:lnTo>
                <a:lnTo>
                  <a:pt x="1140333" y="80246"/>
                </a:lnTo>
                <a:lnTo>
                  <a:pt x="1143810" y="81395"/>
                </a:lnTo>
                <a:lnTo>
                  <a:pt x="1147286" y="82550"/>
                </a:lnTo>
                <a:lnTo>
                  <a:pt x="1150763" y="83710"/>
                </a:lnTo>
                <a:lnTo>
                  <a:pt x="1154240" y="84876"/>
                </a:lnTo>
                <a:lnTo>
                  <a:pt x="1157716" y="86048"/>
                </a:lnTo>
                <a:lnTo>
                  <a:pt x="1161193" y="87224"/>
                </a:lnTo>
                <a:lnTo>
                  <a:pt x="1164669" y="88407"/>
                </a:lnTo>
                <a:lnTo>
                  <a:pt x="1168146" y="89594"/>
                </a:lnTo>
                <a:lnTo>
                  <a:pt x="1171623" y="90786"/>
                </a:lnTo>
                <a:lnTo>
                  <a:pt x="1175099" y="91984"/>
                </a:lnTo>
                <a:lnTo>
                  <a:pt x="1178576" y="93186"/>
                </a:lnTo>
                <a:lnTo>
                  <a:pt x="1182052" y="94393"/>
                </a:lnTo>
                <a:lnTo>
                  <a:pt x="1185529" y="95606"/>
                </a:lnTo>
                <a:lnTo>
                  <a:pt x="1189006" y="96823"/>
                </a:lnTo>
                <a:lnTo>
                  <a:pt x="1192482" y="98044"/>
                </a:lnTo>
                <a:lnTo>
                  <a:pt x="1195959" y="99271"/>
                </a:lnTo>
                <a:lnTo>
                  <a:pt x="1199436" y="100501"/>
                </a:lnTo>
                <a:lnTo>
                  <a:pt x="1202912" y="101737"/>
                </a:lnTo>
                <a:lnTo>
                  <a:pt x="1206389" y="102976"/>
                </a:lnTo>
                <a:lnTo>
                  <a:pt x="1209865" y="104220"/>
                </a:lnTo>
                <a:lnTo>
                  <a:pt x="1213342" y="105469"/>
                </a:lnTo>
                <a:lnTo>
                  <a:pt x="1216819" y="106721"/>
                </a:lnTo>
                <a:lnTo>
                  <a:pt x="1220295" y="107977"/>
                </a:lnTo>
                <a:lnTo>
                  <a:pt x="1223772" y="109238"/>
                </a:lnTo>
                <a:lnTo>
                  <a:pt x="1227249" y="110502"/>
                </a:lnTo>
                <a:lnTo>
                  <a:pt x="1230725" y="111770"/>
                </a:lnTo>
                <a:lnTo>
                  <a:pt x="1234202" y="113042"/>
                </a:lnTo>
                <a:lnTo>
                  <a:pt x="1237679" y="114318"/>
                </a:lnTo>
                <a:lnTo>
                  <a:pt x="1241155" y="115597"/>
                </a:lnTo>
                <a:lnTo>
                  <a:pt x="1244632" y="116880"/>
                </a:lnTo>
                <a:lnTo>
                  <a:pt x="1248108" y="118167"/>
                </a:lnTo>
                <a:lnTo>
                  <a:pt x="1251585" y="119456"/>
                </a:lnTo>
                <a:lnTo>
                  <a:pt x="1255062" y="120749"/>
                </a:lnTo>
                <a:lnTo>
                  <a:pt x="1258538" y="122045"/>
                </a:lnTo>
                <a:lnTo>
                  <a:pt x="1262015" y="123345"/>
                </a:lnTo>
                <a:lnTo>
                  <a:pt x="1265492" y="124647"/>
                </a:lnTo>
                <a:lnTo>
                  <a:pt x="1268968" y="125952"/>
                </a:lnTo>
                <a:lnTo>
                  <a:pt x="1272445" y="127261"/>
                </a:lnTo>
                <a:lnTo>
                  <a:pt x="1275921" y="128572"/>
                </a:lnTo>
                <a:lnTo>
                  <a:pt x="1279398" y="129886"/>
                </a:lnTo>
                <a:lnTo>
                  <a:pt x="1282875" y="131202"/>
                </a:lnTo>
                <a:lnTo>
                  <a:pt x="1286351" y="132521"/>
                </a:lnTo>
                <a:lnTo>
                  <a:pt x="1289828" y="133843"/>
                </a:lnTo>
                <a:lnTo>
                  <a:pt x="1293304" y="135166"/>
                </a:lnTo>
                <a:lnTo>
                  <a:pt x="1296781" y="136493"/>
                </a:lnTo>
                <a:lnTo>
                  <a:pt x="1300258" y="137821"/>
                </a:lnTo>
                <a:lnTo>
                  <a:pt x="1303734" y="139152"/>
                </a:lnTo>
                <a:lnTo>
                  <a:pt x="1307211" y="140485"/>
                </a:lnTo>
                <a:lnTo>
                  <a:pt x="1310688" y="141819"/>
                </a:lnTo>
                <a:lnTo>
                  <a:pt x="1314164" y="143156"/>
                </a:lnTo>
                <a:lnTo>
                  <a:pt x="1317641" y="144494"/>
                </a:lnTo>
                <a:lnTo>
                  <a:pt x="1321118" y="145835"/>
                </a:lnTo>
                <a:lnTo>
                  <a:pt x="1324594" y="147176"/>
                </a:lnTo>
                <a:lnTo>
                  <a:pt x="1328071" y="148520"/>
                </a:lnTo>
                <a:lnTo>
                  <a:pt x="1331547" y="149865"/>
                </a:lnTo>
                <a:lnTo>
                  <a:pt x="1335024" y="151211"/>
                </a:lnTo>
                <a:lnTo>
                  <a:pt x="1338501" y="152559"/>
                </a:lnTo>
                <a:lnTo>
                  <a:pt x="1341977" y="153908"/>
                </a:lnTo>
                <a:lnTo>
                  <a:pt x="1345454" y="155258"/>
                </a:lnTo>
                <a:lnTo>
                  <a:pt x="1348930" y="156609"/>
                </a:lnTo>
                <a:lnTo>
                  <a:pt x="1352407" y="157962"/>
                </a:lnTo>
                <a:lnTo>
                  <a:pt x="1355884" y="159315"/>
                </a:lnTo>
                <a:lnTo>
                  <a:pt x="1359360" y="160669"/>
                </a:lnTo>
                <a:lnTo>
                  <a:pt x="1362837" y="162024"/>
                </a:lnTo>
                <a:lnTo>
                  <a:pt x="1366314" y="163379"/>
                </a:lnTo>
                <a:lnTo>
                  <a:pt x="1369790" y="164735"/>
                </a:lnTo>
                <a:lnTo>
                  <a:pt x="1373267" y="166092"/>
                </a:lnTo>
                <a:lnTo>
                  <a:pt x="1376743" y="167448"/>
                </a:lnTo>
                <a:lnTo>
                  <a:pt x="1380220" y="168806"/>
                </a:lnTo>
                <a:lnTo>
                  <a:pt x="1383697" y="170163"/>
                </a:lnTo>
                <a:lnTo>
                  <a:pt x="1387173" y="171521"/>
                </a:lnTo>
                <a:lnTo>
                  <a:pt x="1390650" y="172879"/>
                </a:lnTo>
                <a:lnTo>
                  <a:pt x="1394127" y="174237"/>
                </a:lnTo>
                <a:lnTo>
                  <a:pt x="1397603" y="175594"/>
                </a:lnTo>
                <a:lnTo>
                  <a:pt x="1401080" y="176952"/>
                </a:lnTo>
                <a:lnTo>
                  <a:pt x="1404557" y="178309"/>
                </a:lnTo>
                <a:lnTo>
                  <a:pt x="1408033" y="179666"/>
                </a:lnTo>
                <a:lnTo>
                  <a:pt x="1411510" y="181022"/>
                </a:lnTo>
                <a:lnTo>
                  <a:pt x="1414986" y="182378"/>
                </a:lnTo>
                <a:lnTo>
                  <a:pt x="1418463" y="183734"/>
                </a:lnTo>
                <a:lnTo>
                  <a:pt x="1421940" y="185089"/>
                </a:lnTo>
                <a:lnTo>
                  <a:pt x="1425416" y="186443"/>
                </a:lnTo>
                <a:lnTo>
                  <a:pt x="1428893" y="187796"/>
                </a:lnTo>
                <a:lnTo>
                  <a:pt x="1432370" y="189148"/>
                </a:lnTo>
                <a:lnTo>
                  <a:pt x="1435846" y="190499"/>
                </a:lnTo>
                <a:lnTo>
                  <a:pt x="1439323" y="191849"/>
                </a:lnTo>
                <a:lnTo>
                  <a:pt x="1442799" y="193198"/>
                </a:lnTo>
                <a:lnTo>
                  <a:pt x="1446276" y="194546"/>
                </a:lnTo>
                <a:lnTo>
                  <a:pt x="1449753" y="195893"/>
                </a:lnTo>
                <a:lnTo>
                  <a:pt x="1453229" y="197238"/>
                </a:lnTo>
                <a:lnTo>
                  <a:pt x="1456706" y="198581"/>
                </a:lnTo>
                <a:lnTo>
                  <a:pt x="1460182" y="199923"/>
                </a:lnTo>
                <a:lnTo>
                  <a:pt x="1463659" y="201263"/>
                </a:lnTo>
                <a:lnTo>
                  <a:pt x="1467136" y="202602"/>
                </a:lnTo>
                <a:lnTo>
                  <a:pt x="1470612" y="203938"/>
                </a:lnTo>
                <a:lnTo>
                  <a:pt x="1474089" y="205273"/>
                </a:lnTo>
                <a:lnTo>
                  <a:pt x="1477566" y="206606"/>
                </a:lnTo>
                <a:lnTo>
                  <a:pt x="1481042" y="207936"/>
                </a:lnTo>
                <a:lnTo>
                  <a:pt x="1484519" y="209265"/>
                </a:lnTo>
                <a:lnTo>
                  <a:pt x="1487996" y="210591"/>
                </a:lnTo>
                <a:lnTo>
                  <a:pt x="1491472" y="211915"/>
                </a:lnTo>
                <a:lnTo>
                  <a:pt x="1494949" y="213236"/>
                </a:lnTo>
                <a:lnTo>
                  <a:pt x="1498425" y="214556"/>
                </a:lnTo>
                <a:lnTo>
                  <a:pt x="1501902" y="215872"/>
                </a:lnTo>
                <a:lnTo>
                  <a:pt x="1505379" y="217186"/>
                </a:lnTo>
                <a:lnTo>
                  <a:pt x="1508855" y="218497"/>
                </a:lnTo>
                <a:lnTo>
                  <a:pt x="1512332" y="219805"/>
                </a:lnTo>
                <a:lnTo>
                  <a:pt x="1515808" y="221110"/>
                </a:lnTo>
                <a:lnTo>
                  <a:pt x="1519285" y="222413"/>
                </a:lnTo>
                <a:lnTo>
                  <a:pt x="1522762" y="223712"/>
                </a:lnTo>
                <a:lnTo>
                  <a:pt x="1526238" y="225008"/>
                </a:lnTo>
                <a:lnTo>
                  <a:pt x="1529715" y="226301"/>
                </a:lnTo>
                <a:lnTo>
                  <a:pt x="1533192" y="227591"/>
                </a:lnTo>
                <a:lnTo>
                  <a:pt x="1536668" y="228877"/>
                </a:lnTo>
                <a:lnTo>
                  <a:pt x="1540145" y="230160"/>
                </a:lnTo>
                <a:lnTo>
                  <a:pt x="1543621" y="231439"/>
                </a:lnTo>
                <a:lnTo>
                  <a:pt x="1547098" y="232715"/>
                </a:lnTo>
                <a:lnTo>
                  <a:pt x="1550575" y="233987"/>
                </a:lnTo>
                <a:lnTo>
                  <a:pt x="1554051" y="235255"/>
                </a:lnTo>
                <a:lnTo>
                  <a:pt x="1557528" y="236520"/>
                </a:lnTo>
                <a:lnTo>
                  <a:pt x="1561005" y="237780"/>
                </a:lnTo>
                <a:lnTo>
                  <a:pt x="1564481" y="239037"/>
                </a:lnTo>
                <a:lnTo>
                  <a:pt x="1567958" y="240289"/>
                </a:lnTo>
                <a:lnTo>
                  <a:pt x="1571435" y="241537"/>
                </a:lnTo>
                <a:lnTo>
                  <a:pt x="1574911" y="242781"/>
                </a:lnTo>
                <a:lnTo>
                  <a:pt x="1578388" y="244021"/>
                </a:lnTo>
                <a:lnTo>
                  <a:pt x="1581864" y="245256"/>
                </a:lnTo>
                <a:lnTo>
                  <a:pt x="1585341" y="246487"/>
                </a:lnTo>
                <a:lnTo>
                  <a:pt x="1588818" y="247713"/>
                </a:lnTo>
                <a:lnTo>
                  <a:pt x="1592294" y="248935"/>
                </a:lnTo>
                <a:lnTo>
                  <a:pt x="1595771" y="250152"/>
                </a:lnTo>
                <a:lnTo>
                  <a:pt x="1599248" y="251364"/>
                </a:lnTo>
                <a:lnTo>
                  <a:pt x="1602724" y="252571"/>
                </a:lnTo>
                <a:lnTo>
                  <a:pt x="1606201" y="253774"/>
                </a:lnTo>
                <a:lnTo>
                  <a:pt x="1609677" y="254971"/>
                </a:lnTo>
                <a:lnTo>
                  <a:pt x="1613154" y="256164"/>
                </a:lnTo>
                <a:lnTo>
                  <a:pt x="1616631" y="257351"/>
                </a:lnTo>
                <a:lnTo>
                  <a:pt x="1620107" y="258533"/>
                </a:lnTo>
                <a:lnTo>
                  <a:pt x="1623584" y="259710"/>
                </a:lnTo>
                <a:lnTo>
                  <a:pt x="1627060" y="260881"/>
                </a:lnTo>
                <a:lnTo>
                  <a:pt x="1630537" y="262047"/>
                </a:lnTo>
                <a:lnTo>
                  <a:pt x="1634014" y="263208"/>
                </a:lnTo>
                <a:lnTo>
                  <a:pt x="1637490" y="264363"/>
                </a:lnTo>
                <a:lnTo>
                  <a:pt x="1640967" y="265512"/>
                </a:lnTo>
                <a:lnTo>
                  <a:pt x="1644444" y="266655"/>
                </a:lnTo>
                <a:lnTo>
                  <a:pt x="1647920" y="267793"/>
                </a:lnTo>
                <a:lnTo>
                  <a:pt x="1651397" y="268925"/>
                </a:lnTo>
                <a:lnTo>
                  <a:pt x="1654874" y="270051"/>
                </a:lnTo>
                <a:lnTo>
                  <a:pt x="1658350" y="271171"/>
                </a:lnTo>
                <a:lnTo>
                  <a:pt x="1661827" y="272285"/>
                </a:lnTo>
                <a:lnTo>
                  <a:pt x="1665303" y="273393"/>
                </a:lnTo>
                <a:lnTo>
                  <a:pt x="1668780" y="274494"/>
                </a:lnTo>
                <a:lnTo>
                  <a:pt x="1672257" y="275590"/>
                </a:lnTo>
                <a:lnTo>
                  <a:pt x="1675733" y="276679"/>
                </a:lnTo>
                <a:lnTo>
                  <a:pt x="1679210" y="277761"/>
                </a:lnTo>
                <a:lnTo>
                  <a:pt x="1682687" y="278837"/>
                </a:lnTo>
                <a:lnTo>
                  <a:pt x="1686163" y="279907"/>
                </a:lnTo>
                <a:lnTo>
                  <a:pt x="1689640" y="280970"/>
                </a:lnTo>
                <a:lnTo>
                  <a:pt x="1693116" y="282026"/>
                </a:lnTo>
                <a:lnTo>
                  <a:pt x="1696593" y="283076"/>
                </a:lnTo>
                <a:lnTo>
                  <a:pt x="1700070" y="284119"/>
                </a:lnTo>
                <a:lnTo>
                  <a:pt x="1703546" y="285155"/>
                </a:lnTo>
                <a:lnTo>
                  <a:pt x="1707023" y="286184"/>
                </a:lnTo>
                <a:lnTo>
                  <a:pt x="1710499" y="287206"/>
                </a:lnTo>
                <a:lnTo>
                  <a:pt x="1713976" y="288220"/>
                </a:lnTo>
                <a:lnTo>
                  <a:pt x="1717453" y="289228"/>
                </a:lnTo>
                <a:lnTo>
                  <a:pt x="1720929" y="290229"/>
                </a:lnTo>
                <a:lnTo>
                  <a:pt x="1724406" y="291222"/>
                </a:lnTo>
                <a:lnTo>
                  <a:pt x="1727883" y="292209"/>
                </a:lnTo>
                <a:lnTo>
                  <a:pt x="1731359" y="293187"/>
                </a:lnTo>
                <a:lnTo>
                  <a:pt x="1734836" y="294159"/>
                </a:lnTo>
                <a:lnTo>
                  <a:pt x="1738313" y="295122"/>
                </a:lnTo>
                <a:lnTo>
                  <a:pt x="1741789" y="296079"/>
                </a:lnTo>
                <a:lnTo>
                  <a:pt x="1745266" y="297028"/>
                </a:lnTo>
                <a:lnTo>
                  <a:pt x="1748742" y="297969"/>
                </a:lnTo>
                <a:lnTo>
                  <a:pt x="1752219" y="298902"/>
                </a:lnTo>
                <a:lnTo>
                  <a:pt x="1755696" y="299828"/>
                </a:lnTo>
                <a:lnTo>
                  <a:pt x="1759172" y="300745"/>
                </a:lnTo>
                <a:lnTo>
                  <a:pt x="1762649" y="301655"/>
                </a:lnTo>
                <a:lnTo>
                  <a:pt x="1766126" y="302557"/>
                </a:lnTo>
                <a:lnTo>
                  <a:pt x="1769602" y="303451"/>
                </a:lnTo>
                <a:lnTo>
                  <a:pt x="1773079" y="304337"/>
                </a:lnTo>
                <a:lnTo>
                  <a:pt x="1776555" y="305215"/>
                </a:lnTo>
                <a:lnTo>
                  <a:pt x="1780032" y="306084"/>
                </a:lnTo>
                <a:lnTo>
                  <a:pt x="1783509" y="306945"/>
                </a:lnTo>
                <a:lnTo>
                  <a:pt x="1786985" y="307799"/>
                </a:lnTo>
                <a:lnTo>
                  <a:pt x="1790462" y="308643"/>
                </a:lnTo>
                <a:lnTo>
                  <a:pt x="1793938" y="309480"/>
                </a:lnTo>
                <a:lnTo>
                  <a:pt x="1797415" y="310308"/>
                </a:lnTo>
                <a:lnTo>
                  <a:pt x="1800892" y="311127"/>
                </a:lnTo>
                <a:lnTo>
                  <a:pt x="1804368" y="311938"/>
                </a:lnTo>
                <a:lnTo>
                  <a:pt x="1807845" y="312741"/>
                </a:lnTo>
                <a:lnTo>
                  <a:pt x="1811322" y="313534"/>
                </a:lnTo>
                <a:lnTo>
                  <a:pt x="1814798" y="314319"/>
                </a:lnTo>
                <a:lnTo>
                  <a:pt x="1818275" y="315096"/>
                </a:lnTo>
                <a:lnTo>
                  <a:pt x="1821752" y="315863"/>
                </a:lnTo>
                <a:lnTo>
                  <a:pt x="1825228" y="316622"/>
                </a:lnTo>
                <a:lnTo>
                  <a:pt x="1828705" y="317372"/>
                </a:lnTo>
                <a:lnTo>
                  <a:pt x="1832181" y="318113"/>
                </a:lnTo>
                <a:lnTo>
                  <a:pt x="1835658" y="318845"/>
                </a:lnTo>
                <a:lnTo>
                  <a:pt x="1839135" y="319568"/>
                </a:lnTo>
                <a:lnTo>
                  <a:pt x="1842611" y="320282"/>
                </a:lnTo>
                <a:lnTo>
                  <a:pt x="1846088" y="320987"/>
                </a:lnTo>
                <a:lnTo>
                  <a:pt x="1849565" y="321683"/>
                </a:lnTo>
                <a:lnTo>
                  <a:pt x="1853041" y="322369"/>
                </a:lnTo>
                <a:lnTo>
                  <a:pt x="1856518" y="323047"/>
                </a:lnTo>
                <a:lnTo>
                  <a:pt x="1859994" y="323715"/>
                </a:lnTo>
                <a:lnTo>
                  <a:pt x="1863471" y="324374"/>
                </a:lnTo>
                <a:lnTo>
                  <a:pt x="1866948" y="325023"/>
                </a:lnTo>
                <a:lnTo>
                  <a:pt x="1870424" y="325663"/>
                </a:lnTo>
                <a:lnTo>
                  <a:pt x="1873901" y="326294"/>
                </a:lnTo>
                <a:lnTo>
                  <a:pt x="1877377" y="326915"/>
                </a:lnTo>
                <a:lnTo>
                  <a:pt x="1880854" y="327527"/>
                </a:lnTo>
                <a:lnTo>
                  <a:pt x="1884331" y="328129"/>
                </a:lnTo>
                <a:lnTo>
                  <a:pt x="1887807" y="328721"/>
                </a:lnTo>
                <a:lnTo>
                  <a:pt x="1891284" y="329304"/>
                </a:lnTo>
                <a:lnTo>
                  <a:pt x="1894761" y="329877"/>
                </a:lnTo>
                <a:lnTo>
                  <a:pt x="1898237" y="330441"/>
                </a:lnTo>
                <a:lnTo>
                  <a:pt x="1901714" y="330995"/>
                </a:lnTo>
                <a:lnTo>
                  <a:pt x="1905190" y="331539"/>
                </a:lnTo>
                <a:lnTo>
                  <a:pt x="1908667" y="332073"/>
                </a:lnTo>
                <a:lnTo>
                  <a:pt x="1912144" y="332598"/>
                </a:lnTo>
                <a:lnTo>
                  <a:pt x="1915620" y="333113"/>
                </a:lnTo>
                <a:lnTo>
                  <a:pt x="1919097" y="333617"/>
                </a:lnTo>
                <a:lnTo>
                  <a:pt x="1922574" y="334112"/>
                </a:lnTo>
                <a:lnTo>
                  <a:pt x="1926050" y="334597"/>
                </a:lnTo>
                <a:lnTo>
                  <a:pt x="1929527" y="335072"/>
                </a:lnTo>
                <a:lnTo>
                  <a:pt x="1933004" y="335537"/>
                </a:lnTo>
                <a:lnTo>
                  <a:pt x="1936480" y="335992"/>
                </a:lnTo>
                <a:lnTo>
                  <a:pt x="1939957" y="336437"/>
                </a:lnTo>
                <a:lnTo>
                  <a:pt x="1943433" y="336872"/>
                </a:lnTo>
                <a:lnTo>
                  <a:pt x="1946910" y="337296"/>
                </a:lnTo>
                <a:lnTo>
                  <a:pt x="1950387" y="337711"/>
                </a:lnTo>
                <a:lnTo>
                  <a:pt x="1953863" y="338115"/>
                </a:lnTo>
                <a:lnTo>
                  <a:pt x="1957340" y="338509"/>
                </a:lnTo>
                <a:lnTo>
                  <a:pt x="1960817" y="338893"/>
                </a:lnTo>
                <a:lnTo>
                  <a:pt x="1964293" y="339267"/>
                </a:lnTo>
                <a:lnTo>
                  <a:pt x="1967770" y="339630"/>
                </a:lnTo>
                <a:lnTo>
                  <a:pt x="1971246" y="339983"/>
                </a:lnTo>
                <a:lnTo>
                  <a:pt x="1974723" y="340326"/>
                </a:lnTo>
                <a:lnTo>
                  <a:pt x="1978200" y="340659"/>
                </a:lnTo>
                <a:lnTo>
                  <a:pt x="1981676" y="340981"/>
                </a:lnTo>
                <a:lnTo>
                  <a:pt x="1985153" y="341293"/>
                </a:lnTo>
                <a:lnTo>
                  <a:pt x="1988629" y="341594"/>
                </a:lnTo>
                <a:lnTo>
                  <a:pt x="1992106" y="341885"/>
                </a:lnTo>
                <a:lnTo>
                  <a:pt x="1995583" y="342166"/>
                </a:lnTo>
                <a:lnTo>
                  <a:pt x="1999059" y="342436"/>
                </a:lnTo>
                <a:lnTo>
                  <a:pt x="2002536" y="342695"/>
                </a:lnTo>
                <a:lnTo>
                  <a:pt x="2006013" y="342945"/>
                </a:lnTo>
                <a:lnTo>
                  <a:pt x="2009489" y="343183"/>
                </a:lnTo>
                <a:lnTo>
                  <a:pt x="2012966" y="343411"/>
                </a:lnTo>
                <a:lnTo>
                  <a:pt x="2016443" y="343629"/>
                </a:lnTo>
                <a:lnTo>
                  <a:pt x="2019919" y="343836"/>
                </a:lnTo>
                <a:lnTo>
                  <a:pt x="2023396" y="344033"/>
                </a:lnTo>
                <a:lnTo>
                  <a:pt x="2026872" y="344219"/>
                </a:lnTo>
                <a:lnTo>
                  <a:pt x="2030349" y="344394"/>
                </a:lnTo>
                <a:lnTo>
                  <a:pt x="2033826" y="344559"/>
                </a:lnTo>
                <a:lnTo>
                  <a:pt x="2037302" y="344713"/>
                </a:lnTo>
                <a:lnTo>
                  <a:pt x="2040779" y="344857"/>
                </a:lnTo>
                <a:lnTo>
                  <a:pt x="2044255" y="344990"/>
                </a:lnTo>
                <a:lnTo>
                  <a:pt x="2047732" y="345113"/>
                </a:lnTo>
                <a:lnTo>
                  <a:pt x="2051209" y="345225"/>
                </a:lnTo>
                <a:lnTo>
                  <a:pt x="2054685" y="345326"/>
                </a:lnTo>
                <a:lnTo>
                  <a:pt x="2058162" y="345416"/>
                </a:lnTo>
                <a:lnTo>
                  <a:pt x="2061639" y="345496"/>
                </a:lnTo>
                <a:lnTo>
                  <a:pt x="2065115" y="345566"/>
                </a:lnTo>
                <a:lnTo>
                  <a:pt x="2068592" y="345624"/>
                </a:lnTo>
                <a:lnTo>
                  <a:pt x="2072068" y="345672"/>
                </a:lnTo>
                <a:lnTo>
                  <a:pt x="2075545" y="345710"/>
                </a:lnTo>
                <a:lnTo>
                  <a:pt x="2079022" y="345736"/>
                </a:lnTo>
                <a:lnTo>
                  <a:pt x="2082498" y="345752"/>
                </a:lnTo>
                <a:lnTo>
                  <a:pt x="2085975" y="345757"/>
                </a:lnTo>
                <a:lnTo>
                  <a:pt x="2089452" y="345752"/>
                </a:lnTo>
                <a:lnTo>
                  <a:pt x="2092928" y="345736"/>
                </a:lnTo>
                <a:lnTo>
                  <a:pt x="2096405" y="345710"/>
                </a:lnTo>
                <a:lnTo>
                  <a:pt x="2099882" y="345672"/>
                </a:lnTo>
                <a:lnTo>
                  <a:pt x="2103358" y="345624"/>
                </a:lnTo>
                <a:lnTo>
                  <a:pt x="2106835" y="345566"/>
                </a:lnTo>
                <a:lnTo>
                  <a:pt x="2110311" y="345496"/>
                </a:lnTo>
                <a:lnTo>
                  <a:pt x="2113788" y="345416"/>
                </a:lnTo>
                <a:lnTo>
                  <a:pt x="2117265" y="345326"/>
                </a:lnTo>
                <a:lnTo>
                  <a:pt x="2120741" y="345225"/>
                </a:lnTo>
                <a:lnTo>
                  <a:pt x="2124218" y="345113"/>
                </a:lnTo>
                <a:lnTo>
                  <a:pt x="2127695" y="344990"/>
                </a:lnTo>
                <a:lnTo>
                  <a:pt x="2131171" y="344857"/>
                </a:lnTo>
                <a:lnTo>
                  <a:pt x="2134648" y="344713"/>
                </a:lnTo>
                <a:lnTo>
                  <a:pt x="2138124" y="344559"/>
                </a:lnTo>
                <a:lnTo>
                  <a:pt x="2141601" y="344394"/>
                </a:lnTo>
                <a:lnTo>
                  <a:pt x="2145078" y="344219"/>
                </a:lnTo>
                <a:lnTo>
                  <a:pt x="2148554" y="344033"/>
                </a:lnTo>
                <a:lnTo>
                  <a:pt x="2152031" y="343836"/>
                </a:lnTo>
                <a:lnTo>
                  <a:pt x="2155507" y="343629"/>
                </a:lnTo>
                <a:lnTo>
                  <a:pt x="2158984" y="343411"/>
                </a:lnTo>
                <a:lnTo>
                  <a:pt x="2162461" y="343183"/>
                </a:lnTo>
                <a:lnTo>
                  <a:pt x="2165937" y="342945"/>
                </a:lnTo>
                <a:lnTo>
                  <a:pt x="2169414" y="342695"/>
                </a:lnTo>
                <a:lnTo>
                  <a:pt x="2172891" y="342436"/>
                </a:lnTo>
                <a:lnTo>
                  <a:pt x="2176367" y="342166"/>
                </a:lnTo>
                <a:lnTo>
                  <a:pt x="2179844" y="341885"/>
                </a:lnTo>
                <a:lnTo>
                  <a:pt x="2183321" y="341594"/>
                </a:lnTo>
                <a:lnTo>
                  <a:pt x="2186797" y="341293"/>
                </a:lnTo>
                <a:lnTo>
                  <a:pt x="2190274" y="340981"/>
                </a:lnTo>
                <a:lnTo>
                  <a:pt x="2193750" y="340659"/>
                </a:lnTo>
                <a:lnTo>
                  <a:pt x="2197227" y="340326"/>
                </a:lnTo>
                <a:lnTo>
                  <a:pt x="2200704" y="339983"/>
                </a:lnTo>
                <a:lnTo>
                  <a:pt x="2204180" y="339630"/>
                </a:lnTo>
                <a:lnTo>
                  <a:pt x="2207657" y="339267"/>
                </a:lnTo>
                <a:lnTo>
                  <a:pt x="2211133" y="338893"/>
                </a:lnTo>
                <a:lnTo>
                  <a:pt x="2214610" y="338509"/>
                </a:lnTo>
                <a:lnTo>
                  <a:pt x="2218087" y="338115"/>
                </a:lnTo>
                <a:lnTo>
                  <a:pt x="2221563" y="337711"/>
                </a:lnTo>
                <a:lnTo>
                  <a:pt x="2225040" y="337296"/>
                </a:lnTo>
                <a:lnTo>
                  <a:pt x="2228517" y="336872"/>
                </a:lnTo>
                <a:lnTo>
                  <a:pt x="2231993" y="336437"/>
                </a:lnTo>
                <a:lnTo>
                  <a:pt x="2235470" y="335992"/>
                </a:lnTo>
                <a:lnTo>
                  <a:pt x="2238946" y="335537"/>
                </a:lnTo>
                <a:lnTo>
                  <a:pt x="2242423" y="335072"/>
                </a:lnTo>
                <a:lnTo>
                  <a:pt x="2245900" y="334597"/>
                </a:lnTo>
                <a:lnTo>
                  <a:pt x="2249376" y="334112"/>
                </a:lnTo>
                <a:lnTo>
                  <a:pt x="2252853" y="333617"/>
                </a:lnTo>
                <a:lnTo>
                  <a:pt x="2256330" y="333113"/>
                </a:lnTo>
                <a:lnTo>
                  <a:pt x="2259806" y="332598"/>
                </a:lnTo>
                <a:lnTo>
                  <a:pt x="2263283" y="332073"/>
                </a:lnTo>
                <a:lnTo>
                  <a:pt x="2266760" y="331539"/>
                </a:lnTo>
                <a:lnTo>
                  <a:pt x="2270236" y="330995"/>
                </a:lnTo>
                <a:lnTo>
                  <a:pt x="2273713" y="330441"/>
                </a:lnTo>
                <a:lnTo>
                  <a:pt x="2277189" y="329877"/>
                </a:lnTo>
                <a:lnTo>
                  <a:pt x="2280666" y="329304"/>
                </a:lnTo>
                <a:lnTo>
                  <a:pt x="2284143" y="328721"/>
                </a:lnTo>
                <a:lnTo>
                  <a:pt x="2287619" y="328129"/>
                </a:lnTo>
                <a:lnTo>
                  <a:pt x="2291096" y="327527"/>
                </a:lnTo>
                <a:lnTo>
                  <a:pt x="2294573" y="326915"/>
                </a:lnTo>
                <a:lnTo>
                  <a:pt x="2298049" y="326294"/>
                </a:lnTo>
                <a:lnTo>
                  <a:pt x="2301526" y="325663"/>
                </a:lnTo>
                <a:lnTo>
                  <a:pt x="2305002" y="325023"/>
                </a:lnTo>
                <a:lnTo>
                  <a:pt x="2308479" y="324374"/>
                </a:lnTo>
                <a:lnTo>
                  <a:pt x="2311956" y="323715"/>
                </a:lnTo>
                <a:lnTo>
                  <a:pt x="2315432" y="323047"/>
                </a:lnTo>
                <a:lnTo>
                  <a:pt x="2318909" y="322369"/>
                </a:lnTo>
                <a:lnTo>
                  <a:pt x="2322385" y="321683"/>
                </a:lnTo>
                <a:lnTo>
                  <a:pt x="2325862" y="320987"/>
                </a:lnTo>
                <a:lnTo>
                  <a:pt x="2329339" y="320282"/>
                </a:lnTo>
                <a:lnTo>
                  <a:pt x="2332815" y="319568"/>
                </a:lnTo>
                <a:lnTo>
                  <a:pt x="2336292" y="318845"/>
                </a:lnTo>
                <a:lnTo>
                  <a:pt x="2339769" y="318113"/>
                </a:lnTo>
                <a:lnTo>
                  <a:pt x="2343245" y="317372"/>
                </a:lnTo>
                <a:lnTo>
                  <a:pt x="2346722" y="316622"/>
                </a:lnTo>
                <a:lnTo>
                  <a:pt x="2350199" y="315863"/>
                </a:lnTo>
                <a:lnTo>
                  <a:pt x="2353675" y="315096"/>
                </a:lnTo>
                <a:lnTo>
                  <a:pt x="2357152" y="314319"/>
                </a:lnTo>
                <a:lnTo>
                  <a:pt x="2360628" y="313534"/>
                </a:lnTo>
                <a:lnTo>
                  <a:pt x="2364105" y="312741"/>
                </a:lnTo>
                <a:lnTo>
                  <a:pt x="2367582" y="311938"/>
                </a:lnTo>
                <a:lnTo>
                  <a:pt x="2371058" y="311127"/>
                </a:lnTo>
                <a:lnTo>
                  <a:pt x="2374535" y="310308"/>
                </a:lnTo>
                <a:lnTo>
                  <a:pt x="2378012" y="309480"/>
                </a:lnTo>
                <a:lnTo>
                  <a:pt x="2381488" y="308643"/>
                </a:lnTo>
                <a:lnTo>
                  <a:pt x="2384965" y="307799"/>
                </a:lnTo>
                <a:lnTo>
                  <a:pt x="2388441" y="306945"/>
                </a:lnTo>
                <a:lnTo>
                  <a:pt x="2391918" y="306084"/>
                </a:lnTo>
                <a:lnTo>
                  <a:pt x="2395395" y="305215"/>
                </a:lnTo>
                <a:lnTo>
                  <a:pt x="2398871" y="304337"/>
                </a:lnTo>
                <a:lnTo>
                  <a:pt x="2402348" y="303451"/>
                </a:lnTo>
                <a:lnTo>
                  <a:pt x="2405824" y="302557"/>
                </a:lnTo>
                <a:lnTo>
                  <a:pt x="2409301" y="301655"/>
                </a:lnTo>
                <a:lnTo>
                  <a:pt x="2412778" y="300745"/>
                </a:lnTo>
                <a:lnTo>
                  <a:pt x="2416254" y="299828"/>
                </a:lnTo>
                <a:lnTo>
                  <a:pt x="2419731" y="298902"/>
                </a:lnTo>
                <a:lnTo>
                  <a:pt x="2423208" y="297969"/>
                </a:lnTo>
                <a:lnTo>
                  <a:pt x="2426684" y="297028"/>
                </a:lnTo>
                <a:lnTo>
                  <a:pt x="2430161" y="296079"/>
                </a:lnTo>
                <a:lnTo>
                  <a:pt x="2433638" y="295122"/>
                </a:lnTo>
                <a:lnTo>
                  <a:pt x="2437114" y="294159"/>
                </a:lnTo>
                <a:lnTo>
                  <a:pt x="2440591" y="293187"/>
                </a:lnTo>
                <a:lnTo>
                  <a:pt x="2444067" y="292209"/>
                </a:lnTo>
                <a:lnTo>
                  <a:pt x="2447544" y="291222"/>
                </a:lnTo>
                <a:lnTo>
                  <a:pt x="2451021" y="290229"/>
                </a:lnTo>
                <a:lnTo>
                  <a:pt x="2454497" y="289228"/>
                </a:lnTo>
                <a:lnTo>
                  <a:pt x="2457974" y="288220"/>
                </a:lnTo>
                <a:lnTo>
                  <a:pt x="2461451" y="287206"/>
                </a:lnTo>
                <a:lnTo>
                  <a:pt x="2464927" y="286184"/>
                </a:lnTo>
                <a:lnTo>
                  <a:pt x="2468404" y="285155"/>
                </a:lnTo>
                <a:lnTo>
                  <a:pt x="2471880" y="284119"/>
                </a:lnTo>
                <a:lnTo>
                  <a:pt x="2475357" y="283076"/>
                </a:lnTo>
                <a:lnTo>
                  <a:pt x="2478834" y="282026"/>
                </a:lnTo>
                <a:lnTo>
                  <a:pt x="2482310" y="280970"/>
                </a:lnTo>
                <a:lnTo>
                  <a:pt x="2485787" y="279907"/>
                </a:lnTo>
                <a:lnTo>
                  <a:pt x="2489263" y="278837"/>
                </a:lnTo>
                <a:lnTo>
                  <a:pt x="2492740" y="277761"/>
                </a:lnTo>
                <a:lnTo>
                  <a:pt x="2496217" y="276679"/>
                </a:lnTo>
                <a:lnTo>
                  <a:pt x="2499693" y="275590"/>
                </a:lnTo>
                <a:lnTo>
                  <a:pt x="2503170" y="274494"/>
                </a:lnTo>
                <a:lnTo>
                  <a:pt x="2506647" y="273393"/>
                </a:lnTo>
                <a:lnTo>
                  <a:pt x="2510123" y="272285"/>
                </a:lnTo>
                <a:lnTo>
                  <a:pt x="2513600" y="271171"/>
                </a:lnTo>
                <a:lnTo>
                  <a:pt x="2517077" y="270051"/>
                </a:lnTo>
                <a:lnTo>
                  <a:pt x="2520553" y="268925"/>
                </a:lnTo>
                <a:lnTo>
                  <a:pt x="2524030" y="267793"/>
                </a:lnTo>
                <a:lnTo>
                  <a:pt x="2527506" y="266655"/>
                </a:lnTo>
                <a:lnTo>
                  <a:pt x="2530983" y="265512"/>
                </a:lnTo>
                <a:lnTo>
                  <a:pt x="2534460" y="264363"/>
                </a:lnTo>
                <a:lnTo>
                  <a:pt x="2537936" y="263208"/>
                </a:lnTo>
                <a:lnTo>
                  <a:pt x="2541413" y="262047"/>
                </a:lnTo>
                <a:lnTo>
                  <a:pt x="2544890" y="260881"/>
                </a:lnTo>
                <a:lnTo>
                  <a:pt x="2548366" y="259710"/>
                </a:lnTo>
                <a:lnTo>
                  <a:pt x="2551843" y="258533"/>
                </a:lnTo>
                <a:lnTo>
                  <a:pt x="2555319" y="257351"/>
                </a:lnTo>
                <a:lnTo>
                  <a:pt x="2558796" y="256164"/>
                </a:lnTo>
                <a:lnTo>
                  <a:pt x="2562273" y="254971"/>
                </a:lnTo>
                <a:lnTo>
                  <a:pt x="2565749" y="253774"/>
                </a:lnTo>
                <a:lnTo>
                  <a:pt x="2569226" y="252571"/>
                </a:lnTo>
                <a:lnTo>
                  <a:pt x="2572702" y="251364"/>
                </a:lnTo>
                <a:lnTo>
                  <a:pt x="2576179" y="250152"/>
                </a:lnTo>
                <a:lnTo>
                  <a:pt x="2579656" y="248935"/>
                </a:lnTo>
                <a:lnTo>
                  <a:pt x="2583132" y="247713"/>
                </a:lnTo>
                <a:lnTo>
                  <a:pt x="2586609" y="246487"/>
                </a:lnTo>
                <a:lnTo>
                  <a:pt x="2590086" y="245256"/>
                </a:lnTo>
                <a:lnTo>
                  <a:pt x="2593562" y="244021"/>
                </a:lnTo>
                <a:lnTo>
                  <a:pt x="2597039" y="242781"/>
                </a:lnTo>
                <a:lnTo>
                  <a:pt x="2600516" y="241537"/>
                </a:lnTo>
                <a:lnTo>
                  <a:pt x="2603992" y="240289"/>
                </a:lnTo>
                <a:lnTo>
                  <a:pt x="2607469" y="239037"/>
                </a:lnTo>
                <a:lnTo>
                  <a:pt x="2610945" y="237780"/>
                </a:lnTo>
                <a:lnTo>
                  <a:pt x="2614422" y="236520"/>
                </a:lnTo>
                <a:lnTo>
                  <a:pt x="2617899" y="235255"/>
                </a:lnTo>
                <a:lnTo>
                  <a:pt x="2621375" y="233987"/>
                </a:lnTo>
                <a:lnTo>
                  <a:pt x="2624852" y="232715"/>
                </a:lnTo>
                <a:lnTo>
                  <a:pt x="2628329" y="231439"/>
                </a:lnTo>
                <a:lnTo>
                  <a:pt x="2631805" y="230160"/>
                </a:lnTo>
                <a:lnTo>
                  <a:pt x="2635282" y="228877"/>
                </a:lnTo>
                <a:lnTo>
                  <a:pt x="2638758" y="227591"/>
                </a:lnTo>
                <a:lnTo>
                  <a:pt x="2642235" y="226301"/>
                </a:lnTo>
                <a:lnTo>
                  <a:pt x="2645712" y="225008"/>
                </a:lnTo>
                <a:lnTo>
                  <a:pt x="2649188" y="223712"/>
                </a:lnTo>
                <a:lnTo>
                  <a:pt x="2652665" y="222413"/>
                </a:lnTo>
                <a:lnTo>
                  <a:pt x="2656142" y="221110"/>
                </a:lnTo>
                <a:lnTo>
                  <a:pt x="2659618" y="219805"/>
                </a:lnTo>
                <a:lnTo>
                  <a:pt x="2663095" y="218497"/>
                </a:lnTo>
                <a:lnTo>
                  <a:pt x="2666571" y="217186"/>
                </a:lnTo>
                <a:lnTo>
                  <a:pt x="2670048" y="215872"/>
                </a:lnTo>
                <a:lnTo>
                  <a:pt x="2673525" y="214556"/>
                </a:lnTo>
                <a:lnTo>
                  <a:pt x="2677001" y="213236"/>
                </a:lnTo>
                <a:lnTo>
                  <a:pt x="2680478" y="211915"/>
                </a:lnTo>
                <a:lnTo>
                  <a:pt x="2683954" y="210591"/>
                </a:lnTo>
                <a:lnTo>
                  <a:pt x="2687431" y="209265"/>
                </a:lnTo>
                <a:lnTo>
                  <a:pt x="2690908" y="207936"/>
                </a:lnTo>
                <a:lnTo>
                  <a:pt x="2694384" y="206606"/>
                </a:lnTo>
                <a:lnTo>
                  <a:pt x="2697861" y="205273"/>
                </a:lnTo>
                <a:lnTo>
                  <a:pt x="2701338" y="203938"/>
                </a:lnTo>
                <a:lnTo>
                  <a:pt x="2704814" y="202602"/>
                </a:lnTo>
                <a:lnTo>
                  <a:pt x="2708291" y="201263"/>
                </a:lnTo>
                <a:lnTo>
                  <a:pt x="2711768" y="199923"/>
                </a:lnTo>
                <a:lnTo>
                  <a:pt x="2715244" y="198581"/>
                </a:lnTo>
                <a:lnTo>
                  <a:pt x="2718721" y="197238"/>
                </a:lnTo>
                <a:lnTo>
                  <a:pt x="2722197" y="195893"/>
                </a:lnTo>
                <a:lnTo>
                  <a:pt x="2725674" y="194546"/>
                </a:lnTo>
                <a:lnTo>
                  <a:pt x="2729151" y="193198"/>
                </a:lnTo>
                <a:lnTo>
                  <a:pt x="2732627" y="191849"/>
                </a:lnTo>
                <a:lnTo>
                  <a:pt x="2736104" y="190499"/>
                </a:lnTo>
                <a:lnTo>
                  <a:pt x="2739580" y="189148"/>
                </a:lnTo>
                <a:lnTo>
                  <a:pt x="2743057" y="187796"/>
                </a:lnTo>
                <a:lnTo>
                  <a:pt x="2746534" y="186443"/>
                </a:lnTo>
                <a:lnTo>
                  <a:pt x="2750010" y="185089"/>
                </a:lnTo>
                <a:lnTo>
                  <a:pt x="2753487" y="183734"/>
                </a:lnTo>
                <a:lnTo>
                  <a:pt x="2756964" y="182378"/>
                </a:lnTo>
                <a:lnTo>
                  <a:pt x="2760440" y="181022"/>
                </a:lnTo>
                <a:lnTo>
                  <a:pt x="2763917" y="179666"/>
                </a:lnTo>
                <a:lnTo>
                  <a:pt x="2767393" y="178309"/>
                </a:lnTo>
                <a:lnTo>
                  <a:pt x="2770870" y="176952"/>
                </a:lnTo>
                <a:lnTo>
                  <a:pt x="2774347" y="175594"/>
                </a:lnTo>
                <a:lnTo>
                  <a:pt x="2777823" y="174237"/>
                </a:lnTo>
                <a:lnTo>
                  <a:pt x="2781300" y="172879"/>
                </a:lnTo>
              </a:path>
            </a:pathLst>
          </a:custGeom>
          <a:noFill xmlns:a="http://schemas.openxmlformats.org/drawingml/2006/main"/>
          <a:ln xmlns:a="http://schemas.openxmlformats.org/drawingml/2006/main" w="15240">
            <a:solidFill>
              <a:srgbClr val="202020"/>
            </a:solidFill>
          </a:ln>
        </p:spPr>
      </p:sp>
      <p:sp>
        <p:nvSpPr>
          <p:cNvPr id="20" name="!!am-am-scale-g2-r0-level">
            <a:extLst xmlns:a="http://schemas.openxmlformats.org/drawingml/2006/main">
              <a:ext uri="{FF2B5EF4-FFF2-40B4-BE49-F238E27FC236}">
                <a16:creationId xmlns:a16="http://schemas.microsoft.com/office/drawing/2014/main" id="{3CABBC16-E710-4E91-B271-3C81E80487EC}"/>
              </a:ext>
            </a:extLst>
          </p:cNvPr>
          <p:cNvSpPr>
            <a:spLocks xmlns:a="http://schemas.openxmlformats.org/drawingml/2006/main" noGrp="1"/>
          </p:cNvSpPr>
          <p:nvPr/>
        </p:nvSpPr>
        <p:spPr>
          <a:xfrm xmlns:a="http://schemas.openxmlformats.org/drawingml/2006/main">
            <a:off x="8572500" y="2921794"/>
            <a:ext cx="2781300" cy="9525"/>
          </a:xfrm>
          <a:prstGeom xmlns:a="http://schemas.openxmlformats.org/drawingml/2006/main" prst="rect">
            <a:avLst/>
          </a:prstGeom>
          <a:solidFill xmlns:a="http://schemas.openxmlformats.org/drawingml/2006/main">
            <a:srgbClr val="AAAAAA"/>
          </a:solidFill>
          <a:ln xmlns:a="http://schemas.openxmlformats.org/drawingml/2006/main" w="0">
            <a:noFill/>
          </a:ln>
        </p:spPr>
      </p:sp>
      <p:pic>
        <p:nvPicPr>
          <p:cNvPr id="58" name="!!am-route-m" descr="m(t)">
            <ns0:hlinkClick xmlns:ns0="http://schemas.openxmlformats.org/drawingml/2006/main" xmlns:ns1="http://schemas.openxmlformats.org/officeDocument/2006/relationships" ns1:id="rIdmethods_Link11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84f6d7b46c92431c">
            <a:extLst>
              <a:ext uri="{96DAC541-7B7A-43D3-8B79-37D633B846F1}">
                <ns0:svgBlip xmlns:ns0="http://schemas.microsoft.com/office/drawing/2016/SVG/main" r:embed="rIdVectormf00539"/>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59" name="!!am-route-s" descr="s(t)">
            <ns0:hlinkClick xmlns:ns0="http://schemas.openxmlformats.org/drawingml/2006/main" xmlns:ns1="http://schemas.openxmlformats.org/officeDocument/2006/relationships" ns1:id="rIdmethods_Link120"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125ddb1199b4443">
            <a:extLst>
              <a:ext uri="{96DAC541-7B7A-43D3-8B79-37D633B846F1}">
                <ns1:svgBlip xmlns:ns1="http://schemas.microsoft.com/office/drawing/2016/SVG/main" r:embed="rIdVectormf00540"/>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60" name="!!am-route-restored" descr="m(t)">
            <ns0:hlinkClick xmlns:ns0="http://schemas.openxmlformats.org/drawingml/2006/main" xmlns:ns1="http://schemas.openxmlformats.org/officeDocument/2006/relationships" ns1:id="rIdmethods_Link12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e4bba2c99ced422b">
            <a:extLst>
              <a:ext uri="{96DAC541-7B7A-43D3-8B79-37D633B846F1}">
                <ns2:svgBlip xmlns:ns2="http://schemas.microsoft.com/office/drawing/2016/SVG/main" r:embed="rIdVectormf00541"/>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61" name="!!am-am-scale-g0-r0-domain" descr="t"/>
          <p:cNvPicPr>
            <a:picLocks xmlns:a="http://schemas.openxmlformats.org/drawingml/2006/main" noChangeAspect="1"/>
          </p:cNvPicPr>
          <p:nvPr/>
        </p:nvPicPr>
        <p:blipFill>
          <a:blip xmlns:r="http://schemas.openxmlformats.org/officeDocument/2006/relationships" xmlns:a="http://schemas.openxmlformats.org/drawingml/2006/main" r:embed="R726832d0141e441c">
            <a:extLst>
              <a:ext uri="{96DAC541-7B7A-43D3-8B79-37D633B846F1}">
                <ns3:svgBlip xmlns:ns3="http://schemas.microsoft.com/office/drawing/2016/SVG/main" r:embed="rIdVectormf00542"/>
              </a:ext>
            </a:extLst>
          </a:blip>
          <a:stretch xmlns:a="http://schemas.openxmlformats.org/drawingml/2006/main"/>
        </p:blipFill>
        <p:spPr>
          <a:xfrm xmlns:a="http://schemas.openxmlformats.org/drawingml/2006/main">
            <a:off x="3371850" y="3008769"/>
            <a:ext cx="68580" cy="97512"/>
          </a:xfrm>
          <a:prstGeom xmlns:a="http://schemas.openxmlformats.org/drawingml/2006/main" prst="rect">
            <a:avLst/>
          </a:prstGeom>
        </p:spPr>
      </p:pic>
      <p:pic>
        <p:nvPicPr>
          <p:cNvPr id="62" name="!!am-am-scale-g0-r0-label" descr="\textstyle m(t)"/>
          <p:cNvPicPr>
            <a:picLocks xmlns:a="http://schemas.openxmlformats.org/drawingml/2006/main" noChangeAspect="1"/>
          </p:cNvPicPr>
          <p:nvPr/>
        </p:nvPicPr>
        <p:blipFill>
          <a:blip xmlns:r="http://schemas.openxmlformats.org/officeDocument/2006/relationships" xmlns:a="http://schemas.openxmlformats.org/drawingml/2006/main" r:embed="R222456a130784b42">
            <a:extLst>
              <a:ext uri="{96DAC541-7B7A-43D3-8B79-37D633B846F1}">
                <ns4:svgBlip xmlns:ns4="http://schemas.microsoft.com/office/drawing/2016/SVG/main" r:embed="rIdVectormf00543"/>
              </a:ext>
            </a:extLst>
          </a:blip>
          <a:stretch xmlns:a="http://schemas.openxmlformats.org/drawingml/2006/main"/>
        </p:blipFill>
        <p:spPr>
          <a:xfrm xmlns:a="http://schemas.openxmlformats.org/drawingml/2006/main">
            <a:off x="571500" y="2381250"/>
            <a:ext cx="481965" cy="209550"/>
          </a:xfrm>
          <a:prstGeom xmlns:a="http://schemas.openxmlformats.org/drawingml/2006/main" prst="rect">
            <a:avLst/>
          </a:prstGeom>
        </p:spPr>
      </p:pic>
      <p:pic>
        <p:nvPicPr>
          <p:cNvPr id="63" name="!!am-am-scale-g1-r0-domain" descr="t"/>
          <p:cNvPicPr>
            <a:picLocks xmlns:a="http://schemas.openxmlformats.org/drawingml/2006/main" noChangeAspect="1"/>
          </p:cNvPicPr>
          <p:nvPr/>
        </p:nvPicPr>
        <p:blipFill>
          <a:blip xmlns:r="http://schemas.openxmlformats.org/officeDocument/2006/relationships" xmlns:a="http://schemas.openxmlformats.org/drawingml/2006/main" r:embed="R616e29091f5e45ca">
            <a:extLst>
              <a:ext uri="{96DAC541-7B7A-43D3-8B79-37D633B846F1}">
                <ns5:svgBlip xmlns:ns5="http://schemas.microsoft.com/office/drawing/2016/SVG/main" r:embed="rIdVectormf00544"/>
              </a:ext>
            </a:extLst>
          </a:blip>
          <a:stretch xmlns:a="http://schemas.openxmlformats.org/drawingml/2006/main"/>
        </p:blipFill>
        <p:spPr>
          <a:xfrm xmlns:a="http://schemas.openxmlformats.org/drawingml/2006/main">
            <a:off x="7372350" y="3008769"/>
            <a:ext cx="68580" cy="97512"/>
          </a:xfrm>
          <a:prstGeom xmlns:a="http://schemas.openxmlformats.org/drawingml/2006/main" prst="rect">
            <a:avLst/>
          </a:prstGeom>
        </p:spPr>
      </p:pic>
      <p:pic>
        <p:nvPicPr>
          <p:cNvPr id="64" name="!!am-am-scale-g1-r0-label" descr="\textstyle k_am(t)"/>
          <p:cNvPicPr>
            <a:picLocks xmlns:a="http://schemas.openxmlformats.org/drawingml/2006/main" noChangeAspect="1"/>
          </p:cNvPicPr>
          <p:nvPr/>
        </p:nvPicPr>
        <p:blipFill>
          <a:blip xmlns:r="http://schemas.openxmlformats.org/officeDocument/2006/relationships" xmlns:a="http://schemas.openxmlformats.org/drawingml/2006/main" r:embed="Rea0c9dcd669743b1">
            <a:extLst>
              <a:ext uri="{96DAC541-7B7A-43D3-8B79-37D633B846F1}">
                <ns6:svgBlip xmlns:ns6="http://schemas.microsoft.com/office/drawing/2016/SVG/main" r:embed="rIdVectormf00545"/>
              </a:ext>
            </a:extLst>
          </a:blip>
          <a:stretch xmlns:a="http://schemas.openxmlformats.org/drawingml/2006/main"/>
        </p:blipFill>
        <p:spPr>
          <a:xfrm xmlns:a="http://schemas.openxmlformats.org/drawingml/2006/main">
            <a:off x="4572000" y="2381250"/>
            <a:ext cx="712470" cy="209550"/>
          </a:xfrm>
          <a:prstGeom xmlns:a="http://schemas.openxmlformats.org/drawingml/2006/main" prst="rect">
            <a:avLst/>
          </a:prstGeom>
        </p:spPr>
      </p:pic>
      <p:pic>
        <p:nvPicPr>
          <p:cNvPr id="65" name="!!am-am-scale-g2-r0-domain" descr="t"/>
          <p:cNvPicPr>
            <a:picLocks xmlns:a="http://schemas.openxmlformats.org/drawingml/2006/main" noChangeAspect="1"/>
          </p:cNvPicPr>
          <p:nvPr/>
        </p:nvPicPr>
        <p:blipFill>
          <a:blip xmlns:r="http://schemas.openxmlformats.org/officeDocument/2006/relationships" xmlns:a="http://schemas.openxmlformats.org/drawingml/2006/main" r:embed="Rddbee37faff448fe">
            <a:extLst>
              <a:ext uri="{96DAC541-7B7A-43D3-8B79-37D633B846F1}">
                <ns7:svgBlip xmlns:ns7="http://schemas.microsoft.com/office/drawing/2016/SVG/main" r:embed="rIdVectormf00546"/>
              </a:ext>
            </a:extLst>
          </a:blip>
          <a:stretch xmlns:a="http://schemas.openxmlformats.org/drawingml/2006/main"/>
        </p:blipFill>
        <p:spPr>
          <a:xfrm xmlns:a="http://schemas.openxmlformats.org/drawingml/2006/main">
            <a:off x="11372850" y="3008769"/>
            <a:ext cx="68580" cy="97512"/>
          </a:xfrm>
          <a:prstGeom xmlns:a="http://schemas.openxmlformats.org/drawingml/2006/main" prst="rect">
            <a:avLst/>
          </a:prstGeom>
        </p:spPr>
      </p:pic>
      <p:pic>
        <p:nvPicPr>
          <p:cNvPr id="66" name="!!am-am-scale-g2-r0-label" descr="\textstyle 1+k_am(t)"/>
          <p:cNvPicPr>
            <a:picLocks xmlns:a="http://schemas.openxmlformats.org/drawingml/2006/main" noChangeAspect="1"/>
          </p:cNvPicPr>
          <p:nvPr/>
        </p:nvPicPr>
        <p:blipFill>
          <a:blip xmlns:r="http://schemas.openxmlformats.org/officeDocument/2006/relationships" xmlns:a="http://schemas.openxmlformats.org/drawingml/2006/main" r:embed="R8efcb634106c450b">
            <a:extLst>
              <a:ext uri="{96DAC541-7B7A-43D3-8B79-37D633B846F1}">
                <ns8:svgBlip xmlns:ns8="http://schemas.microsoft.com/office/drawing/2016/SVG/main" r:embed="rIdVectormf00547"/>
              </a:ext>
            </a:extLst>
          </a:blip>
          <a:stretch xmlns:a="http://schemas.openxmlformats.org/drawingml/2006/main"/>
        </p:blipFill>
        <p:spPr>
          <a:xfrm xmlns:a="http://schemas.openxmlformats.org/drawingml/2006/main">
            <a:off x="8576014" y="2381250"/>
            <a:ext cx="1124542" cy="209550"/>
          </a:xfrm>
          <a:prstGeom xmlns:a="http://schemas.openxmlformats.org/drawingml/2006/main" prst="rect">
            <a:avLst/>
          </a:prstGeom>
        </p:spPr>
      </p:pic>
      <p:pic>
        <p:nvPicPr>
          <p:cNvPr id="67" name="!!am-am-scale-g0-illustration" descr="k_a=0.6,\quad A_c=1,\quad\min m(t)=-1"/>
          <p:cNvPicPr>
            <a:picLocks xmlns:a="http://schemas.openxmlformats.org/drawingml/2006/main" noChangeAspect="1"/>
          </p:cNvPicPr>
          <p:nvPr/>
        </p:nvPicPr>
        <p:blipFill>
          <a:blip xmlns:r="http://schemas.openxmlformats.org/officeDocument/2006/relationships" xmlns:a="http://schemas.openxmlformats.org/drawingml/2006/main" r:embed="R60a2ad3041cc4c45">
            <a:extLst>
              <a:ext uri="{96DAC541-7B7A-43D3-8B79-37D633B846F1}">
                <ns9:svgBlip xmlns:ns9="http://schemas.microsoft.com/office/drawing/2016/SVG/main" r:embed="rIdVectormf00548"/>
              </a:ext>
            </a:extLst>
          </a:blip>
          <a:stretch xmlns:a="http://schemas.openxmlformats.org/drawingml/2006/main"/>
        </p:blipFill>
        <p:spPr>
          <a:xfrm xmlns:a="http://schemas.openxmlformats.org/drawingml/2006/main">
            <a:off x="609600" y="3825002"/>
            <a:ext cx="4160520" cy="227171"/>
          </a:xfrm>
          <a:prstGeom xmlns:a="http://schemas.openxmlformats.org/drawingml/2006/main" prst="rect">
            <a:avLst/>
          </a:prstGeom>
        </p:spPr>
      </p:pic>
      <p:pic>
        <p:nvPicPr>
          <p:cNvPr id="68" name="!!am-am-scale-math" descr="\textstyle \times k_a"/>
          <p:cNvPicPr>
            <a:picLocks xmlns:a="http://schemas.openxmlformats.org/drawingml/2006/main" noChangeAspect="1"/>
          </p:cNvPicPr>
          <p:nvPr/>
        </p:nvPicPr>
        <p:blipFill>
          <a:blip xmlns:r="http://schemas.openxmlformats.org/officeDocument/2006/relationships" xmlns:a="http://schemas.openxmlformats.org/drawingml/2006/main" r:embed="Rdd3585d26ffb4d5c">
            <a:extLst>
              <a:ext uri="{96DAC541-7B7A-43D3-8B79-37D633B846F1}">
                <ns10:svgBlip xmlns:ns10="http://schemas.microsoft.com/office/drawing/2016/SVG/main" r:embed="rIdVectormf00549"/>
              </a:ext>
            </a:extLst>
          </a:blip>
          <a:stretch xmlns:a="http://schemas.openxmlformats.org/drawingml/2006/main"/>
        </p:blipFill>
        <p:spPr>
          <a:xfrm xmlns:a="http://schemas.openxmlformats.org/drawingml/2006/main">
            <a:off x="3751891" y="2089785"/>
            <a:ext cx="421019" cy="182880"/>
          </a:xfrm>
          <a:prstGeom xmlns:a="http://schemas.openxmlformats.org/drawingml/2006/main" prst="rect">
            <a:avLst/>
          </a:prstGeom>
        </p:spPr>
      </p:pic>
      <p:pic>
        <p:nvPicPr>
          <p:cNvPr id="69" name="!!am-am-bias-math" descr="\textstyle +1"/>
          <p:cNvPicPr>
            <a:picLocks xmlns:a="http://schemas.openxmlformats.org/drawingml/2006/main" noChangeAspect="1"/>
          </p:cNvPicPr>
          <p:nvPr/>
        </p:nvPicPr>
        <p:blipFill>
          <a:blip xmlns:r="http://schemas.openxmlformats.org/officeDocument/2006/relationships" xmlns:a="http://schemas.openxmlformats.org/drawingml/2006/main" r:embed="R022c22e1c18548a8">
            <a:extLst>
              <a:ext uri="{96DAC541-7B7A-43D3-8B79-37D633B846F1}">
                <ns11:svgBlip xmlns:ns11="http://schemas.microsoft.com/office/drawing/2016/SVG/main" r:embed="rIdVectormf00550"/>
              </a:ext>
            </a:extLst>
          </a:blip>
          <a:stretch xmlns:a="http://schemas.openxmlformats.org/drawingml/2006/main"/>
        </p:blipFill>
        <p:spPr>
          <a:xfrm xmlns:a="http://schemas.openxmlformats.org/drawingml/2006/main">
            <a:off x="7791450" y="2090142"/>
            <a:ext cx="342900" cy="182166"/>
          </a:xfrm>
          <a:prstGeom xmlns:a="http://schemas.openxmlformats.org/drawingml/2006/main" prst="rect">
            <a:avLst/>
          </a:prstGeom>
        </p:spPr>
      </p:pic>
      <p:pic>
        <p:nvPicPr>
          <p:cNvPr id="70" name="!!am-am-scale-g2-r0-level-label" descr="1"/>
          <p:cNvPicPr>
            <a:picLocks xmlns:a="http://schemas.openxmlformats.org/drawingml/2006/main" noChangeAspect="1"/>
          </p:cNvPicPr>
          <p:nvPr/>
        </p:nvPicPr>
        <p:blipFill>
          <a:blip xmlns:r="http://schemas.openxmlformats.org/officeDocument/2006/relationships" xmlns:a="http://schemas.openxmlformats.org/drawingml/2006/main" r:embed="Rdad54fd3cba34eea">
            <a:extLst>
              <a:ext uri="{96DAC541-7B7A-43D3-8B79-37D633B846F1}">
                <ns12:svgBlip xmlns:ns12="http://schemas.microsoft.com/office/drawing/2016/SVG/main" r:embed="rIdVectormf00551"/>
              </a:ext>
            </a:extLst>
          </a:blip>
          <a:stretch xmlns:a="http://schemas.openxmlformats.org/drawingml/2006/main"/>
        </p:blipFill>
        <p:spPr>
          <a:xfrm xmlns:a="http://schemas.openxmlformats.org/drawingml/2006/main">
            <a:off x="8616060" y="2708434"/>
            <a:ext cx="91951" cy="102870"/>
          </a:xfrm>
          <a:prstGeom xmlns:a="http://schemas.openxmlformats.org/drawingml/2006/main" prst="rect">
            <a:avLst/>
          </a:prstGeom>
        </p:spPr>
      </p:pic>
      <p:pic>
        <p:nvPicPr>
          <p:cNvPr id="71" name="!!am-am-scale-g0-nonnegative-envelope" descr="|k_am(t)|\leq1\ \Rightarrow\ 1+k_am(t)\geq0,\quad\min[1+k_am(t)]=0.4"/>
          <p:cNvPicPr>
            <a:picLocks xmlns:a="http://schemas.openxmlformats.org/drawingml/2006/main" noChangeAspect="1"/>
          </p:cNvPicPr>
          <p:nvPr/>
        </p:nvPicPr>
        <p:blipFill>
          <a:blip xmlns:r="http://schemas.openxmlformats.org/officeDocument/2006/relationships" xmlns:a="http://schemas.openxmlformats.org/drawingml/2006/main" r:embed="R0877b85283054edb">
            <a:extLst>
              <a:ext uri="{96DAC541-7B7A-43D3-8B79-37D633B846F1}">
                <ns13:svgBlip xmlns:ns13="http://schemas.microsoft.com/office/drawing/2016/SVG/main" r:embed="rIdVectormf00552"/>
              </a:ext>
            </a:extLst>
          </a:blip>
          <a:stretch xmlns:a="http://schemas.openxmlformats.org/drawingml/2006/main"/>
        </p:blipFill>
        <p:spPr>
          <a:xfrm xmlns:a="http://schemas.openxmlformats.org/drawingml/2006/main">
            <a:off x="609600" y="4214813"/>
            <a:ext cx="6834188" cy="238125"/>
          </a:xfrm>
          <a:prstGeom xmlns:a="http://schemas.openxmlformats.org/drawingml/2006/main" prst="rect">
            <a:avLst/>
          </a:prstGeom>
        </p:spPr>
      </p:pic>
      <p:pic>
        <p:nvPicPr>
          <p:cNvPr id="72" name="!!am-dense-equation-0" descr="\textstyle m(t)"/>
          <p:cNvPicPr>
            <a:picLocks xmlns:a="http://schemas.openxmlformats.org/drawingml/2006/main" noChangeAspect="1"/>
          </p:cNvPicPr>
          <p:nvPr/>
        </p:nvPicPr>
        <p:blipFill>
          <a:blip xmlns:r="http://schemas.openxmlformats.org/officeDocument/2006/relationships" xmlns:a="http://schemas.openxmlformats.org/drawingml/2006/main" r:embed="Rf5993d26585345e0">
            <a:extLst>
              <a:ext uri="{96DAC541-7B7A-43D3-8B79-37D633B846F1}">
                <ns14:svgBlip xmlns:ns14="http://schemas.microsoft.com/office/drawing/2016/SVG/main" r:embed="rIdVectormf00553"/>
              </a:ext>
            </a:extLst>
          </a:blip>
          <a:stretch xmlns:a="http://schemas.openxmlformats.org/drawingml/2006/main"/>
        </p:blipFill>
        <p:spPr>
          <a:xfrm xmlns:a="http://schemas.openxmlformats.org/drawingml/2006/main">
            <a:off x="609600" y="5093494"/>
            <a:ext cx="569595" cy="247650"/>
          </a:xfrm>
          <a:prstGeom xmlns:a="http://schemas.openxmlformats.org/drawingml/2006/main" prst="rect">
            <a:avLst/>
          </a:prstGeom>
        </p:spPr>
      </p:pic>
      <p:pic>
        <p:nvPicPr>
          <p:cNvPr id="73" name="!!am-dense-equation-1" descr="\textstyle k_am(t)"/>
          <p:cNvPicPr>
            <a:picLocks xmlns:a="http://schemas.openxmlformats.org/drawingml/2006/main" noChangeAspect="1"/>
          </p:cNvPicPr>
          <p:nvPr/>
        </p:nvPicPr>
        <p:blipFill>
          <a:blip xmlns:r="http://schemas.openxmlformats.org/officeDocument/2006/relationships" xmlns:a="http://schemas.openxmlformats.org/drawingml/2006/main" r:embed="Rd0c72b53f5254d2f">
            <a:extLst>
              <a:ext uri="{96DAC541-7B7A-43D3-8B79-37D633B846F1}">
                <ns15:svgBlip xmlns:ns15="http://schemas.microsoft.com/office/drawing/2016/SVG/main" r:embed="rIdVectormf00554"/>
              </a:ext>
            </a:extLst>
          </a:blip>
          <a:stretch xmlns:a="http://schemas.openxmlformats.org/drawingml/2006/main"/>
        </p:blipFill>
        <p:spPr>
          <a:xfrm xmlns:a="http://schemas.openxmlformats.org/drawingml/2006/main">
            <a:off x="609600" y="5531644"/>
            <a:ext cx="842010" cy="247650"/>
          </a:xfrm>
          <a:prstGeom xmlns:a="http://schemas.openxmlformats.org/drawingml/2006/main" prst="rect">
            <a:avLst/>
          </a:prstGeom>
        </p:spPr>
      </p:pic>
      <p:pic>
        <p:nvPicPr>
          <p:cNvPr id="74" name="!!am-dense-equation-2" descr="\textstyle 1+k_am(t)"/>
          <p:cNvPicPr>
            <a:picLocks xmlns:a="http://schemas.openxmlformats.org/drawingml/2006/main" noChangeAspect="1"/>
          </p:cNvPicPr>
          <p:nvPr/>
        </p:nvPicPr>
        <p:blipFill>
          <a:blip xmlns:r="http://schemas.openxmlformats.org/officeDocument/2006/relationships" xmlns:a="http://schemas.openxmlformats.org/drawingml/2006/main" r:embed="Re9daf49e0369480c">
            <a:extLst>
              <a:ext uri="{96DAC541-7B7A-43D3-8B79-37D633B846F1}">
                <ns16:svgBlip xmlns:ns16="http://schemas.microsoft.com/office/drawing/2016/SVG/main" r:embed="rIdVectormf00555"/>
              </a:ext>
            </a:extLst>
          </a:blip>
          <a:stretch xmlns:a="http://schemas.openxmlformats.org/drawingml/2006/main"/>
        </p:blipFill>
        <p:spPr>
          <a:xfrm xmlns:a="http://schemas.openxmlformats.org/drawingml/2006/main">
            <a:off x="613753" y="5969794"/>
            <a:ext cx="1329004" cy="247650"/>
          </a:xfrm>
          <a:prstGeom xmlns:a="http://schemas.openxmlformats.org/drawingml/2006/main" prst="rect">
            <a:avLst/>
          </a:prstGeom>
        </p:spPr>
      </p:pic>
    </p:spTree>
    <p:extLst>
      <p:ext uri="{BB962C8B-B14F-4D97-AF65-F5344CB8AC3E}">
        <p14:creationId xmlns:p14="http://schemas.microsoft.com/office/powerpoint/2010/main" val="166271619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400"/>
                                        <p:tgtEl>
                                          <p:spTgt spid="68"/>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400"/>
                                        <p:tgtEl>
                                          <p:spTgt spid="7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69"/>
                                        </p:tgtEl>
                                        <p:attrNameLst>
                                          <p:attrName>style.visibility</p:attrName>
                                        </p:attrNameLst>
                                      </p:cBhvr>
                                      <p:to>
                                        <p:strVal val="visible"/>
                                      </p:to>
                                    </p:set>
                                    <p:animEffect transition="in" filter="fade">
                                      <p:cBhvr>
                                        <p:cTn id="30" dur="400"/>
                                        <p:tgtEl>
                                          <p:spTgt spid="69"/>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fade">
                                      <p:cBhvr>
                                        <p:cTn id="39" dur="400"/>
                                        <p:tgtEl>
                                          <p:spTgt spid="70"/>
                                        </p:tgtEl>
                                      </p:cBhvr>
                                    </p:animEffect>
                                  </p:childTnLst>
                                </p:cTn>
                              </p:par>
                              <p:par>
                                <p:cTn id="40" presetID="10" presetClass="entr" presetSubtype="0" fill="hold" nodeType="withEffect">
                                  <p:stCondLst>
                                    <p:cond delay="0"/>
                                  </p:stCondLst>
                                  <p:childTnLst>
                                    <p:set>
                                      <p:cBhvr>
                                        <p:cTn id="41" dur="1" fill="hold">
                                          <p:stCondLst>
                                            <p:cond delay="0"/>
                                          </p:stCondLst>
                                        </p:cTn>
                                        <p:tgtEl>
                                          <p:spTgt spid="71"/>
                                        </p:tgtEl>
                                        <p:attrNameLst>
                                          <p:attrName>style.visibility</p:attrName>
                                        </p:attrNameLst>
                                      </p:cBhvr>
                                      <p:to>
                                        <p:strVal val="visible"/>
                                      </p:to>
                                    </p:set>
                                    <p:animEffect transition="in" filter="fade">
                                      <p:cBhvr>
                                        <p:cTn id="42" dur="400"/>
                                        <p:tgtEl>
                                          <p:spTgt spid="71"/>
                                        </p:tgtEl>
                                      </p:cBhvr>
                                    </p:animEffect>
                                  </p:childTnLst>
                                </p:cTn>
                              </p:par>
                              <p:par>
                                <p:cTn id="43" presetID="10" presetClass="entr" presetSubtype="0" fill="hold" nodeType="with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fade">
                                      <p:cBhvr>
                                        <p:cTn id="45"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am-title">
            <ns0:hlinkClick xmlns:ns0="http://schemas.openxmlformats.org/drawingml/2006/main" xmlns:ns1="http://schemas.openxmlformats.org/officeDocument/2006/relationships" ns1:id="rIdmethods_Link122" action="ppaction://hlinksldjump"/>
            <a:extLst xmlns:a="http://schemas.openxmlformats.org/drawingml/2006/main">
              <a:ext uri="{FF2B5EF4-FFF2-40B4-BE49-F238E27FC236}">
                <a16:creationId xmlns:a16="http://schemas.microsoft.com/office/drawing/2014/main" id="{CE817988-CF5D-4C83-A523-972D39132011}"/>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22" action="ppaction://hlinksldjump"/>
              </a:rPr>
              <a:t>AM</a:t>
            </a:r>
          </a:p>
        </p:txBody>
      </p:sp>
      <p:sp>
        <p:nvSpPr>
          <p:cNvPr id="2" name="!!am-route-tx-line">
            <a:extLst xmlns:a="http://schemas.openxmlformats.org/drawingml/2006/main">
              <a:ext uri="{FF2B5EF4-FFF2-40B4-BE49-F238E27FC236}">
                <a16:creationId xmlns:a16="http://schemas.microsoft.com/office/drawing/2014/main" id="{10E96EB3-C98B-4BAB-999D-BC8EFF19A19E}"/>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am-route-tx-head">
            <a:extLst xmlns:a="http://schemas.openxmlformats.org/drawingml/2006/main">
              <a:ext uri="{FF2B5EF4-FFF2-40B4-BE49-F238E27FC236}">
                <a16:creationId xmlns:a16="http://schemas.microsoft.com/office/drawing/2014/main" id="{A28240C3-35D0-4974-B705-79D2AFB95352}"/>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am-route-rx-line">
            <a:extLst xmlns:a="http://schemas.openxmlformats.org/drawingml/2006/main">
              <a:ext uri="{FF2B5EF4-FFF2-40B4-BE49-F238E27FC236}">
                <a16:creationId xmlns:a16="http://schemas.microsoft.com/office/drawing/2014/main" id="{EF05E2AC-E090-4B31-8325-49FA244DE003}"/>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am-route-rx-head">
            <a:extLst xmlns:a="http://schemas.openxmlformats.org/drawingml/2006/main">
              <a:ext uri="{FF2B5EF4-FFF2-40B4-BE49-F238E27FC236}">
                <a16:creationId xmlns:a16="http://schemas.microsoft.com/office/drawing/2014/main" id="{C209D6DC-5DAB-4F30-9B92-1839256BF2BC}"/>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am-review-purpose">
            <a:extLst xmlns:a="http://schemas.openxmlformats.org/drawingml/2006/main">
              <a:ext uri="{FF2B5EF4-FFF2-40B4-BE49-F238E27FC236}">
                <a16:creationId xmlns:a16="http://schemas.microsoft.com/office/drawing/2014/main" id="{480C41BB-9F8D-4C49-9601-BE5A74A6E6F2}"/>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Use this envelope to set the carrier amplitude</a:t>
            </a:r>
          </a:p>
        </p:txBody>
      </p:sp>
      <p:sp>
        <p:nvSpPr>
          <p:cNvPr id="7" name="!!am-am-carrier-g0-r0-axis-line">
            <a:extLst xmlns:a="http://schemas.openxmlformats.org/drawingml/2006/main">
              <a:ext uri="{FF2B5EF4-FFF2-40B4-BE49-F238E27FC236}">
                <a16:creationId xmlns:a16="http://schemas.microsoft.com/office/drawing/2014/main" id="{A331D892-17A3-4585-A558-B098125CFBDB}"/>
              </a:ext>
            </a:extLst>
          </p:cNvPr>
          <p:cNvSpPr>
            <a:spLocks xmlns:a="http://schemas.openxmlformats.org/drawingml/2006/main" noGrp="1"/>
          </p:cNvSpPr>
          <p:nvPr/>
        </p:nvSpPr>
        <p:spPr>
          <a:xfrm xmlns:a="http://schemas.openxmlformats.org/drawingml/2006/main">
            <a:off x="571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m-am-carrier-g0-r0-axis-head">
            <a:extLst xmlns:a="http://schemas.openxmlformats.org/drawingml/2006/main">
              <a:ext uri="{FF2B5EF4-FFF2-40B4-BE49-F238E27FC236}">
                <a16:creationId xmlns:a16="http://schemas.microsoft.com/office/drawing/2014/main" id="{69FD51F6-F6E6-4974-993E-2122814E10D1}"/>
              </a:ext>
            </a:extLst>
          </p:cNvPr>
          <p:cNvSpPr>
            <a:spLocks xmlns:a="http://schemas.openxmlformats.org/drawingml/2006/main" noGrp="1"/>
          </p:cNvSpPr>
          <p:nvPr/>
        </p:nvSpPr>
        <p:spPr>
          <a:xfrm xmlns:a="http://schemas.openxmlformats.org/drawingml/2006/main" rot="5400000">
            <a:off x="3238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am-am-carrier-g1-r0-axis-line">
            <a:extLst xmlns:a="http://schemas.openxmlformats.org/drawingml/2006/main">
              <a:ext uri="{FF2B5EF4-FFF2-40B4-BE49-F238E27FC236}">
                <a16:creationId xmlns:a16="http://schemas.microsoft.com/office/drawing/2014/main" id="{827F258A-A4EA-4B92-A2E6-576315D7DB2E}"/>
              </a:ext>
            </a:extLst>
          </p:cNvPr>
          <p:cNvSpPr>
            <a:spLocks xmlns:a="http://schemas.openxmlformats.org/drawingml/2006/main" noGrp="1"/>
          </p:cNvSpPr>
          <p:nvPr/>
        </p:nvSpPr>
        <p:spPr>
          <a:xfrm xmlns:a="http://schemas.openxmlformats.org/drawingml/2006/main">
            <a:off x="45720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m-am-carrier-g1-r0-axis-head">
            <a:extLst xmlns:a="http://schemas.openxmlformats.org/drawingml/2006/main">
              <a:ext uri="{FF2B5EF4-FFF2-40B4-BE49-F238E27FC236}">
                <a16:creationId xmlns:a16="http://schemas.microsoft.com/office/drawing/2014/main" id="{0133E5E2-BC1F-467A-97B6-48F009F350A3}"/>
              </a:ext>
            </a:extLst>
          </p:cNvPr>
          <p:cNvSpPr>
            <a:spLocks xmlns:a="http://schemas.openxmlformats.org/drawingml/2006/main" noGrp="1"/>
          </p:cNvSpPr>
          <p:nvPr/>
        </p:nvSpPr>
        <p:spPr>
          <a:xfrm xmlns:a="http://schemas.openxmlformats.org/drawingml/2006/main" rot="5400000">
            <a:off x="72390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am-am-carrier-g0-r0-wave">
            <a:extLst xmlns:a="http://schemas.openxmlformats.org/drawingml/2006/main">
              <a:ext uri="{FF2B5EF4-FFF2-40B4-BE49-F238E27FC236}">
                <a16:creationId xmlns:a16="http://schemas.microsoft.com/office/drawing/2014/main" id="{0FBE7372-DB55-4E56-9DE2-6600E48FE521}"/>
              </a:ext>
            </a:extLst>
          </p:cNvPr>
          <p:cNvSpPr>
            <a:spLocks xmlns:a="http://schemas.openxmlformats.org/drawingml/2006/main" noGrp="1"/>
          </p:cNvSpPr>
          <p:nvPr/>
        </p:nvSpPr>
        <p:spPr>
          <a:xfrm xmlns:a="http://schemas.openxmlformats.org/drawingml/2006/main">
            <a:off x="571500" y="2748915"/>
            <a:ext cx="2781300" cy="345757"/>
          </a:xfrm>
          <a:custGeom xmlns:a="http://schemas.openxmlformats.org/drawingml/2006/main">
            <a:pathLst>
              <a:path w="2781300" h="345757">
                <a:moveTo>
                  <a:pt x="0" y="172879"/>
                </a:moveTo>
                <a:lnTo>
                  <a:pt x="3477" y="171521"/>
                </a:lnTo>
                <a:lnTo>
                  <a:pt x="6953" y="170163"/>
                </a:lnTo>
                <a:lnTo>
                  <a:pt x="10430" y="168806"/>
                </a:lnTo>
                <a:lnTo>
                  <a:pt x="13907" y="167448"/>
                </a:lnTo>
                <a:lnTo>
                  <a:pt x="17383" y="166092"/>
                </a:lnTo>
                <a:lnTo>
                  <a:pt x="20860" y="164735"/>
                </a:lnTo>
                <a:lnTo>
                  <a:pt x="24336" y="163379"/>
                </a:lnTo>
                <a:lnTo>
                  <a:pt x="27813" y="162024"/>
                </a:lnTo>
                <a:lnTo>
                  <a:pt x="31290" y="160669"/>
                </a:lnTo>
                <a:lnTo>
                  <a:pt x="34766" y="159315"/>
                </a:lnTo>
                <a:lnTo>
                  <a:pt x="38243" y="157962"/>
                </a:lnTo>
                <a:lnTo>
                  <a:pt x="41719" y="156609"/>
                </a:lnTo>
                <a:lnTo>
                  <a:pt x="45196" y="155258"/>
                </a:lnTo>
                <a:lnTo>
                  <a:pt x="48673" y="153908"/>
                </a:lnTo>
                <a:lnTo>
                  <a:pt x="52149" y="152559"/>
                </a:lnTo>
                <a:lnTo>
                  <a:pt x="55626" y="151211"/>
                </a:lnTo>
                <a:lnTo>
                  <a:pt x="59103" y="149865"/>
                </a:lnTo>
                <a:lnTo>
                  <a:pt x="62579" y="148520"/>
                </a:lnTo>
                <a:lnTo>
                  <a:pt x="66056" y="147176"/>
                </a:lnTo>
                <a:lnTo>
                  <a:pt x="69532" y="145835"/>
                </a:lnTo>
                <a:lnTo>
                  <a:pt x="73009" y="144494"/>
                </a:lnTo>
                <a:lnTo>
                  <a:pt x="76486" y="143156"/>
                </a:lnTo>
                <a:lnTo>
                  <a:pt x="79962" y="141819"/>
                </a:lnTo>
                <a:lnTo>
                  <a:pt x="83439" y="140485"/>
                </a:lnTo>
                <a:lnTo>
                  <a:pt x="86916" y="139152"/>
                </a:lnTo>
                <a:lnTo>
                  <a:pt x="90392" y="137821"/>
                </a:lnTo>
                <a:lnTo>
                  <a:pt x="93869" y="136493"/>
                </a:lnTo>
                <a:lnTo>
                  <a:pt x="97345" y="135166"/>
                </a:lnTo>
                <a:lnTo>
                  <a:pt x="100822" y="133843"/>
                </a:lnTo>
                <a:lnTo>
                  <a:pt x="104299" y="132521"/>
                </a:lnTo>
                <a:lnTo>
                  <a:pt x="107775" y="131202"/>
                </a:lnTo>
                <a:lnTo>
                  <a:pt x="111252" y="129886"/>
                </a:lnTo>
                <a:lnTo>
                  <a:pt x="114729" y="128572"/>
                </a:lnTo>
                <a:lnTo>
                  <a:pt x="118205" y="127261"/>
                </a:lnTo>
                <a:lnTo>
                  <a:pt x="121682" y="125952"/>
                </a:lnTo>
                <a:lnTo>
                  <a:pt x="125159" y="124647"/>
                </a:lnTo>
                <a:lnTo>
                  <a:pt x="128635" y="123345"/>
                </a:lnTo>
                <a:lnTo>
                  <a:pt x="132112" y="122045"/>
                </a:lnTo>
                <a:lnTo>
                  <a:pt x="135588" y="120749"/>
                </a:lnTo>
                <a:lnTo>
                  <a:pt x="139065" y="119456"/>
                </a:lnTo>
                <a:lnTo>
                  <a:pt x="142542" y="118167"/>
                </a:lnTo>
                <a:lnTo>
                  <a:pt x="146018" y="116880"/>
                </a:lnTo>
                <a:lnTo>
                  <a:pt x="149495" y="115597"/>
                </a:lnTo>
                <a:lnTo>
                  <a:pt x="152972" y="114318"/>
                </a:lnTo>
                <a:lnTo>
                  <a:pt x="156448" y="113042"/>
                </a:lnTo>
                <a:lnTo>
                  <a:pt x="159925" y="111770"/>
                </a:lnTo>
                <a:lnTo>
                  <a:pt x="163401" y="110502"/>
                </a:lnTo>
                <a:lnTo>
                  <a:pt x="166878" y="109238"/>
                </a:lnTo>
                <a:lnTo>
                  <a:pt x="170355" y="107977"/>
                </a:lnTo>
                <a:lnTo>
                  <a:pt x="173831" y="106721"/>
                </a:lnTo>
                <a:lnTo>
                  <a:pt x="177308" y="105469"/>
                </a:lnTo>
                <a:lnTo>
                  <a:pt x="180785" y="104220"/>
                </a:lnTo>
                <a:lnTo>
                  <a:pt x="184261" y="102976"/>
                </a:lnTo>
                <a:lnTo>
                  <a:pt x="187738" y="101737"/>
                </a:lnTo>
                <a:lnTo>
                  <a:pt x="191214" y="100501"/>
                </a:lnTo>
                <a:lnTo>
                  <a:pt x="194691" y="99271"/>
                </a:lnTo>
                <a:lnTo>
                  <a:pt x="198168" y="98044"/>
                </a:lnTo>
                <a:lnTo>
                  <a:pt x="201644" y="96823"/>
                </a:lnTo>
                <a:lnTo>
                  <a:pt x="205121" y="95606"/>
                </a:lnTo>
                <a:lnTo>
                  <a:pt x="208598" y="94393"/>
                </a:lnTo>
                <a:lnTo>
                  <a:pt x="212074" y="93186"/>
                </a:lnTo>
                <a:lnTo>
                  <a:pt x="215551" y="91984"/>
                </a:lnTo>
                <a:lnTo>
                  <a:pt x="219027" y="90786"/>
                </a:lnTo>
                <a:lnTo>
                  <a:pt x="222504" y="89594"/>
                </a:lnTo>
                <a:lnTo>
                  <a:pt x="225981" y="88407"/>
                </a:lnTo>
                <a:lnTo>
                  <a:pt x="229457" y="87224"/>
                </a:lnTo>
                <a:lnTo>
                  <a:pt x="232934" y="86048"/>
                </a:lnTo>
                <a:lnTo>
                  <a:pt x="236410" y="84876"/>
                </a:lnTo>
                <a:lnTo>
                  <a:pt x="239887" y="83710"/>
                </a:lnTo>
                <a:lnTo>
                  <a:pt x="243364" y="82550"/>
                </a:lnTo>
                <a:lnTo>
                  <a:pt x="246840" y="81395"/>
                </a:lnTo>
                <a:lnTo>
                  <a:pt x="250317" y="80246"/>
                </a:lnTo>
                <a:lnTo>
                  <a:pt x="253794" y="79102"/>
                </a:lnTo>
                <a:lnTo>
                  <a:pt x="257270" y="77964"/>
                </a:lnTo>
                <a:lnTo>
                  <a:pt x="260747" y="76832"/>
                </a:lnTo>
                <a:lnTo>
                  <a:pt x="264223" y="75706"/>
                </a:lnTo>
                <a:lnTo>
                  <a:pt x="267700" y="74586"/>
                </a:lnTo>
                <a:lnTo>
                  <a:pt x="271177" y="73473"/>
                </a:lnTo>
                <a:lnTo>
                  <a:pt x="274653" y="72365"/>
                </a:lnTo>
                <a:lnTo>
                  <a:pt x="278130" y="71263"/>
                </a:lnTo>
                <a:lnTo>
                  <a:pt x="281607" y="70168"/>
                </a:lnTo>
                <a:lnTo>
                  <a:pt x="285083" y="69079"/>
                </a:lnTo>
                <a:lnTo>
                  <a:pt x="288560" y="67996"/>
                </a:lnTo>
                <a:lnTo>
                  <a:pt x="292036" y="66920"/>
                </a:lnTo>
                <a:lnTo>
                  <a:pt x="295513" y="65851"/>
                </a:lnTo>
                <a:lnTo>
                  <a:pt x="298990" y="64788"/>
                </a:lnTo>
                <a:lnTo>
                  <a:pt x="302466" y="63731"/>
                </a:lnTo>
                <a:lnTo>
                  <a:pt x="305943" y="62682"/>
                </a:lnTo>
                <a:lnTo>
                  <a:pt x="309420" y="61639"/>
                </a:lnTo>
                <a:lnTo>
                  <a:pt x="312896" y="60603"/>
                </a:lnTo>
                <a:lnTo>
                  <a:pt x="316373" y="59574"/>
                </a:lnTo>
                <a:lnTo>
                  <a:pt x="319850" y="58552"/>
                </a:lnTo>
                <a:lnTo>
                  <a:pt x="323326" y="57537"/>
                </a:lnTo>
                <a:lnTo>
                  <a:pt x="326803" y="56529"/>
                </a:lnTo>
                <a:lnTo>
                  <a:pt x="330279" y="55529"/>
                </a:lnTo>
                <a:lnTo>
                  <a:pt x="333756" y="54535"/>
                </a:lnTo>
                <a:lnTo>
                  <a:pt x="337233" y="53549"/>
                </a:lnTo>
                <a:lnTo>
                  <a:pt x="340709" y="52570"/>
                </a:lnTo>
                <a:lnTo>
                  <a:pt x="344186" y="51599"/>
                </a:lnTo>
                <a:lnTo>
                  <a:pt x="347663" y="50635"/>
                </a:lnTo>
                <a:lnTo>
                  <a:pt x="351139" y="49679"/>
                </a:lnTo>
                <a:lnTo>
                  <a:pt x="354616" y="48730"/>
                </a:lnTo>
                <a:lnTo>
                  <a:pt x="358092" y="47789"/>
                </a:lnTo>
                <a:lnTo>
                  <a:pt x="361569" y="46856"/>
                </a:lnTo>
                <a:lnTo>
                  <a:pt x="365046" y="45930"/>
                </a:lnTo>
                <a:lnTo>
                  <a:pt x="368522" y="45012"/>
                </a:lnTo>
                <a:lnTo>
                  <a:pt x="371999" y="44102"/>
                </a:lnTo>
                <a:lnTo>
                  <a:pt x="375476" y="43200"/>
                </a:lnTo>
                <a:lnTo>
                  <a:pt x="378952" y="42307"/>
                </a:lnTo>
                <a:lnTo>
                  <a:pt x="382429" y="41421"/>
                </a:lnTo>
                <a:lnTo>
                  <a:pt x="385905" y="40543"/>
                </a:lnTo>
                <a:lnTo>
                  <a:pt x="389382" y="39673"/>
                </a:lnTo>
                <a:lnTo>
                  <a:pt x="392859" y="38812"/>
                </a:lnTo>
                <a:lnTo>
                  <a:pt x="396335" y="37959"/>
                </a:lnTo>
                <a:lnTo>
                  <a:pt x="399812" y="37114"/>
                </a:lnTo>
                <a:lnTo>
                  <a:pt x="403289" y="36278"/>
                </a:lnTo>
                <a:lnTo>
                  <a:pt x="406765" y="35450"/>
                </a:lnTo>
                <a:lnTo>
                  <a:pt x="410242" y="34630"/>
                </a:lnTo>
                <a:lnTo>
                  <a:pt x="413718" y="33819"/>
                </a:lnTo>
                <a:lnTo>
                  <a:pt x="417195" y="33017"/>
                </a:lnTo>
                <a:lnTo>
                  <a:pt x="420672" y="32223"/>
                </a:lnTo>
                <a:lnTo>
                  <a:pt x="424148" y="31438"/>
                </a:lnTo>
                <a:lnTo>
                  <a:pt x="427625" y="30662"/>
                </a:lnTo>
                <a:lnTo>
                  <a:pt x="431101" y="29894"/>
                </a:lnTo>
                <a:lnTo>
                  <a:pt x="434578" y="29135"/>
                </a:lnTo>
                <a:lnTo>
                  <a:pt x="438055" y="28385"/>
                </a:lnTo>
                <a:lnTo>
                  <a:pt x="441531" y="27644"/>
                </a:lnTo>
                <a:lnTo>
                  <a:pt x="445008" y="26912"/>
                </a:lnTo>
                <a:lnTo>
                  <a:pt x="448485" y="26189"/>
                </a:lnTo>
                <a:lnTo>
                  <a:pt x="451961" y="25475"/>
                </a:lnTo>
                <a:lnTo>
                  <a:pt x="455438" y="24770"/>
                </a:lnTo>
                <a:lnTo>
                  <a:pt x="458915" y="24075"/>
                </a:lnTo>
                <a:lnTo>
                  <a:pt x="462391" y="23388"/>
                </a:lnTo>
                <a:lnTo>
                  <a:pt x="465868" y="22711"/>
                </a:lnTo>
                <a:lnTo>
                  <a:pt x="469344" y="22043"/>
                </a:lnTo>
                <a:lnTo>
                  <a:pt x="472821" y="21384"/>
                </a:lnTo>
                <a:lnTo>
                  <a:pt x="476298" y="20735"/>
                </a:lnTo>
                <a:lnTo>
                  <a:pt x="479774" y="20094"/>
                </a:lnTo>
                <a:lnTo>
                  <a:pt x="483251" y="19464"/>
                </a:lnTo>
                <a:lnTo>
                  <a:pt x="486727" y="18843"/>
                </a:lnTo>
                <a:lnTo>
                  <a:pt x="490204" y="18231"/>
                </a:lnTo>
                <a:lnTo>
                  <a:pt x="493681" y="17629"/>
                </a:lnTo>
                <a:lnTo>
                  <a:pt x="497157" y="17036"/>
                </a:lnTo>
                <a:lnTo>
                  <a:pt x="500634" y="16453"/>
                </a:lnTo>
                <a:lnTo>
                  <a:pt x="504111" y="15880"/>
                </a:lnTo>
                <a:lnTo>
                  <a:pt x="507587" y="15316"/>
                </a:lnTo>
                <a:lnTo>
                  <a:pt x="511064" y="14763"/>
                </a:lnTo>
                <a:lnTo>
                  <a:pt x="514541" y="14218"/>
                </a:lnTo>
                <a:lnTo>
                  <a:pt x="518017" y="13684"/>
                </a:lnTo>
                <a:lnTo>
                  <a:pt x="521494" y="13160"/>
                </a:lnTo>
                <a:lnTo>
                  <a:pt x="524970" y="12645"/>
                </a:lnTo>
                <a:lnTo>
                  <a:pt x="528447" y="12140"/>
                </a:lnTo>
                <a:lnTo>
                  <a:pt x="531924" y="11645"/>
                </a:lnTo>
                <a:lnTo>
                  <a:pt x="535400" y="11160"/>
                </a:lnTo>
                <a:lnTo>
                  <a:pt x="538877" y="10685"/>
                </a:lnTo>
                <a:lnTo>
                  <a:pt x="542354" y="10220"/>
                </a:lnTo>
                <a:lnTo>
                  <a:pt x="545830" y="9766"/>
                </a:lnTo>
                <a:lnTo>
                  <a:pt x="549307" y="9321"/>
                </a:lnTo>
                <a:lnTo>
                  <a:pt x="552783" y="8886"/>
                </a:lnTo>
                <a:lnTo>
                  <a:pt x="556260" y="8461"/>
                </a:lnTo>
                <a:lnTo>
                  <a:pt x="559737" y="8047"/>
                </a:lnTo>
                <a:lnTo>
                  <a:pt x="563213" y="7642"/>
                </a:lnTo>
                <a:lnTo>
                  <a:pt x="566690" y="7248"/>
                </a:lnTo>
                <a:lnTo>
                  <a:pt x="570167" y="6864"/>
                </a:lnTo>
                <a:lnTo>
                  <a:pt x="573643" y="6491"/>
                </a:lnTo>
                <a:lnTo>
                  <a:pt x="577120" y="6127"/>
                </a:lnTo>
                <a:lnTo>
                  <a:pt x="580596" y="5774"/>
                </a:lnTo>
                <a:lnTo>
                  <a:pt x="584073" y="5431"/>
                </a:lnTo>
                <a:lnTo>
                  <a:pt x="587550" y="5099"/>
                </a:lnTo>
                <a:lnTo>
                  <a:pt x="591026" y="4777"/>
                </a:lnTo>
                <a:lnTo>
                  <a:pt x="594503" y="4465"/>
                </a:lnTo>
                <a:lnTo>
                  <a:pt x="597980" y="4163"/>
                </a:lnTo>
                <a:lnTo>
                  <a:pt x="601456" y="3872"/>
                </a:lnTo>
                <a:lnTo>
                  <a:pt x="604933" y="3592"/>
                </a:lnTo>
                <a:lnTo>
                  <a:pt x="608409" y="3322"/>
                </a:lnTo>
                <a:lnTo>
                  <a:pt x="611886" y="3062"/>
                </a:lnTo>
                <a:lnTo>
                  <a:pt x="615363" y="2813"/>
                </a:lnTo>
                <a:lnTo>
                  <a:pt x="618839" y="2574"/>
                </a:lnTo>
                <a:lnTo>
                  <a:pt x="622316" y="2346"/>
                </a:lnTo>
                <a:lnTo>
                  <a:pt x="625793" y="2128"/>
                </a:lnTo>
                <a:lnTo>
                  <a:pt x="629269" y="1921"/>
                </a:lnTo>
                <a:lnTo>
                  <a:pt x="632746" y="1725"/>
                </a:lnTo>
                <a:lnTo>
                  <a:pt x="636222" y="1539"/>
                </a:lnTo>
                <a:lnTo>
                  <a:pt x="639699" y="1363"/>
                </a:lnTo>
                <a:lnTo>
                  <a:pt x="643176" y="1198"/>
                </a:lnTo>
                <a:lnTo>
                  <a:pt x="646652" y="1044"/>
                </a:lnTo>
                <a:lnTo>
                  <a:pt x="650129" y="900"/>
                </a:lnTo>
                <a:lnTo>
                  <a:pt x="653606" y="767"/>
                </a:lnTo>
                <a:lnTo>
                  <a:pt x="657082" y="645"/>
                </a:lnTo>
                <a:lnTo>
                  <a:pt x="660559" y="533"/>
                </a:lnTo>
                <a:lnTo>
                  <a:pt x="664035" y="432"/>
                </a:lnTo>
                <a:lnTo>
                  <a:pt x="667512" y="341"/>
                </a:lnTo>
                <a:lnTo>
                  <a:pt x="670989" y="261"/>
                </a:lnTo>
                <a:lnTo>
                  <a:pt x="674465" y="192"/>
                </a:lnTo>
                <a:lnTo>
                  <a:pt x="677942" y="133"/>
                </a:lnTo>
                <a:lnTo>
                  <a:pt x="681419" y="85"/>
                </a:lnTo>
                <a:lnTo>
                  <a:pt x="684895" y="48"/>
                </a:lnTo>
                <a:lnTo>
                  <a:pt x="688372" y="21"/>
                </a:lnTo>
                <a:lnTo>
                  <a:pt x="691848" y="5"/>
                </a:lnTo>
                <a:lnTo>
                  <a:pt x="695325" y="0"/>
                </a:lnTo>
                <a:lnTo>
                  <a:pt x="698802" y="5"/>
                </a:lnTo>
                <a:lnTo>
                  <a:pt x="702278" y="21"/>
                </a:lnTo>
                <a:lnTo>
                  <a:pt x="705755" y="48"/>
                </a:lnTo>
                <a:lnTo>
                  <a:pt x="709231" y="85"/>
                </a:lnTo>
                <a:lnTo>
                  <a:pt x="712708" y="133"/>
                </a:lnTo>
                <a:lnTo>
                  <a:pt x="716185" y="192"/>
                </a:lnTo>
                <a:lnTo>
                  <a:pt x="719661" y="261"/>
                </a:lnTo>
                <a:lnTo>
                  <a:pt x="723138" y="341"/>
                </a:lnTo>
                <a:lnTo>
                  <a:pt x="726615" y="432"/>
                </a:lnTo>
                <a:lnTo>
                  <a:pt x="730091" y="533"/>
                </a:lnTo>
                <a:lnTo>
                  <a:pt x="733568" y="645"/>
                </a:lnTo>
                <a:lnTo>
                  <a:pt x="737045" y="767"/>
                </a:lnTo>
                <a:lnTo>
                  <a:pt x="740521" y="900"/>
                </a:lnTo>
                <a:lnTo>
                  <a:pt x="743998" y="1044"/>
                </a:lnTo>
                <a:lnTo>
                  <a:pt x="747474" y="1198"/>
                </a:lnTo>
                <a:lnTo>
                  <a:pt x="750951" y="1363"/>
                </a:lnTo>
                <a:lnTo>
                  <a:pt x="754428" y="1539"/>
                </a:lnTo>
                <a:lnTo>
                  <a:pt x="757904" y="1725"/>
                </a:lnTo>
                <a:lnTo>
                  <a:pt x="761381" y="1921"/>
                </a:lnTo>
                <a:lnTo>
                  <a:pt x="764858" y="2128"/>
                </a:lnTo>
                <a:lnTo>
                  <a:pt x="768334" y="2346"/>
                </a:lnTo>
                <a:lnTo>
                  <a:pt x="771811" y="2574"/>
                </a:lnTo>
                <a:lnTo>
                  <a:pt x="775287" y="2813"/>
                </a:lnTo>
                <a:lnTo>
                  <a:pt x="778764" y="3062"/>
                </a:lnTo>
                <a:lnTo>
                  <a:pt x="782241" y="3322"/>
                </a:lnTo>
                <a:lnTo>
                  <a:pt x="785717" y="3592"/>
                </a:lnTo>
                <a:lnTo>
                  <a:pt x="789194" y="3872"/>
                </a:lnTo>
                <a:lnTo>
                  <a:pt x="792671" y="4163"/>
                </a:lnTo>
                <a:lnTo>
                  <a:pt x="796147" y="4465"/>
                </a:lnTo>
                <a:lnTo>
                  <a:pt x="799624" y="4777"/>
                </a:lnTo>
                <a:lnTo>
                  <a:pt x="803100" y="5099"/>
                </a:lnTo>
                <a:lnTo>
                  <a:pt x="806577" y="5431"/>
                </a:lnTo>
                <a:lnTo>
                  <a:pt x="810054" y="5774"/>
                </a:lnTo>
                <a:lnTo>
                  <a:pt x="813530" y="6127"/>
                </a:lnTo>
                <a:lnTo>
                  <a:pt x="817007" y="6491"/>
                </a:lnTo>
                <a:lnTo>
                  <a:pt x="820483" y="6864"/>
                </a:lnTo>
                <a:lnTo>
                  <a:pt x="823960" y="7248"/>
                </a:lnTo>
                <a:lnTo>
                  <a:pt x="827437" y="7642"/>
                </a:lnTo>
                <a:lnTo>
                  <a:pt x="830913" y="8047"/>
                </a:lnTo>
                <a:lnTo>
                  <a:pt x="834390" y="8461"/>
                </a:lnTo>
                <a:lnTo>
                  <a:pt x="837867" y="8886"/>
                </a:lnTo>
                <a:lnTo>
                  <a:pt x="841343" y="9321"/>
                </a:lnTo>
                <a:lnTo>
                  <a:pt x="844820" y="9766"/>
                </a:lnTo>
                <a:lnTo>
                  <a:pt x="848297" y="10220"/>
                </a:lnTo>
                <a:lnTo>
                  <a:pt x="851773" y="10685"/>
                </a:lnTo>
                <a:lnTo>
                  <a:pt x="855250" y="11160"/>
                </a:lnTo>
                <a:lnTo>
                  <a:pt x="858726" y="11645"/>
                </a:lnTo>
                <a:lnTo>
                  <a:pt x="862203" y="12140"/>
                </a:lnTo>
                <a:lnTo>
                  <a:pt x="865680" y="12645"/>
                </a:lnTo>
                <a:lnTo>
                  <a:pt x="869156" y="13160"/>
                </a:lnTo>
                <a:lnTo>
                  <a:pt x="872633" y="13684"/>
                </a:lnTo>
                <a:lnTo>
                  <a:pt x="876110" y="14218"/>
                </a:lnTo>
                <a:lnTo>
                  <a:pt x="879586" y="14763"/>
                </a:lnTo>
                <a:lnTo>
                  <a:pt x="883063" y="15316"/>
                </a:lnTo>
                <a:lnTo>
                  <a:pt x="886539" y="15880"/>
                </a:lnTo>
                <a:lnTo>
                  <a:pt x="890016" y="16453"/>
                </a:lnTo>
                <a:lnTo>
                  <a:pt x="893493" y="17036"/>
                </a:lnTo>
                <a:lnTo>
                  <a:pt x="896969" y="17629"/>
                </a:lnTo>
                <a:lnTo>
                  <a:pt x="900446" y="18231"/>
                </a:lnTo>
                <a:lnTo>
                  <a:pt x="903923" y="18843"/>
                </a:lnTo>
                <a:lnTo>
                  <a:pt x="907399" y="19464"/>
                </a:lnTo>
                <a:lnTo>
                  <a:pt x="910876" y="20094"/>
                </a:lnTo>
                <a:lnTo>
                  <a:pt x="914352" y="20735"/>
                </a:lnTo>
                <a:lnTo>
                  <a:pt x="917829" y="21384"/>
                </a:lnTo>
                <a:lnTo>
                  <a:pt x="921306" y="22043"/>
                </a:lnTo>
                <a:lnTo>
                  <a:pt x="924782" y="22711"/>
                </a:lnTo>
                <a:lnTo>
                  <a:pt x="928259" y="23388"/>
                </a:lnTo>
                <a:lnTo>
                  <a:pt x="931735" y="24075"/>
                </a:lnTo>
                <a:lnTo>
                  <a:pt x="935212" y="24770"/>
                </a:lnTo>
                <a:lnTo>
                  <a:pt x="938689" y="25475"/>
                </a:lnTo>
                <a:lnTo>
                  <a:pt x="942165" y="26189"/>
                </a:lnTo>
                <a:lnTo>
                  <a:pt x="945642" y="26912"/>
                </a:lnTo>
                <a:lnTo>
                  <a:pt x="949119" y="27644"/>
                </a:lnTo>
                <a:lnTo>
                  <a:pt x="952595" y="28385"/>
                </a:lnTo>
                <a:lnTo>
                  <a:pt x="956072" y="29135"/>
                </a:lnTo>
                <a:lnTo>
                  <a:pt x="959549" y="29894"/>
                </a:lnTo>
                <a:lnTo>
                  <a:pt x="963025" y="30662"/>
                </a:lnTo>
                <a:lnTo>
                  <a:pt x="966502" y="31438"/>
                </a:lnTo>
                <a:lnTo>
                  <a:pt x="969978" y="32223"/>
                </a:lnTo>
                <a:lnTo>
                  <a:pt x="973455" y="33017"/>
                </a:lnTo>
                <a:lnTo>
                  <a:pt x="976932" y="33819"/>
                </a:lnTo>
                <a:lnTo>
                  <a:pt x="980408" y="34630"/>
                </a:lnTo>
                <a:lnTo>
                  <a:pt x="983885" y="35450"/>
                </a:lnTo>
                <a:lnTo>
                  <a:pt x="987362" y="36278"/>
                </a:lnTo>
                <a:lnTo>
                  <a:pt x="990838" y="37114"/>
                </a:lnTo>
                <a:lnTo>
                  <a:pt x="994315" y="37959"/>
                </a:lnTo>
                <a:lnTo>
                  <a:pt x="997791" y="38812"/>
                </a:lnTo>
                <a:lnTo>
                  <a:pt x="1001268" y="39673"/>
                </a:lnTo>
                <a:lnTo>
                  <a:pt x="1004745" y="40543"/>
                </a:lnTo>
                <a:lnTo>
                  <a:pt x="1008221" y="41421"/>
                </a:lnTo>
                <a:lnTo>
                  <a:pt x="1011698" y="42307"/>
                </a:lnTo>
                <a:lnTo>
                  <a:pt x="1015174" y="43200"/>
                </a:lnTo>
                <a:lnTo>
                  <a:pt x="1018651" y="44102"/>
                </a:lnTo>
                <a:lnTo>
                  <a:pt x="1022128" y="45012"/>
                </a:lnTo>
                <a:lnTo>
                  <a:pt x="1025604" y="45930"/>
                </a:lnTo>
                <a:lnTo>
                  <a:pt x="1029081" y="46856"/>
                </a:lnTo>
                <a:lnTo>
                  <a:pt x="1032558" y="47789"/>
                </a:lnTo>
                <a:lnTo>
                  <a:pt x="1036034" y="48730"/>
                </a:lnTo>
                <a:lnTo>
                  <a:pt x="1039511" y="49679"/>
                </a:lnTo>
                <a:lnTo>
                  <a:pt x="1042988" y="50635"/>
                </a:lnTo>
                <a:lnTo>
                  <a:pt x="1046464" y="51599"/>
                </a:lnTo>
                <a:lnTo>
                  <a:pt x="1049941" y="52570"/>
                </a:lnTo>
                <a:lnTo>
                  <a:pt x="1053417" y="53549"/>
                </a:lnTo>
                <a:lnTo>
                  <a:pt x="1056894" y="54535"/>
                </a:lnTo>
                <a:lnTo>
                  <a:pt x="1060371" y="55529"/>
                </a:lnTo>
                <a:lnTo>
                  <a:pt x="1063847" y="56529"/>
                </a:lnTo>
                <a:lnTo>
                  <a:pt x="1067324" y="57537"/>
                </a:lnTo>
                <a:lnTo>
                  <a:pt x="1070801" y="58552"/>
                </a:lnTo>
                <a:lnTo>
                  <a:pt x="1074277" y="59574"/>
                </a:lnTo>
                <a:lnTo>
                  <a:pt x="1077754" y="60603"/>
                </a:lnTo>
                <a:lnTo>
                  <a:pt x="1081230" y="61639"/>
                </a:lnTo>
                <a:lnTo>
                  <a:pt x="1084707" y="62682"/>
                </a:lnTo>
                <a:lnTo>
                  <a:pt x="1088184" y="63731"/>
                </a:lnTo>
                <a:lnTo>
                  <a:pt x="1091660" y="64788"/>
                </a:lnTo>
                <a:lnTo>
                  <a:pt x="1095137" y="65851"/>
                </a:lnTo>
                <a:lnTo>
                  <a:pt x="1098614" y="66920"/>
                </a:lnTo>
                <a:lnTo>
                  <a:pt x="1102090" y="67996"/>
                </a:lnTo>
                <a:lnTo>
                  <a:pt x="1105567" y="69079"/>
                </a:lnTo>
                <a:lnTo>
                  <a:pt x="1109043" y="70168"/>
                </a:lnTo>
                <a:lnTo>
                  <a:pt x="1112520" y="71263"/>
                </a:lnTo>
                <a:lnTo>
                  <a:pt x="1115997" y="72365"/>
                </a:lnTo>
                <a:lnTo>
                  <a:pt x="1119473" y="73473"/>
                </a:lnTo>
                <a:lnTo>
                  <a:pt x="1122950" y="74586"/>
                </a:lnTo>
                <a:lnTo>
                  <a:pt x="1126427" y="75706"/>
                </a:lnTo>
                <a:lnTo>
                  <a:pt x="1129903" y="76832"/>
                </a:lnTo>
                <a:lnTo>
                  <a:pt x="1133380" y="77964"/>
                </a:lnTo>
                <a:lnTo>
                  <a:pt x="1136856" y="79102"/>
                </a:lnTo>
                <a:lnTo>
                  <a:pt x="1140333" y="80246"/>
                </a:lnTo>
                <a:lnTo>
                  <a:pt x="1143810" y="81395"/>
                </a:lnTo>
                <a:lnTo>
                  <a:pt x="1147286" y="82550"/>
                </a:lnTo>
                <a:lnTo>
                  <a:pt x="1150763" y="83710"/>
                </a:lnTo>
                <a:lnTo>
                  <a:pt x="1154240" y="84876"/>
                </a:lnTo>
                <a:lnTo>
                  <a:pt x="1157716" y="86048"/>
                </a:lnTo>
                <a:lnTo>
                  <a:pt x="1161193" y="87224"/>
                </a:lnTo>
                <a:lnTo>
                  <a:pt x="1164669" y="88407"/>
                </a:lnTo>
                <a:lnTo>
                  <a:pt x="1168146" y="89594"/>
                </a:lnTo>
                <a:lnTo>
                  <a:pt x="1171623" y="90786"/>
                </a:lnTo>
                <a:lnTo>
                  <a:pt x="1175099" y="91984"/>
                </a:lnTo>
                <a:lnTo>
                  <a:pt x="1178576" y="93186"/>
                </a:lnTo>
                <a:lnTo>
                  <a:pt x="1182053" y="94393"/>
                </a:lnTo>
                <a:lnTo>
                  <a:pt x="1185529" y="95606"/>
                </a:lnTo>
                <a:lnTo>
                  <a:pt x="1189006" y="96823"/>
                </a:lnTo>
                <a:lnTo>
                  <a:pt x="1192482" y="98044"/>
                </a:lnTo>
                <a:lnTo>
                  <a:pt x="1195959" y="99271"/>
                </a:lnTo>
                <a:lnTo>
                  <a:pt x="1199436" y="100501"/>
                </a:lnTo>
                <a:lnTo>
                  <a:pt x="1202912" y="101737"/>
                </a:lnTo>
                <a:lnTo>
                  <a:pt x="1206389" y="102976"/>
                </a:lnTo>
                <a:lnTo>
                  <a:pt x="1209865" y="104220"/>
                </a:lnTo>
                <a:lnTo>
                  <a:pt x="1213342" y="105469"/>
                </a:lnTo>
                <a:lnTo>
                  <a:pt x="1216819" y="106721"/>
                </a:lnTo>
                <a:lnTo>
                  <a:pt x="1220295" y="107977"/>
                </a:lnTo>
                <a:lnTo>
                  <a:pt x="1223772" y="109238"/>
                </a:lnTo>
                <a:lnTo>
                  <a:pt x="1227249" y="110502"/>
                </a:lnTo>
                <a:lnTo>
                  <a:pt x="1230725" y="111770"/>
                </a:lnTo>
                <a:lnTo>
                  <a:pt x="1234202" y="113042"/>
                </a:lnTo>
                <a:lnTo>
                  <a:pt x="1237679" y="114318"/>
                </a:lnTo>
                <a:lnTo>
                  <a:pt x="1241155" y="115597"/>
                </a:lnTo>
                <a:lnTo>
                  <a:pt x="1244632" y="116880"/>
                </a:lnTo>
                <a:lnTo>
                  <a:pt x="1248108" y="118167"/>
                </a:lnTo>
                <a:lnTo>
                  <a:pt x="1251585" y="119456"/>
                </a:lnTo>
                <a:lnTo>
                  <a:pt x="1255062" y="120749"/>
                </a:lnTo>
                <a:lnTo>
                  <a:pt x="1258538" y="122045"/>
                </a:lnTo>
                <a:lnTo>
                  <a:pt x="1262015" y="123345"/>
                </a:lnTo>
                <a:lnTo>
                  <a:pt x="1265492" y="124647"/>
                </a:lnTo>
                <a:lnTo>
                  <a:pt x="1268968" y="125952"/>
                </a:lnTo>
                <a:lnTo>
                  <a:pt x="1272445" y="127261"/>
                </a:lnTo>
                <a:lnTo>
                  <a:pt x="1275921" y="128572"/>
                </a:lnTo>
                <a:lnTo>
                  <a:pt x="1279398" y="129886"/>
                </a:lnTo>
                <a:lnTo>
                  <a:pt x="1282875" y="131202"/>
                </a:lnTo>
                <a:lnTo>
                  <a:pt x="1286351" y="132521"/>
                </a:lnTo>
                <a:lnTo>
                  <a:pt x="1289828" y="133843"/>
                </a:lnTo>
                <a:lnTo>
                  <a:pt x="1293305" y="135166"/>
                </a:lnTo>
                <a:lnTo>
                  <a:pt x="1296781" y="136493"/>
                </a:lnTo>
                <a:lnTo>
                  <a:pt x="1300258" y="137821"/>
                </a:lnTo>
                <a:lnTo>
                  <a:pt x="1303734" y="139152"/>
                </a:lnTo>
                <a:lnTo>
                  <a:pt x="1307211" y="140485"/>
                </a:lnTo>
                <a:lnTo>
                  <a:pt x="1310688" y="141819"/>
                </a:lnTo>
                <a:lnTo>
                  <a:pt x="1314164" y="143156"/>
                </a:lnTo>
                <a:lnTo>
                  <a:pt x="1317641" y="144494"/>
                </a:lnTo>
                <a:lnTo>
                  <a:pt x="1321118" y="145835"/>
                </a:lnTo>
                <a:lnTo>
                  <a:pt x="1324594" y="147176"/>
                </a:lnTo>
                <a:lnTo>
                  <a:pt x="1328071" y="148520"/>
                </a:lnTo>
                <a:lnTo>
                  <a:pt x="1331547" y="149865"/>
                </a:lnTo>
                <a:lnTo>
                  <a:pt x="1335024" y="151211"/>
                </a:lnTo>
                <a:lnTo>
                  <a:pt x="1338501" y="152559"/>
                </a:lnTo>
                <a:lnTo>
                  <a:pt x="1341977" y="153908"/>
                </a:lnTo>
                <a:lnTo>
                  <a:pt x="1345454" y="155258"/>
                </a:lnTo>
                <a:lnTo>
                  <a:pt x="1348931" y="156609"/>
                </a:lnTo>
                <a:lnTo>
                  <a:pt x="1352407" y="157962"/>
                </a:lnTo>
                <a:lnTo>
                  <a:pt x="1355884" y="159315"/>
                </a:lnTo>
                <a:lnTo>
                  <a:pt x="1359360" y="160669"/>
                </a:lnTo>
                <a:lnTo>
                  <a:pt x="1362837" y="162024"/>
                </a:lnTo>
                <a:lnTo>
                  <a:pt x="1366314" y="163379"/>
                </a:lnTo>
                <a:lnTo>
                  <a:pt x="1369790" y="164735"/>
                </a:lnTo>
                <a:lnTo>
                  <a:pt x="1373267" y="166092"/>
                </a:lnTo>
                <a:lnTo>
                  <a:pt x="1376744" y="167448"/>
                </a:lnTo>
                <a:lnTo>
                  <a:pt x="1380220" y="168806"/>
                </a:lnTo>
                <a:lnTo>
                  <a:pt x="1383697" y="170163"/>
                </a:lnTo>
                <a:lnTo>
                  <a:pt x="1387173" y="171521"/>
                </a:lnTo>
                <a:lnTo>
                  <a:pt x="1390650" y="172879"/>
                </a:lnTo>
                <a:lnTo>
                  <a:pt x="1394127" y="174237"/>
                </a:lnTo>
                <a:lnTo>
                  <a:pt x="1397603" y="175594"/>
                </a:lnTo>
                <a:lnTo>
                  <a:pt x="1401080" y="176952"/>
                </a:lnTo>
                <a:lnTo>
                  <a:pt x="1404557" y="178309"/>
                </a:lnTo>
                <a:lnTo>
                  <a:pt x="1408033" y="179666"/>
                </a:lnTo>
                <a:lnTo>
                  <a:pt x="1411510" y="181022"/>
                </a:lnTo>
                <a:lnTo>
                  <a:pt x="1414986" y="182378"/>
                </a:lnTo>
                <a:lnTo>
                  <a:pt x="1418463" y="183734"/>
                </a:lnTo>
                <a:lnTo>
                  <a:pt x="1421940" y="185089"/>
                </a:lnTo>
                <a:lnTo>
                  <a:pt x="1425416" y="186443"/>
                </a:lnTo>
                <a:lnTo>
                  <a:pt x="1428893" y="187796"/>
                </a:lnTo>
                <a:lnTo>
                  <a:pt x="1432370" y="189148"/>
                </a:lnTo>
                <a:lnTo>
                  <a:pt x="1435846" y="190499"/>
                </a:lnTo>
                <a:lnTo>
                  <a:pt x="1439323" y="191849"/>
                </a:lnTo>
                <a:lnTo>
                  <a:pt x="1442799" y="193198"/>
                </a:lnTo>
                <a:lnTo>
                  <a:pt x="1446276" y="194546"/>
                </a:lnTo>
                <a:lnTo>
                  <a:pt x="1449753" y="195893"/>
                </a:lnTo>
                <a:lnTo>
                  <a:pt x="1453229" y="197238"/>
                </a:lnTo>
                <a:lnTo>
                  <a:pt x="1456706" y="198581"/>
                </a:lnTo>
                <a:lnTo>
                  <a:pt x="1460183" y="199923"/>
                </a:lnTo>
                <a:lnTo>
                  <a:pt x="1463659" y="201263"/>
                </a:lnTo>
                <a:lnTo>
                  <a:pt x="1467136" y="202602"/>
                </a:lnTo>
                <a:lnTo>
                  <a:pt x="1470612" y="203938"/>
                </a:lnTo>
                <a:lnTo>
                  <a:pt x="1474089" y="205273"/>
                </a:lnTo>
                <a:lnTo>
                  <a:pt x="1477566" y="206606"/>
                </a:lnTo>
                <a:lnTo>
                  <a:pt x="1481042" y="207936"/>
                </a:lnTo>
                <a:lnTo>
                  <a:pt x="1484519" y="209265"/>
                </a:lnTo>
                <a:lnTo>
                  <a:pt x="1487996" y="210591"/>
                </a:lnTo>
                <a:lnTo>
                  <a:pt x="1491472" y="211915"/>
                </a:lnTo>
                <a:lnTo>
                  <a:pt x="1494949" y="213236"/>
                </a:lnTo>
                <a:lnTo>
                  <a:pt x="1498425" y="214556"/>
                </a:lnTo>
                <a:lnTo>
                  <a:pt x="1501902" y="215872"/>
                </a:lnTo>
                <a:lnTo>
                  <a:pt x="1505379" y="217186"/>
                </a:lnTo>
                <a:lnTo>
                  <a:pt x="1508855" y="218497"/>
                </a:lnTo>
                <a:lnTo>
                  <a:pt x="1512332" y="219805"/>
                </a:lnTo>
                <a:lnTo>
                  <a:pt x="1515808" y="221110"/>
                </a:lnTo>
                <a:lnTo>
                  <a:pt x="1519285" y="222413"/>
                </a:lnTo>
                <a:lnTo>
                  <a:pt x="1522762" y="223712"/>
                </a:lnTo>
                <a:lnTo>
                  <a:pt x="1526238" y="225008"/>
                </a:lnTo>
                <a:lnTo>
                  <a:pt x="1529715" y="226301"/>
                </a:lnTo>
                <a:lnTo>
                  <a:pt x="1533192" y="227591"/>
                </a:lnTo>
                <a:lnTo>
                  <a:pt x="1536668" y="228877"/>
                </a:lnTo>
                <a:lnTo>
                  <a:pt x="1540145" y="230160"/>
                </a:lnTo>
                <a:lnTo>
                  <a:pt x="1543622" y="231439"/>
                </a:lnTo>
                <a:lnTo>
                  <a:pt x="1547098" y="232715"/>
                </a:lnTo>
                <a:lnTo>
                  <a:pt x="1550575" y="233987"/>
                </a:lnTo>
                <a:lnTo>
                  <a:pt x="1554051" y="235255"/>
                </a:lnTo>
                <a:lnTo>
                  <a:pt x="1557528" y="236520"/>
                </a:lnTo>
                <a:lnTo>
                  <a:pt x="1561005" y="237780"/>
                </a:lnTo>
                <a:lnTo>
                  <a:pt x="1564481" y="239037"/>
                </a:lnTo>
                <a:lnTo>
                  <a:pt x="1567958" y="240289"/>
                </a:lnTo>
                <a:lnTo>
                  <a:pt x="1571435" y="241537"/>
                </a:lnTo>
                <a:lnTo>
                  <a:pt x="1574911" y="242781"/>
                </a:lnTo>
                <a:lnTo>
                  <a:pt x="1578388" y="244021"/>
                </a:lnTo>
                <a:lnTo>
                  <a:pt x="1581864" y="245256"/>
                </a:lnTo>
                <a:lnTo>
                  <a:pt x="1585341" y="246487"/>
                </a:lnTo>
                <a:lnTo>
                  <a:pt x="1588818" y="247713"/>
                </a:lnTo>
                <a:lnTo>
                  <a:pt x="1592294" y="248935"/>
                </a:lnTo>
                <a:lnTo>
                  <a:pt x="1595771" y="250152"/>
                </a:lnTo>
                <a:lnTo>
                  <a:pt x="1599248" y="251364"/>
                </a:lnTo>
                <a:lnTo>
                  <a:pt x="1602724" y="252571"/>
                </a:lnTo>
                <a:lnTo>
                  <a:pt x="1606201" y="253774"/>
                </a:lnTo>
                <a:lnTo>
                  <a:pt x="1609677" y="254971"/>
                </a:lnTo>
                <a:lnTo>
                  <a:pt x="1613154" y="256164"/>
                </a:lnTo>
                <a:lnTo>
                  <a:pt x="1616631" y="257351"/>
                </a:lnTo>
                <a:lnTo>
                  <a:pt x="1620107" y="258533"/>
                </a:lnTo>
                <a:lnTo>
                  <a:pt x="1623584" y="259710"/>
                </a:lnTo>
                <a:lnTo>
                  <a:pt x="1627061" y="260881"/>
                </a:lnTo>
                <a:lnTo>
                  <a:pt x="1630537" y="262047"/>
                </a:lnTo>
                <a:lnTo>
                  <a:pt x="1634014" y="263208"/>
                </a:lnTo>
                <a:lnTo>
                  <a:pt x="1637490" y="264363"/>
                </a:lnTo>
                <a:lnTo>
                  <a:pt x="1640967" y="265512"/>
                </a:lnTo>
                <a:lnTo>
                  <a:pt x="1644444" y="266655"/>
                </a:lnTo>
                <a:lnTo>
                  <a:pt x="1647920" y="267793"/>
                </a:lnTo>
                <a:lnTo>
                  <a:pt x="1651397" y="268925"/>
                </a:lnTo>
                <a:lnTo>
                  <a:pt x="1654874" y="270051"/>
                </a:lnTo>
                <a:lnTo>
                  <a:pt x="1658350" y="271171"/>
                </a:lnTo>
                <a:lnTo>
                  <a:pt x="1661827" y="272285"/>
                </a:lnTo>
                <a:lnTo>
                  <a:pt x="1665303" y="273393"/>
                </a:lnTo>
                <a:lnTo>
                  <a:pt x="1668780" y="274494"/>
                </a:lnTo>
                <a:lnTo>
                  <a:pt x="1672257" y="275590"/>
                </a:lnTo>
                <a:lnTo>
                  <a:pt x="1675733" y="276679"/>
                </a:lnTo>
                <a:lnTo>
                  <a:pt x="1679210" y="277761"/>
                </a:lnTo>
                <a:lnTo>
                  <a:pt x="1682687" y="278837"/>
                </a:lnTo>
                <a:lnTo>
                  <a:pt x="1686163" y="279907"/>
                </a:lnTo>
                <a:lnTo>
                  <a:pt x="1689640" y="280970"/>
                </a:lnTo>
                <a:lnTo>
                  <a:pt x="1693116" y="282026"/>
                </a:lnTo>
                <a:lnTo>
                  <a:pt x="1696593" y="283076"/>
                </a:lnTo>
                <a:lnTo>
                  <a:pt x="1700070" y="284119"/>
                </a:lnTo>
                <a:lnTo>
                  <a:pt x="1703546" y="285155"/>
                </a:lnTo>
                <a:lnTo>
                  <a:pt x="1707023" y="286184"/>
                </a:lnTo>
                <a:lnTo>
                  <a:pt x="1710500" y="287206"/>
                </a:lnTo>
                <a:lnTo>
                  <a:pt x="1713976" y="288220"/>
                </a:lnTo>
                <a:lnTo>
                  <a:pt x="1717453" y="289228"/>
                </a:lnTo>
                <a:lnTo>
                  <a:pt x="1720929" y="290229"/>
                </a:lnTo>
                <a:lnTo>
                  <a:pt x="1724406" y="291222"/>
                </a:lnTo>
                <a:lnTo>
                  <a:pt x="1727883" y="292209"/>
                </a:lnTo>
                <a:lnTo>
                  <a:pt x="1731359" y="293187"/>
                </a:lnTo>
                <a:lnTo>
                  <a:pt x="1734836" y="294159"/>
                </a:lnTo>
                <a:lnTo>
                  <a:pt x="1738313" y="295122"/>
                </a:lnTo>
                <a:lnTo>
                  <a:pt x="1741789" y="296079"/>
                </a:lnTo>
                <a:lnTo>
                  <a:pt x="1745266" y="297028"/>
                </a:lnTo>
                <a:lnTo>
                  <a:pt x="1748742" y="297969"/>
                </a:lnTo>
                <a:lnTo>
                  <a:pt x="1752219" y="298902"/>
                </a:lnTo>
                <a:lnTo>
                  <a:pt x="1755696" y="299828"/>
                </a:lnTo>
                <a:lnTo>
                  <a:pt x="1759172" y="300745"/>
                </a:lnTo>
                <a:lnTo>
                  <a:pt x="1762649" y="301655"/>
                </a:lnTo>
                <a:lnTo>
                  <a:pt x="1766125" y="302557"/>
                </a:lnTo>
                <a:lnTo>
                  <a:pt x="1769602" y="303451"/>
                </a:lnTo>
                <a:lnTo>
                  <a:pt x="1773079" y="304337"/>
                </a:lnTo>
                <a:lnTo>
                  <a:pt x="1776555" y="305215"/>
                </a:lnTo>
                <a:lnTo>
                  <a:pt x="1780032" y="306084"/>
                </a:lnTo>
                <a:lnTo>
                  <a:pt x="1783509" y="306945"/>
                </a:lnTo>
                <a:lnTo>
                  <a:pt x="1786985" y="307799"/>
                </a:lnTo>
                <a:lnTo>
                  <a:pt x="1790462" y="308643"/>
                </a:lnTo>
                <a:lnTo>
                  <a:pt x="1793939" y="309480"/>
                </a:lnTo>
                <a:lnTo>
                  <a:pt x="1797415" y="310308"/>
                </a:lnTo>
                <a:lnTo>
                  <a:pt x="1800892" y="311127"/>
                </a:lnTo>
                <a:lnTo>
                  <a:pt x="1804368" y="311938"/>
                </a:lnTo>
                <a:lnTo>
                  <a:pt x="1807845" y="312741"/>
                </a:lnTo>
                <a:lnTo>
                  <a:pt x="1811322" y="313534"/>
                </a:lnTo>
                <a:lnTo>
                  <a:pt x="1814798" y="314319"/>
                </a:lnTo>
                <a:lnTo>
                  <a:pt x="1818275" y="315096"/>
                </a:lnTo>
                <a:lnTo>
                  <a:pt x="1821752" y="315863"/>
                </a:lnTo>
                <a:lnTo>
                  <a:pt x="1825228" y="316622"/>
                </a:lnTo>
                <a:lnTo>
                  <a:pt x="1828705" y="317372"/>
                </a:lnTo>
                <a:lnTo>
                  <a:pt x="1832181" y="318113"/>
                </a:lnTo>
                <a:lnTo>
                  <a:pt x="1835658" y="318845"/>
                </a:lnTo>
                <a:lnTo>
                  <a:pt x="1839135" y="319568"/>
                </a:lnTo>
                <a:lnTo>
                  <a:pt x="1842611" y="320282"/>
                </a:lnTo>
                <a:lnTo>
                  <a:pt x="1846088" y="320987"/>
                </a:lnTo>
                <a:lnTo>
                  <a:pt x="1849565" y="321683"/>
                </a:lnTo>
                <a:lnTo>
                  <a:pt x="1853041" y="322369"/>
                </a:lnTo>
                <a:lnTo>
                  <a:pt x="1856518" y="323047"/>
                </a:lnTo>
                <a:lnTo>
                  <a:pt x="1859994" y="323715"/>
                </a:lnTo>
                <a:lnTo>
                  <a:pt x="1863471" y="324374"/>
                </a:lnTo>
                <a:lnTo>
                  <a:pt x="1866948" y="325023"/>
                </a:lnTo>
                <a:lnTo>
                  <a:pt x="1870424" y="325663"/>
                </a:lnTo>
                <a:lnTo>
                  <a:pt x="1873901" y="326294"/>
                </a:lnTo>
                <a:lnTo>
                  <a:pt x="1877378" y="326915"/>
                </a:lnTo>
                <a:lnTo>
                  <a:pt x="1880854" y="327527"/>
                </a:lnTo>
                <a:lnTo>
                  <a:pt x="1884331" y="328129"/>
                </a:lnTo>
                <a:lnTo>
                  <a:pt x="1887807" y="328721"/>
                </a:lnTo>
                <a:lnTo>
                  <a:pt x="1891284" y="329304"/>
                </a:lnTo>
                <a:lnTo>
                  <a:pt x="1894761" y="329877"/>
                </a:lnTo>
                <a:lnTo>
                  <a:pt x="1898237" y="330441"/>
                </a:lnTo>
                <a:lnTo>
                  <a:pt x="1901714" y="330995"/>
                </a:lnTo>
                <a:lnTo>
                  <a:pt x="1905190" y="331539"/>
                </a:lnTo>
                <a:lnTo>
                  <a:pt x="1908667" y="332073"/>
                </a:lnTo>
                <a:lnTo>
                  <a:pt x="1912144" y="332598"/>
                </a:lnTo>
                <a:lnTo>
                  <a:pt x="1915620" y="333113"/>
                </a:lnTo>
                <a:lnTo>
                  <a:pt x="1919097" y="333617"/>
                </a:lnTo>
                <a:lnTo>
                  <a:pt x="1922574" y="334112"/>
                </a:lnTo>
                <a:lnTo>
                  <a:pt x="1926050" y="334597"/>
                </a:lnTo>
                <a:lnTo>
                  <a:pt x="1929527" y="335072"/>
                </a:lnTo>
                <a:lnTo>
                  <a:pt x="1933004" y="335537"/>
                </a:lnTo>
                <a:lnTo>
                  <a:pt x="1936480" y="335992"/>
                </a:lnTo>
                <a:lnTo>
                  <a:pt x="1939957" y="336437"/>
                </a:lnTo>
                <a:lnTo>
                  <a:pt x="1943433" y="336872"/>
                </a:lnTo>
                <a:lnTo>
                  <a:pt x="1946910" y="337296"/>
                </a:lnTo>
                <a:lnTo>
                  <a:pt x="1950387" y="337711"/>
                </a:lnTo>
                <a:lnTo>
                  <a:pt x="1953863" y="338115"/>
                </a:lnTo>
                <a:lnTo>
                  <a:pt x="1957340" y="338509"/>
                </a:lnTo>
                <a:lnTo>
                  <a:pt x="1960817" y="338893"/>
                </a:lnTo>
                <a:lnTo>
                  <a:pt x="1964293" y="339267"/>
                </a:lnTo>
                <a:lnTo>
                  <a:pt x="1967770" y="339630"/>
                </a:lnTo>
                <a:lnTo>
                  <a:pt x="1971246" y="339983"/>
                </a:lnTo>
                <a:lnTo>
                  <a:pt x="1974723" y="340326"/>
                </a:lnTo>
                <a:lnTo>
                  <a:pt x="1978200" y="340659"/>
                </a:lnTo>
                <a:lnTo>
                  <a:pt x="1981676" y="340981"/>
                </a:lnTo>
                <a:lnTo>
                  <a:pt x="1985153" y="341293"/>
                </a:lnTo>
                <a:lnTo>
                  <a:pt x="1988629" y="341594"/>
                </a:lnTo>
                <a:lnTo>
                  <a:pt x="1992106" y="341885"/>
                </a:lnTo>
                <a:lnTo>
                  <a:pt x="1995583" y="342166"/>
                </a:lnTo>
                <a:lnTo>
                  <a:pt x="1999059" y="342436"/>
                </a:lnTo>
                <a:lnTo>
                  <a:pt x="2002536" y="342695"/>
                </a:lnTo>
                <a:lnTo>
                  <a:pt x="2006013" y="342945"/>
                </a:lnTo>
                <a:lnTo>
                  <a:pt x="2009489" y="343183"/>
                </a:lnTo>
                <a:lnTo>
                  <a:pt x="2012966" y="343411"/>
                </a:lnTo>
                <a:lnTo>
                  <a:pt x="2016443" y="343629"/>
                </a:lnTo>
                <a:lnTo>
                  <a:pt x="2019919" y="343836"/>
                </a:lnTo>
                <a:lnTo>
                  <a:pt x="2023396" y="344033"/>
                </a:lnTo>
                <a:lnTo>
                  <a:pt x="2026872" y="344219"/>
                </a:lnTo>
                <a:lnTo>
                  <a:pt x="2030349" y="344394"/>
                </a:lnTo>
                <a:lnTo>
                  <a:pt x="2033826" y="344559"/>
                </a:lnTo>
                <a:lnTo>
                  <a:pt x="2037302" y="344713"/>
                </a:lnTo>
                <a:lnTo>
                  <a:pt x="2040779" y="344857"/>
                </a:lnTo>
                <a:lnTo>
                  <a:pt x="2044256" y="344990"/>
                </a:lnTo>
                <a:lnTo>
                  <a:pt x="2047732" y="345113"/>
                </a:lnTo>
                <a:lnTo>
                  <a:pt x="2051209" y="345225"/>
                </a:lnTo>
                <a:lnTo>
                  <a:pt x="2054685" y="345326"/>
                </a:lnTo>
                <a:lnTo>
                  <a:pt x="2058162" y="345416"/>
                </a:lnTo>
                <a:lnTo>
                  <a:pt x="2061639" y="345496"/>
                </a:lnTo>
                <a:lnTo>
                  <a:pt x="2065115" y="345566"/>
                </a:lnTo>
                <a:lnTo>
                  <a:pt x="2068592" y="345624"/>
                </a:lnTo>
                <a:lnTo>
                  <a:pt x="2072068" y="345672"/>
                </a:lnTo>
                <a:lnTo>
                  <a:pt x="2075545" y="345710"/>
                </a:lnTo>
                <a:lnTo>
                  <a:pt x="2079022" y="345736"/>
                </a:lnTo>
                <a:lnTo>
                  <a:pt x="2082498" y="345752"/>
                </a:lnTo>
                <a:lnTo>
                  <a:pt x="2085975" y="345757"/>
                </a:lnTo>
                <a:lnTo>
                  <a:pt x="2089452" y="345752"/>
                </a:lnTo>
                <a:lnTo>
                  <a:pt x="2092928" y="345736"/>
                </a:lnTo>
                <a:lnTo>
                  <a:pt x="2096405" y="345710"/>
                </a:lnTo>
                <a:lnTo>
                  <a:pt x="2099882" y="345672"/>
                </a:lnTo>
                <a:lnTo>
                  <a:pt x="2103358" y="345624"/>
                </a:lnTo>
                <a:lnTo>
                  <a:pt x="2106835" y="345566"/>
                </a:lnTo>
                <a:lnTo>
                  <a:pt x="2110311" y="345496"/>
                </a:lnTo>
                <a:lnTo>
                  <a:pt x="2113788" y="345416"/>
                </a:lnTo>
                <a:lnTo>
                  <a:pt x="2117265" y="345326"/>
                </a:lnTo>
                <a:lnTo>
                  <a:pt x="2120741" y="345225"/>
                </a:lnTo>
                <a:lnTo>
                  <a:pt x="2124218" y="345113"/>
                </a:lnTo>
                <a:lnTo>
                  <a:pt x="2127695" y="344990"/>
                </a:lnTo>
                <a:lnTo>
                  <a:pt x="2131171" y="344857"/>
                </a:lnTo>
                <a:lnTo>
                  <a:pt x="2134648" y="344713"/>
                </a:lnTo>
                <a:lnTo>
                  <a:pt x="2138124" y="344559"/>
                </a:lnTo>
                <a:lnTo>
                  <a:pt x="2141601" y="344394"/>
                </a:lnTo>
                <a:lnTo>
                  <a:pt x="2145078" y="344219"/>
                </a:lnTo>
                <a:lnTo>
                  <a:pt x="2148554" y="344033"/>
                </a:lnTo>
                <a:lnTo>
                  <a:pt x="2152031" y="343836"/>
                </a:lnTo>
                <a:lnTo>
                  <a:pt x="2155508" y="343629"/>
                </a:lnTo>
                <a:lnTo>
                  <a:pt x="2158984" y="343411"/>
                </a:lnTo>
                <a:lnTo>
                  <a:pt x="2162461" y="343183"/>
                </a:lnTo>
                <a:lnTo>
                  <a:pt x="2165937" y="342945"/>
                </a:lnTo>
                <a:lnTo>
                  <a:pt x="2169414" y="342695"/>
                </a:lnTo>
                <a:lnTo>
                  <a:pt x="2172891" y="342436"/>
                </a:lnTo>
                <a:lnTo>
                  <a:pt x="2176367" y="342166"/>
                </a:lnTo>
                <a:lnTo>
                  <a:pt x="2179844" y="341885"/>
                </a:lnTo>
                <a:lnTo>
                  <a:pt x="2183321" y="341594"/>
                </a:lnTo>
                <a:lnTo>
                  <a:pt x="2186797" y="341293"/>
                </a:lnTo>
                <a:lnTo>
                  <a:pt x="2190274" y="340981"/>
                </a:lnTo>
                <a:lnTo>
                  <a:pt x="2193750" y="340659"/>
                </a:lnTo>
                <a:lnTo>
                  <a:pt x="2197227" y="340326"/>
                </a:lnTo>
                <a:lnTo>
                  <a:pt x="2200704" y="339983"/>
                </a:lnTo>
                <a:lnTo>
                  <a:pt x="2204180" y="339630"/>
                </a:lnTo>
                <a:lnTo>
                  <a:pt x="2207657" y="339267"/>
                </a:lnTo>
                <a:lnTo>
                  <a:pt x="2211134" y="338893"/>
                </a:lnTo>
                <a:lnTo>
                  <a:pt x="2214610" y="338509"/>
                </a:lnTo>
                <a:lnTo>
                  <a:pt x="2218087" y="338115"/>
                </a:lnTo>
                <a:lnTo>
                  <a:pt x="2221563" y="337711"/>
                </a:lnTo>
                <a:lnTo>
                  <a:pt x="2225040" y="337296"/>
                </a:lnTo>
                <a:lnTo>
                  <a:pt x="2228517" y="336872"/>
                </a:lnTo>
                <a:lnTo>
                  <a:pt x="2231993" y="336437"/>
                </a:lnTo>
                <a:lnTo>
                  <a:pt x="2235470" y="335992"/>
                </a:lnTo>
                <a:lnTo>
                  <a:pt x="2238947" y="335537"/>
                </a:lnTo>
                <a:lnTo>
                  <a:pt x="2242423" y="335072"/>
                </a:lnTo>
                <a:lnTo>
                  <a:pt x="2245900" y="334597"/>
                </a:lnTo>
                <a:lnTo>
                  <a:pt x="2249376" y="334112"/>
                </a:lnTo>
                <a:lnTo>
                  <a:pt x="2252853" y="333617"/>
                </a:lnTo>
                <a:lnTo>
                  <a:pt x="2256330" y="333113"/>
                </a:lnTo>
                <a:lnTo>
                  <a:pt x="2259806" y="332598"/>
                </a:lnTo>
                <a:lnTo>
                  <a:pt x="2263283" y="332073"/>
                </a:lnTo>
                <a:lnTo>
                  <a:pt x="2266760" y="331539"/>
                </a:lnTo>
                <a:lnTo>
                  <a:pt x="2270236" y="330995"/>
                </a:lnTo>
                <a:lnTo>
                  <a:pt x="2273713" y="330441"/>
                </a:lnTo>
                <a:lnTo>
                  <a:pt x="2277189" y="329877"/>
                </a:lnTo>
                <a:lnTo>
                  <a:pt x="2280666" y="329304"/>
                </a:lnTo>
                <a:lnTo>
                  <a:pt x="2284143" y="328721"/>
                </a:lnTo>
                <a:lnTo>
                  <a:pt x="2287619" y="328129"/>
                </a:lnTo>
                <a:lnTo>
                  <a:pt x="2291096" y="327527"/>
                </a:lnTo>
                <a:lnTo>
                  <a:pt x="2294573" y="326915"/>
                </a:lnTo>
                <a:lnTo>
                  <a:pt x="2298049" y="326294"/>
                </a:lnTo>
                <a:lnTo>
                  <a:pt x="2301526" y="325663"/>
                </a:lnTo>
                <a:lnTo>
                  <a:pt x="2305002" y="325023"/>
                </a:lnTo>
                <a:lnTo>
                  <a:pt x="2308479" y="324374"/>
                </a:lnTo>
                <a:lnTo>
                  <a:pt x="2311956" y="323715"/>
                </a:lnTo>
                <a:lnTo>
                  <a:pt x="2315432" y="323047"/>
                </a:lnTo>
                <a:lnTo>
                  <a:pt x="2318909" y="322369"/>
                </a:lnTo>
                <a:lnTo>
                  <a:pt x="2322386" y="321683"/>
                </a:lnTo>
                <a:lnTo>
                  <a:pt x="2325862" y="320987"/>
                </a:lnTo>
                <a:lnTo>
                  <a:pt x="2329339" y="320282"/>
                </a:lnTo>
                <a:lnTo>
                  <a:pt x="2332815" y="319568"/>
                </a:lnTo>
                <a:lnTo>
                  <a:pt x="2336292" y="318845"/>
                </a:lnTo>
                <a:lnTo>
                  <a:pt x="2339769" y="318113"/>
                </a:lnTo>
                <a:lnTo>
                  <a:pt x="2343245" y="317372"/>
                </a:lnTo>
                <a:lnTo>
                  <a:pt x="2346722" y="316622"/>
                </a:lnTo>
                <a:lnTo>
                  <a:pt x="2350199" y="315863"/>
                </a:lnTo>
                <a:lnTo>
                  <a:pt x="2353675" y="315096"/>
                </a:lnTo>
                <a:lnTo>
                  <a:pt x="2357152" y="314319"/>
                </a:lnTo>
                <a:lnTo>
                  <a:pt x="2360628" y="313534"/>
                </a:lnTo>
                <a:lnTo>
                  <a:pt x="2364105" y="312741"/>
                </a:lnTo>
                <a:lnTo>
                  <a:pt x="2367582" y="311938"/>
                </a:lnTo>
                <a:lnTo>
                  <a:pt x="2371058" y="311127"/>
                </a:lnTo>
                <a:lnTo>
                  <a:pt x="2374535" y="310308"/>
                </a:lnTo>
                <a:lnTo>
                  <a:pt x="2378011" y="309480"/>
                </a:lnTo>
                <a:lnTo>
                  <a:pt x="2381488" y="308643"/>
                </a:lnTo>
                <a:lnTo>
                  <a:pt x="2384965" y="307799"/>
                </a:lnTo>
                <a:lnTo>
                  <a:pt x="2388441" y="306945"/>
                </a:lnTo>
                <a:lnTo>
                  <a:pt x="2391918" y="306084"/>
                </a:lnTo>
                <a:lnTo>
                  <a:pt x="2395395" y="305215"/>
                </a:lnTo>
                <a:lnTo>
                  <a:pt x="2398871" y="304337"/>
                </a:lnTo>
                <a:lnTo>
                  <a:pt x="2402348" y="303451"/>
                </a:lnTo>
                <a:lnTo>
                  <a:pt x="2405825" y="302557"/>
                </a:lnTo>
                <a:lnTo>
                  <a:pt x="2409301" y="301655"/>
                </a:lnTo>
                <a:lnTo>
                  <a:pt x="2412778" y="300745"/>
                </a:lnTo>
                <a:lnTo>
                  <a:pt x="2416254" y="299828"/>
                </a:lnTo>
                <a:lnTo>
                  <a:pt x="2419731" y="298902"/>
                </a:lnTo>
                <a:lnTo>
                  <a:pt x="2423208" y="297969"/>
                </a:lnTo>
                <a:lnTo>
                  <a:pt x="2426684" y="297028"/>
                </a:lnTo>
                <a:lnTo>
                  <a:pt x="2430161" y="296079"/>
                </a:lnTo>
                <a:lnTo>
                  <a:pt x="2433638" y="295122"/>
                </a:lnTo>
                <a:lnTo>
                  <a:pt x="2437114" y="294159"/>
                </a:lnTo>
                <a:lnTo>
                  <a:pt x="2440591" y="293187"/>
                </a:lnTo>
                <a:lnTo>
                  <a:pt x="2444067" y="292209"/>
                </a:lnTo>
                <a:lnTo>
                  <a:pt x="2447544" y="291222"/>
                </a:lnTo>
                <a:lnTo>
                  <a:pt x="2451021" y="290229"/>
                </a:lnTo>
                <a:lnTo>
                  <a:pt x="2454497" y="289228"/>
                </a:lnTo>
                <a:lnTo>
                  <a:pt x="2457974" y="288220"/>
                </a:lnTo>
                <a:lnTo>
                  <a:pt x="2461451" y="287206"/>
                </a:lnTo>
                <a:lnTo>
                  <a:pt x="2464927" y="286184"/>
                </a:lnTo>
                <a:lnTo>
                  <a:pt x="2468404" y="285155"/>
                </a:lnTo>
                <a:lnTo>
                  <a:pt x="2471880" y="284119"/>
                </a:lnTo>
                <a:lnTo>
                  <a:pt x="2475357" y="283076"/>
                </a:lnTo>
                <a:lnTo>
                  <a:pt x="2478834" y="282026"/>
                </a:lnTo>
                <a:lnTo>
                  <a:pt x="2482310" y="280970"/>
                </a:lnTo>
                <a:lnTo>
                  <a:pt x="2485787" y="279907"/>
                </a:lnTo>
                <a:lnTo>
                  <a:pt x="2489263" y="278837"/>
                </a:lnTo>
                <a:lnTo>
                  <a:pt x="2492740" y="277761"/>
                </a:lnTo>
                <a:lnTo>
                  <a:pt x="2496217" y="276679"/>
                </a:lnTo>
                <a:lnTo>
                  <a:pt x="2499693" y="275590"/>
                </a:lnTo>
                <a:lnTo>
                  <a:pt x="2503170" y="274494"/>
                </a:lnTo>
                <a:lnTo>
                  <a:pt x="2506647" y="273393"/>
                </a:lnTo>
                <a:lnTo>
                  <a:pt x="2510123" y="272285"/>
                </a:lnTo>
                <a:lnTo>
                  <a:pt x="2513600" y="271171"/>
                </a:lnTo>
                <a:lnTo>
                  <a:pt x="2517077" y="270051"/>
                </a:lnTo>
                <a:lnTo>
                  <a:pt x="2520553" y="268925"/>
                </a:lnTo>
                <a:lnTo>
                  <a:pt x="2524030" y="267793"/>
                </a:lnTo>
                <a:lnTo>
                  <a:pt x="2527506" y="266655"/>
                </a:lnTo>
                <a:lnTo>
                  <a:pt x="2530983" y="265512"/>
                </a:lnTo>
                <a:lnTo>
                  <a:pt x="2534460" y="264363"/>
                </a:lnTo>
                <a:lnTo>
                  <a:pt x="2537936" y="263208"/>
                </a:lnTo>
                <a:lnTo>
                  <a:pt x="2541413" y="262047"/>
                </a:lnTo>
                <a:lnTo>
                  <a:pt x="2544890" y="260881"/>
                </a:lnTo>
                <a:lnTo>
                  <a:pt x="2548366" y="259710"/>
                </a:lnTo>
                <a:lnTo>
                  <a:pt x="2551843" y="258533"/>
                </a:lnTo>
                <a:lnTo>
                  <a:pt x="2555319" y="257351"/>
                </a:lnTo>
                <a:lnTo>
                  <a:pt x="2558796" y="256164"/>
                </a:lnTo>
                <a:lnTo>
                  <a:pt x="2562273" y="254971"/>
                </a:lnTo>
                <a:lnTo>
                  <a:pt x="2565749" y="253774"/>
                </a:lnTo>
                <a:lnTo>
                  <a:pt x="2569226" y="252571"/>
                </a:lnTo>
                <a:lnTo>
                  <a:pt x="2572703" y="251364"/>
                </a:lnTo>
                <a:lnTo>
                  <a:pt x="2576179" y="250152"/>
                </a:lnTo>
                <a:lnTo>
                  <a:pt x="2579656" y="248935"/>
                </a:lnTo>
                <a:lnTo>
                  <a:pt x="2583132" y="247713"/>
                </a:lnTo>
                <a:lnTo>
                  <a:pt x="2586609" y="246487"/>
                </a:lnTo>
                <a:lnTo>
                  <a:pt x="2590086" y="245256"/>
                </a:lnTo>
                <a:lnTo>
                  <a:pt x="2593562" y="244021"/>
                </a:lnTo>
                <a:lnTo>
                  <a:pt x="2597039" y="242781"/>
                </a:lnTo>
                <a:lnTo>
                  <a:pt x="2600516" y="241537"/>
                </a:lnTo>
                <a:lnTo>
                  <a:pt x="2603992" y="240289"/>
                </a:lnTo>
                <a:lnTo>
                  <a:pt x="2607469" y="239037"/>
                </a:lnTo>
                <a:lnTo>
                  <a:pt x="2610945" y="237780"/>
                </a:lnTo>
                <a:lnTo>
                  <a:pt x="2614422" y="236520"/>
                </a:lnTo>
                <a:lnTo>
                  <a:pt x="2617899" y="235255"/>
                </a:lnTo>
                <a:lnTo>
                  <a:pt x="2621375" y="233987"/>
                </a:lnTo>
                <a:lnTo>
                  <a:pt x="2624852" y="232715"/>
                </a:lnTo>
                <a:lnTo>
                  <a:pt x="2628329" y="231439"/>
                </a:lnTo>
                <a:lnTo>
                  <a:pt x="2631805" y="230160"/>
                </a:lnTo>
                <a:lnTo>
                  <a:pt x="2635282" y="228877"/>
                </a:lnTo>
                <a:lnTo>
                  <a:pt x="2638758" y="227591"/>
                </a:lnTo>
                <a:lnTo>
                  <a:pt x="2642235" y="226301"/>
                </a:lnTo>
                <a:lnTo>
                  <a:pt x="2645712" y="225008"/>
                </a:lnTo>
                <a:lnTo>
                  <a:pt x="2649188" y="223712"/>
                </a:lnTo>
                <a:lnTo>
                  <a:pt x="2652665" y="222413"/>
                </a:lnTo>
                <a:lnTo>
                  <a:pt x="2656142" y="221110"/>
                </a:lnTo>
                <a:lnTo>
                  <a:pt x="2659618" y="219805"/>
                </a:lnTo>
                <a:lnTo>
                  <a:pt x="2663095" y="218497"/>
                </a:lnTo>
                <a:lnTo>
                  <a:pt x="2666571" y="217186"/>
                </a:lnTo>
                <a:lnTo>
                  <a:pt x="2670048" y="215872"/>
                </a:lnTo>
                <a:lnTo>
                  <a:pt x="2673525" y="214556"/>
                </a:lnTo>
                <a:lnTo>
                  <a:pt x="2677001" y="213236"/>
                </a:lnTo>
                <a:lnTo>
                  <a:pt x="2680478" y="211915"/>
                </a:lnTo>
                <a:lnTo>
                  <a:pt x="2683954" y="210591"/>
                </a:lnTo>
                <a:lnTo>
                  <a:pt x="2687431" y="209265"/>
                </a:lnTo>
                <a:lnTo>
                  <a:pt x="2690908" y="207936"/>
                </a:lnTo>
                <a:lnTo>
                  <a:pt x="2694384" y="206606"/>
                </a:lnTo>
                <a:lnTo>
                  <a:pt x="2697861" y="205273"/>
                </a:lnTo>
                <a:lnTo>
                  <a:pt x="2701338" y="203938"/>
                </a:lnTo>
                <a:lnTo>
                  <a:pt x="2704814" y="202602"/>
                </a:lnTo>
                <a:lnTo>
                  <a:pt x="2708291" y="201263"/>
                </a:lnTo>
                <a:lnTo>
                  <a:pt x="2711768" y="199923"/>
                </a:lnTo>
                <a:lnTo>
                  <a:pt x="2715244" y="198581"/>
                </a:lnTo>
                <a:lnTo>
                  <a:pt x="2718721" y="197238"/>
                </a:lnTo>
                <a:lnTo>
                  <a:pt x="2722197" y="195893"/>
                </a:lnTo>
                <a:lnTo>
                  <a:pt x="2725674" y="194546"/>
                </a:lnTo>
                <a:lnTo>
                  <a:pt x="2729151" y="193198"/>
                </a:lnTo>
                <a:lnTo>
                  <a:pt x="2732627" y="191849"/>
                </a:lnTo>
                <a:lnTo>
                  <a:pt x="2736104" y="190499"/>
                </a:lnTo>
                <a:lnTo>
                  <a:pt x="2739581" y="189148"/>
                </a:lnTo>
                <a:lnTo>
                  <a:pt x="2743057" y="187796"/>
                </a:lnTo>
                <a:lnTo>
                  <a:pt x="2746534" y="186443"/>
                </a:lnTo>
                <a:lnTo>
                  <a:pt x="2750010" y="185089"/>
                </a:lnTo>
                <a:lnTo>
                  <a:pt x="2753487" y="183734"/>
                </a:lnTo>
                <a:lnTo>
                  <a:pt x="2756964" y="182378"/>
                </a:lnTo>
                <a:lnTo>
                  <a:pt x="2760440" y="181022"/>
                </a:lnTo>
                <a:lnTo>
                  <a:pt x="2763917" y="179666"/>
                </a:lnTo>
                <a:lnTo>
                  <a:pt x="2767394" y="178309"/>
                </a:lnTo>
                <a:lnTo>
                  <a:pt x="2770870" y="176952"/>
                </a:lnTo>
                <a:lnTo>
                  <a:pt x="2774347" y="175594"/>
                </a:lnTo>
                <a:lnTo>
                  <a:pt x="2777823" y="174237"/>
                </a:lnTo>
                <a:lnTo>
                  <a:pt x="2781300" y="172879"/>
                </a:lnTo>
              </a:path>
            </a:pathLst>
          </a:custGeom>
          <a:noFill xmlns:a="http://schemas.openxmlformats.org/drawingml/2006/main"/>
          <a:ln xmlns:a="http://schemas.openxmlformats.org/drawingml/2006/main" w="15240">
            <a:solidFill>
              <a:srgbClr val="202020"/>
            </a:solidFill>
          </a:ln>
        </p:spPr>
      </p:sp>
      <p:sp>
        <p:nvSpPr>
          <p:cNvPr id="12" name="!!am-am-carrier-g0-r0-level">
            <a:extLst xmlns:a="http://schemas.openxmlformats.org/drawingml/2006/main">
              <a:ext uri="{FF2B5EF4-FFF2-40B4-BE49-F238E27FC236}">
                <a16:creationId xmlns:a16="http://schemas.microsoft.com/office/drawing/2014/main" id="{978F60F0-92F8-4F90-BF04-93A9ABB55859}"/>
              </a:ext>
            </a:extLst>
          </p:cNvPr>
          <p:cNvSpPr>
            <a:spLocks xmlns:a="http://schemas.openxmlformats.org/drawingml/2006/main" noGrp="1"/>
          </p:cNvSpPr>
          <p:nvPr/>
        </p:nvSpPr>
        <p:spPr>
          <a:xfrm xmlns:a="http://schemas.openxmlformats.org/drawingml/2006/main">
            <a:off x="571500" y="2921794"/>
            <a:ext cx="2781300" cy="9525"/>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13" name="!!am-am-carrier-arrow-line">
            <a:extLst xmlns:a="http://schemas.openxmlformats.org/drawingml/2006/main">
              <a:ext uri="{FF2B5EF4-FFF2-40B4-BE49-F238E27FC236}">
                <a16:creationId xmlns:a16="http://schemas.microsoft.com/office/drawing/2014/main" id="{F1379694-1295-4A18-899F-745B4B0C680D}"/>
              </a:ext>
            </a:extLst>
          </p:cNvPr>
          <p:cNvSpPr>
            <a:spLocks xmlns:a="http://schemas.openxmlformats.org/drawingml/2006/main" noGrp="1"/>
          </p:cNvSpPr>
          <p:nvPr/>
        </p:nvSpPr>
        <p:spPr>
          <a:xfrm xmlns:a="http://schemas.openxmlformats.org/drawingml/2006/main">
            <a:off x="3581400" y="24098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am-am-carrier-arrow-head">
            <a:extLst xmlns:a="http://schemas.openxmlformats.org/drawingml/2006/main">
              <a:ext uri="{FF2B5EF4-FFF2-40B4-BE49-F238E27FC236}">
                <a16:creationId xmlns:a16="http://schemas.microsoft.com/office/drawing/2014/main" id="{1C1E209D-F0F2-4FEA-8CAC-95F6AF31A155}"/>
              </a:ext>
            </a:extLst>
          </p:cNvPr>
          <p:cNvSpPr>
            <a:spLocks xmlns:a="http://schemas.openxmlformats.org/drawingml/2006/main" noGrp="1"/>
          </p:cNvSpPr>
          <p:nvPr/>
        </p:nvSpPr>
        <p:spPr>
          <a:xfrm xmlns:a="http://schemas.openxmlformats.org/drawingml/2006/main" rot="5400000">
            <a:off x="4229100" y="23622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am-am-carrier-g1-r0-wave">
            <a:extLst xmlns:a="http://schemas.openxmlformats.org/drawingml/2006/main">
              <a:ext uri="{FF2B5EF4-FFF2-40B4-BE49-F238E27FC236}">
                <a16:creationId xmlns:a16="http://schemas.microsoft.com/office/drawing/2014/main" id="{C4AAE973-E302-49F7-BD19-E8898C0A7638}"/>
              </a:ext>
            </a:extLst>
          </p:cNvPr>
          <p:cNvSpPr>
            <a:spLocks xmlns:a="http://schemas.openxmlformats.org/drawingml/2006/main" noGrp="1"/>
          </p:cNvSpPr>
          <p:nvPr/>
        </p:nvSpPr>
        <p:spPr>
          <a:xfrm xmlns:a="http://schemas.openxmlformats.org/drawingml/2006/main">
            <a:off x="4572000" y="2748915"/>
            <a:ext cx="2781300" cy="918698"/>
          </a:xfrm>
          <a:custGeom xmlns:a="http://schemas.openxmlformats.org/drawingml/2006/main">
            <a:pathLst>
              <a:path w="2781300" h="918698">
                <a:moveTo>
                  <a:pt x="0" y="172879"/>
                </a:moveTo>
                <a:lnTo>
                  <a:pt x="3477" y="173804"/>
                </a:lnTo>
                <a:lnTo>
                  <a:pt x="6953" y="179301"/>
                </a:lnTo>
                <a:lnTo>
                  <a:pt x="10430" y="189325"/>
                </a:lnTo>
                <a:lnTo>
                  <a:pt x="13906" y="203760"/>
                </a:lnTo>
                <a:lnTo>
                  <a:pt x="17383" y="222416"/>
                </a:lnTo>
                <a:lnTo>
                  <a:pt x="20860" y="245035"/>
                </a:lnTo>
                <a:lnTo>
                  <a:pt x="24336" y="271293"/>
                </a:lnTo>
                <a:lnTo>
                  <a:pt x="27813" y="300805"/>
                </a:lnTo>
                <a:lnTo>
                  <a:pt x="31290" y="333131"/>
                </a:lnTo>
                <a:lnTo>
                  <a:pt x="34766" y="367781"/>
                </a:lnTo>
                <a:lnTo>
                  <a:pt x="38243" y="404224"/>
                </a:lnTo>
                <a:lnTo>
                  <a:pt x="41719" y="441897"/>
                </a:lnTo>
                <a:lnTo>
                  <a:pt x="45196" y="480208"/>
                </a:lnTo>
                <a:lnTo>
                  <a:pt x="48673" y="518555"/>
                </a:lnTo>
                <a:lnTo>
                  <a:pt x="52149" y="556327"/>
                </a:lnTo>
                <a:lnTo>
                  <a:pt x="55626" y="592916"/>
                </a:lnTo>
                <a:lnTo>
                  <a:pt x="59103" y="627730"/>
                </a:lnTo>
                <a:lnTo>
                  <a:pt x="62579" y="660199"/>
                </a:lnTo>
                <a:lnTo>
                  <a:pt x="66056" y="689785"/>
                </a:lnTo>
                <a:lnTo>
                  <a:pt x="69533" y="715992"/>
                </a:lnTo>
                <a:lnTo>
                  <a:pt x="73009" y="738375"/>
                </a:lnTo>
                <a:lnTo>
                  <a:pt x="76486" y="756543"/>
                </a:lnTo>
                <a:lnTo>
                  <a:pt x="79962" y="770173"/>
                </a:lnTo>
                <a:lnTo>
                  <a:pt x="83439" y="779008"/>
                </a:lnTo>
                <a:lnTo>
                  <a:pt x="86916" y="782868"/>
                </a:lnTo>
                <a:lnTo>
                  <a:pt x="90392" y="781650"/>
                </a:lnTo>
                <a:lnTo>
                  <a:pt x="93869" y="775332"/>
                </a:lnTo>
                <a:lnTo>
                  <a:pt x="97346" y="763972"/>
                </a:lnTo>
                <a:lnTo>
                  <a:pt x="100822" y="747709"/>
                </a:lnTo>
                <a:lnTo>
                  <a:pt x="104299" y="726763"/>
                </a:lnTo>
                <a:lnTo>
                  <a:pt x="107775" y="701430"/>
                </a:lnTo>
                <a:lnTo>
                  <a:pt x="111252" y="672077"/>
                </a:lnTo>
                <a:lnTo>
                  <a:pt x="114729" y="639139"/>
                </a:lnTo>
                <a:lnTo>
                  <a:pt x="118205" y="603114"/>
                </a:lnTo>
                <a:lnTo>
                  <a:pt x="121682" y="564548"/>
                </a:lnTo>
                <a:lnTo>
                  <a:pt x="125158" y="524038"/>
                </a:lnTo>
                <a:lnTo>
                  <a:pt x="128635" y="482212"/>
                </a:lnTo>
                <a:lnTo>
                  <a:pt x="132112" y="439726"/>
                </a:lnTo>
                <a:lnTo>
                  <a:pt x="135588" y="397251"/>
                </a:lnTo>
                <a:lnTo>
                  <a:pt x="139065" y="355464"/>
                </a:lnTo>
                <a:lnTo>
                  <a:pt x="142542" y="315034"/>
                </a:lnTo>
                <a:lnTo>
                  <a:pt x="146018" y="276616"/>
                </a:lnTo>
                <a:lnTo>
                  <a:pt x="149495" y="240836"/>
                </a:lnTo>
                <a:lnTo>
                  <a:pt x="152972" y="208283"/>
                </a:lnTo>
                <a:lnTo>
                  <a:pt x="156448" y="179498"/>
                </a:lnTo>
                <a:lnTo>
                  <a:pt x="159925" y="154969"/>
                </a:lnTo>
                <a:lnTo>
                  <a:pt x="163401" y="135116"/>
                </a:lnTo>
                <a:lnTo>
                  <a:pt x="166878" y="120289"/>
                </a:lnTo>
                <a:lnTo>
                  <a:pt x="170355" y="110761"/>
                </a:lnTo>
                <a:lnTo>
                  <a:pt x="173831" y="106721"/>
                </a:lnTo>
                <a:lnTo>
                  <a:pt x="177308" y="108272"/>
                </a:lnTo>
                <a:lnTo>
                  <a:pt x="180785" y="115430"/>
                </a:lnTo>
                <a:lnTo>
                  <a:pt x="184261" y="128119"/>
                </a:lnTo>
                <a:lnTo>
                  <a:pt x="187738" y="146176"/>
                </a:lnTo>
                <a:lnTo>
                  <a:pt x="191214" y="169352"/>
                </a:lnTo>
                <a:lnTo>
                  <a:pt x="194691" y="197313"/>
                </a:lnTo>
                <a:lnTo>
                  <a:pt x="198168" y="229647"/>
                </a:lnTo>
                <a:lnTo>
                  <a:pt x="201644" y="265869"/>
                </a:lnTo>
                <a:lnTo>
                  <a:pt x="205121" y="305428"/>
                </a:lnTo>
                <a:lnTo>
                  <a:pt x="208597" y="347719"/>
                </a:lnTo>
                <a:lnTo>
                  <a:pt x="212074" y="392087"/>
                </a:lnTo>
                <a:lnTo>
                  <a:pt x="215551" y="437839"/>
                </a:lnTo>
                <a:lnTo>
                  <a:pt x="219027" y="484257"/>
                </a:lnTo>
                <a:lnTo>
                  <a:pt x="222504" y="530606"/>
                </a:lnTo>
                <a:lnTo>
                  <a:pt x="225981" y="576151"/>
                </a:lnTo>
                <a:lnTo>
                  <a:pt x="229457" y="620160"/>
                </a:lnTo>
                <a:lnTo>
                  <a:pt x="232934" y="661925"/>
                </a:lnTo>
                <a:lnTo>
                  <a:pt x="236410" y="700767"/>
                </a:lnTo>
                <a:lnTo>
                  <a:pt x="239887" y="736050"/>
                </a:lnTo>
                <a:lnTo>
                  <a:pt x="243364" y="767191"/>
                </a:lnTo>
                <a:lnTo>
                  <a:pt x="246840" y="793669"/>
                </a:lnTo>
                <a:lnTo>
                  <a:pt x="250317" y="815036"/>
                </a:lnTo>
                <a:lnTo>
                  <a:pt x="253794" y="830920"/>
                </a:lnTo>
                <a:lnTo>
                  <a:pt x="257270" y="841035"/>
                </a:lnTo>
                <a:lnTo>
                  <a:pt x="260747" y="845188"/>
                </a:lnTo>
                <a:lnTo>
                  <a:pt x="264224" y="843275"/>
                </a:lnTo>
                <a:lnTo>
                  <a:pt x="267700" y="835293"/>
                </a:lnTo>
                <a:lnTo>
                  <a:pt x="271177" y="821333"/>
                </a:lnTo>
                <a:lnTo>
                  <a:pt x="274653" y="801582"/>
                </a:lnTo>
                <a:lnTo>
                  <a:pt x="278130" y="776322"/>
                </a:lnTo>
                <a:lnTo>
                  <a:pt x="281607" y="745922"/>
                </a:lnTo>
                <a:lnTo>
                  <a:pt x="285083" y="710836"/>
                </a:lnTo>
                <a:lnTo>
                  <a:pt x="288560" y="671597"/>
                </a:lnTo>
                <a:lnTo>
                  <a:pt x="292037" y="628805"/>
                </a:lnTo>
                <a:lnTo>
                  <a:pt x="295513" y="583121"/>
                </a:lnTo>
                <a:lnTo>
                  <a:pt x="298990" y="535255"/>
                </a:lnTo>
                <a:lnTo>
                  <a:pt x="302466" y="485955"/>
                </a:lnTo>
                <a:lnTo>
                  <a:pt x="305943" y="435999"/>
                </a:lnTo>
                <a:lnTo>
                  <a:pt x="309420" y="386175"/>
                </a:lnTo>
                <a:lnTo>
                  <a:pt x="312896" y="337277"/>
                </a:lnTo>
                <a:lnTo>
                  <a:pt x="316373" y="290087"/>
                </a:lnTo>
                <a:lnTo>
                  <a:pt x="319850" y="245362"/>
                </a:lnTo>
                <a:lnTo>
                  <a:pt x="323326" y="203827"/>
                </a:lnTo>
                <a:lnTo>
                  <a:pt x="326803" y="166156"/>
                </a:lnTo>
                <a:lnTo>
                  <a:pt x="330279" y="132969"/>
                </a:lnTo>
                <a:lnTo>
                  <a:pt x="333756" y="104813"/>
                </a:lnTo>
                <a:lnTo>
                  <a:pt x="337233" y="82162"/>
                </a:lnTo>
                <a:lnTo>
                  <a:pt x="340709" y="65402"/>
                </a:lnTo>
                <a:lnTo>
                  <a:pt x="344186" y="54827"/>
                </a:lnTo>
                <a:lnTo>
                  <a:pt x="347663" y="50635"/>
                </a:lnTo>
                <a:lnTo>
                  <a:pt x="351139" y="52922"/>
                </a:lnTo>
                <a:lnTo>
                  <a:pt x="354616" y="61683"/>
                </a:lnTo>
                <a:lnTo>
                  <a:pt x="358092" y="76807"/>
                </a:lnTo>
                <a:lnTo>
                  <a:pt x="361569" y="98084"/>
                </a:lnTo>
                <a:lnTo>
                  <a:pt x="365046" y="125203"/>
                </a:lnTo>
                <a:lnTo>
                  <a:pt x="368522" y="157761"/>
                </a:lnTo>
                <a:lnTo>
                  <a:pt x="371999" y="195263"/>
                </a:lnTo>
                <a:lnTo>
                  <a:pt x="375475" y="237136"/>
                </a:lnTo>
                <a:lnTo>
                  <a:pt x="378952" y="282735"/>
                </a:lnTo>
                <a:lnTo>
                  <a:pt x="382429" y="331350"/>
                </a:lnTo>
                <a:lnTo>
                  <a:pt x="385905" y="382222"/>
                </a:lnTo>
                <a:lnTo>
                  <a:pt x="389382" y="434554"/>
                </a:lnTo>
                <a:lnTo>
                  <a:pt x="392859" y="487520"/>
                </a:lnTo>
                <a:lnTo>
                  <a:pt x="396335" y="540282"/>
                </a:lnTo>
                <a:lnTo>
                  <a:pt x="399812" y="592001"/>
                </a:lnTo>
                <a:lnTo>
                  <a:pt x="403289" y="641852"/>
                </a:lnTo>
                <a:lnTo>
                  <a:pt x="406765" y="689037"/>
                </a:lnTo>
                <a:lnTo>
                  <a:pt x="410242" y="732795"/>
                </a:lnTo>
                <a:lnTo>
                  <a:pt x="413718" y="772419"/>
                </a:lnTo>
                <a:lnTo>
                  <a:pt x="417195" y="807264"/>
                </a:lnTo>
                <a:lnTo>
                  <a:pt x="420672" y="836759"/>
                </a:lnTo>
                <a:lnTo>
                  <a:pt x="424148" y="860416"/>
                </a:lnTo>
                <a:lnTo>
                  <a:pt x="427625" y="877838"/>
                </a:lnTo>
                <a:lnTo>
                  <a:pt x="431101" y="888726"/>
                </a:lnTo>
                <a:lnTo>
                  <a:pt x="434578" y="892885"/>
                </a:lnTo>
                <a:lnTo>
                  <a:pt x="438055" y="890223"/>
                </a:lnTo>
                <a:lnTo>
                  <a:pt x="441531" y="880761"/>
                </a:lnTo>
                <a:lnTo>
                  <a:pt x="445008" y="864624"/>
                </a:lnTo>
                <a:lnTo>
                  <a:pt x="448485" y="842046"/>
                </a:lnTo>
                <a:lnTo>
                  <a:pt x="451961" y="813365"/>
                </a:lnTo>
                <a:lnTo>
                  <a:pt x="455438" y="779015"/>
                </a:lnTo>
                <a:lnTo>
                  <a:pt x="458914" y="739523"/>
                </a:lnTo>
                <a:lnTo>
                  <a:pt x="462391" y="695500"/>
                </a:lnTo>
                <a:lnTo>
                  <a:pt x="465868" y="647629"/>
                </a:lnTo>
                <a:lnTo>
                  <a:pt x="469344" y="596658"/>
                </a:lnTo>
                <a:lnTo>
                  <a:pt x="472821" y="543388"/>
                </a:lnTo>
                <a:lnTo>
                  <a:pt x="476298" y="488655"/>
                </a:lnTo>
                <a:lnTo>
                  <a:pt x="479774" y="433325"/>
                </a:lnTo>
                <a:lnTo>
                  <a:pt x="483251" y="378272"/>
                </a:lnTo>
                <a:lnTo>
                  <a:pt x="486728" y="324373"/>
                </a:lnTo>
                <a:lnTo>
                  <a:pt x="490204" y="272484"/>
                </a:lnTo>
                <a:lnTo>
                  <a:pt x="493681" y="223435"/>
                </a:lnTo>
                <a:lnTo>
                  <a:pt x="497157" y="178011"/>
                </a:lnTo>
                <a:lnTo>
                  <a:pt x="500634" y="136942"/>
                </a:lnTo>
                <a:lnTo>
                  <a:pt x="504111" y="100892"/>
                </a:lnTo>
                <a:lnTo>
                  <a:pt x="507587" y="70446"/>
                </a:lnTo>
                <a:lnTo>
                  <a:pt x="511064" y="46100"/>
                </a:lnTo>
                <a:lnTo>
                  <a:pt x="514540" y="28255"/>
                </a:lnTo>
                <a:lnTo>
                  <a:pt x="518017" y="17211"/>
                </a:lnTo>
                <a:lnTo>
                  <a:pt x="521494" y="13160"/>
                </a:lnTo>
                <a:lnTo>
                  <a:pt x="524970" y="16180"/>
                </a:lnTo>
                <a:lnTo>
                  <a:pt x="528447" y="26242"/>
                </a:lnTo>
                <a:lnTo>
                  <a:pt x="531924" y="43201"/>
                </a:lnTo>
                <a:lnTo>
                  <a:pt x="535400" y="66804"/>
                </a:lnTo>
                <a:lnTo>
                  <a:pt x="538877" y="96690"/>
                </a:lnTo>
                <a:lnTo>
                  <a:pt x="542354" y="132399"/>
                </a:lnTo>
                <a:lnTo>
                  <a:pt x="545830" y="173376"/>
                </a:lnTo>
                <a:lnTo>
                  <a:pt x="549307" y="218983"/>
                </a:lnTo>
                <a:lnTo>
                  <a:pt x="552783" y="268505"/>
                </a:lnTo>
                <a:lnTo>
                  <a:pt x="556260" y="321165"/>
                </a:lnTo>
                <a:lnTo>
                  <a:pt x="559737" y="376133"/>
                </a:lnTo>
                <a:lnTo>
                  <a:pt x="563213" y="432543"/>
                </a:lnTo>
                <a:lnTo>
                  <a:pt x="566690" y="489502"/>
                </a:lnTo>
                <a:lnTo>
                  <a:pt x="570167" y="546108"/>
                </a:lnTo>
                <a:lnTo>
                  <a:pt x="573643" y="601464"/>
                </a:lnTo>
                <a:lnTo>
                  <a:pt x="577120" y="654690"/>
                </a:lnTo>
                <a:lnTo>
                  <a:pt x="580596" y="704938"/>
                </a:lnTo>
                <a:lnTo>
                  <a:pt x="584073" y="751407"/>
                </a:lnTo>
                <a:lnTo>
                  <a:pt x="587550" y="793355"/>
                </a:lnTo>
                <a:lnTo>
                  <a:pt x="591026" y="830111"/>
                </a:lnTo>
                <a:lnTo>
                  <a:pt x="594503" y="861084"/>
                </a:lnTo>
                <a:lnTo>
                  <a:pt x="597979" y="885775"/>
                </a:lnTo>
                <a:lnTo>
                  <a:pt x="601456" y="903786"/>
                </a:lnTo>
                <a:lnTo>
                  <a:pt x="604933" y="914821"/>
                </a:lnTo>
                <a:lnTo>
                  <a:pt x="608409" y="918698"/>
                </a:lnTo>
                <a:lnTo>
                  <a:pt x="611886" y="915347"/>
                </a:lnTo>
                <a:lnTo>
                  <a:pt x="615363" y="904812"/>
                </a:lnTo>
                <a:lnTo>
                  <a:pt x="618839" y="887253"/>
                </a:lnTo>
                <a:lnTo>
                  <a:pt x="622316" y="862940"/>
                </a:lnTo>
                <a:lnTo>
                  <a:pt x="625793" y="832253"/>
                </a:lnTo>
                <a:lnTo>
                  <a:pt x="629269" y="795671"/>
                </a:lnTo>
                <a:lnTo>
                  <a:pt x="632746" y="753769"/>
                </a:lnTo>
                <a:lnTo>
                  <a:pt x="636222" y="707207"/>
                </a:lnTo>
                <a:lnTo>
                  <a:pt x="639699" y="656718"/>
                </a:lnTo>
                <a:lnTo>
                  <a:pt x="643176" y="603100"/>
                </a:lnTo>
                <a:lnTo>
                  <a:pt x="646652" y="547199"/>
                </a:lnTo>
                <a:lnTo>
                  <a:pt x="650129" y="489901"/>
                </a:lnTo>
                <a:lnTo>
                  <a:pt x="653606" y="432111"/>
                </a:lnTo>
                <a:lnTo>
                  <a:pt x="657082" y="374746"/>
                </a:lnTo>
                <a:lnTo>
                  <a:pt x="660559" y="318715"/>
                </a:lnTo>
                <a:lnTo>
                  <a:pt x="664035" y="264905"/>
                </a:lnTo>
                <a:lnTo>
                  <a:pt x="667512" y="214171"/>
                </a:lnTo>
                <a:lnTo>
                  <a:pt x="670989" y="167318"/>
                </a:lnTo>
                <a:lnTo>
                  <a:pt x="674465" y="125088"/>
                </a:lnTo>
                <a:lnTo>
                  <a:pt x="677942" y="88153"/>
                </a:lnTo>
                <a:lnTo>
                  <a:pt x="681418" y="57099"/>
                </a:lnTo>
                <a:lnTo>
                  <a:pt x="684895" y="32418"/>
                </a:lnTo>
                <a:lnTo>
                  <a:pt x="688372" y="14504"/>
                </a:lnTo>
                <a:lnTo>
                  <a:pt x="691848" y="3640"/>
                </a:lnTo>
                <a:lnTo>
                  <a:pt x="695325" y="0"/>
                </a:lnTo>
                <a:lnTo>
                  <a:pt x="698802" y="3640"/>
                </a:lnTo>
                <a:lnTo>
                  <a:pt x="702278" y="14504"/>
                </a:lnTo>
                <a:lnTo>
                  <a:pt x="705755" y="32418"/>
                </a:lnTo>
                <a:lnTo>
                  <a:pt x="709232" y="57099"/>
                </a:lnTo>
                <a:lnTo>
                  <a:pt x="712708" y="88153"/>
                </a:lnTo>
                <a:lnTo>
                  <a:pt x="716185" y="125088"/>
                </a:lnTo>
                <a:lnTo>
                  <a:pt x="719661" y="167318"/>
                </a:lnTo>
                <a:lnTo>
                  <a:pt x="723138" y="214171"/>
                </a:lnTo>
                <a:lnTo>
                  <a:pt x="726615" y="264905"/>
                </a:lnTo>
                <a:lnTo>
                  <a:pt x="730091" y="318715"/>
                </a:lnTo>
                <a:lnTo>
                  <a:pt x="733568" y="374746"/>
                </a:lnTo>
                <a:lnTo>
                  <a:pt x="737045" y="432111"/>
                </a:lnTo>
                <a:lnTo>
                  <a:pt x="740521" y="489901"/>
                </a:lnTo>
                <a:lnTo>
                  <a:pt x="743998" y="547199"/>
                </a:lnTo>
                <a:lnTo>
                  <a:pt x="747474" y="603100"/>
                </a:lnTo>
                <a:lnTo>
                  <a:pt x="750951" y="656718"/>
                </a:lnTo>
                <a:lnTo>
                  <a:pt x="754428" y="707207"/>
                </a:lnTo>
                <a:lnTo>
                  <a:pt x="757904" y="753769"/>
                </a:lnTo>
                <a:lnTo>
                  <a:pt x="761381" y="795671"/>
                </a:lnTo>
                <a:lnTo>
                  <a:pt x="764857" y="832253"/>
                </a:lnTo>
                <a:lnTo>
                  <a:pt x="768334" y="862940"/>
                </a:lnTo>
                <a:lnTo>
                  <a:pt x="771811" y="887253"/>
                </a:lnTo>
                <a:lnTo>
                  <a:pt x="775287" y="904812"/>
                </a:lnTo>
                <a:lnTo>
                  <a:pt x="778764" y="915347"/>
                </a:lnTo>
                <a:lnTo>
                  <a:pt x="782241" y="918698"/>
                </a:lnTo>
                <a:lnTo>
                  <a:pt x="785717" y="914821"/>
                </a:lnTo>
                <a:lnTo>
                  <a:pt x="789194" y="903786"/>
                </a:lnTo>
                <a:lnTo>
                  <a:pt x="792671" y="885775"/>
                </a:lnTo>
                <a:lnTo>
                  <a:pt x="796147" y="861084"/>
                </a:lnTo>
                <a:lnTo>
                  <a:pt x="799624" y="830111"/>
                </a:lnTo>
                <a:lnTo>
                  <a:pt x="803100" y="793355"/>
                </a:lnTo>
                <a:lnTo>
                  <a:pt x="806577" y="751407"/>
                </a:lnTo>
                <a:lnTo>
                  <a:pt x="810054" y="704938"/>
                </a:lnTo>
                <a:lnTo>
                  <a:pt x="813530" y="654690"/>
                </a:lnTo>
                <a:lnTo>
                  <a:pt x="817007" y="601464"/>
                </a:lnTo>
                <a:lnTo>
                  <a:pt x="820483" y="546108"/>
                </a:lnTo>
                <a:lnTo>
                  <a:pt x="823960" y="489502"/>
                </a:lnTo>
                <a:lnTo>
                  <a:pt x="827437" y="432543"/>
                </a:lnTo>
                <a:lnTo>
                  <a:pt x="830913" y="376133"/>
                </a:lnTo>
                <a:lnTo>
                  <a:pt x="834390" y="321165"/>
                </a:lnTo>
                <a:lnTo>
                  <a:pt x="837867" y="268505"/>
                </a:lnTo>
                <a:lnTo>
                  <a:pt x="841343" y="218983"/>
                </a:lnTo>
                <a:lnTo>
                  <a:pt x="844820" y="173376"/>
                </a:lnTo>
                <a:lnTo>
                  <a:pt x="848296" y="132399"/>
                </a:lnTo>
                <a:lnTo>
                  <a:pt x="851773" y="96690"/>
                </a:lnTo>
                <a:lnTo>
                  <a:pt x="855250" y="66804"/>
                </a:lnTo>
                <a:lnTo>
                  <a:pt x="858726" y="43201"/>
                </a:lnTo>
                <a:lnTo>
                  <a:pt x="862203" y="26242"/>
                </a:lnTo>
                <a:lnTo>
                  <a:pt x="865680" y="16180"/>
                </a:lnTo>
                <a:lnTo>
                  <a:pt x="869156" y="13160"/>
                </a:lnTo>
                <a:lnTo>
                  <a:pt x="872633" y="17211"/>
                </a:lnTo>
                <a:lnTo>
                  <a:pt x="876110" y="28255"/>
                </a:lnTo>
                <a:lnTo>
                  <a:pt x="879586" y="46100"/>
                </a:lnTo>
                <a:lnTo>
                  <a:pt x="883063" y="70446"/>
                </a:lnTo>
                <a:lnTo>
                  <a:pt x="886539" y="100892"/>
                </a:lnTo>
                <a:lnTo>
                  <a:pt x="890016" y="136942"/>
                </a:lnTo>
                <a:lnTo>
                  <a:pt x="893493" y="178011"/>
                </a:lnTo>
                <a:lnTo>
                  <a:pt x="896969" y="223435"/>
                </a:lnTo>
                <a:lnTo>
                  <a:pt x="900446" y="272484"/>
                </a:lnTo>
                <a:lnTo>
                  <a:pt x="903922" y="324373"/>
                </a:lnTo>
                <a:lnTo>
                  <a:pt x="907399" y="378272"/>
                </a:lnTo>
                <a:lnTo>
                  <a:pt x="910876" y="433325"/>
                </a:lnTo>
                <a:lnTo>
                  <a:pt x="914352" y="488655"/>
                </a:lnTo>
                <a:lnTo>
                  <a:pt x="917829" y="543388"/>
                </a:lnTo>
                <a:lnTo>
                  <a:pt x="921306" y="596658"/>
                </a:lnTo>
                <a:lnTo>
                  <a:pt x="924782" y="647629"/>
                </a:lnTo>
                <a:lnTo>
                  <a:pt x="928259" y="695500"/>
                </a:lnTo>
                <a:lnTo>
                  <a:pt x="931735" y="739523"/>
                </a:lnTo>
                <a:lnTo>
                  <a:pt x="935212" y="779015"/>
                </a:lnTo>
                <a:lnTo>
                  <a:pt x="938689" y="813365"/>
                </a:lnTo>
                <a:lnTo>
                  <a:pt x="942165" y="842046"/>
                </a:lnTo>
                <a:lnTo>
                  <a:pt x="945642" y="864624"/>
                </a:lnTo>
                <a:lnTo>
                  <a:pt x="949119" y="880761"/>
                </a:lnTo>
                <a:lnTo>
                  <a:pt x="952595" y="890223"/>
                </a:lnTo>
                <a:lnTo>
                  <a:pt x="956072" y="892885"/>
                </a:lnTo>
                <a:lnTo>
                  <a:pt x="959549" y="888726"/>
                </a:lnTo>
                <a:lnTo>
                  <a:pt x="963025" y="877838"/>
                </a:lnTo>
                <a:lnTo>
                  <a:pt x="966502" y="860416"/>
                </a:lnTo>
                <a:lnTo>
                  <a:pt x="969978" y="836759"/>
                </a:lnTo>
                <a:lnTo>
                  <a:pt x="973455" y="807264"/>
                </a:lnTo>
                <a:lnTo>
                  <a:pt x="976932" y="772419"/>
                </a:lnTo>
                <a:lnTo>
                  <a:pt x="980408" y="732795"/>
                </a:lnTo>
                <a:lnTo>
                  <a:pt x="983885" y="689037"/>
                </a:lnTo>
                <a:lnTo>
                  <a:pt x="987361" y="641852"/>
                </a:lnTo>
                <a:lnTo>
                  <a:pt x="990838" y="592001"/>
                </a:lnTo>
                <a:lnTo>
                  <a:pt x="994315" y="540282"/>
                </a:lnTo>
                <a:lnTo>
                  <a:pt x="997791" y="487520"/>
                </a:lnTo>
                <a:lnTo>
                  <a:pt x="1001268" y="434554"/>
                </a:lnTo>
                <a:lnTo>
                  <a:pt x="1004745" y="382222"/>
                </a:lnTo>
                <a:lnTo>
                  <a:pt x="1008221" y="331350"/>
                </a:lnTo>
                <a:lnTo>
                  <a:pt x="1011698" y="282735"/>
                </a:lnTo>
                <a:lnTo>
                  <a:pt x="1015175" y="237136"/>
                </a:lnTo>
                <a:lnTo>
                  <a:pt x="1018651" y="195263"/>
                </a:lnTo>
                <a:lnTo>
                  <a:pt x="1022128" y="157761"/>
                </a:lnTo>
                <a:lnTo>
                  <a:pt x="1025604" y="125203"/>
                </a:lnTo>
                <a:lnTo>
                  <a:pt x="1029081" y="98084"/>
                </a:lnTo>
                <a:lnTo>
                  <a:pt x="1032558" y="76807"/>
                </a:lnTo>
                <a:lnTo>
                  <a:pt x="1036034" y="61683"/>
                </a:lnTo>
                <a:lnTo>
                  <a:pt x="1039511" y="52922"/>
                </a:lnTo>
                <a:lnTo>
                  <a:pt x="1042988" y="50635"/>
                </a:lnTo>
                <a:lnTo>
                  <a:pt x="1046464" y="54827"/>
                </a:lnTo>
                <a:lnTo>
                  <a:pt x="1049941" y="65402"/>
                </a:lnTo>
                <a:lnTo>
                  <a:pt x="1053417" y="82162"/>
                </a:lnTo>
                <a:lnTo>
                  <a:pt x="1056894" y="104813"/>
                </a:lnTo>
                <a:lnTo>
                  <a:pt x="1060371" y="132969"/>
                </a:lnTo>
                <a:lnTo>
                  <a:pt x="1063847" y="166156"/>
                </a:lnTo>
                <a:lnTo>
                  <a:pt x="1067324" y="203827"/>
                </a:lnTo>
                <a:lnTo>
                  <a:pt x="1070800" y="245362"/>
                </a:lnTo>
                <a:lnTo>
                  <a:pt x="1074277" y="290087"/>
                </a:lnTo>
                <a:lnTo>
                  <a:pt x="1077754" y="337277"/>
                </a:lnTo>
                <a:lnTo>
                  <a:pt x="1081230" y="386175"/>
                </a:lnTo>
                <a:lnTo>
                  <a:pt x="1084707" y="435999"/>
                </a:lnTo>
                <a:lnTo>
                  <a:pt x="1088184" y="485955"/>
                </a:lnTo>
                <a:lnTo>
                  <a:pt x="1091660" y="535255"/>
                </a:lnTo>
                <a:lnTo>
                  <a:pt x="1095137" y="583121"/>
                </a:lnTo>
                <a:lnTo>
                  <a:pt x="1098614" y="628805"/>
                </a:lnTo>
                <a:lnTo>
                  <a:pt x="1102090" y="671597"/>
                </a:lnTo>
                <a:lnTo>
                  <a:pt x="1105567" y="710836"/>
                </a:lnTo>
                <a:lnTo>
                  <a:pt x="1109043" y="745922"/>
                </a:lnTo>
                <a:lnTo>
                  <a:pt x="1112520" y="776322"/>
                </a:lnTo>
                <a:lnTo>
                  <a:pt x="1115997" y="801582"/>
                </a:lnTo>
                <a:lnTo>
                  <a:pt x="1119473" y="821333"/>
                </a:lnTo>
                <a:lnTo>
                  <a:pt x="1122950" y="835293"/>
                </a:lnTo>
                <a:lnTo>
                  <a:pt x="1126427" y="843275"/>
                </a:lnTo>
                <a:lnTo>
                  <a:pt x="1129903" y="845188"/>
                </a:lnTo>
                <a:lnTo>
                  <a:pt x="1133380" y="841035"/>
                </a:lnTo>
                <a:lnTo>
                  <a:pt x="1136856" y="830920"/>
                </a:lnTo>
                <a:lnTo>
                  <a:pt x="1140333" y="815036"/>
                </a:lnTo>
                <a:lnTo>
                  <a:pt x="1143810" y="793669"/>
                </a:lnTo>
                <a:lnTo>
                  <a:pt x="1147286" y="767191"/>
                </a:lnTo>
                <a:lnTo>
                  <a:pt x="1150763" y="736050"/>
                </a:lnTo>
                <a:lnTo>
                  <a:pt x="1154240" y="700767"/>
                </a:lnTo>
                <a:lnTo>
                  <a:pt x="1157716" y="661925"/>
                </a:lnTo>
                <a:lnTo>
                  <a:pt x="1161193" y="620160"/>
                </a:lnTo>
                <a:lnTo>
                  <a:pt x="1164669" y="576151"/>
                </a:lnTo>
                <a:lnTo>
                  <a:pt x="1168146" y="530606"/>
                </a:lnTo>
                <a:lnTo>
                  <a:pt x="1171623" y="484257"/>
                </a:lnTo>
                <a:lnTo>
                  <a:pt x="1175099" y="437839"/>
                </a:lnTo>
                <a:lnTo>
                  <a:pt x="1178576" y="392087"/>
                </a:lnTo>
                <a:lnTo>
                  <a:pt x="1182053" y="347719"/>
                </a:lnTo>
                <a:lnTo>
                  <a:pt x="1185529" y="305428"/>
                </a:lnTo>
                <a:lnTo>
                  <a:pt x="1189006" y="265869"/>
                </a:lnTo>
                <a:lnTo>
                  <a:pt x="1192482" y="229647"/>
                </a:lnTo>
                <a:lnTo>
                  <a:pt x="1195959" y="197313"/>
                </a:lnTo>
                <a:lnTo>
                  <a:pt x="1199436" y="169352"/>
                </a:lnTo>
                <a:lnTo>
                  <a:pt x="1202912" y="146176"/>
                </a:lnTo>
                <a:lnTo>
                  <a:pt x="1206389" y="128119"/>
                </a:lnTo>
                <a:lnTo>
                  <a:pt x="1209865" y="115430"/>
                </a:lnTo>
                <a:lnTo>
                  <a:pt x="1213342" y="108272"/>
                </a:lnTo>
                <a:lnTo>
                  <a:pt x="1216819" y="106721"/>
                </a:lnTo>
                <a:lnTo>
                  <a:pt x="1220295" y="110761"/>
                </a:lnTo>
                <a:lnTo>
                  <a:pt x="1223772" y="120289"/>
                </a:lnTo>
                <a:lnTo>
                  <a:pt x="1227249" y="135116"/>
                </a:lnTo>
                <a:lnTo>
                  <a:pt x="1230725" y="154969"/>
                </a:lnTo>
                <a:lnTo>
                  <a:pt x="1234202" y="179498"/>
                </a:lnTo>
                <a:lnTo>
                  <a:pt x="1237679" y="208283"/>
                </a:lnTo>
                <a:lnTo>
                  <a:pt x="1241155" y="240836"/>
                </a:lnTo>
                <a:lnTo>
                  <a:pt x="1244632" y="276616"/>
                </a:lnTo>
                <a:lnTo>
                  <a:pt x="1248108" y="315034"/>
                </a:lnTo>
                <a:lnTo>
                  <a:pt x="1251585" y="355464"/>
                </a:lnTo>
                <a:lnTo>
                  <a:pt x="1255062" y="397251"/>
                </a:lnTo>
                <a:lnTo>
                  <a:pt x="1258538" y="439726"/>
                </a:lnTo>
                <a:lnTo>
                  <a:pt x="1262015" y="482212"/>
                </a:lnTo>
                <a:lnTo>
                  <a:pt x="1265492" y="524038"/>
                </a:lnTo>
                <a:lnTo>
                  <a:pt x="1268968" y="564548"/>
                </a:lnTo>
                <a:lnTo>
                  <a:pt x="1272445" y="603114"/>
                </a:lnTo>
                <a:lnTo>
                  <a:pt x="1275921" y="639139"/>
                </a:lnTo>
                <a:lnTo>
                  <a:pt x="1279398" y="672077"/>
                </a:lnTo>
                <a:lnTo>
                  <a:pt x="1282875" y="701430"/>
                </a:lnTo>
                <a:lnTo>
                  <a:pt x="1286351" y="726763"/>
                </a:lnTo>
                <a:lnTo>
                  <a:pt x="1289828" y="747709"/>
                </a:lnTo>
                <a:lnTo>
                  <a:pt x="1293304" y="763972"/>
                </a:lnTo>
                <a:lnTo>
                  <a:pt x="1296781" y="775332"/>
                </a:lnTo>
                <a:lnTo>
                  <a:pt x="1300258" y="781650"/>
                </a:lnTo>
                <a:lnTo>
                  <a:pt x="1303734" y="782868"/>
                </a:lnTo>
                <a:lnTo>
                  <a:pt x="1307211" y="779008"/>
                </a:lnTo>
                <a:lnTo>
                  <a:pt x="1310688" y="770173"/>
                </a:lnTo>
                <a:lnTo>
                  <a:pt x="1314164" y="756543"/>
                </a:lnTo>
                <a:lnTo>
                  <a:pt x="1317641" y="738375"/>
                </a:lnTo>
                <a:lnTo>
                  <a:pt x="1321118" y="715992"/>
                </a:lnTo>
                <a:lnTo>
                  <a:pt x="1324594" y="689785"/>
                </a:lnTo>
                <a:lnTo>
                  <a:pt x="1328071" y="660199"/>
                </a:lnTo>
                <a:lnTo>
                  <a:pt x="1331547" y="627730"/>
                </a:lnTo>
                <a:lnTo>
                  <a:pt x="1335024" y="592916"/>
                </a:lnTo>
                <a:lnTo>
                  <a:pt x="1338501" y="556327"/>
                </a:lnTo>
                <a:lnTo>
                  <a:pt x="1341977" y="518555"/>
                </a:lnTo>
                <a:lnTo>
                  <a:pt x="1345454" y="480208"/>
                </a:lnTo>
                <a:lnTo>
                  <a:pt x="1348931" y="441897"/>
                </a:lnTo>
                <a:lnTo>
                  <a:pt x="1352407" y="404224"/>
                </a:lnTo>
                <a:lnTo>
                  <a:pt x="1355884" y="367781"/>
                </a:lnTo>
                <a:lnTo>
                  <a:pt x="1359360" y="333131"/>
                </a:lnTo>
                <a:lnTo>
                  <a:pt x="1362837" y="300805"/>
                </a:lnTo>
                <a:lnTo>
                  <a:pt x="1366314" y="271293"/>
                </a:lnTo>
                <a:lnTo>
                  <a:pt x="1369790" y="245035"/>
                </a:lnTo>
                <a:lnTo>
                  <a:pt x="1373267" y="222416"/>
                </a:lnTo>
                <a:lnTo>
                  <a:pt x="1376743" y="203760"/>
                </a:lnTo>
                <a:lnTo>
                  <a:pt x="1380220" y="189325"/>
                </a:lnTo>
                <a:lnTo>
                  <a:pt x="1383697" y="179301"/>
                </a:lnTo>
                <a:lnTo>
                  <a:pt x="1387173" y="173804"/>
                </a:lnTo>
                <a:lnTo>
                  <a:pt x="1390650" y="172879"/>
                </a:lnTo>
                <a:lnTo>
                  <a:pt x="1394127" y="176498"/>
                </a:lnTo>
                <a:lnTo>
                  <a:pt x="1397603" y="184561"/>
                </a:lnTo>
                <a:lnTo>
                  <a:pt x="1401080" y="196899"/>
                </a:lnTo>
                <a:lnTo>
                  <a:pt x="1404557" y="213277"/>
                </a:lnTo>
                <a:lnTo>
                  <a:pt x="1408033" y="233398"/>
                </a:lnTo>
                <a:lnTo>
                  <a:pt x="1411510" y="256908"/>
                </a:lnTo>
                <a:lnTo>
                  <a:pt x="1414986" y="283404"/>
                </a:lnTo>
                <a:lnTo>
                  <a:pt x="1418463" y="312438"/>
                </a:lnTo>
                <a:lnTo>
                  <a:pt x="1421940" y="343528"/>
                </a:lnTo>
                <a:lnTo>
                  <a:pt x="1425416" y="376164"/>
                </a:lnTo>
                <a:lnTo>
                  <a:pt x="1428893" y="409815"/>
                </a:lnTo>
                <a:lnTo>
                  <a:pt x="1432370" y="443940"/>
                </a:lnTo>
                <a:lnTo>
                  <a:pt x="1435846" y="477996"/>
                </a:lnTo>
                <a:lnTo>
                  <a:pt x="1439323" y="511446"/>
                </a:lnTo>
                <a:lnTo>
                  <a:pt x="1442799" y="543768"/>
                </a:lnTo>
                <a:lnTo>
                  <a:pt x="1446276" y="574465"/>
                </a:lnTo>
                <a:lnTo>
                  <a:pt x="1449753" y="603067"/>
                </a:lnTo>
                <a:lnTo>
                  <a:pt x="1453229" y="629145"/>
                </a:lnTo>
                <a:lnTo>
                  <a:pt x="1456706" y="652312"/>
                </a:lnTo>
                <a:lnTo>
                  <a:pt x="1460182" y="672234"/>
                </a:lnTo>
                <a:lnTo>
                  <a:pt x="1463659" y="688628"/>
                </a:lnTo>
                <a:lnTo>
                  <a:pt x="1467136" y="701272"/>
                </a:lnTo>
                <a:lnTo>
                  <a:pt x="1470612" y="710005"/>
                </a:lnTo>
                <a:lnTo>
                  <a:pt x="1474089" y="714730"/>
                </a:lnTo>
                <a:lnTo>
                  <a:pt x="1477566" y="715414"/>
                </a:lnTo>
                <a:lnTo>
                  <a:pt x="1481042" y="712088"/>
                </a:lnTo>
                <a:lnTo>
                  <a:pt x="1484519" y="704846"/>
                </a:lnTo>
                <a:lnTo>
                  <a:pt x="1487996" y="693844"/>
                </a:lnTo>
                <a:lnTo>
                  <a:pt x="1491472" y="679294"/>
                </a:lnTo>
                <a:lnTo>
                  <a:pt x="1494949" y="661463"/>
                </a:lnTo>
                <a:lnTo>
                  <a:pt x="1498425" y="640668"/>
                </a:lnTo>
                <a:lnTo>
                  <a:pt x="1501902" y="617267"/>
                </a:lnTo>
                <a:lnTo>
                  <a:pt x="1505379" y="591658"/>
                </a:lnTo>
                <a:lnTo>
                  <a:pt x="1508855" y="564267"/>
                </a:lnTo>
                <a:lnTo>
                  <a:pt x="1512332" y="535546"/>
                </a:lnTo>
                <a:lnTo>
                  <a:pt x="1515808" y="505963"/>
                </a:lnTo>
                <a:lnTo>
                  <a:pt x="1519285" y="475992"/>
                </a:lnTo>
                <a:lnTo>
                  <a:pt x="1522762" y="446110"/>
                </a:lnTo>
                <a:lnTo>
                  <a:pt x="1526238" y="416788"/>
                </a:lnTo>
                <a:lnTo>
                  <a:pt x="1529715" y="388481"/>
                </a:lnTo>
                <a:lnTo>
                  <a:pt x="1533192" y="361625"/>
                </a:lnTo>
                <a:lnTo>
                  <a:pt x="1536668" y="336627"/>
                </a:lnTo>
                <a:lnTo>
                  <a:pt x="1540145" y="313861"/>
                </a:lnTo>
                <a:lnTo>
                  <a:pt x="1543621" y="293660"/>
                </a:lnTo>
                <a:lnTo>
                  <a:pt x="1547098" y="276315"/>
                </a:lnTo>
                <a:lnTo>
                  <a:pt x="1550575" y="262068"/>
                </a:lnTo>
                <a:lnTo>
                  <a:pt x="1554051" y="251109"/>
                </a:lnTo>
                <a:lnTo>
                  <a:pt x="1557528" y="243572"/>
                </a:lnTo>
                <a:lnTo>
                  <a:pt x="1561005" y="239540"/>
                </a:lnTo>
                <a:lnTo>
                  <a:pt x="1564481" y="239037"/>
                </a:lnTo>
                <a:lnTo>
                  <a:pt x="1567958" y="242029"/>
                </a:lnTo>
                <a:lnTo>
                  <a:pt x="1571435" y="248432"/>
                </a:lnTo>
                <a:lnTo>
                  <a:pt x="1574911" y="258106"/>
                </a:lnTo>
                <a:lnTo>
                  <a:pt x="1578388" y="270861"/>
                </a:lnTo>
                <a:lnTo>
                  <a:pt x="1581864" y="286461"/>
                </a:lnTo>
                <a:lnTo>
                  <a:pt x="1585341" y="304629"/>
                </a:lnTo>
                <a:lnTo>
                  <a:pt x="1588818" y="325050"/>
                </a:lnTo>
                <a:lnTo>
                  <a:pt x="1592294" y="347374"/>
                </a:lnTo>
                <a:lnTo>
                  <a:pt x="1595771" y="371231"/>
                </a:lnTo>
                <a:lnTo>
                  <a:pt x="1599247" y="396226"/>
                </a:lnTo>
                <a:lnTo>
                  <a:pt x="1602724" y="421953"/>
                </a:lnTo>
                <a:lnTo>
                  <a:pt x="1606201" y="447998"/>
                </a:lnTo>
                <a:lnTo>
                  <a:pt x="1609677" y="473947"/>
                </a:lnTo>
                <a:lnTo>
                  <a:pt x="1613154" y="499394"/>
                </a:lnTo>
                <a:lnTo>
                  <a:pt x="1616631" y="523944"/>
                </a:lnTo>
                <a:lnTo>
                  <a:pt x="1620107" y="547221"/>
                </a:lnTo>
                <a:lnTo>
                  <a:pt x="1623584" y="568872"/>
                </a:lnTo>
                <a:lnTo>
                  <a:pt x="1627060" y="588577"/>
                </a:lnTo>
                <a:lnTo>
                  <a:pt x="1630537" y="606048"/>
                </a:lnTo>
                <a:lnTo>
                  <a:pt x="1634014" y="621035"/>
                </a:lnTo>
                <a:lnTo>
                  <a:pt x="1637490" y="633333"/>
                </a:lnTo>
                <a:lnTo>
                  <a:pt x="1640967" y="642780"/>
                </a:lnTo>
                <a:lnTo>
                  <a:pt x="1644444" y="649259"/>
                </a:lnTo>
                <a:lnTo>
                  <a:pt x="1647920" y="652703"/>
                </a:lnTo>
                <a:lnTo>
                  <a:pt x="1651397" y="653095"/>
                </a:lnTo>
                <a:lnTo>
                  <a:pt x="1654874" y="650463"/>
                </a:lnTo>
                <a:lnTo>
                  <a:pt x="1658350" y="644885"/>
                </a:lnTo>
                <a:lnTo>
                  <a:pt x="1661827" y="636482"/>
                </a:lnTo>
                <a:lnTo>
                  <a:pt x="1665303" y="625420"/>
                </a:lnTo>
                <a:lnTo>
                  <a:pt x="1668780" y="611904"/>
                </a:lnTo>
                <a:lnTo>
                  <a:pt x="1672257" y="596176"/>
                </a:lnTo>
                <a:lnTo>
                  <a:pt x="1675733" y="578507"/>
                </a:lnTo>
                <a:lnTo>
                  <a:pt x="1679210" y="559200"/>
                </a:lnTo>
                <a:lnTo>
                  <a:pt x="1682686" y="538575"/>
                </a:lnTo>
                <a:lnTo>
                  <a:pt x="1686163" y="516974"/>
                </a:lnTo>
                <a:lnTo>
                  <a:pt x="1689640" y="494746"/>
                </a:lnTo>
                <a:lnTo>
                  <a:pt x="1693116" y="472248"/>
                </a:lnTo>
                <a:lnTo>
                  <a:pt x="1696593" y="449837"/>
                </a:lnTo>
                <a:lnTo>
                  <a:pt x="1700070" y="427864"/>
                </a:lnTo>
                <a:lnTo>
                  <a:pt x="1703546" y="406668"/>
                </a:lnTo>
                <a:lnTo>
                  <a:pt x="1707023" y="386573"/>
                </a:lnTo>
                <a:lnTo>
                  <a:pt x="1710500" y="367881"/>
                </a:lnTo>
                <a:lnTo>
                  <a:pt x="1713976" y="350870"/>
                </a:lnTo>
                <a:lnTo>
                  <a:pt x="1717453" y="335787"/>
                </a:lnTo>
                <a:lnTo>
                  <a:pt x="1720929" y="322845"/>
                </a:lnTo>
                <a:lnTo>
                  <a:pt x="1724406" y="312224"/>
                </a:lnTo>
                <a:lnTo>
                  <a:pt x="1727883" y="304062"/>
                </a:lnTo>
                <a:lnTo>
                  <a:pt x="1731359" y="298460"/>
                </a:lnTo>
                <a:lnTo>
                  <a:pt x="1734836" y="295474"/>
                </a:lnTo>
                <a:lnTo>
                  <a:pt x="1738313" y="295122"/>
                </a:lnTo>
                <a:lnTo>
                  <a:pt x="1741789" y="297379"/>
                </a:lnTo>
                <a:lnTo>
                  <a:pt x="1745266" y="302179"/>
                </a:lnTo>
                <a:lnTo>
                  <a:pt x="1748742" y="309418"/>
                </a:lnTo>
                <a:lnTo>
                  <a:pt x="1752219" y="318954"/>
                </a:lnTo>
                <a:lnTo>
                  <a:pt x="1755696" y="330611"/>
                </a:lnTo>
                <a:lnTo>
                  <a:pt x="1759172" y="344182"/>
                </a:lnTo>
                <a:lnTo>
                  <a:pt x="1762649" y="359433"/>
                </a:lnTo>
                <a:lnTo>
                  <a:pt x="1766125" y="376107"/>
                </a:lnTo>
                <a:lnTo>
                  <a:pt x="1769602" y="393925"/>
                </a:lnTo>
                <a:lnTo>
                  <a:pt x="1773079" y="412595"/>
                </a:lnTo>
                <a:lnTo>
                  <a:pt x="1776555" y="431817"/>
                </a:lnTo>
                <a:lnTo>
                  <a:pt x="1780032" y="451282"/>
                </a:lnTo>
                <a:lnTo>
                  <a:pt x="1783509" y="470684"/>
                </a:lnTo>
                <a:lnTo>
                  <a:pt x="1786985" y="489719"/>
                </a:lnTo>
                <a:lnTo>
                  <a:pt x="1790462" y="508094"/>
                </a:lnTo>
                <a:lnTo>
                  <a:pt x="1793939" y="525528"/>
                </a:lnTo>
                <a:lnTo>
                  <a:pt x="1797415" y="541760"/>
                </a:lnTo>
                <a:lnTo>
                  <a:pt x="1800892" y="556549"/>
                </a:lnTo>
                <a:lnTo>
                  <a:pt x="1804368" y="569679"/>
                </a:lnTo>
                <a:lnTo>
                  <a:pt x="1807845" y="580962"/>
                </a:lnTo>
                <a:lnTo>
                  <a:pt x="1811322" y="590244"/>
                </a:lnTo>
                <a:lnTo>
                  <a:pt x="1814798" y="597399"/>
                </a:lnTo>
                <a:lnTo>
                  <a:pt x="1818275" y="602340"/>
                </a:lnTo>
                <a:lnTo>
                  <a:pt x="1821752" y="605012"/>
                </a:lnTo>
                <a:lnTo>
                  <a:pt x="1825228" y="605398"/>
                </a:lnTo>
                <a:lnTo>
                  <a:pt x="1828705" y="603515"/>
                </a:lnTo>
                <a:lnTo>
                  <a:pt x="1832181" y="599418"/>
                </a:lnTo>
                <a:lnTo>
                  <a:pt x="1835658" y="593192"/>
                </a:lnTo>
                <a:lnTo>
                  <a:pt x="1839135" y="584956"/>
                </a:lnTo>
                <a:lnTo>
                  <a:pt x="1842611" y="574861"/>
                </a:lnTo>
                <a:lnTo>
                  <a:pt x="1846088" y="563082"/>
                </a:lnTo>
                <a:lnTo>
                  <a:pt x="1849565" y="549821"/>
                </a:lnTo>
                <a:lnTo>
                  <a:pt x="1853041" y="535297"/>
                </a:lnTo>
                <a:lnTo>
                  <a:pt x="1856518" y="519752"/>
                </a:lnTo>
                <a:lnTo>
                  <a:pt x="1859994" y="503437"/>
                </a:lnTo>
                <a:lnTo>
                  <a:pt x="1863471" y="486613"/>
                </a:lnTo>
                <a:lnTo>
                  <a:pt x="1866948" y="469549"/>
                </a:lnTo>
                <a:lnTo>
                  <a:pt x="1870424" y="452511"/>
                </a:lnTo>
                <a:lnTo>
                  <a:pt x="1873901" y="435767"/>
                </a:lnTo>
                <a:lnTo>
                  <a:pt x="1877378" y="419572"/>
                </a:lnTo>
                <a:lnTo>
                  <a:pt x="1880854" y="404175"/>
                </a:lnTo>
                <a:lnTo>
                  <a:pt x="1884331" y="389809"/>
                </a:lnTo>
                <a:lnTo>
                  <a:pt x="1887807" y="376686"/>
                </a:lnTo>
                <a:lnTo>
                  <a:pt x="1891284" y="365001"/>
                </a:lnTo>
                <a:lnTo>
                  <a:pt x="1894761" y="354922"/>
                </a:lnTo>
                <a:lnTo>
                  <a:pt x="1898237" y="346592"/>
                </a:lnTo>
                <a:lnTo>
                  <a:pt x="1901714" y="340125"/>
                </a:lnTo>
                <a:lnTo>
                  <a:pt x="1905190" y="335607"/>
                </a:lnTo>
                <a:lnTo>
                  <a:pt x="1908667" y="333090"/>
                </a:lnTo>
                <a:lnTo>
                  <a:pt x="1912144" y="332598"/>
                </a:lnTo>
                <a:lnTo>
                  <a:pt x="1915620" y="334121"/>
                </a:lnTo>
                <a:lnTo>
                  <a:pt x="1919097" y="337620"/>
                </a:lnTo>
                <a:lnTo>
                  <a:pt x="1922574" y="343023"/>
                </a:lnTo>
                <a:lnTo>
                  <a:pt x="1926050" y="350234"/>
                </a:lnTo>
                <a:lnTo>
                  <a:pt x="1929527" y="359124"/>
                </a:lnTo>
                <a:lnTo>
                  <a:pt x="1933004" y="369544"/>
                </a:lnTo>
                <a:lnTo>
                  <a:pt x="1936480" y="381320"/>
                </a:lnTo>
                <a:lnTo>
                  <a:pt x="1939957" y="394260"/>
                </a:lnTo>
                <a:lnTo>
                  <a:pt x="1943433" y="408154"/>
                </a:lnTo>
                <a:lnTo>
                  <a:pt x="1946910" y="422780"/>
                </a:lnTo>
                <a:lnTo>
                  <a:pt x="1950387" y="437906"/>
                </a:lnTo>
                <a:lnTo>
                  <a:pt x="1953863" y="453293"/>
                </a:lnTo>
                <a:lnTo>
                  <a:pt x="1957340" y="468702"/>
                </a:lnTo>
                <a:lnTo>
                  <a:pt x="1960817" y="483892"/>
                </a:lnTo>
                <a:lnTo>
                  <a:pt x="1964293" y="498631"/>
                </a:lnTo>
                <a:lnTo>
                  <a:pt x="1967770" y="512691"/>
                </a:lnTo>
                <a:lnTo>
                  <a:pt x="1971246" y="525859"/>
                </a:lnTo>
                <a:lnTo>
                  <a:pt x="1974723" y="537937"/>
                </a:lnTo>
                <a:lnTo>
                  <a:pt x="1978200" y="548742"/>
                </a:lnTo>
                <a:lnTo>
                  <a:pt x="1981676" y="558116"/>
                </a:lnTo>
                <a:lnTo>
                  <a:pt x="1985153" y="565919"/>
                </a:lnTo>
                <a:lnTo>
                  <a:pt x="1988629" y="572040"/>
                </a:lnTo>
                <a:lnTo>
                  <a:pt x="1992106" y="576392"/>
                </a:lnTo>
                <a:lnTo>
                  <a:pt x="1995583" y="578917"/>
                </a:lnTo>
                <a:lnTo>
                  <a:pt x="1999059" y="579584"/>
                </a:lnTo>
                <a:lnTo>
                  <a:pt x="2002536" y="578392"/>
                </a:lnTo>
                <a:lnTo>
                  <a:pt x="2006013" y="575366"/>
                </a:lnTo>
                <a:lnTo>
                  <a:pt x="2009489" y="570563"/>
                </a:lnTo>
                <a:lnTo>
                  <a:pt x="2012966" y="564062"/>
                </a:lnTo>
                <a:lnTo>
                  <a:pt x="2016443" y="555973"/>
                </a:lnTo>
                <a:lnTo>
                  <a:pt x="2019919" y="546426"/>
                </a:lnTo>
                <a:lnTo>
                  <a:pt x="2023396" y="535574"/>
                </a:lnTo>
                <a:lnTo>
                  <a:pt x="2026872" y="523590"/>
                </a:lnTo>
                <a:lnTo>
                  <a:pt x="2030349" y="510663"/>
                </a:lnTo>
                <a:lnTo>
                  <a:pt x="2033826" y="496995"/>
                </a:lnTo>
                <a:lnTo>
                  <a:pt x="2037302" y="482802"/>
                </a:lnTo>
                <a:lnTo>
                  <a:pt x="2040779" y="468303"/>
                </a:lnTo>
                <a:lnTo>
                  <a:pt x="2044256" y="453725"/>
                </a:lnTo>
                <a:lnTo>
                  <a:pt x="2047732" y="439293"/>
                </a:lnTo>
                <a:lnTo>
                  <a:pt x="2051209" y="425230"/>
                </a:lnTo>
                <a:lnTo>
                  <a:pt x="2054685" y="411754"/>
                </a:lnTo>
                <a:lnTo>
                  <a:pt x="2058162" y="399072"/>
                </a:lnTo>
                <a:lnTo>
                  <a:pt x="2061639" y="387379"/>
                </a:lnTo>
                <a:lnTo>
                  <a:pt x="2065115" y="376855"/>
                </a:lnTo>
                <a:lnTo>
                  <a:pt x="2068592" y="367661"/>
                </a:lnTo>
                <a:lnTo>
                  <a:pt x="2072068" y="359939"/>
                </a:lnTo>
                <a:lnTo>
                  <a:pt x="2075545" y="353806"/>
                </a:lnTo>
                <a:lnTo>
                  <a:pt x="2079022" y="349358"/>
                </a:lnTo>
                <a:lnTo>
                  <a:pt x="2082498" y="346661"/>
                </a:lnTo>
                <a:lnTo>
                  <a:pt x="2085975" y="345757"/>
                </a:lnTo>
                <a:lnTo>
                  <a:pt x="2089452" y="346661"/>
                </a:lnTo>
                <a:lnTo>
                  <a:pt x="2092928" y="349358"/>
                </a:lnTo>
                <a:lnTo>
                  <a:pt x="2096405" y="353806"/>
                </a:lnTo>
                <a:lnTo>
                  <a:pt x="2099882" y="359939"/>
                </a:lnTo>
                <a:lnTo>
                  <a:pt x="2103358" y="367661"/>
                </a:lnTo>
                <a:lnTo>
                  <a:pt x="2106835" y="376855"/>
                </a:lnTo>
                <a:lnTo>
                  <a:pt x="2110311" y="387379"/>
                </a:lnTo>
                <a:lnTo>
                  <a:pt x="2113788" y="399072"/>
                </a:lnTo>
                <a:lnTo>
                  <a:pt x="2117265" y="411754"/>
                </a:lnTo>
                <a:lnTo>
                  <a:pt x="2120741" y="425230"/>
                </a:lnTo>
                <a:lnTo>
                  <a:pt x="2124218" y="439293"/>
                </a:lnTo>
                <a:lnTo>
                  <a:pt x="2127695" y="453725"/>
                </a:lnTo>
                <a:lnTo>
                  <a:pt x="2131171" y="468303"/>
                </a:lnTo>
                <a:lnTo>
                  <a:pt x="2134648" y="482802"/>
                </a:lnTo>
                <a:lnTo>
                  <a:pt x="2138124" y="496995"/>
                </a:lnTo>
                <a:lnTo>
                  <a:pt x="2141601" y="510663"/>
                </a:lnTo>
                <a:lnTo>
                  <a:pt x="2145078" y="523590"/>
                </a:lnTo>
                <a:lnTo>
                  <a:pt x="2148554" y="535574"/>
                </a:lnTo>
                <a:lnTo>
                  <a:pt x="2152031" y="546426"/>
                </a:lnTo>
                <a:lnTo>
                  <a:pt x="2155507" y="555973"/>
                </a:lnTo>
                <a:lnTo>
                  <a:pt x="2158984" y="564062"/>
                </a:lnTo>
                <a:lnTo>
                  <a:pt x="2162461" y="570563"/>
                </a:lnTo>
                <a:lnTo>
                  <a:pt x="2165937" y="575366"/>
                </a:lnTo>
                <a:lnTo>
                  <a:pt x="2169414" y="578392"/>
                </a:lnTo>
                <a:lnTo>
                  <a:pt x="2172891" y="579584"/>
                </a:lnTo>
                <a:lnTo>
                  <a:pt x="2176367" y="578917"/>
                </a:lnTo>
                <a:lnTo>
                  <a:pt x="2179844" y="576392"/>
                </a:lnTo>
                <a:lnTo>
                  <a:pt x="2183321" y="572040"/>
                </a:lnTo>
                <a:lnTo>
                  <a:pt x="2186797" y="565919"/>
                </a:lnTo>
                <a:lnTo>
                  <a:pt x="2190274" y="558116"/>
                </a:lnTo>
                <a:lnTo>
                  <a:pt x="2193750" y="548742"/>
                </a:lnTo>
                <a:lnTo>
                  <a:pt x="2197227" y="537937"/>
                </a:lnTo>
                <a:lnTo>
                  <a:pt x="2200704" y="525859"/>
                </a:lnTo>
                <a:lnTo>
                  <a:pt x="2204180" y="512691"/>
                </a:lnTo>
                <a:lnTo>
                  <a:pt x="2207657" y="498631"/>
                </a:lnTo>
                <a:lnTo>
                  <a:pt x="2211134" y="483892"/>
                </a:lnTo>
                <a:lnTo>
                  <a:pt x="2214610" y="468702"/>
                </a:lnTo>
                <a:lnTo>
                  <a:pt x="2218087" y="453293"/>
                </a:lnTo>
                <a:lnTo>
                  <a:pt x="2221563" y="437906"/>
                </a:lnTo>
                <a:lnTo>
                  <a:pt x="2225040" y="422780"/>
                </a:lnTo>
                <a:lnTo>
                  <a:pt x="2228517" y="408154"/>
                </a:lnTo>
                <a:lnTo>
                  <a:pt x="2231993" y="394260"/>
                </a:lnTo>
                <a:lnTo>
                  <a:pt x="2235470" y="381320"/>
                </a:lnTo>
                <a:lnTo>
                  <a:pt x="2238946" y="369544"/>
                </a:lnTo>
                <a:lnTo>
                  <a:pt x="2242423" y="359124"/>
                </a:lnTo>
                <a:lnTo>
                  <a:pt x="2245900" y="350234"/>
                </a:lnTo>
                <a:lnTo>
                  <a:pt x="2249376" y="343023"/>
                </a:lnTo>
                <a:lnTo>
                  <a:pt x="2252853" y="337620"/>
                </a:lnTo>
                <a:lnTo>
                  <a:pt x="2256330" y="334121"/>
                </a:lnTo>
                <a:lnTo>
                  <a:pt x="2259806" y="332598"/>
                </a:lnTo>
                <a:lnTo>
                  <a:pt x="2263283" y="333090"/>
                </a:lnTo>
                <a:lnTo>
                  <a:pt x="2266760" y="335607"/>
                </a:lnTo>
                <a:lnTo>
                  <a:pt x="2270236" y="340125"/>
                </a:lnTo>
                <a:lnTo>
                  <a:pt x="2273713" y="346592"/>
                </a:lnTo>
                <a:lnTo>
                  <a:pt x="2277189" y="354922"/>
                </a:lnTo>
                <a:lnTo>
                  <a:pt x="2280666" y="365001"/>
                </a:lnTo>
                <a:lnTo>
                  <a:pt x="2284143" y="376686"/>
                </a:lnTo>
                <a:lnTo>
                  <a:pt x="2287619" y="389809"/>
                </a:lnTo>
                <a:lnTo>
                  <a:pt x="2291096" y="404175"/>
                </a:lnTo>
                <a:lnTo>
                  <a:pt x="2294573" y="419572"/>
                </a:lnTo>
                <a:lnTo>
                  <a:pt x="2298049" y="435767"/>
                </a:lnTo>
                <a:lnTo>
                  <a:pt x="2301526" y="452511"/>
                </a:lnTo>
                <a:lnTo>
                  <a:pt x="2305002" y="469549"/>
                </a:lnTo>
                <a:lnTo>
                  <a:pt x="2308479" y="486613"/>
                </a:lnTo>
                <a:lnTo>
                  <a:pt x="2311956" y="503437"/>
                </a:lnTo>
                <a:lnTo>
                  <a:pt x="2315432" y="519752"/>
                </a:lnTo>
                <a:lnTo>
                  <a:pt x="2318909" y="535297"/>
                </a:lnTo>
                <a:lnTo>
                  <a:pt x="2322385" y="549821"/>
                </a:lnTo>
                <a:lnTo>
                  <a:pt x="2325862" y="563082"/>
                </a:lnTo>
                <a:lnTo>
                  <a:pt x="2329339" y="574861"/>
                </a:lnTo>
                <a:lnTo>
                  <a:pt x="2332815" y="584956"/>
                </a:lnTo>
                <a:lnTo>
                  <a:pt x="2336292" y="593192"/>
                </a:lnTo>
                <a:lnTo>
                  <a:pt x="2339769" y="599418"/>
                </a:lnTo>
                <a:lnTo>
                  <a:pt x="2343245" y="603515"/>
                </a:lnTo>
                <a:lnTo>
                  <a:pt x="2346722" y="605398"/>
                </a:lnTo>
                <a:lnTo>
                  <a:pt x="2350199" y="605012"/>
                </a:lnTo>
                <a:lnTo>
                  <a:pt x="2353675" y="602340"/>
                </a:lnTo>
                <a:lnTo>
                  <a:pt x="2357152" y="597399"/>
                </a:lnTo>
                <a:lnTo>
                  <a:pt x="2360628" y="590244"/>
                </a:lnTo>
                <a:lnTo>
                  <a:pt x="2364105" y="580962"/>
                </a:lnTo>
                <a:lnTo>
                  <a:pt x="2367582" y="569679"/>
                </a:lnTo>
                <a:lnTo>
                  <a:pt x="2371058" y="556549"/>
                </a:lnTo>
                <a:lnTo>
                  <a:pt x="2374535" y="541760"/>
                </a:lnTo>
                <a:lnTo>
                  <a:pt x="2378011" y="525528"/>
                </a:lnTo>
                <a:lnTo>
                  <a:pt x="2381488" y="508094"/>
                </a:lnTo>
                <a:lnTo>
                  <a:pt x="2384965" y="489719"/>
                </a:lnTo>
                <a:lnTo>
                  <a:pt x="2388441" y="470684"/>
                </a:lnTo>
                <a:lnTo>
                  <a:pt x="2391918" y="451282"/>
                </a:lnTo>
                <a:lnTo>
                  <a:pt x="2395395" y="431817"/>
                </a:lnTo>
                <a:lnTo>
                  <a:pt x="2398871" y="412595"/>
                </a:lnTo>
                <a:lnTo>
                  <a:pt x="2402348" y="393925"/>
                </a:lnTo>
                <a:lnTo>
                  <a:pt x="2405825" y="376107"/>
                </a:lnTo>
                <a:lnTo>
                  <a:pt x="2409301" y="359433"/>
                </a:lnTo>
                <a:lnTo>
                  <a:pt x="2412778" y="344182"/>
                </a:lnTo>
                <a:lnTo>
                  <a:pt x="2416254" y="330611"/>
                </a:lnTo>
                <a:lnTo>
                  <a:pt x="2419731" y="318954"/>
                </a:lnTo>
                <a:lnTo>
                  <a:pt x="2423208" y="309418"/>
                </a:lnTo>
                <a:lnTo>
                  <a:pt x="2426684" y="302179"/>
                </a:lnTo>
                <a:lnTo>
                  <a:pt x="2430161" y="297379"/>
                </a:lnTo>
                <a:lnTo>
                  <a:pt x="2433638" y="295122"/>
                </a:lnTo>
                <a:lnTo>
                  <a:pt x="2437114" y="295474"/>
                </a:lnTo>
                <a:lnTo>
                  <a:pt x="2440591" y="298460"/>
                </a:lnTo>
                <a:lnTo>
                  <a:pt x="2444067" y="304062"/>
                </a:lnTo>
                <a:lnTo>
                  <a:pt x="2447544" y="312224"/>
                </a:lnTo>
                <a:lnTo>
                  <a:pt x="2451021" y="322845"/>
                </a:lnTo>
                <a:lnTo>
                  <a:pt x="2454497" y="335787"/>
                </a:lnTo>
                <a:lnTo>
                  <a:pt x="2457974" y="350870"/>
                </a:lnTo>
                <a:lnTo>
                  <a:pt x="2461451" y="367881"/>
                </a:lnTo>
                <a:lnTo>
                  <a:pt x="2464927" y="386573"/>
                </a:lnTo>
                <a:lnTo>
                  <a:pt x="2468404" y="406668"/>
                </a:lnTo>
                <a:lnTo>
                  <a:pt x="2471880" y="427864"/>
                </a:lnTo>
                <a:lnTo>
                  <a:pt x="2475357" y="449837"/>
                </a:lnTo>
                <a:lnTo>
                  <a:pt x="2478834" y="472248"/>
                </a:lnTo>
                <a:lnTo>
                  <a:pt x="2482310" y="494746"/>
                </a:lnTo>
                <a:lnTo>
                  <a:pt x="2485787" y="516974"/>
                </a:lnTo>
                <a:lnTo>
                  <a:pt x="2489263" y="538575"/>
                </a:lnTo>
                <a:lnTo>
                  <a:pt x="2492740" y="559200"/>
                </a:lnTo>
                <a:lnTo>
                  <a:pt x="2496217" y="578507"/>
                </a:lnTo>
                <a:lnTo>
                  <a:pt x="2499693" y="596176"/>
                </a:lnTo>
                <a:lnTo>
                  <a:pt x="2503170" y="611904"/>
                </a:lnTo>
                <a:lnTo>
                  <a:pt x="2506647" y="625420"/>
                </a:lnTo>
                <a:lnTo>
                  <a:pt x="2510123" y="636482"/>
                </a:lnTo>
                <a:lnTo>
                  <a:pt x="2513600" y="644885"/>
                </a:lnTo>
                <a:lnTo>
                  <a:pt x="2517077" y="650463"/>
                </a:lnTo>
                <a:lnTo>
                  <a:pt x="2520553" y="653095"/>
                </a:lnTo>
                <a:lnTo>
                  <a:pt x="2524030" y="652703"/>
                </a:lnTo>
                <a:lnTo>
                  <a:pt x="2527506" y="649259"/>
                </a:lnTo>
                <a:lnTo>
                  <a:pt x="2530983" y="642780"/>
                </a:lnTo>
                <a:lnTo>
                  <a:pt x="2534460" y="633333"/>
                </a:lnTo>
                <a:lnTo>
                  <a:pt x="2537936" y="621035"/>
                </a:lnTo>
                <a:lnTo>
                  <a:pt x="2541413" y="606048"/>
                </a:lnTo>
                <a:lnTo>
                  <a:pt x="2544890" y="588577"/>
                </a:lnTo>
                <a:lnTo>
                  <a:pt x="2548366" y="568872"/>
                </a:lnTo>
                <a:lnTo>
                  <a:pt x="2551843" y="547221"/>
                </a:lnTo>
                <a:lnTo>
                  <a:pt x="2555319" y="523944"/>
                </a:lnTo>
                <a:lnTo>
                  <a:pt x="2558796" y="499394"/>
                </a:lnTo>
                <a:lnTo>
                  <a:pt x="2562273" y="473947"/>
                </a:lnTo>
                <a:lnTo>
                  <a:pt x="2565749" y="447998"/>
                </a:lnTo>
                <a:lnTo>
                  <a:pt x="2569226" y="421953"/>
                </a:lnTo>
                <a:lnTo>
                  <a:pt x="2572703" y="396226"/>
                </a:lnTo>
                <a:lnTo>
                  <a:pt x="2576179" y="371231"/>
                </a:lnTo>
                <a:lnTo>
                  <a:pt x="2579656" y="347374"/>
                </a:lnTo>
                <a:lnTo>
                  <a:pt x="2583132" y="325050"/>
                </a:lnTo>
                <a:lnTo>
                  <a:pt x="2586609" y="304629"/>
                </a:lnTo>
                <a:lnTo>
                  <a:pt x="2590086" y="286461"/>
                </a:lnTo>
                <a:lnTo>
                  <a:pt x="2593562" y="270861"/>
                </a:lnTo>
                <a:lnTo>
                  <a:pt x="2597039" y="258106"/>
                </a:lnTo>
                <a:lnTo>
                  <a:pt x="2600516" y="248432"/>
                </a:lnTo>
                <a:lnTo>
                  <a:pt x="2603992" y="242029"/>
                </a:lnTo>
                <a:lnTo>
                  <a:pt x="2607469" y="239037"/>
                </a:lnTo>
                <a:lnTo>
                  <a:pt x="2610945" y="239540"/>
                </a:lnTo>
                <a:lnTo>
                  <a:pt x="2614422" y="243572"/>
                </a:lnTo>
                <a:lnTo>
                  <a:pt x="2617899" y="251109"/>
                </a:lnTo>
                <a:lnTo>
                  <a:pt x="2621375" y="262068"/>
                </a:lnTo>
                <a:lnTo>
                  <a:pt x="2624852" y="276315"/>
                </a:lnTo>
                <a:lnTo>
                  <a:pt x="2628329" y="293660"/>
                </a:lnTo>
                <a:lnTo>
                  <a:pt x="2631805" y="313861"/>
                </a:lnTo>
                <a:lnTo>
                  <a:pt x="2635282" y="336627"/>
                </a:lnTo>
                <a:lnTo>
                  <a:pt x="2638758" y="361625"/>
                </a:lnTo>
                <a:lnTo>
                  <a:pt x="2642235" y="388481"/>
                </a:lnTo>
                <a:lnTo>
                  <a:pt x="2645712" y="416788"/>
                </a:lnTo>
                <a:lnTo>
                  <a:pt x="2649188" y="446110"/>
                </a:lnTo>
                <a:lnTo>
                  <a:pt x="2652665" y="475992"/>
                </a:lnTo>
                <a:lnTo>
                  <a:pt x="2656142" y="505963"/>
                </a:lnTo>
                <a:lnTo>
                  <a:pt x="2659618" y="535546"/>
                </a:lnTo>
                <a:lnTo>
                  <a:pt x="2663095" y="564267"/>
                </a:lnTo>
                <a:lnTo>
                  <a:pt x="2666571" y="591658"/>
                </a:lnTo>
                <a:lnTo>
                  <a:pt x="2670048" y="617267"/>
                </a:lnTo>
                <a:lnTo>
                  <a:pt x="2673525" y="640668"/>
                </a:lnTo>
                <a:lnTo>
                  <a:pt x="2677001" y="661463"/>
                </a:lnTo>
                <a:lnTo>
                  <a:pt x="2680478" y="679294"/>
                </a:lnTo>
                <a:lnTo>
                  <a:pt x="2683954" y="693844"/>
                </a:lnTo>
                <a:lnTo>
                  <a:pt x="2687431" y="704846"/>
                </a:lnTo>
                <a:lnTo>
                  <a:pt x="2690908" y="712088"/>
                </a:lnTo>
                <a:lnTo>
                  <a:pt x="2694384" y="715414"/>
                </a:lnTo>
                <a:lnTo>
                  <a:pt x="2697861" y="714730"/>
                </a:lnTo>
                <a:lnTo>
                  <a:pt x="2701338" y="710005"/>
                </a:lnTo>
                <a:lnTo>
                  <a:pt x="2704814" y="701272"/>
                </a:lnTo>
                <a:lnTo>
                  <a:pt x="2708291" y="688628"/>
                </a:lnTo>
                <a:lnTo>
                  <a:pt x="2711768" y="672234"/>
                </a:lnTo>
                <a:lnTo>
                  <a:pt x="2715244" y="652312"/>
                </a:lnTo>
                <a:lnTo>
                  <a:pt x="2718721" y="629145"/>
                </a:lnTo>
                <a:lnTo>
                  <a:pt x="2722197" y="603067"/>
                </a:lnTo>
                <a:lnTo>
                  <a:pt x="2725674" y="574465"/>
                </a:lnTo>
                <a:lnTo>
                  <a:pt x="2729151" y="543768"/>
                </a:lnTo>
                <a:lnTo>
                  <a:pt x="2732627" y="511446"/>
                </a:lnTo>
                <a:lnTo>
                  <a:pt x="2736104" y="477996"/>
                </a:lnTo>
                <a:lnTo>
                  <a:pt x="2739581" y="443940"/>
                </a:lnTo>
                <a:lnTo>
                  <a:pt x="2743057" y="409815"/>
                </a:lnTo>
                <a:lnTo>
                  <a:pt x="2746534" y="376164"/>
                </a:lnTo>
                <a:lnTo>
                  <a:pt x="2750010" y="343528"/>
                </a:lnTo>
                <a:lnTo>
                  <a:pt x="2753487" y="312438"/>
                </a:lnTo>
                <a:lnTo>
                  <a:pt x="2756964" y="283404"/>
                </a:lnTo>
                <a:lnTo>
                  <a:pt x="2760440" y="256908"/>
                </a:lnTo>
                <a:lnTo>
                  <a:pt x="2763917" y="233398"/>
                </a:lnTo>
                <a:lnTo>
                  <a:pt x="2767393" y="213277"/>
                </a:lnTo>
                <a:lnTo>
                  <a:pt x="2770870" y="196899"/>
                </a:lnTo>
                <a:lnTo>
                  <a:pt x="2774347" y="184561"/>
                </a:lnTo>
                <a:lnTo>
                  <a:pt x="2777823" y="176498"/>
                </a:lnTo>
                <a:lnTo>
                  <a:pt x="2781300" y="172879"/>
                </a:lnTo>
              </a:path>
            </a:pathLst>
          </a:custGeom>
          <a:noFill xmlns:a="http://schemas.openxmlformats.org/drawingml/2006/main"/>
          <a:ln xmlns:a="http://schemas.openxmlformats.org/drawingml/2006/main" w="15240">
            <a:solidFill>
              <a:srgbClr val="777777"/>
            </a:solidFill>
          </a:ln>
        </p:spPr>
      </p:sp>
      <p:pic>
        <p:nvPicPr>
          <p:cNvPr id="42" name="!!am-route-m" descr="m(t)">
            <ns0:hlinkClick xmlns:ns0="http://schemas.openxmlformats.org/drawingml/2006/main" xmlns:ns1="http://schemas.openxmlformats.org/officeDocument/2006/relationships" ns1:id="rIdmethods_Link12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6f804df38994f2e">
            <a:extLst>
              <a:ext uri="{96DAC541-7B7A-43D3-8B79-37D633B846F1}">
                <ns0:svgBlip xmlns:ns0="http://schemas.microsoft.com/office/drawing/2016/SVG/main" r:embed="rIdVectormf00556"/>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43" name="!!am-route-s" descr="s(t)">
            <ns0:hlinkClick xmlns:ns0="http://schemas.openxmlformats.org/drawingml/2006/main" xmlns:ns1="http://schemas.openxmlformats.org/officeDocument/2006/relationships" ns1:id="rIdmethods_Link12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f0d9fe0d1b6e43d3">
            <a:extLst>
              <a:ext uri="{96DAC541-7B7A-43D3-8B79-37D633B846F1}">
                <ns1:svgBlip xmlns:ns1="http://schemas.microsoft.com/office/drawing/2016/SVG/main" r:embed="rIdVectormf00557"/>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44" name="!!am-route-restored" descr="m(t)">
            <ns0:hlinkClick xmlns:ns0="http://schemas.openxmlformats.org/drawingml/2006/main" xmlns:ns1="http://schemas.openxmlformats.org/officeDocument/2006/relationships" ns1:id="rIdmethods_Link12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408210001bf47b0">
            <a:extLst>
              <a:ext uri="{96DAC541-7B7A-43D3-8B79-37D633B846F1}">
                <ns2:svgBlip xmlns:ns2="http://schemas.microsoft.com/office/drawing/2016/SVG/main" r:embed="rIdVectormf00558"/>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45" name="!!am-am-carrier-g0-r0-domain" descr="t"/>
          <p:cNvPicPr>
            <a:picLocks xmlns:a="http://schemas.openxmlformats.org/drawingml/2006/main" noChangeAspect="1"/>
          </p:cNvPicPr>
          <p:nvPr/>
        </p:nvPicPr>
        <p:blipFill>
          <a:blip xmlns:r="http://schemas.openxmlformats.org/officeDocument/2006/relationships" xmlns:a="http://schemas.openxmlformats.org/drawingml/2006/main" r:embed="R147a57f1b31141b8">
            <a:extLst>
              <a:ext uri="{96DAC541-7B7A-43D3-8B79-37D633B846F1}">
                <ns3:svgBlip xmlns:ns3="http://schemas.microsoft.com/office/drawing/2016/SVG/main" r:embed="rIdVectormf00559"/>
              </a:ext>
            </a:extLst>
          </a:blip>
          <a:stretch xmlns:a="http://schemas.openxmlformats.org/drawingml/2006/main"/>
        </p:blipFill>
        <p:spPr>
          <a:xfrm xmlns:a="http://schemas.openxmlformats.org/drawingml/2006/main">
            <a:off x="3371850" y="3008769"/>
            <a:ext cx="68580" cy="97512"/>
          </a:xfrm>
          <a:prstGeom xmlns:a="http://schemas.openxmlformats.org/drawingml/2006/main" prst="rect">
            <a:avLst/>
          </a:prstGeom>
        </p:spPr>
      </p:pic>
      <p:pic>
        <p:nvPicPr>
          <p:cNvPr id="46" name="!!am-am-carrier-g0-r0-label" descr="\textstyle 1+k_am(t)"/>
          <p:cNvPicPr>
            <a:picLocks xmlns:a="http://schemas.openxmlformats.org/drawingml/2006/main" noChangeAspect="1"/>
          </p:cNvPicPr>
          <p:nvPr/>
        </p:nvPicPr>
        <p:blipFill>
          <a:blip xmlns:r="http://schemas.openxmlformats.org/officeDocument/2006/relationships" xmlns:a="http://schemas.openxmlformats.org/drawingml/2006/main" r:embed="R402bd5ba7c14425d">
            <a:extLst>
              <a:ext uri="{96DAC541-7B7A-43D3-8B79-37D633B846F1}">
                <ns4:svgBlip xmlns:ns4="http://schemas.microsoft.com/office/drawing/2016/SVG/main" r:embed="rIdVectormf00560"/>
              </a:ext>
            </a:extLst>
          </a:blip>
          <a:stretch xmlns:a="http://schemas.openxmlformats.org/drawingml/2006/main"/>
        </p:blipFill>
        <p:spPr>
          <a:xfrm xmlns:a="http://schemas.openxmlformats.org/drawingml/2006/main">
            <a:off x="575014" y="2381250"/>
            <a:ext cx="1124542" cy="209550"/>
          </a:xfrm>
          <a:prstGeom xmlns:a="http://schemas.openxmlformats.org/drawingml/2006/main" prst="rect">
            <a:avLst/>
          </a:prstGeom>
        </p:spPr>
      </p:pic>
      <p:pic>
        <p:nvPicPr>
          <p:cNvPr id="47" name="!!am-am-carrier-g1-r0-domain" descr="t"/>
          <p:cNvPicPr>
            <a:picLocks xmlns:a="http://schemas.openxmlformats.org/drawingml/2006/main" noChangeAspect="1"/>
          </p:cNvPicPr>
          <p:nvPr/>
        </p:nvPicPr>
        <p:blipFill>
          <a:blip xmlns:r="http://schemas.openxmlformats.org/officeDocument/2006/relationships" xmlns:a="http://schemas.openxmlformats.org/drawingml/2006/main" r:embed="Rcb567546d5464f6f">
            <a:extLst>
              <a:ext uri="{96DAC541-7B7A-43D3-8B79-37D633B846F1}">
                <ns5:svgBlip xmlns:ns5="http://schemas.microsoft.com/office/drawing/2016/SVG/main" r:embed="rIdVectormf00561"/>
              </a:ext>
            </a:extLst>
          </a:blip>
          <a:stretch xmlns:a="http://schemas.openxmlformats.org/drawingml/2006/main"/>
        </p:blipFill>
        <p:spPr>
          <a:xfrm xmlns:a="http://schemas.openxmlformats.org/drawingml/2006/main">
            <a:off x="7372350" y="3008769"/>
            <a:ext cx="68580" cy="97512"/>
          </a:xfrm>
          <a:prstGeom xmlns:a="http://schemas.openxmlformats.org/drawingml/2006/main" prst="rect">
            <a:avLst/>
          </a:prstGeom>
        </p:spPr>
      </p:pic>
      <p:pic>
        <p:nvPicPr>
          <p:cNvPr id="48" name="!!am-am-carrier-g1-r0-label" descr="\textstyle s(t)"/>
          <p:cNvPicPr>
            <a:picLocks xmlns:a="http://schemas.openxmlformats.org/drawingml/2006/main" noChangeAspect="1"/>
          </p:cNvPicPr>
          <p:nvPr/>
        </p:nvPicPr>
        <p:blipFill>
          <a:blip xmlns:r="http://schemas.openxmlformats.org/officeDocument/2006/relationships" xmlns:a="http://schemas.openxmlformats.org/drawingml/2006/main" r:embed="R80b1889baf6c481e">
            <a:extLst>
              <a:ext uri="{96DAC541-7B7A-43D3-8B79-37D633B846F1}">
                <ns6:svgBlip xmlns:ns6="http://schemas.microsoft.com/office/drawing/2016/SVG/main" r:embed="rIdVectormf00562"/>
              </a:ext>
            </a:extLst>
          </a:blip>
          <a:stretch xmlns:a="http://schemas.openxmlformats.org/drawingml/2006/main"/>
        </p:blipFill>
        <p:spPr>
          <a:xfrm xmlns:a="http://schemas.openxmlformats.org/drawingml/2006/main">
            <a:off x="4572235" y="2381250"/>
            <a:ext cx="376719" cy="209550"/>
          </a:xfrm>
          <a:prstGeom xmlns:a="http://schemas.openxmlformats.org/drawingml/2006/main" prst="rect">
            <a:avLst/>
          </a:prstGeom>
        </p:spPr>
      </p:pic>
      <p:pic>
        <p:nvPicPr>
          <p:cNvPr id="49" name="!!am-am-carrier-g0-r0-level-label" descr="1"/>
          <p:cNvPicPr>
            <a:picLocks xmlns:a="http://schemas.openxmlformats.org/drawingml/2006/main" noChangeAspect="1"/>
          </p:cNvPicPr>
          <p:nvPr/>
        </p:nvPicPr>
        <p:blipFill>
          <a:blip xmlns:r="http://schemas.openxmlformats.org/officeDocument/2006/relationships" xmlns:a="http://schemas.openxmlformats.org/drawingml/2006/main" r:embed="R53c489fdacdc48cc">
            <a:extLst>
              <a:ext uri="{96DAC541-7B7A-43D3-8B79-37D633B846F1}">
                <ns7:svgBlip xmlns:ns7="http://schemas.microsoft.com/office/drawing/2016/SVG/main" r:embed="rIdVectormf00563"/>
              </a:ext>
            </a:extLst>
          </a:blip>
          <a:stretch xmlns:a="http://schemas.openxmlformats.org/drawingml/2006/main"/>
        </p:blipFill>
        <p:spPr>
          <a:xfrm xmlns:a="http://schemas.openxmlformats.org/drawingml/2006/main">
            <a:off x="615060" y="2708434"/>
            <a:ext cx="91951" cy="102870"/>
          </a:xfrm>
          <a:prstGeom xmlns:a="http://schemas.openxmlformats.org/drawingml/2006/main" prst="rect">
            <a:avLst/>
          </a:prstGeom>
        </p:spPr>
      </p:pic>
      <p:pic>
        <p:nvPicPr>
          <p:cNvPr id="50" name="!!am-am-carrier-math" descr="\textstyle \times A_c\cos(2\pi f_ct)"/>
          <p:cNvPicPr>
            <a:picLocks xmlns:a="http://schemas.openxmlformats.org/drawingml/2006/main" noChangeAspect="1"/>
          </p:cNvPicPr>
          <p:nvPr/>
        </p:nvPicPr>
        <p:blipFill>
          <a:blip xmlns:r="http://schemas.openxmlformats.org/officeDocument/2006/relationships" xmlns:a="http://schemas.openxmlformats.org/drawingml/2006/main" r:embed="R0f203815a355468d">
            <a:extLst>
              <a:ext uri="{96DAC541-7B7A-43D3-8B79-37D633B846F1}">
                <ns8:svgBlip xmlns:ns8="http://schemas.microsoft.com/office/drawing/2016/SVG/main" r:embed="rIdVectormf00564"/>
              </a:ext>
            </a:extLst>
          </a:blip>
          <a:stretch xmlns:a="http://schemas.openxmlformats.org/drawingml/2006/main"/>
        </p:blipFill>
        <p:spPr>
          <a:xfrm xmlns:a="http://schemas.openxmlformats.org/drawingml/2006/main">
            <a:off x="3128010" y="2067639"/>
            <a:ext cx="1668780" cy="227171"/>
          </a:xfrm>
          <a:prstGeom xmlns:a="http://schemas.openxmlformats.org/drawingml/2006/main" prst="rect">
            <a:avLst/>
          </a:prstGeom>
        </p:spPr>
      </p:pic>
      <p:pic>
        <p:nvPicPr>
          <p:cNvPr id="51" name="!!am-dense-equation-0" descr="\textstyle 1+k_am(t)"/>
          <p:cNvPicPr>
            <a:picLocks xmlns:a="http://schemas.openxmlformats.org/drawingml/2006/main" noChangeAspect="1"/>
          </p:cNvPicPr>
          <p:nvPr/>
        </p:nvPicPr>
        <p:blipFill>
          <a:blip xmlns:r="http://schemas.openxmlformats.org/officeDocument/2006/relationships" xmlns:a="http://schemas.openxmlformats.org/drawingml/2006/main" r:embed="R7d8dd4f3b3154998">
            <a:extLst>
              <a:ext uri="{96DAC541-7B7A-43D3-8B79-37D633B846F1}">
                <ns9:svgBlip xmlns:ns9="http://schemas.microsoft.com/office/drawing/2016/SVG/main" r:embed="rIdVectormf00565"/>
              </a:ext>
            </a:extLst>
          </a:blip>
          <a:stretch xmlns:a="http://schemas.openxmlformats.org/drawingml/2006/main"/>
        </p:blipFill>
        <p:spPr>
          <a:xfrm xmlns:a="http://schemas.openxmlformats.org/drawingml/2006/main">
            <a:off x="613753" y="4919907"/>
            <a:ext cx="1329004" cy="247650"/>
          </a:xfrm>
          <a:prstGeom xmlns:a="http://schemas.openxmlformats.org/drawingml/2006/main" prst="rect">
            <a:avLst/>
          </a:prstGeom>
        </p:spPr>
      </p:pic>
      <p:pic>
        <p:nvPicPr>
          <p:cNvPr id="52" name="!!am-dense-equation-1" descr="\textstyle s(t)=A_c[1+k_am(t)]\cos(2\pi f_ct)"/>
          <p:cNvPicPr>
            <a:picLocks xmlns:a="http://schemas.openxmlformats.org/drawingml/2006/main" noChangeAspect="1"/>
          </p:cNvPicPr>
          <p:nvPr/>
        </p:nvPicPr>
        <p:blipFill>
          <a:blip xmlns:r="http://schemas.openxmlformats.org/officeDocument/2006/relationships" xmlns:a="http://schemas.openxmlformats.org/drawingml/2006/main" r:embed="Rf1e203f75dd74418">
            <a:extLst>
              <a:ext uri="{96DAC541-7B7A-43D3-8B79-37D633B846F1}">
                <ns10:svgBlip xmlns:ns10="http://schemas.microsoft.com/office/drawing/2016/SVG/main" r:embed="rIdVectormf00566"/>
              </a:ext>
            </a:extLst>
          </a:blip>
          <a:stretch xmlns:a="http://schemas.openxmlformats.org/drawingml/2006/main"/>
        </p:blipFill>
        <p:spPr>
          <a:xfrm xmlns:a="http://schemas.openxmlformats.org/drawingml/2006/main">
            <a:off x="609600" y="5358830"/>
            <a:ext cx="3888105" cy="246102"/>
          </a:xfrm>
          <a:prstGeom xmlns:a="http://schemas.openxmlformats.org/drawingml/2006/main" prst="rect">
            <a:avLst/>
          </a:prstGeom>
        </p:spPr>
      </p:pic>
    </p:spTree>
    <p:extLst>
      <p:ext uri="{BB962C8B-B14F-4D97-AF65-F5344CB8AC3E}">
        <p14:creationId xmlns:p14="http://schemas.microsoft.com/office/powerpoint/2010/main" val="29384169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400"/>
                                        <p:tgtEl>
                                          <p:spTgt spid="50"/>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am-title">
            <ns0:hlinkClick xmlns:ns0="http://schemas.openxmlformats.org/drawingml/2006/main" xmlns:ns1="http://schemas.openxmlformats.org/officeDocument/2006/relationships" ns1:id="rIdmethods_Link126" action="ppaction://hlinksldjump"/>
            <a:extLst xmlns:a="http://schemas.openxmlformats.org/drawingml/2006/main">
              <a:ext uri="{FF2B5EF4-FFF2-40B4-BE49-F238E27FC236}">
                <a16:creationId xmlns:a16="http://schemas.microsoft.com/office/drawing/2014/main" id="{7FF1CAB9-6AD6-4BD6-A9F8-9EC638768B4D}"/>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26" action="ppaction://hlinksldjump"/>
              </a:rPr>
              <a:t>AM</a:t>
            </a:r>
          </a:p>
        </p:txBody>
      </p:sp>
      <p:sp>
        <p:nvSpPr>
          <p:cNvPr id="2" name="!!am-route-tx-line">
            <a:extLst xmlns:a="http://schemas.openxmlformats.org/drawingml/2006/main">
              <a:ext uri="{FF2B5EF4-FFF2-40B4-BE49-F238E27FC236}">
                <a16:creationId xmlns:a16="http://schemas.microsoft.com/office/drawing/2014/main" id="{8032366E-99B2-4227-BBC9-F0312225EEEB}"/>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am-route-tx-head">
            <a:extLst xmlns:a="http://schemas.openxmlformats.org/drawingml/2006/main">
              <a:ext uri="{FF2B5EF4-FFF2-40B4-BE49-F238E27FC236}">
                <a16:creationId xmlns:a16="http://schemas.microsoft.com/office/drawing/2014/main" id="{004FF1F9-3075-4353-955B-6B27FB802BD1}"/>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am-route-rx-line">
            <a:extLst xmlns:a="http://schemas.openxmlformats.org/drawingml/2006/main">
              <a:ext uri="{FF2B5EF4-FFF2-40B4-BE49-F238E27FC236}">
                <a16:creationId xmlns:a16="http://schemas.microsoft.com/office/drawing/2014/main" id="{EF9160D0-8941-41E2-BEC7-4319394C8265}"/>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am-route-rx-head">
            <a:extLst xmlns:a="http://schemas.openxmlformats.org/drawingml/2006/main">
              <a:ext uri="{FF2B5EF4-FFF2-40B4-BE49-F238E27FC236}">
                <a16:creationId xmlns:a16="http://schemas.microsoft.com/office/drawing/2014/main" id="{88595A29-7D13-4D5E-A3F0-58F7BBEAA92D}"/>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m-review-purpose">
            <a:extLst xmlns:a="http://schemas.openxmlformats.org/drawingml/2006/main">
              <a:ext uri="{FF2B5EF4-FFF2-40B4-BE49-F238E27FC236}">
                <a16:creationId xmlns:a16="http://schemas.microsoft.com/office/drawing/2014/main" id="{6B84F4A1-3D6F-4F90-AD32-4D91B9B52D6C}"/>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Read the envelope; subtract the bias</a:t>
            </a:r>
          </a:p>
        </p:txBody>
      </p:sp>
      <p:sp>
        <p:nvSpPr>
          <p:cNvPr id="7" name="!!am-am-envelope-g0-r0-axis-line">
            <a:extLst xmlns:a="http://schemas.openxmlformats.org/drawingml/2006/main">
              <a:ext uri="{FF2B5EF4-FFF2-40B4-BE49-F238E27FC236}">
                <a16:creationId xmlns:a16="http://schemas.microsoft.com/office/drawing/2014/main" id="{7E0BBEF3-F352-455C-9830-4C439E7D13BF}"/>
              </a:ext>
            </a:extLst>
          </p:cNvPr>
          <p:cNvSpPr>
            <a:spLocks xmlns:a="http://schemas.openxmlformats.org/drawingml/2006/main" noGrp="1"/>
          </p:cNvSpPr>
          <p:nvPr/>
        </p:nvSpPr>
        <p:spPr>
          <a:xfrm xmlns:a="http://schemas.openxmlformats.org/drawingml/2006/main">
            <a:off x="571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m-am-envelope-g0-r0-axis-head">
            <a:extLst xmlns:a="http://schemas.openxmlformats.org/drawingml/2006/main">
              <a:ext uri="{FF2B5EF4-FFF2-40B4-BE49-F238E27FC236}">
                <a16:creationId xmlns:a16="http://schemas.microsoft.com/office/drawing/2014/main" id="{377C50B7-C215-4179-A8E9-1EC960C68DB2}"/>
              </a:ext>
            </a:extLst>
          </p:cNvPr>
          <p:cNvSpPr>
            <a:spLocks xmlns:a="http://schemas.openxmlformats.org/drawingml/2006/main" noGrp="1"/>
          </p:cNvSpPr>
          <p:nvPr/>
        </p:nvSpPr>
        <p:spPr>
          <a:xfrm xmlns:a="http://schemas.openxmlformats.org/drawingml/2006/main" rot="5400000">
            <a:off x="3238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am-am-envelope-g1-r0-axis-line">
            <a:extLst xmlns:a="http://schemas.openxmlformats.org/drawingml/2006/main">
              <a:ext uri="{FF2B5EF4-FFF2-40B4-BE49-F238E27FC236}">
                <a16:creationId xmlns:a16="http://schemas.microsoft.com/office/drawing/2014/main" id="{4017C0B6-3D8B-46C1-8522-C395C6591E26}"/>
              </a:ext>
            </a:extLst>
          </p:cNvPr>
          <p:cNvSpPr>
            <a:spLocks xmlns:a="http://schemas.openxmlformats.org/drawingml/2006/main" noGrp="1"/>
          </p:cNvSpPr>
          <p:nvPr/>
        </p:nvSpPr>
        <p:spPr>
          <a:xfrm xmlns:a="http://schemas.openxmlformats.org/drawingml/2006/main">
            <a:off x="45720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m-am-envelope-g1-r0-axis-head">
            <a:extLst xmlns:a="http://schemas.openxmlformats.org/drawingml/2006/main">
              <a:ext uri="{FF2B5EF4-FFF2-40B4-BE49-F238E27FC236}">
                <a16:creationId xmlns:a16="http://schemas.microsoft.com/office/drawing/2014/main" id="{7BBF4CB1-499D-40F2-834C-B4D40C8CF570}"/>
              </a:ext>
            </a:extLst>
          </p:cNvPr>
          <p:cNvSpPr>
            <a:spLocks xmlns:a="http://schemas.openxmlformats.org/drawingml/2006/main" noGrp="1"/>
          </p:cNvSpPr>
          <p:nvPr/>
        </p:nvSpPr>
        <p:spPr>
          <a:xfrm xmlns:a="http://schemas.openxmlformats.org/drawingml/2006/main" rot="5400000">
            <a:off x="72390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am-am-envelope-g2-r0-axis-line">
            <a:extLst xmlns:a="http://schemas.openxmlformats.org/drawingml/2006/main">
              <a:ext uri="{FF2B5EF4-FFF2-40B4-BE49-F238E27FC236}">
                <a16:creationId xmlns:a16="http://schemas.microsoft.com/office/drawing/2014/main" id="{0609EC1C-32EB-481F-8845-D160E9467FC9}"/>
              </a:ext>
            </a:extLst>
          </p:cNvPr>
          <p:cNvSpPr>
            <a:spLocks xmlns:a="http://schemas.openxmlformats.org/drawingml/2006/main" noGrp="1"/>
          </p:cNvSpPr>
          <p:nvPr/>
        </p:nvSpPr>
        <p:spPr>
          <a:xfrm xmlns:a="http://schemas.openxmlformats.org/drawingml/2006/main">
            <a:off x="8572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m-am-envelope-g2-r0-axis-head">
            <a:extLst xmlns:a="http://schemas.openxmlformats.org/drawingml/2006/main">
              <a:ext uri="{FF2B5EF4-FFF2-40B4-BE49-F238E27FC236}">
                <a16:creationId xmlns:a16="http://schemas.microsoft.com/office/drawing/2014/main" id="{2A74D6F3-4043-4890-8F94-27229A3203A7}"/>
              </a:ext>
            </a:extLst>
          </p:cNvPr>
          <p:cNvSpPr>
            <a:spLocks xmlns:a="http://schemas.openxmlformats.org/drawingml/2006/main" noGrp="1"/>
          </p:cNvSpPr>
          <p:nvPr/>
        </p:nvSpPr>
        <p:spPr>
          <a:xfrm xmlns:a="http://schemas.openxmlformats.org/drawingml/2006/main" rot="5400000">
            <a:off x="11239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3" name="!!am-am-envelope-g0-r0-wave">
            <a:extLst xmlns:a="http://schemas.openxmlformats.org/drawingml/2006/main">
              <a:ext uri="{FF2B5EF4-FFF2-40B4-BE49-F238E27FC236}">
                <a16:creationId xmlns:a16="http://schemas.microsoft.com/office/drawing/2014/main" id="{6028F0CD-5A04-4FBF-AD33-EC65D73614E7}"/>
              </a:ext>
            </a:extLst>
          </p:cNvPr>
          <p:cNvSpPr>
            <a:spLocks xmlns:a="http://schemas.openxmlformats.org/drawingml/2006/main" noGrp="1"/>
          </p:cNvSpPr>
          <p:nvPr/>
        </p:nvSpPr>
        <p:spPr>
          <a:xfrm xmlns:a="http://schemas.openxmlformats.org/drawingml/2006/main">
            <a:off x="571500" y="2748915"/>
            <a:ext cx="2781300" cy="918698"/>
          </a:xfrm>
          <a:custGeom xmlns:a="http://schemas.openxmlformats.org/drawingml/2006/main">
            <a:pathLst>
              <a:path w="2781300" h="918698">
                <a:moveTo>
                  <a:pt x="0" y="172879"/>
                </a:moveTo>
                <a:lnTo>
                  <a:pt x="3477" y="173804"/>
                </a:lnTo>
                <a:lnTo>
                  <a:pt x="6953" y="179301"/>
                </a:lnTo>
                <a:lnTo>
                  <a:pt x="10430" y="189325"/>
                </a:lnTo>
                <a:lnTo>
                  <a:pt x="13907" y="203760"/>
                </a:lnTo>
                <a:lnTo>
                  <a:pt x="17383" y="222416"/>
                </a:lnTo>
                <a:lnTo>
                  <a:pt x="20860" y="245035"/>
                </a:lnTo>
                <a:lnTo>
                  <a:pt x="24336" y="271293"/>
                </a:lnTo>
                <a:lnTo>
                  <a:pt x="27813" y="300805"/>
                </a:lnTo>
                <a:lnTo>
                  <a:pt x="31290" y="333131"/>
                </a:lnTo>
                <a:lnTo>
                  <a:pt x="34766" y="367781"/>
                </a:lnTo>
                <a:lnTo>
                  <a:pt x="38243" y="404224"/>
                </a:lnTo>
                <a:lnTo>
                  <a:pt x="41719" y="441897"/>
                </a:lnTo>
                <a:lnTo>
                  <a:pt x="45196" y="480208"/>
                </a:lnTo>
                <a:lnTo>
                  <a:pt x="48673" y="518555"/>
                </a:lnTo>
                <a:lnTo>
                  <a:pt x="52149" y="556327"/>
                </a:lnTo>
                <a:lnTo>
                  <a:pt x="55626" y="592916"/>
                </a:lnTo>
                <a:lnTo>
                  <a:pt x="59103" y="627730"/>
                </a:lnTo>
                <a:lnTo>
                  <a:pt x="62579" y="660199"/>
                </a:lnTo>
                <a:lnTo>
                  <a:pt x="66056" y="689785"/>
                </a:lnTo>
                <a:lnTo>
                  <a:pt x="69532" y="715992"/>
                </a:lnTo>
                <a:lnTo>
                  <a:pt x="73009" y="738375"/>
                </a:lnTo>
                <a:lnTo>
                  <a:pt x="76486" y="756543"/>
                </a:lnTo>
                <a:lnTo>
                  <a:pt x="79962" y="770173"/>
                </a:lnTo>
                <a:lnTo>
                  <a:pt x="83439" y="779008"/>
                </a:lnTo>
                <a:lnTo>
                  <a:pt x="86916" y="782868"/>
                </a:lnTo>
                <a:lnTo>
                  <a:pt x="90392" y="781650"/>
                </a:lnTo>
                <a:lnTo>
                  <a:pt x="93869" y="775332"/>
                </a:lnTo>
                <a:lnTo>
                  <a:pt x="97345" y="763972"/>
                </a:lnTo>
                <a:lnTo>
                  <a:pt x="100822" y="747709"/>
                </a:lnTo>
                <a:lnTo>
                  <a:pt x="104299" y="726763"/>
                </a:lnTo>
                <a:lnTo>
                  <a:pt x="107775" y="701430"/>
                </a:lnTo>
                <a:lnTo>
                  <a:pt x="111252" y="672077"/>
                </a:lnTo>
                <a:lnTo>
                  <a:pt x="114729" y="639139"/>
                </a:lnTo>
                <a:lnTo>
                  <a:pt x="118205" y="603114"/>
                </a:lnTo>
                <a:lnTo>
                  <a:pt x="121682" y="564548"/>
                </a:lnTo>
                <a:lnTo>
                  <a:pt x="125159" y="524038"/>
                </a:lnTo>
                <a:lnTo>
                  <a:pt x="128635" y="482212"/>
                </a:lnTo>
                <a:lnTo>
                  <a:pt x="132112" y="439726"/>
                </a:lnTo>
                <a:lnTo>
                  <a:pt x="135588" y="397251"/>
                </a:lnTo>
                <a:lnTo>
                  <a:pt x="139065" y="355464"/>
                </a:lnTo>
                <a:lnTo>
                  <a:pt x="142542" y="315034"/>
                </a:lnTo>
                <a:lnTo>
                  <a:pt x="146018" y="276616"/>
                </a:lnTo>
                <a:lnTo>
                  <a:pt x="149495" y="240836"/>
                </a:lnTo>
                <a:lnTo>
                  <a:pt x="152972" y="208283"/>
                </a:lnTo>
                <a:lnTo>
                  <a:pt x="156448" y="179498"/>
                </a:lnTo>
                <a:lnTo>
                  <a:pt x="159925" y="154969"/>
                </a:lnTo>
                <a:lnTo>
                  <a:pt x="163401" y="135116"/>
                </a:lnTo>
                <a:lnTo>
                  <a:pt x="166878" y="120289"/>
                </a:lnTo>
                <a:lnTo>
                  <a:pt x="170355" y="110761"/>
                </a:lnTo>
                <a:lnTo>
                  <a:pt x="173831" y="106721"/>
                </a:lnTo>
                <a:lnTo>
                  <a:pt x="177308" y="108272"/>
                </a:lnTo>
                <a:lnTo>
                  <a:pt x="180785" y="115430"/>
                </a:lnTo>
                <a:lnTo>
                  <a:pt x="184261" y="128119"/>
                </a:lnTo>
                <a:lnTo>
                  <a:pt x="187738" y="146176"/>
                </a:lnTo>
                <a:lnTo>
                  <a:pt x="191214" y="169352"/>
                </a:lnTo>
                <a:lnTo>
                  <a:pt x="194691" y="197313"/>
                </a:lnTo>
                <a:lnTo>
                  <a:pt x="198168" y="229647"/>
                </a:lnTo>
                <a:lnTo>
                  <a:pt x="201644" y="265869"/>
                </a:lnTo>
                <a:lnTo>
                  <a:pt x="205121" y="305428"/>
                </a:lnTo>
                <a:lnTo>
                  <a:pt x="208598" y="347719"/>
                </a:lnTo>
                <a:lnTo>
                  <a:pt x="212074" y="392087"/>
                </a:lnTo>
                <a:lnTo>
                  <a:pt x="215551" y="437839"/>
                </a:lnTo>
                <a:lnTo>
                  <a:pt x="219027" y="484257"/>
                </a:lnTo>
                <a:lnTo>
                  <a:pt x="222504" y="530606"/>
                </a:lnTo>
                <a:lnTo>
                  <a:pt x="225981" y="576151"/>
                </a:lnTo>
                <a:lnTo>
                  <a:pt x="229457" y="620160"/>
                </a:lnTo>
                <a:lnTo>
                  <a:pt x="232934" y="661925"/>
                </a:lnTo>
                <a:lnTo>
                  <a:pt x="236410" y="700767"/>
                </a:lnTo>
                <a:lnTo>
                  <a:pt x="239887" y="736050"/>
                </a:lnTo>
                <a:lnTo>
                  <a:pt x="243364" y="767191"/>
                </a:lnTo>
                <a:lnTo>
                  <a:pt x="246840" y="793669"/>
                </a:lnTo>
                <a:lnTo>
                  <a:pt x="250317" y="815036"/>
                </a:lnTo>
                <a:lnTo>
                  <a:pt x="253794" y="830920"/>
                </a:lnTo>
                <a:lnTo>
                  <a:pt x="257270" y="841035"/>
                </a:lnTo>
                <a:lnTo>
                  <a:pt x="260747" y="845188"/>
                </a:lnTo>
                <a:lnTo>
                  <a:pt x="264223" y="843275"/>
                </a:lnTo>
                <a:lnTo>
                  <a:pt x="267700" y="835293"/>
                </a:lnTo>
                <a:lnTo>
                  <a:pt x="271177" y="821333"/>
                </a:lnTo>
                <a:lnTo>
                  <a:pt x="274653" y="801582"/>
                </a:lnTo>
                <a:lnTo>
                  <a:pt x="278130" y="776322"/>
                </a:lnTo>
                <a:lnTo>
                  <a:pt x="281607" y="745922"/>
                </a:lnTo>
                <a:lnTo>
                  <a:pt x="285083" y="710836"/>
                </a:lnTo>
                <a:lnTo>
                  <a:pt x="288560" y="671597"/>
                </a:lnTo>
                <a:lnTo>
                  <a:pt x="292036" y="628805"/>
                </a:lnTo>
                <a:lnTo>
                  <a:pt x="295513" y="583121"/>
                </a:lnTo>
                <a:lnTo>
                  <a:pt x="298990" y="535255"/>
                </a:lnTo>
                <a:lnTo>
                  <a:pt x="302466" y="485955"/>
                </a:lnTo>
                <a:lnTo>
                  <a:pt x="305943" y="435999"/>
                </a:lnTo>
                <a:lnTo>
                  <a:pt x="309420" y="386175"/>
                </a:lnTo>
                <a:lnTo>
                  <a:pt x="312896" y="337277"/>
                </a:lnTo>
                <a:lnTo>
                  <a:pt x="316373" y="290087"/>
                </a:lnTo>
                <a:lnTo>
                  <a:pt x="319850" y="245362"/>
                </a:lnTo>
                <a:lnTo>
                  <a:pt x="323326" y="203827"/>
                </a:lnTo>
                <a:lnTo>
                  <a:pt x="326803" y="166156"/>
                </a:lnTo>
                <a:lnTo>
                  <a:pt x="330279" y="132969"/>
                </a:lnTo>
                <a:lnTo>
                  <a:pt x="333756" y="104813"/>
                </a:lnTo>
                <a:lnTo>
                  <a:pt x="337233" y="82162"/>
                </a:lnTo>
                <a:lnTo>
                  <a:pt x="340709" y="65402"/>
                </a:lnTo>
                <a:lnTo>
                  <a:pt x="344186" y="54827"/>
                </a:lnTo>
                <a:lnTo>
                  <a:pt x="347663" y="50635"/>
                </a:lnTo>
                <a:lnTo>
                  <a:pt x="351139" y="52922"/>
                </a:lnTo>
                <a:lnTo>
                  <a:pt x="354616" y="61683"/>
                </a:lnTo>
                <a:lnTo>
                  <a:pt x="358092" y="76807"/>
                </a:lnTo>
                <a:lnTo>
                  <a:pt x="361569" y="98084"/>
                </a:lnTo>
                <a:lnTo>
                  <a:pt x="365046" y="125203"/>
                </a:lnTo>
                <a:lnTo>
                  <a:pt x="368522" y="157761"/>
                </a:lnTo>
                <a:lnTo>
                  <a:pt x="371999" y="195263"/>
                </a:lnTo>
                <a:lnTo>
                  <a:pt x="375476" y="237136"/>
                </a:lnTo>
                <a:lnTo>
                  <a:pt x="378952" y="282735"/>
                </a:lnTo>
                <a:lnTo>
                  <a:pt x="382429" y="331350"/>
                </a:lnTo>
                <a:lnTo>
                  <a:pt x="385905" y="382222"/>
                </a:lnTo>
                <a:lnTo>
                  <a:pt x="389382" y="434554"/>
                </a:lnTo>
                <a:lnTo>
                  <a:pt x="392859" y="487520"/>
                </a:lnTo>
                <a:lnTo>
                  <a:pt x="396335" y="540282"/>
                </a:lnTo>
                <a:lnTo>
                  <a:pt x="399812" y="592001"/>
                </a:lnTo>
                <a:lnTo>
                  <a:pt x="403289" y="641852"/>
                </a:lnTo>
                <a:lnTo>
                  <a:pt x="406765" y="689037"/>
                </a:lnTo>
                <a:lnTo>
                  <a:pt x="410242" y="732795"/>
                </a:lnTo>
                <a:lnTo>
                  <a:pt x="413718" y="772419"/>
                </a:lnTo>
                <a:lnTo>
                  <a:pt x="417195" y="807264"/>
                </a:lnTo>
                <a:lnTo>
                  <a:pt x="420672" y="836759"/>
                </a:lnTo>
                <a:lnTo>
                  <a:pt x="424148" y="860416"/>
                </a:lnTo>
                <a:lnTo>
                  <a:pt x="427625" y="877838"/>
                </a:lnTo>
                <a:lnTo>
                  <a:pt x="431101" y="888726"/>
                </a:lnTo>
                <a:lnTo>
                  <a:pt x="434578" y="892885"/>
                </a:lnTo>
                <a:lnTo>
                  <a:pt x="438055" y="890223"/>
                </a:lnTo>
                <a:lnTo>
                  <a:pt x="441531" y="880761"/>
                </a:lnTo>
                <a:lnTo>
                  <a:pt x="445008" y="864624"/>
                </a:lnTo>
                <a:lnTo>
                  <a:pt x="448485" y="842046"/>
                </a:lnTo>
                <a:lnTo>
                  <a:pt x="451961" y="813365"/>
                </a:lnTo>
                <a:lnTo>
                  <a:pt x="455438" y="779015"/>
                </a:lnTo>
                <a:lnTo>
                  <a:pt x="458915" y="739523"/>
                </a:lnTo>
                <a:lnTo>
                  <a:pt x="462391" y="695500"/>
                </a:lnTo>
                <a:lnTo>
                  <a:pt x="465868" y="647629"/>
                </a:lnTo>
                <a:lnTo>
                  <a:pt x="469344" y="596658"/>
                </a:lnTo>
                <a:lnTo>
                  <a:pt x="472821" y="543388"/>
                </a:lnTo>
                <a:lnTo>
                  <a:pt x="476298" y="488655"/>
                </a:lnTo>
                <a:lnTo>
                  <a:pt x="479774" y="433325"/>
                </a:lnTo>
                <a:lnTo>
                  <a:pt x="483251" y="378272"/>
                </a:lnTo>
                <a:lnTo>
                  <a:pt x="486727" y="324373"/>
                </a:lnTo>
                <a:lnTo>
                  <a:pt x="490204" y="272484"/>
                </a:lnTo>
                <a:lnTo>
                  <a:pt x="493681" y="223435"/>
                </a:lnTo>
                <a:lnTo>
                  <a:pt x="497157" y="178011"/>
                </a:lnTo>
                <a:lnTo>
                  <a:pt x="500634" y="136942"/>
                </a:lnTo>
                <a:lnTo>
                  <a:pt x="504111" y="100892"/>
                </a:lnTo>
                <a:lnTo>
                  <a:pt x="507587" y="70446"/>
                </a:lnTo>
                <a:lnTo>
                  <a:pt x="511064" y="46100"/>
                </a:lnTo>
                <a:lnTo>
                  <a:pt x="514541" y="28255"/>
                </a:lnTo>
                <a:lnTo>
                  <a:pt x="518017" y="17211"/>
                </a:lnTo>
                <a:lnTo>
                  <a:pt x="521494" y="13160"/>
                </a:lnTo>
                <a:lnTo>
                  <a:pt x="524970" y="16180"/>
                </a:lnTo>
                <a:lnTo>
                  <a:pt x="528447" y="26242"/>
                </a:lnTo>
                <a:lnTo>
                  <a:pt x="531924" y="43201"/>
                </a:lnTo>
                <a:lnTo>
                  <a:pt x="535400" y="66804"/>
                </a:lnTo>
                <a:lnTo>
                  <a:pt x="538877" y="96690"/>
                </a:lnTo>
                <a:lnTo>
                  <a:pt x="542354" y="132399"/>
                </a:lnTo>
                <a:lnTo>
                  <a:pt x="545830" y="173376"/>
                </a:lnTo>
                <a:lnTo>
                  <a:pt x="549307" y="218983"/>
                </a:lnTo>
                <a:lnTo>
                  <a:pt x="552783" y="268505"/>
                </a:lnTo>
                <a:lnTo>
                  <a:pt x="556260" y="321165"/>
                </a:lnTo>
                <a:lnTo>
                  <a:pt x="559737" y="376133"/>
                </a:lnTo>
                <a:lnTo>
                  <a:pt x="563213" y="432543"/>
                </a:lnTo>
                <a:lnTo>
                  <a:pt x="566690" y="489502"/>
                </a:lnTo>
                <a:lnTo>
                  <a:pt x="570167" y="546108"/>
                </a:lnTo>
                <a:lnTo>
                  <a:pt x="573643" y="601464"/>
                </a:lnTo>
                <a:lnTo>
                  <a:pt x="577120" y="654690"/>
                </a:lnTo>
                <a:lnTo>
                  <a:pt x="580596" y="704938"/>
                </a:lnTo>
                <a:lnTo>
                  <a:pt x="584073" y="751407"/>
                </a:lnTo>
                <a:lnTo>
                  <a:pt x="587550" y="793355"/>
                </a:lnTo>
                <a:lnTo>
                  <a:pt x="591026" y="830111"/>
                </a:lnTo>
                <a:lnTo>
                  <a:pt x="594503" y="861084"/>
                </a:lnTo>
                <a:lnTo>
                  <a:pt x="597980" y="885775"/>
                </a:lnTo>
                <a:lnTo>
                  <a:pt x="601456" y="903786"/>
                </a:lnTo>
                <a:lnTo>
                  <a:pt x="604933" y="914821"/>
                </a:lnTo>
                <a:lnTo>
                  <a:pt x="608409" y="918698"/>
                </a:lnTo>
                <a:lnTo>
                  <a:pt x="611886" y="915347"/>
                </a:lnTo>
                <a:lnTo>
                  <a:pt x="615363" y="904812"/>
                </a:lnTo>
                <a:lnTo>
                  <a:pt x="618839" y="887253"/>
                </a:lnTo>
                <a:lnTo>
                  <a:pt x="622316" y="862940"/>
                </a:lnTo>
                <a:lnTo>
                  <a:pt x="625793" y="832253"/>
                </a:lnTo>
                <a:lnTo>
                  <a:pt x="629269" y="795671"/>
                </a:lnTo>
                <a:lnTo>
                  <a:pt x="632746" y="753769"/>
                </a:lnTo>
                <a:lnTo>
                  <a:pt x="636222" y="707207"/>
                </a:lnTo>
                <a:lnTo>
                  <a:pt x="639699" y="656718"/>
                </a:lnTo>
                <a:lnTo>
                  <a:pt x="643176" y="603100"/>
                </a:lnTo>
                <a:lnTo>
                  <a:pt x="646652" y="547199"/>
                </a:lnTo>
                <a:lnTo>
                  <a:pt x="650129" y="489901"/>
                </a:lnTo>
                <a:lnTo>
                  <a:pt x="653606" y="432111"/>
                </a:lnTo>
                <a:lnTo>
                  <a:pt x="657082" y="374746"/>
                </a:lnTo>
                <a:lnTo>
                  <a:pt x="660559" y="318715"/>
                </a:lnTo>
                <a:lnTo>
                  <a:pt x="664035" y="264905"/>
                </a:lnTo>
                <a:lnTo>
                  <a:pt x="667512" y="214171"/>
                </a:lnTo>
                <a:lnTo>
                  <a:pt x="670989" y="167318"/>
                </a:lnTo>
                <a:lnTo>
                  <a:pt x="674465" y="125088"/>
                </a:lnTo>
                <a:lnTo>
                  <a:pt x="677942" y="88153"/>
                </a:lnTo>
                <a:lnTo>
                  <a:pt x="681419" y="57099"/>
                </a:lnTo>
                <a:lnTo>
                  <a:pt x="684895" y="32418"/>
                </a:lnTo>
                <a:lnTo>
                  <a:pt x="688372" y="14504"/>
                </a:lnTo>
                <a:lnTo>
                  <a:pt x="691848" y="3640"/>
                </a:lnTo>
                <a:lnTo>
                  <a:pt x="695325" y="0"/>
                </a:lnTo>
                <a:lnTo>
                  <a:pt x="698802" y="3640"/>
                </a:lnTo>
                <a:lnTo>
                  <a:pt x="702278" y="14504"/>
                </a:lnTo>
                <a:lnTo>
                  <a:pt x="705755" y="32418"/>
                </a:lnTo>
                <a:lnTo>
                  <a:pt x="709231" y="57099"/>
                </a:lnTo>
                <a:lnTo>
                  <a:pt x="712708" y="88153"/>
                </a:lnTo>
                <a:lnTo>
                  <a:pt x="716185" y="125088"/>
                </a:lnTo>
                <a:lnTo>
                  <a:pt x="719661" y="167318"/>
                </a:lnTo>
                <a:lnTo>
                  <a:pt x="723138" y="214171"/>
                </a:lnTo>
                <a:lnTo>
                  <a:pt x="726615" y="264905"/>
                </a:lnTo>
                <a:lnTo>
                  <a:pt x="730091" y="318715"/>
                </a:lnTo>
                <a:lnTo>
                  <a:pt x="733568" y="374746"/>
                </a:lnTo>
                <a:lnTo>
                  <a:pt x="737045" y="432111"/>
                </a:lnTo>
                <a:lnTo>
                  <a:pt x="740521" y="489901"/>
                </a:lnTo>
                <a:lnTo>
                  <a:pt x="743998" y="547199"/>
                </a:lnTo>
                <a:lnTo>
                  <a:pt x="747474" y="603100"/>
                </a:lnTo>
                <a:lnTo>
                  <a:pt x="750951" y="656718"/>
                </a:lnTo>
                <a:lnTo>
                  <a:pt x="754428" y="707207"/>
                </a:lnTo>
                <a:lnTo>
                  <a:pt x="757904" y="753769"/>
                </a:lnTo>
                <a:lnTo>
                  <a:pt x="761381" y="795671"/>
                </a:lnTo>
                <a:lnTo>
                  <a:pt x="764858" y="832253"/>
                </a:lnTo>
                <a:lnTo>
                  <a:pt x="768334" y="862940"/>
                </a:lnTo>
                <a:lnTo>
                  <a:pt x="771811" y="887253"/>
                </a:lnTo>
                <a:lnTo>
                  <a:pt x="775287" y="904812"/>
                </a:lnTo>
                <a:lnTo>
                  <a:pt x="778764" y="915347"/>
                </a:lnTo>
                <a:lnTo>
                  <a:pt x="782241" y="918698"/>
                </a:lnTo>
                <a:lnTo>
                  <a:pt x="785717" y="914821"/>
                </a:lnTo>
                <a:lnTo>
                  <a:pt x="789194" y="903786"/>
                </a:lnTo>
                <a:lnTo>
                  <a:pt x="792671" y="885775"/>
                </a:lnTo>
                <a:lnTo>
                  <a:pt x="796147" y="861084"/>
                </a:lnTo>
                <a:lnTo>
                  <a:pt x="799624" y="830111"/>
                </a:lnTo>
                <a:lnTo>
                  <a:pt x="803100" y="793355"/>
                </a:lnTo>
                <a:lnTo>
                  <a:pt x="806577" y="751407"/>
                </a:lnTo>
                <a:lnTo>
                  <a:pt x="810054" y="704938"/>
                </a:lnTo>
                <a:lnTo>
                  <a:pt x="813530" y="654690"/>
                </a:lnTo>
                <a:lnTo>
                  <a:pt x="817007" y="601464"/>
                </a:lnTo>
                <a:lnTo>
                  <a:pt x="820483" y="546108"/>
                </a:lnTo>
                <a:lnTo>
                  <a:pt x="823960" y="489502"/>
                </a:lnTo>
                <a:lnTo>
                  <a:pt x="827437" y="432543"/>
                </a:lnTo>
                <a:lnTo>
                  <a:pt x="830913" y="376133"/>
                </a:lnTo>
                <a:lnTo>
                  <a:pt x="834390" y="321165"/>
                </a:lnTo>
                <a:lnTo>
                  <a:pt x="837867" y="268505"/>
                </a:lnTo>
                <a:lnTo>
                  <a:pt x="841343" y="218983"/>
                </a:lnTo>
                <a:lnTo>
                  <a:pt x="844820" y="173376"/>
                </a:lnTo>
                <a:lnTo>
                  <a:pt x="848297" y="132399"/>
                </a:lnTo>
                <a:lnTo>
                  <a:pt x="851773" y="96690"/>
                </a:lnTo>
                <a:lnTo>
                  <a:pt x="855250" y="66804"/>
                </a:lnTo>
                <a:lnTo>
                  <a:pt x="858726" y="43201"/>
                </a:lnTo>
                <a:lnTo>
                  <a:pt x="862203" y="26242"/>
                </a:lnTo>
                <a:lnTo>
                  <a:pt x="865680" y="16180"/>
                </a:lnTo>
                <a:lnTo>
                  <a:pt x="869156" y="13160"/>
                </a:lnTo>
                <a:lnTo>
                  <a:pt x="872633" y="17211"/>
                </a:lnTo>
                <a:lnTo>
                  <a:pt x="876110" y="28255"/>
                </a:lnTo>
                <a:lnTo>
                  <a:pt x="879586" y="46100"/>
                </a:lnTo>
                <a:lnTo>
                  <a:pt x="883063" y="70446"/>
                </a:lnTo>
                <a:lnTo>
                  <a:pt x="886539" y="100892"/>
                </a:lnTo>
                <a:lnTo>
                  <a:pt x="890016" y="136942"/>
                </a:lnTo>
                <a:lnTo>
                  <a:pt x="893493" y="178011"/>
                </a:lnTo>
                <a:lnTo>
                  <a:pt x="896969" y="223435"/>
                </a:lnTo>
                <a:lnTo>
                  <a:pt x="900446" y="272484"/>
                </a:lnTo>
                <a:lnTo>
                  <a:pt x="903923" y="324373"/>
                </a:lnTo>
                <a:lnTo>
                  <a:pt x="907399" y="378272"/>
                </a:lnTo>
                <a:lnTo>
                  <a:pt x="910876" y="433325"/>
                </a:lnTo>
                <a:lnTo>
                  <a:pt x="914352" y="488655"/>
                </a:lnTo>
                <a:lnTo>
                  <a:pt x="917829" y="543388"/>
                </a:lnTo>
                <a:lnTo>
                  <a:pt x="921306" y="596658"/>
                </a:lnTo>
                <a:lnTo>
                  <a:pt x="924782" y="647629"/>
                </a:lnTo>
                <a:lnTo>
                  <a:pt x="928259" y="695500"/>
                </a:lnTo>
                <a:lnTo>
                  <a:pt x="931735" y="739523"/>
                </a:lnTo>
                <a:lnTo>
                  <a:pt x="935212" y="779015"/>
                </a:lnTo>
                <a:lnTo>
                  <a:pt x="938689" y="813365"/>
                </a:lnTo>
                <a:lnTo>
                  <a:pt x="942165" y="842046"/>
                </a:lnTo>
                <a:lnTo>
                  <a:pt x="945642" y="864624"/>
                </a:lnTo>
                <a:lnTo>
                  <a:pt x="949119" y="880761"/>
                </a:lnTo>
                <a:lnTo>
                  <a:pt x="952595" y="890223"/>
                </a:lnTo>
                <a:lnTo>
                  <a:pt x="956072" y="892885"/>
                </a:lnTo>
                <a:lnTo>
                  <a:pt x="959549" y="888726"/>
                </a:lnTo>
                <a:lnTo>
                  <a:pt x="963025" y="877838"/>
                </a:lnTo>
                <a:lnTo>
                  <a:pt x="966502" y="860416"/>
                </a:lnTo>
                <a:lnTo>
                  <a:pt x="969978" y="836759"/>
                </a:lnTo>
                <a:lnTo>
                  <a:pt x="973455" y="807264"/>
                </a:lnTo>
                <a:lnTo>
                  <a:pt x="976932" y="772419"/>
                </a:lnTo>
                <a:lnTo>
                  <a:pt x="980408" y="732795"/>
                </a:lnTo>
                <a:lnTo>
                  <a:pt x="983885" y="689037"/>
                </a:lnTo>
                <a:lnTo>
                  <a:pt x="987362" y="641852"/>
                </a:lnTo>
                <a:lnTo>
                  <a:pt x="990838" y="592001"/>
                </a:lnTo>
                <a:lnTo>
                  <a:pt x="994315" y="540282"/>
                </a:lnTo>
                <a:lnTo>
                  <a:pt x="997791" y="487520"/>
                </a:lnTo>
                <a:lnTo>
                  <a:pt x="1001268" y="434554"/>
                </a:lnTo>
                <a:lnTo>
                  <a:pt x="1004745" y="382222"/>
                </a:lnTo>
                <a:lnTo>
                  <a:pt x="1008221" y="331350"/>
                </a:lnTo>
                <a:lnTo>
                  <a:pt x="1011698" y="282735"/>
                </a:lnTo>
                <a:lnTo>
                  <a:pt x="1015174" y="237136"/>
                </a:lnTo>
                <a:lnTo>
                  <a:pt x="1018651" y="195263"/>
                </a:lnTo>
                <a:lnTo>
                  <a:pt x="1022128" y="157761"/>
                </a:lnTo>
                <a:lnTo>
                  <a:pt x="1025604" y="125203"/>
                </a:lnTo>
                <a:lnTo>
                  <a:pt x="1029081" y="98084"/>
                </a:lnTo>
                <a:lnTo>
                  <a:pt x="1032558" y="76807"/>
                </a:lnTo>
                <a:lnTo>
                  <a:pt x="1036034" y="61683"/>
                </a:lnTo>
                <a:lnTo>
                  <a:pt x="1039511" y="52922"/>
                </a:lnTo>
                <a:lnTo>
                  <a:pt x="1042988" y="50635"/>
                </a:lnTo>
                <a:lnTo>
                  <a:pt x="1046464" y="54827"/>
                </a:lnTo>
                <a:lnTo>
                  <a:pt x="1049941" y="65402"/>
                </a:lnTo>
                <a:lnTo>
                  <a:pt x="1053417" y="82162"/>
                </a:lnTo>
                <a:lnTo>
                  <a:pt x="1056894" y="104813"/>
                </a:lnTo>
                <a:lnTo>
                  <a:pt x="1060371" y="132969"/>
                </a:lnTo>
                <a:lnTo>
                  <a:pt x="1063847" y="166156"/>
                </a:lnTo>
                <a:lnTo>
                  <a:pt x="1067324" y="203827"/>
                </a:lnTo>
                <a:lnTo>
                  <a:pt x="1070801" y="245362"/>
                </a:lnTo>
                <a:lnTo>
                  <a:pt x="1074277" y="290087"/>
                </a:lnTo>
                <a:lnTo>
                  <a:pt x="1077754" y="337277"/>
                </a:lnTo>
                <a:lnTo>
                  <a:pt x="1081230" y="386175"/>
                </a:lnTo>
                <a:lnTo>
                  <a:pt x="1084707" y="435999"/>
                </a:lnTo>
                <a:lnTo>
                  <a:pt x="1088184" y="485955"/>
                </a:lnTo>
                <a:lnTo>
                  <a:pt x="1091660" y="535255"/>
                </a:lnTo>
                <a:lnTo>
                  <a:pt x="1095137" y="583121"/>
                </a:lnTo>
                <a:lnTo>
                  <a:pt x="1098614" y="628805"/>
                </a:lnTo>
                <a:lnTo>
                  <a:pt x="1102090" y="671597"/>
                </a:lnTo>
                <a:lnTo>
                  <a:pt x="1105567" y="710836"/>
                </a:lnTo>
                <a:lnTo>
                  <a:pt x="1109043" y="745922"/>
                </a:lnTo>
                <a:lnTo>
                  <a:pt x="1112520" y="776322"/>
                </a:lnTo>
                <a:lnTo>
                  <a:pt x="1115997" y="801582"/>
                </a:lnTo>
                <a:lnTo>
                  <a:pt x="1119473" y="821333"/>
                </a:lnTo>
                <a:lnTo>
                  <a:pt x="1122950" y="835293"/>
                </a:lnTo>
                <a:lnTo>
                  <a:pt x="1126427" y="843275"/>
                </a:lnTo>
                <a:lnTo>
                  <a:pt x="1129903" y="845188"/>
                </a:lnTo>
                <a:lnTo>
                  <a:pt x="1133380" y="841035"/>
                </a:lnTo>
                <a:lnTo>
                  <a:pt x="1136856" y="830920"/>
                </a:lnTo>
                <a:lnTo>
                  <a:pt x="1140333" y="815036"/>
                </a:lnTo>
                <a:lnTo>
                  <a:pt x="1143810" y="793669"/>
                </a:lnTo>
                <a:lnTo>
                  <a:pt x="1147286" y="767191"/>
                </a:lnTo>
                <a:lnTo>
                  <a:pt x="1150763" y="736050"/>
                </a:lnTo>
                <a:lnTo>
                  <a:pt x="1154240" y="700767"/>
                </a:lnTo>
                <a:lnTo>
                  <a:pt x="1157716" y="661925"/>
                </a:lnTo>
                <a:lnTo>
                  <a:pt x="1161193" y="620160"/>
                </a:lnTo>
                <a:lnTo>
                  <a:pt x="1164669" y="576151"/>
                </a:lnTo>
                <a:lnTo>
                  <a:pt x="1168146" y="530606"/>
                </a:lnTo>
                <a:lnTo>
                  <a:pt x="1171623" y="484257"/>
                </a:lnTo>
                <a:lnTo>
                  <a:pt x="1175099" y="437839"/>
                </a:lnTo>
                <a:lnTo>
                  <a:pt x="1178576" y="392087"/>
                </a:lnTo>
                <a:lnTo>
                  <a:pt x="1182053" y="347719"/>
                </a:lnTo>
                <a:lnTo>
                  <a:pt x="1185529" y="305428"/>
                </a:lnTo>
                <a:lnTo>
                  <a:pt x="1189006" y="265869"/>
                </a:lnTo>
                <a:lnTo>
                  <a:pt x="1192482" y="229647"/>
                </a:lnTo>
                <a:lnTo>
                  <a:pt x="1195959" y="197313"/>
                </a:lnTo>
                <a:lnTo>
                  <a:pt x="1199436" y="169352"/>
                </a:lnTo>
                <a:lnTo>
                  <a:pt x="1202912" y="146176"/>
                </a:lnTo>
                <a:lnTo>
                  <a:pt x="1206389" y="128119"/>
                </a:lnTo>
                <a:lnTo>
                  <a:pt x="1209865" y="115430"/>
                </a:lnTo>
                <a:lnTo>
                  <a:pt x="1213342" y="108272"/>
                </a:lnTo>
                <a:lnTo>
                  <a:pt x="1216819" y="106721"/>
                </a:lnTo>
                <a:lnTo>
                  <a:pt x="1220295" y="110761"/>
                </a:lnTo>
                <a:lnTo>
                  <a:pt x="1223772" y="120289"/>
                </a:lnTo>
                <a:lnTo>
                  <a:pt x="1227249" y="135116"/>
                </a:lnTo>
                <a:lnTo>
                  <a:pt x="1230725" y="154969"/>
                </a:lnTo>
                <a:lnTo>
                  <a:pt x="1234202" y="179498"/>
                </a:lnTo>
                <a:lnTo>
                  <a:pt x="1237679" y="208283"/>
                </a:lnTo>
                <a:lnTo>
                  <a:pt x="1241155" y="240836"/>
                </a:lnTo>
                <a:lnTo>
                  <a:pt x="1244632" y="276616"/>
                </a:lnTo>
                <a:lnTo>
                  <a:pt x="1248108" y="315034"/>
                </a:lnTo>
                <a:lnTo>
                  <a:pt x="1251585" y="355464"/>
                </a:lnTo>
                <a:lnTo>
                  <a:pt x="1255062" y="397251"/>
                </a:lnTo>
                <a:lnTo>
                  <a:pt x="1258538" y="439726"/>
                </a:lnTo>
                <a:lnTo>
                  <a:pt x="1262015" y="482212"/>
                </a:lnTo>
                <a:lnTo>
                  <a:pt x="1265492" y="524038"/>
                </a:lnTo>
                <a:lnTo>
                  <a:pt x="1268968" y="564548"/>
                </a:lnTo>
                <a:lnTo>
                  <a:pt x="1272445" y="603114"/>
                </a:lnTo>
                <a:lnTo>
                  <a:pt x="1275921" y="639139"/>
                </a:lnTo>
                <a:lnTo>
                  <a:pt x="1279398" y="672077"/>
                </a:lnTo>
                <a:lnTo>
                  <a:pt x="1282875" y="701430"/>
                </a:lnTo>
                <a:lnTo>
                  <a:pt x="1286351" y="726763"/>
                </a:lnTo>
                <a:lnTo>
                  <a:pt x="1289828" y="747709"/>
                </a:lnTo>
                <a:lnTo>
                  <a:pt x="1293305" y="763972"/>
                </a:lnTo>
                <a:lnTo>
                  <a:pt x="1296781" y="775332"/>
                </a:lnTo>
                <a:lnTo>
                  <a:pt x="1300258" y="781650"/>
                </a:lnTo>
                <a:lnTo>
                  <a:pt x="1303734" y="782868"/>
                </a:lnTo>
                <a:lnTo>
                  <a:pt x="1307211" y="779008"/>
                </a:lnTo>
                <a:lnTo>
                  <a:pt x="1310688" y="770173"/>
                </a:lnTo>
                <a:lnTo>
                  <a:pt x="1314164" y="756543"/>
                </a:lnTo>
                <a:lnTo>
                  <a:pt x="1317641" y="738375"/>
                </a:lnTo>
                <a:lnTo>
                  <a:pt x="1321118" y="715992"/>
                </a:lnTo>
                <a:lnTo>
                  <a:pt x="1324594" y="689785"/>
                </a:lnTo>
                <a:lnTo>
                  <a:pt x="1328071" y="660199"/>
                </a:lnTo>
                <a:lnTo>
                  <a:pt x="1331547" y="627730"/>
                </a:lnTo>
                <a:lnTo>
                  <a:pt x="1335024" y="592916"/>
                </a:lnTo>
                <a:lnTo>
                  <a:pt x="1338501" y="556327"/>
                </a:lnTo>
                <a:lnTo>
                  <a:pt x="1341977" y="518555"/>
                </a:lnTo>
                <a:lnTo>
                  <a:pt x="1345454" y="480208"/>
                </a:lnTo>
                <a:lnTo>
                  <a:pt x="1348931" y="441897"/>
                </a:lnTo>
                <a:lnTo>
                  <a:pt x="1352407" y="404224"/>
                </a:lnTo>
                <a:lnTo>
                  <a:pt x="1355884" y="367781"/>
                </a:lnTo>
                <a:lnTo>
                  <a:pt x="1359360" y="333131"/>
                </a:lnTo>
                <a:lnTo>
                  <a:pt x="1362837" y="300805"/>
                </a:lnTo>
                <a:lnTo>
                  <a:pt x="1366314" y="271293"/>
                </a:lnTo>
                <a:lnTo>
                  <a:pt x="1369790" y="245035"/>
                </a:lnTo>
                <a:lnTo>
                  <a:pt x="1373267" y="222416"/>
                </a:lnTo>
                <a:lnTo>
                  <a:pt x="1376744" y="203760"/>
                </a:lnTo>
                <a:lnTo>
                  <a:pt x="1380220" y="189325"/>
                </a:lnTo>
                <a:lnTo>
                  <a:pt x="1383697" y="179301"/>
                </a:lnTo>
                <a:lnTo>
                  <a:pt x="1387173" y="173804"/>
                </a:lnTo>
                <a:lnTo>
                  <a:pt x="1390650" y="172879"/>
                </a:lnTo>
                <a:lnTo>
                  <a:pt x="1394127" y="176498"/>
                </a:lnTo>
                <a:lnTo>
                  <a:pt x="1397603" y="184561"/>
                </a:lnTo>
                <a:lnTo>
                  <a:pt x="1401080" y="196899"/>
                </a:lnTo>
                <a:lnTo>
                  <a:pt x="1404557" y="213277"/>
                </a:lnTo>
                <a:lnTo>
                  <a:pt x="1408033" y="233398"/>
                </a:lnTo>
                <a:lnTo>
                  <a:pt x="1411510" y="256908"/>
                </a:lnTo>
                <a:lnTo>
                  <a:pt x="1414986" y="283404"/>
                </a:lnTo>
                <a:lnTo>
                  <a:pt x="1418463" y="312438"/>
                </a:lnTo>
                <a:lnTo>
                  <a:pt x="1421940" y="343528"/>
                </a:lnTo>
                <a:lnTo>
                  <a:pt x="1425416" y="376164"/>
                </a:lnTo>
                <a:lnTo>
                  <a:pt x="1428893" y="409815"/>
                </a:lnTo>
                <a:lnTo>
                  <a:pt x="1432370" y="443940"/>
                </a:lnTo>
                <a:lnTo>
                  <a:pt x="1435846" y="477996"/>
                </a:lnTo>
                <a:lnTo>
                  <a:pt x="1439323" y="511446"/>
                </a:lnTo>
                <a:lnTo>
                  <a:pt x="1442799" y="543768"/>
                </a:lnTo>
                <a:lnTo>
                  <a:pt x="1446276" y="574465"/>
                </a:lnTo>
                <a:lnTo>
                  <a:pt x="1449753" y="603067"/>
                </a:lnTo>
                <a:lnTo>
                  <a:pt x="1453229" y="629145"/>
                </a:lnTo>
                <a:lnTo>
                  <a:pt x="1456706" y="652312"/>
                </a:lnTo>
                <a:lnTo>
                  <a:pt x="1460183" y="672234"/>
                </a:lnTo>
                <a:lnTo>
                  <a:pt x="1463659" y="688628"/>
                </a:lnTo>
                <a:lnTo>
                  <a:pt x="1467136" y="701272"/>
                </a:lnTo>
                <a:lnTo>
                  <a:pt x="1470612" y="710005"/>
                </a:lnTo>
                <a:lnTo>
                  <a:pt x="1474089" y="714730"/>
                </a:lnTo>
                <a:lnTo>
                  <a:pt x="1477566" y="715414"/>
                </a:lnTo>
                <a:lnTo>
                  <a:pt x="1481042" y="712088"/>
                </a:lnTo>
                <a:lnTo>
                  <a:pt x="1484519" y="704846"/>
                </a:lnTo>
                <a:lnTo>
                  <a:pt x="1487996" y="693844"/>
                </a:lnTo>
                <a:lnTo>
                  <a:pt x="1491472" y="679294"/>
                </a:lnTo>
                <a:lnTo>
                  <a:pt x="1494949" y="661463"/>
                </a:lnTo>
                <a:lnTo>
                  <a:pt x="1498425" y="640668"/>
                </a:lnTo>
                <a:lnTo>
                  <a:pt x="1501902" y="617267"/>
                </a:lnTo>
                <a:lnTo>
                  <a:pt x="1505379" y="591658"/>
                </a:lnTo>
                <a:lnTo>
                  <a:pt x="1508855" y="564267"/>
                </a:lnTo>
                <a:lnTo>
                  <a:pt x="1512332" y="535546"/>
                </a:lnTo>
                <a:lnTo>
                  <a:pt x="1515808" y="505963"/>
                </a:lnTo>
                <a:lnTo>
                  <a:pt x="1519285" y="475992"/>
                </a:lnTo>
                <a:lnTo>
                  <a:pt x="1522762" y="446110"/>
                </a:lnTo>
                <a:lnTo>
                  <a:pt x="1526238" y="416788"/>
                </a:lnTo>
                <a:lnTo>
                  <a:pt x="1529715" y="388481"/>
                </a:lnTo>
                <a:lnTo>
                  <a:pt x="1533192" y="361625"/>
                </a:lnTo>
                <a:lnTo>
                  <a:pt x="1536668" y="336627"/>
                </a:lnTo>
                <a:lnTo>
                  <a:pt x="1540145" y="313861"/>
                </a:lnTo>
                <a:lnTo>
                  <a:pt x="1543622" y="293660"/>
                </a:lnTo>
                <a:lnTo>
                  <a:pt x="1547098" y="276315"/>
                </a:lnTo>
                <a:lnTo>
                  <a:pt x="1550575" y="262068"/>
                </a:lnTo>
                <a:lnTo>
                  <a:pt x="1554051" y="251109"/>
                </a:lnTo>
                <a:lnTo>
                  <a:pt x="1557528" y="243572"/>
                </a:lnTo>
                <a:lnTo>
                  <a:pt x="1561005" y="239540"/>
                </a:lnTo>
                <a:lnTo>
                  <a:pt x="1564481" y="239037"/>
                </a:lnTo>
                <a:lnTo>
                  <a:pt x="1567958" y="242029"/>
                </a:lnTo>
                <a:lnTo>
                  <a:pt x="1571435" y="248432"/>
                </a:lnTo>
                <a:lnTo>
                  <a:pt x="1574911" y="258106"/>
                </a:lnTo>
                <a:lnTo>
                  <a:pt x="1578388" y="270861"/>
                </a:lnTo>
                <a:lnTo>
                  <a:pt x="1581864" y="286461"/>
                </a:lnTo>
                <a:lnTo>
                  <a:pt x="1585341" y="304629"/>
                </a:lnTo>
                <a:lnTo>
                  <a:pt x="1588818" y="325050"/>
                </a:lnTo>
                <a:lnTo>
                  <a:pt x="1592294" y="347374"/>
                </a:lnTo>
                <a:lnTo>
                  <a:pt x="1595771" y="371231"/>
                </a:lnTo>
                <a:lnTo>
                  <a:pt x="1599248" y="396226"/>
                </a:lnTo>
                <a:lnTo>
                  <a:pt x="1602724" y="421953"/>
                </a:lnTo>
                <a:lnTo>
                  <a:pt x="1606201" y="447998"/>
                </a:lnTo>
                <a:lnTo>
                  <a:pt x="1609677" y="473947"/>
                </a:lnTo>
                <a:lnTo>
                  <a:pt x="1613154" y="499394"/>
                </a:lnTo>
                <a:lnTo>
                  <a:pt x="1616631" y="523944"/>
                </a:lnTo>
                <a:lnTo>
                  <a:pt x="1620107" y="547221"/>
                </a:lnTo>
                <a:lnTo>
                  <a:pt x="1623584" y="568872"/>
                </a:lnTo>
                <a:lnTo>
                  <a:pt x="1627061" y="588577"/>
                </a:lnTo>
                <a:lnTo>
                  <a:pt x="1630537" y="606048"/>
                </a:lnTo>
                <a:lnTo>
                  <a:pt x="1634014" y="621035"/>
                </a:lnTo>
                <a:lnTo>
                  <a:pt x="1637490" y="633333"/>
                </a:lnTo>
                <a:lnTo>
                  <a:pt x="1640967" y="642780"/>
                </a:lnTo>
                <a:lnTo>
                  <a:pt x="1644444" y="649259"/>
                </a:lnTo>
                <a:lnTo>
                  <a:pt x="1647920" y="652703"/>
                </a:lnTo>
                <a:lnTo>
                  <a:pt x="1651397" y="653095"/>
                </a:lnTo>
                <a:lnTo>
                  <a:pt x="1654874" y="650463"/>
                </a:lnTo>
                <a:lnTo>
                  <a:pt x="1658350" y="644885"/>
                </a:lnTo>
                <a:lnTo>
                  <a:pt x="1661827" y="636482"/>
                </a:lnTo>
                <a:lnTo>
                  <a:pt x="1665303" y="625420"/>
                </a:lnTo>
                <a:lnTo>
                  <a:pt x="1668780" y="611904"/>
                </a:lnTo>
                <a:lnTo>
                  <a:pt x="1672257" y="596176"/>
                </a:lnTo>
                <a:lnTo>
                  <a:pt x="1675733" y="578507"/>
                </a:lnTo>
                <a:lnTo>
                  <a:pt x="1679210" y="559200"/>
                </a:lnTo>
                <a:lnTo>
                  <a:pt x="1682687" y="538575"/>
                </a:lnTo>
                <a:lnTo>
                  <a:pt x="1686163" y="516974"/>
                </a:lnTo>
                <a:lnTo>
                  <a:pt x="1689640" y="494746"/>
                </a:lnTo>
                <a:lnTo>
                  <a:pt x="1693116" y="472248"/>
                </a:lnTo>
                <a:lnTo>
                  <a:pt x="1696593" y="449837"/>
                </a:lnTo>
                <a:lnTo>
                  <a:pt x="1700070" y="427864"/>
                </a:lnTo>
                <a:lnTo>
                  <a:pt x="1703546" y="406668"/>
                </a:lnTo>
                <a:lnTo>
                  <a:pt x="1707023" y="386573"/>
                </a:lnTo>
                <a:lnTo>
                  <a:pt x="1710500" y="367881"/>
                </a:lnTo>
                <a:lnTo>
                  <a:pt x="1713976" y="350870"/>
                </a:lnTo>
                <a:lnTo>
                  <a:pt x="1717453" y="335787"/>
                </a:lnTo>
                <a:lnTo>
                  <a:pt x="1720929" y="322845"/>
                </a:lnTo>
                <a:lnTo>
                  <a:pt x="1724406" y="312224"/>
                </a:lnTo>
                <a:lnTo>
                  <a:pt x="1727883" y="304062"/>
                </a:lnTo>
                <a:lnTo>
                  <a:pt x="1731359" y="298460"/>
                </a:lnTo>
                <a:lnTo>
                  <a:pt x="1734836" y="295474"/>
                </a:lnTo>
                <a:lnTo>
                  <a:pt x="1738313" y="295122"/>
                </a:lnTo>
                <a:lnTo>
                  <a:pt x="1741789" y="297379"/>
                </a:lnTo>
                <a:lnTo>
                  <a:pt x="1745266" y="302179"/>
                </a:lnTo>
                <a:lnTo>
                  <a:pt x="1748742" y="309418"/>
                </a:lnTo>
                <a:lnTo>
                  <a:pt x="1752219" y="318954"/>
                </a:lnTo>
                <a:lnTo>
                  <a:pt x="1755696" y="330611"/>
                </a:lnTo>
                <a:lnTo>
                  <a:pt x="1759172" y="344182"/>
                </a:lnTo>
                <a:lnTo>
                  <a:pt x="1762649" y="359433"/>
                </a:lnTo>
                <a:lnTo>
                  <a:pt x="1766125" y="376107"/>
                </a:lnTo>
                <a:lnTo>
                  <a:pt x="1769602" y="393925"/>
                </a:lnTo>
                <a:lnTo>
                  <a:pt x="1773079" y="412595"/>
                </a:lnTo>
                <a:lnTo>
                  <a:pt x="1776555" y="431817"/>
                </a:lnTo>
                <a:lnTo>
                  <a:pt x="1780032" y="451282"/>
                </a:lnTo>
                <a:lnTo>
                  <a:pt x="1783509" y="470684"/>
                </a:lnTo>
                <a:lnTo>
                  <a:pt x="1786985" y="489719"/>
                </a:lnTo>
                <a:lnTo>
                  <a:pt x="1790462" y="508094"/>
                </a:lnTo>
                <a:lnTo>
                  <a:pt x="1793939" y="525528"/>
                </a:lnTo>
                <a:lnTo>
                  <a:pt x="1797415" y="541760"/>
                </a:lnTo>
                <a:lnTo>
                  <a:pt x="1800892" y="556549"/>
                </a:lnTo>
                <a:lnTo>
                  <a:pt x="1804368" y="569679"/>
                </a:lnTo>
                <a:lnTo>
                  <a:pt x="1807845" y="580962"/>
                </a:lnTo>
                <a:lnTo>
                  <a:pt x="1811322" y="590244"/>
                </a:lnTo>
                <a:lnTo>
                  <a:pt x="1814798" y="597399"/>
                </a:lnTo>
                <a:lnTo>
                  <a:pt x="1818275" y="602340"/>
                </a:lnTo>
                <a:lnTo>
                  <a:pt x="1821752" y="605012"/>
                </a:lnTo>
                <a:lnTo>
                  <a:pt x="1825228" y="605398"/>
                </a:lnTo>
                <a:lnTo>
                  <a:pt x="1828705" y="603515"/>
                </a:lnTo>
                <a:lnTo>
                  <a:pt x="1832181" y="599418"/>
                </a:lnTo>
                <a:lnTo>
                  <a:pt x="1835658" y="593192"/>
                </a:lnTo>
                <a:lnTo>
                  <a:pt x="1839135" y="584956"/>
                </a:lnTo>
                <a:lnTo>
                  <a:pt x="1842611" y="574861"/>
                </a:lnTo>
                <a:lnTo>
                  <a:pt x="1846088" y="563082"/>
                </a:lnTo>
                <a:lnTo>
                  <a:pt x="1849565" y="549821"/>
                </a:lnTo>
                <a:lnTo>
                  <a:pt x="1853041" y="535297"/>
                </a:lnTo>
                <a:lnTo>
                  <a:pt x="1856518" y="519752"/>
                </a:lnTo>
                <a:lnTo>
                  <a:pt x="1859994" y="503437"/>
                </a:lnTo>
                <a:lnTo>
                  <a:pt x="1863471" y="486613"/>
                </a:lnTo>
                <a:lnTo>
                  <a:pt x="1866948" y="469549"/>
                </a:lnTo>
                <a:lnTo>
                  <a:pt x="1870424" y="452511"/>
                </a:lnTo>
                <a:lnTo>
                  <a:pt x="1873901" y="435767"/>
                </a:lnTo>
                <a:lnTo>
                  <a:pt x="1877378" y="419572"/>
                </a:lnTo>
                <a:lnTo>
                  <a:pt x="1880854" y="404175"/>
                </a:lnTo>
                <a:lnTo>
                  <a:pt x="1884331" y="389809"/>
                </a:lnTo>
                <a:lnTo>
                  <a:pt x="1887807" y="376686"/>
                </a:lnTo>
                <a:lnTo>
                  <a:pt x="1891284" y="365001"/>
                </a:lnTo>
                <a:lnTo>
                  <a:pt x="1894761" y="354922"/>
                </a:lnTo>
                <a:lnTo>
                  <a:pt x="1898237" y="346592"/>
                </a:lnTo>
                <a:lnTo>
                  <a:pt x="1901714" y="340125"/>
                </a:lnTo>
                <a:lnTo>
                  <a:pt x="1905190" y="335607"/>
                </a:lnTo>
                <a:lnTo>
                  <a:pt x="1908667" y="333090"/>
                </a:lnTo>
                <a:lnTo>
                  <a:pt x="1912144" y="332598"/>
                </a:lnTo>
                <a:lnTo>
                  <a:pt x="1915620" y="334121"/>
                </a:lnTo>
                <a:lnTo>
                  <a:pt x="1919097" y="337620"/>
                </a:lnTo>
                <a:lnTo>
                  <a:pt x="1922574" y="343023"/>
                </a:lnTo>
                <a:lnTo>
                  <a:pt x="1926050" y="350234"/>
                </a:lnTo>
                <a:lnTo>
                  <a:pt x="1929527" y="359124"/>
                </a:lnTo>
                <a:lnTo>
                  <a:pt x="1933004" y="369544"/>
                </a:lnTo>
                <a:lnTo>
                  <a:pt x="1936480" y="381320"/>
                </a:lnTo>
                <a:lnTo>
                  <a:pt x="1939957" y="394260"/>
                </a:lnTo>
                <a:lnTo>
                  <a:pt x="1943433" y="408154"/>
                </a:lnTo>
                <a:lnTo>
                  <a:pt x="1946910" y="422780"/>
                </a:lnTo>
                <a:lnTo>
                  <a:pt x="1950387" y="437906"/>
                </a:lnTo>
                <a:lnTo>
                  <a:pt x="1953863" y="453293"/>
                </a:lnTo>
                <a:lnTo>
                  <a:pt x="1957340" y="468702"/>
                </a:lnTo>
                <a:lnTo>
                  <a:pt x="1960817" y="483892"/>
                </a:lnTo>
                <a:lnTo>
                  <a:pt x="1964293" y="498631"/>
                </a:lnTo>
                <a:lnTo>
                  <a:pt x="1967770" y="512691"/>
                </a:lnTo>
                <a:lnTo>
                  <a:pt x="1971246" y="525859"/>
                </a:lnTo>
                <a:lnTo>
                  <a:pt x="1974723" y="537937"/>
                </a:lnTo>
                <a:lnTo>
                  <a:pt x="1978200" y="548742"/>
                </a:lnTo>
                <a:lnTo>
                  <a:pt x="1981676" y="558116"/>
                </a:lnTo>
                <a:lnTo>
                  <a:pt x="1985153" y="565919"/>
                </a:lnTo>
                <a:lnTo>
                  <a:pt x="1988629" y="572040"/>
                </a:lnTo>
                <a:lnTo>
                  <a:pt x="1992106" y="576392"/>
                </a:lnTo>
                <a:lnTo>
                  <a:pt x="1995583" y="578917"/>
                </a:lnTo>
                <a:lnTo>
                  <a:pt x="1999059" y="579584"/>
                </a:lnTo>
                <a:lnTo>
                  <a:pt x="2002536" y="578392"/>
                </a:lnTo>
                <a:lnTo>
                  <a:pt x="2006013" y="575366"/>
                </a:lnTo>
                <a:lnTo>
                  <a:pt x="2009489" y="570563"/>
                </a:lnTo>
                <a:lnTo>
                  <a:pt x="2012966" y="564062"/>
                </a:lnTo>
                <a:lnTo>
                  <a:pt x="2016443" y="555973"/>
                </a:lnTo>
                <a:lnTo>
                  <a:pt x="2019919" y="546426"/>
                </a:lnTo>
                <a:lnTo>
                  <a:pt x="2023396" y="535574"/>
                </a:lnTo>
                <a:lnTo>
                  <a:pt x="2026872" y="523590"/>
                </a:lnTo>
                <a:lnTo>
                  <a:pt x="2030349" y="510663"/>
                </a:lnTo>
                <a:lnTo>
                  <a:pt x="2033826" y="496995"/>
                </a:lnTo>
                <a:lnTo>
                  <a:pt x="2037302" y="482802"/>
                </a:lnTo>
                <a:lnTo>
                  <a:pt x="2040779" y="468303"/>
                </a:lnTo>
                <a:lnTo>
                  <a:pt x="2044256" y="453725"/>
                </a:lnTo>
                <a:lnTo>
                  <a:pt x="2047732" y="439293"/>
                </a:lnTo>
                <a:lnTo>
                  <a:pt x="2051209" y="425230"/>
                </a:lnTo>
                <a:lnTo>
                  <a:pt x="2054685" y="411754"/>
                </a:lnTo>
                <a:lnTo>
                  <a:pt x="2058162" y="399072"/>
                </a:lnTo>
                <a:lnTo>
                  <a:pt x="2061639" y="387379"/>
                </a:lnTo>
                <a:lnTo>
                  <a:pt x="2065115" y="376855"/>
                </a:lnTo>
                <a:lnTo>
                  <a:pt x="2068592" y="367661"/>
                </a:lnTo>
                <a:lnTo>
                  <a:pt x="2072068" y="359939"/>
                </a:lnTo>
                <a:lnTo>
                  <a:pt x="2075545" y="353806"/>
                </a:lnTo>
                <a:lnTo>
                  <a:pt x="2079022" y="349358"/>
                </a:lnTo>
                <a:lnTo>
                  <a:pt x="2082498" y="346661"/>
                </a:lnTo>
                <a:lnTo>
                  <a:pt x="2085975" y="345757"/>
                </a:lnTo>
                <a:lnTo>
                  <a:pt x="2089452" y="346661"/>
                </a:lnTo>
                <a:lnTo>
                  <a:pt x="2092928" y="349358"/>
                </a:lnTo>
                <a:lnTo>
                  <a:pt x="2096405" y="353806"/>
                </a:lnTo>
                <a:lnTo>
                  <a:pt x="2099882" y="359939"/>
                </a:lnTo>
                <a:lnTo>
                  <a:pt x="2103358" y="367661"/>
                </a:lnTo>
                <a:lnTo>
                  <a:pt x="2106835" y="376855"/>
                </a:lnTo>
                <a:lnTo>
                  <a:pt x="2110311" y="387379"/>
                </a:lnTo>
                <a:lnTo>
                  <a:pt x="2113788" y="399072"/>
                </a:lnTo>
                <a:lnTo>
                  <a:pt x="2117265" y="411754"/>
                </a:lnTo>
                <a:lnTo>
                  <a:pt x="2120741" y="425230"/>
                </a:lnTo>
                <a:lnTo>
                  <a:pt x="2124218" y="439293"/>
                </a:lnTo>
                <a:lnTo>
                  <a:pt x="2127695" y="453725"/>
                </a:lnTo>
                <a:lnTo>
                  <a:pt x="2131171" y="468303"/>
                </a:lnTo>
                <a:lnTo>
                  <a:pt x="2134648" y="482802"/>
                </a:lnTo>
                <a:lnTo>
                  <a:pt x="2138124" y="496995"/>
                </a:lnTo>
                <a:lnTo>
                  <a:pt x="2141601" y="510663"/>
                </a:lnTo>
                <a:lnTo>
                  <a:pt x="2145078" y="523590"/>
                </a:lnTo>
                <a:lnTo>
                  <a:pt x="2148554" y="535574"/>
                </a:lnTo>
                <a:lnTo>
                  <a:pt x="2152031" y="546426"/>
                </a:lnTo>
                <a:lnTo>
                  <a:pt x="2155508" y="555973"/>
                </a:lnTo>
                <a:lnTo>
                  <a:pt x="2158984" y="564062"/>
                </a:lnTo>
                <a:lnTo>
                  <a:pt x="2162461" y="570563"/>
                </a:lnTo>
                <a:lnTo>
                  <a:pt x="2165937" y="575366"/>
                </a:lnTo>
                <a:lnTo>
                  <a:pt x="2169414" y="578392"/>
                </a:lnTo>
                <a:lnTo>
                  <a:pt x="2172891" y="579584"/>
                </a:lnTo>
                <a:lnTo>
                  <a:pt x="2176367" y="578917"/>
                </a:lnTo>
                <a:lnTo>
                  <a:pt x="2179844" y="576392"/>
                </a:lnTo>
                <a:lnTo>
                  <a:pt x="2183321" y="572040"/>
                </a:lnTo>
                <a:lnTo>
                  <a:pt x="2186797" y="565919"/>
                </a:lnTo>
                <a:lnTo>
                  <a:pt x="2190274" y="558116"/>
                </a:lnTo>
                <a:lnTo>
                  <a:pt x="2193750" y="548742"/>
                </a:lnTo>
                <a:lnTo>
                  <a:pt x="2197227" y="537937"/>
                </a:lnTo>
                <a:lnTo>
                  <a:pt x="2200704" y="525859"/>
                </a:lnTo>
                <a:lnTo>
                  <a:pt x="2204180" y="512691"/>
                </a:lnTo>
                <a:lnTo>
                  <a:pt x="2207657" y="498631"/>
                </a:lnTo>
                <a:lnTo>
                  <a:pt x="2211134" y="483892"/>
                </a:lnTo>
                <a:lnTo>
                  <a:pt x="2214610" y="468702"/>
                </a:lnTo>
                <a:lnTo>
                  <a:pt x="2218087" y="453293"/>
                </a:lnTo>
                <a:lnTo>
                  <a:pt x="2221563" y="437906"/>
                </a:lnTo>
                <a:lnTo>
                  <a:pt x="2225040" y="422780"/>
                </a:lnTo>
                <a:lnTo>
                  <a:pt x="2228517" y="408154"/>
                </a:lnTo>
                <a:lnTo>
                  <a:pt x="2231993" y="394260"/>
                </a:lnTo>
                <a:lnTo>
                  <a:pt x="2235470" y="381320"/>
                </a:lnTo>
                <a:lnTo>
                  <a:pt x="2238947" y="369544"/>
                </a:lnTo>
                <a:lnTo>
                  <a:pt x="2242423" y="359124"/>
                </a:lnTo>
                <a:lnTo>
                  <a:pt x="2245900" y="350234"/>
                </a:lnTo>
                <a:lnTo>
                  <a:pt x="2249376" y="343023"/>
                </a:lnTo>
                <a:lnTo>
                  <a:pt x="2252853" y="337620"/>
                </a:lnTo>
                <a:lnTo>
                  <a:pt x="2256330" y="334121"/>
                </a:lnTo>
                <a:lnTo>
                  <a:pt x="2259806" y="332598"/>
                </a:lnTo>
                <a:lnTo>
                  <a:pt x="2263283" y="333090"/>
                </a:lnTo>
                <a:lnTo>
                  <a:pt x="2266760" y="335607"/>
                </a:lnTo>
                <a:lnTo>
                  <a:pt x="2270236" y="340125"/>
                </a:lnTo>
                <a:lnTo>
                  <a:pt x="2273713" y="346592"/>
                </a:lnTo>
                <a:lnTo>
                  <a:pt x="2277189" y="354922"/>
                </a:lnTo>
                <a:lnTo>
                  <a:pt x="2280666" y="365001"/>
                </a:lnTo>
                <a:lnTo>
                  <a:pt x="2284143" y="376686"/>
                </a:lnTo>
                <a:lnTo>
                  <a:pt x="2287619" y="389809"/>
                </a:lnTo>
                <a:lnTo>
                  <a:pt x="2291096" y="404175"/>
                </a:lnTo>
                <a:lnTo>
                  <a:pt x="2294573" y="419572"/>
                </a:lnTo>
                <a:lnTo>
                  <a:pt x="2298049" y="435767"/>
                </a:lnTo>
                <a:lnTo>
                  <a:pt x="2301526" y="452511"/>
                </a:lnTo>
                <a:lnTo>
                  <a:pt x="2305002" y="469549"/>
                </a:lnTo>
                <a:lnTo>
                  <a:pt x="2308479" y="486613"/>
                </a:lnTo>
                <a:lnTo>
                  <a:pt x="2311956" y="503437"/>
                </a:lnTo>
                <a:lnTo>
                  <a:pt x="2315432" y="519752"/>
                </a:lnTo>
                <a:lnTo>
                  <a:pt x="2318909" y="535297"/>
                </a:lnTo>
                <a:lnTo>
                  <a:pt x="2322386" y="549821"/>
                </a:lnTo>
                <a:lnTo>
                  <a:pt x="2325862" y="563082"/>
                </a:lnTo>
                <a:lnTo>
                  <a:pt x="2329339" y="574861"/>
                </a:lnTo>
                <a:lnTo>
                  <a:pt x="2332815" y="584956"/>
                </a:lnTo>
                <a:lnTo>
                  <a:pt x="2336292" y="593192"/>
                </a:lnTo>
                <a:lnTo>
                  <a:pt x="2339769" y="599418"/>
                </a:lnTo>
                <a:lnTo>
                  <a:pt x="2343245" y="603515"/>
                </a:lnTo>
                <a:lnTo>
                  <a:pt x="2346722" y="605398"/>
                </a:lnTo>
                <a:lnTo>
                  <a:pt x="2350199" y="605012"/>
                </a:lnTo>
                <a:lnTo>
                  <a:pt x="2353675" y="602340"/>
                </a:lnTo>
                <a:lnTo>
                  <a:pt x="2357152" y="597399"/>
                </a:lnTo>
                <a:lnTo>
                  <a:pt x="2360628" y="590244"/>
                </a:lnTo>
                <a:lnTo>
                  <a:pt x="2364105" y="580962"/>
                </a:lnTo>
                <a:lnTo>
                  <a:pt x="2367582" y="569679"/>
                </a:lnTo>
                <a:lnTo>
                  <a:pt x="2371058" y="556549"/>
                </a:lnTo>
                <a:lnTo>
                  <a:pt x="2374535" y="541760"/>
                </a:lnTo>
                <a:lnTo>
                  <a:pt x="2378011" y="525528"/>
                </a:lnTo>
                <a:lnTo>
                  <a:pt x="2381488" y="508094"/>
                </a:lnTo>
                <a:lnTo>
                  <a:pt x="2384965" y="489719"/>
                </a:lnTo>
                <a:lnTo>
                  <a:pt x="2388441" y="470684"/>
                </a:lnTo>
                <a:lnTo>
                  <a:pt x="2391918" y="451282"/>
                </a:lnTo>
                <a:lnTo>
                  <a:pt x="2395395" y="431817"/>
                </a:lnTo>
                <a:lnTo>
                  <a:pt x="2398871" y="412595"/>
                </a:lnTo>
                <a:lnTo>
                  <a:pt x="2402348" y="393925"/>
                </a:lnTo>
                <a:lnTo>
                  <a:pt x="2405825" y="376107"/>
                </a:lnTo>
                <a:lnTo>
                  <a:pt x="2409301" y="359433"/>
                </a:lnTo>
                <a:lnTo>
                  <a:pt x="2412778" y="344182"/>
                </a:lnTo>
                <a:lnTo>
                  <a:pt x="2416254" y="330611"/>
                </a:lnTo>
                <a:lnTo>
                  <a:pt x="2419731" y="318954"/>
                </a:lnTo>
                <a:lnTo>
                  <a:pt x="2423208" y="309418"/>
                </a:lnTo>
                <a:lnTo>
                  <a:pt x="2426684" y="302179"/>
                </a:lnTo>
                <a:lnTo>
                  <a:pt x="2430161" y="297379"/>
                </a:lnTo>
                <a:lnTo>
                  <a:pt x="2433638" y="295122"/>
                </a:lnTo>
                <a:lnTo>
                  <a:pt x="2437114" y="295474"/>
                </a:lnTo>
                <a:lnTo>
                  <a:pt x="2440591" y="298460"/>
                </a:lnTo>
                <a:lnTo>
                  <a:pt x="2444067" y="304062"/>
                </a:lnTo>
                <a:lnTo>
                  <a:pt x="2447544" y="312224"/>
                </a:lnTo>
                <a:lnTo>
                  <a:pt x="2451021" y="322845"/>
                </a:lnTo>
                <a:lnTo>
                  <a:pt x="2454497" y="335787"/>
                </a:lnTo>
                <a:lnTo>
                  <a:pt x="2457974" y="350870"/>
                </a:lnTo>
                <a:lnTo>
                  <a:pt x="2461451" y="367881"/>
                </a:lnTo>
                <a:lnTo>
                  <a:pt x="2464927" y="386573"/>
                </a:lnTo>
                <a:lnTo>
                  <a:pt x="2468404" y="406668"/>
                </a:lnTo>
                <a:lnTo>
                  <a:pt x="2471880" y="427864"/>
                </a:lnTo>
                <a:lnTo>
                  <a:pt x="2475357" y="449837"/>
                </a:lnTo>
                <a:lnTo>
                  <a:pt x="2478834" y="472248"/>
                </a:lnTo>
                <a:lnTo>
                  <a:pt x="2482310" y="494746"/>
                </a:lnTo>
                <a:lnTo>
                  <a:pt x="2485787" y="516974"/>
                </a:lnTo>
                <a:lnTo>
                  <a:pt x="2489263" y="538575"/>
                </a:lnTo>
                <a:lnTo>
                  <a:pt x="2492740" y="559200"/>
                </a:lnTo>
                <a:lnTo>
                  <a:pt x="2496217" y="578507"/>
                </a:lnTo>
                <a:lnTo>
                  <a:pt x="2499693" y="596176"/>
                </a:lnTo>
                <a:lnTo>
                  <a:pt x="2503170" y="611904"/>
                </a:lnTo>
                <a:lnTo>
                  <a:pt x="2506647" y="625420"/>
                </a:lnTo>
                <a:lnTo>
                  <a:pt x="2510123" y="636482"/>
                </a:lnTo>
                <a:lnTo>
                  <a:pt x="2513600" y="644885"/>
                </a:lnTo>
                <a:lnTo>
                  <a:pt x="2517077" y="650463"/>
                </a:lnTo>
                <a:lnTo>
                  <a:pt x="2520553" y="653095"/>
                </a:lnTo>
                <a:lnTo>
                  <a:pt x="2524030" y="652703"/>
                </a:lnTo>
                <a:lnTo>
                  <a:pt x="2527506" y="649259"/>
                </a:lnTo>
                <a:lnTo>
                  <a:pt x="2530983" y="642780"/>
                </a:lnTo>
                <a:lnTo>
                  <a:pt x="2534460" y="633333"/>
                </a:lnTo>
                <a:lnTo>
                  <a:pt x="2537936" y="621035"/>
                </a:lnTo>
                <a:lnTo>
                  <a:pt x="2541413" y="606048"/>
                </a:lnTo>
                <a:lnTo>
                  <a:pt x="2544890" y="588577"/>
                </a:lnTo>
                <a:lnTo>
                  <a:pt x="2548366" y="568872"/>
                </a:lnTo>
                <a:lnTo>
                  <a:pt x="2551843" y="547221"/>
                </a:lnTo>
                <a:lnTo>
                  <a:pt x="2555319" y="523944"/>
                </a:lnTo>
                <a:lnTo>
                  <a:pt x="2558796" y="499394"/>
                </a:lnTo>
                <a:lnTo>
                  <a:pt x="2562273" y="473947"/>
                </a:lnTo>
                <a:lnTo>
                  <a:pt x="2565749" y="447998"/>
                </a:lnTo>
                <a:lnTo>
                  <a:pt x="2569226" y="421953"/>
                </a:lnTo>
                <a:lnTo>
                  <a:pt x="2572703" y="396226"/>
                </a:lnTo>
                <a:lnTo>
                  <a:pt x="2576179" y="371231"/>
                </a:lnTo>
                <a:lnTo>
                  <a:pt x="2579656" y="347374"/>
                </a:lnTo>
                <a:lnTo>
                  <a:pt x="2583132" y="325050"/>
                </a:lnTo>
                <a:lnTo>
                  <a:pt x="2586609" y="304629"/>
                </a:lnTo>
                <a:lnTo>
                  <a:pt x="2590086" y="286461"/>
                </a:lnTo>
                <a:lnTo>
                  <a:pt x="2593562" y="270861"/>
                </a:lnTo>
                <a:lnTo>
                  <a:pt x="2597039" y="258106"/>
                </a:lnTo>
                <a:lnTo>
                  <a:pt x="2600516" y="248432"/>
                </a:lnTo>
                <a:lnTo>
                  <a:pt x="2603992" y="242029"/>
                </a:lnTo>
                <a:lnTo>
                  <a:pt x="2607469" y="239037"/>
                </a:lnTo>
                <a:lnTo>
                  <a:pt x="2610945" y="239540"/>
                </a:lnTo>
                <a:lnTo>
                  <a:pt x="2614422" y="243572"/>
                </a:lnTo>
                <a:lnTo>
                  <a:pt x="2617899" y="251109"/>
                </a:lnTo>
                <a:lnTo>
                  <a:pt x="2621375" y="262068"/>
                </a:lnTo>
                <a:lnTo>
                  <a:pt x="2624852" y="276315"/>
                </a:lnTo>
                <a:lnTo>
                  <a:pt x="2628329" y="293660"/>
                </a:lnTo>
                <a:lnTo>
                  <a:pt x="2631805" y="313861"/>
                </a:lnTo>
                <a:lnTo>
                  <a:pt x="2635282" y="336627"/>
                </a:lnTo>
                <a:lnTo>
                  <a:pt x="2638758" y="361625"/>
                </a:lnTo>
                <a:lnTo>
                  <a:pt x="2642235" y="388481"/>
                </a:lnTo>
                <a:lnTo>
                  <a:pt x="2645712" y="416788"/>
                </a:lnTo>
                <a:lnTo>
                  <a:pt x="2649188" y="446110"/>
                </a:lnTo>
                <a:lnTo>
                  <a:pt x="2652665" y="475992"/>
                </a:lnTo>
                <a:lnTo>
                  <a:pt x="2656142" y="505963"/>
                </a:lnTo>
                <a:lnTo>
                  <a:pt x="2659618" y="535546"/>
                </a:lnTo>
                <a:lnTo>
                  <a:pt x="2663095" y="564267"/>
                </a:lnTo>
                <a:lnTo>
                  <a:pt x="2666571" y="591658"/>
                </a:lnTo>
                <a:lnTo>
                  <a:pt x="2670048" y="617267"/>
                </a:lnTo>
                <a:lnTo>
                  <a:pt x="2673525" y="640668"/>
                </a:lnTo>
                <a:lnTo>
                  <a:pt x="2677001" y="661463"/>
                </a:lnTo>
                <a:lnTo>
                  <a:pt x="2680478" y="679294"/>
                </a:lnTo>
                <a:lnTo>
                  <a:pt x="2683954" y="693844"/>
                </a:lnTo>
                <a:lnTo>
                  <a:pt x="2687431" y="704846"/>
                </a:lnTo>
                <a:lnTo>
                  <a:pt x="2690908" y="712088"/>
                </a:lnTo>
                <a:lnTo>
                  <a:pt x="2694384" y="715414"/>
                </a:lnTo>
                <a:lnTo>
                  <a:pt x="2697861" y="714730"/>
                </a:lnTo>
                <a:lnTo>
                  <a:pt x="2701338" y="710005"/>
                </a:lnTo>
                <a:lnTo>
                  <a:pt x="2704814" y="701272"/>
                </a:lnTo>
                <a:lnTo>
                  <a:pt x="2708291" y="688628"/>
                </a:lnTo>
                <a:lnTo>
                  <a:pt x="2711768" y="672234"/>
                </a:lnTo>
                <a:lnTo>
                  <a:pt x="2715244" y="652312"/>
                </a:lnTo>
                <a:lnTo>
                  <a:pt x="2718721" y="629145"/>
                </a:lnTo>
                <a:lnTo>
                  <a:pt x="2722197" y="603067"/>
                </a:lnTo>
                <a:lnTo>
                  <a:pt x="2725674" y="574465"/>
                </a:lnTo>
                <a:lnTo>
                  <a:pt x="2729151" y="543768"/>
                </a:lnTo>
                <a:lnTo>
                  <a:pt x="2732627" y="511446"/>
                </a:lnTo>
                <a:lnTo>
                  <a:pt x="2736104" y="477996"/>
                </a:lnTo>
                <a:lnTo>
                  <a:pt x="2739581" y="443940"/>
                </a:lnTo>
                <a:lnTo>
                  <a:pt x="2743057" y="409815"/>
                </a:lnTo>
                <a:lnTo>
                  <a:pt x="2746534" y="376164"/>
                </a:lnTo>
                <a:lnTo>
                  <a:pt x="2750010" y="343528"/>
                </a:lnTo>
                <a:lnTo>
                  <a:pt x="2753487" y="312438"/>
                </a:lnTo>
                <a:lnTo>
                  <a:pt x="2756964" y="283404"/>
                </a:lnTo>
                <a:lnTo>
                  <a:pt x="2760440" y="256908"/>
                </a:lnTo>
                <a:lnTo>
                  <a:pt x="2763917" y="233398"/>
                </a:lnTo>
                <a:lnTo>
                  <a:pt x="2767394" y="213277"/>
                </a:lnTo>
                <a:lnTo>
                  <a:pt x="2770870" y="196899"/>
                </a:lnTo>
                <a:lnTo>
                  <a:pt x="2774347" y="184561"/>
                </a:lnTo>
                <a:lnTo>
                  <a:pt x="2777823" y="176498"/>
                </a:lnTo>
                <a:lnTo>
                  <a:pt x="2781300" y="172879"/>
                </a:lnTo>
              </a:path>
            </a:pathLst>
          </a:custGeom>
          <a:noFill xmlns:a="http://schemas.openxmlformats.org/drawingml/2006/main"/>
          <a:ln xmlns:a="http://schemas.openxmlformats.org/drawingml/2006/main" w="15240">
            <a:solidFill>
              <a:srgbClr val="777777"/>
            </a:solidFill>
          </a:ln>
        </p:spPr>
      </p:sp>
      <p:sp>
        <p:nvSpPr>
          <p:cNvPr id="14" name="!!am-am-envelope-arrow-line">
            <a:extLst xmlns:a="http://schemas.openxmlformats.org/drawingml/2006/main">
              <a:ext uri="{FF2B5EF4-FFF2-40B4-BE49-F238E27FC236}">
                <a16:creationId xmlns:a16="http://schemas.microsoft.com/office/drawing/2014/main" id="{6F0D6A6A-46F8-48FB-8502-ADFB1CF81968}"/>
              </a:ext>
            </a:extLst>
          </p:cNvPr>
          <p:cNvSpPr>
            <a:spLocks xmlns:a="http://schemas.openxmlformats.org/drawingml/2006/main" noGrp="1"/>
          </p:cNvSpPr>
          <p:nvPr/>
        </p:nvSpPr>
        <p:spPr>
          <a:xfrm xmlns:a="http://schemas.openxmlformats.org/drawingml/2006/main">
            <a:off x="3581400" y="24098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5" name="!!am-am-envelope-arrow-head">
            <a:extLst xmlns:a="http://schemas.openxmlformats.org/drawingml/2006/main">
              <a:ext uri="{FF2B5EF4-FFF2-40B4-BE49-F238E27FC236}">
                <a16:creationId xmlns:a16="http://schemas.microsoft.com/office/drawing/2014/main" id="{CFA31350-0538-46D1-9EB8-6E8E0818F94D}"/>
              </a:ext>
            </a:extLst>
          </p:cNvPr>
          <p:cNvSpPr>
            <a:spLocks xmlns:a="http://schemas.openxmlformats.org/drawingml/2006/main" noGrp="1"/>
          </p:cNvSpPr>
          <p:nvPr/>
        </p:nvSpPr>
        <p:spPr>
          <a:xfrm xmlns:a="http://schemas.openxmlformats.org/drawingml/2006/main" rot="5400000">
            <a:off x="4229100" y="23622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6" name="!!am-am-envelope-label">
            <a:extLst xmlns:a="http://schemas.openxmlformats.org/drawingml/2006/main">
              <a:ext uri="{FF2B5EF4-FFF2-40B4-BE49-F238E27FC236}">
                <a16:creationId xmlns:a16="http://schemas.microsoft.com/office/drawing/2014/main" id="{40A3F2BF-7AF9-4BC2-8025-FCB891FFA147}"/>
              </a:ext>
            </a:extLst>
          </p:cNvPr>
          <p:cNvSpPr>
            <a:spLocks xmlns:a="http://schemas.openxmlformats.org/drawingml/2006/main" noGrp="1"/>
          </p:cNvSpPr>
          <p:nvPr/>
        </p:nvSpPr>
        <p:spPr>
          <a:xfrm xmlns:a="http://schemas.openxmlformats.org/drawingml/2006/main">
            <a:off x="3057525" y="20478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Envelope detection</a:t>
            </a:r>
          </a:p>
        </p:txBody>
      </p:sp>
      <p:sp>
        <p:nvSpPr>
          <p:cNvPr id="17" name="!!am-am-envelope-g0-envelope-1">
            <a:extLst xmlns:a="http://schemas.openxmlformats.org/drawingml/2006/main">
              <a:ext uri="{FF2B5EF4-FFF2-40B4-BE49-F238E27FC236}">
                <a16:creationId xmlns:a16="http://schemas.microsoft.com/office/drawing/2014/main" id="{317534F9-2049-4511-8894-FF266BC58DF4}"/>
              </a:ext>
            </a:extLst>
          </p:cNvPr>
          <p:cNvSpPr>
            <a:spLocks xmlns:a="http://schemas.openxmlformats.org/drawingml/2006/main" noGrp="1"/>
          </p:cNvSpPr>
          <p:nvPr/>
        </p:nvSpPr>
        <p:spPr>
          <a:xfrm xmlns:a="http://schemas.openxmlformats.org/drawingml/2006/main">
            <a:off x="571500" y="3325178"/>
            <a:ext cx="2781300" cy="345757"/>
          </a:xfrm>
          <a:custGeom xmlns:a="http://schemas.openxmlformats.org/drawingml/2006/main">
            <a:pathLst>
              <a:path w="2781300" h="345757">
                <a:moveTo>
                  <a:pt x="0" y="172879"/>
                </a:moveTo>
                <a:lnTo>
                  <a:pt x="6953" y="175594"/>
                </a:lnTo>
                <a:lnTo>
                  <a:pt x="13907" y="178309"/>
                </a:lnTo>
                <a:lnTo>
                  <a:pt x="20860" y="181022"/>
                </a:lnTo>
                <a:lnTo>
                  <a:pt x="27813" y="183734"/>
                </a:lnTo>
                <a:lnTo>
                  <a:pt x="34766" y="186443"/>
                </a:lnTo>
                <a:lnTo>
                  <a:pt x="41719" y="189148"/>
                </a:lnTo>
                <a:lnTo>
                  <a:pt x="48673" y="191849"/>
                </a:lnTo>
                <a:lnTo>
                  <a:pt x="55626" y="194546"/>
                </a:lnTo>
                <a:lnTo>
                  <a:pt x="62579" y="197238"/>
                </a:lnTo>
                <a:lnTo>
                  <a:pt x="69532" y="199923"/>
                </a:lnTo>
                <a:lnTo>
                  <a:pt x="76486" y="202602"/>
                </a:lnTo>
                <a:lnTo>
                  <a:pt x="83439" y="205273"/>
                </a:lnTo>
                <a:lnTo>
                  <a:pt x="90392" y="207936"/>
                </a:lnTo>
                <a:lnTo>
                  <a:pt x="97345" y="210591"/>
                </a:lnTo>
                <a:lnTo>
                  <a:pt x="104299" y="213236"/>
                </a:lnTo>
                <a:lnTo>
                  <a:pt x="111252" y="215872"/>
                </a:lnTo>
                <a:lnTo>
                  <a:pt x="118205" y="218497"/>
                </a:lnTo>
                <a:lnTo>
                  <a:pt x="125159" y="221110"/>
                </a:lnTo>
                <a:lnTo>
                  <a:pt x="132112" y="223712"/>
                </a:lnTo>
                <a:lnTo>
                  <a:pt x="139065" y="226301"/>
                </a:lnTo>
                <a:lnTo>
                  <a:pt x="146018" y="228877"/>
                </a:lnTo>
                <a:lnTo>
                  <a:pt x="152972" y="231439"/>
                </a:lnTo>
                <a:lnTo>
                  <a:pt x="159925" y="233987"/>
                </a:lnTo>
                <a:lnTo>
                  <a:pt x="166878" y="236520"/>
                </a:lnTo>
                <a:lnTo>
                  <a:pt x="173831" y="239037"/>
                </a:lnTo>
                <a:lnTo>
                  <a:pt x="180785" y="241537"/>
                </a:lnTo>
                <a:lnTo>
                  <a:pt x="187738" y="244021"/>
                </a:lnTo>
                <a:lnTo>
                  <a:pt x="194691" y="246487"/>
                </a:lnTo>
                <a:lnTo>
                  <a:pt x="201644" y="248935"/>
                </a:lnTo>
                <a:lnTo>
                  <a:pt x="208598" y="251364"/>
                </a:lnTo>
                <a:lnTo>
                  <a:pt x="215551" y="253774"/>
                </a:lnTo>
                <a:lnTo>
                  <a:pt x="222504" y="256164"/>
                </a:lnTo>
                <a:lnTo>
                  <a:pt x="229457" y="258533"/>
                </a:lnTo>
                <a:lnTo>
                  <a:pt x="236410" y="260881"/>
                </a:lnTo>
                <a:lnTo>
                  <a:pt x="243364" y="263208"/>
                </a:lnTo>
                <a:lnTo>
                  <a:pt x="250317" y="265512"/>
                </a:lnTo>
                <a:lnTo>
                  <a:pt x="257270" y="267793"/>
                </a:lnTo>
                <a:lnTo>
                  <a:pt x="264223" y="270051"/>
                </a:lnTo>
                <a:lnTo>
                  <a:pt x="271177" y="272285"/>
                </a:lnTo>
                <a:lnTo>
                  <a:pt x="278130" y="274494"/>
                </a:lnTo>
                <a:lnTo>
                  <a:pt x="285083" y="276679"/>
                </a:lnTo>
                <a:lnTo>
                  <a:pt x="292036" y="278837"/>
                </a:lnTo>
                <a:lnTo>
                  <a:pt x="298990" y="280970"/>
                </a:lnTo>
                <a:lnTo>
                  <a:pt x="305943" y="283076"/>
                </a:lnTo>
                <a:lnTo>
                  <a:pt x="312896" y="285155"/>
                </a:lnTo>
                <a:lnTo>
                  <a:pt x="319850" y="287206"/>
                </a:lnTo>
                <a:lnTo>
                  <a:pt x="326803" y="289228"/>
                </a:lnTo>
                <a:lnTo>
                  <a:pt x="333756" y="291222"/>
                </a:lnTo>
                <a:lnTo>
                  <a:pt x="340709" y="293187"/>
                </a:lnTo>
                <a:lnTo>
                  <a:pt x="347663" y="295122"/>
                </a:lnTo>
                <a:lnTo>
                  <a:pt x="354616" y="297028"/>
                </a:lnTo>
                <a:lnTo>
                  <a:pt x="361569" y="298902"/>
                </a:lnTo>
                <a:lnTo>
                  <a:pt x="368522" y="300745"/>
                </a:lnTo>
                <a:lnTo>
                  <a:pt x="375476" y="302557"/>
                </a:lnTo>
                <a:lnTo>
                  <a:pt x="382429" y="304337"/>
                </a:lnTo>
                <a:lnTo>
                  <a:pt x="389382" y="306084"/>
                </a:lnTo>
                <a:lnTo>
                  <a:pt x="396335" y="307799"/>
                </a:lnTo>
                <a:lnTo>
                  <a:pt x="403289" y="309480"/>
                </a:lnTo>
                <a:lnTo>
                  <a:pt x="410242" y="311127"/>
                </a:lnTo>
                <a:lnTo>
                  <a:pt x="417195" y="312741"/>
                </a:lnTo>
                <a:lnTo>
                  <a:pt x="424148" y="314319"/>
                </a:lnTo>
                <a:lnTo>
                  <a:pt x="431101" y="315863"/>
                </a:lnTo>
                <a:lnTo>
                  <a:pt x="438055" y="317372"/>
                </a:lnTo>
                <a:lnTo>
                  <a:pt x="445008" y="318845"/>
                </a:lnTo>
                <a:lnTo>
                  <a:pt x="451961" y="320282"/>
                </a:lnTo>
                <a:lnTo>
                  <a:pt x="458915" y="321683"/>
                </a:lnTo>
                <a:lnTo>
                  <a:pt x="465868" y="323047"/>
                </a:lnTo>
                <a:lnTo>
                  <a:pt x="472821" y="324374"/>
                </a:lnTo>
                <a:lnTo>
                  <a:pt x="479774" y="325663"/>
                </a:lnTo>
                <a:lnTo>
                  <a:pt x="486727" y="326915"/>
                </a:lnTo>
                <a:lnTo>
                  <a:pt x="493681" y="328129"/>
                </a:lnTo>
                <a:lnTo>
                  <a:pt x="500634" y="329304"/>
                </a:lnTo>
                <a:lnTo>
                  <a:pt x="507587" y="330441"/>
                </a:lnTo>
                <a:lnTo>
                  <a:pt x="514541" y="331539"/>
                </a:lnTo>
                <a:lnTo>
                  <a:pt x="521494" y="332598"/>
                </a:lnTo>
                <a:lnTo>
                  <a:pt x="528447" y="333617"/>
                </a:lnTo>
                <a:lnTo>
                  <a:pt x="535400" y="334597"/>
                </a:lnTo>
                <a:lnTo>
                  <a:pt x="542354" y="335537"/>
                </a:lnTo>
                <a:lnTo>
                  <a:pt x="549307" y="336437"/>
                </a:lnTo>
                <a:lnTo>
                  <a:pt x="556260" y="337296"/>
                </a:lnTo>
                <a:lnTo>
                  <a:pt x="563213" y="338115"/>
                </a:lnTo>
                <a:lnTo>
                  <a:pt x="570167" y="338893"/>
                </a:lnTo>
                <a:lnTo>
                  <a:pt x="577120" y="339630"/>
                </a:lnTo>
                <a:lnTo>
                  <a:pt x="584073" y="340326"/>
                </a:lnTo>
                <a:lnTo>
                  <a:pt x="591026" y="340981"/>
                </a:lnTo>
                <a:lnTo>
                  <a:pt x="597980" y="341594"/>
                </a:lnTo>
                <a:lnTo>
                  <a:pt x="604933" y="342166"/>
                </a:lnTo>
                <a:lnTo>
                  <a:pt x="611886" y="342695"/>
                </a:lnTo>
                <a:lnTo>
                  <a:pt x="618839" y="343183"/>
                </a:lnTo>
                <a:lnTo>
                  <a:pt x="625793" y="343629"/>
                </a:lnTo>
                <a:lnTo>
                  <a:pt x="632746" y="344033"/>
                </a:lnTo>
                <a:lnTo>
                  <a:pt x="639699" y="344394"/>
                </a:lnTo>
                <a:lnTo>
                  <a:pt x="646652" y="344713"/>
                </a:lnTo>
                <a:lnTo>
                  <a:pt x="653606" y="344990"/>
                </a:lnTo>
                <a:lnTo>
                  <a:pt x="660559" y="345225"/>
                </a:lnTo>
                <a:lnTo>
                  <a:pt x="667512" y="345416"/>
                </a:lnTo>
                <a:lnTo>
                  <a:pt x="674465" y="345566"/>
                </a:lnTo>
                <a:lnTo>
                  <a:pt x="681419" y="345672"/>
                </a:lnTo>
                <a:lnTo>
                  <a:pt x="688372" y="345736"/>
                </a:lnTo>
                <a:lnTo>
                  <a:pt x="695325" y="345757"/>
                </a:lnTo>
                <a:lnTo>
                  <a:pt x="702278" y="345736"/>
                </a:lnTo>
                <a:lnTo>
                  <a:pt x="709231" y="345672"/>
                </a:lnTo>
                <a:lnTo>
                  <a:pt x="716185" y="345566"/>
                </a:lnTo>
                <a:lnTo>
                  <a:pt x="723138" y="345416"/>
                </a:lnTo>
                <a:lnTo>
                  <a:pt x="730091" y="345225"/>
                </a:lnTo>
                <a:lnTo>
                  <a:pt x="737045" y="344990"/>
                </a:lnTo>
                <a:lnTo>
                  <a:pt x="743998" y="344713"/>
                </a:lnTo>
                <a:lnTo>
                  <a:pt x="750951" y="344394"/>
                </a:lnTo>
                <a:lnTo>
                  <a:pt x="757904" y="344033"/>
                </a:lnTo>
                <a:lnTo>
                  <a:pt x="764858" y="343629"/>
                </a:lnTo>
                <a:lnTo>
                  <a:pt x="771811" y="343183"/>
                </a:lnTo>
                <a:lnTo>
                  <a:pt x="778764" y="342695"/>
                </a:lnTo>
                <a:lnTo>
                  <a:pt x="785717" y="342166"/>
                </a:lnTo>
                <a:lnTo>
                  <a:pt x="792671" y="341594"/>
                </a:lnTo>
                <a:lnTo>
                  <a:pt x="799624" y="340981"/>
                </a:lnTo>
                <a:lnTo>
                  <a:pt x="806577" y="340326"/>
                </a:lnTo>
                <a:lnTo>
                  <a:pt x="813530" y="339630"/>
                </a:lnTo>
                <a:lnTo>
                  <a:pt x="820483" y="338893"/>
                </a:lnTo>
                <a:lnTo>
                  <a:pt x="827437" y="338115"/>
                </a:lnTo>
                <a:lnTo>
                  <a:pt x="834390" y="337296"/>
                </a:lnTo>
                <a:lnTo>
                  <a:pt x="841343" y="336437"/>
                </a:lnTo>
                <a:lnTo>
                  <a:pt x="848297" y="335537"/>
                </a:lnTo>
                <a:lnTo>
                  <a:pt x="855250" y="334597"/>
                </a:lnTo>
                <a:lnTo>
                  <a:pt x="862203" y="333617"/>
                </a:lnTo>
                <a:lnTo>
                  <a:pt x="869156" y="332598"/>
                </a:lnTo>
                <a:lnTo>
                  <a:pt x="876110" y="331539"/>
                </a:lnTo>
                <a:lnTo>
                  <a:pt x="883063" y="330441"/>
                </a:lnTo>
                <a:lnTo>
                  <a:pt x="890016" y="329304"/>
                </a:lnTo>
                <a:lnTo>
                  <a:pt x="896969" y="328129"/>
                </a:lnTo>
                <a:lnTo>
                  <a:pt x="903923" y="326915"/>
                </a:lnTo>
                <a:lnTo>
                  <a:pt x="910876" y="325663"/>
                </a:lnTo>
                <a:lnTo>
                  <a:pt x="917829" y="324374"/>
                </a:lnTo>
                <a:lnTo>
                  <a:pt x="924782" y="323047"/>
                </a:lnTo>
                <a:lnTo>
                  <a:pt x="931735" y="321683"/>
                </a:lnTo>
                <a:lnTo>
                  <a:pt x="938689" y="320282"/>
                </a:lnTo>
                <a:lnTo>
                  <a:pt x="945642" y="318845"/>
                </a:lnTo>
                <a:lnTo>
                  <a:pt x="952595" y="317372"/>
                </a:lnTo>
                <a:lnTo>
                  <a:pt x="959549" y="315863"/>
                </a:lnTo>
                <a:lnTo>
                  <a:pt x="966502" y="314319"/>
                </a:lnTo>
                <a:lnTo>
                  <a:pt x="973455" y="312741"/>
                </a:lnTo>
                <a:lnTo>
                  <a:pt x="980408" y="311127"/>
                </a:lnTo>
                <a:lnTo>
                  <a:pt x="987362" y="309480"/>
                </a:lnTo>
                <a:lnTo>
                  <a:pt x="994315" y="307799"/>
                </a:lnTo>
                <a:lnTo>
                  <a:pt x="1001268" y="306084"/>
                </a:lnTo>
                <a:lnTo>
                  <a:pt x="1008221" y="304337"/>
                </a:lnTo>
                <a:lnTo>
                  <a:pt x="1015174" y="302557"/>
                </a:lnTo>
                <a:lnTo>
                  <a:pt x="1022128" y="300745"/>
                </a:lnTo>
                <a:lnTo>
                  <a:pt x="1029081" y="298902"/>
                </a:lnTo>
                <a:lnTo>
                  <a:pt x="1036034" y="297028"/>
                </a:lnTo>
                <a:lnTo>
                  <a:pt x="1042988" y="295122"/>
                </a:lnTo>
                <a:lnTo>
                  <a:pt x="1049941" y="293187"/>
                </a:lnTo>
                <a:lnTo>
                  <a:pt x="1056894" y="291222"/>
                </a:lnTo>
                <a:lnTo>
                  <a:pt x="1063847" y="289228"/>
                </a:lnTo>
                <a:lnTo>
                  <a:pt x="1070801" y="287206"/>
                </a:lnTo>
                <a:lnTo>
                  <a:pt x="1077754" y="285155"/>
                </a:lnTo>
                <a:lnTo>
                  <a:pt x="1084707" y="283076"/>
                </a:lnTo>
                <a:lnTo>
                  <a:pt x="1091660" y="280970"/>
                </a:lnTo>
                <a:lnTo>
                  <a:pt x="1098614" y="278837"/>
                </a:lnTo>
                <a:lnTo>
                  <a:pt x="1105567" y="276679"/>
                </a:lnTo>
                <a:lnTo>
                  <a:pt x="1112520" y="274494"/>
                </a:lnTo>
                <a:lnTo>
                  <a:pt x="1119473" y="272285"/>
                </a:lnTo>
                <a:lnTo>
                  <a:pt x="1126427" y="270051"/>
                </a:lnTo>
                <a:lnTo>
                  <a:pt x="1133380" y="267793"/>
                </a:lnTo>
                <a:lnTo>
                  <a:pt x="1140333" y="265512"/>
                </a:lnTo>
                <a:lnTo>
                  <a:pt x="1147286" y="263208"/>
                </a:lnTo>
                <a:lnTo>
                  <a:pt x="1154240" y="260881"/>
                </a:lnTo>
                <a:lnTo>
                  <a:pt x="1161193" y="258533"/>
                </a:lnTo>
                <a:lnTo>
                  <a:pt x="1168146" y="256164"/>
                </a:lnTo>
                <a:lnTo>
                  <a:pt x="1175099" y="253774"/>
                </a:lnTo>
                <a:lnTo>
                  <a:pt x="1182053" y="251364"/>
                </a:lnTo>
                <a:lnTo>
                  <a:pt x="1189006" y="248935"/>
                </a:lnTo>
                <a:lnTo>
                  <a:pt x="1195959" y="246487"/>
                </a:lnTo>
                <a:lnTo>
                  <a:pt x="1202912" y="244021"/>
                </a:lnTo>
                <a:lnTo>
                  <a:pt x="1209865" y="241537"/>
                </a:lnTo>
                <a:lnTo>
                  <a:pt x="1216819" y="239037"/>
                </a:lnTo>
                <a:lnTo>
                  <a:pt x="1223772" y="236520"/>
                </a:lnTo>
                <a:lnTo>
                  <a:pt x="1230725" y="233987"/>
                </a:lnTo>
                <a:lnTo>
                  <a:pt x="1237679" y="231439"/>
                </a:lnTo>
                <a:lnTo>
                  <a:pt x="1244632" y="228877"/>
                </a:lnTo>
                <a:lnTo>
                  <a:pt x="1251585" y="226301"/>
                </a:lnTo>
                <a:lnTo>
                  <a:pt x="1258538" y="223712"/>
                </a:lnTo>
                <a:lnTo>
                  <a:pt x="1265492" y="221110"/>
                </a:lnTo>
                <a:lnTo>
                  <a:pt x="1272445" y="218497"/>
                </a:lnTo>
                <a:lnTo>
                  <a:pt x="1279398" y="215872"/>
                </a:lnTo>
                <a:lnTo>
                  <a:pt x="1286351" y="213236"/>
                </a:lnTo>
                <a:lnTo>
                  <a:pt x="1293305" y="210591"/>
                </a:lnTo>
                <a:lnTo>
                  <a:pt x="1300258" y="207936"/>
                </a:lnTo>
                <a:lnTo>
                  <a:pt x="1307211" y="205273"/>
                </a:lnTo>
                <a:lnTo>
                  <a:pt x="1314164" y="202602"/>
                </a:lnTo>
                <a:lnTo>
                  <a:pt x="1321118" y="199923"/>
                </a:lnTo>
                <a:lnTo>
                  <a:pt x="1328071" y="197238"/>
                </a:lnTo>
                <a:lnTo>
                  <a:pt x="1335024" y="194546"/>
                </a:lnTo>
                <a:lnTo>
                  <a:pt x="1341977" y="191849"/>
                </a:lnTo>
                <a:lnTo>
                  <a:pt x="1348931" y="189148"/>
                </a:lnTo>
                <a:lnTo>
                  <a:pt x="1355884" y="186443"/>
                </a:lnTo>
                <a:lnTo>
                  <a:pt x="1362837" y="183734"/>
                </a:lnTo>
                <a:lnTo>
                  <a:pt x="1369790" y="181022"/>
                </a:lnTo>
                <a:lnTo>
                  <a:pt x="1376744" y="178309"/>
                </a:lnTo>
                <a:lnTo>
                  <a:pt x="1383697" y="175594"/>
                </a:lnTo>
                <a:lnTo>
                  <a:pt x="1390650" y="172879"/>
                </a:lnTo>
                <a:lnTo>
                  <a:pt x="1397603" y="170163"/>
                </a:lnTo>
                <a:lnTo>
                  <a:pt x="1404557" y="167448"/>
                </a:lnTo>
                <a:lnTo>
                  <a:pt x="1411510" y="164735"/>
                </a:lnTo>
                <a:lnTo>
                  <a:pt x="1418463" y="162024"/>
                </a:lnTo>
                <a:lnTo>
                  <a:pt x="1425416" y="159315"/>
                </a:lnTo>
                <a:lnTo>
                  <a:pt x="1432370" y="156609"/>
                </a:lnTo>
                <a:lnTo>
                  <a:pt x="1439323" y="153908"/>
                </a:lnTo>
                <a:lnTo>
                  <a:pt x="1446276" y="151211"/>
                </a:lnTo>
                <a:lnTo>
                  <a:pt x="1453229" y="148520"/>
                </a:lnTo>
                <a:lnTo>
                  <a:pt x="1460183" y="145835"/>
                </a:lnTo>
                <a:lnTo>
                  <a:pt x="1467136" y="143156"/>
                </a:lnTo>
                <a:lnTo>
                  <a:pt x="1474089" y="140485"/>
                </a:lnTo>
                <a:lnTo>
                  <a:pt x="1481042" y="137821"/>
                </a:lnTo>
                <a:lnTo>
                  <a:pt x="1487996" y="135166"/>
                </a:lnTo>
                <a:lnTo>
                  <a:pt x="1494949" y="132521"/>
                </a:lnTo>
                <a:lnTo>
                  <a:pt x="1501902" y="129886"/>
                </a:lnTo>
                <a:lnTo>
                  <a:pt x="1508855" y="127261"/>
                </a:lnTo>
                <a:lnTo>
                  <a:pt x="1515808" y="124647"/>
                </a:lnTo>
                <a:lnTo>
                  <a:pt x="1522762" y="122045"/>
                </a:lnTo>
                <a:lnTo>
                  <a:pt x="1529715" y="119456"/>
                </a:lnTo>
                <a:lnTo>
                  <a:pt x="1536668" y="116880"/>
                </a:lnTo>
                <a:lnTo>
                  <a:pt x="1543622" y="114318"/>
                </a:lnTo>
                <a:lnTo>
                  <a:pt x="1550575" y="111770"/>
                </a:lnTo>
                <a:lnTo>
                  <a:pt x="1557528" y="109238"/>
                </a:lnTo>
                <a:lnTo>
                  <a:pt x="1564481" y="106721"/>
                </a:lnTo>
                <a:lnTo>
                  <a:pt x="1571435" y="104220"/>
                </a:lnTo>
                <a:lnTo>
                  <a:pt x="1578388" y="101737"/>
                </a:lnTo>
                <a:lnTo>
                  <a:pt x="1585341" y="99271"/>
                </a:lnTo>
                <a:lnTo>
                  <a:pt x="1592294" y="96823"/>
                </a:lnTo>
                <a:lnTo>
                  <a:pt x="1599248" y="94393"/>
                </a:lnTo>
                <a:lnTo>
                  <a:pt x="1606201" y="91984"/>
                </a:lnTo>
                <a:lnTo>
                  <a:pt x="1613154" y="89594"/>
                </a:lnTo>
                <a:lnTo>
                  <a:pt x="1620107" y="87224"/>
                </a:lnTo>
                <a:lnTo>
                  <a:pt x="1627061" y="84876"/>
                </a:lnTo>
                <a:lnTo>
                  <a:pt x="1634014" y="82550"/>
                </a:lnTo>
                <a:lnTo>
                  <a:pt x="1640967" y="80246"/>
                </a:lnTo>
                <a:lnTo>
                  <a:pt x="1647920" y="77964"/>
                </a:lnTo>
                <a:lnTo>
                  <a:pt x="1654874" y="75706"/>
                </a:lnTo>
                <a:lnTo>
                  <a:pt x="1661827" y="73473"/>
                </a:lnTo>
                <a:lnTo>
                  <a:pt x="1668780" y="71263"/>
                </a:lnTo>
                <a:lnTo>
                  <a:pt x="1675733" y="69079"/>
                </a:lnTo>
                <a:lnTo>
                  <a:pt x="1682687" y="66920"/>
                </a:lnTo>
                <a:lnTo>
                  <a:pt x="1689640" y="64788"/>
                </a:lnTo>
                <a:lnTo>
                  <a:pt x="1696593" y="62682"/>
                </a:lnTo>
                <a:lnTo>
                  <a:pt x="1703546" y="60603"/>
                </a:lnTo>
                <a:lnTo>
                  <a:pt x="1710500" y="58552"/>
                </a:lnTo>
                <a:lnTo>
                  <a:pt x="1717453" y="56529"/>
                </a:lnTo>
                <a:lnTo>
                  <a:pt x="1724406" y="54535"/>
                </a:lnTo>
                <a:lnTo>
                  <a:pt x="1731359" y="52570"/>
                </a:lnTo>
                <a:lnTo>
                  <a:pt x="1738313" y="50635"/>
                </a:lnTo>
                <a:lnTo>
                  <a:pt x="1745266" y="48730"/>
                </a:lnTo>
                <a:lnTo>
                  <a:pt x="1752219" y="46856"/>
                </a:lnTo>
                <a:lnTo>
                  <a:pt x="1759172" y="45012"/>
                </a:lnTo>
                <a:lnTo>
                  <a:pt x="1766125" y="43200"/>
                </a:lnTo>
                <a:lnTo>
                  <a:pt x="1773079" y="41421"/>
                </a:lnTo>
                <a:lnTo>
                  <a:pt x="1780032" y="39673"/>
                </a:lnTo>
                <a:lnTo>
                  <a:pt x="1786985" y="37959"/>
                </a:lnTo>
                <a:lnTo>
                  <a:pt x="1793939" y="36278"/>
                </a:lnTo>
                <a:lnTo>
                  <a:pt x="1800892" y="34630"/>
                </a:lnTo>
                <a:lnTo>
                  <a:pt x="1807845" y="33017"/>
                </a:lnTo>
                <a:lnTo>
                  <a:pt x="1814798" y="31438"/>
                </a:lnTo>
                <a:lnTo>
                  <a:pt x="1821752" y="29894"/>
                </a:lnTo>
                <a:lnTo>
                  <a:pt x="1828705" y="28385"/>
                </a:lnTo>
                <a:lnTo>
                  <a:pt x="1835658" y="26912"/>
                </a:lnTo>
                <a:lnTo>
                  <a:pt x="1842611" y="25475"/>
                </a:lnTo>
                <a:lnTo>
                  <a:pt x="1849565" y="24075"/>
                </a:lnTo>
                <a:lnTo>
                  <a:pt x="1856518" y="22711"/>
                </a:lnTo>
                <a:lnTo>
                  <a:pt x="1863471" y="21384"/>
                </a:lnTo>
                <a:lnTo>
                  <a:pt x="1870424" y="20094"/>
                </a:lnTo>
                <a:lnTo>
                  <a:pt x="1877378" y="18843"/>
                </a:lnTo>
                <a:lnTo>
                  <a:pt x="1884331" y="17629"/>
                </a:lnTo>
                <a:lnTo>
                  <a:pt x="1891284" y="16453"/>
                </a:lnTo>
                <a:lnTo>
                  <a:pt x="1898237" y="15316"/>
                </a:lnTo>
                <a:lnTo>
                  <a:pt x="1905190" y="14218"/>
                </a:lnTo>
                <a:lnTo>
                  <a:pt x="1912144" y="13160"/>
                </a:lnTo>
                <a:lnTo>
                  <a:pt x="1919097" y="12140"/>
                </a:lnTo>
                <a:lnTo>
                  <a:pt x="1926050" y="11160"/>
                </a:lnTo>
                <a:lnTo>
                  <a:pt x="1933004" y="10220"/>
                </a:lnTo>
                <a:lnTo>
                  <a:pt x="1939957" y="9321"/>
                </a:lnTo>
                <a:lnTo>
                  <a:pt x="1946910" y="8461"/>
                </a:lnTo>
                <a:lnTo>
                  <a:pt x="1953863" y="7642"/>
                </a:lnTo>
                <a:lnTo>
                  <a:pt x="1960817" y="6864"/>
                </a:lnTo>
                <a:lnTo>
                  <a:pt x="1967770" y="6127"/>
                </a:lnTo>
                <a:lnTo>
                  <a:pt x="1974723" y="5431"/>
                </a:lnTo>
                <a:lnTo>
                  <a:pt x="1981676" y="4777"/>
                </a:lnTo>
                <a:lnTo>
                  <a:pt x="1988629" y="4163"/>
                </a:lnTo>
                <a:lnTo>
                  <a:pt x="1995583" y="3592"/>
                </a:lnTo>
                <a:lnTo>
                  <a:pt x="2002536" y="3062"/>
                </a:lnTo>
                <a:lnTo>
                  <a:pt x="2009489" y="2574"/>
                </a:lnTo>
                <a:lnTo>
                  <a:pt x="2016443" y="2128"/>
                </a:lnTo>
                <a:lnTo>
                  <a:pt x="2023396" y="1725"/>
                </a:lnTo>
                <a:lnTo>
                  <a:pt x="2030349" y="1363"/>
                </a:lnTo>
                <a:lnTo>
                  <a:pt x="2037302" y="1044"/>
                </a:lnTo>
                <a:lnTo>
                  <a:pt x="2044256" y="767"/>
                </a:lnTo>
                <a:lnTo>
                  <a:pt x="2051209" y="533"/>
                </a:lnTo>
                <a:lnTo>
                  <a:pt x="2058162" y="341"/>
                </a:lnTo>
                <a:lnTo>
                  <a:pt x="2065115" y="192"/>
                </a:lnTo>
                <a:lnTo>
                  <a:pt x="2072068" y="85"/>
                </a:lnTo>
                <a:lnTo>
                  <a:pt x="2079022" y="21"/>
                </a:lnTo>
                <a:lnTo>
                  <a:pt x="2085975" y="0"/>
                </a:lnTo>
                <a:lnTo>
                  <a:pt x="2092928" y="21"/>
                </a:lnTo>
                <a:lnTo>
                  <a:pt x="2099882" y="85"/>
                </a:lnTo>
                <a:lnTo>
                  <a:pt x="2106835" y="192"/>
                </a:lnTo>
                <a:lnTo>
                  <a:pt x="2113788" y="341"/>
                </a:lnTo>
                <a:lnTo>
                  <a:pt x="2120741" y="533"/>
                </a:lnTo>
                <a:lnTo>
                  <a:pt x="2127695" y="767"/>
                </a:lnTo>
                <a:lnTo>
                  <a:pt x="2134648" y="1044"/>
                </a:lnTo>
                <a:lnTo>
                  <a:pt x="2141601" y="1363"/>
                </a:lnTo>
                <a:lnTo>
                  <a:pt x="2148554" y="1725"/>
                </a:lnTo>
                <a:lnTo>
                  <a:pt x="2155508" y="2128"/>
                </a:lnTo>
                <a:lnTo>
                  <a:pt x="2162461" y="2574"/>
                </a:lnTo>
                <a:lnTo>
                  <a:pt x="2169414" y="3062"/>
                </a:lnTo>
                <a:lnTo>
                  <a:pt x="2176367" y="3592"/>
                </a:lnTo>
                <a:lnTo>
                  <a:pt x="2183321" y="4163"/>
                </a:lnTo>
                <a:lnTo>
                  <a:pt x="2190274" y="4777"/>
                </a:lnTo>
                <a:lnTo>
                  <a:pt x="2197227" y="5431"/>
                </a:lnTo>
                <a:lnTo>
                  <a:pt x="2204180" y="6127"/>
                </a:lnTo>
                <a:lnTo>
                  <a:pt x="2211134" y="6864"/>
                </a:lnTo>
                <a:lnTo>
                  <a:pt x="2218087" y="7642"/>
                </a:lnTo>
                <a:lnTo>
                  <a:pt x="2225040" y="8461"/>
                </a:lnTo>
                <a:lnTo>
                  <a:pt x="2231993" y="9321"/>
                </a:lnTo>
                <a:lnTo>
                  <a:pt x="2238947" y="10220"/>
                </a:lnTo>
                <a:lnTo>
                  <a:pt x="2245900" y="11160"/>
                </a:lnTo>
                <a:lnTo>
                  <a:pt x="2252853" y="12140"/>
                </a:lnTo>
                <a:lnTo>
                  <a:pt x="2259806" y="13160"/>
                </a:lnTo>
                <a:lnTo>
                  <a:pt x="2266760" y="14218"/>
                </a:lnTo>
                <a:lnTo>
                  <a:pt x="2273713" y="15316"/>
                </a:lnTo>
                <a:lnTo>
                  <a:pt x="2280666" y="16453"/>
                </a:lnTo>
                <a:lnTo>
                  <a:pt x="2287619" y="17629"/>
                </a:lnTo>
                <a:lnTo>
                  <a:pt x="2294573" y="18843"/>
                </a:lnTo>
                <a:lnTo>
                  <a:pt x="2301526" y="20094"/>
                </a:lnTo>
                <a:lnTo>
                  <a:pt x="2308479" y="21384"/>
                </a:lnTo>
                <a:lnTo>
                  <a:pt x="2315432" y="22711"/>
                </a:lnTo>
                <a:lnTo>
                  <a:pt x="2322386" y="24075"/>
                </a:lnTo>
                <a:lnTo>
                  <a:pt x="2329339" y="25475"/>
                </a:lnTo>
                <a:lnTo>
                  <a:pt x="2336292" y="26912"/>
                </a:lnTo>
                <a:lnTo>
                  <a:pt x="2343245" y="28385"/>
                </a:lnTo>
                <a:lnTo>
                  <a:pt x="2350199" y="29894"/>
                </a:lnTo>
                <a:lnTo>
                  <a:pt x="2357152" y="31438"/>
                </a:lnTo>
                <a:lnTo>
                  <a:pt x="2364105" y="33017"/>
                </a:lnTo>
                <a:lnTo>
                  <a:pt x="2371058" y="34630"/>
                </a:lnTo>
                <a:lnTo>
                  <a:pt x="2378011" y="36278"/>
                </a:lnTo>
                <a:lnTo>
                  <a:pt x="2384965" y="37959"/>
                </a:lnTo>
                <a:lnTo>
                  <a:pt x="2391918" y="39673"/>
                </a:lnTo>
                <a:lnTo>
                  <a:pt x="2398871" y="41421"/>
                </a:lnTo>
                <a:lnTo>
                  <a:pt x="2405825" y="43200"/>
                </a:lnTo>
                <a:lnTo>
                  <a:pt x="2412778" y="45012"/>
                </a:lnTo>
                <a:lnTo>
                  <a:pt x="2419731" y="46856"/>
                </a:lnTo>
                <a:lnTo>
                  <a:pt x="2426684" y="48730"/>
                </a:lnTo>
                <a:lnTo>
                  <a:pt x="2433638" y="50635"/>
                </a:lnTo>
                <a:lnTo>
                  <a:pt x="2440591" y="52570"/>
                </a:lnTo>
                <a:lnTo>
                  <a:pt x="2447544" y="54535"/>
                </a:lnTo>
                <a:lnTo>
                  <a:pt x="2454497" y="56529"/>
                </a:lnTo>
                <a:lnTo>
                  <a:pt x="2461451" y="58552"/>
                </a:lnTo>
                <a:lnTo>
                  <a:pt x="2468404" y="60603"/>
                </a:lnTo>
                <a:lnTo>
                  <a:pt x="2475357" y="62682"/>
                </a:lnTo>
                <a:lnTo>
                  <a:pt x="2482310" y="64788"/>
                </a:lnTo>
                <a:lnTo>
                  <a:pt x="2489263" y="66920"/>
                </a:lnTo>
                <a:lnTo>
                  <a:pt x="2496217" y="69079"/>
                </a:lnTo>
                <a:lnTo>
                  <a:pt x="2503170" y="71263"/>
                </a:lnTo>
                <a:lnTo>
                  <a:pt x="2510123" y="73473"/>
                </a:lnTo>
                <a:lnTo>
                  <a:pt x="2517077" y="75706"/>
                </a:lnTo>
                <a:lnTo>
                  <a:pt x="2524030" y="77964"/>
                </a:lnTo>
                <a:lnTo>
                  <a:pt x="2530983" y="80246"/>
                </a:lnTo>
                <a:lnTo>
                  <a:pt x="2537936" y="82550"/>
                </a:lnTo>
                <a:lnTo>
                  <a:pt x="2544890" y="84876"/>
                </a:lnTo>
                <a:lnTo>
                  <a:pt x="2551843" y="87224"/>
                </a:lnTo>
                <a:lnTo>
                  <a:pt x="2558796" y="89594"/>
                </a:lnTo>
                <a:lnTo>
                  <a:pt x="2565749" y="91984"/>
                </a:lnTo>
                <a:lnTo>
                  <a:pt x="2572703" y="94393"/>
                </a:lnTo>
                <a:lnTo>
                  <a:pt x="2579656" y="96823"/>
                </a:lnTo>
                <a:lnTo>
                  <a:pt x="2586609" y="99271"/>
                </a:lnTo>
                <a:lnTo>
                  <a:pt x="2593562" y="101737"/>
                </a:lnTo>
                <a:lnTo>
                  <a:pt x="2600516" y="104220"/>
                </a:lnTo>
                <a:lnTo>
                  <a:pt x="2607469" y="106721"/>
                </a:lnTo>
                <a:lnTo>
                  <a:pt x="2614422" y="109238"/>
                </a:lnTo>
                <a:lnTo>
                  <a:pt x="2621375" y="111770"/>
                </a:lnTo>
                <a:lnTo>
                  <a:pt x="2628329" y="114318"/>
                </a:lnTo>
                <a:lnTo>
                  <a:pt x="2635282" y="116880"/>
                </a:lnTo>
                <a:lnTo>
                  <a:pt x="2642235" y="119456"/>
                </a:lnTo>
                <a:lnTo>
                  <a:pt x="2649188" y="122045"/>
                </a:lnTo>
                <a:lnTo>
                  <a:pt x="2656142" y="124647"/>
                </a:lnTo>
                <a:lnTo>
                  <a:pt x="2663095" y="127261"/>
                </a:lnTo>
                <a:lnTo>
                  <a:pt x="2670048" y="129886"/>
                </a:lnTo>
                <a:lnTo>
                  <a:pt x="2677001" y="132521"/>
                </a:lnTo>
                <a:lnTo>
                  <a:pt x="2683954" y="135166"/>
                </a:lnTo>
                <a:lnTo>
                  <a:pt x="2690908" y="137821"/>
                </a:lnTo>
                <a:lnTo>
                  <a:pt x="2697861" y="140485"/>
                </a:lnTo>
                <a:lnTo>
                  <a:pt x="2704814" y="143156"/>
                </a:lnTo>
                <a:lnTo>
                  <a:pt x="2711768" y="145835"/>
                </a:lnTo>
                <a:lnTo>
                  <a:pt x="2718721" y="148520"/>
                </a:lnTo>
                <a:lnTo>
                  <a:pt x="2725674" y="151211"/>
                </a:lnTo>
                <a:lnTo>
                  <a:pt x="2732627" y="153908"/>
                </a:lnTo>
                <a:lnTo>
                  <a:pt x="2739581" y="156609"/>
                </a:lnTo>
                <a:lnTo>
                  <a:pt x="2746534" y="159315"/>
                </a:lnTo>
                <a:lnTo>
                  <a:pt x="2753487" y="162024"/>
                </a:lnTo>
                <a:lnTo>
                  <a:pt x="2760440" y="164735"/>
                </a:lnTo>
                <a:lnTo>
                  <a:pt x="2767394" y="167448"/>
                </a:lnTo>
                <a:lnTo>
                  <a:pt x="2774347" y="170163"/>
                </a:lnTo>
                <a:lnTo>
                  <a:pt x="2781300" y="172879"/>
                </a:lnTo>
              </a:path>
            </a:pathLst>
          </a:custGeom>
          <a:noFill xmlns:a="http://schemas.openxmlformats.org/drawingml/2006/main"/>
          <a:ln xmlns:a="http://schemas.openxmlformats.org/drawingml/2006/main" w="20003">
            <a:solidFill>
              <a:srgbClr val="202020"/>
            </a:solidFill>
          </a:ln>
        </p:spPr>
      </p:sp>
      <p:sp>
        <p:nvSpPr>
          <p:cNvPr id="18" name="!!am-am-envelope-g0-envelope1">
            <a:extLst xmlns:a="http://schemas.openxmlformats.org/drawingml/2006/main">
              <a:ext uri="{FF2B5EF4-FFF2-40B4-BE49-F238E27FC236}">
                <a16:creationId xmlns:a16="http://schemas.microsoft.com/office/drawing/2014/main" id="{174341C4-7197-40D3-9051-8841047CD09D}"/>
              </a:ext>
            </a:extLst>
          </p:cNvPr>
          <p:cNvSpPr>
            <a:spLocks xmlns:a="http://schemas.openxmlformats.org/drawingml/2006/main" noGrp="1"/>
          </p:cNvSpPr>
          <p:nvPr/>
        </p:nvSpPr>
        <p:spPr>
          <a:xfrm xmlns:a="http://schemas.openxmlformats.org/drawingml/2006/main">
            <a:off x="571500" y="2748915"/>
            <a:ext cx="2781300" cy="345757"/>
          </a:xfrm>
          <a:custGeom xmlns:a="http://schemas.openxmlformats.org/drawingml/2006/main">
            <a:pathLst>
              <a:path w="2781300" h="345757">
                <a:moveTo>
                  <a:pt x="0" y="172879"/>
                </a:moveTo>
                <a:lnTo>
                  <a:pt x="6953" y="170163"/>
                </a:lnTo>
                <a:lnTo>
                  <a:pt x="13907" y="167448"/>
                </a:lnTo>
                <a:lnTo>
                  <a:pt x="20860" y="164735"/>
                </a:lnTo>
                <a:lnTo>
                  <a:pt x="27813" y="162024"/>
                </a:lnTo>
                <a:lnTo>
                  <a:pt x="34766" y="159315"/>
                </a:lnTo>
                <a:lnTo>
                  <a:pt x="41719" y="156609"/>
                </a:lnTo>
                <a:lnTo>
                  <a:pt x="48673" y="153908"/>
                </a:lnTo>
                <a:lnTo>
                  <a:pt x="55626" y="151211"/>
                </a:lnTo>
                <a:lnTo>
                  <a:pt x="62579" y="148520"/>
                </a:lnTo>
                <a:lnTo>
                  <a:pt x="69532" y="145835"/>
                </a:lnTo>
                <a:lnTo>
                  <a:pt x="76486" y="143156"/>
                </a:lnTo>
                <a:lnTo>
                  <a:pt x="83439" y="140485"/>
                </a:lnTo>
                <a:lnTo>
                  <a:pt x="90392" y="137821"/>
                </a:lnTo>
                <a:lnTo>
                  <a:pt x="97345" y="135166"/>
                </a:lnTo>
                <a:lnTo>
                  <a:pt x="104299" y="132521"/>
                </a:lnTo>
                <a:lnTo>
                  <a:pt x="111252" y="129886"/>
                </a:lnTo>
                <a:lnTo>
                  <a:pt x="118205" y="127261"/>
                </a:lnTo>
                <a:lnTo>
                  <a:pt x="125159" y="124647"/>
                </a:lnTo>
                <a:lnTo>
                  <a:pt x="132112" y="122045"/>
                </a:lnTo>
                <a:lnTo>
                  <a:pt x="139065" y="119456"/>
                </a:lnTo>
                <a:lnTo>
                  <a:pt x="146018" y="116880"/>
                </a:lnTo>
                <a:lnTo>
                  <a:pt x="152972" y="114318"/>
                </a:lnTo>
                <a:lnTo>
                  <a:pt x="159925" y="111770"/>
                </a:lnTo>
                <a:lnTo>
                  <a:pt x="166878" y="109238"/>
                </a:lnTo>
                <a:lnTo>
                  <a:pt x="173831" y="106721"/>
                </a:lnTo>
                <a:lnTo>
                  <a:pt x="180785" y="104220"/>
                </a:lnTo>
                <a:lnTo>
                  <a:pt x="187738" y="101737"/>
                </a:lnTo>
                <a:lnTo>
                  <a:pt x="194691" y="99271"/>
                </a:lnTo>
                <a:lnTo>
                  <a:pt x="201644" y="96823"/>
                </a:lnTo>
                <a:lnTo>
                  <a:pt x="208598" y="94393"/>
                </a:lnTo>
                <a:lnTo>
                  <a:pt x="215551" y="91984"/>
                </a:lnTo>
                <a:lnTo>
                  <a:pt x="222504" y="89594"/>
                </a:lnTo>
                <a:lnTo>
                  <a:pt x="229457" y="87224"/>
                </a:lnTo>
                <a:lnTo>
                  <a:pt x="236410" y="84876"/>
                </a:lnTo>
                <a:lnTo>
                  <a:pt x="243364" y="82550"/>
                </a:lnTo>
                <a:lnTo>
                  <a:pt x="250317" y="80246"/>
                </a:lnTo>
                <a:lnTo>
                  <a:pt x="257270" y="77964"/>
                </a:lnTo>
                <a:lnTo>
                  <a:pt x="264223" y="75706"/>
                </a:lnTo>
                <a:lnTo>
                  <a:pt x="271177" y="73473"/>
                </a:lnTo>
                <a:lnTo>
                  <a:pt x="278130" y="71263"/>
                </a:lnTo>
                <a:lnTo>
                  <a:pt x="285083" y="69079"/>
                </a:lnTo>
                <a:lnTo>
                  <a:pt x="292036" y="66920"/>
                </a:lnTo>
                <a:lnTo>
                  <a:pt x="298990" y="64788"/>
                </a:lnTo>
                <a:lnTo>
                  <a:pt x="305943" y="62682"/>
                </a:lnTo>
                <a:lnTo>
                  <a:pt x="312896" y="60603"/>
                </a:lnTo>
                <a:lnTo>
                  <a:pt x="319850" y="58552"/>
                </a:lnTo>
                <a:lnTo>
                  <a:pt x="326803" y="56529"/>
                </a:lnTo>
                <a:lnTo>
                  <a:pt x="333756" y="54535"/>
                </a:lnTo>
                <a:lnTo>
                  <a:pt x="340709" y="52570"/>
                </a:lnTo>
                <a:lnTo>
                  <a:pt x="347663" y="50635"/>
                </a:lnTo>
                <a:lnTo>
                  <a:pt x="354616" y="48730"/>
                </a:lnTo>
                <a:lnTo>
                  <a:pt x="361569" y="46856"/>
                </a:lnTo>
                <a:lnTo>
                  <a:pt x="368522" y="45012"/>
                </a:lnTo>
                <a:lnTo>
                  <a:pt x="375476" y="43200"/>
                </a:lnTo>
                <a:lnTo>
                  <a:pt x="382429" y="41421"/>
                </a:lnTo>
                <a:lnTo>
                  <a:pt x="389382" y="39673"/>
                </a:lnTo>
                <a:lnTo>
                  <a:pt x="396335" y="37959"/>
                </a:lnTo>
                <a:lnTo>
                  <a:pt x="403289" y="36278"/>
                </a:lnTo>
                <a:lnTo>
                  <a:pt x="410242" y="34630"/>
                </a:lnTo>
                <a:lnTo>
                  <a:pt x="417195" y="33017"/>
                </a:lnTo>
                <a:lnTo>
                  <a:pt x="424148" y="31438"/>
                </a:lnTo>
                <a:lnTo>
                  <a:pt x="431101" y="29894"/>
                </a:lnTo>
                <a:lnTo>
                  <a:pt x="438055" y="28385"/>
                </a:lnTo>
                <a:lnTo>
                  <a:pt x="445008" y="26912"/>
                </a:lnTo>
                <a:lnTo>
                  <a:pt x="451961" y="25475"/>
                </a:lnTo>
                <a:lnTo>
                  <a:pt x="458915" y="24075"/>
                </a:lnTo>
                <a:lnTo>
                  <a:pt x="465868" y="22711"/>
                </a:lnTo>
                <a:lnTo>
                  <a:pt x="472821" y="21384"/>
                </a:lnTo>
                <a:lnTo>
                  <a:pt x="479774" y="20094"/>
                </a:lnTo>
                <a:lnTo>
                  <a:pt x="486727" y="18843"/>
                </a:lnTo>
                <a:lnTo>
                  <a:pt x="493681" y="17629"/>
                </a:lnTo>
                <a:lnTo>
                  <a:pt x="500634" y="16453"/>
                </a:lnTo>
                <a:lnTo>
                  <a:pt x="507587" y="15316"/>
                </a:lnTo>
                <a:lnTo>
                  <a:pt x="514541" y="14218"/>
                </a:lnTo>
                <a:lnTo>
                  <a:pt x="521494" y="13160"/>
                </a:lnTo>
                <a:lnTo>
                  <a:pt x="528447" y="12140"/>
                </a:lnTo>
                <a:lnTo>
                  <a:pt x="535400" y="11160"/>
                </a:lnTo>
                <a:lnTo>
                  <a:pt x="542354" y="10220"/>
                </a:lnTo>
                <a:lnTo>
                  <a:pt x="549307" y="9321"/>
                </a:lnTo>
                <a:lnTo>
                  <a:pt x="556260" y="8461"/>
                </a:lnTo>
                <a:lnTo>
                  <a:pt x="563213" y="7642"/>
                </a:lnTo>
                <a:lnTo>
                  <a:pt x="570167" y="6864"/>
                </a:lnTo>
                <a:lnTo>
                  <a:pt x="577120" y="6127"/>
                </a:lnTo>
                <a:lnTo>
                  <a:pt x="584073" y="5431"/>
                </a:lnTo>
                <a:lnTo>
                  <a:pt x="591026" y="4777"/>
                </a:lnTo>
                <a:lnTo>
                  <a:pt x="597980" y="4163"/>
                </a:lnTo>
                <a:lnTo>
                  <a:pt x="604933" y="3592"/>
                </a:lnTo>
                <a:lnTo>
                  <a:pt x="611886" y="3062"/>
                </a:lnTo>
                <a:lnTo>
                  <a:pt x="618839" y="2574"/>
                </a:lnTo>
                <a:lnTo>
                  <a:pt x="625793" y="2128"/>
                </a:lnTo>
                <a:lnTo>
                  <a:pt x="632746" y="1725"/>
                </a:lnTo>
                <a:lnTo>
                  <a:pt x="639699" y="1363"/>
                </a:lnTo>
                <a:lnTo>
                  <a:pt x="646652" y="1044"/>
                </a:lnTo>
                <a:lnTo>
                  <a:pt x="653606" y="767"/>
                </a:lnTo>
                <a:lnTo>
                  <a:pt x="660559" y="533"/>
                </a:lnTo>
                <a:lnTo>
                  <a:pt x="667512" y="341"/>
                </a:lnTo>
                <a:lnTo>
                  <a:pt x="674465" y="192"/>
                </a:lnTo>
                <a:lnTo>
                  <a:pt x="681419" y="85"/>
                </a:lnTo>
                <a:lnTo>
                  <a:pt x="688372" y="21"/>
                </a:lnTo>
                <a:lnTo>
                  <a:pt x="695325" y="0"/>
                </a:lnTo>
                <a:lnTo>
                  <a:pt x="702278" y="21"/>
                </a:lnTo>
                <a:lnTo>
                  <a:pt x="709231" y="85"/>
                </a:lnTo>
                <a:lnTo>
                  <a:pt x="716185" y="192"/>
                </a:lnTo>
                <a:lnTo>
                  <a:pt x="723138" y="341"/>
                </a:lnTo>
                <a:lnTo>
                  <a:pt x="730091" y="533"/>
                </a:lnTo>
                <a:lnTo>
                  <a:pt x="737045" y="767"/>
                </a:lnTo>
                <a:lnTo>
                  <a:pt x="743998" y="1044"/>
                </a:lnTo>
                <a:lnTo>
                  <a:pt x="750951" y="1363"/>
                </a:lnTo>
                <a:lnTo>
                  <a:pt x="757904" y="1725"/>
                </a:lnTo>
                <a:lnTo>
                  <a:pt x="764858" y="2128"/>
                </a:lnTo>
                <a:lnTo>
                  <a:pt x="771811" y="2574"/>
                </a:lnTo>
                <a:lnTo>
                  <a:pt x="778764" y="3062"/>
                </a:lnTo>
                <a:lnTo>
                  <a:pt x="785717" y="3592"/>
                </a:lnTo>
                <a:lnTo>
                  <a:pt x="792671" y="4163"/>
                </a:lnTo>
                <a:lnTo>
                  <a:pt x="799624" y="4777"/>
                </a:lnTo>
                <a:lnTo>
                  <a:pt x="806577" y="5431"/>
                </a:lnTo>
                <a:lnTo>
                  <a:pt x="813530" y="6127"/>
                </a:lnTo>
                <a:lnTo>
                  <a:pt x="820483" y="6864"/>
                </a:lnTo>
                <a:lnTo>
                  <a:pt x="827437" y="7642"/>
                </a:lnTo>
                <a:lnTo>
                  <a:pt x="834390" y="8461"/>
                </a:lnTo>
                <a:lnTo>
                  <a:pt x="841343" y="9321"/>
                </a:lnTo>
                <a:lnTo>
                  <a:pt x="848297" y="10220"/>
                </a:lnTo>
                <a:lnTo>
                  <a:pt x="855250" y="11160"/>
                </a:lnTo>
                <a:lnTo>
                  <a:pt x="862203" y="12140"/>
                </a:lnTo>
                <a:lnTo>
                  <a:pt x="869156" y="13160"/>
                </a:lnTo>
                <a:lnTo>
                  <a:pt x="876110" y="14218"/>
                </a:lnTo>
                <a:lnTo>
                  <a:pt x="883063" y="15316"/>
                </a:lnTo>
                <a:lnTo>
                  <a:pt x="890016" y="16453"/>
                </a:lnTo>
                <a:lnTo>
                  <a:pt x="896969" y="17629"/>
                </a:lnTo>
                <a:lnTo>
                  <a:pt x="903923" y="18843"/>
                </a:lnTo>
                <a:lnTo>
                  <a:pt x="910876" y="20094"/>
                </a:lnTo>
                <a:lnTo>
                  <a:pt x="917829" y="21384"/>
                </a:lnTo>
                <a:lnTo>
                  <a:pt x="924782" y="22711"/>
                </a:lnTo>
                <a:lnTo>
                  <a:pt x="931735" y="24075"/>
                </a:lnTo>
                <a:lnTo>
                  <a:pt x="938689" y="25475"/>
                </a:lnTo>
                <a:lnTo>
                  <a:pt x="945642" y="26912"/>
                </a:lnTo>
                <a:lnTo>
                  <a:pt x="952595" y="28385"/>
                </a:lnTo>
                <a:lnTo>
                  <a:pt x="959549" y="29894"/>
                </a:lnTo>
                <a:lnTo>
                  <a:pt x="966502" y="31438"/>
                </a:lnTo>
                <a:lnTo>
                  <a:pt x="973455" y="33017"/>
                </a:lnTo>
                <a:lnTo>
                  <a:pt x="980408" y="34630"/>
                </a:lnTo>
                <a:lnTo>
                  <a:pt x="987362" y="36278"/>
                </a:lnTo>
                <a:lnTo>
                  <a:pt x="994315" y="37959"/>
                </a:lnTo>
                <a:lnTo>
                  <a:pt x="1001268" y="39673"/>
                </a:lnTo>
                <a:lnTo>
                  <a:pt x="1008221" y="41421"/>
                </a:lnTo>
                <a:lnTo>
                  <a:pt x="1015174" y="43200"/>
                </a:lnTo>
                <a:lnTo>
                  <a:pt x="1022128" y="45012"/>
                </a:lnTo>
                <a:lnTo>
                  <a:pt x="1029081" y="46856"/>
                </a:lnTo>
                <a:lnTo>
                  <a:pt x="1036034" y="48730"/>
                </a:lnTo>
                <a:lnTo>
                  <a:pt x="1042988" y="50635"/>
                </a:lnTo>
                <a:lnTo>
                  <a:pt x="1049941" y="52570"/>
                </a:lnTo>
                <a:lnTo>
                  <a:pt x="1056894" y="54535"/>
                </a:lnTo>
                <a:lnTo>
                  <a:pt x="1063847" y="56529"/>
                </a:lnTo>
                <a:lnTo>
                  <a:pt x="1070801" y="58552"/>
                </a:lnTo>
                <a:lnTo>
                  <a:pt x="1077754" y="60603"/>
                </a:lnTo>
                <a:lnTo>
                  <a:pt x="1084707" y="62682"/>
                </a:lnTo>
                <a:lnTo>
                  <a:pt x="1091660" y="64788"/>
                </a:lnTo>
                <a:lnTo>
                  <a:pt x="1098614" y="66920"/>
                </a:lnTo>
                <a:lnTo>
                  <a:pt x="1105567" y="69079"/>
                </a:lnTo>
                <a:lnTo>
                  <a:pt x="1112520" y="71263"/>
                </a:lnTo>
                <a:lnTo>
                  <a:pt x="1119473" y="73473"/>
                </a:lnTo>
                <a:lnTo>
                  <a:pt x="1126427" y="75706"/>
                </a:lnTo>
                <a:lnTo>
                  <a:pt x="1133380" y="77964"/>
                </a:lnTo>
                <a:lnTo>
                  <a:pt x="1140333" y="80246"/>
                </a:lnTo>
                <a:lnTo>
                  <a:pt x="1147286" y="82550"/>
                </a:lnTo>
                <a:lnTo>
                  <a:pt x="1154240" y="84876"/>
                </a:lnTo>
                <a:lnTo>
                  <a:pt x="1161193" y="87224"/>
                </a:lnTo>
                <a:lnTo>
                  <a:pt x="1168146" y="89594"/>
                </a:lnTo>
                <a:lnTo>
                  <a:pt x="1175099" y="91984"/>
                </a:lnTo>
                <a:lnTo>
                  <a:pt x="1182053" y="94393"/>
                </a:lnTo>
                <a:lnTo>
                  <a:pt x="1189006" y="96823"/>
                </a:lnTo>
                <a:lnTo>
                  <a:pt x="1195959" y="99271"/>
                </a:lnTo>
                <a:lnTo>
                  <a:pt x="1202912" y="101737"/>
                </a:lnTo>
                <a:lnTo>
                  <a:pt x="1209865" y="104220"/>
                </a:lnTo>
                <a:lnTo>
                  <a:pt x="1216819" y="106721"/>
                </a:lnTo>
                <a:lnTo>
                  <a:pt x="1223772" y="109238"/>
                </a:lnTo>
                <a:lnTo>
                  <a:pt x="1230725" y="111770"/>
                </a:lnTo>
                <a:lnTo>
                  <a:pt x="1237679" y="114318"/>
                </a:lnTo>
                <a:lnTo>
                  <a:pt x="1244632" y="116880"/>
                </a:lnTo>
                <a:lnTo>
                  <a:pt x="1251585" y="119456"/>
                </a:lnTo>
                <a:lnTo>
                  <a:pt x="1258538" y="122045"/>
                </a:lnTo>
                <a:lnTo>
                  <a:pt x="1265492" y="124647"/>
                </a:lnTo>
                <a:lnTo>
                  <a:pt x="1272445" y="127261"/>
                </a:lnTo>
                <a:lnTo>
                  <a:pt x="1279398" y="129886"/>
                </a:lnTo>
                <a:lnTo>
                  <a:pt x="1286351" y="132521"/>
                </a:lnTo>
                <a:lnTo>
                  <a:pt x="1293305" y="135166"/>
                </a:lnTo>
                <a:lnTo>
                  <a:pt x="1300258" y="137821"/>
                </a:lnTo>
                <a:lnTo>
                  <a:pt x="1307211" y="140485"/>
                </a:lnTo>
                <a:lnTo>
                  <a:pt x="1314164" y="143156"/>
                </a:lnTo>
                <a:lnTo>
                  <a:pt x="1321118" y="145835"/>
                </a:lnTo>
                <a:lnTo>
                  <a:pt x="1328071" y="148520"/>
                </a:lnTo>
                <a:lnTo>
                  <a:pt x="1335024" y="151211"/>
                </a:lnTo>
                <a:lnTo>
                  <a:pt x="1341977" y="153908"/>
                </a:lnTo>
                <a:lnTo>
                  <a:pt x="1348931" y="156609"/>
                </a:lnTo>
                <a:lnTo>
                  <a:pt x="1355884" y="159315"/>
                </a:lnTo>
                <a:lnTo>
                  <a:pt x="1362837" y="162024"/>
                </a:lnTo>
                <a:lnTo>
                  <a:pt x="1369790" y="164735"/>
                </a:lnTo>
                <a:lnTo>
                  <a:pt x="1376744" y="167448"/>
                </a:lnTo>
                <a:lnTo>
                  <a:pt x="1383697" y="170163"/>
                </a:lnTo>
                <a:lnTo>
                  <a:pt x="1390650" y="172879"/>
                </a:lnTo>
                <a:lnTo>
                  <a:pt x="1397603" y="175594"/>
                </a:lnTo>
                <a:lnTo>
                  <a:pt x="1404557" y="178309"/>
                </a:lnTo>
                <a:lnTo>
                  <a:pt x="1411510" y="181022"/>
                </a:lnTo>
                <a:lnTo>
                  <a:pt x="1418463" y="183734"/>
                </a:lnTo>
                <a:lnTo>
                  <a:pt x="1425416" y="186443"/>
                </a:lnTo>
                <a:lnTo>
                  <a:pt x="1432370" y="189148"/>
                </a:lnTo>
                <a:lnTo>
                  <a:pt x="1439323" y="191849"/>
                </a:lnTo>
                <a:lnTo>
                  <a:pt x="1446276" y="194546"/>
                </a:lnTo>
                <a:lnTo>
                  <a:pt x="1453229" y="197238"/>
                </a:lnTo>
                <a:lnTo>
                  <a:pt x="1460183" y="199923"/>
                </a:lnTo>
                <a:lnTo>
                  <a:pt x="1467136" y="202602"/>
                </a:lnTo>
                <a:lnTo>
                  <a:pt x="1474089" y="205273"/>
                </a:lnTo>
                <a:lnTo>
                  <a:pt x="1481042" y="207936"/>
                </a:lnTo>
                <a:lnTo>
                  <a:pt x="1487996" y="210591"/>
                </a:lnTo>
                <a:lnTo>
                  <a:pt x="1494949" y="213236"/>
                </a:lnTo>
                <a:lnTo>
                  <a:pt x="1501902" y="215872"/>
                </a:lnTo>
                <a:lnTo>
                  <a:pt x="1508855" y="218497"/>
                </a:lnTo>
                <a:lnTo>
                  <a:pt x="1515808" y="221110"/>
                </a:lnTo>
                <a:lnTo>
                  <a:pt x="1522762" y="223712"/>
                </a:lnTo>
                <a:lnTo>
                  <a:pt x="1529715" y="226301"/>
                </a:lnTo>
                <a:lnTo>
                  <a:pt x="1536668" y="228877"/>
                </a:lnTo>
                <a:lnTo>
                  <a:pt x="1543622" y="231439"/>
                </a:lnTo>
                <a:lnTo>
                  <a:pt x="1550575" y="233987"/>
                </a:lnTo>
                <a:lnTo>
                  <a:pt x="1557528" y="236520"/>
                </a:lnTo>
                <a:lnTo>
                  <a:pt x="1564481" y="239037"/>
                </a:lnTo>
                <a:lnTo>
                  <a:pt x="1571435" y="241537"/>
                </a:lnTo>
                <a:lnTo>
                  <a:pt x="1578388" y="244021"/>
                </a:lnTo>
                <a:lnTo>
                  <a:pt x="1585341" y="246487"/>
                </a:lnTo>
                <a:lnTo>
                  <a:pt x="1592294" y="248935"/>
                </a:lnTo>
                <a:lnTo>
                  <a:pt x="1599248" y="251364"/>
                </a:lnTo>
                <a:lnTo>
                  <a:pt x="1606201" y="253774"/>
                </a:lnTo>
                <a:lnTo>
                  <a:pt x="1613154" y="256164"/>
                </a:lnTo>
                <a:lnTo>
                  <a:pt x="1620107" y="258533"/>
                </a:lnTo>
                <a:lnTo>
                  <a:pt x="1627061" y="260881"/>
                </a:lnTo>
                <a:lnTo>
                  <a:pt x="1634014" y="263208"/>
                </a:lnTo>
                <a:lnTo>
                  <a:pt x="1640967" y="265512"/>
                </a:lnTo>
                <a:lnTo>
                  <a:pt x="1647920" y="267793"/>
                </a:lnTo>
                <a:lnTo>
                  <a:pt x="1654874" y="270051"/>
                </a:lnTo>
                <a:lnTo>
                  <a:pt x="1661827" y="272285"/>
                </a:lnTo>
                <a:lnTo>
                  <a:pt x="1668780" y="274494"/>
                </a:lnTo>
                <a:lnTo>
                  <a:pt x="1675733" y="276679"/>
                </a:lnTo>
                <a:lnTo>
                  <a:pt x="1682687" y="278837"/>
                </a:lnTo>
                <a:lnTo>
                  <a:pt x="1689640" y="280970"/>
                </a:lnTo>
                <a:lnTo>
                  <a:pt x="1696593" y="283076"/>
                </a:lnTo>
                <a:lnTo>
                  <a:pt x="1703546" y="285155"/>
                </a:lnTo>
                <a:lnTo>
                  <a:pt x="1710500" y="287206"/>
                </a:lnTo>
                <a:lnTo>
                  <a:pt x="1717453" y="289228"/>
                </a:lnTo>
                <a:lnTo>
                  <a:pt x="1724406" y="291222"/>
                </a:lnTo>
                <a:lnTo>
                  <a:pt x="1731359" y="293187"/>
                </a:lnTo>
                <a:lnTo>
                  <a:pt x="1738313" y="295122"/>
                </a:lnTo>
                <a:lnTo>
                  <a:pt x="1745266" y="297028"/>
                </a:lnTo>
                <a:lnTo>
                  <a:pt x="1752219" y="298902"/>
                </a:lnTo>
                <a:lnTo>
                  <a:pt x="1759172" y="300745"/>
                </a:lnTo>
                <a:lnTo>
                  <a:pt x="1766125" y="302557"/>
                </a:lnTo>
                <a:lnTo>
                  <a:pt x="1773079" y="304337"/>
                </a:lnTo>
                <a:lnTo>
                  <a:pt x="1780032" y="306084"/>
                </a:lnTo>
                <a:lnTo>
                  <a:pt x="1786985" y="307799"/>
                </a:lnTo>
                <a:lnTo>
                  <a:pt x="1793939" y="309480"/>
                </a:lnTo>
                <a:lnTo>
                  <a:pt x="1800892" y="311127"/>
                </a:lnTo>
                <a:lnTo>
                  <a:pt x="1807845" y="312741"/>
                </a:lnTo>
                <a:lnTo>
                  <a:pt x="1814798" y="314319"/>
                </a:lnTo>
                <a:lnTo>
                  <a:pt x="1821752" y="315863"/>
                </a:lnTo>
                <a:lnTo>
                  <a:pt x="1828705" y="317372"/>
                </a:lnTo>
                <a:lnTo>
                  <a:pt x="1835658" y="318845"/>
                </a:lnTo>
                <a:lnTo>
                  <a:pt x="1842611" y="320282"/>
                </a:lnTo>
                <a:lnTo>
                  <a:pt x="1849565" y="321683"/>
                </a:lnTo>
                <a:lnTo>
                  <a:pt x="1856518" y="323047"/>
                </a:lnTo>
                <a:lnTo>
                  <a:pt x="1863471" y="324374"/>
                </a:lnTo>
                <a:lnTo>
                  <a:pt x="1870424" y="325663"/>
                </a:lnTo>
                <a:lnTo>
                  <a:pt x="1877378" y="326915"/>
                </a:lnTo>
                <a:lnTo>
                  <a:pt x="1884331" y="328129"/>
                </a:lnTo>
                <a:lnTo>
                  <a:pt x="1891284" y="329304"/>
                </a:lnTo>
                <a:lnTo>
                  <a:pt x="1898237" y="330441"/>
                </a:lnTo>
                <a:lnTo>
                  <a:pt x="1905190" y="331539"/>
                </a:lnTo>
                <a:lnTo>
                  <a:pt x="1912144" y="332598"/>
                </a:lnTo>
                <a:lnTo>
                  <a:pt x="1919097" y="333617"/>
                </a:lnTo>
                <a:lnTo>
                  <a:pt x="1926050" y="334597"/>
                </a:lnTo>
                <a:lnTo>
                  <a:pt x="1933004" y="335537"/>
                </a:lnTo>
                <a:lnTo>
                  <a:pt x="1939957" y="336437"/>
                </a:lnTo>
                <a:lnTo>
                  <a:pt x="1946910" y="337296"/>
                </a:lnTo>
                <a:lnTo>
                  <a:pt x="1953863" y="338115"/>
                </a:lnTo>
                <a:lnTo>
                  <a:pt x="1960817" y="338893"/>
                </a:lnTo>
                <a:lnTo>
                  <a:pt x="1967770" y="339630"/>
                </a:lnTo>
                <a:lnTo>
                  <a:pt x="1974723" y="340326"/>
                </a:lnTo>
                <a:lnTo>
                  <a:pt x="1981676" y="340981"/>
                </a:lnTo>
                <a:lnTo>
                  <a:pt x="1988629" y="341594"/>
                </a:lnTo>
                <a:lnTo>
                  <a:pt x="1995583" y="342166"/>
                </a:lnTo>
                <a:lnTo>
                  <a:pt x="2002536" y="342695"/>
                </a:lnTo>
                <a:lnTo>
                  <a:pt x="2009489" y="343183"/>
                </a:lnTo>
                <a:lnTo>
                  <a:pt x="2016443" y="343629"/>
                </a:lnTo>
                <a:lnTo>
                  <a:pt x="2023396" y="344033"/>
                </a:lnTo>
                <a:lnTo>
                  <a:pt x="2030349" y="344394"/>
                </a:lnTo>
                <a:lnTo>
                  <a:pt x="2037302" y="344713"/>
                </a:lnTo>
                <a:lnTo>
                  <a:pt x="2044256" y="344990"/>
                </a:lnTo>
                <a:lnTo>
                  <a:pt x="2051209" y="345225"/>
                </a:lnTo>
                <a:lnTo>
                  <a:pt x="2058162" y="345416"/>
                </a:lnTo>
                <a:lnTo>
                  <a:pt x="2065115" y="345566"/>
                </a:lnTo>
                <a:lnTo>
                  <a:pt x="2072068" y="345672"/>
                </a:lnTo>
                <a:lnTo>
                  <a:pt x="2079022" y="345736"/>
                </a:lnTo>
                <a:lnTo>
                  <a:pt x="2085975" y="345757"/>
                </a:lnTo>
                <a:lnTo>
                  <a:pt x="2092928" y="345736"/>
                </a:lnTo>
                <a:lnTo>
                  <a:pt x="2099882" y="345672"/>
                </a:lnTo>
                <a:lnTo>
                  <a:pt x="2106835" y="345566"/>
                </a:lnTo>
                <a:lnTo>
                  <a:pt x="2113788" y="345416"/>
                </a:lnTo>
                <a:lnTo>
                  <a:pt x="2120741" y="345225"/>
                </a:lnTo>
                <a:lnTo>
                  <a:pt x="2127695" y="344990"/>
                </a:lnTo>
                <a:lnTo>
                  <a:pt x="2134648" y="344713"/>
                </a:lnTo>
                <a:lnTo>
                  <a:pt x="2141601" y="344394"/>
                </a:lnTo>
                <a:lnTo>
                  <a:pt x="2148554" y="344033"/>
                </a:lnTo>
                <a:lnTo>
                  <a:pt x="2155508" y="343629"/>
                </a:lnTo>
                <a:lnTo>
                  <a:pt x="2162461" y="343183"/>
                </a:lnTo>
                <a:lnTo>
                  <a:pt x="2169414" y="342695"/>
                </a:lnTo>
                <a:lnTo>
                  <a:pt x="2176367" y="342166"/>
                </a:lnTo>
                <a:lnTo>
                  <a:pt x="2183321" y="341594"/>
                </a:lnTo>
                <a:lnTo>
                  <a:pt x="2190274" y="340981"/>
                </a:lnTo>
                <a:lnTo>
                  <a:pt x="2197227" y="340326"/>
                </a:lnTo>
                <a:lnTo>
                  <a:pt x="2204180" y="339630"/>
                </a:lnTo>
                <a:lnTo>
                  <a:pt x="2211134" y="338893"/>
                </a:lnTo>
                <a:lnTo>
                  <a:pt x="2218087" y="338115"/>
                </a:lnTo>
                <a:lnTo>
                  <a:pt x="2225040" y="337296"/>
                </a:lnTo>
                <a:lnTo>
                  <a:pt x="2231993" y="336437"/>
                </a:lnTo>
                <a:lnTo>
                  <a:pt x="2238947" y="335537"/>
                </a:lnTo>
                <a:lnTo>
                  <a:pt x="2245900" y="334597"/>
                </a:lnTo>
                <a:lnTo>
                  <a:pt x="2252853" y="333617"/>
                </a:lnTo>
                <a:lnTo>
                  <a:pt x="2259806" y="332598"/>
                </a:lnTo>
                <a:lnTo>
                  <a:pt x="2266760" y="331539"/>
                </a:lnTo>
                <a:lnTo>
                  <a:pt x="2273713" y="330441"/>
                </a:lnTo>
                <a:lnTo>
                  <a:pt x="2280666" y="329304"/>
                </a:lnTo>
                <a:lnTo>
                  <a:pt x="2287619" y="328129"/>
                </a:lnTo>
                <a:lnTo>
                  <a:pt x="2294573" y="326915"/>
                </a:lnTo>
                <a:lnTo>
                  <a:pt x="2301526" y="325663"/>
                </a:lnTo>
                <a:lnTo>
                  <a:pt x="2308479" y="324374"/>
                </a:lnTo>
                <a:lnTo>
                  <a:pt x="2315432" y="323047"/>
                </a:lnTo>
                <a:lnTo>
                  <a:pt x="2322386" y="321683"/>
                </a:lnTo>
                <a:lnTo>
                  <a:pt x="2329339" y="320282"/>
                </a:lnTo>
                <a:lnTo>
                  <a:pt x="2336292" y="318845"/>
                </a:lnTo>
                <a:lnTo>
                  <a:pt x="2343245" y="317372"/>
                </a:lnTo>
                <a:lnTo>
                  <a:pt x="2350199" y="315863"/>
                </a:lnTo>
                <a:lnTo>
                  <a:pt x="2357152" y="314319"/>
                </a:lnTo>
                <a:lnTo>
                  <a:pt x="2364105" y="312741"/>
                </a:lnTo>
                <a:lnTo>
                  <a:pt x="2371058" y="311127"/>
                </a:lnTo>
                <a:lnTo>
                  <a:pt x="2378011" y="309480"/>
                </a:lnTo>
                <a:lnTo>
                  <a:pt x="2384965" y="307799"/>
                </a:lnTo>
                <a:lnTo>
                  <a:pt x="2391918" y="306084"/>
                </a:lnTo>
                <a:lnTo>
                  <a:pt x="2398871" y="304337"/>
                </a:lnTo>
                <a:lnTo>
                  <a:pt x="2405825" y="302557"/>
                </a:lnTo>
                <a:lnTo>
                  <a:pt x="2412778" y="300745"/>
                </a:lnTo>
                <a:lnTo>
                  <a:pt x="2419731" y="298902"/>
                </a:lnTo>
                <a:lnTo>
                  <a:pt x="2426684" y="297028"/>
                </a:lnTo>
                <a:lnTo>
                  <a:pt x="2433638" y="295122"/>
                </a:lnTo>
                <a:lnTo>
                  <a:pt x="2440591" y="293187"/>
                </a:lnTo>
                <a:lnTo>
                  <a:pt x="2447544" y="291222"/>
                </a:lnTo>
                <a:lnTo>
                  <a:pt x="2454497" y="289228"/>
                </a:lnTo>
                <a:lnTo>
                  <a:pt x="2461451" y="287206"/>
                </a:lnTo>
                <a:lnTo>
                  <a:pt x="2468404" y="285155"/>
                </a:lnTo>
                <a:lnTo>
                  <a:pt x="2475357" y="283076"/>
                </a:lnTo>
                <a:lnTo>
                  <a:pt x="2482310" y="280970"/>
                </a:lnTo>
                <a:lnTo>
                  <a:pt x="2489263" y="278837"/>
                </a:lnTo>
                <a:lnTo>
                  <a:pt x="2496217" y="276679"/>
                </a:lnTo>
                <a:lnTo>
                  <a:pt x="2503170" y="274494"/>
                </a:lnTo>
                <a:lnTo>
                  <a:pt x="2510123" y="272285"/>
                </a:lnTo>
                <a:lnTo>
                  <a:pt x="2517077" y="270051"/>
                </a:lnTo>
                <a:lnTo>
                  <a:pt x="2524030" y="267793"/>
                </a:lnTo>
                <a:lnTo>
                  <a:pt x="2530983" y="265512"/>
                </a:lnTo>
                <a:lnTo>
                  <a:pt x="2537936" y="263208"/>
                </a:lnTo>
                <a:lnTo>
                  <a:pt x="2544890" y="260881"/>
                </a:lnTo>
                <a:lnTo>
                  <a:pt x="2551843" y="258533"/>
                </a:lnTo>
                <a:lnTo>
                  <a:pt x="2558796" y="256164"/>
                </a:lnTo>
                <a:lnTo>
                  <a:pt x="2565749" y="253774"/>
                </a:lnTo>
                <a:lnTo>
                  <a:pt x="2572703" y="251364"/>
                </a:lnTo>
                <a:lnTo>
                  <a:pt x="2579656" y="248935"/>
                </a:lnTo>
                <a:lnTo>
                  <a:pt x="2586609" y="246487"/>
                </a:lnTo>
                <a:lnTo>
                  <a:pt x="2593562" y="244021"/>
                </a:lnTo>
                <a:lnTo>
                  <a:pt x="2600516" y="241537"/>
                </a:lnTo>
                <a:lnTo>
                  <a:pt x="2607469" y="239037"/>
                </a:lnTo>
                <a:lnTo>
                  <a:pt x="2614422" y="236520"/>
                </a:lnTo>
                <a:lnTo>
                  <a:pt x="2621375" y="233987"/>
                </a:lnTo>
                <a:lnTo>
                  <a:pt x="2628329" y="231439"/>
                </a:lnTo>
                <a:lnTo>
                  <a:pt x="2635282" y="228877"/>
                </a:lnTo>
                <a:lnTo>
                  <a:pt x="2642235" y="226301"/>
                </a:lnTo>
                <a:lnTo>
                  <a:pt x="2649188" y="223712"/>
                </a:lnTo>
                <a:lnTo>
                  <a:pt x="2656142" y="221110"/>
                </a:lnTo>
                <a:lnTo>
                  <a:pt x="2663095" y="218497"/>
                </a:lnTo>
                <a:lnTo>
                  <a:pt x="2670048" y="215872"/>
                </a:lnTo>
                <a:lnTo>
                  <a:pt x="2677001" y="213236"/>
                </a:lnTo>
                <a:lnTo>
                  <a:pt x="2683954" y="210591"/>
                </a:lnTo>
                <a:lnTo>
                  <a:pt x="2690908" y="207936"/>
                </a:lnTo>
                <a:lnTo>
                  <a:pt x="2697861" y="205273"/>
                </a:lnTo>
                <a:lnTo>
                  <a:pt x="2704814" y="202602"/>
                </a:lnTo>
                <a:lnTo>
                  <a:pt x="2711768" y="199923"/>
                </a:lnTo>
                <a:lnTo>
                  <a:pt x="2718721" y="197238"/>
                </a:lnTo>
                <a:lnTo>
                  <a:pt x="2725674" y="194546"/>
                </a:lnTo>
                <a:lnTo>
                  <a:pt x="2732627" y="191849"/>
                </a:lnTo>
                <a:lnTo>
                  <a:pt x="2739581" y="189148"/>
                </a:lnTo>
                <a:lnTo>
                  <a:pt x="2746534" y="186443"/>
                </a:lnTo>
                <a:lnTo>
                  <a:pt x="2753487" y="183734"/>
                </a:lnTo>
                <a:lnTo>
                  <a:pt x="2760440" y="181022"/>
                </a:lnTo>
                <a:lnTo>
                  <a:pt x="2767394" y="178309"/>
                </a:lnTo>
                <a:lnTo>
                  <a:pt x="2774347" y="175594"/>
                </a:lnTo>
                <a:lnTo>
                  <a:pt x="2781300" y="172879"/>
                </a:lnTo>
              </a:path>
            </a:pathLst>
          </a:custGeom>
          <a:noFill xmlns:a="http://schemas.openxmlformats.org/drawingml/2006/main"/>
          <a:ln xmlns:a="http://schemas.openxmlformats.org/drawingml/2006/main" w="20003">
            <a:solidFill>
              <a:srgbClr val="202020"/>
            </a:solidFill>
          </a:ln>
        </p:spPr>
      </p:sp>
      <p:sp>
        <p:nvSpPr>
          <p:cNvPr id="19" name="!!am-am-envelope-g1-r0-wave">
            <a:extLst xmlns:a="http://schemas.openxmlformats.org/drawingml/2006/main">
              <a:ext uri="{FF2B5EF4-FFF2-40B4-BE49-F238E27FC236}">
                <a16:creationId xmlns:a16="http://schemas.microsoft.com/office/drawing/2014/main" id="{84A0BAD7-9B79-423C-AC84-98DE7826DDE2}"/>
              </a:ext>
            </a:extLst>
          </p:cNvPr>
          <p:cNvSpPr>
            <a:spLocks xmlns:a="http://schemas.openxmlformats.org/drawingml/2006/main" noGrp="1"/>
          </p:cNvSpPr>
          <p:nvPr/>
        </p:nvSpPr>
        <p:spPr>
          <a:xfrm xmlns:a="http://schemas.openxmlformats.org/drawingml/2006/main">
            <a:off x="4572000" y="2748915"/>
            <a:ext cx="2781300" cy="345757"/>
          </a:xfrm>
          <a:custGeom xmlns:a="http://schemas.openxmlformats.org/drawingml/2006/main">
            <a:pathLst>
              <a:path w="2781300" h="345757">
                <a:moveTo>
                  <a:pt x="0" y="172879"/>
                </a:moveTo>
                <a:lnTo>
                  <a:pt x="3477" y="171521"/>
                </a:lnTo>
                <a:lnTo>
                  <a:pt x="6953" y="170163"/>
                </a:lnTo>
                <a:lnTo>
                  <a:pt x="10430" y="168806"/>
                </a:lnTo>
                <a:lnTo>
                  <a:pt x="13906" y="167448"/>
                </a:lnTo>
                <a:lnTo>
                  <a:pt x="17383" y="166092"/>
                </a:lnTo>
                <a:lnTo>
                  <a:pt x="20860" y="164735"/>
                </a:lnTo>
                <a:lnTo>
                  <a:pt x="24336" y="163379"/>
                </a:lnTo>
                <a:lnTo>
                  <a:pt x="27813" y="162024"/>
                </a:lnTo>
                <a:lnTo>
                  <a:pt x="31290" y="160669"/>
                </a:lnTo>
                <a:lnTo>
                  <a:pt x="34766" y="159315"/>
                </a:lnTo>
                <a:lnTo>
                  <a:pt x="38243" y="157962"/>
                </a:lnTo>
                <a:lnTo>
                  <a:pt x="41719" y="156609"/>
                </a:lnTo>
                <a:lnTo>
                  <a:pt x="45196" y="155258"/>
                </a:lnTo>
                <a:lnTo>
                  <a:pt x="48673" y="153908"/>
                </a:lnTo>
                <a:lnTo>
                  <a:pt x="52149" y="152559"/>
                </a:lnTo>
                <a:lnTo>
                  <a:pt x="55626" y="151211"/>
                </a:lnTo>
                <a:lnTo>
                  <a:pt x="59103" y="149865"/>
                </a:lnTo>
                <a:lnTo>
                  <a:pt x="62579" y="148520"/>
                </a:lnTo>
                <a:lnTo>
                  <a:pt x="66056" y="147176"/>
                </a:lnTo>
                <a:lnTo>
                  <a:pt x="69533" y="145835"/>
                </a:lnTo>
                <a:lnTo>
                  <a:pt x="73009" y="144494"/>
                </a:lnTo>
                <a:lnTo>
                  <a:pt x="76486" y="143156"/>
                </a:lnTo>
                <a:lnTo>
                  <a:pt x="79962" y="141819"/>
                </a:lnTo>
                <a:lnTo>
                  <a:pt x="83439" y="140485"/>
                </a:lnTo>
                <a:lnTo>
                  <a:pt x="86916" y="139152"/>
                </a:lnTo>
                <a:lnTo>
                  <a:pt x="90392" y="137821"/>
                </a:lnTo>
                <a:lnTo>
                  <a:pt x="93869" y="136493"/>
                </a:lnTo>
                <a:lnTo>
                  <a:pt x="97346" y="135166"/>
                </a:lnTo>
                <a:lnTo>
                  <a:pt x="100822" y="133843"/>
                </a:lnTo>
                <a:lnTo>
                  <a:pt x="104299" y="132521"/>
                </a:lnTo>
                <a:lnTo>
                  <a:pt x="107775" y="131202"/>
                </a:lnTo>
                <a:lnTo>
                  <a:pt x="111252" y="129886"/>
                </a:lnTo>
                <a:lnTo>
                  <a:pt x="114729" y="128572"/>
                </a:lnTo>
                <a:lnTo>
                  <a:pt x="118205" y="127261"/>
                </a:lnTo>
                <a:lnTo>
                  <a:pt x="121682" y="125952"/>
                </a:lnTo>
                <a:lnTo>
                  <a:pt x="125158" y="124647"/>
                </a:lnTo>
                <a:lnTo>
                  <a:pt x="128635" y="123345"/>
                </a:lnTo>
                <a:lnTo>
                  <a:pt x="132112" y="122045"/>
                </a:lnTo>
                <a:lnTo>
                  <a:pt x="135588" y="120749"/>
                </a:lnTo>
                <a:lnTo>
                  <a:pt x="139065" y="119456"/>
                </a:lnTo>
                <a:lnTo>
                  <a:pt x="142542" y="118167"/>
                </a:lnTo>
                <a:lnTo>
                  <a:pt x="146018" y="116880"/>
                </a:lnTo>
                <a:lnTo>
                  <a:pt x="149495" y="115597"/>
                </a:lnTo>
                <a:lnTo>
                  <a:pt x="152972" y="114318"/>
                </a:lnTo>
                <a:lnTo>
                  <a:pt x="156448" y="113042"/>
                </a:lnTo>
                <a:lnTo>
                  <a:pt x="159925" y="111770"/>
                </a:lnTo>
                <a:lnTo>
                  <a:pt x="163401" y="110502"/>
                </a:lnTo>
                <a:lnTo>
                  <a:pt x="166878" y="109238"/>
                </a:lnTo>
                <a:lnTo>
                  <a:pt x="170355" y="107977"/>
                </a:lnTo>
                <a:lnTo>
                  <a:pt x="173831" y="106721"/>
                </a:lnTo>
                <a:lnTo>
                  <a:pt x="177308" y="105469"/>
                </a:lnTo>
                <a:lnTo>
                  <a:pt x="180785" y="104220"/>
                </a:lnTo>
                <a:lnTo>
                  <a:pt x="184261" y="102976"/>
                </a:lnTo>
                <a:lnTo>
                  <a:pt x="187738" y="101737"/>
                </a:lnTo>
                <a:lnTo>
                  <a:pt x="191214" y="100501"/>
                </a:lnTo>
                <a:lnTo>
                  <a:pt x="194691" y="99271"/>
                </a:lnTo>
                <a:lnTo>
                  <a:pt x="198168" y="98044"/>
                </a:lnTo>
                <a:lnTo>
                  <a:pt x="201644" y="96823"/>
                </a:lnTo>
                <a:lnTo>
                  <a:pt x="205121" y="95606"/>
                </a:lnTo>
                <a:lnTo>
                  <a:pt x="208597" y="94393"/>
                </a:lnTo>
                <a:lnTo>
                  <a:pt x="212074" y="93186"/>
                </a:lnTo>
                <a:lnTo>
                  <a:pt x="215551" y="91984"/>
                </a:lnTo>
                <a:lnTo>
                  <a:pt x="219027" y="90786"/>
                </a:lnTo>
                <a:lnTo>
                  <a:pt x="222504" y="89594"/>
                </a:lnTo>
                <a:lnTo>
                  <a:pt x="225981" y="88407"/>
                </a:lnTo>
                <a:lnTo>
                  <a:pt x="229457" y="87224"/>
                </a:lnTo>
                <a:lnTo>
                  <a:pt x="232934" y="86048"/>
                </a:lnTo>
                <a:lnTo>
                  <a:pt x="236410" y="84876"/>
                </a:lnTo>
                <a:lnTo>
                  <a:pt x="239887" y="83710"/>
                </a:lnTo>
                <a:lnTo>
                  <a:pt x="243364" y="82550"/>
                </a:lnTo>
                <a:lnTo>
                  <a:pt x="246840" y="81395"/>
                </a:lnTo>
                <a:lnTo>
                  <a:pt x="250317" y="80246"/>
                </a:lnTo>
                <a:lnTo>
                  <a:pt x="253794" y="79102"/>
                </a:lnTo>
                <a:lnTo>
                  <a:pt x="257270" y="77964"/>
                </a:lnTo>
                <a:lnTo>
                  <a:pt x="260747" y="76832"/>
                </a:lnTo>
                <a:lnTo>
                  <a:pt x="264224" y="75706"/>
                </a:lnTo>
                <a:lnTo>
                  <a:pt x="267700" y="74586"/>
                </a:lnTo>
                <a:lnTo>
                  <a:pt x="271177" y="73473"/>
                </a:lnTo>
                <a:lnTo>
                  <a:pt x="274653" y="72365"/>
                </a:lnTo>
                <a:lnTo>
                  <a:pt x="278130" y="71263"/>
                </a:lnTo>
                <a:lnTo>
                  <a:pt x="281607" y="70168"/>
                </a:lnTo>
                <a:lnTo>
                  <a:pt x="285083" y="69079"/>
                </a:lnTo>
                <a:lnTo>
                  <a:pt x="288560" y="67996"/>
                </a:lnTo>
                <a:lnTo>
                  <a:pt x="292037" y="66920"/>
                </a:lnTo>
                <a:lnTo>
                  <a:pt x="295513" y="65851"/>
                </a:lnTo>
                <a:lnTo>
                  <a:pt x="298990" y="64788"/>
                </a:lnTo>
                <a:lnTo>
                  <a:pt x="302466" y="63731"/>
                </a:lnTo>
                <a:lnTo>
                  <a:pt x="305943" y="62682"/>
                </a:lnTo>
                <a:lnTo>
                  <a:pt x="309420" y="61639"/>
                </a:lnTo>
                <a:lnTo>
                  <a:pt x="312896" y="60603"/>
                </a:lnTo>
                <a:lnTo>
                  <a:pt x="316373" y="59574"/>
                </a:lnTo>
                <a:lnTo>
                  <a:pt x="319850" y="58552"/>
                </a:lnTo>
                <a:lnTo>
                  <a:pt x="323326" y="57537"/>
                </a:lnTo>
                <a:lnTo>
                  <a:pt x="326803" y="56529"/>
                </a:lnTo>
                <a:lnTo>
                  <a:pt x="330279" y="55529"/>
                </a:lnTo>
                <a:lnTo>
                  <a:pt x="333756" y="54535"/>
                </a:lnTo>
                <a:lnTo>
                  <a:pt x="337233" y="53549"/>
                </a:lnTo>
                <a:lnTo>
                  <a:pt x="340709" y="52570"/>
                </a:lnTo>
                <a:lnTo>
                  <a:pt x="344186" y="51599"/>
                </a:lnTo>
                <a:lnTo>
                  <a:pt x="347663" y="50635"/>
                </a:lnTo>
                <a:lnTo>
                  <a:pt x="351139" y="49679"/>
                </a:lnTo>
                <a:lnTo>
                  <a:pt x="354616" y="48730"/>
                </a:lnTo>
                <a:lnTo>
                  <a:pt x="358092" y="47789"/>
                </a:lnTo>
                <a:lnTo>
                  <a:pt x="361569" y="46856"/>
                </a:lnTo>
                <a:lnTo>
                  <a:pt x="365046" y="45930"/>
                </a:lnTo>
                <a:lnTo>
                  <a:pt x="368522" y="45012"/>
                </a:lnTo>
                <a:lnTo>
                  <a:pt x="371999" y="44102"/>
                </a:lnTo>
                <a:lnTo>
                  <a:pt x="375475" y="43200"/>
                </a:lnTo>
                <a:lnTo>
                  <a:pt x="378952" y="42307"/>
                </a:lnTo>
                <a:lnTo>
                  <a:pt x="382429" y="41421"/>
                </a:lnTo>
                <a:lnTo>
                  <a:pt x="385905" y="40543"/>
                </a:lnTo>
                <a:lnTo>
                  <a:pt x="389382" y="39673"/>
                </a:lnTo>
                <a:lnTo>
                  <a:pt x="392859" y="38812"/>
                </a:lnTo>
                <a:lnTo>
                  <a:pt x="396335" y="37959"/>
                </a:lnTo>
                <a:lnTo>
                  <a:pt x="399812" y="37114"/>
                </a:lnTo>
                <a:lnTo>
                  <a:pt x="403289" y="36278"/>
                </a:lnTo>
                <a:lnTo>
                  <a:pt x="406765" y="35450"/>
                </a:lnTo>
                <a:lnTo>
                  <a:pt x="410242" y="34630"/>
                </a:lnTo>
                <a:lnTo>
                  <a:pt x="413718" y="33819"/>
                </a:lnTo>
                <a:lnTo>
                  <a:pt x="417195" y="33017"/>
                </a:lnTo>
                <a:lnTo>
                  <a:pt x="420672" y="32223"/>
                </a:lnTo>
                <a:lnTo>
                  <a:pt x="424148" y="31438"/>
                </a:lnTo>
                <a:lnTo>
                  <a:pt x="427625" y="30662"/>
                </a:lnTo>
                <a:lnTo>
                  <a:pt x="431101" y="29894"/>
                </a:lnTo>
                <a:lnTo>
                  <a:pt x="434578" y="29135"/>
                </a:lnTo>
                <a:lnTo>
                  <a:pt x="438055" y="28385"/>
                </a:lnTo>
                <a:lnTo>
                  <a:pt x="441531" y="27644"/>
                </a:lnTo>
                <a:lnTo>
                  <a:pt x="445008" y="26912"/>
                </a:lnTo>
                <a:lnTo>
                  <a:pt x="448485" y="26189"/>
                </a:lnTo>
                <a:lnTo>
                  <a:pt x="451961" y="25475"/>
                </a:lnTo>
                <a:lnTo>
                  <a:pt x="455438" y="24770"/>
                </a:lnTo>
                <a:lnTo>
                  <a:pt x="458914" y="24075"/>
                </a:lnTo>
                <a:lnTo>
                  <a:pt x="462391" y="23388"/>
                </a:lnTo>
                <a:lnTo>
                  <a:pt x="465868" y="22711"/>
                </a:lnTo>
                <a:lnTo>
                  <a:pt x="469344" y="22043"/>
                </a:lnTo>
                <a:lnTo>
                  <a:pt x="472821" y="21384"/>
                </a:lnTo>
                <a:lnTo>
                  <a:pt x="476298" y="20735"/>
                </a:lnTo>
                <a:lnTo>
                  <a:pt x="479774" y="20094"/>
                </a:lnTo>
                <a:lnTo>
                  <a:pt x="483251" y="19464"/>
                </a:lnTo>
                <a:lnTo>
                  <a:pt x="486728" y="18843"/>
                </a:lnTo>
                <a:lnTo>
                  <a:pt x="490204" y="18231"/>
                </a:lnTo>
                <a:lnTo>
                  <a:pt x="493681" y="17629"/>
                </a:lnTo>
                <a:lnTo>
                  <a:pt x="497157" y="17036"/>
                </a:lnTo>
                <a:lnTo>
                  <a:pt x="500634" y="16453"/>
                </a:lnTo>
                <a:lnTo>
                  <a:pt x="504111" y="15880"/>
                </a:lnTo>
                <a:lnTo>
                  <a:pt x="507587" y="15316"/>
                </a:lnTo>
                <a:lnTo>
                  <a:pt x="511064" y="14763"/>
                </a:lnTo>
                <a:lnTo>
                  <a:pt x="514540" y="14218"/>
                </a:lnTo>
                <a:lnTo>
                  <a:pt x="518017" y="13684"/>
                </a:lnTo>
                <a:lnTo>
                  <a:pt x="521494" y="13160"/>
                </a:lnTo>
                <a:lnTo>
                  <a:pt x="524970" y="12645"/>
                </a:lnTo>
                <a:lnTo>
                  <a:pt x="528447" y="12140"/>
                </a:lnTo>
                <a:lnTo>
                  <a:pt x="531924" y="11645"/>
                </a:lnTo>
                <a:lnTo>
                  <a:pt x="535400" y="11160"/>
                </a:lnTo>
                <a:lnTo>
                  <a:pt x="538877" y="10685"/>
                </a:lnTo>
                <a:lnTo>
                  <a:pt x="542354" y="10220"/>
                </a:lnTo>
                <a:lnTo>
                  <a:pt x="545830" y="9766"/>
                </a:lnTo>
                <a:lnTo>
                  <a:pt x="549307" y="9321"/>
                </a:lnTo>
                <a:lnTo>
                  <a:pt x="552783" y="8886"/>
                </a:lnTo>
                <a:lnTo>
                  <a:pt x="556260" y="8461"/>
                </a:lnTo>
                <a:lnTo>
                  <a:pt x="559737" y="8047"/>
                </a:lnTo>
                <a:lnTo>
                  <a:pt x="563213" y="7642"/>
                </a:lnTo>
                <a:lnTo>
                  <a:pt x="566690" y="7248"/>
                </a:lnTo>
                <a:lnTo>
                  <a:pt x="570167" y="6864"/>
                </a:lnTo>
                <a:lnTo>
                  <a:pt x="573643" y="6491"/>
                </a:lnTo>
                <a:lnTo>
                  <a:pt x="577120" y="6127"/>
                </a:lnTo>
                <a:lnTo>
                  <a:pt x="580596" y="5774"/>
                </a:lnTo>
                <a:lnTo>
                  <a:pt x="584073" y="5431"/>
                </a:lnTo>
                <a:lnTo>
                  <a:pt x="587550" y="5099"/>
                </a:lnTo>
                <a:lnTo>
                  <a:pt x="591026" y="4777"/>
                </a:lnTo>
                <a:lnTo>
                  <a:pt x="594503" y="4465"/>
                </a:lnTo>
                <a:lnTo>
                  <a:pt x="597979" y="4163"/>
                </a:lnTo>
                <a:lnTo>
                  <a:pt x="601456" y="3872"/>
                </a:lnTo>
                <a:lnTo>
                  <a:pt x="604933" y="3592"/>
                </a:lnTo>
                <a:lnTo>
                  <a:pt x="608409" y="3322"/>
                </a:lnTo>
                <a:lnTo>
                  <a:pt x="611886" y="3062"/>
                </a:lnTo>
                <a:lnTo>
                  <a:pt x="615363" y="2813"/>
                </a:lnTo>
                <a:lnTo>
                  <a:pt x="618839" y="2574"/>
                </a:lnTo>
                <a:lnTo>
                  <a:pt x="622316" y="2346"/>
                </a:lnTo>
                <a:lnTo>
                  <a:pt x="625793" y="2128"/>
                </a:lnTo>
                <a:lnTo>
                  <a:pt x="629269" y="1921"/>
                </a:lnTo>
                <a:lnTo>
                  <a:pt x="632746" y="1725"/>
                </a:lnTo>
                <a:lnTo>
                  <a:pt x="636222" y="1539"/>
                </a:lnTo>
                <a:lnTo>
                  <a:pt x="639699" y="1363"/>
                </a:lnTo>
                <a:lnTo>
                  <a:pt x="643176" y="1198"/>
                </a:lnTo>
                <a:lnTo>
                  <a:pt x="646652" y="1044"/>
                </a:lnTo>
                <a:lnTo>
                  <a:pt x="650129" y="900"/>
                </a:lnTo>
                <a:lnTo>
                  <a:pt x="653606" y="767"/>
                </a:lnTo>
                <a:lnTo>
                  <a:pt x="657082" y="645"/>
                </a:lnTo>
                <a:lnTo>
                  <a:pt x="660559" y="533"/>
                </a:lnTo>
                <a:lnTo>
                  <a:pt x="664035" y="432"/>
                </a:lnTo>
                <a:lnTo>
                  <a:pt x="667512" y="341"/>
                </a:lnTo>
                <a:lnTo>
                  <a:pt x="670989" y="261"/>
                </a:lnTo>
                <a:lnTo>
                  <a:pt x="674465" y="192"/>
                </a:lnTo>
                <a:lnTo>
                  <a:pt x="677942" y="133"/>
                </a:lnTo>
                <a:lnTo>
                  <a:pt x="681418" y="85"/>
                </a:lnTo>
                <a:lnTo>
                  <a:pt x="684895" y="48"/>
                </a:lnTo>
                <a:lnTo>
                  <a:pt x="688372" y="21"/>
                </a:lnTo>
                <a:lnTo>
                  <a:pt x="691848" y="5"/>
                </a:lnTo>
                <a:lnTo>
                  <a:pt x="695325" y="0"/>
                </a:lnTo>
                <a:lnTo>
                  <a:pt x="698802" y="5"/>
                </a:lnTo>
                <a:lnTo>
                  <a:pt x="702278" y="21"/>
                </a:lnTo>
                <a:lnTo>
                  <a:pt x="705755" y="48"/>
                </a:lnTo>
                <a:lnTo>
                  <a:pt x="709232" y="85"/>
                </a:lnTo>
                <a:lnTo>
                  <a:pt x="712708" y="133"/>
                </a:lnTo>
                <a:lnTo>
                  <a:pt x="716185" y="192"/>
                </a:lnTo>
                <a:lnTo>
                  <a:pt x="719661" y="261"/>
                </a:lnTo>
                <a:lnTo>
                  <a:pt x="723138" y="341"/>
                </a:lnTo>
                <a:lnTo>
                  <a:pt x="726615" y="432"/>
                </a:lnTo>
                <a:lnTo>
                  <a:pt x="730091" y="533"/>
                </a:lnTo>
                <a:lnTo>
                  <a:pt x="733568" y="645"/>
                </a:lnTo>
                <a:lnTo>
                  <a:pt x="737045" y="767"/>
                </a:lnTo>
                <a:lnTo>
                  <a:pt x="740521" y="900"/>
                </a:lnTo>
                <a:lnTo>
                  <a:pt x="743998" y="1044"/>
                </a:lnTo>
                <a:lnTo>
                  <a:pt x="747474" y="1198"/>
                </a:lnTo>
                <a:lnTo>
                  <a:pt x="750951" y="1363"/>
                </a:lnTo>
                <a:lnTo>
                  <a:pt x="754428" y="1539"/>
                </a:lnTo>
                <a:lnTo>
                  <a:pt x="757904" y="1725"/>
                </a:lnTo>
                <a:lnTo>
                  <a:pt x="761381" y="1921"/>
                </a:lnTo>
                <a:lnTo>
                  <a:pt x="764857" y="2128"/>
                </a:lnTo>
                <a:lnTo>
                  <a:pt x="768334" y="2346"/>
                </a:lnTo>
                <a:lnTo>
                  <a:pt x="771811" y="2574"/>
                </a:lnTo>
                <a:lnTo>
                  <a:pt x="775287" y="2813"/>
                </a:lnTo>
                <a:lnTo>
                  <a:pt x="778764" y="3062"/>
                </a:lnTo>
                <a:lnTo>
                  <a:pt x="782241" y="3322"/>
                </a:lnTo>
                <a:lnTo>
                  <a:pt x="785717" y="3592"/>
                </a:lnTo>
                <a:lnTo>
                  <a:pt x="789194" y="3872"/>
                </a:lnTo>
                <a:lnTo>
                  <a:pt x="792671" y="4163"/>
                </a:lnTo>
                <a:lnTo>
                  <a:pt x="796147" y="4465"/>
                </a:lnTo>
                <a:lnTo>
                  <a:pt x="799624" y="4777"/>
                </a:lnTo>
                <a:lnTo>
                  <a:pt x="803100" y="5099"/>
                </a:lnTo>
                <a:lnTo>
                  <a:pt x="806577" y="5431"/>
                </a:lnTo>
                <a:lnTo>
                  <a:pt x="810054" y="5774"/>
                </a:lnTo>
                <a:lnTo>
                  <a:pt x="813530" y="6127"/>
                </a:lnTo>
                <a:lnTo>
                  <a:pt x="817007" y="6491"/>
                </a:lnTo>
                <a:lnTo>
                  <a:pt x="820483" y="6864"/>
                </a:lnTo>
                <a:lnTo>
                  <a:pt x="823960" y="7248"/>
                </a:lnTo>
                <a:lnTo>
                  <a:pt x="827437" y="7642"/>
                </a:lnTo>
                <a:lnTo>
                  <a:pt x="830913" y="8047"/>
                </a:lnTo>
                <a:lnTo>
                  <a:pt x="834390" y="8461"/>
                </a:lnTo>
                <a:lnTo>
                  <a:pt x="837867" y="8886"/>
                </a:lnTo>
                <a:lnTo>
                  <a:pt x="841343" y="9321"/>
                </a:lnTo>
                <a:lnTo>
                  <a:pt x="844820" y="9766"/>
                </a:lnTo>
                <a:lnTo>
                  <a:pt x="848296" y="10220"/>
                </a:lnTo>
                <a:lnTo>
                  <a:pt x="851773" y="10685"/>
                </a:lnTo>
                <a:lnTo>
                  <a:pt x="855250" y="11160"/>
                </a:lnTo>
                <a:lnTo>
                  <a:pt x="858726" y="11645"/>
                </a:lnTo>
                <a:lnTo>
                  <a:pt x="862203" y="12140"/>
                </a:lnTo>
                <a:lnTo>
                  <a:pt x="865680" y="12645"/>
                </a:lnTo>
                <a:lnTo>
                  <a:pt x="869156" y="13160"/>
                </a:lnTo>
                <a:lnTo>
                  <a:pt x="872633" y="13684"/>
                </a:lnTo>
                <a:lnTo>
                  <a:pt x="876110" y="14218"/>
                </a:lnTo>
                <a:lnTo>
                  <a:pt x="879586" y="14763"/>
                </a:lnTo>
                <a:lnTo>
                  <a:pt x="883063" y="15316"/>
                </a:lnTo>
                <a:lnTo>
                  <a:pt x="886539" y="15880"/>
                </a:lnTo>
                <a:lnTo>
                  <a:pt x="890016" y="16453"/>
                </a:lnTo>
                <a:lnTo>
                  <a:pt x="893493" y="17036"/>
                </a:lnTo>
                <a:lnTo>
                  <a:pt x="896969" y="17629"/>
                </a:lnTo>
                <a:lnTo>
                  <a:pt x="900446" y="18231"/>
                </a:lnTo>
                <a:lnTo>
                  <a:pt x="903922" y="18843"/>
                </a:lnTo>
                <a:lnTo>
                  <a:pt x="907399" y="19464"/>
                </a:lnTo>
                <a:lnTo>
                  <a:pt x="910876" y="20094"/>
                </a:lnTo>
                <a:lnTo>
                  <a:pt x="914352" y="20735"/>
                </a:lnTo>
                <a:lnTo>
                  <a:pt x="917829" y="21384"/>
                </a:lnTo>
                <a:lnTo>
                  <a:pt x="921306" y="22043"/>
                </a:lnTo>
                <a:lnTo>
                  <a:pt x="924782" y="22711"/>
                </a:lnTo>
                <a:lnTo>
                  <a:pt x="928259" y="23388"/>
                </a:lnTo>
                <a:lnTo>
                  <a:pt x="931735" y="24075"/>
                </a:lnTo>
                <a:lnTo>
                  <a:pt x="935212" y="24770"/>
                </a:lnTo>
                <a:lnTo>
                  <a:pt x="938689" y="25475"/>
                </a:lnTo>
                <a:lnTo>
                  <a:pt x="942165" y="26189"/>
                </a:lnTo>
                <a:lnTo>
                  <a:pt x="945642" y="26912"/>
                </a:lnTo>
                <a:lnTo>
                  <a:pt x="949119" y="27644"/>
                </a:lnTo>
                <a:lnTo>
                  <a:pt x="952595" y="28385"/>
                </a:lnTo>
                <a:lnTo>
                  <a:pt x="956072" y="29135"/>
                </a:lnTo>
                <a:lnTo>
                  <a:pt x="959549" y="29894"/>
                </a:lnTo>
                <a:lnTo>
                  <a:pt x="963025" y="30662"/>
                </a:lnTo>
                <a:lnTo>
                  <a:pt x="966502" y="31438"/>
                </a:lnTo>
                <a:lnTo>
                  <a:pt x="969978" y="32223"/>
                </a:lnTo>
                <a:lnTo>
                  <a:pt x="973455" y="33017"/>
                </a:lnTo>
                <a:lnTo>
                  <a:pt x="976932" y="33819"/>
                </a:lnTo>
                <a:lnTo>
                  <a:pt x="980408" y="34630"/>
                </a:lnTo>
                <a:lnTo>
                  <a:pt x="983885" y="35450"/>
                </a:lnTo>
                <a:lnTo>
                  <a:pt x="987361" y="36278"/>
                </a:lnTo>
                <a:lnTo>
                  <a:pt x="990838" y="37114"/>
                </a:lnTo>
                <a:lnTo>
                  <a:pt x="994315" y="37959"/>
                </a:lnTo>
                <a:lnTo>
                  <a:pt x="997791" y="38812"/>
                </a:lnTo>
                <a:lnTo>
                  <a:pt x="1001268" y="39673"/>
                </a:lnTo>
                <a:lnTo>
                  <a:pt x="1004745" y="40543"/>
                </a:lnTo>
                <a:lnTo>
                  <a:pt x="1008221" y="41421"/>
                </a:lnTo>
                <a:lnTo>
                  <a:pt x="1011698" y="42307"/>
                </a:lnTo>
                <a:lnTo>
                  <a:pt x="1015175" y="43200"/>
                </a:lnTo>
                <a:lnTo>
                  <a:pt x="1018651" y="44102"/>
                </a:lnTo>
                <a:lnTo>
                  <a:pt x="1022128" y="45012"/>
                </a:lnTo>
                <a:lnTo>
                  <a:pt x="1025604" y="45930"/>
                </a:lnTo>
                <a:lnTo>
                  <a:pt x="1029081" y="46856"/>
                </a:lnTo>
                <a:lnTo>
                  <a:pt x="1032558" y="47789"/>
                </a:lnTo>
                <a:lnTo>
                  <a:pt x="1036034" y="48730"/>
                </a:lnTo>
                <a:lnTo>
                  <a:pt x="1039511" y="49679"/>
                </a:lnTo>
                <a:lnTo>
                  <a:pt x="1042988" y="50635"/>
                </a:lnTo>
                <a:lnTo>
                  <a:pt x="1046464" y="51599"/>
                </a:lnTo>
                <a:lnTo>
                  <a:pt x="1049941" y="52570"/>
                </a:lnTo>
                <a:lnTo>
                  <a:pt x="1053417" y="53549"/>
                </a:lnTo>
                <a:lnTo>
                  <a:pt x="1056894" y="54535"/>
                </a:lnTo>
                <a:lnTo>
                  <a:pt x="1060371" y="55529"/>
                </a:lnTo>
                <a:lnTo>
                  <a:pt x="1063847" y="56529"/>
                </a:lnTo>
                <a:lnTo>
                  <a:pt x="1067324" y="57537"/>
                </a:lnTo>
                <a:lnTo>
                  <a:pt x="1070800" y="58552"/>
                </a:lnTo>
                <a:lnTo>
                  <a:pt x="1074277" y="59574"/>
                </a:lnTo>
                <a:lnTo>
                  <a:pt x="1077754" y="60603"/>
                </a:lnTo>
                <a:lnTo>
                  <a:pt x="1081230" y="61639"/>
                </a:lnTo>
                <a:lnTo>
                  <a:pt x="1084707" y="62682"/>
                </a:lnTo>
                <a:lnTo>
                  <a:pt x="1088184" y="63731"/>
                </a:lnTo>
                <a:lnTo>
                  <a:pt x="1091660" y="64788"/>
                </a:lnTo>
                <a:lnTo>
                  <a:pt x="1095137" y="65851"/>
                </a:lnTo>
                <a:lnTo>
                  <a:pt x="1098614" y="66920"/>
                </a:lnTo>
                <a:lnTo>
                  <a:pt x="1102090" y="67996"/>
                </a:lnTo>
                <a:lnTo>
                  <a:pt x="1105567" y="69079"/>
                </a:lnTo>
                <a:lnTo>
                  <a:pt x="1109043" y="70168"/>
                </a:lnTo>
                <a:lnTo>
                  <a:pt x="1112520" y="71263"/>
                </a:lnTo>
                <a:lnTo>
                  <a:pt x="1115997" y="72365"/>
                </a:lnTo>
                <a:lnTo>
                  <a:pt x="1119473" y="73473"/>
                </a:lnTo>
                <a:lnTo>
                  <a:pt x="1122950" y="74586"/>
                </a:lnTo>
                <a:lnTo>
                  <a:pt x="1126427" y="75706"/>
                </a:lnTo>
                <a:lnTo>
                  <a:pt x="1129903" y="76832"/>
                </a:lnTo>
                <a:lnTo>
                  <a:pt x="1133380" y="77964"/>
                </a:lnTo>
                <a:lnTo>
                  <a:pt x="1136856" y="79102"/>
                </a:lnTo>
                <a:lnTo>
                  <a:pt x="1140333" y="80246"/>
                </a:lnTo>
                <a:lnTo>
                  <a:pt x="1143810" y="81395"/>
                </a:lnTo>
                <a:lnTo>
                  <a:pt x="1147286" y="82550"/>
                </a:lnTo>
                <a:lnTo>
                  <a:pt x="1150763" y="83710"/>
                </a:lnTo>
                <a:lnTo>
                  <a:pt x="1154240" y="84876"/>
                </a:lnTo>
                <a:lnTo>
                  <a:pt x="1157716" y="86048"/>
                </a:lnTo>
                <a:lnTo>
                  <a:pt x="1161193" y="87224"/>
                </a:lnTo>
                <a:lnTo>
                  <a:pt x="1164669" y="88407"/>
                </a:lnTo>
                <a:lnTo>
                  <a:pt x="1168146" y="89594"/>
                </a:lnTo>
                <a:lnTo>
                  <a:pt x="1171623" y="90786"/>
                </a:lnTo>
                <a:lnTo>
                  <a:pt x="1175099" y="91984"/>
                </a:lnTo>
                <a:lnTo>
                  <a:pt x="1178576" y="93186"/>
                </a:lnTo>
                <a:lnTo>
                  <a:pt x="1182053" y="94393"/>
                </a:lnTo>
                <a:lnTo>
                  <a:pt x="1185529" y="95606"/>
                </a:lnTo>
                <a:lnTo>
                  <a:pt x="1189006" y="96823"/>
                </a:lnTo>
                <a:lnTo>
                  <a:pt x="1192482" y="98044"/>
                </a:lnTo>
                <a:lnTo>
                  <a:pt x="1195959" y="99271"/>
                </a:lnTo>
                <a:lnTo>
                  <a:pt x="1199436" y="100501"/>
                </a:lnTo>
                <a:lnTo>
                  <a:pt x="1202912" y="101737"/>
                </a:lnTo>
                <a:lnTo>
                  <a:pt x="1206389" y="102976"/>
                </a:lnTo>
                <a:lnTo>
                  <a:pt x="1209865" y="104220"/>
                </a:lnTo>
                <a:lnTo>
                  <a:pt x="1213342" y="105469"/>
                </a:lnTo>
                <a:lnTo>
                  <a:pt x="1216819" y="106721"/>
                </a:lnTo>
                <a:lnTo>
                  <a:pt x="1220295" y="107977"/>
                </a:lnTo>
                <a:lnTo>
                  <a:pt x="1223772" y="109238"/>
                </a:lnTo>
                <a:lnTo>
                  <a:pt x="1227249" y="110502"/>
                </a:lnTo>
                <a:lnTo>
                  <a:pt x="1230725" y="111770"/>
                </a:lnTo>
                <a:lnTo>
                  <a:pt x="1234202" y="113042"/>
                </a:lnTo>
                <a:lnTo>
                  <a:pt x="1237679" y="114318"/>
                </a:lnTo>
                <a:lnTo>
                  <a:pt x="1241155" y="115597"/>
                </a:lnTo>
                <a:lnTo>
                  <a:pt x="1244632" y="116880"/>
                </a:lnTo>
                <a:lnTo>
                  <a:pt x="1248108" y="118167"/>
                </a:lnTo>
                <a:lnTo>
                  <a:pt x="1251585" y="119456"/>
                </a:lnTo>
                <a:lnTo>
                  <a:pt x="1255062" y="120749"/>
                </a:lnTo>
                <a:lnTo>
                  <a:pt x="1258538" y="122045"/>
                </a:lnTo>
                <a:lnTo>
                  <a:pt x="1262015" y="123345"/>
                </a:lnTo>
                <a:lnTo>
                  <a:pt x="1265492" y="124647"/>
                </a:lnTo>
                <a:lnTo>
                  <a:pt x="1268968" y="125952"/>
                </a:lnTo>
                <a:lnTo>
                  <a:pt x="1272445" y="127261"/>
                </a:lnTo>
                <a:lnTo>
                  <a:pt x="1275921" y="128572"/>
                </a:lnTo>
                <a:lnTo>
                  <a:pt x="1279398" y="129886"/>
                </a:lnTo>
                <a:lnTo>
                  <a:pt x="1282875" y="131202"/>
                </a:lnTo>
                <a:lnTo>
                  <a:pt x="1286351" y="132521"/>
                </a:lnTo>
                <a:lnTo>
                  <a:pt x="1289828" y="133843"/>
                </a:lnTo>
                <a:lnTo>
                  <a:pt x="1293304" y="135166"/>
                </a:lnTo>
                <a:lnTo>
                  <a:pt x="1296781" y="136493"/>
                </a:lnTo>
                <a:lnTo>
                  <a:pt x="1300258" y="137821"/>
                </a:lnTo>
                <a:lnTo>
                  <a:pt x="1303734" y="139152"/>
                </a:lnTo>
                <a:lnTo>
                  <a:pt x="1307211" y="140485"/>
                </a:lnTo>
                <a:lnTo>
                  <a:pt x="1310688" y="141819"/>
                </a:lnTo>
                <a:lnTo>
                  <a:pt x="1314164" y="143156"/>
                </a:lnTo>
                <a:lnTo>
                  <a:pt x="1317641" y="144494"/>
                </a:lnTo>
                <a:lnTo>
                  <a:pt x="1321118" y="145835"/>
                </a:lnTo>
                <a:lnTo>
                  <a:pt x="1324594" y="147176"/>
                </a:lnTo>
                <a:lnTo>
                  <a:pt x="1328071" y="148520"/>
                </a:lnTo>
                <a:lnTo>
                  <a:pt x="1331547" y="149865"/>
                </a:lnTo>
                <a:lnTo>
                  <a:pt x="1335024" y="151211"/>
                </a:lnTo>
                <a:lnTo>
                  <a:pt x="1338501" y="152559"/>
                </a:lnTo>
                <a:lnTo>
                  <a:pt x="1341977" y="153908"/>
                </a:lnTo>
                <a:lnTo>
                  <a:pt x="1345454" y="155258"/>
                </a:lnTo>
                <a:lnTo>
                  <a:pt x="1348931" y="156609"/>
                </a:lnTo>
                <a:lnTo>
                  <a:pt x="1352407" y="157962"/>
                </a:lnTo>
                <a:lnTo>
                  <a:pt x="1355884" y="159315"/>
                </a:lnTo>
                <a:lnTo>
                  <a:pt x="1359360" y="160669"/>
                </a:lnTo>
                <a:lnTo>
                  <a:pt x="1362837" y="162024"/>
                </a:lnTo>
                <a:lnTo>
                  <a:pt x="1366314" y="163379"/>
                </a:lnTo>
                <a:lnTo>
                  <a:pt x="1369790" y="164735"/>
                </a:lnTo>
                <a:lnTo>
                  <a:pt x="1373267" y="166092"/>
                </a:lnTo>
                <a:lnTo>
                  <a:pt x="1376743" y="167448"/>
                </a:lnTo>
                <a:lnTo>
                  <a:pt x="1380220" y="168806"/>
                </a:lnTo>
                <a:lnTo>
                  <a:pt x="1383697" y="170163"/>
                </a:lnTo>
                <a:lnTo>
                  <a:pt x="1387173" y="171521"/>
                </a:lnTo>
                <a:lnTo>
                  <a:pt x="1390650" y="172879"/>
                </a:lnTo>
                <a:lnTo>
                  <a:pt x="1394127" y="174237"/>
                </a:lnTo>
                <a:lnTo>
                  <a:pt x="1397603" y="175594"/>
                </a:lnTo>
                <a:lnTo>
                  <a:pt x="1401080" y="176952"/>
                </a:lnTo>
                <a:lnTo>
                  <a:pt x="1404557" y="178309"/>
                </a:lnTo>
                <a:lnTo>
                  <a:pt x="1408033" y="179666"/>
                </a:lnTo>
                <a:lnTo>
                  <a:pt x="1411510" y="181022"/>
                </a:lnTo>
                <a:lnTo>
                  <a:pt x="1414986" y="182378"/>
                </a:lnTo>
                <a:lnTo>
                  <a:pt x="1418463" y="183734"/>
                </a:lnTo>
                <a:lnTo>
                  <a:pt x="1421940" y="185089"/>
                </a:lnTo>
                <a:lnTo>
                  <a:pt x="1425416" y="186443"/>
                </a:lnTo>
                <a:lnTo>
                  <a:pt x="1428893" y="187796"/>
                </a:lnTo>
                <a:lnTo>
                  <a:pt x="1432370" y="189148"/>
                </a:lnTo>
                <a:lnTo>
                  <a:pt x="1435846" y="190499"/>
                </a:lnTo>
                <a:lnTo>
                  <a:pt x="1439323" y="191849"/>
                </a:lnTo>
                <a:lnTo>
                  <a:pt x="1442799" y="193198"/>
                </a:lnTo>
                <a:lnTo>
                  <a:pt x="1446276" y="194546"/>
                </a:lnTo>
                <a:lnTo>
                  <a:pt x="1449753" y="195893"/>
                </a:lnTo>
                <a:lnTo>
                  <a:pt x="1453229" y="197238"/>
                </a:lnTo>
                <a:lnTo>
                  <a:pt x="1456706" y="198581"/>
                </a:lnTo>
                <a:lnTo>
                  <a:pt x="1460182" y="199923"/>
                </a:lnTo>
                <a:lnTo>
                  <a:pt x="1463659" y="201263"/>
                </a:lnTo>
                <a:lnTo>
                  <a:pt x="1467136" y="202602"/>
                </a:lnTo>
                <a:lnTo>
                  <a:pt x="1470612" y="203938"/>
                </a:lnTo>
                <a:lnTo>
                  <a:pt x="1474089" y="205273"/>
                </a:lnTo>
                <a:lnTo>
                  <a:pt x="1477566" y="206606"/>
                </a:lnTo>
                <a:lnTo>
                  <a:pt x="1481042" y="207936"/>
                </a:lnTo>
                <a:lnTo>
                  <a:pt x="1484519" y="209265"/>
                </a:lnTo>
                <a:lnTo>
                  <a:pt x="1487996" y="210591"/>
                </a:lnTo>
                <a:lnTo>
                  <a:pt x="1491472" y="211915"/>
                </a:lnTo>
                <a:lnTo>
                  <a:pt x="1494949" y="213236"/>
                </a:lnTo>
                <a:lnTo>
                  <a:pt x="1498425" y="214556"/>
                </a:lnTo>
                <a:lnTo>
                  <a:pt x="1501902" y="215872"/>
                </a:lnTo>
                <a:lnTo>
                  <a:pt x="1505379" y="217186"/>
                </a:lnTo>
                <a:lnTo>
                  <a:pt x="1508855" y="218497"/>
                </a:lnTo>
                <a:lnTo>
                  <a:pt x="1512332" y="219805"/>
                </a:lnTo>
                <a:lnTo>
                  <a:pt x="1515808" y="221110"/>
                </a:lnTo>
                <a:lnTo>
                  <a:pt x="1519285" y="222413"/>
                </a:lnTo>
                <a:lnTo>
                  <a:pt x="1522762" y="223712"/>
                </a:lnTo>
                <a:lnTo>
                  <a:pt x="1526238" y="225008"/>
                </a:lnTo>
                <a:lnTo>
                  <a:pt x="1529715" y="226301"/>
                </a:lnTo>
                <a:lnTo>
                  <a:pt x="1533192" y="227591"/>
                </a:lnTo>
                <a:lnTo>
                  <a:pt x="1536668" y="228877"/>
                </a:lnTo>
                <a:lnTo>
                  <a:pt x="1540145" y="230160"/>
                </a:lnTo>
                <a:lnTo>
                  <a:pt x="1543621" y="231439"/>
                </a:lnTo>
                <a:lnTo>
                  <a:pt x="1547098" y="232715"/>
                </a:lnTo>
                <a:lnTo>
                  <a:pt x="1550575" y="233987"/>
                </a:lnTo>
                <a:lnTo>
                  <a:pt x="1554051" y="235255"/>
                </a:lnTo>
                <a:lnTo>
                  <a:pt x="1557528" y="236520"/>
                </a:lnTo>
                <a:lnTo>
                  <a:pt x="1561005" y="237780"/>
                </a:lnTo>
                <a:lnTo>
                  <a:pt x="1564481" y="239037"/>
                </a:lnTo>
                <a:lnTo>
                  <a:pt x="1567958" y="240289"/>
                </a:lnTo>
                <a:lnTo>
                  <a:pt x="1571435" y="241537"/>
                </a:lnTo>
                <a:lnTo>
                  <a:pt x="1574911" y="242781"/>
                </a:lnTo>
                <a:lnTo>
                  <a:pt x="1578388" y="244021"/>
                </a:lnTo>
                <a:lnTo>
                  <a:pt x="1581864" y="245256"/>
                </a:lnTo>
                <a:lnTo>
                  <a:pt x="1585341" y="246487"/>
                </a:lnTo>
                <a:lnTo>
                  <a:pt x="1588818" y="247713"/>
                </a:lnTo>
                <a:lnTo>
                  <a:pt x="1592294" y="248935"/>
                </a:lnTo>
                <a:lnTo>
                  <a:pt x="1595771" y="250152"/>
                </a:lnTo>
                <a:lnTo>
                  <a:pt x="1599247" y="251364"/>
                </a:lnTo>
                <a:lnTo>
                  <a:pt x="1602724" y="252571"/>
                </a:lnTo>
                <a:lnTo>
                  <a:pt x="1606201" y="253774"/>
                </a:lnTo>
                <a:lnTo>
                  <a:pt x="1609677" y="254971"/>
                </a:lnTo>
                <a:lnTo>
                  <a:pt x="1613154" y="256164"/>
                </a:lnTo>
                <a:lnTo>
                  <a:pt x="1616631" y="257351"/>
                </a:lnTo>
                <a:lnTo>
                  <a:pt x="1620107" y="258533"/>
                </a:lnTo>
                <a:lnTo>
                  <a:pt x="1623584" y="259710"/>
                </a:lnTo>
                <a:lnTo>
                  <a:pt x="1627060" y="260881"/>
                </a:lnTo>
                <a:lnTo>
                  <a:pt x="1630537" y="262047"/>
                </a:lnTo>
                <a:lnTo>
                  <a:pt x="1634014" y="263208"/>
                </a:lnTo>
                <a:lnTo>
                  <a:pt x="1637490" y="264363"/>
                </a:lnTo>
                <a:lnTo>
                  <a:pt x="1640967" y="265512"/>
                </a:lnTo>
                <a:lnTo>
                  <a:pt x="1644444" y="266655"/>
                </a:lnTo>
                <a:lnTo>
                  <a:pt x="1647920" y="267793"/>
                </a:lnTo>
                <a:lnTo>
                  <a:pt x="1651397" y="268925"/>
                </a:lnTo>
                <a:lnTo>
                  <a:pt x="1654874" y="270051"/>
                </a:lnTo>
                <a:lnTo>
                  <a:pt x="1658350" y="271171"/>
                </a:lnTo>
                <a:lnTo>
                  <a:pt x="1661827" y="272285"/>
                </a:lnTo>
                <a:lnTo>
                  <a:pt x="1665303" y="273393"/>
                </a:lnTo>
                <a:lnTo>
                  <a:pt x="1668780" y="274494"/>
                </a:lnTo>
                <a:lnTo>
                  <a:pt x="1672257" y="275590"/>
                </a:lnTo>
                <a:lnTo>
                  <a:pt x="1675733" y="276679"/>
                </a:lnTo>
                <a:lnTo>
                  <a:pt x="1679210" y="277761"/>
                </a:lnTo>
                <a:lnTo>
                  <a:pt x="1682686" y="278837"/>
                </a:lnTo>
                <a:lnTo>
                  <a:pt x="1686163" y="279907"/>
                </a:lnTo>
                <a:lnTo>
                  <a:pt x="1689640" y="280970"/>
                </a:lnTo>
                <a:lnTo>
                  <a:pt x="1693116" y="282026"/>
                </a:lnTo>
                <a:lnTo>
                  <a:pt x="1696593" y="283076"/>
                </a:lnTo>
                <a:lnTo>
                  <a:pt x="1700070" y="284119"/>
                </a:lnTo>
                <a:lnTo>
                  <a:pt x="1703546" y="285155"/>
                </a:lnTo>
                <a:lnTo>
                  <a:pt x="1707023" y="286184"/>
                </a:lnTo>
                <a:lnTo>
                  <a:pt x="1710500" y="287206"/>
                </a:lnTo>
                <a:lnTo>
                  <a:pt x="1713976" y="288220"/>
                </a:lnTo>
                <a:lnTo>
                  <a:pt x="1717453" y="289228"/>
                </a:lnTo>
                <a:lnTo>
                  <a:pt x="1720929" y="290229"/>
                </a:lnTo>
                <a:lnTo>
                  <a:pt x="1724406" y="291222"/>
                </a:lnTo>
                <a:lnTo>
                  <a:pt x="1727883" y="292209"/>
                </a:lnTo>
                <a:lnTo>
                  <a:pt x="1731359" y="293187"/>
                </a:lnTo>
                <a:lnTo>
                  <a:pt x="1734836" y="294159"/>
                </a:lnTo>
                <a:lnTo>
                  <a:pt x="1738313" y="295122"/>
                </a:lnTo>
                <a:lnTo>
                  <a:pt x="1741789" y="296079"/>
                </a:lnTo>
                <a:lnTo>
                  <a:pt x="1745266" y="297028"/>
                </a:lnTo>
                <a:lnTo>
                  <a:pt x="1748742" y="297969"/>
                </a:lnTo>
                <a:lnTo>
                  <a:pt x="1752219" y="298902"/>
                </a:lnTo>
                <a:lnTo>
                  <a:pt x="1755696" y="299828"/>
                </a:lnTo>
                <a:lnTo>
                  <a:pt x="1759172" y="300745"/>
                </a:lnTo>
                <a:lnTo>
                  <a:pt x="1762649" y="301655"/>
                </a:lnTo>
                <a:lnTo>
                  <a:pt x="1766125" y="302557"/>
                </a:lnTo>
                <a:lnTo>
                  <a:pt x="1769602" y="303451"/>
                </a:lnTo>
                <a:lnTo>
                  <a:pt x="1773079" y="304337"/>
                </a:lnTo>
                <a:lnTo>
                  <a:pt x="1776555" y="305215"/>
                </a:lnTo>
                <a:lnTo>
                  <a:pt x="1780032" y="306084"/>
                </a:lnTo>
                <a:lnTo>
                  <a:pt x="1783509" y="306945"/>
                </a:lnTo>
                <a:lnTo>
                  <a:pt x="1786985" y="307799"/>
                </a:lnTo>
                <a:lnTo>
                  <a:pt x="1790462" y="308643"/>
                </a:lnTo>
                <a:lnTo>
                  <a:pt x="1793939" y="309480"/>
                </a:lnTo>
                <a:lnTo>
                  <a:pt x="1797415" y="310308"/>
                </a:lnTo>
                <a:lnTo>
                  <a:pt x="1800892" y="311127"/>
                </a:lnTo>
                <a:lnTo>
                  <a:pt x="1804368" y="311938"/>
                </a:lnTo>
                <a:lnTo>
                  <a:pt x="1807845" y="312741"/>
                </a:lnTo>
                <a:lnTo>
                  <a:pt x="1811322" y="313534"/>
                </a:lnTo>
                <a:lnTo>
                  <a:pt x="1814798" y="314319"/>
                </a:lnTo>
                <a:lnTo>
                  <a:pt x="1818275" y="315096"/>
                </a:lnTo>
                <a:lnTo>
                  <a:pt x="1821752" y="315863"/>
                </a:lnTo>
                <a:lnTo>
                  <a:pt x="1825228" y="316622"/>
                </a:lnTo>
                <a:lnTo>
                  <a:pt x="1828705" y="317372"/>
                </a:lnTo>
                <a:lnTo>
                  <a:pt x="1832181" y="318113"/>
                </a:lnTo>
                <a:lnTo>
                  <a:pt x="1835658" y="318845"/>
                </a:lnTo>
                <a:lnTo>
                  <a:pt x="1839135" y="319568"/>
                </a:lnTo>
                <a:lnTo>
                  <a:pt x="1842611" y="320282"/>
                </a:lnTo>
                <a:lnTo>
                  <a:pt x="1846088" y="320987"/>
                </a:lnTo>
                <a:lnTo>
                  <a:pt x="1849565" y="321683"/>
                </a:lnTo>
                <a:lnTo>
                  <a:pt x="1853041" y="322369"/>
                </a:lnTo>
                <a:lnTo>
                  <a:pt x="1856518" y="323047"/>
                </a:lnTo>
                <a:lnTo>
                  <a:pt x="1859994" y="323715"/>
                </a:lnTo>
                <a:lnTo>
                  <a:pt x="1863471" y="324374"/>
                </a:lnTo>
                <a:lnTo>
                  <a:pt x="1866948" y="325023"/>
                </a:lnTo>
                <a:lnTo>
                  <a:pt x="1870424" y="325663"/>
                </a:lnTo>
                <a:lnTo>
                  <a:pt x="1873901" y="326294"/>
                </a:lnTo>
                <a:lnTo>
                  <a:pt x="1877378" y="326915"/>
                </a:lnTo>
                <a:lnTo>
                  <a:pt x="1880854" y="327527"/>
                </a:lnTo>
                <a:lnTo>
                  <a:pt x="1884331" y="328129"/>
                </a:lnTo>
                <a:lnTo>
                  <a:pt x="1887807" y="328721"/>
                </a:lnTo>
                <a:lnTo>
                  <a:pt x="1891284" y="329304"/>
                </a:lnTo>
                <a:lnTo>
                  <a:pt x="1894761" y="329877"/>
                </a:lnTo>
                <a:lnTo>
                  <a:pt x="1898237" y="330441"/>
                </a:lnTo>
                <a:lnTo>
                  <a:pt x="1901714" y="330995"/>
                </a:lnTo>
                <a:lnTo>
                  <a:pt x="1905190" y="331539"/>
                </a:lnTo>
                <a:lnTo>
                  <a:pt x="1908667" y="332073"/>
                </a:lnTo>
                <a:lnTo>
                  <a:pt x="1912144" y="332598"/>
                </a:lnTo>
                <a:lnTo>
                  <a:pt x="1915620" y="333113"/>
                </a:lnTo>
                <a:lnTo>
                  <a:pt x="1919097" y="333617"/>
                </a:lnTo>
                <a:lnTo>
                  <a:pt x="1922574" y="334112"/>
                </a:lnTo>
                <a:lnTo>
                  <a:pt x="1926050" y="334597"/>
                </a:lnTo>
                <a:lnTo>
                  <a:pt x="1929527" y="335072"/>
                </a:lnTo>
                <a:lnTo>
                  <a:pt x="1933004" y="335537"/>
                </a:lnTo>
                <a:lnTo>
                  <a:pt x="1936480" y="335992"/>
                </a:lnTo>
                <a:lnTo>
                  <a:pt x="1939957" y="336437"/>
                </a:lnTo>
                <a:lnTo>
                  <a:pt x="1943433" y="336872"/>
                </a:lnTo>
                <a:lnTo>
                  <a:pt x="1946910" y="337296"/>
                </a:lnTo>
                <a:lnTo>
                  <a:pt x="1950387" y="337711"/>
                </a:lnTo>
                <a:lnTo>
                  <a:pt x="1953863" y="338115"/>
                </a:lnTo>
                <a:lnTo>
                  <a:pt x="1957340" y="338509"/>
                </a:lnTo>
                <a:lnTo>
                  <a:pt x="1960817" y="338893"/>
                </a:lnTo>
                <a:lnTo>
                  <a:pt x="1964293" y="339267"/>
                </a:lnTo>
                <a:lnTo>
                  <a:pt x="1967770" y="339630"/>
                </a:lnTo>
                <a:lnTo>
                  <a:pt x="1971246" y="339983"/>
                </a:lnTo>
                <a:lnTo>
                  <a:pt x="1974723" y="340326"/>
                </a:lnTo>
                <a:lnTo>
                  <a:pt x="1978200" y="340659"/>
                </a:lnTo>
                <a:lnTo>
                  <a:pt x="1981676" y="340981"/>
                </a:lnTo>
                <a:lnTo>
                  <a:pt x="1985153" y="341293"/>
                </a:lnTo>
                <a:lnTo>
                  <a:pt x="1988629" y="341594"/>
                </a:lnTo>
                <a:lnTo>
                  <a:pt x="1992106" y="341885"/>
                </a:lnTo>
                <a:lnTo>
                  <a:pt x="1995583" y="342166"/>
                </a:lnTo>
                <a:lnTo>
                  <a:pt x="1999059" y="342436"/>
                </a:lnTo>
                <a:lnTo>
                  <a:pt x="2002536" y="342695"/>
                </a:lnTo>
                <a:lnTo>
                  <a:pt x="2006013" y="342945"/>
                </a:lnTo>
                <a:lnTo>
                  <a:pt x="2009489" y="343183"/>
                </a:lnTo>
                <a:lnTo>
                  <a:pt x="2012966" y="343411"/>
                </a:lnTo>
                <a:lnTo>
                  <a:pt x="2016443" y="343629"/>
                </a:lnTo>
                <a:lnTo>
                  <a:pt x="2019919" y="343836"/>
                </a:lnTo>
                <a:lnTo>
                  <a:pt x="2023396" y="344033"/>
                </a:lnTo>
                <a:lnTo>
                  <a:pt x="2026872" y="344219"/>
                </a:lnTo>
                <a:lnTo>
                  <a:pt x="2030349" y="344394"/>
                </a:lnTo>
                <a:lnTo>
                  <a:pt x="2033826" y="344559"/>
                </a:lnTo>
                <a:lnTo>
                  <a:pt x="2037302" y="344713"/>
                </a:lnTo>
                <a:lnTo>
                  <a:pt x="2040779" y="344857"/>
                </a:lnTo>
                <a:lnTo>
                  <a:pt x="2044256" y="344990"/>
                </a:lnTo>
                <a:lnTo>
                  <a:pt x="2047732" y="345113"/>
                </a:lnTo>
                <a:lnTo>
                  <a:pt x="2051209" y="345225"/>
                </a:lnTo>
                <a:lnTo>
                  <a:pt x="2054685" y="345326"/>
                </a:lnTo>
                <a:lnTo>
                  <a:pt x="2058162" y="345416"/>
                </a:lnTo>
                <a:lnTo>
                  <a:pt x="2061639" y="345496"/>
                </a:lnTo>
                <a:lnTo>
                  <a:pt x="2065115" y="345566"/>
                </a:lnTo>
                <a:lnTo>
                  <a:pt x="2068592" y="345624"/>
                </a:lnTo>
                <a:lnTo>
                  <a:pt x="2072068" y="345672"/>
                </a:lnTo>
                <a:lnTo>
                  <a:pt x="2075545" y="345710"/>
                </a:lnTo>
                <a:lnTo>
                  <a:pt x="2079022" y="345736"/>
                </a:lnTo>
                <a:lnTo>
                  <a:pt x="2082498" y="345752"/>
                </a:lnTo>
                <a:lnTo>
                  <a:pt x="2085975" y="345757"/>
                </a:lnTo>
                <a:lnTo>
                  <a:pt x="2089452" y="345752"/>
                </a:lnTo>
                <a:lnTo>
                  <a:pt x="2092928" y="345736"/>
                </a:lnTo>
                <a:lnTo>
                  <a:pt x="2096405" y="345710"/>
                </a:lnTo>
                <a:lnTo>
                  <a:pt x="2099882" y="345672"/>
                </a:lnTo>
                <a:lnTo>
                  <a:pt x="2103358" y="345624"/>
                </a:lnTo>
                <a:lnTo>
                  <a:pt x="2106835" y="345566"/>
                </a:lnTo>
                <a:lnTo>
                  <a:pt x="2110311" y="345496"/>
                </a:lnTo>
                <a:lnTo>
                  <a:pt x="2113788" y="345416"/>
                </a:lnTo>
                <a:lnTo>
                  <a:pt x="2117265" y="345326"/>
                </a:lnTo>
                <a:lnTo>
                  <a:pt x="2120741" y="345225"/>
                </a:lnTo>
                <a:lnTo>
                  <a:pt x="2124218" y="345113"/>
                </a:lnTo>
                <a:lnTo>
                  <a:pt x="2127695" y="344990"/>
                </a:lnTo>
                <a:lnTo>
                  <a:pt x="2131171" y="344857"/>
                </a:lnTo>
                <a:lnTo>
                  <a:pt x="2134648" y="344713"/>
                </a:lnTo>
                <a:lnTo>
                  <a:pt x="2138124" y="344559"/>
                </a:lnTo>
                <a:lnTo>
                  <a:pt x="2141601" y="344394"/>
                </a:lnTo>
                <a:lnTo>
                  <a:pt x="2145078" y="344219"/>
                </a:lnTo>
                <a:lnTo>
                  <a:pt x="2148554" y="344033"/>
                </a:lnTo>
                <a:lnTo>
                  <a:pt x="2152031" y="343836"/>
                </a:lnTo>
                <a:lnTo>
                  <a:pt x="2155507" y="343629"/>
                </a:lnTo>
                <a:lnTo>
                  <a:pt x="2158984" y="343411"/>
                </a:lnTo>
                <a:lnTo>
                  <a:pt x="2162461" y="343183"/>
                </a:lnTo>
                <a:lnTo>
                  <a:pt x="2165937" y="342945"/>
                </a:lnTo>
                <a:lnTo>
                  <a:pt x="2169414" y="342695"/>
                </a:lnTo>
                <a:lnTo>
                  <a:pt x="2172891" y="342436"/>
                </a:lnTo>
                <a:lnTo>
                  <a:pt x="2176367" y="342166"/>
                </a:lnTo>
                <a:lnTo>
                  <a:pt x="2179844" y="341885"/>
                </a:lnTo>
                <a:lnTo>
                  <a:pt x="2183321" y="341594"/>
                </a:lnTo>
                <a:lnTo>
                  <a:pt x="2186797" y="341293"/>
                </a:lnTo>
                <a:lnTo>
                  <a:pt x="2190274" y="340981"/>
                </a:lnTo>
                <a:lnTo>
                  <a:pt x="2193750" y="340659"/>
                </a:lnTo>
                <a:lnTo>
                  <a:pt x="2197227" y="340326"/>
                </a:lnTo>
                <a:lnTo>
                  <a:pt x="2200704" y="339983"/>
                </a:lnTo>
                <a:lnTo>
                  <a:pt x="2204180" y="339630"/>
                </a:lnTo>
                <a:lnTo>
                  <a:pt x="2207657" y="339267"/>
                </a:lnTo>
                <a:lnTo>
                  <a:pt x="2211134" y="338893"/>
                </a:lnTo>
                <a:lnTo>
                  <a:pt x="2214610" y="338509"/>
                </a:lnTo>
                <a:lnTo>
                  <a:pt x="2218087" y="338115"/>
                </a:lnTo>
                <a:lnTo>
                  <a:pt x="2221563" y="337711"/>
                </a:lnTo>
                <a:lnTo>
                  <a:pt x="2225040" y="337296"/>
                </a:lnTo>
                <a:lnTo>
                  <a:pt x="2228517" y="336872"/>
                </a:lnTo>
                <a:lnTo>
                  <a:pt x="2231993" y="336437"/>
                </a:lnTo>
                <a:lnTo>
                  <a:pt x="2235470" y="335992"/>
                </a:lnTo>
                <a:lnTo>
                  <a:pt x="2238946" y="335537"/>
                </a:lnTo>
                <a:lnTo>
                  <a:pt x="2242423" y="335072"/>
                </a:lnTo>
                <a:lnTo>
                  <a:pt x="2245900" y="334597"/>
                </a:lnTo>
                <a:lnTo>
                  <a:pt x="2249376" y="334112"/>
                </a:lnTo>
                <a:lnTo>
                  <a:pt x="2252853" y="333617"/>
                </a:lnTo>
                <a:lnTo>
                  <a:pt x="2256330" y="333113"/>
                </a:lnTo>
                <a:lnTo>
                  <a:pt x="2259806" y="332598"/>
                </a:lnTo>
                <a:lnTo>
                  <a:pt x="2263283" y="332073"/>
                </a:lnTo>
                <a:lnTo>
                  <a:pt x="2266760" y="331539"/>
                </a:lnTo>
                <a:lnTo>
                  <a:pt x="2270236" y="330995"/>
                </a:lnTo>
                <a:lnTo>
                  <a:pt x="2273713" y="330441"/>
                </a:lnTo>
                <a:lnTo>
                  <a:pt x="2277189" y="329877"/>
                </a:lnTo>
                <a:lnTo>
                  <a:pt x="2280666" y="329304"/>
                </a:lnTo>
                <a:lnTo>
                  <a:pt x="2284143" y="328721"/>
                </a:lnTo>
                <a:lnTo>
                  <a:pt x="2287619" y="328129"/>
                </a:lnTo>
                <a:lnTo>
                  <a:pt x="2291096" y="327527"/>
                </a:lnTo>
                <a:lnTo>
                  <a:pt x="2294573" y="326915"/>
                </a:lnTo>
                <a:lnTo>
                  <a:pt x="2298049" y="326294"/>
                </a:lnTo>
                <a:lnTo>
                  <a:pt x="2301526" y="325663"/>
                </a:lnTo>
                <a:lnTo>
                  <a:pt x="2305002" y="325023"/>
                </a:lnTo>
                <a:lnTo>
                  <a:pt x="2308479" y="324374"/>
                </a:lnTo>
                <a:lnTo>
                  <a:pt x="2311956" y="323715"/>
                </a:lnTo>
                <a:lnTo>
                  <a:pt x="2315432" y="323047"/>
                </a:lnTo>
                <a:lnTo>
                  <a:pt x="2318909" y="322369"/>
                </a:lnTo>
                <a:lnTo>
                  <a:pt x="2322385" y="321683"/>
                </a:lnTo>
                <a:lnTo>
                  <a:pt x="2325862" y="320987"/>
                </a:lnTo>
                <a:lnTo>
                  <a:pt x="2329339" y="320282"/>
                </a:lnTo>
                <a:lnTo>
                  <a:pt x="2332815" y="319568"/>
                </a:lnTo>
                <a:lnTo>
                  <a:pt x="2336292" y="318845"/>
                </a:lnTo>
                <a:lnTo>
                  <a:pt x="2339769" y="318113"/>
                </a:lnTo>
                <a:lnTo>
                  <a:pt x="2343245" y="317372"/>
                </a:lnTo>
                <a:lnTo>
                  <a:pt x="2346722" y="316622"/>
                </a:lnTo>
                <a:lnTo>
                  <a:pt x="2350199" y="315863"/>
                </a:lnTo>
                <a:lnTo>
                  <a:pt x="2353675" y="315096"/>
                </a:lnTo>
                <a:lnTo>
                  <a:pt x="2357152" y="314319"/>
                </a:lnTo>
                <a:lnTo>
                  <a:pt x="2360628" y="313534"/>
                </a:lnTo>
                <a:lnTo>
                  <a:pt x="2364105" y="312741"/>
                </a:lnTo>
                <a:lnTo>
                  <a:pt x="2367582" y="311938"/>
                </a:lnTo>
                <a:lnTo>
                  <a:pt x="2371058" y="311127"/>
                </a:lnTo>
                <a:lnTo>
                  <a:pt x="2374535" y="310308"/>
                </a:lnTo>
                <a:lnTo>
                  <a:pt x="2378011" y="309480"/>
                </a:lnTo>
                <a:lnTo>
                  <a:pt x="2381488" y="308643"/>
                </a:lnTo>
                <a:lnTo>
                  <a:pt x="2384965" y="307799"/>
                </a:lnTo>
                <a:lnTo>
                  <a:pt x="2388441" y="306945"/>
                </a:lnTo>
                <a:lnTo>
                  <a:pt x="2391918" y="306084"/>
                </a:lnTo>
                <a:lnTo>
                  <a:pt x="2395395" y="305215"/>
                </a:lnTo>
                <a:lnTo>
                  <a:pt x="2398871" y="304337"/>
                </a:lnTo>
                <a:lnTo>
                  <a:pt x="2402348" y="303451"/>
                </a:lnTo>
                <a:lnTo>
                  <a:pt x="2405825" y="302557"/>
                </a:lnTo>
                <a:lnTo>
                  <a:pt x="2409301" y="301655"/>
                </a:lnTo>
                <a:lnTo>
                  <a:pt x="2412778" y="300745"/>
                </a:lnTo>
                <a:lnTo>
                  <a:pt x="2416254" y="299828"/>
                </a:lnTo>
                <a:lnTo>
                  <a:pt x="2419731" y="298902"/>
                </a:lnTo>
                <a:lnTo>
                  <a:pt x="2423208" y="297969"/>
                </a:lnTo>
                <a:lnTo>
                  <a:pt x="2426684" y="297028"/>
                </a:lnTo>
                <a:lnTo>
                  <a:pt x="2430161" y="296079"/>
                </a:lnTo>
                <a:lnTo>
                  <a:pt x="2433638" y="295122"/>
                </a:lnTo>
                <a:lnTo>
                  <a:pt x="2437114" y="294159"/>
                </a:lnTo>
                <a:lnTo>
                  <a:pt x="2440591" y="293187"/>
                </a:lnTo>
                <a:lnTo>
                  <a:pt x="2444067" y="292209"/>
                </a:lnTo>
                <a:lnTo>
                  <a:pt x="2447544" y="291222"/>
                </a:lnTo>
                <a:lnTo>
                  <a:pt x="2451021" y="290229"/>
                </a:lnTo>
                <a:lnTo>
                  <a:pt x="2454497" y="289228"/>
                </a:lnTo>
                <a:lnTo>
                  <a:pt x="2457974" y="288220"/>
                </a:lnTo>
                <a:lnTo>
                  <a:pt x="2461451" y="287206"/>
                </a:lnTo>
                <a:lnTo>
                  <a:pt x="2464927" y="286184"/>
                </a:lnTo>
                <a:lnTo>
                  <a:pt x="2468404" y="285155"/>
                </a:lnTo>
                <a:lnTo>
                  <a:pt x="2471880" y="284119"/>
                </a:lnTo>
                <a:lnTo>
                  <a:pt x="2475357" y="283076"/>
                </a:lnTo>
                <a:lnTo>
                  <a:pt x="2478834" y="282026"/>
                </a:lnTo>
                <a:lnTo>
                  <a:pt x="2482310" y="280970"/>
                </a:lnTo>
                <a:lnTo>
                  <a:pt x="2485787" y="279907"/>
                </a:lnTo>
                <a:lnTo>
                  <a:pt x="2489263" y="278837"/>
                </a:lnTo>
                <a:lnTo>
                  <a:pt x="2492740" y="277761"/>
                </a:lnTo>
                <a:lnTo>
                  <a:pt x="2496217" y="276679"/>
                </a:lnTo>
                <a:lnTo>
                  <a:pt x="2499693" y="275590"/>
                </a:lnTo>
                <a:lnTo>
                  <a:pt x="2503170" y="274494"/>
                </a:lnTo>
                <a:lnTo>
                  <a:pt x="2506647" y="273393"/>
                </a:lnTo>
                <a:lnTo>
                  <a:pt x="2510123" y="272285"/>
                </a:lnTo>
                <a:lnTo>
                  <a:pt x="2513600" y="271171"/>
                </a:lnTo>
                <a:lnTo>
                  <a:pt x="2517077" y="270051"/>
                </a:lnTo>
                <a:lnTo>
                  <a:pt x="2520553" y="268925"/>
                </a:lnTo>
                <a:lnTo>
                  <a:pt x="2524030" y="267793"/>
                </a:lnTo>
                <a:lnTo>
                  <a:pt x="2527506" y="266655"/>
                </a:lnTo>
                <a:lnTo>
                  <a:pt x="2530983" y="265512"/>
                </a:lnTo>
                <a:lnTo>
                  <a:pt x="2534460" y="264363"/>
                </a:lnTo>
                <a:lnTo>
                  <a:pt x="2537936" y="263208"/>
                </a:lnTo>
                <a:lnTo>
                  <a:pt x="2541413" y="262047"/>
                </a:lnTo>
                <a:lnTo>
                  <a:pt x="2544890" y="260881"/>
                </a:lnTo>
                <a:lnTo>
                  <a:pt x="2548366" y="259710"/>
                </a:lnTo>
                <a:lnTo>
                  <a:pt x="2551843" y="258533"/>
                </a:lnTo>
                <a:lnTo>
                  <a:pt x="2555319" y="257351"/>
                </a:lnTo>
                <a:lnTo>
                  <a:pt x="2558796" y="256164"/>
                </a:lnTo>
                <a:lnTo>
                  <a:pt x="2562273" y="254971"/>
                </a:lnTo>
                <a:lnTo>
                  <a:pt x="2565749" y="253774"/>
                </a:lnTo>
                <a:lnTo>
                  <a:pt x="2569226" y="252571"/>
                </a:lnTo>
                <a:lnTo>
                  <a:pt x="2572703" y="251364"/>
                </a:lnTo>
                <a:lnTo>
                  <a:pt x="2576179" y="250152"/>
                </a:lnTo>
                <a:lnTo>
                  <a:pt x="2579656" y="248935"/>
                </a:lnTo>
                <a:lnTo>
                  <a:pt x="2583132" y="247713"/>
                </a:lnTo>
                <a:lnTo>
                  <a:pt x="2586609" y="246487"/>
                </a:lnTo>
                <a:lnTo>
                  <a:pt x="2590086" y="245256"/>
                </a:lnTo>
                <a:lnTo>
                  <a:pt x="2593562" y="244021"/>
                </a:lnTo>
                <a:lnTo>
                  <a:pt x="2597039" y="242781"/>
                </a:lnTo>
                <a:lnTo>
                  <a:pt x="2600516" y="241537"/>
                </a:lnTo>
                <a:lnTo>
                  <a:pt x="2603992" y="240289"/>
                </a:lnTo>
                <a:lnTo>
                  <a:pt x="2607469" y="239037"/>
                </a:lnTo>
                <a:lnTo>
                  <a:pt x="2610945" y="237780"/>
                </a:lnTo>
                <a:lnTo>
                  <a:pt x="2614422" y="236520"/>
                </a:lnTo>
                <a:lnTo>
                  <a:pt x="2617899" y="235255"/>
                </a:lnTo>
                <a:lnTo>
                  <a:pt x="2621375" y="233987"/>
                </a:lnTo>
                <a:lnTo>
                  <a:pt x="2624852" y="232715"/>
                </a:lnTo>
                <a:lnTo>
                  <a:pt x="2628329" y="231439"/>
                </a:lnTo>
                <a:lnTo>
                  <a:pt x="2631805" y="230160"/>
                </a:lnTo>
                <a:lnTo>
                  <a:pt x="2635282" y="228877"/>
                </a:lnTo>
                <a:lnTo>
                  <a:pt x="2638758" y="227591"/>
                </a:lnTo>
                <a:lnTo>
                  <a:pt x="2642235" y="226301"/>
                </a:lnTo>
                <a:lnTo>
                  <a:pt x="2645712" y="225008"/>
                </a:lnTo>
                <a:lnTo>
                  <a:pt x="2649188" y="223712"/>
                </a:lnTo>
                <a:lnTo>
                  <a:pt x="2652665" y="222413"/>
                </a:lnTo>
                <a:lnTo>
                  <a:pt x="2656142" y="221110"/>
                </a:lnTo>
                <a:lnTo>
                  <a:pt x="2659618" y="219805"/>
                </a:lnTo>
                <a:lnTo>
                  <a:pt x="2663095" y="218497"/>
                </a:lnTo>
                <a:lnTo>
                  <a:pt x="2666571" y="217186"/>
                </a:lnTo>
                <a:lnTo>
                  <a:pt x="2670048" y="215872"/>
                </a:lnTo>
                <a:lnTo>
                  <a:pt x="2673525" y="214556"/>
                </a:lnTo>
                <a:lnTo>
                  <a:pt x="2677001" y="213236"/>
                </a:lnTo>
                <a:lnTo>
                  <a:pt x="2680478" y="211915"/>
                </a:lnTo>
                <a:lnTo>
                  <a:pt x="2683954" y="210591"/>
                </a:lnTo>
                <a:lnTo>
                  <a:pt x="2687431" y="209265"/>
                </a:lnTo>
                <a:lnTo>
                  <a:pt x="2690908" y="207936"/>
                </a:lnTo>
                <a:lnTo>
                  <a:pt x="2694384" y="206606"/>
                </a:lnTo>
                <a:lnTo>
                  <a:pt x="2697861" y="205273"/>
                </a:lnTo>
                <a:lnTo>
                  <a:pt x="2701338" y="203938"/>
                </a:lnTo>
                <a:lnTo>
                  <a:pt x="2704814" y="202602"/>
                </a:lnTo>
                <a:lnTo>
                  <a:pt x="2708291" y="201263"/>
                </a:lnTo>
                <a:lnTo>
                  <a:pt x="2711768" y="199923"/>
                </a:lnTo>
                <a:lnTo>
                  <a:pt x="2715244" y="198581"/>
                </a:lnTo>
                <a:lnTo>
                  <a:pt x="2718721" y="197238"/>
                </a:lnTo>
                <a:lnTo>
                  <a:pt x="2722197" y="195893"/>
                </a:lnTo>
                <a:lnTo>
                  <a:pt x="2725674" y="194546"/>
                </a:lnTo>
                <a:lnTo>
                  <a:pt x="2729151" y="193198"/>
                </a:lnTo>
                <a:lnTo>
                  <a:pt x="2732627" y="191849"/>
                </a:lnTo>
                <a:lnTo>
                  <a:pt x="2736104" y="190499"/>
                </a:lnTo>
                <a:lnTo>
                  <a:pt x="2739581" y="189148"/>
                </a:lnTo>
                <a:lnTo>
                  <a:pt x="2743057" y="187796"/>
                </a:lnTo>
                <a:lnTo>
                  <a:pt x="2746534" y="186443"/>
                </a:lnTo>
                <a:lnTo>
                  <a:pt x="2750010" y="185089"/>
                </a:lnTo>
                <a:lnTo>
                  <a:pt x="2753487" y="183734"/>
                </a:lnTo>
                <a:lnTo>
                  <a:pt x="2756964" y="182378"/>
                </a:lnTo>
                <a:lnTo>
                  <a:pt x="2760440" y="181022"/>
                </a:lnTo>
                <a:lnTo>
                  <a:pt x="2763917" y="179666"/>
                </a:lnTo>
                <a:lnTo>
                  <a:pt x="2767393" y="178309"/>
                </a:lnTo>
                <a:lnTo>
                  <a:pt x="2770870" y="176952"/>
                </a:lnTo>
                <a:lnTo>
                  <a:pt x="2774347" y="175594"/>
                </a:lnTo>
                <a:lnTo>
                  <a:pt x="2777823" y="174237"/>
                </a:lnTo>
                <a:lnTo>
                  <a:pt x="2781300" y="172879"/>
                </a:lnTo>
              </a:path>
            </a:pathLst>
          </a:custGeom>
          <a:noFill xmlns:a="http://schemas.openxmlformats.org/drawingml/2006/main"/>
          <a:ln xmlns:a="http://schemas.openxmlformats.org/drawingml/2006/main" w="15240">
            <a:solidFill>
              <a:srgbClr val="202020"/>
            </a:solidFill>
          </a:ln>
        </p:spPr>
      </p:sp>
      <p:sp>
        <p:nvSpPr>
          <p:cNvPr id="20" name="!!am-am-envelope-g1-r0-level">
            <a:extLst xmlns:a="http://schemas.openxmlformats.org/drawingml/2006/main">
              <a:ext uri="{FF2B5EF4-FFF2-40B4-BE49-F238E27FC236}">
                <a16:creationId xmlns:a16="http://schemas.microsoft.com/office/drawing/2014/main" id="{65240B47-570F-40AA-B87C-76DEC24381F6}"/>
              </a:ext>
            </a:extLst>
          </p:cNvPr>
          <p:cNvSpPr>
            <a:spLocks xmlns:a="http://schemas.openxmlformats.org/drawingml/2006/main" noGrp="1"/>
          </p:cNvSpPr>
          <p:nvPr/>
        </p:nvSpPr>
        <p:spPr>
          <a:xfrm xmlns:a="http://schemas.openxmlformats.org/drawingml/2006/main">
            <a:off x="4572000" y="2921794"/>
            <a:ext cx="2781300" cy="9525"/>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21" name="!!am-am-subtract-arrow-line">
            <a:extLst xmlns:a="http://schemas.openxmlformats.org/drawingml/2006/main">
              <a:ext uri="{FF2B5EF4-FFF2-40B4-BE49-F238E27FC236}">
                <a16:creationId xmlns:a16="http://schemas.microsoft.com/office/drawing/2014/main" id="{C8E4083A-6797-405D-BE3E-68193ACC6A65}"/>
              </a:ext>
            </a:extLst>
          </p:cNvPr>
          <p:cNvSpPr>
            <a:spLocks xmlns:a="http://schemas.openxmlformats.org/drawingml/2006/main" noGrp="1"/>
          </p:cNvSpPr>
          <p:nvPr/>
        </p:nvSpPr>
        <p:spPr>
          <a:xfrm xmlns:a="http://schemas.openxmlformats.org/drawingml/2006/main">
            <a:off x="7581900" y="24098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2" name="!!am-am-subtract-arrow-head">
            <a:extLst xmlns:a="http://schemas.openxmlformats.org/drawingml/2006/main">
              <a:ext uri="{FF2B5EF4-FFF2-40B4-BE49-F238E27FC236}">
                <a16:creationId xmlns:a16="http://schemas.microsoft.com/office/drawing/2014/main" id="{9C72F58A-5E71-426E-8142-C8D6D197A683}"/>
              </a:ext>
            </a:extLst>
          </p:cNvPr>
          <p:cNvSpPr>
            <a:spLocks xmlns:a="http://schemas.openxmlformats.org/drawingml/2006/main" noGrp="1"/>
          </p:cNvSpPr>
          <p:nvPr/>
        </p:nvSpPr>
        <p:spPr>
          <a:xfrm xmlns:a="http://schemas.openxmlformats.org/drawingml/2006/main" rot="5400000">
            <a:off x="8229600" y="23622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3" name="!!am-am-envelope-g2-r0-wave">
            <a:extLst xmlns:a="http://schemas.openxmlformats.org/drawingml/2006/main">
              <a:ext uri="{FF2B5EF4-FFF2-40B4-BE49-F238E27FC236}">
                <a16:creationId xmlns:a16="http://schemas.microsoft.com/office/drawing/2014/main" id="{D5DBE071-DA0C-42E7-BC55-1DDF5A9D014F}"/>
              </a:ext>
            </a:extLst>
          </p:cNvPr>
          <p:cNvSpPr>
            <a:spLocks xmlns:a="http://schemas.openxmlformats.org/drawingml/2006/main" noGrp="1"/>
          </p:cNvSpPr>
          <p:nvPr/>
        </p:nvSpPr>
        <p:spPr>
          <a:xfrm xmlns:a="http://schemas.openxmlformats.org/drawingml/2006/main">
            <a:off x="8572500" y="3037046"/>
            <a:ext cx="2781300" cy="345757"/>
          </a:xfrm>
          <a:custGeom xmlns:a="http://schemas.openxmlformats.org/drawingml/2006/main">
            <a:pathLst>
              <a:path w="2781300" h="345757">
                <a:moveTo>
                  <a:pt x="0" y="172879"/>
                </a:moveTo>
                <a:lnTo>
                  <a:pt x="3477" y="171521"/>
                </a:lnTo>
                <a:lnTo>
                  <a:pt x="6953" y="170163"/>
                </a:lnTo>
                <a:lnTo>
                  <a:pt x="10430" y="168806"/>
                </a:lnTo>
                <a:lnTo>
                  <a:pt x="13907" y="167448"/>
                </a:lnTo>
                <a:lnTo>
                  <a:pt x="17383" y="166092"/>
                </a:lnTo>
                <a:lnTo>
                  <a:pt x="20860" y="164735"/>
                </a:lnTo>
                <a:lnTo>
                  <a:pt x="24336" y="163379"/>
                </a:lnTo>
                <a:lnTo>
                  <a:pt x="27813" y="162024"/>
                </a:lnTo>
                <a:lnTo>
                  <a:pt x="31290" y="160669"/>
                </a:lnTo>
                <a:lnTo>
                  <a:pt x="34766" y="159315"/>
                </a:lnTo>
                <a:lnTo>
                  <a:pt x="38243" y="157962"/>
                </a:lnTo>
                <a:lnTo>
                  <a:pt x="41719" y="156609"/>
                </a:lnTo>
                <a:lnTo>
                  <a:pt x="45196" y="155258"/>
                </a:lnTo>
                <a:lnTo>
                  <a:pt x="48673" y="153908"/>
                </a:lnTo>
                <a:lnTo>
                  <a:pt x="52149" y="152559"/>
                </a:lnTo>
                <a:lnTo>
                  <a:pt x="55626" y="151211"/>
                </a:lnTo>
                <a:lnTo>
                  <a:pt x="59103" y="149865"/>
                </a:lnTo>
                <a:lnTo>
                  <a:pt x="62579" y="148520"/>
                </a:lnTo>
                <a:lnTo>
                  <a:pt x="66056" y="147176"/>
                </a:lnTo>
                <a:lnTo>
                  <a:pt x="69532" y="145835"/>
                </a:lnTo>
                <a:lnTo>
                  <a:pt x="73009" y="144494"/>
                </a:lnTo>
                <a:lnTo>
                  <a:pt x="76486" y="143156"/>
                </a:lnTo>
                <a:lnTo>
                  <a:pt x="79962" y="141819"/>
                </a:lnTo>
                <a:lnTo>
                  <a:pt x="83439" y="140485"/>
                </a:lnTo>
                <a:lnTo>
                  <a:pt x="86916" y="139152"/>
                </a:lnTo>
                <a:lnTo>
                  <a:pt x="90392" y="137821"/>
                </a:lnTo>
                <a:lnTo>
                  <a:pt x="93869" y="136493"/>
                </a:lnTo>
                <a:lnTo>
                  <a:pt x="97346" y="135166"/>
                </a:lnTo>
                <a:lnTo>
                  <a:pt x="100822" y="133843"/>
                </a:lnTo>
                <a:lnTo>
                  <a:pt x="104299" y="132521"/>
                </a:lnTo>
                <a:lnTo>
                  <a:pt x="107775" y="131202"/>
                </a:lnTo>
                <a:lnTo>
                  <a:pt x="111252" y="129886"/>
                </a:lnTo>
                <a:lnTo>
                  <a:pt x="114729" y="128572"/>
                </a:lnTo>
                <a:lnTo>
                  <a:pt x="118205" y="127261"/>
                </a:lnTo>
                <a:lnTo>
                  <a:pt x="121682" y="125952"/>
                </a:lnTo>
                <a:lnTo>
                  <a:pt x="125158" y="124647"/>
                </a:lnTo>
                <a:lnTo>
                  <a:pt x="128635" y="123345"/>
                </a:lnTo>
                <a:lnTo>
                  <a:pt x="132112" y="122045"/>
                </a:lnTo>
                <a:lnTo>
                  <a:pt x="135588" y="120749"/>
                </a:lnTo>
                <a:lnTo>
                  <a:pt x="139065" y="119456"/>
                </a:lnTo>
                <a:lnTo>
                  <a:pt x="142542" y="118167"/>
                </a:lnTo>
                <a:lnTo>
                  <a:pt x="146018" y="116880"/>
                </a:lnTo>
                <a:lnTo>
                  <a:pt x="149495" y="115597"/>
                </a:lnTo>
                <a:lnTo>
                  <a:pt x="152971" y="114318"/>
                </a:lnTo>
                <a:lnTo>
                  <a:pt x="156448" y="113042"/>
                </a:lnTo>
                <a:lnTo>
                  <a:pt x="159925" y="111770"/>
                </a:lnTo>
                <a:lnTo>
                  <a:pt x="163401" y="110502"/>
                </a:lnTo>
                <a:lnTo>
                  <a:pt x="166878" y="109238"/>
                </a:lnTo>
                <a:lnTo>
                  <a:pt x="170355" y="107977"/>
                </a:lnTo>
                <a:lnTo>
                  <a:pt x="173831" y="106721"/>
                </a:lnTo>
                <a:lnTo>
                  <a:pt x="177308" y="105469"/>
                </a:lnTo>
                <a:lnTo>
                  <a:pt x="180785" y="104220"/>
                </a:lnTo>
                <a:lnTo>
                  <a:pt x="184261" y="102976"/>
                </a:lnTo>
                <a:lnTo>
                  <a:pt x="187738" y="101737"/>
                </a:lnTo>
                <a:lnTo>
                  <a:pt x="191214" y="100501"/>
                </a:lnTo>
                <a:lnTo>
                  <a:pt x="194691" y="99271"/>
                </a:lnTo>
                <a:lnTo>
                  <a:pt x="198168" y="98044"/>
                </a:lnTo>
                <a:lnTo>
                  <a:pt x="201644" y="96823"/>
                </a:lnTo>
                <a:lnTo>
                  <a:pt x="205121" y="95606"/>
                </a:lnTo>
                <a:lnTo>
                  <a:pt x="208597" y="94393"/>
                </a:lnTo>
                <a:lnTo>
                  <a:pt x="212074" y="93186"/>
                </a:lnTo>
                <a:lnTo>
                  <a:pt x="215551" y="91984"/>
                </a:lnTo>
                <a:lnTo>
                  <a:pt x="219027" y="90786"/>
                </a:lnTo>
                <a:lnTo>
                  <a:pt x="222504" y="89594"/>
                </a:lnTo>
                <a:lnTo>
                  <a:pt x="225981" y="88407"/>
                </a:lnTo>
                <a:lnTo>
                  <a:pt x="229457" y="87224"/>
                </a:lnTo>
                <a:lnTo>
                  <a:pt x="232934" y="86048"/>
                </a:lnTo>
                <a:lnTo>
                  <a:pt x="236411" y="84876"/>
                </a:lnTo>
                <a:lnTo>
                  <a:pt x="239887" y="83710"/>
                </a:lnTo>
                <a:lnTo>
                  <a:pt x="243364" y="82550"/>
                </a:lnTo>
                <a:lnTo>
                  <a:pt x="246840" y="81395"/>
                </a:lnTo>
                <a:lnTo>
                  <a:pt x="250317" y="80246"/>
                </a:lnTo>
                <a:lnTo>
                  <a:pt x="253794" y="79102"/>
                </a:lnTo>
                <a:lnTo>
                  <a:pt x="257270" y="77964"/>
                </a:lnTo>
                <a:lnTo>
                  <a:pt x="260747" y="76832"/>
                </a:lnTo>
                <a:lnTo>
                  <a:pt x="264224" y="75706"/>
                </a:lnTo>
                <a:lnTo>
                  <a:pt x="267700" y="74586"/>
                </a:lnTo>
                <a:lnTo>
                  <a:pt x="271177" y="73473"/>
                </a:lnTo>
                <a:lnTo>
                  <a:pt x="274653" y="72365"/>
                </a:lnTo>
                <a:lnTo>
                  <a:pt x="278130" y="71263"/>
                </a:lnTo>
                <a:lnTo>
                  <a:pt x="281607" y="70168"/>
                </a:lnTo>
                <a:lnTo>
                  <a:pt x="285083" y="69079"/>
                </a:lnTo>
                <a:lnTo>
                  <a:pt x="288560" y="67996"/>
                </a:lnTo>
                <a:lnTo>
                  <a:pt x="292036" y="66920"/>
                </a:lnTo>
                <a:lnTo>
                  <a:pt x="295513" y="65851"/>
                </a:lnTo>
                <a:lnTo>
                  <a:pt x="298990" y="64788"/>
                </a:lnTo>
                <a:lnTo>
                  <a:pt x="302466" y="63731"/>
                </a:lnTo>
                <a:lnTo>
                  <a:pt x="305943" y="62682"/>
                </a:lnTo>
                <a:lnTo>
                  <a:pt x="309420" y="61639"/>
                </a:lnTo>
                <a:lnTo>
                  <a:pt x="312896" y="60603"/>
                </a:lnTo>
                <a:lnTo>
                  <a:pt x="316373" y="59574"/>
                </a:lnTo>
                <a:lnTo>
                  <a:pt x="319850" y="58552"/>
                </a:lnTo>
                <a:lnTo>
                  <a:pt x="323326" y="57537"/>
                </a:lnTo>
                <a:lnTo>
                  <a:pt x="326803" y="56529"/>
                </a:lnTo>
                <a:lnTo>
                  <a:pt x="330279" y="55529"/>
                </a:lnTo>
                <a:lnTo>
                  <a:pt x="333756" y="54535"/>
                </a:lnTo>
                <a:lnTo>
                  <a:pt x="337233" y="53549"/>
                </a:lnTo>
                <a:lnTo>
                  <a:pt x="340709" y="52570"/>
                </a:lnTo>
                <a:lnTo>
                  <a:pt x="344186" y="51599"/>
                </a:lnTo>
                <a:lnTo>
                  <a:pt x="347663" y="50635"/>
                </a:lnTo>
                <a:lnTo>
                  <a:pt x="351139" y="49679"/>
                </a:lnTo>
                <a:lnTo>
                  <a:pt x="354616" y="48730"/>
                </a:lnTo>
                <a:lnTo>
                  <a:pt x="358092" y="47789"/>
                </a:lnTo>
                <a:lnTo>
                  <a:pt x="361569" y="46856"/>
                </a:lnTo>
                <a:lnTo>
                  <a:pt x="365046" y="45930"/>
                </a:lnTo>
                <a:lnTo>
                  <a:pt x="368522" y="45012"/>
                </a:lnTo>
                <a:lnTo>
                  <a:pt x="371999" y="44102"/>
                </a:lnTo>
                <a:lnTo>
                  <a:pt x="375475" y="43200"/>
                </a:lnTo>
                <a:lnTo>
                  <a:pt x="378952" y="42307"/>
                </a:lnTo>
                <a:lnTo>
                  <a:pt x="382429" y="41421"/>
                </a:lnTo>
                <a:lnTo>
                  <a:pt x="385905" y="40543"/>
                </a:lnTo>
                <a:lnTo>
                  <a:pt x="389382" y="39673"/>
                </a:lnTo>
                <a:lnTo>
                  <a:pt x="392859" y="38812"/>
                </a:lnTo>
                <a:lnTo>
                  <a:pt x="396335" y="37959"/>
                </a:lnTo>
                <a:lnTo>
                  <a:pt x="399812" y="37114"/>
                </a:lnTo>
                <a:lnTo>
                  <a:pt x="403289" y="36278"/>
                </a:lnTo>
                <a:lnTo>
                  <a:pt x="406765" y="35450"/>
                </a:lnTo>
                <a:lnTo>
                  <a:pt x="410242" y="34630"/>
                </a:lnTo>
                <a:lnTo>
                  <a:pt x="413718" y="33819"/>
                </a:lnTo>
                <a:lnTo>
                  <a:pt x="417195" y="33017"/>
                </a:lnTo>
                <a:lnTo>
                  <a:pt x="420672" y="32223"/>
                </a:lnTo>
                <a:lnTo>
                  <a:pt x="424148" y="31438"/>
                </a:lnTo>
                <a:lnTo>
                  <a:pt x="427625" y="30662"/>
                </a:lnTo>
                <a:lnTo>
                  <a:pt x="431101" y="29894"/>
                </a:lnTo>
                <a:lnTo>
                  <a:pt x="434578" y="29135"/>
                </a:lnTo>
                <a:lnTo>
                  <a:pt x="438055" y="28385"/>
                </a:lnTo>
                <a:lnTo>
                  <a:pt x="441531" y="27644"/>
                </a:lnTo>
                <a:lnTo>
                  <a:pt x="445008" y="26912"/>
                </a:lnTo>
                <a:lnTo>
                  <a:pt x="448485" y="26189"/>
                </a:lnTo>
                <a:lnTo>
                  <a:pt x="451961" y="25475"/>
                </a:lnTo>
                <a:lnTo>
                  <a:pt x="455438" y="24770"/>
                </a:lnTo>
                <a:lnTo>
                  <a:pt x="458914" y="24075"/>
                </a:lnTo>
                <a:lnTo>
                  <a:pt x="462391" y="23388"/>
                </a:lnTo>
                <a:lnTo>
                  <a:pt x="465868" y="22711"/>
                </a:lnTo>
                <a:lnTo>
                  <a:pt x="469344" y="22043"/>
                </a:lnTo>
                <a:lnTo>
                  <a:pt x="472821" y="21384"/>
                </a:lnTo>
                <a:lnTo>
                  <a:pt x="476298" y="20735"/>
                </a:lnTo>
                <a:lnTo>
                  <a:pt x="479774" y="20094"/>
                </a:lnTo>
                <a:lnTo>
                  <a:pt x="483251" y="19464"/>
                </a:lnTo>
                <a:lnTo>
                  <a:pt x="486728" y="18843"/>
                </a:lnTo>
                <a:lnTo>
                  <a:pt x="490204" y="18231"/>
                </a:lnTo>
                <a:lnTo>
                  <a:pt x="493681" y="17629"/>
                </a:lnTo>
                <a:lnTo>
                  <a:pt x="497157" y="17036"/>
                </a:lnTo>
                <a:lnTo>
                  <a:pt x="500634" y="16453"/>
                </a:lnTo>
                <a:lnTo>
                  <a:pt x="504111" y="15880"/>
                </a:lnTo>
                <a:lnTo>
                  <a:pt x="507587" y="15316"/>
                </a:lnTo>
                <a:lnTo>
                  <a:pt x="511064" y="14763"/>
                </a:lnTo>
                <a:lnTo>
                  <a:pt x="514540" y="14218"/>
                </a:lnTo>
                <a:lnTo>
                  <a:pt x="518017" y="13684"/>
                </a:lnTo>
                <a:lnTo>
                  <a:pt x="521494" y="13160"/>
                </a:lnTo>
                <a:lnTo>
                  <a:pt x="524970" y="12645"/>
                </a:lnTo>
                <a:lnTo>
                  <a:pt x="528447" y="12140"/>
                </a:lnTo>
                <a:lnTo>
                  <a:pt x="531924" y="11645"/>
                </a:lnTo>
                <a:lnTo>
                  <a:pt x="535400" y="11160"/>
                </a:lnTo>
                <a:lnTo>
                  <a:pt x="538877" y="10685"/>
                </a:lnTo>
                <a:lnTo>
                  <a:pt x="542354" y="10220"/>
                </a:lnTo>
                <a:lnTo>
                  <a:pt x="545830" y="9766"/>
                </a:lnTo>
                <a:lnTo>
                  <a:pt x="549307" y="9321"/>
                </a:lnTo>
                <a:lnTo>
                  <a:pt x="552783" y="8886"/>
                </a:lnTo>
                <a:lnTo>
                  <a:pt x="556260" y="8461"/>
                </a:lnTo>
                <a:lnTo>
                  <a:pt x="559737" y="8047"/>
                </a:lnTo>
                <a:lnTo>
                  <a:pt x="563213" y="7642"/>
                </a:lnTo>
                <a:lnTo>
                  <a:pt x="566690" y="7248"/>
                </a:lnTo>
                <a:lnTo>
                  <a:pt x="570167" y="6864"/>
                </a:lnTo>
                <a:lnTo>
                  <a:pt x="573643" y="6491"/>
                </a:lnTo>
                <a:lnTo>
                  <a:pt x="577120" y="6127"/>
                </a:lnTo>
                <a:lnTo>
                  <a:pt x="580596" y="5774"/>
                </a:lnTo>
                <a:lnTo>
                  <a:pt x="584073" y="5431"/>
                </a:lnTo>
                <a:lnTo>
                  <a:pt x="587550" y="5099"/>
                </a:lnTo>
                <a:lnTo>
                  <a:pt x="591026" y="4777"/>
                </a:lnTo>
                <a:lnTo>
                  <a:pt x="594503" y="4465"/>
                </a:lnTo>
                <a:lnTo>
                  <a:pt x="597979" y="4163"/>
                </a:lnTo>
                <a:lnTo>
                  <a:pt x="601456" y="3872"/>
                </a:lnTo>
                <a:lnTo>
                  <a:pt x="604933" y="3592"/>
                </a:lnTo>
                <a:lnTo>
                  <a:pt x="608409" y="3322"/>
                </a:lnTo>
                <a:lnTo>
                  <a:pt x="611886" y="3062"/>
                </a:lnTo>
                <a:lnTo>
                  <a:pt x="615363" y="2813"/>
                </a:lnTo>
                <a:lnTo>
                  <a:pt x="618839" y="2574"/>
                </a:lnTo>
                <a:lnTo>
                  <a:pt x="622316" y="2346"/>
                </a:lnTo>
                <a:lnTo>
                  <a:pt x="625793" y="2128"/>
                </a:lnTo>
                <a:lnTo>
                  <a:pt x="629269" y="1921"/>
                </a:lnTo>
                <a:lnTo>
                  <a:pt x="632746" y="1725"/>
                </a:lnTo>
                <a:lnTo>
                  <a:pt x="636222" y="1539"/>
                </a:lnTo>
                <a:lnTo>
                  <a:pt x="639699" y="1363"/>
                </a:lnTo>
                <a:lnTo>
                  <a:pt x="643176" y="1198"/>
                </a:lnTo>
                <a:lnTo>
                  <a:pt x="646652" y="1044"/>
                </a:lnTo>
                <a:lnTo>
                  <a:pt x="650129" y="900"/>
                </a:lnTo>
                <a:lnTo>
                  <a:pt x="653606" y="767"/>
                </a:lnTo>
                <a:lnTo>
                  <a:pt x="657082" y="645"/>
                </a:lnTo>
                <a:lnTo>
                  <a:pt x="660559" y="533"/>
                </a:lnTo>
                <a:lnTo>
                  <a:pt x="664035" y="432"/>
                </a:lnTo>
                <a:lnTo>
                  <a:pt x="667512" y="341"/>
                </a:lnTo>
                <a:lnTo>
                  <a:pt x="670989" y="261"/>
                </a:lnTo>
                <a:lnTo>
                  <a:pt x="674465" y="192"/>
                </a:lnTo>
                <a:lnTo>
                  <a:pt x="677942" y="133"/>
                </a:lnTo>
                <a:lnTo>
                  <a:pt x="681418" y="85"/>
                </a:lnTo>
                <a:lnTo>
                  <a:pt x="684895" y="48"/>
                </a:lnTo>
                <a:lnTo>
                  <a:pt x="688372" y="21"/>
                </a:lnTo>
                <a:lnTo>
                  <a:pt x="691848" y="5"/>
                </a:lnTo>
                <a:lnTo>
                  <a:pt x="695325" y="0"/>
                </a:lnTo>
                <a:lnTo>
                  <a:pt x="698802" y="5"/>
                </a:lnTo>
                <a:lnTo>
                  <a:pt x="702278" y="21"/>
                </a:lnTo>
                <a:lnTo>
                  <a:pt x="705755" y="48"/>
                </a:lnTo>
                <a:lnTo>
                  <a:pt x="709232" y="85"/>
                </a:lnTo>
                <a:lnTo>
                  <a:pt x="712708" y="133"/>
                </a:lnTo>
                <a:lnTo>
                  <a:pt x="716185" y="192"/>
                </a:lnTo>
                <a:lnTo>
                  <a:pt x="719661" y="261"/>
                </a:lnTo>
                <a:lnTo>
                  <a:pt x="723138" y="341"/>
                </a:lnTo>
                <a:lnTo>
                  <a:pt x="726615" y="432"/>
                </a:lnTo>
                <a:lnTo>
                  <a:pt x="730091" y="533"/>
                </a:lnTo>
                <a:lnTo>
                  <a:pt x="733568" y="645"/>
                </a:lnTo>
                <a:lnTo>
                  <a:pt x="737045" y="767"/>
                </a:lnTo>
                <a:lnTo>
                  <a:pt x="740521" y="900"/>
                </a:lnTo>
                <a:lnTo>
                  <a:pt x="743998" y="1044"/>
                </a:lnTo>
                <a:lnTo>
                  <a:pt x="747474" y="1198"/>
                </a:lnTo>
                <a:lnTo>
                  <a:pt x="750951" y="1363"/>
                </a:lnTo>
                <a:lnTo>
                  <a:pt x="754428" y="1539"/>
                </a:lnTo>
                <a:lnTo>
                  <a:pt x="757904" y="1725"/>
                </a:lnTo>
                <a:lnTo>
                  <a:pt x="761381" y="1921"/>
                </a:lnTo>
                <a:lnTo>
                  <a:pt x="764857" y="2128"/>
                </a:lnTo>
                <a:lnTo>
                  <a:pt x="768334" y="2346"/>
                </a:lnTo>
                <a:lnTo>
                  <a:pt x="771811" y="2574"/>
                </a:lnTo>
                <a:lnTo>
                  <a:pt x="775287" y="2813"/>
                </a:lnTo>
                <a:lnTo>
                  <a:pt x="778764" y="3062"/>
                </a:lnTo>
                <a:lnTo>
                  <a:pt x="782241" y="3322"/>
                </a:lnTo>
                <a:lnTo>
                  <a:pt x="785717" y="3592"/>
                </a:lnTo>
                <a:lnTo>
                  <a:pt x="789194" y="3872"/>
                </a:lnTo>
                <a:lnTo>
                  <a:pt x="792671" y="4163"/>
                </a:lnTo>
                <a:lnTo>
                  <a:pt x="796147" y="4465"/>
                </a:lnTo>
                <a:lnTo>
                  <a:pt x="799624" y="4777"/>
                </a:lnTo>
                <a:lnTo>
                  <a:pt x="803100" y="5099"/>
                </a:lnTo>
                <a:lnTo>
                  <a:pt x="806577" y="5431"/>
                </a:lnTo>
                <a:lnTo>
                  <a:pt x="810054" y="5774"/>
                </a:lnTo>
                <a:lnTo>
                  <a:pt x="813530" y="6127"/>
                </a:lnTo>
                <a:lnTo>
                  <a:pt x="817007" y="6491"/>
                </a:lnTo>
                <a:lnTo>
                  <a:pt x="820483" y="6864"/>
                </a:lnTo>
                <a:lnTo>
                  <a:pt x="823960" y="7248"/>
                </a:lnTo>
                <a:lnTo>
                  <a:pt x="827437" y="7642"/>
                </a:lnTo>
                <a:lnTo>
                  <a:pt x="830913" y="8047"/>
                </a:lnTo>
                <a:lnTo>
                  <a:pt x="834390" y="8461"/>
                </a:lnTo>
                <a:lnTo>
                  <a:pt x="837867" y="8886"/>
                </a:lnTo>
                <a:lnTo>
                  <a:pt x="841343" y="9321"/>
                </a:lnTo>
                <a:lnTo>
                  <a:pt x="844820" y="9766"/>
                </a:lnTo>
                <a:lnTo>
                  <a:pt x="848296" y="10220"/>
                </a:lnTo>
                <a:lnTo>
                  <a:pt x="851773" y="10685"/>
                </a:lnTo>
                <a:lnTo>
                  <a:pt x="855250" y="11160"/>
                </a:lnTo>
                <a:lnTo>
                  <a:pt x="858726" y="11645"/>
                </a:lnTo>
                <a:lnTo>
                  <a:pt x="862203" y="12140"/>
                </a:lnTo>
                <a:lnTo>
                  <a:pt x="865680" y="12645"/>
                </a:lnTo>
                <a:lnTo>
                  <a:pt x="869156" y="13160"/>
                </a:lnTo>
                <a:lnTo>
                  <a:pt x="872633" y="13684"/>
                </a:lnTo>
                <a:lnTo>
                  <a:pt x="876110" y="14218"/>
                </a:lnTo>
                <a:lnTo>
                  <a:pt x="879586" y="14763"/>
                </a:lnTo>
                <a:lnTo>
                  <a:pt x="883063" y="15316"/>
                </a:lnTo>
                <a:lnTo>
                  <a:pt x="886539" y="15880"/>
                </a:lnTo>
                <a:lnTo>
                  <a:pt x="890016" y="16453"/>
                </a:lnTo>
                <a:lnTo>
                  <a:pt x="893493" y="17036"/>
                </a:lnTo>
                <a:lnTo>
                  <a:pt x="896969" y="17629"/>
                </a:lnTo>
                <a:lnTo>
                  <a:pt x="900446" y="18231"/>
                </a:lnTo>
                <a:lnTo>
                  <a:pt x="903922" y="18843"/>
                </a:lnTo>
                <a:lnTo>
                  <a:pt x="907399" y="19464"/>
                </a:lnTo>
                <a:lnTo>
                  <a:pt x="910876" y="20094"/>
                </a:lnTo>
                <a:lnTo>
                  <a:pt x="914352" y="20735"/>
                </a:lnTo>
                <a:lnTo>
                  <a:pt x="917829" y="21384"/>
                </a:lnTo>
                <a:lnTo>
                  <a:pt x="921306" y="22043"/>
                </a:lnTo>
                <a:lnTo>
                  <a:pt x="924782" y="22711"/>
                </a:lnTo>
                <a:lnTo>
                  <a:pt x="928259" y="23388"/>
                </a:lnTo>
                <a:lnTo>
                  <a:pt x="931735" y="24075"/>
                </a:lnTo>
                <a:lnTo>
                  <a:pt x="935212" y="24770"/>
                </a:lnTo>
                <a:lnTo>
                  <a:pt x="938689" y="25475"/>
                </a:lnTo>
                <a:lnTo>
                  <a:pt x="942165" y="26189"/>
                </a:lnTo>
                <a:lnTo>
                  <a:pt x="945642" y="26912"/>
                </a:lnTo>
                <a:lnTo>
                  <a:pt x="949119" y="27644"/>
                </a:lnTo>
                <a:lnTo>
                  <a:pt x="952595" y="28385"/>
                </a:lnTo>
                <a:lnTo>
                  <a:pt x="956072" y="29135"/>
                </a:lnTo>
                <a:lnTo>
                  <a:pt x="959549" y="29894"/>
                </a:lnTo>
                <a:lnTo>
                  <a:pt x="963025" y="30662"/>
                </a:lnTo>
                <a:lnTo>
                  <a:pt x="966502" y="31438"/>
                </a:lnTo>
                <a:lnTo>
                  <a:pt x="969978" y="32223"/>
                </a:lnTo>
                <a:lnTo>
                  <a:pt x="973455" y="33017"/>
                </a:lnTo>
                <a:lnTo>
                  <a:pt x="976932" y="33819"/>
                </a:lnTo>
                <a:lnTo>
                  <a:pt x="980408" y="34630"/>
                </a:lnTo>
                <a:lnTo>
                  <a:pt x="983885" y="35450"/>
                </a:lnTo>
                <a:lnTo>
                  <a:pt x="987361" y="36278"/>
                </a:lnTo>
                <a:lnTo>
                  <a:pt x="990838" y="37114"/>
                </a:lnTo>
                <a:lnTo>
                  <a:pt x="994315" y="37959"/>
                </a:lnTo>
                <a:lnTo>
                  <a:pt x="997791" y="38812"/>
                </a:lnTo>
                <a:lnTo>
                  <a:pt x="1001268" y="39673"/>
                </a:lnTo>
                <a:lnTo>
                  <a:pt x="1004745" y="40543"/>
                </a:lnTo>
                <a:lnTo>
                  <a:pt x="1008221" y="41421"/>
                </a:lnTo>
                <a:lnTo>
                  <a:pt x="1011698" y="42307"/>
                </a:lnTo>
                <a:lnTo>
                  <a:pt x="1015175" y="43200"/>
                </a:lnTo>
                <a:lnTo>
                  <a:pt x="1018651" y="44102"/>
                </a:lnTo>
                <a:lnTo>
                  <a:pt x="1022128" y="45012"/>
                </a:lnTo>
                <a:lnTo>
                  <a:pt x="1025604" y="45930"/>
                </a:lnTo>
                <a:lnTo>
                  <a:pt x="1029081" y="46856"/>
                </a:lnTo>
                <a:lnTo>
                  <a:pt x="1032558" y="47789"/>
                </a:lnTo>
                <a:lnTo>
                  <a:pt x="1036034" y="48730"/>
                </a:lnTo>
                <a:lnTo>
                  <a:pt x="1039511" y="49679"/>
                </a:lnTo>
                <a:lnTo>
                  <a:pt x="1042988" y="50635"/>
                </a:lnTo>
                <a:lnTo>
                  <a:pt x="1046464" y="51599"/>
                </a:lnTo>
                <a:lnTo>
                  <a:pt x="1049941" y="52570"/>
                </a:lnTo>
                <a:lnTo>
                  <a:pt x="1053417" y="53549"/>
                </a:lnTo>
                <a:lnTo>
                  <a:pt x="1056894" y="54535"/>
                </a:lnTo>
                <a:lnTo>
                  <a:pt x="1060371" y="55529"/>
                </a:lnTo>
                <a:lnTo>
                  <a:pt x="1063847" y="56529"/>
                </a:lnTo>
                <a:lnTo>
                  <a:pt x="1067324" y="57537"/>
                </a:lnTo>
                <a:lnTo>
                  <a:pt x="1070800" y="58552"/>
                </a:lnTo>
                <a:lnTo>
                  <a:pt x="1074277" y="59574"/>
                </a:lnTo>
                <a:lnTo>
                  <a:pt x="1077754" y="60603"/>
                </a:lnTo>
                <a:lnTo>
                  <a:pt x="1081230" y="61639"/>
                </a:lnTo>
                <a:lnTo>
                  <a:pt x="1084707" y="62682"/>
                </a:lnTo>
                <a:lnTo>
                  <a:pt x="1088184" y="63731"/>
                </a:lnTo>
                <a:lnTo>
                  <a:pt x="1091660" y="64788"/>
                </a:lnTo>
                <a:lnTo>
                  <a:pt x="1095137" y="65851"/>
                </a:lnTo>
                <a:lnTo>
                  <a:pt x="1098614" y="66920"/>
                </a:lnTo>
                <a:lnTo>
                  <a:pt x="1102090" y="67996"/>
                </a:lnTo>
                <a:lnTo>
                  <a:pt x="1105567" y="69079"/>
                </a:lnTo>
                <a:lnTo>
                  <a:pt x="1109043" y="70168"/>
                </a:lnTo>
                <a:lnTo>
                  <a:pt x="1112520" y="71263"/>
                </a:lnTo>
                <a:lnTo>
                  <a:pt x="1115997" y="72365"/>
                </a:lnTo>
                <a:lnTo>
                  <a:pt x="1119473" y="73473"/>
                </a:lnTo>
                <a:lnTo>
                  <a:pt x="1122950" y="74586"/>
                </a:lnTo>
                <a:lnTo>
                  <a:pt x="1126427" y="75706"/>
                </a:lnTo>
                <a:lnTo>
                  <a:pt x="1129903" y="76832"/>
                </a:lnTo>
                <a:lnTo>
                  <a:pt x="1133380" y="77964"/>
                </a:lnTo>
                <a:lnTo>
                  <a:pt x="1136856" y="79102"/>
                </a:lnTo>
                <a:lnTo>
                  <a:pt x="1140333" y="80246"/>
                </a:lnTo>
                <a:lnTo>
                  <a:pt x="1143810" y="81395"/>
                </a:lnTo>
                <a:lnTo>
                  <a:pt x="1147286" y="82550"/>
                </a:lnTo>
                <a:lnTo>
                  <a:pt x="1150763" y="83710"/>
                </a:lnTo>
                <a:lnTo>
                  <a:pt x="1154240" y="84876"/>
                </a:lnTo>
                <a:lnTo>
                  <a:pt x="1157716" y="86048"/>
                </a:lnTo>
                <a:lnTo>
                  <a:pt x="1161193" y="87224"/>
                </a:lnTo>
                <a:lnTo>
                  <a:pt x="1164669" y="88407"/>
                </a:lnTo>
                <a:lnTo>
                  <a:pt x="1168146" y="89594"/>
                </a:lnTo>
                <a:lnTo>
                  <a:pt x="1171623" y="90786"/>
                </a:lnTo>
                <a:lnTo>
                  <a:pt x="1175099" y="91984"/>
                </a:lnTo>
                <a:lnTo>
                  <a:pt x="1178576" y="93186"/>
                </a:lnTo>
                <a:lnTo>
                  <a:pt x="1182052" y="94393"/>
                </a:lnTo>
                <a:lnTo>
                  <a:pt x="1185529" y="95606"/>
                </a:lnTo>
                <a:lnTo>
                  <a:pt x="1189006" y="96823"/>
                </a:lnTo>
                <a:lnTo>
                  <a:pt x="1192482" y="98044"/>
                </a:lnTo>
                <a:lnTo>
                  <a:pt x="1195959" y="99271"/>
                </a:lnTo>
                <a:lnTo>
                  <a:pt x="1199436" y="100501"/>
                </a:lnTo>
                <a:lnTo>
                  <a:pt x="1202912" y="101737"/>
                </a:lnTo>
                <a:lnTo>
                  <a:pt x="1206389" y="102976"/>
                </a:lnTo>
                <a:lnTo>
                  <a:pt x="1209865" y="104220"/>
                </a:lnTo>
                <a:lnTo>
                  <a:pt x="1213342" y="105469"/>
                </a:lnTo>
                <a:lnTo>
                  <a:pt x="1216819" y="106721"/>
                </a:lnTo>
                <a:lnTo>
                  <a:pt x="1220295" y="107977"/>
                </a:lnTo>
                <a:lnTo>
                  <a:pt x="1223772" y="109238"/>
                </a:lnTo>
                <a:lnTo>
                  <a:pt x="1227249" y="110502"/>
                </a:lnTo>
                <a:lnTo>
                  <a:pt x="1230725" y="111770"/>
                </a:lnTo>
                <a:lnTo>
                  <a:pt x="1234202" y="113042"/>
                </a:lnTo>
                <a:lnTo>
                  <a:pt x="1237679" y="114318"/>
                </a:lnTo>
                <a:lnTo>
                  <a:pt x="1241155" y="115597"/>
                </a:lnTo>
                <a:lnTo>
                  <a:pt x="1244632" y="116880"/>
                </a:lnTo>
                <a:lnTo>
                  <a:pt x="1248108" y="118167"/>
                </a:lnTo>
                <a:lnTo>
                  <a:pt x="1251585" y="119456"/>
                </a:lnTo>
                <a:lnTo>
                  <a:pt x="1255062" y="120749"/>
                </a:lnTo>
                <a:lnTo>
                  <a:pt x="1258538" y="122045"/>
                </a:lnTo>
                <a:lnTo>
                  <a:pt x="1262015" y="123345"/>
                </a:lnTo>
                <a:lnTo>
                  <a:pt x="1265492" y="124647"/>
                </a:lnTo>
                <a:lnTo>
                  <a:pt x="1268968" y="125952"/>
                </a:lnTo>
                <a:lnTo>
                  <a:pt x="1272445" y="127261"/>
                </a:lnTo>
                <a:lnTo>
                  <a:pt x="1275921" y="128572"/>
                </a:lnTo>
                <a:lnTo>
                  <a:pt x="1279398" y="129886"/>
                </a:lnTo>
                <a:lnTo>
                  <a:pt x="1282875" y="131202"/>
                </a:lnTo>
                <a:lnTo>
                  <a:pt x="1286351" y="132521"/>
                </a:lnTo>
                <a:lnTo>
                  <a:pt x="1289828" y="133843"/>
                </a:lnTo>
                <a:lnTo>
                  <a:pt x="1293304" y="135166"/>
                </a:lnTo>
                <a:lnTo>
                  <a:pt x="1296781" y="136493"/>
                </a:lnTo>
                <a:lnTo>
                  <a:pt x="1300258" y="137821"/>
                </a:lnTo>
                <a:lnTo>
                  <a:pt x="1303734" y="139152"/>
                </a:lnTo>
                <a:lnTo>
                  <a:pt x="1307211" y="140485"/>
                </a:lnTo>
                <a:lnTo>
                  <a:pt x="1310688" y="141819"/>
                </a:lnTo>
                <a:lnTo>
                  <a:pt x="1314164" y="143156"/>
                </a:lnTo>
                <a:lnTo>
                  <a:pt x="1317641" y="144494"/>
                </a:lnTo>
                <a:lnTo>
                  <a:pt x="1321118" y="145835"/>
                </a:lnTo>
                <a:lnTo>
                  <a:pt x="1324594" y="147176"/>
                </a:lnTo>
                <a:lnTo>
                  <a:pt x="1328071" y="148520"/>
                </a:lnTo>
                <a:lnTo>
                  <a:pt x="1331547" y="149865"/>
                </a:lnTo>
                <a:lnTo>
                  <a:pt x="1335024" y="151211"/>
                </a:lnTo>
                <a:lnTo>
                  <a:pt x="1338501" y="152559"/>
                </a:lnTo>
                <a:lnTo>
                  <a:pt x="1341977" y="153908"/>
                </a:lnTo>
                <a:lnTo>
                  <a:pt x="1345454" y="155258"/>
                </a:lnTo>
                <a:lnTo>
                  <a:pt x="1348930" y="156609"/>
                </a:lnTo>
                <a:lnTo>
                  <a:pt x="1352407" y="157962"/>
                </a:lnTo>
                <a:lnTo>
                  <a:pt x="1355884" y="159315"/>
                </a:lnTo>
                <a:lnTo>
                  <a:pt x="1359360" y="160669"/>
                </a:lnTo>
                <a:lnTo>
                  <a:pt x="1362837" y="162024"/>
                </a:lnTo>
                <a:lnTo>
                  <a:pt x="1366314" y="163379"/>
                </a:lnTo>
                <a:lnTo>
                  <a:pt x="1369790" y="164735"/>
                </a:lnTo>
                <a:lnTo>
                  <a:pt x="1373267" y="166092"/>
                </a:lnTo>
                <a:lnTo>
                  <a:pt x="1376743" y="167448"/>
                </a:lnTo>
                <a:lnTo>
                  <a:pt x="1380220" y="168806"/>
                </a:lnTo>
                <a:lnTo>
                  <a:pt x="1383697" y="170163"/>
                </a:lnTo>
                <a:lnTo>
                  <a:pt x="1387173" y="171521"/>
                </a:lnTo>
                <a:lnTo>
                  <a:pt x="1390650" y="172879"/>
                </a:lnTo>
                <a:lnTo>
                  <a:pt x="1394127" y="174237"/>
                </a:lnTo>
                <a:lnTo>
                  <a:pt x="1397603" y="175594"/>
                </a:lnTo>
                <a:lnTo>
                  <a:pt x="1401080" y="176952"/>
                </a:lnTo>
                <a:lnTo>
                  <a:pt x="1404557" y="178309"/>
                </a:lnTo>
                <a:lnTo>
                  <a:pt x="1408033" y="179666"/>
                </a:lnTo>
                <a:lnTo>
                  <a:pt x="1411510" y="181022"/>
                </a:lnTo>
                <a:lnTo>
                  <a:pt x="1414986" y="182378"/>
                </a:lnTo>
                <a:lnTo>
                  <a:pt x="1418463" y="183734"/>
                </a:lnTo>
                <a:lnTo>
                  <a:pt x="1421940" y="185089"/>
                </a:lnTo>
                <a:lnTo>
                  <a:pt x="1425416" y="186443"/>
                </a:lnTo>
                <a:lnTo>
                  <a:pt x="1428893" y="187796"/>
                </a:lnTo>
                <a:lnTo>
                  <a:pt x="1432370" y="189148"/>
                </a:lnTo>
                <a:lnTo>
                  <a:pt x="1435846" y="190499"/>
                </a:lnTo>
                <a:lnTo>
                  <a:pt x="1439323" y="191849"/>
                </a:lnTo>
                <a:lnTo>
                  <a:pt x="1442799" y="193198"/>
                </a:lnTo>
                <a:lnTo>
                  <a:pt x="1446276" y="194546"/>
                </a:lnTo>
                <a:lnTo>
                  <a:pt x="1449753" y="195893"/>
                </a:lnTo>
                <a:lnTo>
                  <a:pt x="1453229" y="197238"/>
                </a:lnTo>
                <a:lnTo>
                  <a:pt x="1456706" y="198581"/>
                </a:lnTo>
                <a:lnTo>
                  <a:pt x="1460182" y="199923"/>
                </a:lnTo>
                <a:lnTo>
                  <a:pt x="1463659" y="201263"/>
                </a:lnTo>
                <a:lnTo>
                  <a:pt x="1467136" y="202602"/>
                </a:lnTo>
                <a:lnTo>
                  <a:pt x="1470612" y="203938"/>
                </a:lnTo>
                <a:lnTo>
                  <a:pt x="1474089" y="205273"/>
                </a:lnTo>
                <a:lnTo>
                  <a:pt x="1477566" y="206606"/>
                </a:lnTo>
                <a:lnTo>
                  <a:pt x="1481042" y="207936"/>
                </a:lnTo>
                <a:lnTo>
                  <a:pt x="1484519" y="209265"/>
                </a:lnTo>
                <a:lnTo>
                  <a:pt x="1487996" y="210591"/>
                </a:lnTo>
                <a:lnTo>
                  <a:pt x="1491472" y="211915"/>
                </a:lnTo>
                <a:lnTo>
                  <a:pt x="1494949" y="213236"/>
                </a:lnTo>
                <a:lnTo>
                  <a:pt x="1498425" y="214556"/>
                </a:lnTo>
                <a:lnTo>
                  <a:pt x="1501902" y="215872"/>
                </a:lnTo>
                <a:lnTo>
                  <a:pt x="1505379" y="217186"/>
                </a:lnTo>
                <a:lnTo>
                  <a:pt x="1508855" y="218497"/>
                </a:lnTo>
                <a:lnTo>
                  <a:pt x="1512332" y="219805"/>
                </a:lnTo>
                <a:lnTo>
                  <a:pt x="1515808" y="221110"/>
                </a:lnTo>
                <a:lnTo>
                  <a:pt x="1519285" y="222413"/>
                </a:lnTo>
                <a:lnTo>
                  <a:pt x="1522762" y="223712"/>
                </a:lnTo>
                <a:lnTo>
                  <a:pt x="1526238" y="225008"/>
                </a:lnTo>
                <a:lnTo>
                  <a:pt x="1529715" y="226301"/>
                </a:lnTo>
                <a:lnTo>
                  <a:pt x="1533192" y="227591"/>
                </a:lnTo>
                <a:lnTo>
                  <a:pt x="1536668" y="228877"/>
                </a:lnTo>
                <a:lnTo>
                  <a:pt x="1540145" y="230160"/>
                </a:lnTo>
                <a:lnTo>
                  <a:pt x="1543621" y="231439"/>
                </a:lnTo>
                <a:lnTo>
                  <a:pt x="1547098" y="232715"/>
                </a:lnTo>
                <a:lnTo>
                  <a:pt x="1550575" y="233987"/>
                </a:lnTo>
                <a:lnTo>
                  <a:pt x="1554051" y="235255"/>
                </a:lnTo>
                <a:lnTo>
                  <a:pt x="1557528" y="236520"/>
                </a:lnTo>
                <a:lnTo>
                  <a:pt x="1561005" y="237780"/>
                </a:lnTo>
                <a:lnTo>
                  <a:pt x="1564481" y="239037"/>
                </a:lnTo>
                <a:lnTo>
                  <a:pt x="1567958" y="240289"/>
                </a:lnTo>
                <a:lnTo>
                  <a:pt x="1571435" y="241537"/>
                </a:lnTo>
                <a:lnTo>
                  <a:pt x="1574911" y="242781"/>
                </a:lnTo>
                <a:lnTo>
                  <a:pt x="1578388" y="244021"/>
                </a:lnTo>
                <a:lnTo>
                  <a:pt x="1581864" y="245256"/>
                </a:lnTo>
                <a:lnTo>
                  <a:pt x="1585341" y="246487"/>
                </a:lnTo>
                <a:lnTo>
                  <a:pt x="1588818" y="247713"/>
                </a:lnTo>
                <a:lnTo>
                  <a:pt x="1592294" y="248935"/>
                </a:lnTo>
                <a:lnTo>
                  <a:pt x="1595771" y="250152"/>
                </a:lnTo>
                <a:lnTo>
                  <a:pt x="1599248" y="251364"/>
                </a:lnTo>
                <a:lnTo>
                  <a:pt x="1602724" y="252571"/>
                </a:lnTo>
                <a:lnTo>
                  <a:pt x="1606201" y="253774"/>
                </a:lnTo>
                <a:lnTo>
                  <a:pt x="1609677" y="254971"/>
                </a:lnTo>
                <a:lnTo>
                  <a:pt x="1613154" y="256164"/>
                </a:lnTo>
                <a:lnTo>
                  <a:pt x="1616631" y="257351"/>
                </a:lnTo>
                <a:lnTo>
                  <a:pt x="1620107" y="258533"/>
                </a:lnTo>
                <a:lnTo>
                  <a:pt x="1623584" y="259710"/>
                </a:lnTo>
                <a:lnTo>
                  <a:pt x="1627060" y="260881"/>
                </a:lnTo>
                <a:lnTo>
                  <a:pt x="1630537" y="262047"/>
                </a:lnTo>
                <a:lnTo>
                  <a:pt x="1634014" y="263208"/>
                </a:lnTo>
                <a:lnTo>
                  <a:pt x="1637490" y="264363"/>
                </a:lnTo>
                <a:lnTo>
                  <a:pt x="1640967" y="265512"/>
                </a:lnTo>
                <a:lnTo>
                  <a:pt x="1644444" y="266655"/>
                </a:lnTo>
                <a:lnTo>
                  <a:pt x="1647920" y="267793"/>
                </a:lnTo>
                <a:lnTo>
                  <a:pt x="1651397" y="268925"/>
                </a:lnTo>
                <a:lnTo>
                  <a:pt x="1654874" y="270051"/>
                </a:lnTo>
                <a:lnTo>
                  <a:pt x="1658350" y="271171"/>
                </a:lnTo>
                <a:lnTo>
                  <a:pt x="1661827" y="272285"/>
                </a:lnTo>
                <a:lnTo>
                  <a:pt x="1665303" y="273393"/>
                </a:lnTo>
                <a:lnTo>
                  <a:pt x="1668780" y="274494"/>
                </a:lnTo>
                <a:lnTo>
                  <a:pt x="1672257" y="275590"/>
                </a:lnTo>
                <a:lnTo>
                  <a:pt x="1675733" y="276679"/>
                </a:lnTo>
                <a:lnTo>
                  <a:pt x="1679210" y="277761"/>
                </a:lnTo>
                <a:lnTo>
                  <a:pt x="1682687" y="278837"/>
                </a:lnTo>
                <a:lnTo>
                  <a:pt x="1686163" y="279907"/>
                </a:lnTo>
                <a:lnTo>
                  <a:pt x="1689640" y="280970"/>
                </a:lnTo>
                <a:lnTo>
                  <a:pt x="1693116" y="282026"/>
                </a:lnTo>
                <a:lnTo>
                  <a:pt x="1696593" y="283076"/>
                </a:lnTo>
                <a:lnTo>
                  <a:pt x="1700070" y="284119"/>
                </a:lnTo>
                <a:lnTo>
                  <a:pt x="1703546" y="285155"/>
                </a:lnTo>
                <a:lnTo>
                  <a:pt x="1707023" y="286184"/>
                </a:lnTo>
                <a:lnTo>
                  <a:pt x="1710499" y="287206"/>
                </a:lnTo>
                <a:lnTo>
                  <a:pt x="1713976" y="288220"/>
                </a:lnTo>
                <a:lnTo>
                  <a:pt x="1717453" y="289228"/>
                </a:lnTo>
                <a:lnTo>
                  <a:pt x="1720929" y="290229"/>
                </a:lnTo>
                <a:lnTo>
                  <a:pt x="1724406" y="291222"/>
                </a:lnTo>
                <a:lnTo>
                  <a:pt x="1727883" y="292209"/>
                </a:lnTo>
                <a:lnTo>
                  <a:pt x="1731359" y="293187"/>
                </a:lnTo>
                <a:lnTo>
                  <a:pt x="1734836" y="294159"/>
                </a:lnTo>
                <a:lnTo>
                  <a:pt x="1738313" y="295122"/>
                </a:lnTo>
                <a:lnTo>
                  <a:pt x="1741789" y="296079"/>
                </a:lnTo>
                <a:lnTo>
                  <a:pt x="1745266" y="297028"/>
                </a:lnTo>
                <a:lnTo>
                  <a:pt x="1748742" y="297969"/>
                </a:lnTo>
                <a:lnTo>
                  <a:pt x="1752219" y="298902"/>
                </a:lnTo>
                <a:lnTo>
                  <a:pt x="1755696" y="299828"/>
                </a:lnTo>
                <a:lnTo>
                  <a:pt x="1759172" y="300745"/>
                </a:lnTo>
                <a:lnTo>
                  <a:pt x="1762649" y="301655"/>
                </a:lnTo>
                <a:lnTo>
                  <a:pt x="1766126" y="302557"/>
                </a:lnTo>
                <a:lnTo>
                  <a:pt x="1769602" y="303451"/>
                </a:lnTo>
                <a:lnTo>
                  <a:pt x="1773079" y="304337"/>
                </a:lnTo>
                <a:lnTo>
                  <a:pt x="1776555" y="305215"/>
                </a:lnTo>
                <a:lnTo>
                  <a:pt x="1780032" y="306084"/>
                </a:lnTo>
                <a:lnTo>
                  <a:pt x="1783509" y="306945"/>
                </a:lnTo>
                <a:lnTo>
                  <a:pt x="1786985" y="307799"/>
                </a:lnTo>
                <a:lnTo>
                  <a:pt x="1790462" y="308643"/>
                </a:lnTo>
                <a:lnTo>
                  <a:pt x="1793938" y="309480"/>
                </a:lnTo>
                <a:lnTo>
                  <a:pt x="1797415" y="310308"/>
                </a:lnTo>
                <a:lnTo>
                  <a:pt x="1800892" y="311127"/>
                </a:lnTo>
                <a:lnTo>
                  <a:pt x="1804368" y="311938"/>
                </a:lnTo>
                <a:lnTo>
                  <a:pt x="1807845" y="312741"/>
                </a:lnTo>
                <a:lnTo>
                  <a:pt x="1811322" y="313534"/>
                </a:lnTo>
                <a:lnTo>
                  <a:pt x="1814798" y="314319"/>
                </a:lnTo>
                <a:lnTo>
                  <a:pt x="1818275" y="315096"/>
                </a:lnTo>
                <a:lnTo>
                  <a:pt x="1821752" y="315863"/>
                </a:lnTo>
                <a:lnTo>
                  <a:pt x="1825228" y="316622"/>
                </a:lnTo>
                <a:lnTo>
                  <a:pt x="1828705" y="317372"/>
                </a:lnTo>
                <a:lnTo>
                  <a:pt x="1832181" y="318113"/>
                </a:lnTo>
                <a:lnTo>
                  <a:pt x="1835658" y="318845"/>
                </a:lnTo>
                <a:lnTo>
                  <a:pt x="1839135" y="319568"/>
                </a:lnTo>
                <a:lnTo>
                  <a:pt x="1842611" y="320282"/>
                </a:lnTo>
                <a:lnTo>
                  <a:pt x="1846088" y="320987"/>
                </a:lnTo>
                <a:lnTo>
                  <a:pt x="1849565" y="321683"/>
                </a:lnTo>
                <a:lnTo>
                  <a:pt x="1853041" y="322369"/>
                </a:lnTo>
                <a:lnTo>
                  <a:pt x="1856518" y="323047"/>
                </a:lnTo>
                <a:lnTo>
                  <a:pt x="1859994" y="323715"/>
                </a:lnTo>
                <a:lnTo>
                  <a:pt x="1863471" y="324374"/>
                </a:lnTo>
                <a:lnTo>
                  <a:pt x="1866948" y="325023"/>
                </a:lnTo>
                <a:lnTo>
                  <a:pt x="1870424" y="325663"/>
                </a:lnTo>
                <a:lnTo>
                  <a:pt x="1873901" y="326294"/>
                </a:lnTo>
                <a:lnTo>
                  <a:pt x="1877377" y="326915"/>
                </a:lnTo>
                <a:lnTo>
                  <a:pt x="1880854" y="327527"/>
                </a:lnTo>
                <a:lnTo>
                  <a:pt x="1884331" y="328129"/>
                </a:lnTo>
                <a:lnTo>
                  <a:pt x="1887807" y="328721"/>
                </a:lnTo>
                <a:lnTo>
                  <a:pt x="1891284" y="329304"/>
                </a:lnTo>
                <a:lnTo>
                  <a:pt x="1894761" y="329877"/>
                </a:lnTo>
                <a:lnTo>
                  <a:pt x="1898237" y="330441"/>
                </a:lnTo>
                <a:lnTo>
                  <a:pt x="1901714" y="330995"/>
                </a:lnTo>
                <a:lnTo>
                  <a:pt x="1905190" y="331539"/>
                </a:lnTo>
                <a:lnTo>
                  <a:pt x="1908667" y="332073"/>
                </a:lnTo>
                <a:lnTo>
                  <a:pt x="1912144" y="332598"/>
                </a:lnTo>
                <a:lnTo>
                  <a:pt x="1915620" y="333113"/>
                </a:lnTo>
                <a:lnTo>
                  <a:pt x="1919097" y="333617"/>
                </a:lnTo>
                <a:lnTo>
                  <a:pt x="1922574" y="334112"/>
                </a:lnTo>
                <a:lnTo>
                  <a:pt x="1926050" y="334597"/>
                </a:lnTo>
                <a:lnTo>
                  <a:pt x="1929527" y="335072"/>
                </a:lnTo>
                <a:lnTo>
                  <a:pt x="1933004" y="335537"/>
                </a:lnTo>
                <a:lnTo>
                  <a:pt x="1936480" y="335992"/>
                </a:lnTo>
                <a:lnTo>
                  <a:pt x="1939957" y="336437"/>
                </a:lnTo>
                <a:lnTo>
                  <a:pt x="1943433" y="336872"/>
                </a:lnTo>
                <a:lnTo>
                  <a:pt x="1946910" y="337296"/>
                </a:lnTo>
                <a:lnTo>
                  <a:pt x="1950387" y="337711"/>
                </a:lnTo>
                <a:lnTo>
                  <a:pt x="1953863" y="338115"/>
                </a:lnTo>
                <a:lnTo>
                  <a:pt x="1957340" y="338509"/>
                </a:lnTo>
                <a:lnTo>
                  <a:pt x="1960817" y="338893"/>
                </a:lnTo>
                <a:lnTo>
                  <a:pt x="1964293" y="339267"/>
                </a:lnTo>
                <a:lnTo>
                  <a:pt x="1967770" y="339630"/>
                </a:lnTo>
                <a:lnTo>
                  <a:pt x="1971246" y="339983"/>
                </a:lnTo>
                <a:lnTo>
                  <a:pt x="1974723" y="340326"/>
                </a:lnTo>
                <a:lnTo>
                  <a:pt x="1978200" y="340659"/>
                </a:lnTo>
                <a:lnTo>
                  <a:pt x="1981676" y="340981"/>
                </a:lnTo>
                <a:lnTo>
                  <a:pt x="1985153" y="341293"/>
                </a:lnTo>
                <a:lnTo>
                  <a:pt x="1988629" y="341594"/>
                </a:lnTo>
                <a:lnTo>
                  <a:pt x="1992106" y="341885"/>
                </a:lnTo>
                <a:lnTo>
                  <a:pt x="1995583" y="342166"/>
                </a:lnTo>
                <a:lnTo>
                  <a:pt x="1999059" y="342436"/>
                </a:lnTo>
                <a:lnTo>
                  <a:pt x="2002536" y="342695"/>
                </a:lnTo>
                <a:lnTo>
                  <a:pt x="2006013" y="342945"/>
                </a:lnTo>
                <a:lnTo>
                  <a:pt x="2009489" y="343183"/>
                </a:lnTo>
                <a:lnTo>
                  <a:pt x="2012966" y="343411"/>
                </a:lnTo>
                <a:lnTo>
                  <a:pt x="2016443" y="343629"/>
                </a:lnTo>
                <a:lnTo>
                  <a:pt x="2019919" y="343836"/>
                </a:lnTo>
                <a:lnTo>
                  <a:pt x="2023396" y="344033"/>
                </a:lnTo>
                <a:lnTo>
                  <a:pt x="2026872" y="344219"/>
                </a:lnTo>
                <a:lnTo>
                  <a:pt x="2030349" y="344394"/>
                </a:lnTo>
                <a:lnTo>
                  <a:pt x="2033826" y="344559"/>
                </a:lnTo>
                <a:lnTo>
                  <a:pt x="2037302" y="344713"/>
                </a:lnTo>
                <a:lnTo>
                  <a:pt x="2040779" y="344857"/>
                </a:lnTo>
                <a:lnTo>
                  <a:pt x="2044255" y="344990"/>
                </a:lnTo>
                <a:lnTo>
                  <a:pt x="2047732" y="345113"/>
                </a:lnTo>
                <a:lnTo>
                  <a:pt x="2051209" y="345225"/>
                </a:lnTo>
                <a:lnTo>
                  <a:pt x="2054685" y="345326"/>
                </a:lnTo>
                <a:lnTo>
                  <a:pt x="2058162" y="345416"/>
                </a:lnTo>
                <a:lnTo>
                  <a:pt x="2061639" y="345496"/>
                </a:lnTo>
                <a:lnTo>
                  <a:pt x="2065115" y="345566"/>
                </a:lnTo>
                <a:lnTo>
                  <a:pt x="2068592" y="345624"/>
                </a:lnTo>
                <a:lnTo>
                  <a:pt x="2072068" y="345672"/>
                </a:lnTo>
                <a:lnTo>
                  <a:pt x="2075545" y="345710"/>
                </a:lnTo>
                <a:lnTo>
                  <a:pt x="2079022" y="345736"/>
                </a:lnTo>
                <a:lnTo>
                  <a:pt x="2082498" y="345752"/>
                </a:lnTo>
                <a:lnTo>
                  <a:pt x="2085975" y="345757"/>
                </a:lnTo>
                <a:lnTo>
                  <a:pt x="2089452" y="345752"/>
                </a:lnTo>
                <a:lnTo>
                  <a:pt x="2092928" y="345736"/>
                </a:lnTo>
                <a:lnTo>
                  <a:pt x="2096405" y="345710"/>
                </a:lnTo>
                <a:lnTo>
                  <a:pt x="2099882" y="345672"/>
                </a:lnTo>
                <a:lnTo>
                  <a:pt x="2103358" y="345624"/>
                </a:lnTo>
                <a:lnTo>
                  <a:pt x="2106835" y="345566"/>
                </a:lnTo>
                <a:lnTo>
                  <a:pt x="2110311" y="345496"/>
                </a:lnTo>
                <a:lnTo>
                  <a:pt x="2113788" y="345416"/>
                </a:lnTo>
                <a:lnTo>
                  <a:pt x="2117265" y="345326"/>
                </a:lnTo>
                <a:lnTo>
                  <a:pt x="2120741" y="345225"/>
                </a:lnTo>
                <a:lnTo>
                  <a:pt x="2124218" y="345113"/>
                </a:lnTo>
                <a:lnTo>
                  <a:pt x="2127695" y="344990"/>
                </a:lnTo>
                <a:lnTo>
                  <a:pt x="2131171" y="344857"/>
                </a:lnTo>
                <a:lnTo>
                  <a:pt x="2134648" y="344713"/>
                </a:lnTo>
                <a:lnTo>
                  <a:pt x="2138124" y="344559"/>
                </a:lnTo>
                <a:lnTo>
                  <a:pt x="2141601" y="344394"/>
                </a:lnTo>
                <a:lnTo>
                  <a:pt x="2145078" y="344219"/>
                </a:lnTo>
                <a:lnTo>
                  <a:pt x="2148554" y="344033"/>
                </a:lnTo>
                <a:lnTo>
                  <a:pt x="2152031" y="343836"/>
                </a:lnTo>
                <a:lnTo>
                  <a:pt x="2155507" y="343629"/>
                </a:lnTo>
                <a:lnTo>
                  <a:pt x="2158984" y="343411"/>
                </a:lnTo>
                <a:lnTo>
                  <a:pt x="2162461" y="343183"/>
                </a:lnTo>
                <a:lnTo>
                  <a:pt x="2165937" y="342945"/>
                </a:lnTo>
                <a:lnTo>
                  <a:pt x="2169414" y="342695"/>
                </a:lnTo>
                <a:lnTo>
                  <a:pt x="2172891" y="342436"/>
                </a:lnTo>
                <a:lnTo>
                  <a:pt x="2176367" y="342166"/>
                </a:lnTo>
                <a:lnTo>
                  <a:pt x="2179844" y="341885"/>
                </a:lnTo>
                <a:lnTo>
                  <a:pt x="2183321" y="341594"/>
                </a:lnTo>
                <a:lnTo>
                  <a:pt x="2186797" y="341293"/>
                </a:lnTo>
                <a:lnTo>
                  <a:pt x="2190274" y="340981"/>
                </a:lnTo>
                <a:lnTo>
                  <a:pt x="2193750" y="340659"/>
                </a:lnTo>
                <a:lnTo>
                  <a:pt x="2197227" y="340326"/>
                </a:lnTo>
                <a:lnTo>
                  <a:pt x="2200704" y="339983"/>
                </a:lnTo>
                <a:lnTo>
                  <a:pt x="2204180" y="339630"/>
                </a:lnTo>
                <a:lnTo>
                  <a:pt x="2207657" y="339267"/>
                </a:lnTo>
                <a:lnTo>
                  <a:pt x="2211133" y="338893"/>
                </a:lnTo>
                <a:lnTo>
                  <a:pt x="2214610" y="338509"/>
                </a:lnTo>
                <a:lnTo>
                  <a:pt x="2218087" y="338115"/>
                </a:lnTo>
                <a:lnTo>
                  <a:pt x="2221563" y="337711"/>
                </a:lnTo>
                <a:lnTo>
                  <a:pt x="2225040" y="337296"/>
                </a:lnTo>
                <a:lnTo>
                  <a:pt x="2228517" y="336872"/>
                </a:lnTo>
                <a:lnTo>
                  <a:pt x="2231993" y="336437"/>
                </a:lnTo>
                <a:lnTo>
                  <a:pt x="2235470" y="335992"/>
                </a:lnTo>
                <a:lnTo>
                  <a:pt x="2238946" y="335537"/>
                </a:lnTo>
                <a:lnTo>
                  <a:pt x="2242423" y="335072"/>
                </a:lnTo>
                <a:lnTo>
                  <a:pt x="2245900" y="334597"/>
                </a:lnTo>
                <a:lnTo>
                  <a:pt x="2249376" y="334112"/>
                </a:lnTo>
                <a:lnTo>
                  <a:pt x="2252853" y="333617"/>
                </a:lnTo>
                <a:lnTo>
                  <a:pt x="2256330" y="333113"/>
                </a:lnTo>
                <a:lnTo>
                  <a:pt x="2259806" y="332598"/>
                </a:lnTo>
                <a:lnTo>
                  <a:pt x="2263283" y="332073"/>
                </a:lnTo>
                <a:lnTo>
                  <a:pt x="2266760" y="331539"/>
                </a:lnTo>
                <a:lnTo>
                  <a:pt x="2270236" y="330995"/>
                </a:lnTo>
                <a:lnTo>
                  <a:pt x="2273713" y="330441"/>
                </a:lnTo>
                <a:lnTo>
                  <a:pt x="2277189" y="329877"/>
                </a:lnTo>
                <a:lnTo>
                  <a:pt x="2280666" y="329304"/>
                </a:lnTo>
                <a:lnTo>
                  <a:pt x="2284143" y="328721"/>
                </a:lnTo>
                <a:lnTo>
                  <a:pt x="2287619" y="328129"/>
                </a:lnTo>
                <a:lnTo>
                  <a:pt x="2291096" y="327527"/>
                </a:lnTo>
                <a:lnTo>
                  <a:pt x="2294573" y="326915"/>
                </a:lnTo>
                <a:lnTo>
                  <a:pt x="2298049" y="326294"/>
                </a:lnTo>
                <a:lnTo>
                  <a:pt x="2301526" y="325663"/>
                </a:lnTo>
                <a:lnTo>
                  <a:pt x="2305002" y="325023"/>
                </a:lnTo>
                <a:lnTo>
                  <a:pt x="2308479" y="324374"/>
                </a:lnTo>
                <a:lnTo>
                  <a:pt x="2311956" y="323715"/>
                </a:lnTo>
                <a:lnTo>
                  <a:pt x="2315432" y="323047"/>
                </a:lnTo>
                <a:lnTo>
                  <a:pt x="2318909" y="322369"/>
                </a:lnTo>
                <a:lnTo>
                  <a:pt x="2322385" y="321683"/>
                </a:lnTo>
                <a:lnTo>
                  <a:pt x="2325862" y="320987"/>
                </a:lnTo>
                <a:lnTo>
                  <a:pt x="2329339" y="320282"/>
                </a:lnTo>
                <a:lnTo>
                  <a:pt x="2332815" y="319568"/>
                </a:lnTo>
                <a:lnTo>
                  <a:pt x="2336292" y="318845"/>
                </a:lnTo>
                <a:lnTo>
                  <a:pt x="2339769" y="318113"/>
                </a:lnTo>
                <a:lnTo>
                  <a:pt x="2343245" y="317372"/>
                </a:lnTo>
                <a:lnTo>
                  <a:pt x="2346722" y="316622"/>
                </a:lnTo>
                <a:lnTo>
                  <a:pt x="2350199" y="315863"/>
                </a:lnTo>
                <a:lnTo>
                  <a:pt x="2353675" y="315096"/>
                </a:lnTo>
                <a:lnTo>
                  <a:pt x="2357152" y="314319"/>
                </a:lnTo>
                <a:lnTo>
                  <a:pt x="2360628" y="313534"/>
                </a:lnTo>
                <a:lnTo>
                  <a:pt x="2364105" y="312741"/>
                </a:lnTo>
                <a:lnTo>
                  <a:pt x="2367582" y="311938"/>
                </a:lnTo>
                <a:lnTo>
                  <a:pt x="2371058" y="311127"/>
                </a:lnTo>
                <a:lnTo>
                  <a:pt x="2374535" y="310308"/>
                </a:lnTo>
                <a:lnTo>
                  <a:pt x="2378012" y="309480"/>
                </a:lnTo>
                <a:lnTo>
                  <a:pt x="2381488" y="308643"/>
                </a:lnTo>
                <a:lnTo>
                  <a:pt x="2384965" y="307799"/>
                </a:lnTo>
                <a:lnTo>
                  <a:pt x="2388441" y="306945"/>
                </a:lnTo>
                <a:lnTo>
                  <a:pt x="2391918" y="306084"/>
                </a:lnTo>
                <a:lnTo>
                  <a:pt x="2395395" y="305215"/>
                </a:lnTo>
                <a:lnTo>
                  <a:pt x="2398871" y="304337"/>
                </a:lnTo>
                <a:lnTo>
                  <a:pt x="2402348" y="303451"/>
                </a:lnTo>
                <a:lnTo>
                  <a:pt x="2405824" y="302557"/>
                </a:lnTo>
                <a:lnTo>
                  <a:pt x="2409301" y="301655"/>
                </a:lnTo>
                <a:lnTo>
                  <a:pt x="2412778" y="300745"/>
                </a:lnTo>
                <a:lnTo>
                  <a:pt x="2416254" y="299828"/>
                </a:lnTo>
                <a:lnTo>
                  <a:pt x="2419731" y="298902"/>
                </a:lnTo>
                <a:lnTo>
                  <a:pt x="2423208" y="297969"/>
                </a:lnTo>
                <a:lnTo>
                  <a:pt x="2426684" y="297028"/>
                </a:lnTo>
                <a:lnTo>
                  <a:pt x="2430161" y="296079"/>
                </a:lnTo>
                <a:lnTo>
                  <a:pt x="2433638" y="295122"/>
                </a:lnTo>
                <a:lnTo>
                  <a:pt x="2437114" y="294159"/>
                </a:lnTo>
                <a:lnTo>
                  <a:pt x="2440591" y="293187"/>
                </a:lnTo>
                <a:lnTo>
                  <a:pt x="2444067" y="292209"/>
                </a:lnTo>
                <a:lnTo>
                  <a:pt x="2447544" y="291222"/>
                </a:lnTo>
                <a:lnTo>
                  <a:pt x="2451021" y="290229"/>
                </a:lnTo>
                <a:lnTo>
                  <a:pt x="2454497" y="289228"/>
                </a:lnTo>
                <a:lnTo>
                  <a:pt x="2457974" y="288220"/>
                </a:lnTo>
                <a:lnTo>
                  <a:pt x="2461451" y="287206"/>
                </a:lnTo>
                <a:lnTo>
                  <a:pt x="2464927" y="286184"/>
                </a:lnTo>
                <a:lnTo>
                  <a:pt x="2468404" y="285155"/>
                </a:lnTo>
                <a:lnTo>
                  <a:pt x="2471880" y="284119"/>
                </a:lnTo>
                <a:lnTo>
                  <a:pt x="2475357" y="283076"/>
                </a:lnTo>
                <a:lnTo>
                  <a:pt x="2478834" y="282026"/>
                </a:lnTo>
                <a:lnTo>
                  <a:pt x="2482310" y="280970"/>
                </a:lnTo>
                <a:lnTo>
                  <a:pt x="2485787" y="279907"/>
                </a:lnTo>
                <a:lnTo>
                  <a:pt x="2489263" y="278837"/>
                </a:lnTo>
                <a:lnTo>
                  <a:pt x="2492740" y="277761"/>
                </a:lnTo>
                <a:lnTo>
                  <a:pt x="2496217" y="276679"/>
                </a:lnTo>
                <a:lnTo>
                  <a:pt x="2499693" y="275590"/>
                </a:lnTo>
                <a:lnTo>
                  <a:pt x="2503170" y="274494"/>
                </a:lnTo>
                <a:lnTo>
                  <a:pt x="2506647" y="273393"/>
                </a:lnTo>
                <a:lnTo>
                  <a:pt x="2510123" y="272285"/>
                </a:lnTo>
                <a:lnTo>
                  <a:pt x="2513600" y="271171"/>
                </a:lnTo>
                <a:lnTo>
                  <a:pt x="2517077" y="270051"/>
                </a:lnTo>
                <a:lnTo>
                  <a:pt x="2520553" y="268925"/>
                </a:lnTo>
                <a:lnTo>
                  <a:pt x="2524030" y="267793"/>
                </a:lnTo>
                <a:lnTo>
                  <a:pt x="2527506" y="266655"/>
                </a:lnTo>
                <a:lnTo>
                  <a:pt x="2530983" y="265512"/>
                </a:lnTo>
                <a:lnTo>
                  <a:pt x="2534460" y="264363"/>
                </a:lnTo>
                <a:lnTo>
                  <a:pt x="2537936" y="263208"/>
                </a:lnTo>
                <a:lnTo>
                  <a:pt x="2541413" y="262047"/>
                </a:lnTo>
                <a:lnTo>
                  <a:pt x="2544890" y="260881"/>
                </a:lnTo>
                <a:lnTo>
                  <a:pt x="2548366" y="259710"/>
                </a:lnTo>
                <a:lnTo>
                  <a:pt x="2551843" y="258533"/>
                </a:lnTo>
                <a:lnTo>
                  <a:pt x="2555319" y="257351"/>
                </a:lnTo>
                <a:lnTo>
                  <a:pt x="2558796" y="256164"/>
                </a:lnTo>
                <a:lnTo>
                  <a:pt x="2562273" y="254971"/>
                </a:lnTo>
                <a:lnTo>
                  <a:pt x="2565749" y="253774"/>
                </a:lnTo>
                <a:lnTo>
                  <a:pt x="2569226" y="252571"/>
                </a:lnTo>
                <a:lnTo>
                  <a:pt x="2572702" y="251364"/>
                </a:lnTo>
                <a:lnTo>
                  <a:pt x="2576179" y="250152"/>
                </a:lnTo>
                <a:lnTo>
                  <a:pt x="2579656" y="248935"/>
                </a:lnTo>
                <a:lnTo>
                  <a:pt x="2583132" y="247713"/>
                </a:lnTo>
                <a:lnTo>
                  <a:pt x="2586609" y="246487"/>
                </a:lnTo>
                <a:lnTo>
                  <a:pt x="2590086" y="245256"/>
                </a:lnTo>
                <a:lnTo>
                  <a:pt x="2593562" y="244021"/>
                </a:lnTo>
                <a:lnTo>
                  <a:pt x="2597039" y="242781"/>
                </a:lnTo>
                <a:lnTo>
                  <a:pt x="2600516" y="241537"/>
                </a:lnTo>
                <a:lnTo>
                  <a:pt x="2603992" y="240289"/>
                </a:lnTo>
                <a:lnTo>
                  <a:pt x="2607469" y="239037"/>
                </a:lnTo>
                <a:lnTo>
                  <a:pt x="2610945" y="237780"/>
                </a:lnTo>
                <a:lnTo>
                  <a:pt x="2614422" y="236520"/>
                </a:lnTo>
                <a:lnTo>
                  <a:pt x="2617899" y="235255"/>
                </a:lnTo>
                <a:lnTo>
                  <a:pt x="2621375" y="233987"/>
                </a:lnTo>
                <a:lnTo>
                  <a:pt x="2624852" y="232715"/>
                </a:lnTo>
                <a:lnTo>
                  <a:pt x="2628329" y="231439"/>
                </a:lnTo>
                <a:lnTo>
                  <a:pt x="2631805" y="230160"/>
                </a:lnTo>
                <a:lnTo>
                  <a:pt x="2635282" y="228877"/>
                </a:lnTo>
                <a:lnTo>
                  <a:pt x="2638758" y="227591"/>
                </a:lnTo>
                <a:lnTo>
                  <a:pt x="2642235" y="226301"/>
                </a:lnTo>
                <a:lnTo>
                  <a:pt x="2645712" y="225008"/>
                </a:lnTo>
                <a:lnTo>
                  <a:pt x="2649188" y="223712"/>
                </a:lnTo>
                <a:lnTo>
                  <a:pt x="2652665" y="222413"/>
                </a:lnTo>
                <a:lnTo>
                  <a:pt x="2656142" y="221110"/>
                </a:lnTo>
                <a:lnTo>
                  <a:pt x="2659618" y="219805"/>
                </a:lnTo>
                <a:lnTo>
                  <a:pt x="2663095" y="218497"/>
                </a:lnTo>
                <a:lnTo>
                  <a:pt x="2666571" y="217186"/>
                </a:lnTo>
                <a:lnTo>
                  <a:pt x="2670048" y="215872"/>
                </a:lnTo>
                <a:lnTo>
                  <a:pt x="2673525" y="214556"/>
                </a:lnTo>
                <a:lnTo>
                  <a:pt x="2677001" y="213236"/>
                </a:lnTo>
                <a:lnTo>
                  <a:pt x="2680478" y="211915"/>
                </a:lnTo>
                <a:lnTo>
                  <a:pt x="2683954" y="210591"/>
                </a:lnTo>
                <a:lnTo>
                  <a:pt x="2687431" y="209265"/>
                </a:lnTo>
                <a:lnTo>
                  <a:pt x="2690908" y="207936"/>
                </a:lnTo>
                <a:lnTo>
                  <a:pt x="2694384" y="206606"/>
                </a:lnTo>
                <a:lnTo>
                  <a:pt x="2697861" y="205273"/>
                </a:lnTo>
                <a:lnTo>
                  <a:pt x="2701338" y="203938"/>
                </a:lnTo>
                <a:lnTo>
                  <a:pt x="2704814" y="202602"/>
                </a:lnTo>
                <a:lnTo>
                  <a:pt x="2708291" y="201263"/>
                </a:lnTo>
                <a:lnTo>
                  <a:pt x="2711768" y="199923"/>
                </a:lnTo>
                <a:lnTo>
                  <a:pt x="2715244" y="198581"/>
                </a:lnTo>
                <a:lnTo>
                  <a:pt x="2718721" y="197238"/>
                </a:lnTo>
                <a:lnTo>
                  <a:pt x="2722197" y="195893"/>
                </a:lnTo>
                <a:lnTo>
                  <a:pt x="2725674" y="194546"/>
                </a:lnTo>
                <a:lnTo>
                  <a:pt x="2729151" y="193198"/>
                </a:lnTo>
                <a:lnTo>
                  <a:pt x="2732627" y="191849"/>
                </a:lnTo>
                <a:lnTo>
                  <a:pt x="2736104" y="190499"/>
                </a:lnTo>
                <a:lnTo>
                  <a:pt x="2739580" y="189148"/>
                </a:lnTo>
                <a:lnTo>
                  <a:pt x="2743057" y="187796"/>
                </a:lnTo>
                <a:lnTo>
                  <a:pt x="2746534" y="186443"/>
                </a:lnTo>
                <a:lnTo>
                  <a:pt x="2750010" y="185089"/>
                </a:lnTo>
                <a:lnTo>
                  <a:pt x="2753487" y="183734"/>
                </a:lnTo>
                <a:lnTo>
                  <a:pt x="2756964" y="182378"/>
                </a:lnTo>
                <a:lnTo>
                  <a:pt x="2760440" y="181022"/>
                </a:lnTo>
                <a:lnTo>
                  <a:pt x="2763917" y="179666"/>
                </a:lnTo>
                <a:lnTo>
                  <a:pt x="2767393" y="178309"/>
                </a:lnTo>
                <a:lnTo>
                  <a:pt x="2770870" y="176952"/>
                </a:lnTo>
                <a:lnTo>
                  <a:pt x="2774347" y="175594"/>
                </a:lnTo>
                <a:lnTo>
                  <a:pt x="2777823" y="174237"/>
                </a:lnTo>
                <a:lnTo>
                  <a:pt x="2781300" y="172879"/>
                </a:lnTo>
              </a:path>
            </a:pathLst>
          </a:custGeom>
          <a:noFill xmlns:a="http://schemas.openxmlformats.org/drawingml/2006/main"/>
          <a:ln xmlns:a="http://schemas.openxmlformats.org/drawingml/2006/main" w="15240">
            <a:solidFill>
              <a:srgbClr val="202020"/>
            </a:solidFill>
          </a:ln>
        </p:spPr>
      </p:sp>
      <p:pic>
        <p:nvPicPr>
          <p:cNvPr id="64" name="!!am-route-m" descr="m(t)">
            <ns0:hlinkClick xmlns:ns0="http://schemas.openxmlformats.org/drawingml/2006/main" xmlns:ns1="http://schemas.openxmlformats.org/officeDocument/2006/relationships" ns1:id="rIdmethods_Link12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be13388cdf474893">
            <a:extLst>
              <a:ext uri="{96DAC541-7B7A-43D3-8B79-37D633B846F1}">
                <ns0:svgBlip xmlns:ns0="http://schemas.microsoft.com/office/drawing/2016/SVG/main" r:embed="rIdVectormf00567"/>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65" name="!!am-route-s" descr="s(t)">
            <ns0:hlinkClick xmlns:ns0="http://schemas.openxmlformats.org/drawingml/2006/main" xmlns:ns1="http://schemas.openxmlformats.org/officeDocument/2006/relationships" ns1:id="rIdmethods_Link128"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d15615f3d0c54f2a">
            <a:extLst>
              <a:ext uri="{96DAC541-7B7A-43D3-8B79-37D633B846F1}">
                <ns1:svgBlip xmlns:ns1="http://schemas.microsoft.com/office/drawing/2016/SVG/main" r:embed="rIdVectormf00568"/>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66" name="!!am-route-restored" descr="m(t)">
            <ns0:hlinkClick xmlns:ns0="http://schemas.openxmlformats.org/drawingml/2006/main" xmlns:ns1="http://schemas.openxmlformats.org/officeDocument/2006/relationships" ns1:id="rIdmethods_Link12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522130066354c66">
            <a:extLst>
              <a:ext uri="{96DAC541-7B7A-43D3-8B79-37D633B846F1}">
                <ns2:svgBlip xmlns:ns2="http://schemas.microsoft.com/office/drawing/2016/SVG/main" r:embed="rIdVectormf00569"/>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67" name="!!am-am-envelope-g0-r0-domain" descr="t"/>
          <p:cNvPicPr>
            <a:picLocks xmlns:a="http://schemas.openxmlformats.org/drawingml/2006/main" noChangeAspect="1"/>
          </p:cNvPicPr>
          <p:nvPr/>
        </p:nvPicPr>
        <p:blipFill>
          <a:blip xmlns:r="http://schemas.openxmlformats.org/officeDocument/2006/relationships" xmlns:a="http://schemas.openxmlformats.org/drawingml/2006/main" r:embed="R06f92ffc0eab431e">
            <a:extLst>
              <a:ext uri="{96DAC541-7B7A-43D3-8B79-37D633B846F1}">
                <ns3:svgBlip xmlns:ns3="http://schemas.microsoft.com/office/drawing/2016/SVG/main" r:embed="rIdVectormf00570"/>
              </a:ext>
            </a:extLst>
          </a:blip>
          <a:stretch xmlns:a="http://schemas.openxmlformats.org/drawingml/2006/main"/>
        </p:blipFill>
        <p:spPr>
          <a:xfrm xmlns:a="http://schemas.openxmlformats.org/drawingml/2006/main">
            <a:off x="3371850" y="3008769"/>
            <a:ext cx="68580" cy="97512"/>
          </a:xfrm>
          <a:prstGeom xmlns:a="http://schemas.openxmlformats.org/drawingml/2006/main" prst="rect">
            <a:avLst/>
          </a:prstGeom>
        </p:spPr>
      </p:pic>
      <p:pic>
        <p:nvPicPr>
          <p:cNvPr id="68" name="!!am-am-envelope-g0-r0-label" descr="\textstyle s(t)"/>
          <p:cNvPicPr>
            <a:picLocks xmlns:a="http://schemas.openxmlformats.org/drawingml/2006/main" noChangeAspect="1"/>
          </p:cNvPicPr>
          <p:nvPr/>
        </p:nvPicPr>
        <p:blipFill>
          <a:blip xmlns:r="http://schemas.openxmlformats.org/officeDocument/2006/relationships" xmlns:a="http://schemas.openxmlformats.org/drawingml/2006/main" r:embed="R30fdbc3ab0aa4a9e">
            <a:extLst>
              <a:ext uri="{96DAC541-7B7A-43D3-8B79-37D633B846F1}">
                <ns4:svgBlip xmlns:ns4="http://schemas.microsoft.com/office/drawing/2016/SVG/main" r:embed="rIdVectormf00571"/>
              </a:ext>
            </a:extLst>
          </a:blip>
          <a:stretch xmlns:a="http://schemas.openxmlformats.org/drawingml/2006/main"/>
        </p:blipFill>
        <p:spPr>
          <a:xfrm xmlns:a="http://schemas.openxmlformats.org/drawingml/2006/main">
            <a:off x="571735" y="2381250"/>
            <a:ext cx="376719" cy="209550"/>
          </a:xfrm>
          <a:prstGeom xmlns:a="http://schemas.openxmlformats.org/drawingml/2006/main" prst="rect">
            <a:avLst/>
          </a:prstGeom>
        </p:spPr>
      </p:pic>
      <p:pic>
        <p:nvPicPr>
          <p:cNvPr id="69" name="!!am-am-envelope-g1-r0-domain" descr="t"/>
          <p:cNvPicPr>
            <a:picLocks xmlns:a="http://schemas.openxmlformats.org/drawingml/2006/main" noChangeAspect="1"/>
          </p:cNvPicPr>
          <p:nvPr/>
        </p:nvPicPr>
        <p:blipFill>
          <a:blip xmlns:r="http://schemas.openxmlformats.org/officeDocument/2006/relationships" xmlns:a="http://schemas.openxmlformats.org/drawingml/2006/main" r:embed="R2c93da3b8f1b48c2">
            <a:extLst>
              <a:ext uri="{96DAC541-7B7A-43D3-8B79-37D633B846F1}">
                <ns5:svgBlip xmlns:ns5="http://schemas.microsoft.com/office/drawing/2016/SVG/main" r:embed="rIdVectormf00572"/>
              </a:ext>
            </a:extLst>
          </a:blip>
          <a:stretch xmlns:a="http://schemas.openxmlformats.org/drawingml/2006/main"/>
        </p:blipFill>
        <p:spPr>
          <a:xfrm xmlns:a="http://schemas.openxmlformats.org/drawingml/2006/main">
            <a:off x="7372350" y="3008769"/>
            <a:ext cx="68580" cy="97512"/>
          </a:xfrm>
          <a:prstGeom xmlns:a="http://schemas.openxmlformats.org/drawingml/2006/main" prst="rect">
            <a:avLst/>
          </a:prstGeom>
        </p:spPr>
      </p:pic>
      <p:pic>
        <p:nvPicPr>
          <p:cNvPr id="70" name="!!am-am-envelope-g1-r0-label" descr="\textstyle e(t)"/>
          <p:cNvPicPr>
            <a:picLocks xmlns:a="http://schemas.openxmlformats.org/drawingml/2006/main" noChangeAspect="1"/>
          </p:cNvPicPr>
          <p:nvPr/>
        </p:nvPicPr>
        <p:blipFill>
          <a:blip xmlns:r="http://schemas.openxmlformats.org/officeDocument/2006/relationships" xmlns:a="http://schemas.openxmlformats.org/drawingml/2006/main" r:embed="Rcbe8041de0654540">
            <a:extLst>
              <a:ext uri="{96DAC541-7B7A-43D3-8B79-37D633B846F1}">
                <ns6:svgBlip xmlns:ns6="http://schemas.microsoft.com/office/drawing/2016/SVG/main" r:embed="rIdVectormf00573"/>
              </a:ext>
            </a:extLst>
          </a:blip>
          <a:stretch xmlns:a="http://schemas.openxmlformats.org/drawingml/2006/main"/>
        </p:blipFill>
        <p:spPr>
          <a:xfrm xmlns:a="http://schemas.openxmlformats.org/drawingml/2006/main">
            <a:off x="4575002" y="2381250"/>
            <a:ext cx="392140" cy="209550"/>
          </a:xfrm>
          <a:prstGeom xmlns:a="http://schemas.openxmlformats.org/drawingml/2006/main" prst="rect">
            <a:avLst/>
          </a:prstGeom>
        </p:spPr>
      </p:pic>
      <p:pic>
        <p:nvPicPr>
          <p:cNvPr id="71" name="!!am-am-envelope-g2-r0-domain" descr="t"/>
          <p:cNvPicPr>
            <a:picLocks xmlns:a="http://schemas.openxmlformats.org/drawingml/2006/main" noChangeAspect="1"/>
          </p:cNvPicPr>
          <p:nvPr/>
        </p:nvPicPr>
        <p:blipFill>
          <a:blip xmlns:r="http://schemas.openxmlformats.org/officeDocument/2006/relationships" xmlns:a="http://schemas.openxmlformats.org/drawingml/2006/main" r:embed="Re396c92a2b894317">
            <a:extLst>
              <a:ext uri="{96DAC541-7B7A-43D3-8B79-37D633B846F1}">
                <ns7:svgBlip xmlns:ns7="http://schemas.microsoft.com/office/drawing/2016/SVG/main" r:embed="rIdVectormf00574"/>
              </a:ext>
            </a:extLst>
          </a:blip>
          <a:stretch xmlns:a="http://schemas.openxmlformats.org/drawingml/2006/main"/>
        </p:blipFill>
        <p:spPr>
          <a:xfrm xmlns:a="http://schemas.openxmlformats.org/drawingml/2006/main">
            <a:off x="11372850" y="3008769"/>
            <a:ext cx="68580" cy="97512"/>
          </a:xfrm>
          <a:prstGeom xmlns:a="http://schemas.openxmlformats.org/drawingml/2006/main" prst="rect">
            <a:avLst/>
          </a:prstGeom>
        </p:spPr>
      </p:pic>
      <p:pic>
        <p:nvPicPr>
          <p:cNvPr id="72" name="!!am-am-envelope-g2-r0-label" descr="\textstyle e(t)-A_c"/>
          <p:cNvPicPr>
            <a:picLocks xmlns:a="http://schemas.openxmlformats.org/drawingml/2006/main" noChangeAspect="1"/>
          </p:cNvPicPr>
          <p:nvPr/>
        </p:nvPicPr>
        <p:blipFill>
          <a:blip xmlns:r="http://schemas.openxmlformats.org/officeDocument/2006/relationships" xmlns:a="http://schemas.openxmlformats.org/drawingml/2006/main" r:embed="R3cfb62a4cb2c4d76">
            <a:extLst>
              <a:ext uri="{96DAC541-7B7A-43D3-8B79-37D633B846F1}">
                <ns8:svgBlip xmlns:ns8="http://schemas.microsoft.com/office/drawing/2016/SVG/main" r:embed="rIdVectormf00575"/>
              </a:ext>
            </a:extLst>
          </a:blip>
          <a:stretch xmlns:a="http://schemas.openxmlformats.org/drawingml/2006/main"/>
        </p:blipFill>
        <p:spPr>
          <a:xfrm xmlns:a="http://schemas.openxmlformats.org/drawingml/2006/main">
            <a:off x="8572500" y="2382560"/>
            <a:ext cx="942975" cy="206931"/>
          </a:xfrm>
          <a:prstGeom xmlns:a="http://schemas.openxmlformats.org/drawingml/2006/main" prst="rect">
            <a:avLst/>
          </a:prstGeom>
        </p:spPr>
      </p:pic>
      <p:pic>
        <p:nvPicPr>
          <p:cNvPr id="73" name="!!am-am-envelope-condition" descr="1+k_am(t)\geq0"/>
          <p:cNvPicPr>
            <a:picLocks xmlns:a="http://schemas.openxmlformats.org/drawingml/2006/main" noChangeAspect="1"/>
          </p:cNvPicPr>
          <p:nvPr/>
        </p:nvPicPr>
        <p:blipFill>
          <a:blip xmlns:r="http://schemas.openxmlformats.org/officeDocument/2006/relationships" xmlns:a="http://schemas.openxmlformats.org/drawingml/2006/main" r:embed="R25e49314e564424a">
            <a:extLst>
              <a:ext uri="{96DAC541-7B7A-43D3-8B79-37D633B846F1}">
                <ns9:svgBlip xmlns:ns9="http://schemas.microsoft.com/office/drawing/2016/SVG/main" r:embed="rIdVectormf00576"/>
              </a:ext>
            </a:extLst>
          </a:blip>
          <a:stretch xmlns:a="http://schemas.openxmlformats.org/drawingml/2006/main"/>
        </p:blipFill>
        <p:spPr>
          <a:xfrm xmlns:a="http://schemas.openxmlformats.org/drawingml/2006/main">
            <a:off x="609600" y="2005013"/>
            <a:ext cx="1500188" cy="200025"/>
          </a:xfrm>
          <a:prstGeom xmlns:a="http://schemas.openxmlformats.org/drawingml/2006/main" prst="rect">
            <a:avLst/>
          </a:prstGeom>
        </p:spPr>
      </p:pic>
      <p:pic>
        <p:nvPicPr>
          <p:cNvPr id="74" name="!!am-am-envelope-g0-envelope-label-1" descr="-e(t)"/>
          <p:cNvPicPr>
            <a:picLocks xmlns:a="http://schemas.openxmlformats.org/drawingml/2006/main" noChangeAspect="1"/>
          </p:cNvPicPr>
          <p:nvPr/>
        </p:nvPicPr>
        <p:blipFill>
          <a:blip xmlns:r="http://schemas.openxmlformats.org/officeDocument/2006/relationships" xmlns:a="http://schemas.openxmlformats.org/drawingml/2006/main" r:embed="R4a2f33c454fb4b19">
            <a:extLst>
              <a:ext uri="{96DAC541-7B7A-43D3-8B79-37D633B846F1}">
                <ns10:svgBlip xmlns:ns10="http://schemas.microsoft.com/office/drawing/2016/SVG/main" r:embed="rIdVectormf00577"/>
              </a:ext>
            </a:extLst>
          </a:blip>
          <a:stretch xmlns:a="http://schemas.openxmlformats.org/drawingml/2006/main"/>
        </p:blipFill>
        <p:spPr>
          <a:xfrm xmlns:a="http://schemas.openxmlformats.org/drawingml/2006/main">
            <a:off x="2660932" y="3510594"/>
            <a:ext cx="553156" cy="200025"/>
          </a:xfrm>
          <a:prstGeom xmlns:a="http://schemas.openxmlformats.org/drawingml/2006/main" prst="rect">
            <a:avLst/>
          </a:prstGeom>
        </p:spPr>
      </p:pic>
      <p:pic>
        <p:nvPicPr>
          <p:cNvPr id="75" name="!!am-am-envelope-g0-envelope-label1" descr="e(t)"/>
          <p:cNvPicPr>
            <a:picLocks xmlns:a="http://schemas.openxmlformats.org/drawingml/2006/main" noChangeAspect="1"/>
          </p:cNvPicPr>
          <p:nvPr/>
        </p:nvPicPr>
        <p:blipFill>
          <a:blip xmlns:r="http://schemas.openxmlformats.org/officeDocument/2006/relationships" xmlns:a="http://schemas.openxmlformats.org/drawingml/2006/main" r:embed="R6c7c88a65b2843d6">
            <a:extLst>
              <a:ext uri="{96DAC541-7B7A-43D3-8B79-37D633B846F1}">
                <ns11:svgBlip xmlns:ns11="http://schemas.microsoft.com/office/drawing/2016/SVG/main" r:embed="rIdVectormf00578"/>
              </a:ext>
            </a:extLst>
          </a:blip>
          <a:stretch xmlns:a="http://schemas.openxmlformats.org/drawingml/2006/main"/>
        </p:blipFill>
        <p:spPr>
          <a:xfrm xmlns:a="http://schemas.openxmlformats.org/drawingml/2006/main">
            <a:off x="2660341" y="2718756"/>
            <a:ext cx="374316" cy="200025"/>
          </a:xfrm>
          <a:prstGeom xmlns:a="http://schemas.openxmlformats.org/drawingml/2006/main" prst="rect">
            <a:avLst/>
          </a:prstGeom>
        </p:spPr>
      </p:pic>
      <p:pic>
        <p:nvPicPr>
          <p:cNvPr id="76" name="!!am-am-envelope-g1-r0-level-label" descr="A_c"/>
          <p:cNvPicPr>
            <a:picLocks xmlns:a="http://schemas.openxmlformats.org/drawingml/2006/main" noChangeAspect="1"/>
          </p:cNvPicPr>
          <p:nvPr/>
        </p:nvPicPr>
        <p:blipFill>
          <a:blip xmlns:r="http://schemas.openxmlformats.org/officeDocument/2006/relationships" xmlns:a="http://schemas.openxmlformats.org/drawingml/2006/main" r:embed="R8222760eef4448fa">
            <a:extLst>
              <a:ext uri="{96DAC541-7B7A-43D3-8B79-37D633B846F1}">
                <ns12:svgBlip xmlns:ns12="http://schemas.microsoft.com/office/drawing/2016/SVG/main" r:embed="rIdVectormf00579"/>
              </a:ext>
            </a:extLst>
          </a:blip>
          <a:stretch xmlns:a="http://schemas.openxmlformats.org/drawingml/2006/main"/>
        </p:blipFill>
        <p:spPr>
          <a:xfrm xmlns:a="http://schemas.openxmlformats.org/drawingml/2006/main">
            <a:off x="4617040" y="2691289"/>
            <a:ext cx="209006" cy="137160"/>
          </a:xfrm>
          <a:prstGeom xmlns:a="http://schemas.openxmlformats.org/drawingml/2006/main" prst="rect">
            <a:avLst/>
          </a:prstGeom>
        </p:spPr>
      </p:pic>
      <p:pic>
        <p:nvPicPr>
          <p:cNvPr id="77" name="!!am-am-subtract-math" descr="\textstyle -A_c"/>
          <p:cNvPicPr>
            <a:picLocks xmlns:a="http://schemas.openxmlformats.org/drawingml/2006/main" noChangeAspect="1"/>
          </p:cNvPicPr>
          <p:nvPr/>
        </p:nvPicPr>
        <p:blipFill>
          <a:blip xmlns:r="http://schemas.openxmlformats.org/officeDocument/2006/relationships" xmlns:a="http://schemas.openxmlformats.org/drawingml/2006/main" r:embed="R6759819297924c96">
            <a:extLst>
              <a:ext uri="{96DAC541-7B7A-43D3-8B79-37D633B846F1}">
                <ns13:svgBlip xmlns:ns13="http://schemas.microsoft.com/office/drawing/2016/SVG/main" r:embed="rIdVectormf00580"/>
              </a:ext>
            </a:extLst>
          </a:blip>
          <a:stretch xmlns:a="http://schemas.openxmlformats.org/drawingml/2006/main"/>
        </p:blipFill>
        <p:spPr>
          <a:xfrm xmlns:a="http://schemas.openxmlformats.org/drawingml/2006/main">
            <a:off x="7726232" y="2089785"/>
            <a:ext cx="473336" cy="182880"/>
          </a:xfrm>
          <a:prstGeom xmlns:a="http://schemas.openxmlformats.org/drawingml/2006/main" prst="rect">
            <a:avLst/>
          </a:prstGeom>
        </p:spPr>
      </p:pic>
      <p:pic>
        <p:nvPicPr>
          <p:cNvPr id="78" name="!!am-dense-equation-0" descr="\textstyle s(t)=A_c[1+k_am(t)]\cos(2\pi f_ct)"/>
          <p:cNvPicPr>
            <a:picLocks xmlns:a="http://schemas.openxmlformats.org/drawingml/2006/main" noChangeAspect="1"/>
          </p:cNvPicPr>
          <p:nvPr/>
        </p:nvPicPr>
        <p:blipFill>
          <a:blip xmlns:r="http://schemas.openxmlformats.org/officeDocument/2006/relationships" xmlns:a="http://schemas.openxmlformats.org/drawingml/2006/main" r:embed="Re2dfc96d16ac46a6">
            <a:extLst>
              <a:ext uri="{96DAC541-7B7A-43D3-8B79-37D633B846F1}">
                <ns14:svgBlip xmlns:ns14="http://schemas.microsoft.com/office/drawing/2016/SVG/main" r:embed="rIdVectormf00581"/>
              </a:ext>
            </a:extLst>
          </a:blip>
          <a:stretch xmlns:a="http://schemas.openxmlformats.org/drawingml/2006/main"/>
        </p:blipFill>
        <p:spPr>
          <a:xfrm xmlns:a="http://schemas.openxmlformats.org/drawingml/2006/main">
            <a:off x="609600" y="4723109"/>
            <a:ext cx="3888105" cy="246102"/>
          </a:xfrm>
          <a:prstGeom xmlns:a="http://schemas.openxmlformats.org/drawingml/2006/main" prst="rect">
            <a:avLst/>
          </a:prstGeom>
        </p:spPr>
      </p:pic>
      <p:pic>
        <p:nvPicPr>
          <p:cNvPr id="79" name="!!am-dense-equation-1" descr="\textstyle e(t)=A_c[1+k_am(t)]"/>
          <p:cNvPicPr>
            <a:picLocks xmlns:a="http://schemas.openxmlformats.org/drawingml/2006/main" noChangeAspect="1"/>
          </p:cNvPicPr>
          <p:nvPr/>
        </p:nvPicPr>
        <p:blipFill>
          <a:blip xmlns:r="http://schemas.openxmlformats.org/officeDocument/2006/relationships" xmlns:a="http://schemas.openxmlformats.org/drawingml/2006/main" r:embed="Rbf661f9a15b346ca">
            <a:extLst>
              <a:ext uri="{96DAC541-7B7A-43D3-8B79-37D633B846F1}">
                <ns15:svgBlip xmlns:ns15="http://schemas.microsoft.com/office/drawing/2016/SVG/main" r:embed="rIdVectormf00582"/>
              </a:ext>
            </a:extLst>
          </a:blip>
          <a:stretch xmlns:a="http://schemas.openxmlformats.org/drawingml/2006/main"/>
        </p:blipFill>
        <p:spPr>
          <a:xfrm xmlns:a="http://schemas.openxmlformats.org/drawingml/2006/main">
            <a:off x="609600" y="5161259"/>
            <a:ext cx="2649855" cy="246102"/>
          </a:xfrm>
          <a:prstGeom xmlns:a="http://schemas.openxmlformats.org/drawingml/2006/main" prst="rect">
            <a:avLst/>
          </a:prstGeom>
        </p:spPr>
      </p:pic>
      <p:pic>
        <p:nvPicPr>
          <p:cNvPr id="80" name="!!am-dense-equation-2" descr="\textstyle e(t)-A_c=A_ck_am(t)"/>
          <p:cNvPicPr>
            <a:picLocks xmlns:a="http://schemas.openxmlformats.org/drawingml/2006/main" noChangeAspect="1"/>
          </p:cNvPicPr>
          <p:nvPr/>
        </p:nvPicPr>
        <p:blipFill>
          <a:blip xmlns:r="http://schemas.openxmlformats.org/officeDocument/2006/relationships" xmlns:a="http://schemas.openxmlformats.org/drawingml/2006/main" r:embed="Rf20afe54c1424dce">
            <a:extLst>
              <a:ext uri="{96DAC541-7B7A-43D3-8B79-37D633B846F1}">
                <ns16:svgBlip xmlns:ns16="http://schemas.microsoft.com/office/drawing/2016/SVG/main" r:embed="rIdVectormf00583"/>
              </a:ext>
            </a:extLst>
          </a:blip>
          <a:stretch xmlns:a="http://schemas.openxmlformats.org/drawingml/2006/main"/>
        </p:blipFill>
        <p:spPr>
          <a:xfrm xmlns:a="http://schemas.openxmlformats.org/drawingml/2006/main">
            <a:off x="609600" y="5599409"/>
            <a:ext cx="2674620" cy="246102"/>
          </a:xfrm>
          <a:prstGeom xmlns:a="http://schemas.openxmlformats.org/drawingml/2006/main" prst="rect">
            <a:avLst/>
          </a:prstGeom>
        </p:spPr>
      </p:pic>
    </p:spTree>
    <p:extLst>
      <p:ext uri="{BB962C8B-B14F-4D97-AF65-F5344CB8AC3E}">
        <p14:creationId xmlns:p14="http://schemas.microsoft.com/office/powerpoint/2010/main" val="9497931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fade">
                                      <p:cBhvr>
                                        <p:cTn id="16" dur="400"/>
                                        <p:tgtEl>
                                          <p:spTgt spid="73"/>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fade">
                                      <p:cBhvr>
                                        <p:cTn id="22" dur="400"/>
                                        <p:tgtEl>
                                          <p:spTgt spid="74"/>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75"/>
                                        </p:tgtEl>
                                        <p:attrNameLst>
                                          <p:attrName>style.visibility</p:attrName>
                                        </p:attrNameLst>
                                      </p:cBhvr>
                                      <p:to>
                                        <p:strVal val="visible"/>
                                      </p:to>
                                    </p:set>
                                    <p:animEffect transition="in" filter="fade">
                                      <p:cBhvr>
                                        <p:cTn id="28" dur="400"/>
                                        <p:tgtEl>
                                          <p:spTgt spid="75"/>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00"/>
                                        <p:tgtEl>
                                          <p:spTgt spid="20"/>
                                        </p:tgtEl>
                                      </p:cBhvr>
                                    </p:animEffect>
                                  </p:childTnLst>
                                </p:cTn>
                              </p:par>
                              <p:par>
                                <p:cTn id="35" presetID="10" presetClass="entr" presetSubtype="0" fill="hold" nodeType="withEffect">
                                  <p:stCondLst>
                                    <p:cond delay="0"/>
                                  </p:stCondLst>
                                  <p:childTnLst>
                                    <p:set>
                                      <p:cBhvr>
                                        <p:cTn id="36" dur="1" fill="hold">
                                          <p:stCondLst>
                                            <p:cond delay="0"/>
                                          </p:stCondLst>
                                        </p:cTn>
                                        <p:tgtEl>
                                          <p:spTgt spid="76"/>
                                        </p:tgtEl>
                                        <p:attrNameLst>
                                          <p:attrName>style.visibility</p:attrName>
                                        </p:attrNameLst>
                                      </p:cBhvr>
                                      <p:to>
                                        <p:strVal val="visible"/>
                                      </p:to>
                                    </p:set>
                                    <p:animEffect transition="in" filter="fade">
                                      <p:cBhvr>
                                        <p:cTn id="37" dur="400"/>
                                        <p:tgtEl>
                                          <p:spTgt spid="76"/>
                                        </p:tgtEl>
                                      </p:cBhvr>
                                    </p:animEffect>
                                  </p:childTnLst>
                                </p:cTn>
                              </p:par>
                              <p:par>
                                <p:cTn id="38" presetID="10" presetClass="entr" presetSubtype="0" fill="hold" nodeType="withEffect">
                                  <p:stCondLst>
                                    <p:cond delay="0"/>
                                  </p:stCondLst>
                                  <p:childTnLst>
                                    <p:set>
                                      <p:cBhvr>
                                        <p:cTn id="39" dur="1" fill="hold">
                                          <p:stCondLst>
                                            <p:cond delay="0"/>
                                          </p:stCondLst>
                                        </p:cTn>
                                        <p:tgtEl>
                                          <p:spTgt spid="79"/>
                                        </p:tgtEl>
                                        <p:attrNameLst>
                                          <p:attrName>style.visibility</p:attrName>
                                        </p:attrNameLst>
                                      </p:cBhvr>
                                      <p:to>
                                        <p:strVal val="visible"/>
                                      </p:to>
                                    </p:set>
                                    <p:animEffect transition="in" filter="fade">
                                      <p:cBhvr>
                                        <p:cTn id="40" dur="400"/>
                                        <p:tgtEl>
                                          <p:spTgt spid="7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00"/>
                                        <p:tgtEl>
                                          <p:spTgt spid="21"/>
                                        </p:tgtEl>
                                      </p:cBhvr>
                                    </p:animEffect>
                                  </p:childTnLst>
                                </p:cTn>
                              </p:par>
                              <p:par>
                                <p:cTn id="46" presetID="10" presetClass="entr" presetSubtype="0"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00"/>
                                        <p:tgtEl>
                                          <p:spTgt spid="22"/>
                                        </p:tgtEl>
                                      </p:cBhvr>
                                    </p:animEffect>
                                  </p:childTnLst>
                                </p:cTn>
                              </p:par>
                              <p:par>
                                <p:cTn id="49" presetID="10"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animEffect transition="in" filter="fade">
                                      <p:cBhvr>
                                        <p:cTn id="51" dur="400"/>
                                        <p:tgtEl>
                                          <p:spTgt spid="77"/>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par>
                                <p:cTn id="55" presetID="10" presetClass="entr" presetSubtype="0" fill="hold" nodeType="withEffect">
                                  <p:stCondLst>
                                    <p:cond delay="0"/>
                                  </p:stCondLst>
                                  <p:childTnLst>
                                    <p:set>
                                      <p:cBhvr>
                                        <p:cTn id="56" dur="1" fill="hold">
                                          <p:stCondLst>
                                            <p:cond delay="0"/>
                                          </p:stCondLst>
                                        </p:cTn>
                                        <p:tgtEl>
                                          <p:spTgt spid="80"/>
                                        </p:tgtEl>
                                        <p:attrNameLst>
                                          <p:attrName>style.visibility</p:attrName>
                                        </p:attrNameLst>
                                      </p:cBhvr>
                                      <p:to>
                                        <p:strVal val="visible"/>
                                      </p:to>
                                    </p:set>
                                    <p:animEffect transition="in" filter="fade">
                                      <p:cBhvr>
                                        <p:cTn id="57" dur="4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methods_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am-title">
            <ns0:hlinkClick xmlns:ns0="http://schemas.openxmlformats.org/drawingml/2006/main" xmlns:ns1="http://schemas.openxmlformats.org/officeDocument/2006/relationships" ns1:id="rIdmethods_Link130" action="ppaction://hlinksldjump"/>
            <a:extLst xmlns:a="http://schemas.openxmlformats.org/drawingml/2006/main">
              <a:ext uri="{FF2B5EF4-FFF2-40B4-BE49-F238E27FC236}">
                <a16:creationId xmlns:a16="http://schemas.microsoft.com/office/drawing/2014/main" id="{B3911368-B0BD-45E4-9D48-1566E323D7F7}"/>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30" action="ppaction://hlinksldjump"/>
              </a:rPr>
              <a:t>AM</a:t>
            </a:r>
          </a:p>
        </p:txBody>
      </p:sp>
      <p:sp>
        <p:nvSpPr>
          <p:cNvPr id="2" name="!!am-route-tx-line">
            <a:extLst xmlns:a="http://schemas.openxmlformats.org/drawingml/2006/main">
              <a:ext uri="{FF2B5EF4-FFF2-40B4-BE49-F238E27FC236}">
                <a16:creationId xmlns:a16="http://schemas.microsoft.com/office/drawing/2014/main" id="{9C014A33-C49F-438C-8A35-2B1DB7CADC26}"/>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am-route-tx-head">
            <a:extLst xmlns:a="http://schemas.openxmlformats.org/drawingml/2006/main">
              <a:ext uri="{FF2B5EF4-FFF2-40B4-BE49-F238E27FC236}">
                <a16:creationId xmlns:a16="http://schemas.microsoft.com/office/drawing/2014/main" id="{873F7944-3BBA-446B-B717-A4A71AE8E017}"/>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am-route-rx-line">
            <a:extLst xmlns:a="http://schemas.openxmlformats.org/drawingml/2006/main">
              <a:ext uri="{FF2B5EF4-FFF2-40B4-BE49-F238E27FC236}">
                <a16:creationId xmlns:a16="http://schemas.microsoft.com/office/drawing/2014/main" id="{B31B3CC5-2924-468D-9B0E-97F5172DAE44}"/>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am-route-rx-head">
            <a:extLst xmlns:a="http://schemas.openxmlformats.org/drawingml/2006/main">
              <a:ext uri="{FF2B5EF4-FFF2-40B4-BE49-F238E27FC236}">
                <a16:creationId xmlns:a16="http://schemas.microsoft.com/office/drawing/2014/main" id="{5A67AAAB-D10C-4768-9860-669C7447FB1B}"/>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am-review-purpose">
            <a:extLst xmlns:a="http://schemas.openxmlformats.org/drawingml/2006/main">
              <a:ext uri="{FF2B5EF4-FFF2-40B4-BE49-F238E27FC236}">
                <a16:creationId xmlns:a16="http://schemas.microsoft.com/office/drawing/2014/main" id="{176EB1AB-FDA7-464B-83C4-406C82A8F36F}"/>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Remove the known gain to recover m(t)</a:t>
            </a:r>
          </a:p>
        </p:txBody>
      </p:sp>
      <p:sp>
        <p:nvSpPr>
          <p:cNvPr id="7" name="!!am-am-gain-g0-r0-axis-line">
            <a:extLst xmlns:a="http://schemas.openxmlformats.org/drawingml/2006/main">
              <a:ext uri="{FF2B5EF4-FFF2-40B4-BE49-F238E27FC236}">
                <a16:creationId xmlns:a16="http://schemas.microsoft.com/office/drawing/2014/main" id="{9468A9BA-D186-42AD-B71A-80EC469E0922}"/>
              </a:ext>
            </a:extLst>
          </p:cNvPr>
          <p:cNvSpPr>
            <a:spLocks xmlns:a="http://schemas.openxmlformats.org/drawingml/2006/main" noGrp="1"/>
          </p:cNvSpPr>
          <p:nvPr/>
        </p:nvSpPr>
        <p:spPr>
          <a:xfrm xmlns:a="http://schemas.openxmlformats.org/drawingml/2006/main">
            <a:off x="571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m-am-gain-g0-r0-axis-head">
            <a:extLst xmlns:a="http://schemas.openxmlformats.org/drawingml/2006/main">
              <a:ext uri="{FF2B5EF4-FFF2-40B4-BE49-F238E27FC236}">
                <a16:creationId xmlns:a16="http://schemas.microsoft.com/office/drawing/2014/main" id="{2864F35D-C2BB-473A-8AE6-9F9C61DCA535}"/>
              </a:ext>
            </a:extLst>
          </p:cNvPr>
          <p:cNvSpPr>
            <a:spLocks xmlns:a="http://schemas.openxmlformats.org/drawingml/2006/main" noGrp="1"/>
          </p:cNvSpPr>
          <p:nvPr/>
        </p:nvSpPr>
        <p:spPr>
          <a:xfrm xmlns:a="http://schemas.openxmlformats.org/drawingml/2006/main" rot="5400000">
            <a:off x="3238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am-am-gain-g1-r0-axis-line">
            <a:extLst xmlns:a="http://schemas.openxmlformats.org/drawingml/2006/main">
              <a:ext uri="{FF2B5EF4-FFF2-40B4-BE49-F238E27FC236}">
                <a16:creationId xmlns:a16="http://schemas.microsoft.com/office/drawing/2014/main" id="{E2C1A554-5C74-4F57-AC70-67CD195B35FE}"/>
              </a:ext>
            </a:extLst>
          </p:cNvPr>
          <p:cNvSpPr>
            <a:spLocks xmlns:a="http://schemas.openxmlformats.org/drawingml/2006/main" noGrp="1"/>
          </p:cNvSpPr>
          <p:nvPr/>
        </p:nvSpPr>
        <p:spPr>
          <a:xfrm xmlns:a="http://schemas.openxmlformats.org/drawingml/2006/main">
            <a:off x="45720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m-am-gain-g1-r0-axis-head">
            <a:extLst xmlns:a="http://schemas.openxmlformats.org/drawingml/2006/main">
              <a:ext uri="{FF2B5EF4-FFF2-40B4-BE49-F238E27FC236}">
                <a16:creationId xmlns:a16="http://schemas.microsoft.com/office/drawing/2014/main" id="{92C69F4C-0596-4870-A956-E496EA0794C3}"/>
              </a:ext>
            </a:extLst>
          </p:cNvPr>
          <p:cNvSpPr>
            <a:spLocks xmlns:a="http://schemas.openxmlformats.org/drawingml/2006/main" noGrp="1"/>
          </p:cNvSpPr>
          <p:nvPr/>
        </p:nvSpPr>
        <p:spPr>
          <a:xfrm xmlns:a="http://schemas.openxmlformats.org/drawingml/2006/main" rot="5400000">
            <a:off x="72390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am-am-gain-g0-r0-wave">
            <a:extLst xmlns:a="http://schemas.openxmlformats.org/drawingml/2006/main">
              <a:ext uri="{FF2B5EF4-FFF2-40B4-BE49-F238E27FC236}">
                <a16:creationId xmlns:a16="http://schemas.microsoft.com/office/drawing/2014/main" id="{D5929A43-A8E7-4BDE-90C8-AA1DFF9F11B2}"/>
              </a:ext>
            </a:extLst>
          </p:cNvPr>
          <p:cNvSpPr>
            <a:spLocks xmlns:a="http://schemas.openxmlformats.org/drawingml/2006/main" noGrp="1"/>
          </p:cNvSpPr>
          <p:nvPr/>
        </p:nvSpPr>
        <p:spPr>
          <a:xfrm xmlns:a="http://schemas.openxmlformats.org/drawingml/2006/main">
            <a:off x="571500" y="3037046"/>
            <a:ext cx="2781300" cy="345757"/>
          </a:xfrm>
          <a:custGeom xmlns:a="http://schemas.openxmlformats.org/drawingml/2006/main">
            <a:pathLst>
              <a:path w="2781300" h="345757">
                <a:moveTo>
                  <a:pt x="0" y="172879"/>
                </a:moveTo>
                <a:lnTo>
                  <a:pt x="3477" y="171521"/>
                </a:lnTo>
                <a:lnTo>
                  <a:pt x="6953" y="170163"/>
                </a:lnTo>
                <a:lnTo>
                  <a:pt x="10430" y="168806"/>
                </a:lnTo>
                <a:lnTo>
                  <a:pt x="13907" y="167448"/>
                </a:lnTo>
                <a:lnTo>
                  <a:pt x="17383" y="166092"/>
                </a:lnTo>
                <a:lnTo>
                  <a:pt x="20860" y="164735"/>
                </a:lnTo>
                <a:lnTo>
                  <a:pt x="24336" y="163379"/>
                </a:lnTo>
                <a:lnTo>
                  <a:pt x="27813" y="162024"/>
                </a:lnTo>
                <a:lnTo>
                  <a:pt x="31290" y="160669"/>
                </a:lnTo>
                <a:lnTo>
                  <a:pt x="34766" y="159315"/>
                </a:lnTo>
                <a:lnTo>
                  <a:pt x="38243" y="157962"/>
                </a:lnTo>
                <a:lnTo>
                  <a:pt x="41719" y="156609"/>
                </a:lnTo>
                <a:lnTo>
                  <a:pt x="45196" y="155258"/>
                </a:lnTo>
                <a:lnTo>
                  <a:pt x="48673" y="153908"/>
                </a:lnTo>
                <a:lnTo>
                  <a:pt x="52149" y="152559"/>
                </a:lnTo>
                <a:lnTo>
                  <a:pt x="55626" y="151211"/>
                </a:lnTo>
                <a:lnTo>
                  <a:pt x="59103" y="149865"/>
                </a:lnTo>
                <a:lnTo>
                  <a:pt x="62579" y="148520"/>
                </a:lnTo>
                <a:lnTo>
                  <a:pt x="66056" y="147176"/>
                </a:lnTo>
                <a:lnTo>
                  <a:pt x="69532" y="145835"/>
                </a:lnTo>
                <a:lnTo>
                  <a:pt x="73009" y="144494"/>
                </a:lnTo>
                <a:lnTo>
                  <a:pt x="76486" y="143156"/>
                </a:lnTo>
                <a:lnTo>
                  <a:pt x="79962" y="141819"/>
                </a:lnTo>
                <a:lnTo>
                  <a:pt x="83439" y="140485"/>
                </a:lnTo>
                <a:lnTo>
                  <a:pt x="86916" y="139152"/>
                </a:lnTo>
                <a:lnTo>
                  <a:pt x="90392" y="137821"/>
                </a:lnTo>
                <a:lnTo>
                  <a:pt x="93869" y="136493"/>
                </a:lnTo>
                <a:lnTo>
                  <a:pt x="97345" y="135166"/>
                </a:lnTo>
                <a:lnTo>
                  <a:pt x="100822" y="133843"/>
                </a:lnTo>
                <a:lnTo>
                  <a:pt x="104299" y="132521"/>
                </a:lnTo>
                <a:lnTo>
                  <a:pt x="107775" y="131202"/>
                </a:lnTo>
                <a:lnTo>
                  <a:pt x="111252" y="129886"/>
                </a:lnTo>
                <a:lnTo>
                  <a:pt x="114729" y="128572"/>
                </a:lnTo>
                <a:lnTo>
                  <a:pt x="118205" y="127261"/>
                </a:lnTo>
                <a:lnTo>
                  <a:pt x="121682" y="125952"/>
                </a:lnTo>
                <a:lnTo>
                  <a:pt x="125159" y="124647"/>
                </a:lnTo>
                <a:lnTo>
                  <a:pt x="128635" y="123345"/>
                </a:lnTo>
                <a:lnTo>
                  <a:pt x="132112" y="122045"/>
                </a:lnTo>
                <a:lnTo>
                  <a:pt x="135588" y="120749"/>
                </a:lnTo>
                <a:lnTo>
                  <a:pt x="139065" y="119456"/>
                </a:lnTo>
                <a:lnTo>
                  <a:pt x="142542" y="118167"/>
                </a:lnTo>
                <a:lnTo>
                  <a:pt x="146018" y="116880"/>
                </a:lnTo>
                <a:lnTo>
                  <a:pt x="149495" y="115597"/>
                </a:lnTo>
                <a:lnTo>
                  <a:pt x="152972" y="114318"/>
                </a:lnTo>
                <a:lnTo>
                  <a:pt x="156448" y="113042"/>
                </a:lnTo>
                <a:lnTo>
                  <a:pt x="159925" y="111770"/>
                </a:lnTo>
                <a:lnTo>
                  <a:pt x="163401" y="110502"/>
                </a:lnTo>
                <a:lnTo>
                  <a:pt x="166878" y="109238"/>
                </a:lnTo>
                <a:lnTo>
                  <a:pt x="170355" y="107977"/>
                </a:lnTo>
                <a:lnTo>
                  <a:pt x="173831" y="106721"/>
                </a:lnTo>
                <a:lnTo>
                  <a:pt x="177308" y="105469"/>
                </a:lnTo>
                <a:lnTo>
                  <a:pt x="180785" y="104220"/>
                </a:lnTo>
                <a:lnTo>
                  <a:pt x="184261" y="102976"/>
                </a:lnTo>
                <a:lnTo>
                  <a:pt x="187738" y="101737"/>
                </a:lnTo>
                <a:lnTo>
                  <a:pt x="191214" y="100501"/>
                </a:lnTo>
                <a:lnTo>
                  <a:pt x="194691" y="99271"/>
                </a:lnTo>
                <a:lnTo>
                  <a:pt x="198168" y="98044"/>
                </a:lnTo>
                <a:lnTo>
                  <a:pt x="201644" y="96823"/>
                </a:lnTo>
                <a:lnTo>
                  <a:pt x="205121" y="95606"/>
                </a:lnTo>
                <a:lnTo>
                  <a:pt x="208598" y="94393"/>
                </a:lnTo>
                <a:lnTo>
                  <a:pt x="212074" y="93186"/>
                </a:lnTo>
                <a:lnTo>
                  <a:pt x="215551" y="91984"/>
                </a:lnTo>
                <a:lnTo>
                  <a:pt x="219027" y="90786"/>
                </a:lnTo>
                <a:lnTo>
                  <a:pt x="222504" y="89594"/>
                </a:lnTo>
                <a:lnTo>
                  <a:pt x="225981" y="88407"/>
                </a:lnTo>
                <a:lnTo>
                  <a:pt x="229457" y="87224"/>
                </a:lnTo>
                <a:lnTo>
                  <a:pt x="232934" y="86048"/>
                </a:lnTo>
                <a:lnTo>
                  <a:pt x="236410" y="84876"/>
                </a:lnTo>
                <a:lnTo>
                  <a:pt x="239887" y="83710"/>
                </a:lnTo>
                <a:lnTo>
                  <a:pt x="243364" y="82550"/>
                </a:lnTo>
                <a:lnTo>
                  <a:pt x="246840" y="81395"/>
                </a:lnTo>
                <a:lnTo>
                  <a:pt x="250317" y="80246"/>
                </a:lnTo>
                <a:lnTo>
                  <a:pt x="253794" y="79102"/>
                </a:lnTo>
                <a:lnTo>
                  <a:pt x="257270" y="77964"/>
                </a:lnTo>
                <a:lnTo>
                  <a:pt x="260747" y="76832"/>
                </a:lnTo>
                <a:lnTo>
                  <a:pt x="264223" y="75706"/>
                </a:lnTo>
                <a:lnTo>
                  <a:pt x="267700" y="74586"/>
                </a:lnTo>
                <a:lnTo>
                  <a:pt x="271177" y="73473"/>
                </a:lnTo>
                <a:lnTo>
                  <a:pt x="274653" y="72365"/>
                </a:lnTo>
                <a:lnTo>
                  <a:pt x="278130" y="71263"/>
                </a:lnTo>
                <a:lnTo>
                  <a:pt x="281607" y="70168"/>
                </a:lnTo>
                <a:lnTo>
                  <a:pt x="285083" y="69079"/>
                </a:lnTo>
                <a:lnTo>
                  <a:pt x="288560" y="67996"/>
                </a:lnTo>
                <a:lnTo>
                  <a:pt x="292036" y="66920"/>
                </a:lnTo>
                <a:lnTo>
                  <a:pt x="295513" y="65851"/>
                </a:lnTo>
                <a:lnTo>
                  <a:pt x="298990" y="64788"/>
                </a:lnTo>
                <a:lnTo>
                  <a:pt x="302466" y="63731"/>
                </a:lnTo>
                <a:lnTo>
                  <a:pt x="305943" y="62682"/>
                </a:lnTo>
                <a:lnTo>
                  <a:pt x="309420" y="61639"/>
                </a:lnTo>
                <a:lnTo>
                  <a:pt x="312896" y="60603"/>
                </a:lnTo>
                <a:lnTo>
                  <a:pt x="316373" y="59574"/>
                </a:lnTo>
                <a:lnTo>
                  <a:pt x="319850" y="58552"/>
                </a:lnTo>
                <a:lnTo>
                  <a:pt x="323326" y="57537"/>
                </a:lnTo>
                <a:lnTo>
                  <a:pt x="326803" y="56529"/>
                </a:lnTo>
                <a:lnTo>
                  <a:pt x="330279" y="55529"/>
                </a:lnTo>
                <a:lnTo>
                  <a:pt x="333756" y="54535"/>
                </a:lnTo>
                <a:lnTo>
                  <a:pt x="337233" y="53549"/>
                </a:lnTo>
                <a:lnTo>
                  <a:pt x="340709" y="52570"/>
                </a:lnTo>
                <a:lnTo>
                  <a:pt x="344186" y="51599"/>
                </a:lnTo>
                <a:lnTo>
                  <a:pt x="347663" y="50635"/>
                </a:lnTo>
                <a:lnTo>
                  <a:pt x="351139" y="49679"/>
                </a:lnTo>
                <a:lnTo>
                  <a:pt x="354616" y="48730"/>
                </a:lnTo>
                <a:lnTo>
                  <a:pt x="358092" y="47789"/>
                </a:lnTo>
                <a:lnTo>
                  <a:pt x="361569" y="46856"/>
                </a:lnTo>
                <a:lnTo>
                  <a:pt x="365046" y="45930"/>
                </a:lnTo>
                <a:lnTo>
                  <a:pt x="368522" y="45012"/>
                </a:lnTo>
                <a:lnTo>
                  <a:pt x="371999" y="44102"/>
                </a:lnTo>
                <a:lnTo>
                  <a:pt x="375476" y="43200"/>
                </a:lnTo>
                <a:lnTo>
                  <a:pt x="378952" y="42307"/>
                </a:lnTo>
                <a:lnTo>
                  <a:pt x="382429" y="41421"/>
                </a:lnTo>
                <a:lnTo>
                  <a:pt x="385905" y="40543"/>
                </a:lnTo>
                <a:lnTo>
                  <a:pt x="389382" y="39673"/>
                </a:lnTo>
                <a:lnTo>
                  <a:pt x="392859" y="38812"/>
                </a:lnTo>
                <a:lnTo>
                  <a:pt x="396335" y="37959"/>
                </a:lnTo>
                <a:lnTo>
                  <a:pt x="399812" y="37114"/>
                </a:lnTo>
                <a:lnTo>
                  <a:pt x="403289" y="36278"/>
                </a:lnTo>
                <a:lnTo>
                  <a:pt x="406765" y="35450"/>
                </a:lnTo>
                <a:lnTo>
                  <a:pt x="410242" y="34630"/>
                </a:lnTo>
                <a:lnTo>
                  <a:pt x="413718" y="33819"/>
                </a:lnTo>
                <a:lnTo>
                  <a:pt x="417195" y="33017"/>
                </a:lnTo>
                <a:lnTo>
                  <a:pt x="420672" y="32223"/>
                </a:lnTo>
                <a:lnTo>
                  <a:pt x="424148" y="31438"/>
                </a:lnTo>
                <a:lnTo>
                  <a:pt x="427625" y="30662"/>
                </a:lnTo>
                <a:lnTo>
                  <a:pt x="431101" y="29894"/>
                </a:lnTo>
                <a:lnTo>
                  <a:pt x="434578" y="29135"/>
                </a:lnTo>
                <a:lnTo>
                  <a:pt x="438055" y="28385"/>
                </a:lnTo>
                <a:lnTo>
                  <a:pt x="441531" y="27644"/>
                </a:lnTo>
                <a:lnTo>
                  <a:pt x="445008" y="26912"/>
                </a:lnTo>
                <a:lnTo>
                  <a:pt x="448485" y="26189"/>
                </a:lnTo>
                <a:lnTo>
                  <a:pt x="451961" y="25475"/>
                </a:lnTo>
                <a:lnTo>
                  <a:pt x="455438" y="24770"/>
                </a:lnTo>
                <a:lnTo>
                  <a:pt x="458915" y="24075"/>
                </a:lnTo>
                <a:lnTo>
                  <a:pt x="462391" y="23388"/>
                </a:lnTo>
                <a:lnTo>
                  <a:pt x="465868" y="22711"/>
                </a:lnTo>
                <a:lnTo>
                  <a:pt x="469344" y="22043"/>
                </a:lnTo>
                <a:lnTo>
                  <a:pt x="472821" y="21384"/>
                </a:lnTo>
                <a:lnTo>
                  <a:pt x="476298" y="20735"/>
                </a:lnTo>
                <a:lnTo>
                  <a:pt x="479774" y="20094"/>
                </a:lnTo>
                <a:lnTo>
                  <a:pt x="483251" y="19464"/>
                </a:lnTo>
                <a:lnTo>
                  <a:pt x="486727" y="18843"/>
                </a:lnTo>
                <a:lnTo>
                  <a:pt x="490204" y="18231"/>
                </a:lnTo>
                <a:lnTo>
                  <a:pt x="493681" y="17629"/>
                </a:lnTo>
                <a:lnTo>
                  <a:pt x="497157" y="17036"/>
                </a:lnTo>
                <a:lnTo>
                  <a:pt x="500634" y="16453"/>
                </a:lnTo>
                <a:lnTo>
                  <a:pt x="504111" y="15880"/>
                </a:lnTo>
                <a:lnTo>
                  <a:pt x="507587" y="15316"/>
                </a:lnTo>
                <a:lnTo>
                  <a:pt x="511064" y="14763"/>
                </a:lnTo>
                <a:lnTo>
                  <a:pt x="514541" y="14218"/>
                </a:lnTo>
                <a:lnTo>
                  <a:pt x="518017" y="13684"/>
                </a:lnTo>
                <a:lnTo>
                  <a:pt x="521494" y="13160"/>
                </a:lnTo>
                <a:lnTo>
                  <a:pt x="524970" y="12645"/>
                </a:lnTo>
                <a:lnTo>
                  <a:pt x="528447" y="12140"/>
                </a:lnTo>
                <a:lnTo>
                  <a:pt x="531924" y="11645"/>
                </a:lnTo>
                <a:lnTo>
                  <a:pt x="535400" y="11160"/>
                </a:lnTo>
                <a:lnTo>
                  <a:pt x="538877" y="10685"/>
                </a:lnTo>
                <a:lnTo>
                  <a:pt x="542354" y="10220"/>
                </a:lnTo>
                <a:lnTo>
                  <a:pt x="545830" y="9766"/>
                </a:lnTo>
                <a:lnTo>
                  <a:pt x="549307" y="9321"/>
                </a:lnTo>
                <a:lnTo>
                  <a:pt x="552783" y="8886"/>
                </a:lnTo>
                <a:lnTo>
                  <a:pt x="556260" y="8461"/>
                </a:lnTo>
                <a:lnTo>
                  <a:pt x="559737" y="8047"/>
                </a:lnTo>
                <a:lnTo>
                  <a:pt x="563213" y="7642"/>
                </a:lnTo>
                <a:lnTo>
                  <a:pt x="566690" y="7248"/>
                </a:lnTo>
                <a:lnTo>
                  <a:pt x="570167" y="6864"/>
                </a:lnTo>
                <a:lnTo>
                  <a:pt x="573643" y="6491"/>
                </a:lnTo>
                <a:lnTo>
                  <a:pt x="577120" y="6127"/>
                </a:lnTo>
                <a:lnTo>
                  <a:pt x="580596" y="5774"/>
                </a:lnTo>
                <a:lnTo>
                  <a:pt x="584073" y="5431"/>
                </a:lnTo>
                <a:lnTo>
                  <a:pt x="587550" y="5099"/>
                </a:lnTo>
                <a:lnTo>
                  <a:pt x="591026" y="4777"/>
                </a:lnTo>
                <a:lnTo>
                  <a:pt x="594503" y="4465"/>
                </a:lnTo>
                <a:lnTo>
                  <a:pt x="597980" y="4163"/>
                </a:lnTo>
                <a:lnTo>
                  <a:pt x="601456" y="3872"/>
                </a:lnTo>
                <a:lnTo>
                  <a:pt x="604933" y="3592"/>
                </a:lnTo>
                <a:lnTo>
                  <a:pt x="608409" y="3322"/>
                </a:lnTo>
                <a:lnTo>
                  <a:pt x="611886" y="3062"/>
                </a:lnTo>
                <a:lnTo>
                  <a:pt x="615363" y="2813"/>
                </a:lnTo>
                <a:lnTo>
                  <a:pt x="618839" y="2574"/>
                </a:lnTo>
                <a:lnTo>
                  <a:pt x="622316" y="2346"/>
                </a:lnTo>
                <a:lnTo>
                  <a:pt x="625793" y="2128"/>
                </a:lnTo>
                <a:lnTo>
                  <a:pt x="629269" y="1921"/>
                </a:lnTo>
                <a:lnTo>
                  <a:pt x="632746" y="1725"/>
                </a:lnTo>
                <a:lnTo>
                  <a:pt x="636222" y="1539"/>
                </a:lnTo>
                <a:lnTo>
                  <a:pt x="639699" y="1363"/>
                </a:lnTo>
                <a:lnTo>
                  <a:pt x="643176" y="1198"/>
                </a:lnTo>
                <a:lnTo>
                  <a:pt x="646652" y="1044"/>
                </a:lnTo>
                <a:lnTo>
                  <a:pt x="650129" y="900"/>
                </a:lnTo>
                <a:lnTo>
                  <a:pt x="653606" y="767"/>
                </a:lnTo>
                <a:lnTo>
                  <a:pt x="657082" y="645"/>
                </a:lnTo>
                <a:lnTo>
                  <a:pt x="660559" y="533"/>
                </a:lnTo>
                <a:lnTo>
                  <a:pt x="664035" y="432"/>
                </a:lnTo>
                <a:lnTo>
                  <a:pt x="667512" y="341"/>
                </a:lnTo>
                <a:lnTo>
                  <a:pt x="670989" y="261"/>
                </a:lnTo>
                <a:lnTo>
                  <a:pt x="674465" y="192"/>
                </a:lnTo>
                <a:lnTo>
                  <a:pt x="677942" y="133"/>
                </a:lnTo>
                <a:lnTo>
                  <a:pt x="681419" y="85"/>
                </a:lnTo>
                <a:lnTo>
                  <a:pt x="684895" y="48"/>
                </a:lnTo>
                <a:lnTo>
                  <a:pt x="688372" y="21"/>
                </a:lnTo>
                <a:lnTo>
                  <a:pt x="691848" y="5"/>
                </a:lnTo>
                <a:lnTo>
                  <a:pt x="695325" y="0"/>
                </a:lnTo>
                <a:lnTo>
                  <a:pt x="698802" y="5"/>
                </a:lnTo>
                <a:lnTo>
                  <a:pt x="702278" y="21"/>
                </a:lnTo>
                <a:lnTo>
                  <a:pt x="705755" y="48"/>
                </a:lnTo>
                <a:lnTo>
                  <a:pt x="709231" y="85"/>
                </a:lnTo>
                <a:lnTo>
                  <a:pt x="712708" y="133"/>
                </a:lnTo>
                <a:lnTo>
                  <a:pt x="716185" y="192"/>
                </a:lnTo>
                <a:lnTo>
                  <a:pt x="719661" y="261"/>
                </a:lnTo>
                <a:lnTo>
                  <a:pt x="723138" y="341"/>
                </a:lnTo>
                <a:lnTo>
                  <a:pt x="726615" y="432"/>
                </a:lnTo>
                <a:lnTo>
                  <a:pt x="730091" y="533"/>
                </a:lnTo>
                <a:lnTo>
                  <a:pt x="733568" y="645"/>
                </a:lnTo>
                <a:lnTo>
                  <a:pt x="737045" y="767"/>
                </a:lnTo>
                <a:lnTo>
                  <a:pt x="740521" y="900"/>
                </a:lnTo>
                <a:lnTo>
                  <a:pt x="743998" y="1044"/>
                </a:lnTo>
                <a:lnTo>
                  <a:pt x="747474" y="1198"/>
                </a:lnTo>
                <a:lnTo>
                  <a:pt x="750951" y="1363"/>
                </a:lnTo>
                <a:lnTo>
                  <a:pt x="754428" y="1539"/>
                </a:lnTo>
                <a:lnTo>
                  <a:pt x="757904" y="1725"/>
                </a:lnTo>
                <a:lnTo>
                  <a:pt x="761381" y="1921"/>
                </a:lnTo>
                <a:lnTo>
                  <a:pt x="764858" y="2128"/>
                </a:lnTo>
                <a:lnTo>
                  <a:pt x="768334" y="2346"/>
                </a:lnTo>
                <a:lnTo>
                  <a:pt x="771811" y="2574"/>
                </a:lnTo>
                <a:lnTo>
                  <a:pt x="775287" y="2813"/>
                </a:lnTo>
                <a:lnTo>
                  <a:pt x="778764" y="3062"/>
                </a:lnTo>
                <a:lnTo>
                  <a:pt x="782241" y="3322"/>
                </a:lnTo>
                <a:lnTo>
                  <a:pt x="785717" y="3592"/>
                </a:lnTo>
                <a:lnTo>
                  <a:pt x="789194" y="3872"/>
                </a:lnTo>
                <a:lnTo>
                  <a:pt x="792671" y="4163"/>
                </a:lnTo>
                <a:lnTo>
                  <a:pt x="796147" y="4465"/>
                </a:lnTo>
                <a:lnTo>
                  <a:pt x="799624" y="4777"/>
                </a:lnTo>
                <a:lnTo>
                  <a:pt x="803100" y="5099"/>
                </a:lnTo>
                <a:lnTo>
                  <a:pt x="806577" y="5431"/>
                </a:lnTo>
                <a:lnTo>
                  <a:pt x="810054" y="5774"/>
                </a:lnTo>
                <a:lnTo>
                  <a:pt x="813530" y="6127"/>
                </a:lnTo>
                <a:lnTo>
                  <a:pt x="817007" y="6491"/>
                </a:lnTo>
                <a:lnTo>
                  <a:pt x="820483" y="6864"/>
                </a:lnTo>
                <a:lnTo>
                  <a:pt x="823960" y="7248"/>
                </a:lnTo>
                <a:lnTo>
                  <a:pt x="827437" y="7642"/>
                </a:lnTo>
                <a:lnTo>
                  <a:pt x="830913" y="8047"/>
                </a:lnTo>
                <a:lnTo>
                  <a:pt x="834390" y="8461"/>
                </a:lnTo>
                <a:lnTo>
                  <a:pt x="837867" y="8886"/>
                </a:lnTo>
                <a:lnTo>
                  <a:pt x="841343" y="9321"/>
                </a:lnTo>
                <a:lnTo>
                  <a:pt x="844820" y="9766"/>
                </a:lnTo>
                <a:lnTo>
                  <a:pt x="848297" y="10220"/>
                </a:lnTo>
                <a:lnTo>
                  <a:pt x="851773" y="10685"/>
                </a:lnTo>
                <a:lnTo>
                  <a:pt x="855250" y="11160"/>
                </a:lnTo>
                <a:lnTo>
                  <a:pt x="858726" y="11645"/>
                </a:lnTo>
                <a:lnTo>
                  <a:pt x="862203" y="12140"/>
                </a:lnTo>
                <a:lnTo>
                  <a:pt x="865680" y="12645"/>
                </a:lnTo>
                <a:lnTo>
                  <a:pt x="869156" y="13160"/>
                </a:lnTo>
                <a:lnTo>
                  <a:pt x="872633" y="13684"/>
                </a:lnTo>
                <a:lnTo>
                  <a:pt x="876110" y="14218"/>
                </a:lnTo>
                <a:lnTo>
                  <a:pt x="879586" y="14763"/>
                </a:lnTo>
                <a:lnTo>
                  <a:pt x="883063" y="15316"/>
                </a:lnTo>
                <a:lnTo>
                  <a:pt x="886539" y="15880"/>
                </a:lnTo>
                <a:lnTo>
                  <a:pt x="890016" y="16453"/>
                </a:lnTo>
                <a:lnTo>
                  <a:pt x="893493" y="17036"/>
                </a:lnTo>
                <a:lnTo>
                  <a:pt x="896969" y="17629"/>
                </a:lnTo>
                <a:lnTo>
                  <a:pt x="900446" y="18231"/>
                </a:lnTo>
                <a:lnTo>
                  <a:pt x="903923" y="18843"/>
                </a:lnTo>
                <a:lnTo>
                  <a:pt x="907399" y="19464"/>
                </a:lnTo>
                <a:lnTo>
                  <a:pt x="910876" y="20094"/>
                </a:lnTo>
                <a:lnTo>
                  <a:pt x="914352" y="20735"/>
                </a:lnTo>
                <a:lnTo>
                  <a:pt x="917829" y="21384"/>
                </a:lnTo>
                <a:lnTo>
                  <a:pt x="921306" y="22043"/>
                </a:lnTo>
                <a:lnTo>
                  <a:pt x="924782" y="22711"/>
                </a:lnTo>
                <a:lnTo>
                  <a:pt x="928259" y="23388"/>
                </a:lnTo>
                <a:lnTo>
                  <a:pt x="931735" y="24075"/>
                </a:lnTo>
                <a:lnTo>
                  <a:pt x="935212" y="24770"/>
                </a:lnTo>
                <a:lnTo>
                  <a:pt x="938689" y="25475"/>
                </a:lnTo>
                <a:lnTo>
                  <a:pt x="942165" y="26189"/>
                </a:lnTo>
                <a:lnTo>
                  <a:pt x="945642" y="26912"/>
                </a:lnTo>
                <a:lnTo>
                  <a:pt x="949119" y="27644"/>
                </a:lnTo>
                <a:lnTo>
                  <a:pt x="952595" y="28385"/>
                </a:lnTo>
                <a:lnTo>
                  <a:pt x="956072" y="29135"/>
                </a:lnTo>
                <a:lnTo>
                  <a:pt x="959549" y="29894"/>
                </a:lnTo>
                <a:lnTo>
                  <a:pt x="963025" y="30662"/>
                </a:lnTo>
                <a:lnTo>
                  <a:pt x="966502" y="31438"/>
                </a:lnTo>
                <a:lnTo>
                  <a:pt x="969978" y="32223"/>
                </a:lnTo>
                <a:lnTo>
                  <a:pt x="973455" y="33017"/>
                </a:lnTo>
                <a:lnTo>
                  <a:pt x="976932" y="33819"/>
                </a:lnTo>
                <a:lnTo>
                  <a:pt x="980408" y="34630"/>
                </a:lnTo>
                <a:lnTo>
                  <a:pt x="983885" y="35450"/>
                </a:lnTo>
                <a:lnTo>
                  <a:pt x="987362" y="36278"/>
                </a:lnTo>
                <a:lnTo>
                  <a:pt x="990838" y="37114"/>
                </a:lnTo>
                <a:lnTo>
                  <a:pt x="994315" y="37959"/>
                </a:lnTo>
                <a:lnTo>
                  <a:pt x="997791" y="38812"/>
                </a:lnTo>
                <a:lnTo>
                  <a:pt x="1001268" y="39673"/>
                </a:lnTo>
                <a:lnTo>
                  <a:pt x="1004745" y="40543"/>
                </a:lnTo>
                <a:lnTo>
                  <a:pt x="1008221" y="41421"/>
                </a:lnTo>
                <a:lnTo>
                  <a:pt x="1011698" y="42307"/>
                </a:lnTo>
                <a:lnTo>
                  <a:pt x="1015174" y="43200"/>
                </a:lnTo>
                <a:lnTo>
                  <a:pt x="1018651" y="44102"/>
                </a:lnTo>
                <a:lnTo>
                  <a:pt x="1022128" y="45012"/>
                </a:lnTo>
                <a:lnTo>
                  <a:pt x="1025604" y="45930"/>
                </a:lnTo>
                <a:lnTo>
                  <a:pt x="1029081" y="46856"/>
                </a:lnTo>
                <a:lnTo>
                  <a:pt x="1032558" y="47789"/>
                </a:lnTo>
                <a:lnTo>
                  <a:pt x="1036034" y="48730"/>
                </a:lnTo>
                <a:lnTo>
                  <a:pt x="1039511" y="49679"/>
                </a:lnTo>
                <a:lnTo>
                  <a:pt x="1042988" y="50635"/>
                </a:lnTo>
                <a:lnTo>
                  <a:pt x="1046464" y="51599"/>
                </a:lnTo>
                <a:lnTo>
                  <a:pt x="1049941" y="52570"/>
                </a:lnTo>
                <a:lnTo>
                  <a:pt x="1053417" y="53549"/>
                </a:lnTo>
                <a:lnTo>
                  <a:pt x="1056894" y="54535"/>
                </a:lnTo>
                <a:lnTo>
                  <a:pt x="1060371" y="55529"/>
                </a:lnTo>
                <a:lnTo>
                  <a:pt x="1063847" y="56529"/>
                </a:lnTo>
                <a:lnTo>
                  <a:pt x="1067324" y="57537"/>
                </a:lnTo>
                <a:lnTo>
                  <a:pt x="1070801" y="58552"/>
                </a:lnTo>
                <a:lnTo>
                  <a:pt x="1074277" y="59574"/>
                </a:lnTo>
                <a:lnTo>
                  <a:pt x="1077754" y="60603"/>
                </a:lnTo>
                <a:lnTo>
                  <a:pt x="1081230" y="61639"/>
                </a:lnTo>
                <a:lnTo>
                  <a:pt x="1084707" y="62682"/>
                </a:lnTo>
                <a:lnTo>
                  <a:pt x="1088184" y="63731"/>
                </a:lnTo>
                <a:lnTo>
                  <a:pt x="1091660" y="64788"/>
                </a:lnTo>
                <a:lnTo>
                  <a:pt x="1095137" y="65851"/>
                </a:lnTo>
                <a:lnTo>
                  <a:pt x="1098614" y="66920"/>
                </a:lnTo>
                <a:lnTo>
                  <a:pt x="1102090" y="67996"/>
                </a:lnTo>
                <a:lnTo>
                  <a:pt x="1105567" y="69079"/>
                </a:lnTo>
                <a:lnTo>
                  <a:pt x="1109043" y="70168"/>
                </a:lnTo>
                <a:lnTo>
                  <a:pt x="1112520" y="71263"/>
                </a:lnTo>
                <a:lnTo>
                  <a:pt x="1115997" y="72365"/>
                </a:lnTo>
                <a:lnTo>
                  <a:pt x="1119473" y="73473"/>
                </a:lnTo>
                <a:lnTo>
                  <a:pt x="1122950" y="74586"/>
                </a:lnTo>
                <a:lnTo>
                  <a:pt x="1126427" y="75706"/>
                </a:lnTo>
                <a:lnTo>
                  <a:pt x="1129903" y="76832"/>
                </a:lnTo>
                <a:lnTo>
                  <a:pt x="1133380" y="77964"/>
                </a:lnTo>
                <a:lnTo>
                  <a:pt x="1136856" y="79102"/>
                </a:lnTo>
                <a:lnTo>
                  <a:pt x="1140333" y="80246"/>
                </a:lnTo>
                <a:lnTo>
                  <a:pt x="1143810" y="81395"/>
                </a:lnTo>
                <a:lnTo>
                  <a:pt x="1147286" y="82550"/>
                </a:lnTo>
                <a:lnTo>
                  <a:pt x="1150763" y="83710"/>
                </a:lnTo>
                <a:lnTo>
                  <a:pt x="1154240" y="84876"/>
                </a:lnTo>
                <a:lnTo>
                  <a:pt x="1157716" y="86048"/>
                </a:lnTo>
                <a:lnTo>
                  <a:pt x="1161193" y="87224"/>
                </a:lnTo>
                <a:lnTo>
                  <a:pt x="1164669" y="88407"/>
                </a:lnTo>
                <a:lnTo>
                  <a:pt x="1168146" y="89594"/>
                </a:lnTo>
                <a:lnTo>
                  <a:pt x="1171623" y="90786"/>
                </a:lnTo>
                <a:lnTo>
                  <a:pt x="1175099" y="91984"/>
                </a:lnTo>
                <a:lnTo>
                  <a:pt x="1178576" y="93186"/>
                </a:lnTo>
                <a:lnTo>
                  <a:pt x="1182053" y="94393"/>
                </a:lnTo>
                <a:lnTo>
                  <a:pt x="1185529" y="95606"/>
                </a:lnTo>
                <a:lnTo>
                  <a:pt x="1189006" y="96823"/>
                </a:lnTo>
                <a:lnTo>
                  <a:pt x="1192482" y="98044"/>
                </a:lnTo>
                <a:lnTo>
                  <a:pt x="1195959" y="99271"/>
                </a:lnTo>
                <a:lnTo>
                  <a:pt x="1199436" y="100501"/>
                </a:lnTo>
                <a:lnTo>
                  <a:pt x="1202912" y="101737"/>
                </a:lnTo>
                <a:lnTo>
                  <a:pt x="1206389" y="102976"/>
                </a:lnTo>
                <a:lnTo>
                  <a:pt x="1209865" y="104220"/>
                </a:lnTo>
                <a:lnTo>
                  <a:pt x="1213342" y="105469"/>
                </a:lnTo>
                <a:lnTo>
                  <a:pt x="1216819" y="106721"/>
                </a:lnTo>
                <a:lnTo>
                  <a:pt x="1220295" y="107977"/>
                </a:lnTo>
                <a:lnTo>
                  <a:pt x="1223772" y="109238"/>
                </a:lnTo>
                <a:lnTo>
                  <a:pt x="1227249" y="110502"/>
                </a:lnTo>
                <a:lnTo>
                  <a:pt x="1230725" y="111770"/>
                </a:lnTo>
                <a:lnTo>
                  <a:pt x="1234202" y="113042"/>
                </a:lnTo>
                <a:lnTo>
                  <a:pt x="1237679" y="114318"/>
                </a:lnTo>
                <a:lnTo>
                  <a:pt x="1241155" y="115597"/>
                </a:lnTo>
                <a:lnTo>
                  <a:pt x="1244632" y="116880"/>
                </a:lnTo>
                <a:lnTo>
                  <a:pt x="1248108" y="118167"/>
                </a:lnTo>
                <a:lnTo>
                  <a:pt x="1251585" y="119456"/>
                </a:lnTo>
                <a:lnTo>
                  <a:pt x="1255062" y="120749"/>
                </a:lnTo>
                <a:lnTo>
                  <a:pt x="1258538" y="122045"/>
                </a:lnTo>
                <a:lnTo>
                  <a:pt x="1262015" y="123345"/>
                </a:lnTo>
                <a:lnTo>
                  <a:pt x="1265492" y="124647"/>
                </a:lnTo>
                <a:lnTo>
                  <a:pt x="1268968" y="125952"/>
                </a:lnTo>
                <a:lnTo>
                  <a:pt x="1272445" y="127261"/>
                </a:lnTo>
                <a:lnTo>
                  <a:pt x="1275921" y="128572"/>
                </a:lnTo>
                <a:lnTo>
                  <a:pt x="1279398" y="129886"/>
                </a:lnTo>
                <a:lnTo>
                  <a:pt x="1282875" y="131202"/>
                </a:lnTo>
                <a:lnTo>
                  <a:pt x="1286351" y="132521"/>
                </a:lnTo>
                <a:lnTo>
                  <a:pt x="1289828" y="133843"/>
                </a:lnTo>
                <a:lnTo>
                  <a:pt x="1293305" y="135166"/>
                </a:lnTo>
                <a:lnTo>
                  <a:pt x="1296781" y="136493"/>
                </a:lnTo>
                <a:lnTo>
                  <a:pt x="1300258" y="137821"/>
                </a:lnTo>
                <a:lnTo>
                  <a:pt x="1303734" y="139152"/>
                </a:lnTo>
                <a:lnTo>
                  <a:pt x="1307211" y="140485"/>
                </a:lnTo>
                <a:lnTo>
                  <a:pt x="1310688" y="141819"/>
                </a:lnTo>
                <a:lnTo>
                  <a:pt x="1314164" y="143156"/>
                </a:lnTo>
                <a:lnTo>
                  <a:pt x="1317641" y="144494"/>
                </a:lnTo>
                <a:lnTo>
                  <a:pt x="1321118" y="145835"/>
                </a:lnTo>
                <a:lnTo>
                  <a:pt x="1324594" y="147176"/>
                </a:lnTo>
                <a:lnTo>
                  <a:pt x="1328071" y="148520"/>
                </a:lnTo>
                <a:lnTo>
                  <a:pt x="1331547" y="149865"/>
                </a:lnTo>
                <a:lnTo>
                  <a:pt x="1335024" y="151211"/>
                </a:lnTo>
                <a:lnTo>
                  <a:pt x="1338501" y="152559"/>
                </a:lnTo>
                <a:lnTo>
                  <a:pt x="1341977" y="153908"/>
                </a:lnTo>
                <a:lnTo>
                  <a:pt x="1345454" y="155258"/>
                </a:lnTo>
                <a:lnTo>
                  <a:pt x="1348931" y="156609"/>
                </a:lnTo>
                <a:lnTo>
                  <a:pt x="1352407" y="157962"/>
                </a:lnTo>
                <a:lnTo>
                  <a:pt x="1355884" y="159315"/>
                </a:lnTo>
                <a:lnTo>
                  <a:pt x="1359360" y="160669"/>
                </a:lnTo>
                <a:lnTo>
                  <a:pt x="1362837" y="162024"/>
                </a:lnTo>
                <a:lnTo>
                  <a:pt x="1366314" y="163379"/>
                </a:lnTo>
                <a:lnTo>
                  <a:pt x="1369790" y="164735"/>
                </a:lnTo>
                <a:lnTo>
                  <a:pt x="1373267" y="166092"/>
                </a:lnTo>
                <a:lnTo>
                  <a:pt x="1376744" y="167448"/>
                </a:lnTo>
                <a:lnTo>
                  <a:pt x="1380220" y="168806"/>
                </a:lnTo>
                <a:lnTo>
                  <a:pt x="1383697" y="170163"/>
                </a:lnTo>
                <a:lnTo>
                  <a:pt x="1387173" y="171521"/>
                </a:lnTo>
                <a:lnTo>
                  <a:pt x="1390650" y="172879"/>
                </a:lnTo>
                <a:lnTo>
                  <a:pt x="1394127" y="174237"/>
                </a:lnTo>
                <a:lnTo>
                  <a:pt x="1397603" y="175594"/>
                </a:lnTo>
                <a:lnTo>
                  <a:pt x="1401080" y="176952"/>
                </a:lnTo>
                <a:lnTo>
                  <a:pt x="1404557" y="178309"/>
                </a:lnTo>
                <a:lnTo>
                  <a:pt x="1408033" y="179666"/>
                </a:lnTo>
                <a:lnTo>
                  <a:pt x="1411510" y="181022"/>
                </a:lnTo>
                <a:lnTo>
                  <a:pt x="1414986" y="182378"/>
                </a:lnTo>
                <a:lnTo>
                  <a:pt x="1418463" y="183734"/>
                </a:lnTo>
                <a:lnTo>
                  <a:pt x="1421940" y="185089"/>
                </a:lnTo>
                <a:lnTo>
                  <a:pt x="1425416" y="186443"/>
                </a:lnTo>
                <a:lnTo>
                  <a:pt x="1428893" y="187796"/>
                </a:lnTo>
                <a:lnTo>
                  <a:pt x="1432370" y="189148"/>
                </a:lnTo>
                <a:lnTo>
                  <a:pt x="1435846" y="190499"/>
                </a:lnTo>
                <a:lnTo>
                  <a:pt x="1439323" y="191849"/>
                </a:lnTo>
                <a:lnTo>
                  <a:pt x="1442799" y="193198"/>
                </a:lnTo>
                <a:lnTo>
                  <a:pt x="1446276" y="194546"/>
                </a:lnTo>
                <a:lnTo>
                  <a:pt x="1449753" y="195893"/>
                </a:lnTo>
                <a:lnTo>
                  <a:pt x="1453229" y="197238"/>
                </a:lnTo>
                <a:lnTo>
                  <a:pt x="1456706" y="198581"/>
                </a:lnTo>
                <a:lnTo>
                  <a:pt x="1460183" y="199923"/>
                </a:lnTo>
                <a:lnTo>
                  <a:pt x="1463659" y="201263"/>
                </a:lnTo>
                <a:lnTo>
                  <a:pt x="1467136" y="202602"/>
                </a:lnTo>
                <a:lnTo>
                  <a:pt x="1470612" y="203938"/>
                </a:lnTo>
                <a:lnTo>
                  <a:pt x="1474089" y="205273"/>
                </a:lnTo>
                <a:lnTo>
                  <a:pt x="1477566" y="206606"/>
                </a:lnTo>
                <a:lnTo>
                  <a:pt x="1481042" y="207936"/>
                </a:lnTo>
                <a:lnTo>
                  <a:pt x="1484519" y="209265"/>
                </a:lnTo>
                <a:lnTo>
                  <a:pt x="1487996" y="210591"/>
                </a:lnTo>
                <a:lnTo>
                  <a:pt x="1491472" y="211915"/>
                </a:lnTo>
                <a:lnTo>
                  <a:pt x="1494949" y="213236"/>
                </a:lnTo>
                <a:lnTo>
                  <a:pt x="1498425" y="214556"/>
                </a:lnTo>
                <a:lnTo>
                  <a:pt x="1501902" y="215872"/>
                </a:lnTo>
                <a:lnTo>
                  <a:pt x="1505379" y="217186"/>
                </a:lnTo>
                <a:lnTo>
                  <a:pt x="1508855" y="218497"/>
                </a:lnTo>
                <a:lnTo>
                  <a:pt x="1512332" y="219805"/>
                </a:lnTo>
                <a:lnTo>
                  <a:pt x="1515808" y="221110"/>
                </a:lnTo>
                <a:lnTo>
                  <a:pt x="1519285" y="222413"/>
                </a:lnTo>
                <a:lnTo>
                  <a:pt x="1522762" y="223712"/>
                </a:lnTo>
                <a:lnTo>
                  <a:pt x="1526238" y="225008"/>
                </a:lnTo>
                <a:lnTo>
                  <a:pt x="1529715" y="226301"/>
                </a:lnTo>
                <a:lnTo>
                  <a:pt x="1533192" y="227591"/>
                </a:lnTo>
                <a:lnTo>
                  <a:pt x="1536668" y="228877"/>
                </a:lnTo>
                <a:lnTo>
                  <a:pt x="1540145" y="230160"/>
                </a:lnTo>
                <a:lnTo>
                  <a:pt x="1543622" y="231439"/>
                </a:lnTo>
                <a:lnTo>
                  <a:pt x="1547098" y="232715"/>
                </a:lnTo>
                <a:lnTo>
                  <a:pt x="1550575" y="233987"/>
                </a:lnTo>
                <a:lnTo>
                  <a:pt x="1554051" y="235255"/>
                </a:lnTo>
                <a:lnTo>
                  <a:pt x="1557528" y="236520"/>
                </a:lnTo>
                <a:lnTo>
                  <a:pt x="1561005" y="237780"/>
                </a:lnTo>
                <a:lnTo>
                  <a:pt x="1564481" y="239037"/>
                </a:lnTo>
                <a:lnTo>
                  <a:pt x="1567958" y="240289"/>
                </a:lnTo>
                <a:lnTo>
                  <a:pt x="1571435" y="241537"/>
                </a:lnTo>
                <a:lnTo>
                  <a:pt x="1574911" y="242781"/>
                </a:lnTo>
                <a:lnTo>
                  <a:pt x="1578388" y="244021"/>
                </a:lnTo>
                <a:lnTo>
                  <a:pt x="1581864" y="245256"/>
                </a:lnTo>
                <a:lnTo>
                  <a:pt x="1585341" y="246487"/>
                </a:lnTo>
                <a:lnTo>
                  <a:pt x="1588818" y="247713"/>
                </a:lnTo>
                <a:lnTo>
                  <a:pt x="1592294" y="248935"/>
                </a:lnTo>
                <a:lnTo>
                  <a:pt x="1595771" y="250152"/>
                </a:lnTo>
                <a:lnTo>
                  <a:pt x="1599248" y="251364"/>
                </a:lnTo>
                <a:lnTo>
                  <a:pt x="1602724" y="252571"/>
                </a:lnTo>
                <a:lnTo>
                  <a:pt x="1606201" y="253774"/>
                </a:lnTo>
                <a:lnTo>
                  <a:pt x="1609677" y="254971"/>
                </a:lnTo>
                <a:lnTo>
                  <a:pt x="1613154" y="256164"/>
                </a:lnTo>
                <a:lnTo>
                  <a:pt x="1616631" y="257351"/>
                </a:lnTo>
                <a:lnTo>
                  <a:pt x="1620107" y="258533"/>
                </a:lnTo>
                <a:lnTo>
                  <a:pt x="1623584" y="259710"/>
                </a:lnTo>
                <a:lnTo>
                  <a:pt x="1627061" y="260881"/>
                </a:lnTo>
                <a:lnTo>
                  <a:pt x="1630537" y="262047"/>
                </a:lnTo>
                <a:lnTo>
                  <a:pt x="1634014" y="263208"/>
                </a:lnTo>
                <a:lnTo>
                  <a:pt x="1637490" y="264363"/>
                </a:lnTo>
                <a:lnTo>
                  <a:pt x="1640967" y="265512"/>
                </a:lnTo>
                <a:lnTo>
                  <a:pt x="1644444" y="266655"/>
                </a:lnTo>
                <a:lnTo>
                  <a:pt x="1647920" y="267793"/>
                </a:lnTo>
                <a:lnTo>
                  <a:pt x="1651397" y="268925"/>
                </a:lnTo>
                <a:lnTo>
                  <a:pt x="1654874" y="270051"/>
                </a:lnTo>
                <a:lnTo>
                  <a:pt x="1658350" y="271171"/>
                </a:lnTo>
                <a:lnTo>
                  <a:pt x="1661827" y="272285"/>
                </a:lnTo>
                <a:lnTo>
                  <a:pt x="1665303" y="273393"/>
                </a:lnTo>
                <a:lnTo>
                  <a:pt x="1668780" y="274494"/>
                </a:lnTo>
                <a:lnTo>
                  <a:pt x="1672257" y="275590"/>
                </a:lnTo>
                <a:lnTo>
                  <a:pt x="1675733" y="276679"/>
                </a:lnTo>
                <a:lnTo>
                  <a:pt x="1679210" y="277761"/>
                </a:lnTo>
                <a:lnTo>
                  <a:pt x="1682687" y="278837"/>
                </a:lnTo>
                <a:lnTo>
                  <a:pt x="1686163" y="279907"/>
                </a:lnTo>
                <a:lnTo>
                  <a:pt x="1689640" y="280970"/>
                </a:lnTo>
                <a:lnTo>
                  <a:pt x="1693116" y="282026"/>
                </a:lnTo>
                <a:lnTo>
                  <a:pt x="1696593" y="283076"/>
                </a:lnTo>
                <a:lnTo>
                  <a:pt x="1700070" y="284119"/>
                </a:lnTo>
                <a:lnTo>
                  <a:pt x="1703546" y="285155"/>
                </a:lnTo>
                <a:lnTo>
                  <a:pt x="1707023" y="286184"/>
                </a:lnTo>
                <a:lnTo>
                  <a:pt x="1710500" y="287206"/>
                </a:lnTo>
                <a:lnTo>
                  <a:pt x="1713976" y="288220"/>
                </a:lnTo>
                <a:lnTo>
                  <a:pt x="1717453" y="289228"/>
                </a:lnTo>
                <a:lnTo>
                  <a:pt x="1720929" y="290229"/>
                </a:lnTo>
                <a:lnTo>
                  <a:pt x="1724406" y="291222"/>
                </a:lnTo>
                <a:lnTo>
                  <a:pt x="1727883" y="292209"/>
                </a:lnTo>
                <a:lnTo>
                  <a:pt x="1731359" y="293187"/>
                </a:lnTo>
                <a:lnTo>
                  <a:pt x="1734836" y="294159"/>
                </a:lnTo>
                <a:lnTo>
                  <a:pt x="1738313" y="295122"/>
                </a:lnTo>
                <a:lnTo>
                  <a:pt x="1741789" y="296079"/>
                </a:lnTo>
                <a:lnTo>
                  <a:pt x="1745266" y="297028"/>
                </a:lnTo>
                <a:lnTo>
                  <a:pt x="1748742" y="297969"/>
                </a:lnTo>
                <a:lnTo>
                  <a:pt x="1752219" y="298902"/>
                </a:lnTo>
                <a:lnTo>
                  <a:pt x="1755696" y="299828"/>
                </a:lnTo>
                <a:lnTo>
                  <a:pt x="1759172" y="300745"/>
                </a:lnTo>
                <a:lnTo>
                  <a:pt x="1762649" y="301655"/>
                </a:lnTo>
                <a:lnTo>
                  <a:pt x="1766125" y="302557"/>
                </a:lnTo>
                <a:lnTo>
                  <a:pt x="1769602" y="303451"/>
                </a:lnTo>
                <a:lnTo>
                  <a:pt x="1773079" y="304337"/>
                </a:lnTo>
                <a:lnTo>
                  <a:pt x="1776555" y="305215"/>
                </a:lnTo>
                <a:lnTo>
                  <a:pt x="1780032" y="306084"/>
                </a:lnTo>
                <a:lnTo>
                  <a:pt x="1783509" y="306945"/>
                </a:lnTo>
                <a:lnTo>
                  <a:pt x="1786985" y="307799"/>
                </a:lnTo>
                <a:lnTo>
                  <a:pt x="1790462" y="308643"/>
                </a:lnTo>
                <a:lnTo>
                  <a:pt x="1793939" y="309480"/>
                </a:lnTo>
                <a:lnTo>
                  <a:pt x="1797415" y="310308"/>
                </a:lnTo>
                <a:lnTo>
                  <a:pt x="1800892" y="311127"/>
                </a:lnTo>
                <a:lnTo>
                  <a:pt x="1804368" y="311938"/>
                </a:lnTo>
                <a:lnTo>
                  <a:pt x="1807845" y="312741"/>
                </a:lnTo>
                <a:lnTo>
                  <a:pt x="1811322" y="313534"/>
                </a:lnTo>
                <a:lnTo>
                  <a:pt x="1814798" y="314319"/>
                </a:lnTo>
                <a:lnTo>
                  <a:pt x="1818275" y="315096"/>
                </a:lnTo>
                <a:lnTo>
                  <a:pt x="1821752" y="315863"/>
                </a:lnTo>
                <a:lnTo>
                  <a:pt x="1825228" y="316622"/>
                </a:lnTo>
                <a:lnTo>
                  <a:pt x="1828705" y="317372"/>
                </a:lnTo>
                <a:lnTo>
                  <a:pt x="1832181" y="318113"/>
                </a:lnTo>
                <a:lnTo>
                  <a:pt x="1835658" y="318845"/>
                </a:lnTo>
                <a:lnTo>
                  <a:pt x="1839135" y="319568"/>
                </a:lnTo>
                <a:lnTo>
                  <a:pt x="1842611" y="320282"/>
                </a:lnTo>
                <a:lnTo>
                  <a:pt x="1846088" y="320987"/>
                </a:lnTo>
                <a:lnTo>
                  <a:pt x="1849565" y="321683"/>
                </a:lnTo>
                <a:lnTo>
                  <a:pt x="1853041" y="322369"/>
                </a:lnTo>
                <a:lnTo>
                  <a:pt x="1856518" y="323047"/>
                </a:lnTo>
                <a:lnTo>
                  <a:pt x="1859994" y="323715"/>
                </a:lnTo>
                <a:lnTo>
                  <a:pt x="1863471" y="324374"/>
                </a:lnTo>
                <a:lnTo>
                  <a:pt x="1866948" y="325023"/>
                </a:lnTo>
                <a:lnTo>
                  <a:pt x="1870424" y="325663"/>
                </a:lnTo>
                <a:lnTo>
                  <a:pt x="1873901" y="326294"/>
                </a:lnTo>
                <a:lnTo>
                  <a:pt x="1877378" y="326915"/>
                </a:lnTo>
                <a:lnTo>
                  <a:pt x="1880854" y="327527"/>
                </a:lnTo>
                <a:lnTo>
                  <a:pt x="1884331" y="328129"/>
                </a:lnTo>
                <a:lnTo>
                  <a:pt x="1887807" y="328721"/>
                </a:lnTo>
                <a:lnTo>
                  <a:pt x="1891284" y="329304"/>
                </a:lnTo>
                <a:lnTo>
                  <a:pt x="1894761" y="329877"/>
                </a:lnTo>
                <a:lnTo>
                  <a:pt x="1898237" y="330441"/>
                </a:lnTo>
                <a:lnTo>
                  <a:pt x="1901714" y="330995"/>
                </a:lnTo>
                <a:lnTo>
                  <a:pt x="1905190" y="331539"/>
                </a:lnTo>
                <a:lnTo>
                  <a:pt x="1908667" y="332073"/>
                </a:lnTo>
                <a:lnTo>
                  <a:pt x="1912144" y="332598"/>
                </a:lnTo>
                <a:lnTo>
                  <a:pt x="1915620" y="333113"/>
                </a:lnTo>
                <a:lnTo>
                  <a:pt x="1919097" y="333617"/>
                </a:lnTo>
                <a:lnTo>
                  <a:pt x="1922574" y="334112"/>
                </a:lnTo>
                <a:lnTo>
                  <a:pt x="1926050" y="334597"/>
                </a:lnTo>
                <a:lnTo>
                  <a:pt x="1929527" y="335072"/>
                </a:lnTo>
                <a:lnTo>
                  <a:pt x="1933004" y="335537"/>
                </a:lnTo>
                <a:lnTo>
                  <a:pt x="1936480" y="335992"/>
                </a:lnTo>
                <a:lnTo>
                  <a:pt x="1939957" y="336437"/>
                </a:lnTo>
                <a:lnTo>
                  <a:pt x="1943433" y="336872"/>
                </a:lnTo>
                <a:lnTo>
                  <a:pt x="1946910" y="337296"/>
                </a:lnTo>
                <a:lnTo>
                  <a:pt x="1950387" y="337711"/>
                </a:lnTo>
                <a:lnTo>
                  <a:pt x="1953863" y="338115"/>
                </a:lnTo>
                <a:lnTo>
                  <a:pt x="1957340" y="338509"/>
                </a:lnTo>
                <a:lnTo>
                  <a:pt x="1960817" y="338893"/>
                </a:lnTo>
                <a:lnTo>
                  <a:pt x="1964293" y="339267"/>
                </a:lnTo>
                <a:lnTo>
                  <a:pt x="1967770" y="339630"/>
                </a:lnTo>
                <a:lnTo>
                  <a:pt x="1971246" y="339983"/>
                </a:lnTo>
                <a:lnTo>
                  <a:pt x="1974723" y="340326"/>
                </a:lnTo>
                <a:lnTo>
                  <a:pt x="1978200" y="340659"/>
                </a:lnTo>
                <a:lnTo>
                  <a:pt x="1981676" y="340981"/>
                </a:lnTo>
                <a:lnTo>
                  <a:pt x="1985153" y="341293"/>
                </a:lnTo>
                <a:lnTo>
                  <a:pt x="1988629" y="341594"/>
                </a:lnTo>
                <a:lnTo>
                  <a:pt x="1992106" y="341885"/>
                </a:lnTo>
                <a:lnTo>
                  <a:pt x="1995583" y="342166"/>
                </a:lnTo>
                <a:lnTo>
                  <a:pt x="1999059" y="342436"/>
                </a:lnTo>
                <a:lnTo>
                  <a:pt x="2002536" y="342695"/>
                </a:lnTo>
                <a:lnTo>
                  <a:pt x="2006013" y="342945"/>
                </a:lnTo>
                <a:lnTo>
                  <a:pt x="2009489" y="343183"/>
                </a:lnTo>
                <a:lnTo>
                  <a:pt x="2012966" y="343411"/>
                </a:lnTo>
                <a:lnTo>
                  <a:pt x="2016443" y="343629"/>
                </a:lnTo>
                <a:lnTo>
                  <a:pt x="2019919" y="343836"/>
                </a:lnTo>
                <a:lnTo>
                  <a:pt x="2023396" y="344033"/>
                </a:lnTo>
                <a:lnTo>
                  <a:pt x="2026872" y="344219"/>
                </a:lnTo>
                <a:lnTo>
                  <a:pt x="2030349" y="344394"/>
                </a:lnTo>
                <a:lnTo>
                  <a:pt x="2033826" y="344559"/>
                </a:lnTo>
                <a:lnTo>
                  <a:pt x="2037302" y="344713"/>
                </a:lnTo>
                <a:lnTo>
                  <a:pt x="2040779" y="344857"/>
                </a:lnTo>
                <a:lnTo>
                  <a:pt x="2044256" y="344990"/>
                </a:lnTo>
                <a:lnTo>
                  <a:pt x="2047732" y="345113"/>
                </a:lnTo>
                <a:lnTo>
                  <a:pt x="2051209" y="345225"/>
                </a:lnTo>
                <a:lnTo>
                  <a:pt x="2054685" y="345326"/>
                </a:lnTo>
                <a:lnTo>
                  <a:pt x="2058162" y="345416"/>
                </a:lnTo>
                <a:lnTo>
                  <a:pt x="2061639" y="345496"/>
                </a:lnTo>
                <a:lnTo>
                  <a:pt x="2065115" y="345566"/>
                </a:lnTo>
                <a:lnTo>
                  <a:pt x="2068592" y="345624"/>
                </a:lnTo>
                <a:lnTo>
                  <a:pt x="2072068" y="345672"/>
                </a:lnTo>
                <a:lnTo>
                  <a:pt x="2075545" y="345710"/>
                </a:lnTo>
                <a:lnTo>
                  <a:pt x="2079022" y="345736"/>
                </a:lnTo>
                <a:lnTo>
                  <a:pt x="2082498" y="345752"/>
                </a:lnTo>
                <a:lnTo>
                  <a:pt x="2085975" y="345757"/>
                </a:lnTo>
                <a:lnTo>
                  <a:pt x="2089452" y="345752"/>
                </a:lnTo>
                <a:lnTo>
                  <a:pt x="2092928" y="345736"/>
                </a:lnTo>
                <a:lnTo>
                  <a:pt x="2096405" y="345710"/>
                </a:lnTo>
                <a:lnTo>
                  <a:pt x="2099882" y="345672"/>
                </a:lnTo>
                <a:lnTo>
                  <a:pt x="2103358" y="345624"/>
                </a:lnTo>
                <a:lnTo>
                  <a:pt x="2106835" y="345566"/>
                </a:lnTo>
                <a:lnTo>
                  <a:pt x="2110311" y="345496"/>
                </a:lnTo>
                <a:lnTo>
                  <a:pt x="2113788" y="345416"/>
                </a:lnTo>
                <a:lnTo>
                  <a:pt x="2117265" y="345326"/>
                </a:lnTo>
                <a:lnTo>
                  <a:pt x="2120741" y="345225"/>
                </a:lnTo>
                <a:lnTo>
                  <a:pt x="2124218" y="345113"/>
                </a:lnTo>
                <a:lnTo>
                  <a:pt x="2127695" y="344990"/>
                </a:lnTo>
                <a:lnTo>
                  <a:pt x="2131171" y="344857"/>
                </a:lnTo>
                <a:lnTo>
                  <a:pt x="2134648" y="344713"/>
                </a:lnTo>
                <a:lnTo>
                  <a:pt x="2138124" y="344559"/>
                </a:lnTo>
                <a:lnTo>
                  <a:pt x="2141601" y="344394"/>
                </a:lnTo>
                <a:lnTo>
                  <a:pt x="2145078" y="344219"/>
                </a:lnTo>
                <a:lnTo>
                  <a:pt x="2148554" y="344033"/>
                </a:lnTo>
                <a:lnTo>
                  <a:pt x="2152031" y="343836"/>
                </a:lnTo>
                <a:lnTo>
                  <a:pt x="2155508" y="343629"/>
                </a:lnTo>
                <a:lnTo>
                  <a:pt x="2158984" y="343411"/>
                </a:lnTo>
                <a:lnTo>
                  <a:pt x="2162461" y="343183"/>
                </a:lnTo>
                <a:lnTo>
                  <a:pt x="2165937" y="342945"/>
                </a:lnTo>
                <a:lnTo>
                  <a:pt x="2169414" y="342695"/>
                </a:lnTo>
                <a:lnTo>
                  <a:pt x="2172891" y="342436"/>
                </a:lnTo>
                <a:lnTo>
                  <a:pt x="2176367" y="342166"/>
                </a:lnTo>
                <a:lnTo>
                  <a:pt x="2179844" y="341885"/>
                </a:lnTo>
                <a:lnTo>
                  <a:pt x="2183321" y="341594"/>
                </a:lnTo>
                <a:lnTo>
                  <a:pt x="2186797" y="341293"/>
                </a:lnTo>
                <a:lnTo>
                  <a:pt x="2190274" y="340981"/>
                </a:lnTo>
                <a:lnTo>
                  <a:pt x="2193750" y="340659"/>
                </a:lnTo>
                <a:lnTo>
                  <a:pt x="2197227" y="340326"/>
                </a:lnTo>
                <a:lnTo>
                  <a:pt x="2200704" y="339983"/>
                </a:lnTo>
                <a:lnTo>
                  <a:pt x="2204180" y="339630"/>
                </a:lnTo>
                <a:lnTo>
                  <a:pt x="2207657" y="339267"/>
                </a:lnTo>
                <a:lnTo>
                  <a:pt x="2211134" y="338893"/>
                </a:lnTo>
                <a:lnTo>
                  <a:pt x="2214610" y="338509"/>
                </a:lnTo>
                <a:lnTo>
                  <a:pt x="2218087" y="338115"/>
                </a:lnTo>
                <a:lnTo>
                  <a:pt x="2221563" y="337711"/>
                </a:lnTo>
                <a:lnTo>
                  <a:pt x="2225040" y="337296"/>
                </a:lnTo>
                <a:lnTo>
                  <a:pt x="2228517" y="336872"/>
                </a:lnTo>
                <a:lnTo>
                  <a:pt x="2231993" y="336437"/>
                </a:lnTo>
                <a:lnTo>
                  <a:pt x="2235470" y="335992"/>
                </a:lnTo>
                <a:lnTo>
                  <a:pt x="2238947" y="335537"/>
                </a:lnTo>
                <a:lnTo>
                  <a:pt x="2242423" y="335072"/>
                </a:lnTo>
                <a:lnTo>
                  <a:pt x="2245900" y="334597"/>
                </a:lnTo>
                <a:lnTo>
                  <a:pt x="2249376" y="334112"/>
                </a:lnTo>
                <a:lnTo>
                  <a:pt x="2252853" y="333617"/>
                </a:lnTo>
                <a:lnTo>
                  <a:pt x="2256330" y="333113"/>
                </a:lnTo>
                <a:lnTo>
                  <a:pt x="2259806" y="332598"/>
                </a:lnTo>
                <a:lnTo>
                  <a:pt x="2263283" y="332073"/>
                </a:lnTo>
                <a:lnTo>
                  <a:pt x="2266760" y="331539"/>
                </a:lnTo>
                <a:lnTo>
                  <a:pt x="2270236" y="330995"/>
                </a:lnTo>
                <a:lnTo>
                  <a:pt x="2273713" y="330441"/>
                </a:lnTo>
                <a:lnTo>
                  <a:pt x="2277189" y="329877"/>
                </a:lnTo>
                <a:lnTo>
                  <a:pt x="2280666" y="329304"/>
                </a:lnTo>
                <a:lnTo>
                  <a:pt x="2284143" y="328721"/>
                </a:lnTo>
                <a:lnTo>
                  <a:pt x="2287619" y="328129"/>
                </a:lnTo>
                <a:lnTo>
                  <a:pt x="2291096" y="327527"/>
                </a:lnTo>
                <a:lnTo>
                  <a:pt x="2294573" y="326915"/>
                </a:lnTo>
                <a:lnTo>
                  <a:pt x="2298049" y="326294"/>
                </a:lnTo>
                <a:lnTo>
                  <a:pt x="2301526" y="325663"/>
                </a:lnTo>
                <a:lnTo>
                  <a:pt x="2305002" y="325023"/>
                </a:lnTo>
                <a:lnTo>
                  <a:pt x="2308479" y="324374"/>
                </a:lnTo>
                <a:lnTo>
                  <a:pt x="2311956" y="323715"/>
                </a:lnTo>
                <a:lnTo>
                  <a:pt x="2315432" y="323047"/>
                </a:lnTo>
                <a:lnTo>
                  <a:pt x="2318909" y="322369"/>
                </a:lnTo>
                <a:lnTo>
                  <a:pt x="2322386" y="321683"/>
                </a:lnTo>
                <a:lnTo>
                  <a:pt x="2325862" y="320987"/>
                </a:lnTo>
                <a:lnTo>
                  <a:pt x="2329339" y="320282"/>
                </a:lnTo>
                <a:lnTo>
                  <a:pt x="2332815" y="319568"/>
                </a:lnTo>
                <a:lnTo>
                  <a:pt x="2336292" y="318845"/>
                </a:lnTo>
                <a:lnTo>
                  <a:pt x="2339769" y="318113"/>
                </a:lnTo>
                <a:lnTo>
                  <a:pt x="2343245" y="317372"/>
                </a:lnTo>
                <a:lnTo>
                  <a:pt x="2346722" y="316622"/>
                </a:lnTo>
                <a:lnTo>
                  <a:pt x="2350199" y="315863"/>
                </a:lnTo>
                <a:lnTo>
                  <a:pt x="2353675" y="315096"/>
                </a:lnTo>
                <a:lnTo>
                  <a:pt x="2357152" y="314319"/>
                </a:lnTo>
                <a:lnTo>
                  <a:pt x="2360628" y="313534"/>
                </a:lnTo>
                <a:lnTo>
                  <a:pt x="2364105" y="312741"/>
                </a:lnTo>
                <a:lnTo>
                  <a:pt x="2367582" y="311938"/>
                </a:lnTo>
                <a:lnTo>
                  <a:pt x="2371058" y="311127"/>
                </a:lnTo>
                <a:lnTo>
                  <a:pt x="2374535" y="310308"/>
                </a:lnTo>
                <a:lnTo>
                  <a:pt x="2378011" y="309480"/>
                </a:lnTo>
                <a:lnTo>
                  <a:pt x="2381488" y="308643"/>
                </a:lnTo>
                <a:lnTo>
                  <a:pt x="2384965" y="307799"/>
                </a:lnTo>
                <a:lnTo>
                  <a:pt x="2388441" y="306945"/>
                </a:lnTo>
                <a:lnTo>
                  <a:pt x="2391918" y="306084"/>
                </a:lnTo>
                <a:lnTo>
                  <a:pt x="2395395" y="305215"/>
                </a:lnTo>
                <a:lnTo>
                  <a:pt x="2398871" y="304337"/>
                </a:lnTo>
                <a:lnTo>
                  <a:pt x="2402348" y="303451"/>
                </a:lnTo>
                <a:lnTo>
                  <a:pt x="2405825" y="302557"/>
                </a:lnTo>
                <a:lnTo>
                  <a:pt x="2409301" y="301655"/>
                </a:lnTo>
                <a:lnTo>
                  <a:pt x="2412778" y="300745"/>
                </a:lnTo>
                <a:lnTo>
                  <a:pt x="2416254" y="299828"/>
                </a:lnTo>
                <a:lnTo>
                  <a:pt x="2419731" y="298902"/>
                </a:lnTo>
                <a:lnTo>
                  <a:pt x="2423208" y="297969"/>
                </a:lnTo>
                <a:lnTo>
                  <a:pt x="2426684" y="297028"/>
                </a:lnTo>
                <a:lnTo>
                  <a:pt x="2430161" y="296079"/>
                </a:lnTo>
                <a:lnTo>
                  <a:pt x="2433638" y="295122"/>
                </a:lnTo>
                <a:lnTo>
                  <a:pt x="2437114" y="294159"/>
                </a:lnTo>
                <a:lnTo>
                  <a:pt x="2440591" y="293187"/>
                </a:lnTo>
                <a:lnTo>
                  <a:pt x="2444067" y="292209"/>
                </a:lnTo>
                <a:lnTo>
                  <a:pt x="2447544" y="291222"/>
                </a:lnTo>
                <a:lnTo>
                  <a:pt x="2451021" y="290229"/>
                </a:lnTo>
                <a:lnTo>
                  <a:pt x="2454497" y="289228"/>
                </a:lnTo>
                <a:lnTo>
                  <a:pt x="2457974" y="288220"/>
                </a:lnTo>
                <a:lnTo>
                  <a:pt x="2461451" y="287206"/>
                </a:lnTo>
                <a:lnTo>
                  <a:pt x="2464927" y="286184"/>
                </a:lnTo>
                <a:lnTo>
                  <a:pt x="2468404" y="285155"/>
                </a:lnTo>
                <a:lnTo>
                  <a:pt x="2471880" y="284119"/>
                </a:lnTo>
                <a:lnTo>
                  <a:pt x="2475357" y="283076"/>
                </a:lnTo>
                <a:lnTo>
                  <a:pt x="2478834" y="282026"/>
                </a:lnTo>
                <a:lnTo>
                  <a:pt x="2482310" y="280970"/>
                </a:lnTo>
                <a:lnTo>
                  <a:pt x="2485787" y="279907"/>
                </a:lnTo>
                <a:lnTo>
                  <a:pt x="2489263" y="278837"/>
                </a:lnTo>
                <a:lnTo>
                  <a:pt x="2492740" y="277761"/>
                </a:lnTo>
                <a:lnTo>
                  <a:pt x="2496217" y="276679"/>
                </a:lnTo>
                <a:lnTo>
                  <a:pt x="2499693" y="275590"/>
                </a:lnTo>
                <a:lnTo>
                  <a:pt x="2503170" y="274494"/>
                </a:lnTo>
                <a:lnTo>
                  <a:pt x="2506647" y="273393"/>
                </a:lnTo>
                <a:lnTo>
                  <a:pt x="2510123" y="272285"/>
                </a:lnTo>
                <a:lnTo>
                  <a:pt x="2513600" y="271171"/>
                </a:lnTo>
                <a:lnTo>
                  <a:pt x="2517077" y="270051"/>
                </a:lnTo>
                <a:lnTo>
                  <a:pt x="2520553" y="268925"/>
                </a:lnTo>
                <a:lnTo>
                  <a:pt x="2524030" y="267793"/>
                </a:lnTo>
                <a:lnTo>
                  <a:pt x="2527506" y="266655"/>
                </a:lnTo>
                <a:lnTo>
                  <a:pt x="2530983" y="265512"/>
                </a:lnTo>
                <a:lnTo>
                  <a:pt x="2534460" y="264363"/>
                </a:lnTo>
                <a:lnTo>
                  <a:pt x="2537936" y="263208"/>
                </a:lnTo>
                <a:lnTo>
                  <a:pt x="2541413" y="262047"/>
                </a:lnTo>
                <a:lnTo>
                  <a:pt x="2544890" y="260881"/>
                </a:lnTo>
                <a:lnTo>
                  <a:pt x="2548366" y="259710"/>
                </a:lnTo>
                <a:lnTo>
                  <a:pt x="2551843" y="258533"/>
                </a:lnTo>
                <a:lnTo>
                  <a:pt x="2555319" y="257351"/>
                </a:lnTo>
                <a:lnTo>
                  <a:pt x="2558796" y="256164"/>
                </a:lnTo>
                <a:lnTo>
                  <a:pt x="2562273" y="254971"/>
                </a:lnTo>
                <a:lnTo>
                  <a:pt x="2565749" y="253774"/>
                </a:lnTo>
                <a:lnTo>
                  <a:pt x="2569226" y="252571"/>
                </a:lnTo>
                <a:lnTo>
                  <a:pt x="2572703" y="251364"/>
                </a:lnTo>
                <a:lnTo>
                  <a:pt x="2576179" y="250152"/>
                </a:lnTo>
                <a:lnTo>
                  <a:pt x="2579656" y="248935"/>
                </a:lnTo>
                <a:lnTo>
                  <a:pt x="2583132" y="247713"/>
                </a:lnTo>
                <a:lnTo>
                  <a:pt x="2586609" y="246487"/>
                </a:lnTo>
                <a:lnTo>
                  <a:pt x="2590086" y="245256"/>
                </a:lnTo>
                <a:lnTo>
                  <a:pt x="2593562" y="244021"/>
                </a:lnTo>
                <a:lnTo>
                  <a:pt x="2597039" y="242781"/>
                </a:lnTo>
                <a:lnTo>
                  <a:pt x="2600516" y="241537"/>
                </a:lnTo>
                <a:lnTo>
                  <a:pt x="2603992" y="240289"/>
                </a:lnTo>
                <a:lnTo>
                  <a:pt x="2607469" y="239037"/>
                </a:lnTo>
                <a:lnTo>
                  <a:pt x="2610945" y="237780"/>
                </a:lnTo>
                <a:lnTo>
                  <a:pt x="2614422" y="236520"/>
                </a:lnTo>
                <a:lnTo>
                  <a:pt x="2617899" y="235255"/>
                </a:lnTo>
                <a:lnTo>
                  <a:pt x="2621375" y="233987"/>
                </a:lnTo>
                <a:lnTo>
                  <a:pt x="2624852" y="232715"/>
                </a:lnTo>
                <a:lnTo>
                  <a:pt x="2628329" y="231439"/>
                </a:lnTo>
                <a:lnTo>
                  <a:pt x="2631805" y="230160"/>
                </a:lnTo>
                <a:lnTo>
                  <a:pt x="2635282" y="228877"/>
                </a:lnTo>
                <a:lnTo>
                  <a:pt x="2638758" y="227591"/>
                </a:lnTo>
                <a:lnTo>
                  <a:pt x="2642235" y="226301"/>
                </a:lnTo>
                <a:lnTo>
                  <a:pt x="2645712" y="225008"/>
                </a:lnTo>
                <a:lnTo>
                  <a:pt x="2649188" y="223712"/>
                </a:lnTo>
                <a:lnTo>
                  <a:pt x="2652665" y="222413"/>
                </a:lnTo>
                <a:lnTo>
                  <a:pt x="2656142" y="221110"/>
                </a:lnTo>
                <a:lnTo>
                  <a:pt x="2659618" y="219805"/>
                </a:lnTo>
                <a:lnTo>
                  <a:pt x="2663095" y="218497"/>
                </a:lnTo>
                <a:lnTo>
                  <a:pt x="2666571" y="217186"/>
                </a:lnTo>
                <a:lnTo>
                  <a:pt x="2670048" y="215872"/>
                </a:lnTo>
                <a:lnTo>
                  <a:pt x="2673525" y="214556"/>
                </a:lnTo>
                <a:lnTo>
                  <a:pt x="2677001" y="213236"/>
                </a:lnTo>
                <a:lnTo>
                  <a:pt x="2680478" y="211915"/>
                </a:lnTo>
                <a:lnTo>
                  <a:pt x="2683954" y="210591"/>
                </a:lnTo>
                <a:lnTo>
                  <a:pt x="2687431" y="209265"/>
                </a:lnTo>
                <a:lnTo>
                  <a:pt x="2690908" y="207936"/>
                </a:lnTo>
                <a:lnTo>
                  <a:pt x="2694384" y="206606"/>
                </a:lnTo>
                <a:lnTo>
                  <a:pt x="2697861" y="205273"/>
                </a:lnTo>
                <a:lnTo>
                  <a:pt x="2701338" y="203938"/>
                </a:lnTo>
                <a:lnTo>
                  <a:pt x="2704814" y="202602"/>
                </a:lnTo>
                <a:lnTo>
                  <a:pt x="2708291" y="201263"/>
                </a:lnTo>
                <a:lnTo>
                  <a:pt x="2711768" y="199923"/>
                </a:lnTo>
                <a:lnTo>
                  <a:pt x="2715244" y="198581"/>
                </a:lnTo>
                <a:lnTo>
                  <a:pt x="2718721" y="197238"/>
                </a:lnTo>
                <a:lnTo>
                  <a:pt x="2722197" y="195893"/>
                </a:lnTo>
                <a:lnTo>
                  <a:pt x="2725674" y="194546"/>
                </a:lnTo>
                <a:lnTo>
                  <a:pt x="2729151" y="193198"/>
                </a:lnTo>
                <a:lnTo>
                  <a:pt x="2732627" y="191849"/>
                </a:lnTo>
                <a:lnTo>
                  <a:pt x="2736104" y="190499"/>
                </a:lnTo>
                <a:lnTo>
                  <a:pt x="2739581" y="189148"/>
                </a:lnTo>
                <a:lnTo>
                  <a:pt x="2743057" y="187796"/>
                </a:lnTo>
                <a:lnTo>
                  <a:pt x="2746534" y="186443"/>
                </a:lnTo>
                <a:lnTo>
                  <a:pt x="2750010" y="185089"/>
                </a:lnTo>
                <a:lnTo>
                  <a:pt x="2753487" y="183734"/>
                </a:lnTo>
                <a:lnTo>
                  <a:pt x="2756964" y="182378"/>
                </a:lnTo>
                <a:lnTo>
                  <a:pt x="2760440" y="181022"/>
                </a:lnTo>
                <a:lnTo>
                  <a:pt x="2763917" y="179666"/>
                </a:lnTo>
                <a:lnTo>
                  <a:pt x="2767394" y="178309"/>
                </a:lnTo>
                <a:lnTo>
                  <a:pt x="2770870" y="176952"/>
                </a:lnTo>
                <a:lnTo>
                  <a:pt x="2774347" y="175594"/>
                </a:lnTo>
                <a:lnTo>
                  <a:pt x="2777823" y="174237"/>
                </a:lnTo>
                <a:lnTo>
                  <a:pt x="2781300" y="172879"/>
                </a:lnTo>
              </a:path>
            </a:pathLst>
          </a:custGeom>
          <a:noFill xmlns:a="http://schemas.openxmlformats.org/drawingml/2006/main"/>
          <a:ln xmlns:a="http://schemas.openxmlformats.org/drawingml/2006/main" w="15240">
            <a:solidFill>
              <a:srgbClr val="202020"/>
            </a:solidFill>
          </a:ln>
        </p:spPr>
      </p:sp>
      <p:sp>
        <p:nvSpPr>
          <p:cNvPr id="12" name="!!am-am-gain-arrow-line">
            <a:extLst xmlns:a="http://schemas.openxmlformats.org/drawingml/2006/main">
              <a:ext uri="{FF2B5EF4-FFF2-40B4-BE49-F238E27FC236}">
                <a16:creationId xmlns:a16="http://schemas.microsoft.com/office/drawing/2014/main" id="{A576CE11-5D78-461D-935A-AE20FB123BDB}"/>
              </a:ext>
            </a:extLst>
          </p:cNvPr>
          <p:cNvSpPr>
            <a:spLocks xmlns:a="http://schemas.openxmlformats.org/drawingml/2006/main" noGrp="1"/>
          </p:cNvSpPr>
          <p:nvPr/>
        </p:nvSpPr>
        <p:spPr>
          <a:xfrm xmlns:a="http://schemas.openxmlformats.org/drawingml/2006/main">
            <a:off x="3581400" y="24098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3" name="!!am-am-gain-arrow-head">
            <a:extLst xmlns:a="http://schemas.openxmlformats.org/drawingml/2006/main">
              <a:ext uri="{FF2B5EF4-FFF2-40B4-BE49-F238E27FC236}">
                <a16:creationId xmlns:a16="http://schemas.microsoft.com/office/drawing/2014/main" id="{29558140-F5BF-47D6-8333-B094FBC308E9}"/>
              </a:ext>
            </a:extLst>
          </p:cNvPr>
          <p:cNvSpPr>
            <a:spLocks xmlns:a="http://schemas.openxmlformats.org/drawingml/2006/main" noGrp="1"/>
          </p:cNvSpPr>
          <p:nvPr/>
        </p:nvSpPr>
        <p:spPr>
          <a:xfrm xmlns:a="http://schemas.openxmlformats.org/drawingml/2006/main" rot="5400000">
            <a:off x="4229100" y="23622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4" name="!!am-am-gain-g1-r0-wave">
            <a:extLst xmlns:a="http://schemas.openxmlformats.org/drawingml/2006/main">
              <a:ext uri="{FF2B5EF4-FFF2-40B4-BE49-F238E27FC236}">
                <a16:creationId xmlns:a16="http://schemas.microsoft.com/office/drawing/2014/main" id="{A91D2542-64A3-4941-817A-FF8A9AAACDAC}"/>
              </a:ext>
            </a:extLst>
          </p:cNvPr>
          <p:cNvSpPr>
            <a:spLocks xmlns:a="http://schemas.openxmlformats.org/drawingml/2006/main" noGrp="1"/>
          </p:cNvSpPr>
          <p:nvPr/>
        </p:nvSpPr>
        <p:spPr>
          <a:xfrm xmlns:a="http://schemas.openxmlformats.org/drawingml/2006/main">
            <a:off x="4572000" y="2921794"/>
            <a:ext cx="2781300" cy="576263"/>
          </a:xfrm>
          <a:custGeom xmlns:a="http://schemas.openxmlformats.org/drawingml/2006/main">
            <a:pathLst>
              <a:path w="2781300" h="576263">
                <a:moveTo>
                  <a:pt x="0" y="288131"/>
                </a:moveTo>
                <a:lnTo>
                  <a:pt x="3477" y="285868"/>
                </a:lnTo>
                <a:lnTo>
                  <a:pt x="6953" y="283605"/>
                </a:lnTo>
                <a:lnTo>
                  <a:pt x="10430" y="281343"/>
                </a:lnTo>
                <a:lnTo>
                  <a:pt x="13906" y="279081"/>
                </a:lnTo>
                <a:lnTo>
                  <a:pt x="17383" y="276819"/>
                </a:lnTo>
                <a:lnTo>
                  <a:pt x="20860" y="274558"/>
                </a:lnTo>
                <a:lnTo>
                  <a:pt x="24336" y="272298"/>
                </a:lnTo>
                <a:lnTo>
                  <a:pt x="27813" y="270039"/>
                </a:lnTo>
                <a:lnTo>
                  <a:pt x="31290" y="267781"/>
                </a:lnTo>
                <a:lnTo>
                  <a:pt x="34766" y="265525"/>
                </a:lnTo>
                <a:lnTo>
                  <a:pt x="38243" y="263269"/>
                </a:lnTo>
                <a:lnTo>
                  <a:pt x="41719" y="261016"/>
                </a:lnTo>
                <a:lnTo>
                  <a:pt x="45196" y="258764"/>
                </a:lnTo>
                <a:lnTo>
                  <a:pt x="48673" y="256513"/>
                </a:lnTo>
                <a:lnTo>
                  <a:pt x="52149" y="254265"/>
                </a:lnTo>
                <a:lnTo>
                  <a:pt x="55626" y="252019"/>
                </a:lnTo>
                <a:lnTo>
                  <a:pt x="59103" y="249775"/>
                </a:lnTo>
                <a:lnTo>
                  <a:pt x="62579" y="247533"/>
                </a:lnTo>
                <a:lnTo>
                  <a:pt x="66056" y="245294"/>
                </a:lnTo>
                <a:lnTo>
                  <a:pt x="69533" y="243058"/>
                </a:lnTo>
                <a:lnTo>
                  <a:pt x="73009" y="240824"/>
                </a:lnTo>
                <a:lnTo>
                  <a:pt x="76486" y="238593"/>
                </a:lnTo>
                <a:lnTo>
                  <a:pt x="79962" y="236365"/>
                </a:lnTo>
                <a:lnTo>
                  <a:pt x="83439" y="234141"/>
                </a:lnTo>
                <a:lnTo>
                  <a:pt x="86916" y="231920"/>
                </a:lnTo>
                <a:lnTo>
                  <a:pt x="90392" y="229702"/>
                </a:lnTo>
                <a:lnTo>
                  <a:pt x="93869" y="227488"/>
                </a:lnTo>
                <a:lnTo>
                  <a:pt x="97346" y="225277"/>
                </a:lnTo>
                <a:lnTo>
                  <a:pt x="100822" y="223071"/>
                </a:lnTo>
                <a:lnTo>
                  <a:pt x="104299" y="220868"/>
                </a:lnTo>
                <a:lnTo>
                  <a:pt x="107775" y="218670"/>
                </a:lnTo>
                <a:lnTo>
                  <a:pt x="111252" y="216476"/>
                </a:lnTo>
                <a:lnTo>
                  <a:pt x="114729" y="214286"/>
                </a:lnTo>
                <a:lnTo>
                  <a:pt x="118205" y="212101"/>
                </a:lnTo>
                <a:lnTo>
                  <a:pt x="121682" y="209921"/>
                </a:lnTo>
                <a:lnTo>
                  <a:pt x="125158" y="207745"/>
                </a:lnTo>
                <a:lnTo>
                  <a:pt x="128635" y="205575"/>
                </a:lnTo>
                <a:lnTo>
                  <a:pt x="132112" y="203409"/>
                </a:lnTo>
                <a:lnTo>
                  <a:pt x="135588" y="201249"/>
                </a:lnTo>
                <a:lnTo>
                  <a:pt x="139065" y="199094"/>
                </a:lnTo>
                <a:lnTo>
                  <a:pt x="142542" y="196944"/>
                </a:lnTo>
                <a:lnTo>
                  <a:pt x="146018" y="194801"/>
                </a:lnTo>
                <a:lnTo>
                  <a:pt x="149495" y="192662"/>
                </a:lnTo>
                <a:lnTo>
                  <a:pt x="152972" y="190530"/>
                </a:lnTo>
                <a:lnTo>
                  <a:pt x="156448" y="188404"/>
                </a:lnTo>
                <a:lnTo>
                  <a:pt x="159925" y="186284"/>
                </a:lnTo>
                <a:lnTo>
                  <a:pt x="163401" y="184170"/>
                </a:lnTo>
                <a:lnTo>
                  <a:pt x="166878" y="182063"/>
                </a:lnTo>
                <a:lnTo>
                  <a:pt x="170355" y="179962"/>
                </a:lnTo>
                <a:lnTo>
                  <a:pt x="173831" y="177868"/>
                </a:lnTo>
                <a:lnTo>
                  <a:pt x="177308" y="175781"/>
                </a:lnTo>
                <a:lnTo>
                  <a:pt x="180785" y="173701"/>
                </a:lnTo>
                <a:lnTo>
                  <a:pt x="184261" y="171627"/>
                </a:lnTo>
                <a:lnTo>
                  <a:pt x="187738" y="169561"/>
                </a:lnTo>
                <a:lnTo>
                  <a:pt x="191214" y="167502"/>
                </a:lnTo>
                <a:lnTo>
                  <a:pt x="194691" y="165451"/>
                </a:lnTo>
                <a:lnTo>
                  <a:pt x="198168" y="163407"/>
                </a:lnTo>
                <a:lnTo>
                  <a:pt x="201644" y="161371"/>
                </a:lnTo>
                <a:lnTo>
                  <a:pt x="205121" y="159343"/>
                </a:lnTo>
                <a:lnTo>
                  <a:pt x="208597" y="157322"/>
                </a:lnTo>
                <a:lnTo>
                  <a:pt x="212074" y="155310"/>
                </a:lnTo>
                <a:lnTo>
                  <a:pt x="215551" y="153306"/>
                </a:lnTo>
                <a:lnTo>
                  <a:pt x="219027" y="151310"/>
                </a:lnTo>
                <a:lnTo>
                  <a:pt x="222504" y="149323"/>
                </a:lnTo>
                <a:lnTo>
                  <a:pt x="225981" y="147344"/>
                </a:lnTo>
                <a:lnTo>
                  <a:pt x="229457" y="145374"/>
                </a:lnTo>
                <a:lnTo>
                  <a:pt x="232934" y="143413"/>
                </a:lnTo>
                <a:lnTo>
                  <a:pt x="236410" y="141461"/>
                </a:lnTo>
                <a:lnTo>
                  <a:pt x="239887" y="139517"/>
                </a:lnTo>
                <a:lnTo>
                  <a:pt x="243364" y="137583"/>
                </a:lnTo>
                <a:lnTo>
                  <a:pt x="246840" y="135658"/>
                </a:lnTo>
                <a:lnTo>
                  <a:pt x="250317" y="133743"/>
                </a:lnTo>
                <a:lnTo>
                  <a:pt x="253794" y="131837"/>
                </a:lnTo>
                <a:lnTo>
                  <a:pt x="257270" y="129941"/>
                </a:lnTo>
                <a:lnTo>
                  <a:pt x="260747" y="128054"/>
                </a:lnTo>
                <a:lnTo>
                  <a:pt x="264224" y="126177"/>
                </a:lnTo>
                <a:lnTo>
                  <a:pt x="267700" y="124311"/>
                </a:lnTo>
                <a:lnTo>
                  <a:pt x="271177" y="122454"/>
                </a:lnTo>
                <a:lnTo>
                  <a:pt x="274653" y="120608"/>
                </a:lnTo>
                <a:lnTo>
                  <a:pt x="278130" y="118772"/>
                </a:lnTo>
                <a:lnTo>
                  <a:pt x="281607" y="116946"/>
                </a:lnTo>
                <a:lnTo>
                  <a:pt x="285083" y="115131"/>
                </a:lnTo>
                <a:lnTo>
                  <a:pt x="288560" y="113327"/>
                </a:lnTo>
                <a:lnTo>
                  <a:pt x="292037" y="111534"/>
                </a:lnTo>
                <a:lnTo>
                  <a:pt x="295513" y="109751"/>
                </a:lnTo>
                <a:lnTo>
                  <a:pt x="298990" y="107979"/>
                </a:lnTo>
                <a:lnTo>
                  <a:pt x="302466" y="106219"/>
                </a:lnTo>
                <a:lnTo>
                  <a:pt x="305943" y="104469"/>
                </a:lnTo>
                <a:lnTo>
                  <a:pt x="309420" y="102732"/>
                </a:lnTo>
                <a:lnTo>
                  <a:pt x="312896" y="101005"/>
                </a:lnTo>
                <a:lnTo>
                  <a:pt x="316373" y="99290"/>
                </a:lnTo>
                <a:lnTo>
                  <a:pt x="319850" y="97587"/>
                </a:lnTo>
                <a:lnTo>
                  <a:pt x="323326" y="95895"/>
                </a:lnTo>
                <a:lnTo>
                  <a:pt x="326803" y="94215"/>
                </a:lnTo>
                <a:lnTo>
                  <a:pt x="330279" y="92548"/>
                </a:lnTo>
                <a:lnTo>
                  <a:pt x="333756" y="90892"/>
                </a:lnTo>
                <a:lnTo>
                  <a:pt x="337233" y="89248"/>
                </a:lnTo>
                <a:lnTo>
                  <a:pt x="340709" y="87617"/>
                </a:lnTo>
                <a:lnTo>
                  <a:pt x="344186" y="85998"/>
                </a:lnTo>
                <a:lnTo>
                  <a:pt x="347663" y="84392"/>
                </a:lnTo>
                <a:lnTo>
                  <a:pt x="351139" y="82798"/>
                </a:lnTo>
                <a:lnTo>
                  <a:pt x="354616" y="81217"/>
                </a:lnTo>
                <a:lnTo>
                  <a:pt x="358092" y="79648"/>
                </a:lnTo>
                <a:lnTo>
                  <a:pt x="361569" y="78093"/>
                </a:lnTo>
                <a:lnTo>
                  <a:pt x="365046" y="76550"/>
                </a:lnTo>
                <a:lnTo>
                  <a:pt x="368522" y="75020"/>
                </a:lnTo>
                <a:lnTo>
                  <a:pt x="371999" y="73504"/>
                </a:lnTo>
                <a:lnTo>
                  <a:pt x="375475" y="72001"/>
                </a:lnTo>
                <a:lnTo>
                  <a:pt x="378952" y="70511"/>
                </a:lnTo>
                <a:lnTo>
                  <a:pt x="382429" y="69035"/>
                </a:lnTo>
                <a:lnTo>
                  <a:pt x="385905" y="67572"/>
                </a:lnTo>
                <a:lnTo>
                  <a:pt x="389382" y="66122"/>
                </a:lnTo>
                <a:lnTo>
                  <a:pt x="392859" y="64687"/>
                </a:lnTo>
                <a:lnTo>
                  <a:pt x="396335" y="63265"/>
                </a:lnTo>
                <a:lnTo>
                  <a:pt x="399812" y="61857"/>
                </a:lnTo>
                <a:lnTo>
                  <a:pt x="403289" y="60463"/>
                </a:lnTo>
                <a:lnTo>
                  <a:pt x="406765" y="59083"/>
                </a:lnTo>
                <a:lnTo>
                  <a:pt x="410242" y="57717"/>
                </a:lnTo>
                <a:lnTo>
                  <a:pt x="413718" y="56365"/>
                </a:lnTo>
                <a:lnTo>
                  <a:pt x="417195" y="55028"/>
                </a:lnTo>
                <a:lnTo>
                  <a:pt x="420672" y="53705"/>
                </a:lnTo>
                <a:lnTo>
                  <a:pt x="424148" y="52397"/>
                </a:lnTo>
                <a:lnTo>
                  <a:pt x="427625" y="51103"/>
                </a:lnTo>
                <a:lnTo>
                  <a:pt x="431101" y="49823"/>
                </a:lnTo>
                <a:lnTo>
                  <a:pt x="434578" y="48559"/>
                </a:lnTo>
                <a:lnTo>
                  <a:pt x="438055" y="47309"/>
                </a:lnTo>
                <a:lnTo>
                  <a:pt x="441531" y="46074"/>
                </a:lnTo>
                <a:lnTo>
                  <a:pt x="445008" y="44854"/>
                </a:lnTo>
                <a:lnTo>
                  <a:pt x="448485" y="43649"/>
                </a:lnTo>
                <a:lnTo>
                  <a:pt x="451961" y="42459"/>
                </a:lnTo>
                <a:lnTo>
                  <a:pt x="455438" y="41284"/>
                </a:lnTo>
                <a:lnTo>
                  <a:pt x="458914" y="40125"/>
                </a:lnTo>
                <a:lnTo>
                  <a:pt x="462391" y="38980"/>
                </a:lnTo>
                <a:lnTo>
                  <a:pt x="465868" y="37851"/>
                </a:lnTo>
                <a:lnTo>
                  <a:pt x="469344" y="36738"/>
                </a:lnTo>
                <a:lnTo>
                  <a:pt x="472821" y="35640"/>
                </a:lnTo>
                <a:lnTo>
                  <a:pt x="476298" y="34558"/>
                </a:lnTo>
                <a:lnTo>
                  <a:pt x="479774" y="33491"/>
                </a:lnTo>
                <a:lnTo>
                  <a:pt x="483251" y="32440"/>
                </a:lnTo>
                <a:lnTo>
                  <a:pt x="486728" y="31404"/>
                </a:lnTo>
                <a:lnTo>
                  <a:pt x="490204" y="30385"/>
                </a:lnTo>
                <a:lnTo>
                  <a:pt x="493681" y="29381"/>
                </a:lnTo>
                <a:lnTo>
                  <a:pt x="497157" y="28394"/>
                </a:lnTo>
                <a:lnTo>
                  <a:pt x="500634" y="27422"/>
                </a:lnTo>
                <a:lnTo>
                  <a:pt x="504111" y="26467"/>
                </a:lnTo>
                <a:lnTo>
                  <a:pt x="507587" y="25527"/>
                </a:lnTo>
                <a:lnTo>
                  <a:pt x="511064" y="24604"/>
                </a:lnTo>
                <a:lnTo>
                  <a:pt x="514540" y="23697"/>
                </a:lnTo>
                <a:lnTo>
                  <a:pt x="518017" y="22807"/>
                </a:lnTo>
                <a:lnTo>
                  <a:pt x="521494" y="21933"/>
                </a:lnTo>
                <a:lnTo>
                  <a:pt x="524970" y="21075"/>
                </a:lnTo>
                <a:lnTo>
                  <a:pt x="528447" y="20234"/>
                </a:lnTo>
                <a:lnTo>
                  <a:pt x="531924" y="19409"/>
                </a:lnTo>
                <a:lnTo>
                  <a:pt x="535400" y="18601"/>
                </a:lnTo>
                <a:lnTo>
                  <a:pt x="538877" y="17809"/>
                </a:lnTo>
                <a:lnTo>
                  <a:pt x="542354" y="17034"/>
                </a:lnTo>
                <a:lnTo>
                  <a:pt x="545830" y="16276"/>
                </a:lnTo>
                <a:lnTo>
                  <a:pt x="549307" y="15534"/>
                </a:lnTo>
                <a:lnTo>
                  <a:pt x="552783" y="14810"/>
                </a:lnTo>
                <a:lnTo>
                  <a:pt x="556260" y="14102"/>
                </a:lnTo>
                <a:lnTo>
                  <a:pt x="559737" y="13411"/>
                </a:lnTo>
                <a:lnTo>
                  <a:pt x="563213" y="12737"/>
                </a:lnTo>
                <a:lnTo>
                  <a:pt x="566690" y="12081"/>
                </a:lnTo>
                <a:lnTo>
                  <a:pt x="570167" y="11441"/>
                </a:lnTo>
                <a:lnTo>
                  <a:pt x="573643" y="10818"/>
                </a:lnTo>
                <a:lnTo>
                  <a:pt x="577120" y="10212"/>
                </a:lnTo>
                <a:lnTo>
                  <a:pt x="580596" y="9624"/>
                </a:lnTo>
                <a:lnTo>
                  <a:pt x="584073" y="9052"/>
                </a:lnTo>
                <a:lnTo>
                  <a:pt x="587550" y="8498"/>
                </a:lnTo>
                <a:lnTo>
                  <a:pt x="591026" y="7961"/>
                </a:lnTo>
                <a:lnTo>
                  <a:pt x="594503" y="7441"/>
                </a:lnTo>
                <a:lnTo>
                  <a:pt x="597979" y="6939"/>
                </a:lnTo>
                <a:lnTo>
                  <a:pt x="601456" y="6454"/>
                </a:lnTo>
                <a:lnTo>
                  <a:pt x="604933" y="5987"/>
                </a:lnTo>
                <a:lnTo>
                  <a:pt x="608409" y="5536"/>
                </a:lnTo>
                <a:lnTo>
                  <a:pt x="611886" y="5104"/>
                </a:lnTo>
                <a:lnTo>
                  <a:pt x="615363" y="4688"/>
                </a:lnTo>
                <a:lnTo>
                  <a:pt x="618839" y="4290"/>
                </a:lnTo>
                <a:lnTo>
                  <a:pt x="622316" y="3910"/>
                </a:lnTo>
                <a:lnTo>
                  <a:pt x="625793" y="3547"/>
                </a:lnTo>
                <a:lnTo>
                  <a:pt x="629269" y="3202"/>
                </a:lnTo>
                <a:lnTo>
                  <a:pt x="632746" y="2874"/>
                </a:lnTo>
                <a:lnTo>
                  <a:pt x="636222" y="2564"/>
                </a:lnTo>
                <a:lnTo>
                  <a:pt x="639699" y="2272"/>
                </a:lnTo>
                <a:lnTo>
                  <a:pt x="643176" y="1997"/>
                </a:lnTo>
                <a:lnTo>
                  <a:pt x="646652" y="1740"/>
                </a:lnTo>
                <a:lnTo>
                  <a:pt x="650129" y="1501"/>
                </a:lnTo>
                <a:lnTo>
                  <a:pt x="653606" y="1279"/>
                </a:lnTo>
                <a:lnTo>
                  <a:pt x="657082" y="1075"/>
                </a:lnTo>
                <a:lnTo>
                  <a:pt x="660559" y="888"/>
                </a:lnTo>
                <a:lnTo>
                  <a:pt x="664035" y="720"/>
                </a:lnTo>
                <a:lnTo>
                  <a:pt x="667512" y="569"/>
                </a:lnTo>
                <a:lnTo>
                  <a:pt x="670989" y="435"/>
                </a:lnTo>
                <a:lnTo>
                  <a:pt x="674465" y="320"/>
                </a:lnTo>
                <a:lnTo>
                  <a:pt x="677942" y="222"/>
                </a:lnTo>
                <a:lnTo>
                  <a:pt x="681418" y="142"/>
                </a:lnTo>
                <a:lnTo>
                  <a:pt x="684895" y="80"/>
                </a:lnTo>
                <a:lnTo>
                  <a:pt x="688372" y="36"/>
                </a:lnTo>
                <a:lnTo>
                  <a:pt x="691848" y="9"/>
                </a:lnTo>
                <a:lnTo>
                  <a:pt x="695325" y="0"/>
                </a:lnTo>
                <a:lnTo>
                  <a:pt x="698802" y="9"/>
                </a:lnTo>
                <a:lnTo>
                  <a:pt x="702278" y="36"/>
                </a:lnTo>
                <a:lnTo>
                  <a:pt x="705755" y="80"/>
                </a:lnTo>
                <a:lnTo>
                  <a:pt x="709232" y="142"/>
                </a:lnTo>
                <a:lnTo>
                  <a:pt x="712708" y="222"/>
                </a:lnTo>
                <a:lnTo>
                  <a:pt x="716185" y="320"/>
                </a:lnTo>
                <a:lnTo>
                  <a:pt x="719661" y="435"/>
                </a:lnTo>
                <a:lnTo>
                  <a:pt x="723138" y="569"/>
                </a:lnTo>
                <a:lnTo>
                  <a:pt x="726615" y="720"/>
                </a:lnTo>
                <a:lnTo>
                  <a:pt x="730091" y="888"/>
                </a:lnTo>
                <a:lnTo>
                  <a:pt x="733568" y="1075"/>
                </a:lnTo>
                <a:lnTo>
                  <a:pt x="737045" y="1279"/>
                </a:lnTo>
                <a:lnTo>
                  <a:pt x="740521" y="1501"/>
                </a:lnTo>
                <a:lnTo>
                  <a:pt x="743998" y="1740"/>
                </a:lnTo>
                <a:lnTo>
                  <a:pt x="747474" y="1997"/>
                </a:lnTo>
                <a:lnTo>
                  <a:pt x="750951" y="2272"/>
                </a:lnTo>
                <a:lnTo>
                  <a:pt x="754428" y="2564"/>
                </a:lnTo>
                <a:lnTo>
                  <a:pt x="757904" y="2874"/>
                </a:lnTo>
                <a:lnTo>
                  <a:pt x="761381" y="3202"/>
                </a:lnTo>
                <a:lnTo>
                  <a:pt x="764857" y="3547"/>
                </a:lnTo>
                <a:lnTo>
                  <a:pt x="768334" y="3910"/>
                </a:lnTo>
                <a:lnTo>
                  <a:pt x="771811" y="4290"/>
                </a:lnTo>
                <a:lnTo>
                  <a:pt x="775287" y="4688"/>
                </a:lnTo>
                <a:lnTo>
                  <a:pt x="778764" y="5104"/>
                </a:lnTo>
                <a:lnTo>
                  <a:pt x="782241" y="5536"/>
                </a:lnTo>
                <a:lnTo>
                  <a:pt x="785717" y="5987"/>
                </a:lnTo>
                <a:lnTo>
                  <a:pt x="789194" y="6454"/>
                </a:lnTo>
                <a:lnTo>
                  <a:pt x="792671" y="6939"/>
                </a:lnTo>
                <a:lnTo>
                  <a:pt x="796147" y="7441"/>
                </a:lnTo>
                <a:lnTo>
                  <a:pt x="799624" y="7961"/>
                </a:lnTo>
                <a:lnTo>
                  <a:pt x="803100" y="8498"/>
                </a:lnTo>
                <a:lnTo>
                  <a:pt x="806577" y="9052"/>
                </a:lnTo>
                <a:lnTo>
                  <a:pt x="810054" y="9624"/>
                </a:lnTo>
                <a:lnTo>
                  <a:pt x="813530" y="10212"/>
                </a:lnTo>
                <a:lnTo>
                  <a:pt x="817007" y="10818"/>
                </a:lnTo>
                <a:lnTo>
                  <a:pt x="820483" y="11441"/>
                </a:lnTo>
                <a:lnTo>
                  <a:pt x="823960" y="12081"/>
                </a:lnTo>
                <a:lnTo>
                  <a:pt x="827437" y="12737"/>
                </a:lnTo>
                <a:lnTo>
                  <a:pt x="830913" y="13411"/>
                </a:lnTo>
                <a:lnTo>
                  <a:pt x="834390" y="14102"/>
                </a:lnTo>
                <a:lnTo>
                  <a:pt x="837867" y="14810"/>
                </a:lnTo>
                <a:lnTo>
                  <a:pt x="841343" y="15534"/>
                </a:lnTo>
                <a:lnTo>
                  <a:pt x="844820" y="16276"/>
                </a:lnTo>
                <a:lnTo>
                  <a:pt x="848296" y="17034"/>
                </a:lnTo>
                <a:lnTo>
                  <a:pt x="851773" y="17809"/>
                </a:lnTo>
                <a:lnTo>
                  <a:pt x="855250" y="18601"/>
                </a:lnTo>
                <a:lnTo>
                  <a:pt x="858726" y="19409"/>
                </a:lnTo>
                <a:lnTo>
                  <a:pt x="862203" y="20234"/>
                </a:lnTo>
                <a:lnTo>
                  <a:pt x="865680" y="21075"/>
                </a:lnTo>
                <a:lnTo>
                  <a:pt x="869156" y="21933"/>
                </a:lnTo>
                <a:lnTo>
                  <a:pt x="872633" y="22807"/>
                </a:lnTo>
                <a:lnTo>
                  <a:pt x="876110" y="23697"/>
                </a:lnTo>
                <a:lnTo>
                  <a:pt x="879586" y="24604"/>
                </a:lnTo>
                <a:lnTo>
                  <a:pt x="883063" y="25527"/>
                </a:lnTo>
                <a:lnTo>
                  <a:pt x="886539" y="26467"/>
                </a:lnTo>
                <a:lnTo>
                  <a:pt x="890016" y="27422"/>
                </a:lnTo>
                <a:lnTo>
                  <a:pt x="893493" y="28394"/>
                </a:lnTo>
                <a:lnTo>
                  <a:pt x="896969" y="29381"/>
                </a:lnTo>
                <a:lnTo>
                  <a:pt x="900446" y="30385"/>
                </a:lnTo>
                <a:lnTo>
                  <a:pt x="903922" y="31404"/>
                </a:lnTo>
                <a:lnTo>
                  <a:pt x="907399" y="32440"/>
                </a:lnTo>
                <a:lnTo>
                  <a:pt x="910876" y="33491"/>
                </a:lnTo>
                <a:lnTo>
                  <a:pt x="914352" y="34558"/>
                </a:lnTo>
                <a:lnTo>
                  <a:pt x="917829" y="35640"/>
                </a:lnTo>
                <a:lnTo>
                  <a:pt x="921306" y="36738"/>
                </a:lnTo>
                <a:lnTo>
                  <a:pt x="924782" y="37851"/>
                </a:lnTo>
                <a:lnTo>
                  <a:pt x="928259" y="38980"/>
                </a:lnTo>
                <a:lnTo>
                  <a:pt x="931735" y="40125"/>
                </a:lnTo>
                <a:lnTo>
                  <a:pt x="935212" y="41284"/>
                </a:lnTo>
                <a:lnTo>
                  <a:pt x="938689" y="42459"/>
                </a:lnTo>
                <a:lnTo>
                  <a:pt x="942165" y="43649"/>
                </a:lnTo>
                <a:lnTo>
                  <a:pt x="945642" y="44854"/>
                </a:lnTo>
                <a:lnTo>
                  <a:pt x="949119" y="46074"/>
                </a:lnTo>
                <a:lnTo>
                  <a:pt x="952595" y="47309"/>
                </a:lnTo>
                <a:lnTo>
                  <a:pt x="956072" y="48559"/>
                </a:lnTo>
                <a:lnTo>
                  <a:pt x="959549" y="49823"/>
                </a:lnTo>
                <a:lnTo>
                  <a:pt x="963025" y="51103"/>
                </a:lnTo>
                <a:lnTo>
                  <a:pt x="966502" y="52397"/>
                </a:lnTo>
                <a:lnTo>
                  <a:pt x="969978" y="53705"/>
                </a:lnTo>
                <a:lnTo>
                  <a:pt x="973455" y="55028"/>
                </a:lnTo>
                <a:lnTo>
                  <a:pt x="976932" y="56365"/>
                </a:lnTo>
                <a:lnTo>
                  <a:pt x="980408" y="57717"/>
                </a:lnTo>
                <a:lnTo>
                  <a:pt x="983885" y="59083"/>
                </a:lnTo>
                <a:lnTo>
                  <a:pt x="987361" y="60463"/>
                </a:lnTo>
                <a:lnTo>
                  <a:pt x="990838" y="61857"/>
                </a:lnTo>
                <a:lnTo>
                  <a:pt x="994315" y="63265"/>
                </a:lnTo>
                <a:lnTo>
                  <a:pt x="997791" y="64687"/>
                </a:lnTo>
                <a:lnTo>
                  <a:pt x="1001268" y="66122"/>
                </a:lnTo>
                <a:lnTo>
                  <a:pt x="1004745" y="67572"/>
                </a:lnTo>
                <a:lnTo>
                  <a:pt x="1008221" y="69035"/>
                </a:lnTo>
                <a:lnTo>
                  <a:pt x="1011698" y="70511"/>
                </a:lnTo>
                <a:lnTo>
                  <a:pt x="1015175" y="72001"/>
                </a:lnTo>
                <a:lnTo>
                  <a:pt x="1018651" y="73504"/>
                </a:lnTo>
                <a:lnTo>
                  <a:pt x="1022128" y="75020"/>
                </a:lnTo>
                <a:lnTo>
                  <a:pt x="1025604" y="76550"/>
                </a:lnTo>
                <a:lnTo>
                  <a:pt x="1029081" y="78093"/>
                </a:lnTo>
                <a:lnTo>
                  <a:pt x="1032558" y="79648"/>
                </a:lnTo>
                <a:lnTo>
                  <a:pt x="1036034" y="81217"/>
                </a:lnTo>
                <a:lnTo>
                  <a:pt x="1039511" y="82798"/>
                </a:lnTo>
                <a:lnTo>
                  <a:pt x="1042988" y="84392"/>
                </a:lnTo>
                <a:lnTo>
                  <a:pt x="1046464" y="85998"/>
                </a:lnTo>
                <a:lnTo>
                  <a:pt x="1049941" y="87617"/>
                </a:lnTo>
                <a:lnTo>
                  <a:pt x="1053417" y="89248"/>
                </a:lnTo>
                <a:lnTo>
                  <a:pt x="1056894" y="90892"/>
                </a:lnTo>
                <a:lnTo>
                  <a:pt x="1060371" y="92548"/>
                </a:lnTo>
                <a:lnTo>
                  <a:pt x="1063847" y="94215"/>
                </a:lnTo>
                <a:lnTo>
                  <a:pt x="1067324" y="95895"/>
                </a:lnTo>
                <a:lnTo>
                  <a:pt x="1070800" y="97587"/>
                </a:lnTo>
                <a:lnTo>
                  <a:pt x="1074277" y="99290"/>
                </a:lnTo>
                <a:lnTo>
                  <a:pt x="1077754" y="101005"/>
                </a:lnTo>
                <a:lnTo>
                  <a:pt x="1081230" y="102732"/>
                </a:lnTo>
                <a:lnTo>
                  <a:pt x="1084707" y="104469"/>
                </a:lnTo>
                <a:lnTo>
                  <a:pt x="1088184" y="106219"/>
                </a:lnTo>
                <a:lnTo>
                  <a:pt x="1091660" y="107979"/>
                </a:lnTo>
                <a:lnTo>
                  <a:pt x="1095137" y="109751"/>
                </a:lnTo>
                <a:lnTo>
                  <a:pt x="1098614" y="111534"/>
                </a:lnTo>
                <a:lnTo>
                  <a:pt x="1102090" y="113327"/>
                </a:lnTo>
                <a:lnTo>
                  <a:pt x="1105567" y="115131"/>
                </a:lnTo>
                <a:lnTo>
                  <a:pt x="1109043" y="116946"/>
                </a:lnTo>
                <a:lnTo>
                  <a:pt x="1112520" y="118772"/>
                </a:lnTo>
                <a:lnTo>
                  <a:pt x="1115997" y="120608"/>
                </a:lnTo>
                <a:lnTo>
                  <a:pt x="1119473" y="122454"/>
                </a:lnTo>
                <a:lnTo>
                  <a:pt x="1122950" y="124311"/>
                </a:lnTo>
                <a:lnTo>
                  <a:pt x="1126427" y="126177"/>
                </a:lnTo>
                <a:lnTo>
                  <a:pt x="1129903" y="128054"/>
                </a:lnTo>
                <a:lnTo>
                  <a:pt x="1133380" y="129941"/>
                </a:lnTo>
                <a:lnTo>
                  <a:pt x="1136856" y="131837"/>
                </a:lnTo>
                <a:lnTo>
                  <a:pt x="1140333" y="133743"/>
                </a:lnTo>
                <a:lnTo>
                  <a:pt x="1143810" y="135658"/>
                </a:lnTo>
                <a:lnTo>
                  <a:pt x="1147286" y="137583"/>
                </a:lnTo>
                <a:lnTo>
                  <a:pt x="1150763" y="139517"/>
                </a:lnTo>
                <a:lnTo>
                  <a:pt x="1154240" y="141461"/>
                </a:lnTo>
                <a:lnTo>
                  <a:pt x="1157716" y="143413"/>
                </a:lnTo>
                <a:lnTo>
                  <a:pt x="1161193" y="145374"/>
                </a:lnTo>
                <a:lnTo>
                  <a:pt x="1164669" y="147344"/>
                </a:lnTo>
                <a:lnTo>
                  <a:pt x="1168146" y="149323"/>
                </a:lnTo>
                <a:lnTo>
                  <a:pt x="1171623" y="151310"/>
                </a:lnTo>
                <a:lnTo>
                  <a:pt x="1175099" y="153306"/>
                </a:lnTo>
                <a:lnTo>
                  <a:pt x="1178576" y="155310"/>
                </a:lnTo>
                <a:lnTo>
                  <a:pt x="1182053" y="157322"/>
                </a:lnTo>
                <a:lnTo>
                  <a:pt x="1185529" y="159343"/>
                </a:lnTo>
                <a:lnTo>
                  <a:pt x="1189006" y="161371"/>
                </a:lnTo>
                <a:lnTo>
                  <a:pt x="1192482" y="163407"/>
                </a:lnTo>
                <a:lnTo>
                  <a:pt x="1195959" y="165451"/>
                </a:lnTo>
                <a:lnTo>
                  <a:pt x="1199436" y="167502"/>
                </a:lnTo>
                <a:lnTo>
                  <a:pt x="1202912" y="169561"/>
                </a:lnTo>
                <a:lnTo>
                  <a:pt x="1206389" y="171627"/>
                </a:lnTo>
                <a:lnTo>
                  <a:pt x="1209865" y="173701"/>
                </a:lnTo>
                <a:lnTo>
                  <a:pt x="1213342" y="175781"/>
                </a:lnTo>
                <a:lnTo>
                  <a:pt x="1216819" y="177868"/>
                </a:lnTo>
                <a:lnTo>
                  <a:pt x="1220295" y="179962"/>
                </a:lnTo>
                <a:lnTo>
                  <a:pt x="1223772" y="182063"/>
                </a:lnTo>
                <a:lnTo>
                  <a:pt x="1227249" y="184170"/>
                </a:lnTo>
                <a:lnTo>
                  <a:pt x="1230725" y="186284"/>
                </a:lnTo>
                <a:lnTo>
                  <a:pt x="1234202" y="188404"/>
                </a:lnTo>
                <a:lnTo>
                  <a:pt x="1237679" y="190530"/>
                </a:lnTo>
                <a:lnTo>
                  <a:pt x="1241155" y="192662"/>
                </a:lnTo>
                <a:lnTo>
                  <a:pt x="1244632" y="194801"/>
                </a:lnTo>
                <a:lnTo>
                  <a:pt x="1248108" y="196944"/>
                </a:lnTo>
                <a:lnTo>
                  <a:pt x="1251585" y="199094"/>
                </a:lnTo>
                <a:lnTo>
                  <a:pt x="1255062" y="201249"/>
                </a:lnTo>
                <a:lnTo>
                  <a:pt x="1258538" y="203409"/>
                </a:lnTo>
                <a:lnTo>
                  <a:pt x="1262015" y="205575"/>
                </a:lnTo>
                <a:lnTo>
                  <a:pt x="1265492" y="207745"/>
                </a:lnTo>
                <a:lnTo>
                  <a:pt x="1268968" y="209921"/>
                </a:lnTo>
                <a:lnTo>
                  <a:pt x="1272445" y="212101"/>
                </a:lnTo>
                <a:lnTo>
                  <a:pt x="1275921" y="214286"/>
                </a:lnTo>
                <a:lnTo>
                  <a:pt x="1279398" y="216476"/>
                </a:lnTo>
                <a:lnTo>
                  <a:pt x="1282875" y="218670"/>
                </a:lnTo>
                <a:lnTo>
                  <a:pt x="1286351" y="220868"/>
                </a:lnTo>
                <a:lnTo>
                  <a:pt x="1289828" y="223071"/>
                </a:lnTo>
                <a:lnTo>
                  <a:pt x="1293304" y="225277"/>
                </a:lnTo>
                <a:lnTo>
                  <a:pt x="1296781" y="227488"/>
                </a:lnTo>
                <a:lnTo>
                  <a:pt x="1300258" y="229702"/>
                </a:lnTo>
                <a:lnTo>
                  <a:pt x="1303734" y="231920"/>
                </a:lnTo>
                <a:lnTo>
                  <a:pt x="1307211" y="234141"/>
                </a:lnTo>
                <a:lnTo>
                  <a:pt x="1310688" y="236365"/>
                </a:lnTo>
                <a:lnTo>
                  <a:pt x="1314164" y="238593"/>
                </a:lnTo>
                <a:lnTo>
                  <a:pt x="1317641" y="240824"/>
                </a:lnTo>
                <a:lnTo>
                  <a:pt x="1321118" y="243058"/>
                </a:lnTo>
                <a:lnTo>
                  <a:pt x="1324594" y="245294"/>
                </a:lnTo>
                <a:lnTo>
                  <a:pt x="1328071" y="247533"/>
                </a:lnTo>
                <a:lnTo>
                  <a:pt x="1331547" y="249775"/>
                </a:lnTo>
                <a:lnTo>
                  <a:pt x="1335024" y="252019"/>
                </a:lnTo>
                <a:lnTo>
                  <a:pt x="1338501" y="254265"/>
                </a:lnTo>
                <a:lnTo>
                  <a:pt x="1341977" y="256513"/>
                </a:lnTo>
                <a:lnTo>
                  <a:pt x="1345454" y="258764"/>
                </a:lnTo>
                <a:lnTo>
                  <a:pt x="1348931" y="261016"/>
                </a:lnTo>
                <a:lnTo>
                  <a:pt x="1352407" y="263269"/>
                </a:lnTo>
                <a:lnTo>
                  <a:pt x="1355884" y="265525"/>
                </a:lnTo>
                <a:lnTo>
                  <a:pt x="1359360" y="267781"/>
                </a:lnTo>
                <a:lnTo>
                  <a:pt x="1362837" y="270039"/>
                </a:lnTo>
                <a:lnTo>
                  <a:pt x="1366314" y="272298"/>
                </a:lnTo>
                <a:lnTo>
                  <a:pt x="1369790" y="274558"/>
                </a:lnTo>
                <a:lnTo>
                  <a:pt x="1373267" y="276819"/>
                </a:lnTo>
                <a:lnTo>
                  <a:pt x="1376743" y="279081"/>
                </a:lnTo>
                <a:lnTo>
                  <a:pt x="1380220" y="281343"/>
                </a:lnTo>
                <a:lnTo>
                  <a:pt x="1383697" y="283605"/>
                </a:lnTo>
                <a:lnTo>
                  <a:pt x="1387173" y="285868"/>
                </a:lnTo>
                <a:lnTo>
                  <a:pt x="1390650" y="288131"/>
                </a:lnTo>
                <a:lnTo>
                  <a:pt x="1394127" y="290394"/>
                </a:lnTo>
                <a:lnTo>
                  <a:pt x="1397603" y="292657"/>
                </a:lnTo>
                <a:lnTo>
                  <a:pt x="1401080" y="294920"/>
                </a:lnTo>
                <a:lnTo>
                  <a:pt x="1404557" y="297182"/>
                </a:lnTo>
                <a:lnTo>
                  <a:pt x="1408033" y="299443"/>
                </a:lnTo>
                <a:lnTo>
                  <a:pt x="1411510" y="301704"/>
                </a:lnTo>
                <a:lnTo>
                  <a:pt x="1414986" y="303964"/>
                </a:lnTo>
                <a:lnTo>
                  <a:pt x="1418463" y="306223"/>
                </a:lnTo>
                <a:lnTo>
                  <a:pt x="1421940" y="308481"/>
                </a:lnTo>
                <a:lnTo>
                  <a:pt x="1425416" y="310738"/>
                </a:lnTo>
                <a:lnTo>
                  <a:pt x="1428893" y="312993"/>
                </a:lnTo>
                <a:lnTo>
                  <a:pt x="1432370" y="315247"/>
                </a:lnTo>
                <a:lnTo>
                  <a:pt x="1435846" y="317499"/>
                </a:lnTo>
                <a:lnTo>
                  <a:pt x="1439323" y="319749"/>
                </a:lnTo>
                <a:lnTo>
                  <a:pt x="1442799" y="321997"/>
                </a:lnTo>
                <a:lnTo>
                  <a:pt x="1446276" y="324244"/>
                </a:lnTo>
                <a:lnTo>
                  <a:pt x="1449753" y="326488"/>
                </a:lnTo>
                <a:lnTo>
                  <a:pt x="1453229" y="328729"/>
                </a:lnTo>
                <a:lnTo>
                  <a:pt x="1456706" y="330968"/>
                </a:lnTo>
                <a:lnTo>
                  <a:pt x="1460182" y="333205"/>
                </a:lnTo>
                <a:lnTo>
                  <a:pt x="1463659" y="335439"/>
                </a:lnTo>
                <a:lnTo>
                  <a:pt x="1467136" y="337669"/>
                </a:lnTo>
                <a:lnTo>
                  <a:pt x="1470612" y="339897"/>
                </a:lnTo>
                <a:lnTo>
                  <a:pt x="1474089" y="342122"/>
                </a:lnTo>
                <a:lnTo>
                  <a:pt x="1477566" y="344343"/>
                </a:lnTo>
                <a:lnTo>
                  <a:pt x="1481042" y="346561"/>
                </a:lnTo>
                <a:lnTo>
                  <a:pt x="1484519" y="348775"/>
                </a:lnTo>
                <a:lnTo>
                  <a:pt x="1487996" y="350985"/>
                </a:lnTo>
                <a:lnTo>
                  <a:pt x="1491472" y="353192"/>
                </a:lnTo>
                <a:lnTo>
                  <a:pt x="1494949" y="355394"/>
                </a:lnTo>
                <a:lnTo>
                  <a:pt x="1498425" y="357593"/>
                </a:lnTo>
                <a:lnTo>
                  <a:pt x="1501902" y="359787"/>
                </a:lnTo>
                <a:lnTo>
                  <a:pt x="1505379" y="361976"/>
                </a:lnTo>
                <a:lnTo>
                  <a:pt x="1508855" y="364161"/>
                </a:lnTo>
                <a:lnTo>
                  <a:pt x="1512332" y="366342"/>
                </a:lnTo>
                <a:lnTo>
                  <a:pt x="1515808" y="368517"/>
                </a:lnTo>
                <a:lnTo>
                  <a:pt x="1519285" y="370688"/>
                </a:lnTo>
                <a:lnTo>
                  <a:pt x="1522762" y="372853"/>
                </a:lnTo>
                <a:lnTo>
                  <a:pt x="1526238" y="375014"/>
                </a:lnTo>
                <a:lnTo>
                  <a:pt x="1529715" y="377169"/>
                </a:lnTo>
                <a:lnTo>
                  <a:pt x="1533192" y="379318"/>
                </a:lnTo>
                <a:lnTo>
                  <a:pt x="1536668" y="381462"/>
                </a:lnTo>
                <a:lnTo>
                  <a:pt x="1540145" y="383600"/>
                </a:lnTo>
                <a:lnTo>
                  <a:pt x="1543621" y="385732"/>
                </a:lnTo>
                <a:lnTo>
                  <a:pt x="1547098" y="387858"/>
                </a:lnTo>
                <a:lnTo>
                  <a:pt x="1550575" y="389978"/>
                </a:lnTo>
                <a:lnTo>
                  <a:pt x="1554051" y="392092"/>
                </a:lnTo>
                <a:lnTo>
                  <a:pt x="1557528" y="394199"/>
                </a:lnTo>
                <a:lnTo>
                  <a:pt x="1561005" y="396300"/>
                </a:lnTo>
                <a:lnTo>
                  <a:pt x="1564481" y="398394"/>
                </a:lnTo>
                <a:lnTo>
                  <a:pt x="1567958" y="400482"/>
                </a:lnTo>
                <a:lnTo>
                  <a:pt x="1571435" y="402562"/>
                </a:lnTo>
                <a:lnTo>
                  <a:pt x="1574911" y="404635"/>
                </a:lnTo>
                <a:lnTo>
                  <a:pt x="1578388" y="406701"/>
                </a:lnTo>
                <a:lnTo>
                  <a:pt x="1581864" y="408760"/>
                </a:lnTo>
                <a:lnTo>
                  <a:pt x="1585341" y="410812"/>
                </a:lnTo>
                <a:lnTo>
                  <a:pt x="1588818" y="412855"/>
                </a:lnTo>
                <a:lnTo>
                  <a:pt x="1592294" y="414891"/>
                </a:lnTo>
                <a:lnTo>
                  <a:pt x="1595771" y="416920"/>
                </a:lnTo>
                <a:lnTo>
                  <a:pt x="1599247" y="418940"/>
                </a:lnTo>
                <a:lnTo>
                  <a:pt x="1602724" y="420952"/>
                </a:lnTo>
                <a:lnTo>
                  <a:pt x="1606201" y="422956"/>
                </a:lnTo>
                <a:lnTo>
                  <a:pt x="1609677" y="424952"/>
                </a:lnTo>
                <a:lnTo>
                  <a:pt x="1613154" y="426940"/>
                </a:lnTo>
                <a:lnTo>
                  <a:pt x="1616631" y="428918"/>
                </a:lnTo>
                <a:lnTo>
                  <a:pt x="1620107" y="430888"/>
                </a:lnTo>
                <a:lnTo>
                  <a:pt x="1623584" y="432850"/>
                </a:lnTo>
                <a:lnTo>
                  <a:pt x="1627060" y="434802"/>
                </a:lnTo>
                <a:lnTo>
                  <a:pt x="1630537" y="436745"/>
                </a:lnTo>
                <a:lnTo>
                  <a:pt x="1634014" y="438679"/>
                </a:lnTo>
                <a:lnTo>
                  <a:pt x="1637490" y="440604"/>
                </a:lnTo>
                <a:lnTo>
                  <a:pt x="1640967" y="442520"/>
                </a:lnTo>
                <a:lnTo>
                  <a:pt x="1644444" y="444426"/>
                </a:lnTo>
                <a:lnTo>
                  <a:pt x="1647920" y="446322"/>
                </a:lnTo>
                <a:lnTo>
                  <a:pt x="1651397" y="448208"/>
                </a:lnTo>
                <a:lnTo>
                  <a:pt x="1654874" y="450085"/>
                </a:lnTo>
                <a:lnTo>
                  <a:pt x="1658350" y="451952"/>
                </a:lnTo>
                <a:lnTo>
                  <a:pt x="1661827" y="453808"/>
                </a:lnTo>
                <a:lnTo>
                  <a:pt x="1665303" y="455655"/>
                </a:lnTo>
                <a:lnTo>
                  <a:pt x="1668780" y="457491"/>
                </a:lnTo>
                <a:lnTo>
                  <a:pt x="1672257" y="459316"/>
                </a:lnTo>
                <a:lnTo>
                  <a:pt x="1675733" y="461131"/>
                </a:lnTo>
                <a:lnTo>
                  <a:pt x="1679210" y="462935"/>
                </a:lnTo>
                <a:lnTo>
                  <a:pt x="1682686" y="464729"/>
                </a:lnTo>
                <a:lnTo>
                  <a:pt x="1686163" y="466512"/>
                </a:lnTo>
                <a:lnTo>
                  <a:pt x="1689640" y="468283"/>
                </a:lnTo>
                <a:lnTo>
                  <a:pt x="1693116" y="470044"/>
                </a:lnTo>
                <a:lnTo>
                  <a:pt x="1696593" y="471793"/>
                </a:lnTo>
                <a:lnTo>
                  <a:pt x="1700070" y="473531"/>
                </a:lnTo>
                <a:lnTo>
                  <a:pt x="1703546" y="475258"/>
                </a:lnTo>
                <a:lnTo>
                  <a:pt x="1707023" y="476973"/>
                </a:lnTo>
                <a:lnTo>
                  <a:pt x="1710500" y="478676"/>
                </a:lnTo>
                <a:lnTo>
                  <a:pt x="1713976" y="480367"/>
                </a:lnTo>
                <a:lnTo>
                  <a:pt x="1717453" y="482047"/>
                </a:lnTo>
                <a:lnTo>
                  <a:pt x="1720929" y="483715"/>
                </a:lnTo>
                <a:lnTo>
                  <a:pt x="1724406" y="485371"/>
                </a:lnTo>
                <a:lnTo>
                  <a:pt x="1727883" y="487014"/>
                </a:lnTo>
                <a:lnTo>
                  <a:pt x="1731359" y="488645"/>
                </a:lnTo>
                <a:lnTo>
                  <a:pt x="1734836" y="490264"/>
                </a:lnTo>
                <a:lnTo>
                  <a:pt x="1738313" y="491871"/>
                </a:lnTo>
                <a:lnTo>
                  <a:pt x="1741789" y="493465"/>
                </a:lnTo>
                <a:lnTo>
                  <a:pt x="1745266" y="495046"/>
                </a:lnTo>
                <a:lnTo>
                  <a:pt x="1748742" y="496614"/>
                </a:lnTo>
                <a:lnTo>
                  <a:pt x="1752219" y="498170"/>
                </a:lnTo>
                <a:lnTo>
                  <a:pt x="1755696" y="499713"/>
                </a:lnTo>
                <a:lnTo>
                  <a:pt x="1759172" y="501242"/>
                </a:lnTo>
                <a:lnTo>
                  <a:pt x="1762649" y="502759"/>
                </a:lnTo>
                <a:lnTo>
                  <a:pt x="1766125" y="504262"/>
                </a:lnTo>
                <a:lnTo>
                  <a:pt x="1769602" y="505752"/>
                </a:lnTo>
                <a:lnTo>
                  <a:pt x="1773079" y="507228"/>
                </a:lnTo>
                <a:lnTo>
                  <a:pt x="1776555" y="508691"/>
                </a:lnTo>
                <a:lnTo>
                  <a:pt x="1780032" y="510140"/>
                </a:lnTo>
                <a:lnTo>
                  <a:pt x="1783509" y="511576"/>
                </a:lnTo>
                <a:lnTo>
                  <a:pt x="1786985" y="512998"/>
                </a:lnTo>
                <a:lnTo>
                  <a:pt x="1790462" y="514406"/>
                </a:lnTo>
                <a:lnTo>
                  <a:pt x="1793939" y="515800"/>
                </a:lnTo>
                <a:lnTo>
                  <a:pt x="1797415" y="517180"/>
                </a:lnTo>
                <a:lnTo>
                  <a:pt x="1800892" y="518545"/>
                </a:lnTo>
                <a:lnTo>
                  <a:pt x="1804368" y="519897"/>
                </a:lnTo>
                <a:lnTo>
                  <a:pt x="1807845" y="521234"/>
                </a:lnTo>
                <a:lnTo>
                  <a:pt x="1811322" y="522557"/>
                </a:lnTo>
                <a:lnTo>
                  <a:pt x="1814798" y="523866"/>
                </a:lnTo>
                <a:lnTo>
                  <a:pt x="1818275" y="525160"/>
                </a:lnTo>
                <a:lnTo>
                  <a:pt x="1821752" y="526439"/>
                </a:lnTo>
                <a:lnTo>
                  <a:pt x="1825228" y="527704"/>
                </a:lnTo>
                <a:lnTo>
                  <a:pt x="1828705" y="528953"/>
                </a:lnTo>
                <a:lnTo>
                  <a:pt x="1832181" y="530188"/>
                </a:lnTo>
                <a:lnTo>
                  <a:pt x="1835658" y="531409"/>
                </a:lnTo>
                <a:lnTo>
                  <a:pt x="1839135" y="532614"/>
                </a:lnTo>
                <a:lnTo>
                  <a:pt x="1842611" y="533804"/>
                </a:lnTo>
                <a:lnTo>
                  <a:pt x="1846088" y="534978"/>
                </a:lnTo>
                <a:lnTo>
                  <a:pt x="1849565" y="536138"/>
                </a:lnTo>
                <a:lnTo>
                  <a:pt x="1853041" y="537282"/>
                </a:lnTo>
                <a:lnTo>
                  <a:pt x="1856518" y="538411"/>
                </a:lnTo>
                <a:lnTo>
                  <a:pt x="1859994" y="539525"/>
                </a:lnTo>
                <a:lnTo>
                  <a:pt x="1863471" y="540623"/>
                </a:lnTo>
                <a:lnTo>
                  <a:pt x="1866948" y="541705"/>
                </a:lnTo>
                <a:lnTo>
                  <a:pt x="1870424" y="542772"/>
                </a:lnTo>
                <a:lnTo>
                  <a:pt x="1873901" y="543823"/>
                </a:lnTo>
                <a:lnTo>
                  <a:pt x="1877378" y="544858"/>
                </a:lnTo>
                <a:lnTo>
                  <a:pt x="1880854" y="545878"/>
                </a:lnTo>
                <a:lnTo>
                  <a:pt x="1884331" y="546881"/>
                </a:lnTo>
                <a:lnTo>
                  <a:pt x="1887807" y="547869"/>
                </a:lnTo>
                <a:lnTo>
                  <a:pt x="1891284" y="548840"/>
                </a:lnTo>
                <a:lnTo>
                  <a:pt x="1894761" y="549796"/>
                </a:lnTo>
                <a:lnTo>
                  <a:pt x="1898237" y="550735"/>
                </a:lnTo>
                <a:lnTo>
                  <a:pt x="1901714" y="551658"/>
                </a:lnTo>
                <a:lnTo>
                  <a:pt x="1905190" y="552565"/>
                </a:lnTo>
                <a:lnTo>
                  <a:pt x="1908667" y="553456"/>
                </a:lnTo>
                <a:lnTo>
                  <a:pt x="1912144" y="554330"/>
                </a:lnTo>
                <a:lnTo>
                  <a:pt x="1915620" y="555188"/>
                </a:lnTo>
                <a:lnTo>
                  <a:pt x="1919097" y="556029"/>
                </a:lnTo>
                <a:lnTo>
                  <a:pt x="1922574" y="556854"/>
                </a:lnTo>
                <a:lnTo>
                  <a:pt x="1926050" y="557662"/>
                </a:lnTo>
                <a:lnTo>
                  <a:pt x="1929527" y="558453"/>
                </a:lnTo>
                <a:lnTo>
                  <a:pt x="1933004" y="559228"/>
                </a:lnTo>
                <a:lnTo>
                  <a:pt x="1936480" y="559987"/>
                </a:lnTo>
                <a:lnTo>
                  <a:pt x="1939957" y="560728"/>
                </a:lnTo>
                <a:lnTo>
                  <a:pt x="1943433" y="561453"/>
                </a:lnTo>
                <a:lnTo>
                  <a:pt x="1946910" y="562160"/>
                </a:lnTo>
                <a:lnTo>
                  <a:pt x="1950387" y="562851"/>
                </a:lnTo>
                <a:lnTo>
                  <a:pt x="1953863" y="563525"/>
                </a:lnTo>
                <a:lnTo>
                  <a:pt x="1957340" y="564182"/>
                </a:lnTo>
                <a:lnTo>
                  <a:pt x="1960817" y="564822"/>
                </a:lnTo>
                <a:lnTo>
                  <a:pt x="1964293" y="565445"/>
                </a:lnTo>
                <a:lnTo>
                  <a:pt x="1967770" y="566050"/>
                </a:lnTo>
                <a:lnTo>
                  <a:pt x="1971246" y="566639"/>
                </a:lnTo>
                <a:lnTo>
                  <a:pt x="1974723" y="567210"/>
                </a:lnTo>
                <a:lnTo>
                  <a:pt x="1978200" y="567764"/>
                </a:lnTo>
                <a:lnTo>
                  <a:pt x="1981676" y="568301"/>
                </a:lnTo>
                <a:lnTo>
                  <a:pt x="1985153" y="568821"/>
                </a:lnTo>
                <a:lnTo>
                  <a:pt x="1988629" y="569323"/>
                </a:lnTo>
                <a:lnTo>
                  <a:pt x="1992106" y="569808"/>
                </a:lnTo>
                <a:lnTo>
                  <a:pt x="1995583" y="570276"/>
                </a:lnTo>
                <a:lnTo>
                  <a:pt x="1999059" y="570726"/>
                </a:lnTo>
                <a:lnTo>
                  <a:pt x="2002536" y="571159"/>
                </a:lnTo>
                <a:lnTo>
                  <a:pt x="2006013" y="571574"/>
                </a:lnTo>
                <a:lnTo>
                  <a:pt x="2009489" y="571972"/>
                </a:lnTo>
                <a:lnTo>
                  <a:pt x="2012966" y="572352"/>
                </a:lnTo>
                <a:lnTo>
                  <a:pt x="2016443" y="572715"/>
                </a:lnTo>
                <a:lnTo>
                  <a:pt x="2019919" y="573060"/>
                </a:lnTo>
                <a:lnTo>
                  <a:pt x="2023396" y="573388"/>
                </a:lnTo>
                <a:lnTo>
                  <a:pt x="2026872" y="573698"/>
                </a:lnTo>
                <a:lnTo>
                  <a:pt x="2030349" y="573990"/>
                </a:lnTo>
                <a:lnTo>
                  <a:pt x="2033826" y="574265"/>
                </a:lnTo>
                <a:lnTo>
                  <a:pt x="2037302" y="574522"/>
                </a:lnTo>
                <a:lnTo>
                  <a:pt x="2040779" y="574762"/>
                </a:lnTo>
                <a:lnTo>
                  <a:pt x="2044256" y="574984"/>
                </a:lnTo>
                <a:lnTo>
                  <a:pt x="2047732" y="575188"/>
                </a:lnTo>
                <a:lnTo>
                  <a:pt x="2051209" y="575374"/>
                </a:lnTo>
                <a:lnTo>
                  <a:pt x="2054685" y="575543"/>
                </a:lnTo>
                <a:lnTo>
                  <a:pt x="2058162" y="575694"/>
                </a:lnTo>
                <a:lnTo>
                  <a:pt x="2061639" y="575827"/>
                </a:lnTo>
                <a:lnTo>
                  <a:pt x="2065115" y="575943"/>
                </a:lnTo>
                <a:lnTo>
                  <a:pt x="2068592" y="576040"/>
                </a:lnTo>
                <a:lnTo>
                  <a:pt x="2072068" y="576120"/>
                </a:lnTo>
                <a:lnTo>
                  <a:pt x="2075545" y="576183"/>
                </a:lnTo>
                <a:lnTo>
                  <a:pt x="2079022" y="576227"/>
                </a:lnTo>
                <a:lnTo>
                  <a:pt x="2082498" y="576254"/>
                </a:lnTo>
                <a:lnTo>
                  <a:pt x="2085975" y="576263"/>
                </a:lnTo>
                <a:lnTo>
                  <a:pt x="2089452" y="576254"/>
                </a:lnTo>
                <a:lnTo>
                  <a:pt x="2092928" y="576227"/>
                </a:lnTo>
                <a:lnTo>
                  <a:pt x="2096405" y="576183"/>
                </a:lnTo>
                <a:lnTo>
                  <a:pt x="2099882" y="576120"/>
                </a:lnTo>
                <a:lnTo>
                  <a:pt x="2103358" y="576040"/>
                </a:lnTo>
                <a:lnTo>
                  <a:pt x="2106835" y="575943"/>
                </a:lnTo>
                <a:lnTo>
                  <a:pt x="2110311" y="575827"/>
                </a:lnTo>
                <a:lnTo>
                  <a:pt x="2113788" y="575694"/>
                </a:lnTo>
                <a:lnTo>
                  <a:pt x="2117265" y="575543"/>
                </a:lnTo>
                <a:lnTo>
                  <a:pt x="2120741" y="575374"/>
                </a:lnTo>
                <a:lnTo>
                  <a:pt x="2124218" y="575188"/>
                </a:lnTo>
                <a:lnTo>
                  <a:pt x="2127695" y="574984"/>
                </a:lnTo>
                <a:lnTo>
                  <a:pt x="2131171" y="574762"/>
                </a:lnTo>
                <a:lnTo>
                  <a:pt x="2134648" y="574522"/>
                </a:lnTo>
                <a:lnTo>
                  <a:pt x="2138124" y="574265"/>
                </a:lnTo>
                <a:lnTo>
                  <a:pt x="2141601" y="573990"/>
                </a:lnTo>
                <a:lnTo>
                  <a:pt x="2145078" y="573698"/>
                </a:lnTo>
                <a:lnTo>
                  <a:pt x="2148554" y="573388"/>
                </a:lnTo>
                <a:lnTo>
                  <a:pt x="2152031" y="573060"/>
                </a:lnTo>
                <a:lnTo>
                  <a:pt x="2155507" y="572715"/>
                </a:lnTo>
                <a:lnTo>
                  <a:pt x="2158984" y="572352"/>
                </a:lnTo>
                <a:lnTo>
                  <a:pt x="2162461" y="571972"/>
                </a:lnTo>
                <a:lnTo>
                  <a:pt x="2165937" y="571574"/>
                </a:lnTo>
                <a:lnTo>
                  <a:pt x="2169414" y="571159"/>
                </a:lnTo>
                <a:lnTo>
                  <a:pt x="2172891" y="570726"/>
                </a:lnTo>
                <a:lnTo>
                  <a:pt x="2176367" y="570276"/>
                </a:lnTo>
                <a:lnTo>
                  <a:pt x="2179844" y="569808"/>
                </a:lnTo>
                <a:lnTo>
                  <a:pt x="2183321" y="569323"/>
                </a:lnTo>
                <a:lnTo>
                  <a:pt x="2186797" y="568821"/>
                </a:lnTo>
                <a:lnTo>
                  <a:pt x="2190274" y="568301"/>
                </a:lnTo>
                <a:lnTo>
                  <a:pt x="2193750" y="567764"/>
                </a:lnTo>
                <a:lnTo>
                  <a:pt x="2197227" y="567210"/>
                </a:lnTo>
                <a:lnTo>
                  <a:pt x="2200704" y="566639"/>
                </a:lnTo>
                <a:lnTo>
                  <a:pt x="2204180" y="566050"/>
                </a:lnTo>
                <a:lnTo>
                  <a:pt x="2207657" y="565445"/>
                </a:lnTo>
                <a:lnTo>
                  <a:pt x="2211134" y="564822"/>
                </a:lnTo>
                <a:lnTo>
                  <a:pt x="2214610" y="564182"/>
                </a:lnTo>
                <a:lnTo>
                  <a:pt x="2218087" y="563525"/>
                </a:lnTo>
                <a:lnTo>
                  <a:pt x="2221563" y="562851"/>
                </a:lnTo>
                <a:lnTo>
                  <a:pt x="2225040" y="562160"/>
                </a:lnTo>
                <a:lnTo>
                  <a:pt x="2228517" y="561453"/>
                </a:lnTo>
                <a:lnTo>
                  <a:pt x="2231993" y="560728"/>
                </a:lnTo>
                <a:lnTo>
                  <a:pt x="2235470" y="559987"/>
                </a:lnTo>
                <a:lnTo>
                  <a:pt x="2238946" y="559228"/>
                </a:lnTo>
                <a:lnTo>
                  <a:pt x="2242423" y="558453"/>
                </a:lnTo>
                <a:lnTo>
                  <a:pt x="2245900" y="557662"/>
                </a:lnTo>
                <a:lnTo>
                  <a:pt x="2249376" y="556854"/>
                </a:lnTo>
                <a:lnTo>
                  <a:pt x="2252853" y="556029"/>
                </a:lnTo>
                <a:lnTo>
                  <a:pt x="2256330" y="555188"/>
                </a:lnTo>
                <a:lnTo>
                  <a:pt x="2259806" y="554330"/>
                </a:lnTo>
                <a:lnTo>
                  <a:pt x="2263283" y="553456"/>
                </a:lnTo>
                <a:lnTo>
                  <a:pt x="2266760" y="552565"/>
                </a:lnTo>
                <a:lnTo>
                  <a:pt x="2270236" y="551658"/>
                </a:lnTo>
                <a:lnTo>
                  <a:pt x="2273713" y="550735"/>
                </a:lnTo>
                <a:lnTo>
                  <a:pt x="2277189" y="549796"/>
                </a:lnTo>
                <a:lnTo>
                  <a:pt x="2280666" y="548840"/>
                </a:lnTo>
                <a:lnTo>
                  <a:pt x="2284143" y="547869"/>
                </a:lnTo>
                <a:lnTo>
                  <a:pt x="2287619" y="546881"/>
                </a:lnTo>
                <a:lnTo>
                  <a:pt x="2291096" y="545878"/>
                </a:lnTo>
                <a:lnTo>
                  <a:pt x="2294573" y="544858"/>
                </a:lnTo>
                <a:lnTo>
                  <a:pt x="2298049" y="543823"/>
                </a:lnTo>
                <a:lnTo>
                  <a:pt x="2301526" y="542772"/>
                </a:lnTo>
                <a:lnTo>
                  <a:pt x="2305002" y="541705"/>
                </a:lnTo>
                <a:lnTo>
                  <a:pt x="2308479" y="540623"/>
                </a:lnTo>
                <a:lnTo>
                  <a:pt x="2311956" y="539525"/>
                </a:lnTo>
                <a:lnTo>
                  <a:pt x="2315432" y="538411"/>
                </a:lnTo>
                <a:lnTo>
                  <a:pt x="2318909" y="537282"/>
                </a:lnTo>
                <a:lnTo>
                  <a:pt x="2322385" y="536138"/>
                </a:lnTo>
                <a:lnTo>
                  <a:pt x="2325862" y="534978"/>
                </a:lnTo>
                <a:lnTo>
                  <a:pt x="2329339" y="533804"/>
                </a:lnTo>
                <a:lnTo>
                  <a:pt x="2332815" y="532614"/>
                </a:lnTo>
                <a:lnTo>
                  <a:pt x="2336292" y="531409"/>
                </a:lnTo>
                <a:lnTo>
                  <a:pt x="2339769" y="530188"/>
                </a:lnTo>
                <a:lnTo>
                  <a:pt x="2343245" y="528953"/>
                </a:lnTo>
                <a:lnTo>
                  <a:pt x="2346722" y="527704"/>
                </a:lnTo>
                <a:lnTo>
                  <a:pt x="2350199" y="526439"/>
                </a:lnTo>
                <a:lnTo>
                  <a:pt x="2353675" y="525160"/>
                </a:lnTo>
                <a:lnTo>
                  <a:pt x="2357152" y="523866"/>
                </a:lnTo>
                <a:lnTo>
                  <a:pt x="2360628" y="522557"/>
                </a:lnTo>
                <a:lnTo>
                  <a:pt x="2364105" y="521234"/>
                </a:lnTo>
                <a:lnTo>
                  <a:pt x="2367582" y="519897"/>
                </a:lnTo>
                <a:lnTo>
                  <a:pt x="2371058" y="518545"/>
                </a:lnTo>
                <a:lnTo>
                  <a:pt x="2374535" y="517180"/>
                </a:lnTo>
                <a:lnTo>
                  <a:pt x="2378011" y="515800"/>
                </a:lnTo>
                <a:lnTo>
                  <a:pt x="2381488" y="514406"/>
                </a:lnTo>
                <a:lnTo>
                  <a:pt x="2384965" y="512998"/>
                </a:lnTo>
                <a:lnTo>
                  <a:pt x="2388441" y="511576"/>
                </a:lnTo>
                <a:lnTo>
                  <a:pt x="2391918" y="510140"/>
                </a:lnTo>
                <a:lnTo>
                  <a:pt x="2395395" y="508691"/>
                </a:lnTo>
                <a:lnTo>
                  <a:pt x="2398871" y="507228"/>
                </a:lnTo>
                <a:lnTo>
                  <a:pt x="2402348" y="505752"/>
                </a:lnTo>
                <a:lnTo>
                  <a:pt x="2405825" y="504262"/>
                </a:lnTo>
                <a:lnTo>
                  <a:pt x="2409301" y="502759"/>
                </a:lnTo>
                <a:lnTo>
                  <a:pt x="2412778" y="501242"/>
                </a:lnTo>
                <a:lnTo>
                  <a:pt x="2416254" y="499713"/>
                </a:lnTo>
                <a:lnTo>
                  <a:pt x="2419731" y="498170"/>
                </a:lnTo>
                <a:lnTo>
                  <a:pt x="2423208" y="496614"/>
                </a:lnTo>
                <a:lnTo>
                  <a:pt x="2426684" y="495046"/>
                </a:lnTo>
                <a:lnTo>
                  <a:pt x="2430161" y="493465"/>
                </a:lnTo>
                <a:lnTo>
                  <a:pt x="2433638" y="491871"/>
                </a:lnTo>
                <a:lnTo>
                  <a:pt x="2437114" y="490264"/>
                </a:lnTo>
                <a:lnTo>
                  <a:pt x="2440591" y="488645"/>
                </a:lnTo>
                <a:lnTo>
                  <a:pt x="2444067" y="487014"/>
                </a:lnTo>
                <a:lnTo>
                  <a:pt x="2447544" y="485371"/>
                </a:lnTo>
                <a:lnTo>
                  <a:pt x="2451021" y="483715"/>
                </a:lnTo>
                <a:lnTo>
                  <a:pt x="2454497" y="482047"/>
                </a:lnTo>
                <a:lnTo>
                  <a:pt x="2457974" y="480367"/>
                </a:lnTo>
                <a:lnTo>
                  <a:pt x="2461451" y="478676"/>
                </a:lnTo>
                <a:lnTo>
                  <a:pt x="2464927" y="476973"/>
                </a:lnTo>
                <a:lnTo>
                  <a:pt x="2468404" y="475258"/>
                </a:lnTo>
                <a:lnTo>
                  <a:pt x="2471880" y="473531"/>
                </a:lnTo>
                <a:lnTo>
                  <a:pt x="2475357" y="471793"/>
                </a:lnTo>
                <a:lnTo>
                  <a:pt x="2478834" y="470044"/>
                </a:lnTo>
                <a:lnTo>
                  <a:pt x="2482310" y="468283"/>
                </a:lnTo>
                <a:lnTo>
                  <a:pt x="2485787" y="466512"/>
                </a:lnTo>
                <a:lnTo>
                  <a:pt x="2489263" y="464729"/>
                </a:lnTo>
                <a:lnTo>
                  <a:pt x="2492740" y="462935"/>
                </a:lnTo>
                <a:lnTo>
                  <a:pt x="2496217" y="461131"/>
                </a:lnTo>
                <a:lnTo>
                  <a:pt x="2499693" y="459316"/>
                </a:lnTo>
                <a:lnTo>
                  <a:pt x="2503170" y="457491"/>
                </a:lnTo>
                <a:lnTo>
                  <a:pt x="2506647" y="455655"/>
                </a:lnTo>
                <a:lnTo>
                  <a:pt x="2510123" y="453808"/>
                </a:lnTo>
                <a:lnTo>
                  <a:pt x="2513600" y="451952"/>
                </a:lnTo>
                <a:lnTo>
                  <a:pt x="2517077" y="450085"/>
                </a:lnTo>
                <a:lnTo>
                  <a:pt x="2520553" y="448208"/>
                </a:lnTo>
                <a:lnTo>
                  <a:pt x="2524030" y="446322"/>
                </a:lnTo>
                <a:lnTo>
                  <a:pt x="2527506" y="444426"/>
                </a:lnTo>
                <a:lnTo>
                  <a:pt x="2530983" y="442520"/>
                </a:lnTo>
                <a:lnTo>
                  <a:pt x="2534460" y="440604"/>
                </a:lnTo>
                <a:lnTo>
                  <a:pt x="2537936" y="438679"/>
                </a:lnTo>
                <a:lnTo>
                  <a:pt x="2541413" y="436745"/>
                </a:lnTo>
                <a:lnTo>
                  <a:pt x="2544890" y="434802"/>
                </a:lnTo>
                <a:lnTo>
                  <a:pt x="2548366" y="432850"/>
                </a:lnTo>
                <a:lnTo>
                  <a:pt x="2551843" y="430888"/>
                </a:lnTo>
                <a:lnTo>
                  <a:pt x="2555319" y="428918"/>
                </a:lnTo>
                <a:lnTo>
                  <a:pt x="2558796" y="426940"/>
                </a:lnTo>
                <a:lnTo>
                  <a:pt x="2562273" y="424952"/>
                </a:lnTo>
                <a:lnTo>
                  <a:pt x="2565749" y="422956"/>
                </a:lnTo>
                <a:lnTo>
                  <a:pt x="2569226" y="420952"/>
                </a:lnTo>
                <a:lnTo>
                  <a:pt x="2572703" y="418940"/>
                </a:lnTo>
                <a:lnTo>
                  <a:pt x="2576179" y="416920"/>
                </a:lnTo>
                <a:lnTo>
                  <a:pt x="2579656" y="414891"/>
                </a:lnTo>
                <a:lnTo>
                  <a:pt x="2583132" y="412855"/>
                </a:lnTo>
                <a:lnTo>
                  <a:pt x="2586609" y="410812"/>
                </a:lnTo>
                <a:lnTo>
                  <a:pt x="2590086" y="408760"/>
                </a:lnTo>
                <a:lnTo>
                  <a:pt x="2593562" y="406701"/>
                </a:lnTo>
                <a:lnTo>
                  <a:pt x="2597039" y="404635"/>
                </a:lnTo>
                <a:lnTo>
                  <a:pt x="2600516" y="402562"/>
                </a:lnTo>
                <a:lnTo>
                  <a:pt x="2603992" y="400482"/>
                </a:lnTo>
                <a:lnTo>
                  <a:pt x="2607469" y="398394"/>
                </a:lnTo>
                <a:lnTo>
                  <a:pt x="2610945" y="396300"/>
                </a:lnTo>
                <a:lnTo>
                  <a:pt x="2614422" y="394199"/>
                </a:lnTo>
                <a:lnTo>
                  <a:pt x="2617899" y="392092"/>
                </a:lnTo>
                <a:lnTo>
                  <a:pt x="2621375" y="389978"/>
                </a:lnTo>
                <a:lnTo>
                  <a:pt x="2624852" y="387858"/>
                </a:lnTo>
                <a:lnTo>
                  <a:pt x="2628329" y="385732"/>
                </a:lnTo>
                <a:lnTo>
                  <a:pt x="2631805" y="383600"/>
                </a:lnTo>
                <a:lnTo>
                  <a:pt x="2635282" y="381462"/>
                </a:lnTo>
                <a:lnTo>
                  <a:pt x="2638758" y="379318"/>
                </a:lnTo>
                <a:lnTo>
                  <a:pt x="2642235" y="377169"/>
                </a:lnTo>
                <a:lnTo>
                  <a:pt x="2645712" y="375014"/>
                </a:lnTo>
                <a:lnTo>
                  <a:pt x="2649188" y="372853"/>
                </a:lnTo>
                <a:lnTo>
                  <a:pt x="2652665" y="370688"/>
                </a:lnTo>
                <a:lnTo>
                  <a:pt x="2656142" y="368517"/>
                </a:lnTo>
                <a:lnTo>
                  <a:pt x="2659618" y="366342"/>
                </a:lnTo>
                <a:lnTo>
                  <a:pt x="2663095" y="364161"/>
                </a:lnTo>
                <a:lnTo>
                  <a:pt x="2666571" y="361976"/>
                </a:lnTo>
                <a:lnTo>
                  <a:pt x="2670048" y="359787"/>
                </a:lnTo>
                <a:lnTo>
                  <a:pt x="2673525" y="357593"/>
                </a:lnTo>
                <a:lnTo>
                  <a:pt x="2677001" y="355394"/>
                </a:lnTo>
                <a:lnTo>
                  <a:pt x="2680478" y="353192"/>
                </a:lnTo>
                <a:lnTo>
                  <a:pt x="2683954" y="350985"/>
                </a:lnTo>
                <a:lnTo>
                  <a:pt x="2687431" y="348775"/>
                </a:lnTo>
                <a:lnTo>
                  <a:pt x="2690908" y="346561"/>
                </a:lnTo>
                <a:lnTo>
                  <a:pt x="2694384" y="344343"/>
                </a:lnTo>
                <a:lnTo>
                  <a:pt x="2697861" y="342122"/>
                </a:lnTo>
                <a:lnTo>
                  <a:pt x="2701338" y="339897"/>
                </a:lnTo>
                <a:lnTo>
                  <a:pt x="2704814" y="337669"/>
                </a:lnTo>
                <a:lnTo>
                  <a:pt x="2708291" y="335439"/>
                </a:lnTo>
                <a:lnTo>
                  <a:pt x="2711768" y="333205"/>
                </a:lnTo>
                <a:lnTo>
                  <a:pt x="2715244" y="330968"/>
                </a:lnTo>
                <a:lnTo>
                  <a:pt x="2718721" y="328729"/>
                </a:lnTo>
                <a:lnTo>
                  <a:pt x="2722197" y="326488"/>
                </a:lnTo>
                <a:lnTo>
                  <a:pt x="2725674" y="324244"/>
                </a:lnTo>
                <a:lnTo>
                  <a:pt x="2729151" y="321997"/>
                </a:lnTo>
                <a:lnTo>
                  <a:pt x="2732627" y="319749"/>
                </a:lnTo>
                <a:lnTo>
                  <a:pt x="2736104" y="317499"/>
                </a:lnTo>
                <a:lnTo>
                  <a:pt x="2739581" y="315247"/>
                </a:lnTo>
                <a:lnTo>
                  <a:pt x="2743057" y="312993"/>
                </a:lnTo>
                <a:lnTo>
                  <a:pt x="2746534" y="310738"/>
                </a:lnTo>
                <a:lnTo>
                  <a:pt x="2750010" y="308481"/>
                </a:lnTo>
                <a:lnTo>
                  <a:pt x="2753487" y="306223"/>
                </a:lnTo>
                <a:lnTo>
                  <a:pt x="2756964" y="303964"/>
                </a:lnTo>
                <a:lnTo>
                  <a:pt x="2760440" y="301704"/>
                </a:lnTo>
                <a:lnTo>
                  <a:pt x="2763917" y="299443"/>
                </a:lnTo>
                <a:lnTo>
                  <a:pt x="2767393" y="297182"/>
                </a:lnTo>
                <a:lnTo>
                  <a:pt x="2770870" y="294920"/>
                </a:lnTo>
                <a:lnTo>
                  <a:pt x="2774347" y="292657"/>
                </a:lnTo>
                <a:lnTo>
                  <a:pt x="2777823" y="290394"/>
                </a:lnTo>
                <a:lnTo>
                  <a:pt x="2781300" y="288131"/>
                </a:lnTo>
              </a:path>
            </a:pathLst>
          </a:custGeom>
          <a:noFill xmlns:a="http://schemas.openxmlformats.org/drawingml/2006/main"/>
          <a:ln xmlns:a="http://schemas.openxmlformats.org/drawingml/2006/main" w="15240">
            <a:solidFill>
              <a:srgbClr val="202020"/>
            </a:solidFill>
          </a:ln>
        </p:spPr>
      </p:sp>
      <p:pic>
        <p:nvPicPr>
          <p:cNvPr id="39" name="!!am-route-m" descr="m(t)">
            <ns0:hlinkClick xmlns:ns0="http://schemas.openxmlformats.org/drawingml/2006/main" xmlns:ns1="http://schemas.openxmlformats.org/officeDocument/2006/relationships" ns1:id="rIdmethods_Link13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5cd29c8b775e4732">
            <a:extLst>
              <a:ext uri="{96DAC541-7B7A-43D3-8B79-37D633B846F1}">
                <ns0:svgBlip xmlns:ns0="http://schemas.microsoft.com/office/drawing/2016/SVG/main" r:embed="rIdVectormf00584"/>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40" name="!!am-route-s" descr="s(t)">
            <ns0:hlinkClick xmlns:ns0="http://schemas.openxmlformats.org/drawingml/2006/main" xmlns:ns1="http://schemas.openxmlformats.org/officeDocument/2006/relationships" ns1:id="rIdmethods_Link13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d5cbc54bfc944073">
            <a:extLst>
              <a:ext uri="{96DAC541-7B7A-43D3-8B79-37D633B846F1}">
                <ns1:svgBlip xmlns:ns1="http://schemas.microsoft.com/office/drawing/2016/SVG/main" r:embed="rIdVectormf00585"/>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41" name="!!am-route-restored" descr="m(t)">
            <ns0:hlinkClick xmlns:ns0="http://schemas.openxmlformats.org/drawingml/2006/main" xmlns:ns1="http://schemas.openxmlformats.org/officeDocument/2006/relationships" ns1:id="rIdmethods_Link13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1ef5894f4f704d34">
            <a:extLst>
              <a:ext uri="{96DAC541-7B7A-43D3-8B79-37D633B846F1}">
                <ns2:svgBlip xmlns:ns2="http://schemas.microsoft.com/office/drawing/2016/SVG/main" r:embed="rIdVectormf00586"/>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42" name="!!am-am-gain-g0-r0-domain" descr="t"/>
          <p:cNvPicPr>
            <a:picLocks xmlns:a="http://schemas.openxmlformats.org/drawingml/2006/main" noChangeAspect="1"/>
          </p:cNvPicPr>
          <p:nvPr/>
        </p:nvPicPr>
        <p:blipFill>
          <a:blip xmlns:r="http://schemas.openxmlformats.org/officeDocument/2006/relationships" xmlns:a="http://schemas.openxmlformats.org/drawingml/2006/main" r:embed="Rf093694715b84cee">
            <a:extLst>
              <a:ext uri="{96DAC541-7B7A-43D3-8B79-37D633B846F1}">
                <ns3:svgBlip xmlns:ns3="http://schemas.microsoft.com/office/drawing/2016/SVG/main" r:embed="rIdVectormf00587"/>
              </a:ext>
            </a:extLst>
          </a:blip>
          <a:stretch xmlns:a="http://schemas.openxmlformats.org/drawingml/2006/main"/>
        </p:blipFill>
        <p:spPr>
          <a:xfrm xmlns:a="http://schemas.openxmlformats.org/drawingml/2006/main">
            <a:off x="3371850" y="3008769"/>
            <a:ext cx="68580" cy="97512"/>
          </a:xfrm>
          <a:prstGeom xmlns:a="http://schemas.openxmlformats.org/drawingml/2006/main" prst="rect">
            <a:avLst/>
          </a:prstGeom>
        </p:spPr>
      </p:pic>
      <p:pic>
        <p:nvPicPr>
          <p:cNvPr id="43" name="!!am-am-gain-g0-r0-label" descr="\textstyle e(t)-A_c"/>
          <p:cNvPicPr>
            <a:picLocks xmlns:a="http://schemas.openxmlformats.org/drawingml/2006/main" noChangeAspect="1"/>
          </p:cNvPicPr>
          <p:nvPr/>
        </p:nvPicPr>
        <p:blipFill>
          <a:blip xmlns:r="http://schemas.openxmlformats.org/officeDocument/2006/relationships" xmlns:a="http://schemas.openxmlformats.org/drawingml/2006/main" r:embed="R6f147f19506d4204">
            <a:extLst>
              <a:ext uri="{96DAC541-7B7A-43D3-8B79-37D633B846F1}">
                <ns4:svgBlip xmlns:ns4="http://schemas.microsoft.com/office/drawing/2016/SVG/main" r:embed="rIdVectormf00588"/>
              </a:ext>
            </a:extLst>
          </a:blip>
          <a:stretch xmlns:a="http://schemas.openxmlformats.org/drawingml/2006/main"/>
        </p:blipFill>
        <p:spPr>
          <a:xfrm xmlns:a="http://schemas.openxmlformats.org/drawingml/2006/main">
            <a:off x="571500" y="2382560"/>
            <a:ext cx="942975" cy="206931"/>
          </a:xfrm>
          <a:prstGeom xmlns:a="http://schemas.openxmlformats.org/drawingml/2006/main" prst="rect">
            <a:avLst/>
          </a:prstGeom>
        </p:spPr>
      </p:pic>
      <p:pic>
        <p:nvPicPr>
          <p:cNvPr id="44" name="!!am-am-gain-g1-r0-domain" descr="t"/>
          <p:cNvPicPr>
            <a:picLocks xmlns:a="http://schemas.openxmlformats.org/drawingml/2006/main" noChangeAspect="1"/>
          </p:cNvPicPr>
          <p:nvPr/>
        </p:nvPicPr>
        <p:blipFill>
          <a:blip xmlns:r="http://schemas.openxmlformats.org/officeDocument/2006/relationships" xmlns:a="http://schemas.openxmlformats.org/drawingml/2006/main" r:embed="R454c78310dd343ce">
            <a:extLst>
              <a:ext uri="{96DAC541-7B7A-43D3-8B79-37D633B846F1}">
                <ns5:svgBlip xmlns:ns5="http://schemas.microsoft.com/office/drawing/2016/SVG/main" r:embed="rIdVectormf00589"/>
              </a:ext>
            </a:extLst>
          </a:blip>
          <a:stretch xmlns:a="http://schemas.openxmlformats.org/drawingml/2006/main"/>
        </p:blipFill>
        <p:spPr>
          <a:xfrm xmlns:a="http://schemas.openxmlformats.org/drawingml/2006/main">
            <a:off x="7372350" y="3008769"/>
            <a:ext cx="68580" cy="97512"/>
          </a:xfrm>
          <a:prstGeom xmlns:a="http://schemas.openxmlformats.org/drawingml/2006/main" prst="rect">
            <a:avLst/>
          </a:prstGeom>
        </p:spPr>
      </p:pic>
      <p:pic>
        <p:nvPicPr>
          <p:cNvPr id="45" name="!!am-am-gain-g1-r0-label" descr="\textstyle m(t)"/>
          <p:cNvPicPr>
            <a:picLocks xmlns:a="http://schemas.openxmlformats.org/drawingml/2006/main" noChangeAspect="1"/>
          </p:cNvPicPr>
          <p:nvPr/>
        </p:nvPicPr>
        <p:blipFill>
          <a:blip xmlns:r="http://schemas.openxmlformats.org/officeDocument/2006/relationships" xmlns:a="http://schemas.openxmlformats.org/drawingml/2006/main" r:embed="Rca745f971f8d479c">
            <a:extLst>
              <a:ext uri="{96DAC541-7B7A-43D3-8B79-37D633B846F1}">
                <ns6:svgBlip xmlns:ns6="http://schemas.microsoft.com/office/drawing/2016/SVG/main" r:embed="rIdVectormf00590"/>
              </a:ext>
            </a:extLst>
          </a:blip>
          <a:stretch xmlns:a="http://schemas.openxmlformats.org/drawingml/2006/main"/>
        </p:blipFill>
        <p:spPr>
          <a:xfrm xmlns:a="http://schemas.openxmlformats.org/drawingml/2006/main">
            <a:off x="4572000" y="2381250"/>
            <a:ext cx="481965" cy="209550"/>
          </a:xfrm>
          <a:prstGeom xmlns:a="http://schemas.openxmlformats.org/drawingml/2006/main" prst="rect">
            <a:avLst/>
          </a:prstGeom>
        </p:spPr>
      </p:pic>
      <p:pic>
        <p:nvPicPr>
          <p:cNvPr id="46" name="!!am-am-gain-math" descr="\textstyle \div(A_ck_a)"/>
          <p:cNvPicPr>
            <a:picLocks xmlns:a="http://schemas.openxmlformats.org/drawingml/2006/main" noChangeAspect="1"/>
          </p:cNvPicPr>
          <p:nvPr/>
        </p:nvPicPr>
        <p:blipFill>
          <a:blip xmlns:r="http://schemas.openxmlformats.org/officeDocument/2006/relationships" xmlns:a="http://schemas.openxmlformats.org/drawingml/2006/main" r:embed="R36a99e694f7b4970">
            <a:extLst>
              <a:ext uri="{96DAC541-7B7A-43D3-8B79-37D633B846F1}">
                <ns7:svgBlip xmlns:ns7="http://schemas.microsoft.com/office/drawing/2016/SVG/main" r:embed="rIdVectormf00591"/>
              </a:ext>
            </a:extLst>
          </a:blip>
          <a:stretch xmlns:a="http://schemas.openxmlformats.org/drawingml/2006/main"/>
        </p:blipFill>
        <p:spPr>
          <a:xfrm xmlns:a="http://schemas.openxmlformats.org/drawingml/2006/main">
            <a:off x="3482340" y="2066925"/>
            <a:ext cx="960120" cy="228600"/>
          </a:xfrm>
          <a:prstGeom xmlns:a="http://schemas.openxmlformats.org/drawingml/2006/main" prst="rect">
            <a:avLst/>
          </a:prstGeom>
        </p:spPr>
      </p:pic>
      <p:pic>
        <p:nvPicPr>
          <p:cNvPr id="47" name="!!am-dense-equation-0" descr="\textstyle e(t)-A_c=A_ck_am(t)"/>
          <p:cNvPicPr>
            <a:picLocks xmlns:a="http://schemas.openxmlformats.org/drawingml/2006/main" noChangeAspect="1"/>
          </p:cNvPicPr>
          <p:nvPr/>
        </p:nvPicPr>
        <p:blipFill>
          <a:blip xmlns:r="http://schemas.openxmlformats.org/officeDocument/2006/relationships" xmlns:a="http://schemas.openxmlformats.org/drawingml/2006/main" r:embed="Rfe90803cc2a040a9">
            <a:extLst>
              <a:ext uri="{96DAC541-7B7A-43D3-8B79-37D633B846F1}">
                <ns8:svgBlip xmlns:ns8="http://schemas.microsoft.com/office/drawing/2016/SVG/main" r:embed="rIdVectormf00592"/>
              </a:ext>
            </a:extLst>
          </a:blip>
          <a:stretch xmlns:a="http://schemas.openxmlformats.org/drawingml/2006/main"/>
        </p:blipFill>
        <p:spPr>
          <a:xfrm xmlns:a="http://schemas.openxmlformats.org/drawingml/2006/main">
            <a:off x="609600" y="4804946"/>
            <a:ext cx="2674620" cy="246102"/>
          </a:xfrm>
          <a:prstGeom xmlns:a="http://schemas.openxmlformats.org/drawingml/2006/main" prst="rect">
            <a:avLst/>
          </a:prstGeom>
        </p:spPr>
      </p:pic>
      <p:pic>
        <p:nvPicPr>
          <p:cNvPr id="48" name="!!am-dense-equation-1" descr="\textstyle \frac{e(t)-A_c}{A_ck_a}=m(t)"/>
          <p:cNvPicPr>
            <a:picLocks xmlns:a="http://schemas.openxmlformats.org/drawingml/2006/main" noChangeAspect="1"/>
          </p:cNvPicPr>
          <p:nvPr/>
        </p:nvPicPr>
        <p:blipFill>
          <a:blip xmlns:r="http://schemas.openxmlformats.org/officeDocument/2006/relationships" xmlns:a="http://schemas.openxmlformats.org/drawingml/2006/main" r:embed="R24f99d6d3f8243f0">
            <a:extLst>
              <a:ext uri="{96DAC541-7B7A-43D3-8B79-37D633B846F1}">
                <ns9:svgBlip xmlns:ns9="http://schemas.microsoft.com/office/drawing/2016/SVG/main" r:embed="rIdVectormf00593"/>
              </a:ext>
            </a:extLst>
          </a:blip>
          <a:stretch xmlns:a="http://schemas.openxmlformats.org/drawingml/2006/main"/>
        </p:blipFill>
        <p:spPr>
          <a:xfrm xmlns:a="http://schemas.openxmlformats.org/drawingml/2006/main">
            <a:off x="609600" y="5181957"/>
            <a:ext cx="1783080" cy="368379"/>
          </a:xfrm>
          <a:prstGeom xmlns:a="http://schemas.openxmlformats.org/drawingml/2006/main" prst="rect">
            <a:avLst/>
          </a:prstGeom>
        </p:spPr>
      </p:pic>
    </p:spTree>
    <p:extLst>
      <p:ext uri="{BB962C8B-B14F-4D97-AF65-F5344CB8AC3E}">
        <p14:creationId xmlns:p14="http://schemas.microsoft.com/office/powerpoint/2010/main" val="201449903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400"/>
                                        <p:tgtEl>
                                          <p:spTgt spid="46"/>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sb-title">
            <ns0:hlinkClick xmlns:ns0="http://schemas.openxmlformats.org/drawingml/2006/main" xmlns:ns1="http://schemas.openxmlformats.org/officeDocument/2006/relationships" ns1:id="rIdmethods_Link134" action="ppaction://hlinksldjump"/>
            <a:extLst xmlns:a="http://schemas.openxmlformats.org/drawingml/2006/main">
              <a:ext uri="{FF2B5EF4-FFF2-40B4-BE49-F238E27FC236}">
                <a16:creationId xmlns:a16="http://schemas.microsoft.com/office/drawing/2014/main" id="{6437833C-916D-43E8-9259-BC56B114F585}"/>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34" action="ppaction://hlinksldjump"/>
              </a:rPr>
              <a:t>SSB</a:t>
            </a:r>
          </a:p>
        </p:txBody>
      </p:sp>
      <p:sp>
        <p:nvSpPr>
          <p:cNvPr id="2" name="!!ssb-route-tx-line">
            <a:extLst xmlns:a="http://schemas.openxmlformats.org/drawingml/2006/main">
              <a:ext uri="{FF2B5EF4-FFF2-40B4-BE49-F238E27FC236}">
                <a16:creationId xmlns:a16="http://schemas.microsoft.com/office/drawing/2014/main" id="{D117701A-B5DB-405D-AC97-6D941D0DD63E}"/>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ssb-route-tx-head">
            <a:extLst xmlns:a="http://schemas.openxmlformats.org/drawingml/2006/main">
              <a:ext uri="{FF2B5EF4-FFF2-40B4-BE49-F238E27FC236}">
                <a16:creationId xmlns:a16="http://schemas.microsoft.com/office/drawing/2014/main" id="{16EF9036-494F-4F99-B334-05BFA90355CC}"/>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ssb-route-rx-line">
            <a:extLst xmlns:a="http://schemas.openxmlformats.org/drawingml/2006/main">
              <a:ext uri="{FF2B5EF4-FFF2-40B4-BE49-F238E27FC236}">
                <a16:creationId xmlns:a16="http://schemas.microsoft.com/office/drawing/2014/main" id="{B6703A86-0D70-40D8-B785-FC71F084DFFB}"/>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ssb-route-rx-head">
            <a:extLst xmlns:a="http://schemas.openxmlformats.org/drawingml/2006/main">
              <a:ext uri="{FF2B5EF4-FFF2-40B4-BE49-F238E27FC236}">
                <a16:creationId xmlns:a16="http://schemas.microsoft.com/office/drawing/2014/main" id="{67D4DB72-807E-4DFE-8FB8-9E1E2C7E3C24}"/>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ssb-review-purpose">
            <a:extLst xmlns:a="http://schemas.openxmlformats.org/drawingml/2006/main">
              <a:ext uri="{FF2B5EF4-FFF2-40B4-BE49-F238E27FC236}">
                <a16:creationId xmlns:a16="http://schemas.microsoft.com/office/drawing/2014/main" id="{183E0241-95DB-49AD-9330-60B32277E3B4}"/>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Use half the bandwidth: keep only one sideband</a:t>
            </a:r>
          </a:p>
        </p:txBody>
      </p:sp>
      <p:sp>
        <p:nvSpPr>
          <p:cNvPr id="7" name="!!ssb-message-time-axis-line">
            <a:extLst xmlns:a="http://schemas.openxmlformats.org/drawingml/2006/main">
              <a:ext uri="{FF2B5EF4-FFF2-40B4-BE49-F238E27FC236}">
                <a16:creationId xmlns:a16="http://schemas.microsoft.com/office/drawing/2014/main" id="{7D2BE8D8-CD11-438D-8FE4-DCE01F86CA72}"/>
              </a:ext>
            </a:extLst>
          </p:cNvPr>
          <p:cNvSpPr>
            <a:spLocks xmlns:a="http://schemas.openxmlformats.org/drawingml/2006/main" noGrp="1"/>
          </p:cNvSpPr>
          <p:nvPr/>
        </p:nvSpPr>
        <p:spPr>
          <a:xfrm xmlns:a="http://schemas.openxmlformats.org/drawingml/2006/main">
            <a:off x="723900" y="3381375"/>
            <a:ext cx="42862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ssb-message-time-axis-head">
            <a:extLst xmlns:a="http://schemas.openxmlformats.org/drawingml/2006/main">
              <a:ext uri="{FF2B5EF4-FFF2-40B4-BE49-F238E27FC236}">
                <a16:creationId xmlns:a16="http://schemas.microsoft.com/office/drawing/2014/main" id="{F1E2ED8A-5C35-4729-B2F2-CFACBE9AC024}"/>
              </a:ext>
            </a:extLst>
          </p:cNvPr>
          <p:cNvSpPr>
            <a:spLocks xmlns:a="http://schemas.openxmlformats.org/drawingml/2006/main" noGrp="1"/>
          </p:cNvSpPr>
          <p:nvPr/>
        </p:nvSpPr>
        <p:spPr>
          <a:xfrm xmlns:a="http://schemas.openxmlformats.org/drawingml/2006/main" rot="5400000">
            <a:off x="4991100" y="333375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ssb-message-time-wave">
            <a:extLst xmlns:a="http://schemas.openxmlformats.org/drawingml/2006/main">
              <a:ext uri="{FF2B5EF4-FFF2-40B4-BE49-F238E27FC236}">
                <a16:creationId xmlns:a16="http://schemas.microsoft.com/office/drawing/2014/main" id="{FFC00F1C-70DF-4349-B307-63622FB43328}"/>
              </a:ext>
            </a:extLst>
          </p:cNvPr>
          <p:cNvSpPr>
            <a:spLocks xmlns:a="http://schemas.openxmlformats.org/drawingml/2006/main" noGrp="1"/>
          </p:cNvSpPr>
          <p:nvPr/>
        </p:nvSpPr>
        <p:spPr>
          <a:xfrm xmlns:a="http://schemas.openxmlformats.org/drawingml/2006/main">
            <a:off x="723900" y="2619375"/>
            <a:ext cx="4381500" cy="762000"/>
          </a:xfrm>
          <a:custGeom xmlns:a="http://schemas.openxmlformats.org/drawingml/2006/main">
            <a:pathLst>
              <a:path w="4381500" h="762000">
                <a:moveTo>
                  <a:pt x="0" y="762000"/>
                </a:moveTo>
                <a:lnTo>
                  <a:pt x="5477" y="761995"/>
                </a:lnTo>
                <a:lnTo>
                  <a:pt x="10954" y="761981"/>
                </a:lnTo>
                <a:lnTo>
                  <a:pt x="16431" y="761957"/>
                </a:lnTo>
                <a:lnTo>
                  <a:pt x="21907" y="761923"/>
                </a:lnTo>
                <a:lnTo>
                  <a:pt x="27384" y="761879"/>
                </a:lnTo>
                <a:lnTo>
                  <a:pt x="32861" y="761825"/>
                </a:lnTo>
                <a:lnTo>
                  <a:pt x="38338" y="761762"/>
                </a:lnTo>
                <a:lnTo>
                  <a:pt x="43815" y="761689"/>
                </a:lnTo>
                <a:lnTo>
                  <a:pt x="49292" y="761607"/>
                </a:lnTo>
                <a:lnTo>
                  <a:pt x="54769" y="761515"/>
                </a:lnTo>
                <a:lnTo>
                  <a:pt x="60246" y="761415"/>
                </a:lnTo>
                <a:lnTo>
                  <a:pt x="65723" y="761305"/>
                </a:lnTo>
                <a:lnTo>
                  <a:pt x="71199" y="761187"/>
                </a:lnTo>
                <a:lnTo>
                  <a:pt x="76676" y="761061"/>
                </a:lnTo>
                <a:lnTo>
                  <a:pt x="82153" y="760926"/>
                </a:lnTo>
                <a:lnTo>
                  <a:pt x="87630" y="760785"/>
                </a:lnTo>
                <a:lnTo>
                  <a:pt x="93107" y="760636"/>
                </a:lnTo>
                <a:lnTo>
                  <a:pt x="98584" y="760481"/>
                </a:lnTo>
                <a:lnTo>
                  <a:pt x="104061" y="760320"/>
                </a:lnTo>
                <a:lnTo>
                  <a:pt x="109538" y="760153"/>
                </a:lnTo>
                <a:lnTo>
                  <a:pt x="115014" y="759981"/>
                </a:lnTo>
                <a:lnTo>
                  <a:pt x="120491" y="759805"/>
                </a:lnTo>
                <a:lnTo>
                  <a:pt x="125968" y="759624"/>
                </a:lnTo>
                <a:lnTo>
                  <a:pt x="131445" y="759441"/>
                </a:lnTo>
                <a:lnTo>
                  <a:pt x="136922" y="759255"/>
                </a:lnTo>
                <a:lnTo>
                  <a:pt x="142399" y="759067"/>
                </a:lnTo>
                <a:lnTo>
                  <a:pt x="147876" y="758878"/>
                </a:lnTo>
                <a:lnTo>
                  <a:pt x="153352" y="758688"/>
                </a:lnTo>
                <a:lnTo>
                  <a:pt x="158829" y="758498"/>
                </a:lnTo>
                <a:lnTo>
                  <a:pt x="164306" y="758309"/>
                </a:lnTo>
                <a:lnTo>
                  <a:pt x="169783" y="758121"/>
                </a:lnTo>
                <a:lnTo>
                  <a:pt x="175260" y="757936"/>
                </a:lnTo>
                <a:lnTo>
                  <a:pt x="180737" y="757753"/>
                </a:lnTo>
                <a:lnTo>
                  <a:pt x="186214" y="757574"/>
                </a:lnTo>
                <a:lnTo>
                  <a:pt x="191691" y="757399"/>
                </a:lnTo>
                <a:lnTo>
                  <a:pt x="197168" y="757229"/>
                </a:lnTo>
                <a:lnTo>
                  <a:pt x="202644" y="757065"/>
                </a:lnTo>
                <a:lnTo>
                  <a:pt x="208121" y="756907"/>
                </a:lnTo>
                <a:lnTo>
                  <a:pt x="213598" y="756755"/>
                </a:lnTo>
                <a:lnTo>
                  <a:pt x="219075" y="756612"/>
                </a:lnTo>
                <a:lnTo>
                  <a:pt x="224552" y="756476"/>
                </a:lnTo>
                <a:lnTo>
                  <a:pt x="230029" y="756349"/>
                </a:lnTo>
                <a:lnTo>
                  <a:pt x="235506" y="756230"/>
                </a:lnTo>
                <a:lnTo>
                  <a:pt x="240982" y="756122"/>
                </a:lnTo>
                <a:lnTo>
                  <a:pt x="246459" y="756024"/>
                </a:lnTo>
                <a:lnTo>
                  <a:pt x="251936" y="755936"/>
                </a:lnTo>
                <a:lnTo>
                  <a:pt x="257413" y="755859"/>
                </a:lnTo>
                <a:lnTo>
                  <a:pt x="262890" y="755793"/>
                </a:lnTo>
                <a:lnTo>
                  <a:pt x="268367" y="755739"/>
                </a:lnTo>
                <a:lnTo>
                  <a:pt x="273844" y="755697"/>
                </a:lnTo>
                <a:lnTo>
                  <a:pt x="279321" y="755667"/>
                </a:lnTo>
                <a:lnTo>
                  <a:pt x="284798" y="755650"/>
                </a:lnTo>
                <a:lnTo>
                  <a:pt x="290274" y="755645"/>
                </a:lnTo>
                <a:lnTo>
                  <a:pt x="295751" y="755652"/>
                </a:lnTo>
                <a:lnTo>
                  <a:pt x="301228" y="755672"/>
                </a:lnTo>
                <a:lnTo>
                  <a:pt x="306705" y="755705"/>
                </a:lnTo>
                <a:lnTo>
                  <a:pt x="312182" y="755750"/>
                </a:lnTo>
                <a:lnTo>
                  <a:pt x="317659" y="755807"/>
                </a:lnTo>
                <a:lnTo>
                  <a:pt x="323136" y="755877"/>
                </a:lnTo>
                <a:lnTo>
                  <a:pt x="328613" y="755959"/>
                </a:lnTo>
                <a:lnTo>
                  <a:pt x="334089" y="756053"/>
                </a:lnTo>
                <a:lnTo>
                  <a:pt x="339566" y="756158"/>
                </a:lnTo>
                <a:lnTo>
                  <a:pt x="345043" y="756274"/>
                </a:lnTo>
                <a:lnTo>
                  <a:pt x="350520" y="756401"/>
                </a:lnTo>
                <a:lnTo>
                  <a:pt x="355997" y="756538"/>
                </a:lnTo>
                <a:lnTo>
                  <a:pt x="361474" y="756685"/>
                </a:lnTo>
                <a:lnTo>
                  <a:pt x="366951" y="756842"/>
                </a:lnTo>
                <a:lnTo>
                  <a:pt x="372427" y="757007"/>
                </a:lnTo>
                <a:lnTo>
                  <a:pt x="377904" y="757179"/>
                </a:lnTo>
                <a:lnTo>
                  <a:pt x="383381" y="757360"/>
                </a:lnTo>
                <a:lnTo>
                  <a:pt x="388858" y="757547"/>
                </a:lnTo>
                <a:lnTo>
                  <a:pt x="394335" y="757739"/>
                </a:lnTo>
                <a:lnTo>
                  <a:pt x="399812" y="757937"/>
                </a:lnTo>
                <a:lnTo>
                  <a:pt x="405289" y="758140"/>
                </a:lnTo>
                <a:lnTo>
                  <a:pt x="410766" y="758345"/>
                </a:lnTo>
                <a:lnTo>
                  <a:pt x="416243" y="758554"/>
                </a:lnTo>
                <a:lnTo>
                  <a:pt x="421719" y="758764"/>
                </a:lnTo>
                <a:lnTo>
                  <a:pt x="427196" y="758974"/>
                </a:lnTo>
                <a:lnTo>
                  <a:pt x="432673" y="759185"/>
                </a:lnTo>
                <a:lnTo>
                  <a:pt x="438150" y="759395"/>
                </a:lnTo>
                <a:lnTo>
                  <a:pt x="443627" y="759603"/>
                </a:lnTo>
                <a:lnTo>
                  <a:pt x="449104" y="759808"/>
                </a:lnTo>
                <a:lnTo>
                  <a:pt x="454581" y="760009"/>
                </a:lnTo>
                <a:lnTo>
                  <a:pt x="460058" y="760206"/>
                </a:lnTo>
                <a:lnTo>
                  <a:pt x="465534" y="760396"/>
                </a:lnTo>
                <a:lnTo>
                  <a:pt x="471011" y="760580"/>
                </a:lnTo>
                <a:lnTo>
                  <a:pt x="476488" y="760757"/>
                </a:lnTo>
                <a:lnTo>
                  <a:pt x="481965" y="760925"/>
                </a:lnTo>
                <a:lnTo>
                  <a:pt x="487442" y="761084"/>
                </a:lnTo>
                <a:lnTo>
                  <a:pt x="492919" y="761233"/>
                </a:lnTo>
                <a:lnTo>
                  <a:pt x="498396" y="761371"/>
                </a:lnTo>
                <a:lnTo>
                  <a:pt x="503873" y="761497"/>
                </a:lnTo>
                <a:lnTo>
                  <a:pt x="509349" y="761610"/>
                </a:lnTo>
                <a:lnTo>
                  <a:pt x="514826" y="761710"/>
                </a:lnTo>
                <a:lnTo>
                  <a:pt x="520303" y="761797"/>
                </a:lnTo>
                <a:lnTo>
                  <a:pt x="525780" y="761869"/>
                </a:lnTo>
                <a:lnTo>
                  <a:pt x="531257" y="761926"/>
                </a:lnTo>
                <a:lnTo>
                  <a:pt x="536734" y="761967"/>
                </a:lnTo>
                <a:lnTo>
                  <a:pt x="542211" y="761992"/>
                </a:lnTo>
                <a:lnTo>
                  <a:pt x="547688" y="762000"/>
                </a:lnTo>
                <a:lnTo>
                  <a:pt x="553164" y="761991"/>
                </a:lnTo>
                <a:lnTo>
                  <a:pt x="558641" y="761966"/>
                </a:lnTo>
                <a:lnTo>
                  <a:pt x="564118" y="761922"/>
                </a:lnTo>
                <a:lnTo>
                  <a:pt x="569595" y="761862"/>
                </a:lnTo>
                <a:lnTo>
                  <a:pt x="575072" y="761783"/>
                </a:lnTo>
                <a:lnTo>
                  <a:pt x="580549" y="761686"/>
                </a:lnTo>
                <a:lnTo>
                  <a:pt x="586026" y="761572"/>
                </a:lnTo>
                <a:lnTo>
                  <a:pt x="591503" y="761440"/>
                </a:lnTo>
                <a:lnTo>
                  <a:pt x="596979" y="761290"/>
                </a:lnTo>
                <a:lnTo>
                  <a:pt x="602456" y="761123"/>
                </a:lnTo>
                <a:lnTo>
                  <a:pt x="607933" y="760939"/>
                </a:lnTo>
                <a:lnTo>
                  <a:pt x="613410" y="760739"/>
                </a:lnTo>
                <a:lnTo>
                  <a:pt x="618887" y="760522"/>
                </a:lnTo>
                <a:lnTo>
                  <a:pt x="624364" y="760289"/>
                </a:lnTo>
                <a:lnTo>
                  <a:pt x="629841" y="760041"/>
                </a:lnTo>
                <a:lnTo>
                  <a:pt x="635317" y="759778"/>
                </a:lnTo>
                <a:lnTo>
                  <a:pt x="640794" y="759502"/>
                </a:lnTo>
                <a:lnTo>
                  <a:pt x="646271" y="759213"/>
                </a:lnTo>
                <a:lnTo>
                  <a:pt x="651748" y="758911"/>
                </a:lnTo>
                <a:lnTo>
                  <a:pt x="657225" y="758598"/>
                </a:lnTo>
                <a:lnTo>
                  <a:pt x="662702" y="758274"/>
                </a:lnTo>
                <a:lnTo>
                  <a:pt x="668179" y="757941"/>
                </a:lnTo>
                <a:lnTo>
                  <a:pt x="673656" y="757599"/>
                </a:lnTo>
                <a:lnTo>
                  <a:pt x="679133" y="757251"/>
                </a:lnTo>
                <a:lnTo>
                  <a:pt x="684609" y="756895"/>
                </a:lnTo>
                <a:lnTo>
                  <a:pt x="690086" y="756535"/>
                </a:lnTo>
                <a:lnTo>
                  <a:pt x="695563" y="756171"/>
                </a:lnTo>
                <a:lnTo>
                  <a:pt x="701040" y="755804"/>
                </a:lnTo>
                <a:lnTo>
                  <a:pt x="706517" y="755436"/>
                </a:lnTo>
                <a:lnTo>
                  <a:pt x="711994" y="755068"/>
                </a:lnTo>
                <a:lnTo>
                  <a:pt x="717471" y="754701"/>
                </a:lnTo>
                <a:lnTo>
                  <a:pt x="722948" y="754337"/>
                </a:lnTo>
                <a:lnTo>
                  <a:pt x="728424" y="753976"/>
                </a:lnTo>
                <a:lnTo>
                  <a:pt x="733901" y="753621"/>
                </a:lnTo>
                <a:lnTo>
                  <a:pt x="739378" y="753272"/>
                </a:lnTo>
                <a:lnTo>
                  <a:pt x="744855" y="752931"/>
                </a:lnTo>
                <a:lnTo>
                  <a:pt x="750332" y="752599"/>
                </a:lnTo>
                <a:lnTo>
                  <a:pt x="755809" y="752277"/>
                </a:lnTo>
                <a:lnTo>
                  <a:pt x="761286" y="751967"/>
                </a:lnTo>
                <a:lnTo>
                  <a:pt x="766763" y="751670"/>
                </a:lnTo>
                <a:lnTo>
                  <a:pt x="772239" y="751386"/>
                </a:lnTo>
                <a:lnTo>
                  <a:pt x="777716" y="751118"/>
                </a:lnTo>
                <a:lnTo>
                  <a:pt x="783193" y="750867"/>
                </a:lnTo>
                <a:lnTo>
                  <a:pt x="788670" y="750633"/>
                </a:lnTo>
                <a:lnTo>
                  <a:pt x="794147" y="750417"/>
                </a:lnTo>
                <a:lnTo>
                  <a:pt x="799624" y="750221"/>
                </a:lnTo>
                <a:lnTo>
                  <a:pt x="805101" y="750045"/>
                </a:lnTo>
                <a:lnTo>
                  <a:pt x="810578" y="749890"/>
                </a:lnTo>
                <a:lnTo>
                  <a:pt x="816054" y="749757"/>
                </a:lnTo>
                <a:lnTo>
                  <a:pt x="821531" y="749647"/>
                </a:lnTo>
                <a:lnTo>
                  <a:pt x="827008" y="749560"/>
                </a:lnTo>
                <a:lnTo>
                  <a:pt x="832485" y="749496"/>
                </a:lnTo>
                <a:lnTo>
                  <a:pt x="837962" y="749457"/>
                </a:lnTo>
                <a:lnTo>
                  <a:pt x="843439" y="749442"/>
                </a:lnTo>
                <a:lnTo>
                  <a:pt x="848916" y="749452"/>
                </a:lnTo>
                <a:lnTo>
                  <a:pt x="854392" y="749487"/>
                </a:lnTo>
                <a:lnTo>
                  <a:pt x="859869" y="749547"/>
                </a:lnTo>
                <a:lnTo>
                  <a:pt x="865346" y="749632"/>
                </a:lnTo>
                <a:lnTo>
                  <a:pt x="870823" y="749742"/>
                </a:lnTo>
                <a:lnTo>
                  <a:pt x="876300" y="749876"/>
                </a:lnTo>
                <a:lnTo>
                  <a:pt x="881777" y="750035"/>
                </a:lnTo>
                <a:lnTo>
                  <a:pt x="887254" y="750217"/>
                </a:lnTo>
                <a:lnTo>
                  <a:pt x="892731" y="750423"/>
                </a:lnTo>
                <a:lnTo>
                  <a:pt x="898208" y="750651"/>
                </a:lnTo>
                <a:lnTo>
                  <a:pt x="903684" y="750901"/>
                </a:lnTo>
                <a:lnTo>
                  <a:pt x="909161" y="751172"/>
                </a:lnTo>
                <a:lnTo>
                  <a:pt x="914638" y="751464"/>
                </a:lnTo>
                <a:lnTo>
                  <a:pt x="920115" y="751774"/>
                </a:lnTo>
                <a:lnTo>
                  <a:pt x="925592" y="752102"/>
                </a:lnTo>
                <a:lnTo>
                  <a:pt x="931069" y="752448"/>
                </a:lnTo>
                <a:lnTo>
                  <a:pt x="936546" y="752808"/>
                </a:lnTo>
                <a:lnTo>
                  <a:pt x="942023" y="753182"/>
                </a:lnTo>
                <a:lnTo>
                  <a:pt x="947499" y="753569"/>
                </a:lnTo>
                <a:lnTo>
                  <a:pt x="952976" y="753967"/>
                </a:lnTo>
                <a:lnTo>
                  <a:pt x="958453" y="754375"/>
                </a:lnTo>
                <a:lnTo>
                  <a:pt x="963930" y="754789"/>
                </a:lnTo>
                <a:lnTo>
                  <a:pt x="969407" y="755210"/>
                </a:lnTo>
                <a:lnTo>
                  <a:pt x="974884" y="755635"/>
                </a:lnTo>
                <a:lnTo>
                  <a:pt x="980361" y="756062"/>
                </a:lnTo>
                <a:lnTo>
                  <a:pt x="985838" y="756489"/>
                </a:lnTo>
                <a:lnTo>
                  <a:pt x="991314" y="756914"/>
                </a:lnTo>
                <a:lnTo>
                  <a:pt x="996791" y="757336"/>
                </a:lnTo>
                <a:lnTo>
                  <a:pt x="1002268" y="757751"/>
                </a:lnTo>
                <a:lnTo>
                  <a:pt x="1007745" y="758159"/>
                </a:lnTo>
                <a:lnTo>
                  <a:pt x="1013222" y="758558"/>
                </a:lnTo>
                <a:lnTo>
                  <a:pt x="1018699" y="758944"/>
                </a:lnTo>
                <a:lnTo>
                  <a:pt x="1024176" y="759316"/>
                </a:lnTo>
                <a:lnTo>
                  <a:pt x="1029653" y="759672"/>
                </a:lnTo>
                <a:lnTo>
                  <a:pt x="1035129" y="760010"/>
                </a:lnTo>
                <a:lnTo>
                  <a:pt x="1040606" y="760328"/>
                </a:lnTo>
                <a:lnTo>
                  <a:pt x="1046083" y="760624"/>
                </a:lnTo>
                <a:lnTo>
                  <a:pt x="1051560" y="760896"/>
                </a:lnTo>
                <a:lnTo>
                  <a:pt x="1057037" y="761143"/>
                </a:lnTo>
                <a:lnTo>
                  <a:pt x="1062514" y="761361"/>
                </a:lnTo>
                <a:lnTo>
                  <a:pt x="1067991" y="761550"/>
                </a:lnTo>
                <a:lnTo>
                  <a:pt x="1073468" y="761709"/>
                </a:lnTo>
                <a:lnTo>
                  <a:pt x="1078944" y="761834"/>
                </a:lnTo>
                <a:lnTo>
                  <a:pt x="1084421" y="761925"/>
                </a:lnTo>
                <a:lnTo>
                  <a:pt x="1089898" y="761981"/>
                </a:lnTo>
                <a:lnTo>
                  <a:pt x="1095375" y="762000"/>
                </a:lnTo>
                <a:lnTo>
                  <a:pt x="1100852" y="761981"/>
                </a:lnTo>
                <a:lnTo>
                  <a:pt x="1106329" y="761922"/>
                </a:lnTo>
                <a:lnTo>
                  <a:pt x="1111806" y="761824"/>
                </a:lnTo>
                <a:lnTo>
                  <a:pt x="1117283" y="761684"/>
                </a:lnTo>
                <a:lnTo>
                  <a:pt x="1122759" y="761503"/>
                </a:lnTo>
                <a:lnTo>
                  <a:pt x="1128236" y="761280"/>
                </a:lnTo>
                <a:lnTo>
                  <a:pt x="1133713" y="761014"/>
                </a:lnTo>
                <a:lnTo>
                  <a:pt x="1139190" y="760705"/>
                </a:lnTo>
                <a:lnTo>
                  <a:pt x="1144667" y="760353"/>
                </a:lnTo>
                <a:lnTo>
                  <a:pt x="1150144" y="759958"/>
                </a:lnTo>
                <a:lnTo>
                  <a:pt x="1155621" y="759520"/>
                </a:lnTo>
                <a:lnTo>
                  <a:pt x="1161098" y="759040"/>
                </a:lnTo>
                <a:lnTo>
                  <a:pt x="1166574" y="758518"/>
                </a:lnTo>
                <a:lnTo>
                  <a:pt x="1172051" y="757954"/>
                </a:lnTo>
                <a:lnTo>
                  <a:pt x="1177528" y="757351"/>
                </a:lnTo>
                <a:lnTo>
                  <a:pt x="1183005" y="756707"/>
                </a:lnTo>
                <a:lnTo>
                  <a:pt x="1188482" y="756026"/>
                </a:lnTo>
                <a:lnTo>
                  <a:pt x="1193959" y="755308"/>
                </a:lnTo>
                <a:lnTo>
                  <a:pt x="1199436" y="754554"/>
                </a:lnTo>
                <a:lnTo>
                  <a:pt x="1204913" y="753767"/>
                </a:lnTo>
                <a:lnTo>
                  <a:pt x="1210389" y="752948"/>
                </a:lnTo>
                <a:lnTo>
                  <a:pt x="1215866" y="752099"/>
                </a:lnTo>
                <a:lnTo>
                  <a:pt x="1221343" y="751222"/>
                </a:lnTo>
                <a:lnTo>
                  <a:pt x="1226820" y="750320"/>
                </a:lnTo>
                <a:lnTo>
                  <a:pt x="1232297" y="749395"/>
                </a:lnTo>
                <a:lnTo>
                  <a:pt x="1237774" y="748449"/>
                </a:lnTo>
                <a:lnTo>
                  <a:pt x="1243251" y="747485"/>
                </a:lnTo>
                <a:lnTo>
                  <a:pt x="1248728" y="746506"/>
                </a:lnTo>
                <a:lnTo>
                  <a:pt x="1254204" y="745515"/>
                </a:lnTo>
                <a:lnTo>
                  <a:pt x="1259681" y="744515"/>
                </a:lnTo>
                <a:lnTo>
                  <a:pt x="1265158" y="743508"/>
                </a:lnTo>
                <a:lnTo>
                  <a:pt x="1270635" y="742499"/>
                </a:lnTo>
                <a:lnTo>
                  <a:pt x="1276112" y="741490"/>
                </a:lnTo>
                <a:lnTo>
                  <a:pt x="1281589" y="740485"/>
                </a:lnTo>
                <a:lnTo>
                  <a:pt x="1287066" y="739486"/>
                </a:lnTo>
                <a:lnTo>
                  <a:pt x="1292543" y="738498"/>
                </a:lnTo>
                <a:lnTo>
                  <a:pt x="1298019" y="737524"/>
                </a:lnTo>
                <a:lnTo>
                  <a:pt x="1303496" y="736568"/>
                </a:lnTo>
                <a:lnTo>
                  <a:pt x="1308973" y="735632"/>
                </a:lnTo>
                <a:lnTo>
                  <a:pt x="1314450" y="734721"/>
                </a:lnTo>
                <a:lnTo>
                  <a:pt x="1319927" y="733838"/>
                </a:lnTo>
                <a:lnTo>
                  <a:pt x="1325404" y="732986"/>
                </a:lnTo>
                <a:lnTo>
                  <a:pt x="1330881" y="732168"/>
                </a:lnTo>
                <a:lnTo>
                  <a:pt x="1336358" y="731389"/>
                </a:lnTo>
                <a:lnTo>
                  <a:pt x="1341834" y="730650"/>
                </a:lnTo>
                <a:lnTo>
                  <a:pt x="1347311" y="729957"/>
                </a:lnTo>
                <a:lnTo>
                  <a:pt x="1352788" y="729310"/>
                </a:lnTo>
                <a:lnTo>
                  <a:pt x="1358265" y="728715"/>
                </a:lnTo>
                <a:lnTo>
                  <a:pt x="1363742" y="728172"/>
                </a:lnTo>
                <a:lnTo>
                  <a:pt x="1369219" y="727686"/>
                </a:lnTo>
                <a:lnTo>
                  <a:pt x="1374696" y="727258"/>
                </a:lnTo>
                <a:lnTo>
                  <a:pt x="1380173" y="726891"/>
                </a:lnTo>
                <a:lnTo>
                  <a:pt x="1385649" y="726587"/>
                </a:lnTo>
                <a:lnTo>
                  <a:pt x="1391126" y="726349"/>
                </a:lnTo>
                <a:lnTo>
                  <a:pt x="1396603" y="726177"/>
                </a:lnTo>
                <a:lnTo>
                  <a:pt x="1402080" y="726074"/>
                </a:lnTo>
                <a:lnTo>
                  <a:pt x="1407557" y="726041"/>
                </a:lnTo>
                <a:lnTo>
                  <a:pt x="1413034" y="726079"/>
                </a:lnTo>
                <a:lnTo>
                  <a:pt x="1418511" y="726188"/>
                </a:lnTo>
                <a:lnTo>
                  <a:pt x="1423988" y="726370"/>
                </a:lnTo>
                <a:lnTo>
                  <a:pt x="1429464" y="726625"/>
                </a:lnTo>
                <a:lnTo>
                  <a:pt x="1434941" y="726953"/>
                </a:lnTo>
                <a:lnTo>
                  <a:pt x="1440418" y="727353"/>
                </a:lnTo>
                <a:lnTo>
                  <a:pt x="1445895" y="727825"/>
                </a:lnTo>
                <a:lnTo>
                  <a:pt x="1451372" y="728368"/>
                </a:lnTo>
                <a:lnTo>
                  <a:pt x="1456849" y="728981"/>
                </a:lnTo>
                <a:lnTo>
                  <a:pt x="1462326" y="729663"/>
                </a:lnTo>
                <a:lnTo>
                  <a:pt x="1467803" y="730411"/>
                </a:lnTo>
                <a:lnTo>
                  <a:pt x="1473279" y="731224"/>
                </a:lnTo>
                <a:lnTo>
                  <a:pt x="1478756" y="732099"/>
                </a:lnTo>
                <a:lnTo>
                  <a:pt x="1484233" y="733033"/>
                </a:lnTo>
                <a:lnTo>
                  <a:pt x="1489710" y="734023"/>
                </a:lnTo>
                <a:lnTo>
                  <a:pt x="1495187" y="735066"/>
                </a:lnTo>
                <a:lnTo>
                  <a:pt x="1500664" y="736158"/>
                </a:lnTo>
                <a:lnTo>
                  <a:pt x="1506141" y="737294"/>
                </a:lnTo>
                <a:lnTo>
                  <a:pt x="1511618" y="738470"/>
                </a:lnTo>
                <a:lnTo>
                  <a:pt x="1517094" y="739682"/>
                </a:lnTo>
                <a:lnTo>
                  <a:pt x="1522571" y="740924"/>
                </a:lnTo>
                <a:lnTo>
                  <a:pt x="1528048" y="742190"/>
                </a:lnTo>
                <a:lnTo>
                  <a:pt x="1533525" y="743476"/>
                </a:lnTo>
                <a:lnTo>
                  <a:pt x="1539002" y="744775"/>
                </a:lnTo>
                <a:lnTo>
                  <a:pt x="1544479" y="746080"/>
                </a:lnTo>
                <a:lnTo>
                  <a:pt x="1549956" y="747385"/>
                </a:lnTo>
                <a:lnTo>
                  <a:pt x="1555433" y="748684"/>
                </a:lnTo>
                <a:lnTo>
                  <a:pt x="1560909" y="749968"/>
                </a:lnTo>
                <a:lnTo>
                  <a:pt x="1566386" y="751230"/>
                </a:lnTo>
                <a:lnTo>
                  <a:pt x="1571863" y="752463"/>
                </a:lnTo>
                <a:lnTo>
                  <a:pt x="1577340" y="753659"/>
                </a:lnTo>
                <a:lnTo>
                  <a:pt x="1582817" y="754810"/>
                </a:lnTo>
                <a:lnTo>
                  <a:pt x="1588294" y="755907"/>
                </a:lnTo>
                <a:lnTo>
                  <a:pt x="1593771" y="756942"/>
                </a:lnTo>
                <a:lnTo>
                  <a:pt x="1599248" y="757906"/>
                </a:lnTo>
                <a:lnTo>
                  <a:pt x="1604724" y="758791"/>
                </a:lnTo>
                <a:lnTo>
                  <a:pt x="1610201" y="759587"/>
                </a:lnTo>
                <a:lnTo>
                  <a:pt x="1615678" y="760286"/>
                </a:lnTo>
                <a:lnTo>
                  <a:pt x="1621155" y="760879"/>
                </a:lnTo>
                <a:lnTo>
                  <a:pt x="1626632" y="761355"/>
                </a:lnTo>
                <a:lnTo>
                  <a:pt x="1632109" y="761707"/>
                </a:lnTo>
                <a:lnTo>
                  <a:pt x="1637586" y="761925"/>
                </a:lnTo>
                <a:lnTo>
                  <a:pt x="1643063" y="762000"/>
                </a:lnTo>
                <a:lnTo>
                  <a:pt x="1648539" y="761922"/>
                </a:lnTo>
                <a:lnTo>
                  <a:pt x="1654016" y="761683"/>
                </a:lnTo>
                <a:lnTo>
                  <a:pt x="1659493" y="761273"/>
                </a:lnTo>
                <a:lnTo>
                  <a:pt x="1664970" y="760684"/>
                </a:lnTo>
                <a:lnTo>
                  <a:pt x="1670447" y="759907"/>
                </a:lnTo>
                <a:lnTo>
                  <a:pt x="1675924" y="758932"/>
                </a:lnTo>
                <a:lnTo>
                  <a:pt x="1681401" y="757752"/>
                </a:lnTo>
                <a:lnTo>
                  <a:pt x="1686878" y="756358"/>
                </a:lnTo>
                <a:lnTo>
                  <a:pt x="1692354" y="754743"/>
                </a:lnTo>
                <a:lnTo>
                  <a:pt x="1697831" y="752898"/>
                </a:lnTo>
                <a:lnTo>
                  <a:pt x="1703308" y="750816"/>
                </a:lnTo>
                <a:lnTo>
                  <a:pt x="1708785" y="748489"/>
                </a:lnTo>
                <a:lnTo>
                  <a:pt x="1714262" y="745911"/>
                </a:lnTo>
                <a:lnTo>
                  <a:pt x="1719739" y="743075"/>
                </a:lnTo>
                <a:lnTo>
                  <a:pt x="1725216" y="739975"/>
                </a:lnTo>
                <a:lnTo>
                  <a:pt x="1730693" y="736605"/>
                </a:lnTo>
                <a:lnTo>
                  <a:pt x="1736169" y="732959"/>
                </a:lnTo>
                <a:lnTo>
                  <a:pt x="1741646" y="729033"/>
                </a:lnTo>
                <a:lnTo>
                  <a:pt x="1747123" y="724822"/>
                </a:lnTo>
                <a:lnTo>
                  <a:pt x="1752600" y="720321"/>
                </a:lnTo>
                <a:lnTo>
                  <a:pt x="1758077" y="715528"/>
                </a:lnTo>
                <a:lnTo>
                  <a:pt x="1763554" y="710439"/>
                </a:lnTo>
                <a:lnTo>
                  <a:pt x="1769031" y="705051"/>
                </a:lnTo>
                <a:lnTo>
                  <a:pt x="1774508" y="699362"/>
                </a:lnTo>
                <a:lnTo>
                  <a:pt x="1779984" y="693372"/>
                </a:lnTo>
                <a:lnTo>
                  <a:pt x="1785461" y="687078"/>
                </a:lnTo>
                <a:lnTo>
                  <a:pt x="1790938" y="680481"/>
                </a:lnTo>
                <a:lnTo>
                  <a:pt x="1796415" y="673580"/>
                </a:lnTo>
                <a:lnTo>
                  <a:pt x="1801892" y="666377"/>
                </a:lnTo>
                <a:lnTo>
                  <a:pt x="1807369" y="658873"/>
                </a:lnTo>
                <a:lnTo>
                  <a:pt x="1812846" y="651069"/>
                </a:lnTo>
                <a:lnTo>
                  <a:pt x="1818322" y="642969"/>
                </a:lnTo>
                <a:lnTo>
                  <a:pt x="1823799" y="634576"/>
                </a:lnTo>
                <a:lnTo>
                  <a:pt x="1829276" y="625893"/>
                </a:lnTo>
                <a:lnTo>
                  <a:pt x="1834753" y="616926"/>
                </a:lnTo>
                <a:lnTo>
                  <a:pt x="1840230" y="607679"/>
                </a:lnTo>
                <a:lnTo>
                  <a:pt x="1845707" y="598157"/>
                </a:lnTo>
                <a:lnTo>
                  <a:pt x="1851184" y="588368"/>
                </a:lnTo>
                <a:lnTo>
                  <a:pt x="1856661" y="578319"/>
                </a:lnTo>
                <a:lnTo>
                  <a:pt x="1862138" y="568016"/>
                </a:lnTo>
                <a:lnTo>
                  <a:pt x="1867614" y="557469"/>
                </a:lnTo>
                <a:lnTo>
                  <a:pt x="1873091" y="546686"/>
                </a:lnTo>
                <a:lnTo>
                  <a:pt x="1878568" y="535676"/>
                </a:lnTo>
                <a:lnTo>
                  <a:pt x="1884045" y="524449"/>
                </a:lnTo>
                <a:lnTo>
                  <a:pt x="1889522" y="513017"/>
                </a:lnTo>
                <a:lnTo>
                  <a:pt x="1894999" y="501390"/>
                </a:lnTo>
                <a:lnTo>
                  <a:pt x="1900476" y="489579"/>
                </a:lnTo>
                <a:lnTo>
                  <a:pt x="1905953" y="477598"/>
                </a:lnTo>
                <a:lnTo>
                  <a:pt x="1911429" y="465458"/>
                </a:lnTo>
                <a:lnTo>
                  <a:pt x="1916906" y="453173"/>
                </a:lnTo>
                <a:lnTo>
                  <a:pt x="1922383" y="440756"/>
                </a:lnTo>
                <a:lnTo>
                  <a:pt x="1927860" y="428222"/>
                </a:lnTo>
                <a:lnTo>
                  <a:pt x="1933337" y="415585"/>
                </a:lnTo>
                <a:lnTo>
                  <a:pt x="1938814" y="402860"/>
                </a:lnTo>
                <a:lnTo>
                  <a:pt x="1944291" y="390062"/>
                </a:lnTo>
                <a:lnTo>
                  <a:pt x="1949768" y="377207"/>
                </a:lnTo>
                <a:lnTo>
                  <a:pt x="1955244" y="364311"/>
                </a:lnTo>
                <a:lnTo>
                  <a:pt x="1960721" y="351389"/>
                </a:lnTo>
                <a:lnTo>
                  <a:pt x="1966198" y="338459"/>
                </a:lnTo>
                <a:lnTo>
                  <a:pt x="1971675" y="325537"/>
                </a:lnTo>
                <a:lnTo>
                  <a:pt x="1977152" y="312639"/>
                </a:lnTo>
                <a:lnTo>
                  <a:pt x="1982629" y="299784"/>
                </a:lnTo>
                <a:lnTo>
                  <a:pt x="1988106" y="286988"/>
                </a:lnTo>
                <a:lnTo>
                  <a:pt x="1993583" y="274268"/>
                </a:lnTo>
                <a:lnTo>
                  <a:pt x="1999059" y="261642"/>
                </a:lnTo>
                <a:lnTo>
                  <a:pt x="2004536" y="249127"/>
                </a:lnTo>
                <a:lnTo>
                  <a:pt x="2010013" y="236741"/>
                </a:lnTo>
                <a:lnTo>
                  <a:pt x="2015490" y="224501"/>
                </a:lnTo>
                <a:lnTo>
                  <a:pt x="2020967" y="212424"/>
                </a:lnTo>
                <a:lnTo>
                  <a:pt x="2026444" y="200528"/>
                </a:lnTo>
                <a:lnTo>
                  <a:pt x="2031921" y="188830"/>
                </a:lnTo>
                <a:lnTo>
                  <a:pt x="2037397" y="177345"/>
                </a:lnTo>
                <a:lnTo>
                  <a:pt x="2042874" y="166093"/>
                </a:lnTo>
                <a:lnTo>
                  <a:pt x="2048351" y="155087"/>
                </a:lnTo>
                <a:lnTo>
                  <a:pt x="2053828" y="144346"/>
                </a:lnTo>
                <a:lnTo>
                  <a:pt x="2059305" y="133885"/>
                </a:lnTo>
                <a:lnTo>
                  <a:pt x="2064782" y="123719"/>
                </a:lnTo>
                <a:lnTo>
                  <a:pt x="2070259" y="113863"/>
                </a:lnTo>
                <a:lnTo>
                  <a:pt x="2075736" y="104333"/>
                </a:lnTo>
                <a:lnTo>
                  <a:pt x="2081213" y="95143"/>
                </a:lnTo>
                <a:lnTo>
                  <a:pt x="2086689" y="86307"/>
                </a:lnTo>
                <a:lnTo>
                  <a:pt x="2092166" y="77838"/>
                </a:lnTo>
                <a:lnTo>
                  <a:pt x="2097643" y="69749"/>
                </a:lnTo>
                <a:lnTo>
                  <a:pt x="2103120" y="62053"/>
                </a:lnTo>
                <a:lnTo>
                  <a:pt x="2108597" y="54761"/>
                </a:lnTo>
                <a:lnTo>
                  <a:pt x="2114074" y="47885"/>
                </a:lnTo>
                <a:lnTo>
                  <a:pt x="2119551" y="41435"/>
                </a:lnTo>
                <a:lnTo>
                  <a:pt x="2125028" y="35422"/>
                </a:lnTo>
                <a:lnTo>
                  <a:pt x="2130504" y="29854"/>
                </a:lnTo>
                <a:lnTo>
                  <a:pt x="2135981" y="24741"/>
                </a:lnTo>
                <a:lnTo>
                  <a:pt x="2141458" y="20091"/>
                </a:lnTo>
                <a:lnTo>
                  <a:pt x="2146935" y="15910"/>
                </a:lnTo>
                <a:lnTo>
                  <a:pt x="2152412" y="12205"/>
                </a:lnTo>
                <a:lnTo>
                  <a:pt x="2157889" y="8982"/>
                </a:lnTo>
                <a:lnTo>
                  <a:pt x="2163366" y="6247"/>
                </a:lnTo>
                <a:lnTo>
                  <a:pt x="2168843" y="4003"/>
                </a:lnTo>
                <a:lnTo>
                  <a:pt x="2174319" y="2254"/>
                </a:lnTo>
                <a:lnTo>
                  <a:pt x="2179796" y="1002"/>
                </a:lnTo>
                <a:lnTo>
                  <a:pt x="2185273" y="251"/>
                </a:lnTo>
                <a:lnTo>
                  <a:pt x="2190750" y="0"/>
                </a:lnTo>
                <a:lnTo>
                  <a:pt x="2196227" y="251"/>
                </a:lnTo>
                <a:lnTo>
                  <a:pt x="2201704" y="1002"/>
                </a:lnTo>
                <a:lnTo>
                  <a:pt x="2207181" y="2254"/>
                </a:lnTo>
                <a:lnTo>
                  <a:pt x="2212658" y="4003"/>
                </a:lnTo>
                <a:lnTo>
                  <a:pt x="2218134" y="6247"/>
                </a:lnTo>
                <a:lnTo>
                  <a:pt x="2223611" y="8982"/>
                </a:lnTo>
                <a:lnTo>
                  <a:pt x="2229088" y="12205"/>
                </a:lnTo>
                <a:lnTo>
                  <a:pt x="2234565" y="15910"/>
                </a:lnTo>
                <a:lnTo>
                  <a:pt x="2240042" y="20091"/>
                </a:lnTo>
                <a:lnTo>
                  <a:pt x="2245519" y="24741"/>
                </a:lnTo>
                <a:lnTo>
                  <a:pt x="2250996" y="29854"/>
                </a:lnTo>
                <a:lnTo>
                  <a:pt x="2256473" y="35422"/>
                </a:lnTo>
                <a:lnTo>
                  <a:pt x="2261949" y="41435"/>
                </a:lnTo>
                <a:lnTo>
                  <a:pt x="2267426" y="47885"/>
                </a:lnTo>
                <a:lnTo>
                  <a:pt x="2272903" y="54761"/>
                </a:lnTo>
                <a:lnTo>
                  <a:pt x="2278380" y="62053"/>
                </a:lnTo>
                <a:lnTo>
                  <a:pt x="2283857" y="69749"/>
                </a:lnTo>
                <a:lnTo>
                  <a:pt x="2289334" y="77838"/>
                </a:lnTo>
                <a:lnTo>
                  <a:pt x="2294811" y="86307"/>
                </a:lnTo>
                <a:lnTo>
                  <a:pt x="2300288" y="95143"/>
                </a:lnTo>
                <a:lnTo>
                  <a:pt x="2305764" y="104333"/>
                </a:lnTo>
                <a:lnTo>
                  <a:pt x="2311241" y="113863"/>
                </a:lnTo>
                <a:lnTo>
                  <a:pt x="2316718" y="123719"/>
                </a:lnTo>
                <a:lnTo>
                  <a:pt x="2322195" y="133885"/>
                </a:lnTo>
                <a:lnTo>
                  <a:pt x="2327672" y="144346"/>
                </a:lnTo>
                <a:lnTo>
                  <a:pt x="2333149" y="155087"/>
                </a:lnTo>
                <a:lnTo>
                  <a:pt x="2338626" y="166093"/>
                </a:lnTo>
                <a:lnTo>
                  <a:pt x="2344103" y="177345"/>
                </a:lnTo>
                <a:lnTo>
                  <a:pt x="2349579" y="188830"/>
                </a:lnTo>
                <a:lnTo>
                  <a:pt x="2355056" y="200528"/>
                </a:lnTo>
                <a:lnTo>
                  <a:pt x="2360533" y="212424"/>
                </a:lnTo>
                <a:lnTo>
                  <a:pt x="2366010" y="224501"/>
                </a:lnTo>
                <a:lnTo>
                  <a:pt x="2371487" y="236741"/>
                </a:lnTo>
                <a:lnTo>
                  <a:pt x="2376964" y="249127"/>
                </a:lnTo>
                <a:lnTo>
                  <a:pt x="2382441" y="261642"/>
                </a:lnTo>
                <a:lnTo>
                  <a:pt x="2387918" y="274268"/>
                </a:lnTo>
                <a:lnTo>
                  <a:pt x="2393394" y="286988"/>
                </a:lnTo>
                <a:lnTo>
                  <a:pt x="2398871" y="299784"/>
                </a:lnTo>
                <a:lnTo>
                  <a:pt x="2404348" y="312639"/>
                </a:lnTo>
                <a:lnTo>
                  <a:pt x="2409825" y="325537"/>
                </a:lnTo>
                <a:lnTo>
                  <a:pt x="2415302" y="338459"/>
                </a:lnTo>
                <a:lnTo>
                  <a:pt x="2420779" y="351389"/>
                </a:lnTo>
                <a:lnTo>
                  <a:pt x="2426256" y="364311"/>
                </a:lnTo>
                <a:lnTo>
                  <a:pt x="2431733" y="377207"/>
                </a:lnTo>
                <a:lnTo>
                  <a:pt x="2437209" y="390062"/>
                </a:lnTo>
                <a:lnTo>
                  <a:pt x="2442686" y="402860"/>
                </a:lnTo>
                <a:lnTo>
                  <a:pt x="2448163" y="415585"/>
                </a:lnTo>
                <a:lnTo>
                  <a:pt x="2453640" y="428222"/>
                </a:lnTo>
                <a:lnTo>
                  <a:pt x="2459117" y="440756"/>
                </a:lnTo>
                <a:lnTo>
                  <a:pt x="2464594" y="453173"/>
                </a:lnTo>
                <a:lnTo>
                  <a:pt x="2470071" y="465458"/>
                </a:lnTo>
                <a:lnTo>
                  <a:pt x="2475548" y="477598"/>
                </a:lnTo>
                <a:lnTo>
                  <a:pt x="2481024" y="489579"/>
                </a:lnTo>
                <a:lnTo>
                  <a:pt x="2486501" y="501390"/>
                </a:lnTo>
                <a:lnTo>
                  <a:pt x="2491978" y="513017"/>
                </a:lnTo>
                <a:lnTo>
                  <a:pt x="2497455" y="524449"/>
                </a:lnTo>
                <a:lnTo>
                  <a:pt x="2502932" y="535676"/>
                </a:lnTo>
                <a:lnTo>
                  <a:pt x="2508409" y="546686"/>
                </a:lnTo>
                <a:lnTo>
                  <a:pt x="2513886" y="557469"/>
                </a:lnTo>
                <a:lnTo>
                  <a:pt x="2519363" y="568016"/>
                </a:lnTo>
                <a:lnTo>
                  <a:pt x="2524839" y="578319"/>
                </a:lnTo>
                <a:lnTo>
                  <a:pt x="2530316" y="588368"/>
                </a:lnTo>
                <a:lnTo>
                  <a:pt x="2535793" y="598157"/>
                </a:lnTo>
                <a:lnTo>
                  <a:pt x="2541270" y="607679"/>
                </a:lnTo>
                <a:lnTo>
                  <a:pt x="2546747" y="616926"/>
                </a:lnTo>
                <a:lnTo>
                  <a:pt x="2552224" y="625893"/>
                </a:lnTo>
                <a:lnTo>
                  <a:pt x="2557701" y="634576"/>
                </a:lnTo>
                <a:lnTo>
                  <a:pt x="2563178" y="642969"/>
                </a:lnTo>
                <a:lnTo>
                  <a:pt x="2568654" y="651069"/>
                </a:lnTo>
                <a:lnTo>
                  <a:pt x="2574131" y="658873"/>
                </a:lnTo>
                <a:lnTo>
                  <a:pt x="2579608" y="666377"/>
                </a:lnTo>
                <a:lnTo>
                  <a:pt x="2585085" y="673580"/>
                </a:lnTo>
                <a:lnTo>
                  <a:pt x="2590562" y="680481"/>
                </a:lnTo>
                <a:lnTo>
                  <a:pt x="2596039" y="687078"/>
                </a:lnTo>
                <a:lnTo>
                  <a:pt x="2601516" y="693372"/>
                </a:lnTo>
                <a:lnTo>
                  <a:pt x="2606993" y="699362"/>
                </a:lnTo>
                <a:lnTo>
                  <a:pt x="2612469" y="705051"/>
                </a:lnTo>
                <a:lnTo>
                  <a:pt x="2617946" y="710439"/>
                </a:lnTo>
                <a:lnTo>
                  <a:pt x="2623423" y="715528"/>
                </a:lnTo>
                <a:lnTo>
                  <a:pt x="2628900" y="720321"/>
                </a:lnTo>
                <a:lnTo>
                  <a:pt x="2634377" y="724822"/>
                </a:lnTo>
                <a:lnTo>
                  <a:pt x="2639854" y="729033"/>
                </a:lnTo>
                <a:lnTo>
                  <a:pt x="2645331" y="732959"/>
                </a:lnTo>
                <a:lnTo>
                  <a:pt x="2650808" y="736605"/>
                </a:lnTo>
                <a:lnTo>
                  <a:pt x="2656284" y="739975"/>
                </a:lnTo>
                <a:lnTo>
                  <a:pt x="2661761" y="743075"/>
                </a:lnTo>
                <a:lnTo>
                  <a:pt x="2667238" y="745911"/>
                </a:lnTo>
                <a:lnTo>
                  <a:pt x="2672715" y="748489"/>
                </a:lnTo>
                <a:lnTo>
                  <a:pt x="2678192" y="750816"/>
                </a:lnTo>
                <a:lnTo>
                  <a:pt x="2683669" y="752898"/>
                </a:lnTo>
                <a:lnTo>
                  <a:pt x="2689146" y="754743"/>
                </a:lnTo>
                <a:lnTo>
                  <a:pt x="2694623" y="756358"/>
                </a:lnTo>
                <a:lnTo>
                  <a:pt x="2700099" y="757752"/>
                </a:lnTo>
                <a:lnTo>
                  <a:pt x="2705576" y="758932"/>
                </a:lnTo>
                <a:lnTo>
                  <a:pt x="2711053" y="759907"/>
                </a:lnTo>
                <a:lnTo>
                  <a:pt x="2716530" y="760684"/>
                </a:lnTo>
                <a:lnTo>
                  <a:pt x="2722007" y="761273"/>
                </a:lnTo>
                <a:lnTo>
                  <a:pt x="2727484" y="761683"/>
                </a:lnTo>
                <a:lnTo>
                  <a:pt x="2732961" y="761922"/>
                </a:lnTo>
                <a:lnTo>
                  <a:pt x="2738438" y="762000"/>
                </a:lnTo>
                <a:lnTo>
                  <a:pt x="2743914" y="761925"/>
                </a:lnTo>
                <a:lnTo>
                  <a:pt x="2749391" y="761707"/>
                </a:lnTo>
                <a:lnTo>
                  <a:pt x="2754868" y="761355"/>
                </a:lnTo>
                <a:lnTo>
                  <a:pt x="2760345" y="760879"/>
                </a:lnTo>
                <a:lnTo>
                  <a:pt x="2765822" y="760286"/>
                </a:lnTo>
                <a:lnTo>
                  <a:pt x="2771299" y="759587"/>
                </a:lnTo>
                <a:lnTo>
                  <a:pt x="2776776" y="758791"/>
                </a:lnTo>
                <a:lnTo>
                  <a:pt x="2782253" y="757906"/>
                </a:lnTo>
                <a:lnTo>
                  <a:pt x="2787729" y="756942"/>
                </a:lnTo>
                <a:lnTo>
                  <a:pt x="2793206" y="755907"/>
                </a:lnTo>
                <a:lnTo>
                  <a:pt x="2798683" y="754810"/>
                </a:lnTo>
                <a:lnTo>
                  <a:pt x="2804160" y="753659"/>
                </a:lnTo>
                <a:lnTo>
                  <a:pt x="2809637" y="752463"/>
                </a:lnTo>
                <a:lnTo>
                  <a:pt x="2815114" y="751230"/>
                </a:lnTo>
                <a:lnTo>
                  <a:pt x="2820591" y="749968"/>
                </a:lnTo>
                <a:lnTo>
                  <a:pt x="2826068" y="748684"/>
                </a:lnTo>
                <a:lnTo>
                  <a:pt x="2831544" y="747385"/>
                </a:lnTo>
                <a:lnTo>
                  <a:pt x="2837021" y="746080"/>
                </a:lnTo>
                <a:lnTo>
                  <a:pt x="2842498" y="744775"/>
                </a:lnTo>
                <a:lnTo>
                  <a:pt x="2847975" y="743476"/>
                </a:lnTo>
                <a:lnTo>
                  <a:pt x="2853452" y="742190"/>
                </a:lnTo>
                <a:lnTo>
                  <a:pt x="2858929" y="740924"/>
                </a:lnTo>
                <a:lnTo>
                  <a:pt x="2864406" y="739682"/>
                </a:lnTo>
                <a:lnTo>
                  <a:pt x="2869883" y="738470"/>
                </a:lnTo>
                <a:lnTo>
                  <a:pt x="2875359" y="737294"/>
                </a:lnTo>
                <a:lnTo>
                  <a:pt x="2880836" y="736158"/>
                </a:lnTo>
                <a:lnTo>
                  <a:pt x="2886313" y="735066"/>
                </a:lnTo>
                <a:lnTo>
                  <a:pt x="2891790" y="734023"/>
                </a:lnTo>
                <a:lnTo>
                  <a:pt x="2897267" y="733033"/>
                </a:lnTo>
                <a:lnTo>
                  <a:pt x="2902744" y="732099"/>
                </a:lnTo>
                <a:lnTo>
                  <a:pt x="2908221" y="731224"/>
                </a:lnTo>
                <a:lnTo>
                  <a:pt x="2913698" y="730411"/>
                </a:lnTo>
                <a:lnTo>
                  <a:pt x="2919174" y="729663"/>
                </a:lnTo>
                <a:lnTo>
                  <a:pt x="2924651" y="728981"/>
                </a:lnTo>
                <a:lnTo>
                  <a:pt x="2930128" y="728368"/>
                </a:lnTo>
                <a:lnTo>
                  <a:pt x="2935605" y="727825"/>
                </a:lnTo>
                <a:lnTo>
                  <a:pt x="2941082" y="727353"/>
                </a:lnTo>
                <a:lnTo>
                  <a:pt x="2946559" y="726953"/>
                </a:lnTo>
                <a:lnTo>
                  <a:pt x="2952036" y="726625"/>
                </a:lnTo>
                <a:lnTo>
                  <a:pt x="2957513" y="726370"/>
                </a:lnTo>
                <a:lnTo>
                  <a:pt x="2962989" y="726188"/>
                </a:lnTo>
                <a:lnTo>
                  <a:pt x="2968466" y="726079"/>
                </a:lnTo>
                <a:lnTo>
                  <a:pt x="2973943" y="726041"/>
                </a:lnTo>
                <a:lnTo>
                  <a:pt x="2979420" y="726074"/>
                </a:lnTo>
                <a:lnTo>
                  <a:pt x="2984897" y="726177"/>
                </a:lnTo>
                <a:lnTo>
                  <a:pt x="2990374" y="726349"/>
                </a:lnTo>
                <a:lnTo>
                  <a:pt x="2995851" y="726587"/>
                </a:lnTo>
                <a:lnTo>
                  <a:pt x="3001328" y="726891"/>
                </a:lnTo>
                <a:lnTo>
                  <a:pt x="3006804" y="727258"/>
                </a:lnTo>
                <a:lnTo>
                  <a:pt x="3012281" y="727686"/>
                </a:lnTo>
                <a:lnTo>
                  <a:pt x="3017758" y="728172"/>
                </a:lnTo>
                <a:lnTo>
                  <a:pt x="3023235" y="728715"/>
                </a:lnTo>
                <a:lnTo>
                  <a:pt x="3028712" y="729310"/>
                </a:lnTo>
                <a:lnTo>
                  <a:pt x="3034189" y="729957"/>
                </a:lnTo>
                <a:lnTo>
                  <a:pt x="3039666" y="730650"/>
                </a:lnTo>
                <a:lnTo>
                  <a:pt x="3045143" y="731389"/>
                </a:lnTo>
                <a:lnTo>
                  <a:pt x="3050619" y="732168"/>
                </a:lnTo>
                <a:lnTo>
                  <a:pt x="3056096" y="732986"/>
                </a:lnTo>
                <a:lnTo>
                  <a:pt x="3061573" y="733838"/>
                </a:lnTo>
                <a:lnTo>
                  <a:pt x="3067050" y="734721"/>
                </a:lnTo>
                <a:lnTo>
                  <a:pt x="3072527" y="735632"/>
                </a:lnTo>
                <a:lnTo>
                  <a:pt x="3078004" y="736568"/>
                </a:lnTo>
                <a:lnTo>
                  <a:pt x="3083481" y="737524"/>
                </a:lnTo>
                <a:lnTo>
                  <a:pt x="3088958" y="738498"/>
                </a:lnTo>
                <a:lnTo>
                  <a:pt x="3094434" y="739486"/>
                </a:lnTo>
                <a:lnTo>
                  <a:pt x="3099911" y="740485"/>
                </a:lnTo>
                <a:lnTo>
                  <a:pt x="3105388" y="741490"/>
                </a:lnTo>
                <a:lnTo>
                  <a:pt x="3110865" y="742499"/>
                </a:lnTo>
                <a:lnTo>
                  <a:pt x="3116342" y="743508"/>
                </a:lnTo>
                <a:lnTo>
                  <a:pt x="3121819" y="744515"/>
                </a:lnTo>
                <a:lnTo>
                  <a:pt x="3127296" y="745515"/>
                </a:lnTo>
                <a:lnTo>
                  <a:pt x="3132773" y="746506"/>
                </a:lnTo>
                <a:lnTo>
                  <a:pt x="3138249" y="747485"/>
                </a:lnTo>
                <a:lnTo>
                  <a:pt x="3143726" y="748449"/>
                </a:lnTo>
                <a:lnTo>
                  <a:pt x="3149203" y="749395"/>
                </a:lnTo>
                <a:lnTo>
                  <a:pt x="3154680" y="750320"/>
                </a:lnTo>
                <a:lnTo>
                  <a:pt x="3160157" y="751222"/>
                </a:lnTo>
                <a:lnTo>
                  <a:pt x="3165634" y="752099"/>
                </a:lnTo>
                <a:lnTo>
                  <a:pt x="3171111" y="752948"/>
                </a:lnTo>
                <a:lnTo>
                  <a:pt x="3176588" y="753767"/>
                </a:lnTo>
                <a:lnTo>
                  <a:pt x="3182064" y="754554"/>
                </a:lnTo>
                <a:lnTo>
                  <a:pt x="3187541" y="755308"/>
                </a:lnTo>
                <a:lnTo>
                  <a:pt x="3193018" y="756026"/>
                </a:lnTo>
                <a:lnTo>
                  <a:pt x="3198495" y="756707"/>
                </a:lnTo>
                <a:lnTo>
                  <a:pt x="3203972" y="757351"/>
                </a:lnTo>
                <a:lnTo>
                  <a:pt x="3209449" y="757954"/>
                </a:lnTo>
                <a:lnTo>
                  <a:pt x="3214926" y="758518"/>
                </a:lnTo>
                <a:lnTo>
                  <a:pt x="3220403" y="759040"/>
                </a:lnTo>
                <a:lnTo>
                  <a:pt x="3225879" y="759520"/>
                </a:lnTo>
                <a:lnTo>
                  <a:pt x="3231356" y="759958"/>
                </a:lnTo>
                <a:lnTo>
                  <a:pt x="3236833" y="760353"/>
                </a:lnTo>
                <a:lnTo>
                  <a:pt x="3242310" y="760705"/>
                </a:lnTo>
                <a:lnTo>
                  <a:pt x="3247787" y="761014"/>
                </a:lnTo>
                <a:lnTo>
                  <a:pt x="3253264" y="761280"/>
                </a:lnTo>
                <a:lnTo>
                  <a:pt x="3258741" y="761503"/>
                </a:lnTo>
                <a:lnTo>
                  <a:pt x="3264218" y="761684"/>
                </a:lnTo>
                <a:lnTo>
                  <a:pt x="3269694" y="761824"/>
                </a:lnTo>
                <a:lnTo>
                  <a:pt x="3275171" y="761922"/>
                </a:lnTo>
                <a:lnTo>
                  <a:pt x="3280648" y="761981"/>
                </a:lnTo>
                <a:lnTo>
                  <a:pt x="3286125" y="762000"/>
                </a:lnTo>
                <a:lnTo>
                  <a:pt x="3291602" y="761981"/>
                </a:lnTo>
                <a:lnTo>
                  <a:pt x="3297079" y="761925"/>
                </a:lnTo>
                <a:lnTo>
                  <a:pt x="3302556" y="761834"/>
                </a:lnTo>
                <a:lnTo>
                  <a:pt x="3308033" y="761709"/>
                </a:lnTo>
                <a:lnTo>
                  <a:pt x="3313509" y="761550"/>
                </a:lnTo>
                <a:lnTo>
                  <a:pt x="3318986" y="761361"/>
                </a:lnTo>
                <a:lnTo>
                  <a:pt x="3324463" y="761143"/>
                </a:lnTo>
                <a:lnTo>
                  <a:pt x="3329940" y="760896"/>
                </a:lnTo>
                <a:lnTo>
                  <a:pt x="3335417" y="760624"/>
                </a:lnTo>
                <a:lnTo>
                  <a:pt x="3340894" y="760328"/>
                </a:lnTo>
                <a:lnTo>
                  <a:pt x="3346371" y="760010"/>
                </a:lnTo>
                <a:lnTo>
                  <a:pt x="3351848" y="759672"/>
                </a:lnTo>
                <a:lnTo>
                  <a:pt x="3357324" y="759316"/>
                </a:lnTo>
                <a:lnTo>
                  <a:pt x="3362801" y="758944"/>
                </a:lnTo>
                <a:lnTo>
                  <a:pt x="3368278" y="758558"/>
                </a:lnTo>
                <a:lnTo>
                  <a:pt x="3373755" y="758159"/>
                </a:lnTo>
                <a:lnTo>
                  <a:pt x="3379232" y="757751"/>
                </a:lnTo>
                <a:lnTo>
                  <a:pt x="3384709" y="757336"/>
                </a:lnTo>
                <a:lnTo>
                  <a:pt x="3390186" y="756914"/>
                </a:lnTo>
                <a:lnTo>
                  <a:pt x="3395663" y="756489"/>
                </a:lnTo>
                <a:lnTo>
                  <a:pt x="3401139" y="756062"/>
                </a:lnTo>
                <a:lnTo>
                  <a:pt x="3406616" y="755635"/>
                </a:lnTo>
                <a:lnTo>
                  <a:pt x="3412093" y="755210"/>
                </a:lnTo>
                <a:lnTo>
                  <a:pt x="3417570" y="754789"/>
                </a:lnTo>
                <a:lnTo>
                  <a:pt x="3423047" y="754375"/>
                </a:lnTo>
                <a:lnTo>
                  <a:pt x="3428524" y="753967"/>
                </a:lnTo>
                <a:lnTo>
                  <a:pt x="3434001" y="753569"/>
                </a:lnTo>
                <a:lnTo>
                  <a:pt x="3439478" y="753182"/>
                </a:lnTo>
                <a:lnTo>
                  <a:pt x="3444954" y="752808"/>
                </a:lnTo>
                <a:lnTo>
                  <a:pt x="3450431" y="752448"/>
                </a:lnTo>
                <a:lnTo>
                  <a:pt x="3455908" y="752102"/>
                </a:lnTo>
                <a:lnTo>
                  <a:pt x="3461385" y="751774"/>
                </a:lnTo>
                <a:lnTo>
                  <a:pt x="3466862" y="751464"/>
                </a:lnTo>
                <a:lnTo>
                  <a:pt x="3472339" y="751172"/>
                </a:lnTo>
                <a:lnTo>
                  <a:pt x="3477816" y="750901"/>
                </a:lnTo>
                <a:lnTo>
                  <a:pt x="3483293" y="750651"/>
                </a:lnTo>
                <a:lnTo>
                  <a:pt x="3488769" y="750423"/>
                </a:lnTo>
                <a:lnTo>
                  <a:pt x="3494246" y="750217"/>
                </a:lnTo>
                <a:lnTo>
                  <a:pt x="3499723" y="750035"/>
                </a:lnTo>
                <a:lnTo>
                  <a:pt x="3505200" y="749876"/>
                </a:lnTo>
                <a:lnTo>
                  <a:pt x="3510677" y="749742"/>
                </a:lnTo>
                <a:lnTo>
                  <a:pt x="3516154" y="749632"/>
                </a:lnTo>
                <a:lnTo>
                  <a:pt x="3521631" y="749547"/>
                </a:lnTo>
                <a:lnTo>
                  <a:pt x="3527108" y="749487"/>
                </a:lnTo>
                <a:lnTo>
                  <a:pt x="3532584" y="749452"/>
                </a:lnTo>
                <a:lnTo>
                  <a:pt x="3538061" y="749442"/>
                </a:lnTo>
                <a:lnTo>
                  <a:pt x="3543538" y="749457"/>
                </a:lnTo>
                <a:lnTo>
                  <a:pt x="3549015" y="749496"/>
                </a:lnTo>
                <a:lnTo>
                  <a:pt x="3554492" y="749560"/>
                </a:lnTo>
                <a:lnTo>
                  <a:pt x="3559969" y="749647"/>
                </a:lnTo>
                <a:lnTo>
                  <a:pt x="3565446" y="749757"/>
                </a:lnTo>
                <a:lnTo>
                  <a:pt x="3570923" y="749890"/>
                </a:lnTo>
                <a:lnTo>
                  <a:pt x="3576399" y="750045"/>
                </a:lnTo>
                <a:lnTo>
                  <a:pt x="3581876" y="750221"/>
                </a:lnTo>
                <a:lnTo>
                  <a:pt x="3587353" y="750417"/>
                </a:lnTo>
                <a:lnTo>
                  <a:pt x="3592830" y="750633"/>
                </a:lnTo>
                <a:lnTo>
                  <a:pt x="3598307" y="750867"/>
                </a:lnTo>
                <a:lnTo>
                  <a:pt x="3603784" y="751118"/>
                </a:lnTo>
                <a:lnTo>
                  <a:pt x="3609261" y="751386"/>
                </a:lnTo>
                <a:lnTo>
                  <a:pt x="3614738" y="751670"/>
                </a:lnTo>
                <a:lnTo>
                  <a:pt x="3620214" y="751967"/>
                </a:lnTo>
                <a:lnTo>
                  <a:pt x="3625691" y="752277"/>
                </a:lnTo>
                <a:lnTo>
                  <a:pt x="3631168" y="752599"/>
                </a:lnTo>
                <a:lnTo>
                  <a:pt x="3636645" y="752931"/>
                </a:lnTo>
                <a:lnTo>
                  <a:pt x="3642122" y="753272"/>
                </a:lnTo>
                <a:lnTo>
                  <a:pt x="3647599" y="753621"/>
                </a:lnTo>
                <a:lnTo>
                  <a:pt x="3653076" y="753976"/>
                </a:lnTo>
                <a:lnTo>
                  <a:pt x="3658553" y="754337"/>
                </a:lnTo>
                <a:lnTo>
                  <a:pt x="3664029" y="754701"/>
                </a:lnTo>
                <a:lnTo>
                  <a:pt x="3669506" y="755068"/>
                </a:lnTo>
                <a:lnTo>
                  <a:pt x="3674983" y="755436"/>
                </a:lnTo>
                <a:lnTo>
                  <a:pt x="3680460" y="755804"/>
                </a:lnTo>
                <a:lnTo>
                  <a:pt x="3685937" y="756171"/>
                </a:lnTo>
                <a:lnTo>
                  <a:pt x="3691414" y="756535"/>
                </a:lnTo>
                <a:lnTo>
                  <a:pt x="3696891" y="756895"/>
                </a:lnTo>
                <a:lnTo>
                  <a:pt x="3702368" y="757251"/>
                </a:lnTo>
                <a:lnTo>
                  <a:pt x="3707844" y="757599"/>
                </a:lnTo>
                <a:lnTo>
                  <a:pt x="3713321" y="757941"/>
                </a:lnTo>
                <a:lnTo>
                  <a:pt x="3718798" y="758274"/>
                </a:lnTo>
                <a:lnTo>
                  <a:pt x="3724275" y="758598"/>
                </a:lnTo>
                <a:lnTo>
                  <a:pt x="3729752" y="758911"/>
                </a:lnTo>
                <a:lnTo>
                  <a:pt x="3735229" y="759213"/>
                </a:lnTo>
                <a:lnTo>
                  <a:pt x="3740706" y="759502"/>
                </a:lnTo>
                <a:lnTo>
                  <a:pt x="3746183" y="759778"/>
                </a:lnTo>
                <a:lnTo>
                  <a:pt x="3751659" y="760041"/>
                </a:lnTo>
                <a:lnTo>
                  <a:pt x="3757136" y="760289"/>
                </a:lnTo>
                <a:lnTo>
                  <a:pt x="3762613" y="760522"/>
                </a:lnTo>
                <a:lnTo>
                  <a:pt x="3768090" y="760739"/>
                </a:lnTo>
                <a:lnTo>
                  <a:pt x="3773567" y="760939"/>
                </a:lnTo>
                <a:lnTo>
                  <a:pt x="3779044" y="761123"/>
                </a:lnTo>
                <a:lnTo>
                  <a:pt x="3784521" y="761290"/>
                </a:lnTo>
                <a:lnTo>
                  <a:pt x="3789998" y="761440"/>
                </a:lnTo>
                <a:lnTo>
                  <a:pt x="3795474" y="761572"/>
                </a:lnTo>
                <a:lnTo>
                  <a:pt x="3800951" y="761686"/>
                </a:lnTo>
                <a:lnTo>
                  <a:pt x="3806428" y="761783"/>
                </a:lnTo>
                <a:lnTo>
                  <a:pt x="3811905" y="761862"/>
                </a:lnTo>
                <a:lnTo>
                  <a:pt x="3817382" y="761922"/>
                </a:lnTo>
                <a:lnTo>
                  <a:pt x="3822859" y="761966"/>
                </a:lnTo>
                <a:lnTo>
                  <a:pt x="3828336" y="761991"/>
                </a:lnTo>
                <a:lnTo>
                  <a:pt x="3833813" y="762000"/>
                </a:lnTo>
                <a:lnTo>
                  <a:pt x="3839289" y="761992"/>
                </a:lnTo>
                <a:lnTo>
                  <a:pt x="3844766" y="761967"/>
                </a:lnTo>
                <a:lnTo>
                  <a:pt x="3850243" y="761926"/>
                </a:lnTo>
                <a:lnTo>
                  <a:pt x="3855720" y="761869"/>
                </a:lnTo>
                <a:lnTo>
                  <a:pt x="3861197" y="761797"/>
                </a:lnTo>
                <a:lnTo>
                  <a:pt x="3866674" y="761710"/>
                </a:lnTo>
                <a:lnTo>
                  <a:pt x="3872151" y="761610"/>
                </a:lnTo>
                <a:lnTo>
                  <a:pt x="3877628" y="761497"/>
                </a:lnTo>
                <a:lnTo>
                  <a:pt x="3883104" y="761371"/>
                </a:lnTo>
                <a:lnTo>
                  <a:pt x="3888581" y="761233"/>
                </a:lnTo>
                <a:lnTo>
                  <a:pt x="3894058" y="761084"/>
                </a:lnTo>
                <a:lnTo>
                  <a:pt x="3899535" y="760925"/>
                </a:lnTo>
                <a:lnTo>
                  <a:pt x="3905012" y="760757"/>
                </a:lnTo>
                <a:lnTo>
                  <a:pt x="3910489" y="760580"/>
                </a:lnTo>
                <a:lnTo>
                  <a:pt x="3915966" y="760396"/>
                </a:lnTo>
                <a:lnTo>
                  <a:pt x="3921443" y="760206"/>
                </a:lnTo>
                <a:lnTo>
                  <a:pt x="3926919" y="760009"/>
                </a:lnTo>
                <a:lnTo>
                  <a:pt x="3932396" y="759808"/>
                </a:lnTo>
                <a:lnTo>
                  <a:pt x="3937873" y="759603"/>
                </a:lnTo>
                <a:lnTo>
                  <a:pt x="3943350" y="759395"/>
                </a:lnTo>
                <a:lnTo>
                  <a:pt x="3948827" y="759185"/>
                </a:lnTo>
                <a:lnTo>
                  <a:pt x="3954304" y="758974"/>
                </a:lnTo>
                <a:lnTo>
                  <a:pt x="3959781" y="758764"/>
                </a:lnTo>
                <a:lnTo>
                  <a:pt x="3965258" y="758554"/>
                </a:lnTo>
                <a:lnTo>
                  <a:pt x="3970734" y="758345"/>
                </a:lnTo>
                <a:lnTo>
                  <a:pt x="3976211" y="758140"/>
                </a:lnTo>
                <a:lnTo>
                  <a:pt x="3981688" y="757937"/>
                </a:lnTo>
                <a:lnTo>
                  <a:pt x="3987165" y="757739"/>
                </a:lnTo>
                <a:lnTo>
                  <a:pt x="3992642" y="757547"/>
                </a:lnTo>
                <a:lnTo>
                  <a:pt x="3998119" y="757360"/>
                </a:lnTo>
                <a:lnTo>
                  <a:pt x="4003596" y="757179"/>
                </a:lnTo>
                <a:lnTo>
                  <a:pt x="4009073" y="757007"/>
                </a:lnTo>
                <a:lnTo>
                  <a:pt x="4014549" y="756842"/>
                </a:lnTo>
                <a:lnTo>
                  <a:pt x="4020026" y="756685"/>
                </a:lnTo>
                <a:lnTo>
                  <a:pt x="4025503" y="756538"/>
                </a:lnTo>
                <a:lnTo>
                  <a:pt x="4030980" y="756401"/>
                </a:lnTo>
                <a:lnTo>
                  <a:pt x="4036457" y="756274"/>
                </a:lnTo>
                <a:lnTo>
                  <a:pt x="4041934" y="756158"/>
                </a:lnTo>
                <a:lnTo>
                  <a:pt x="4047411" y="756053"/>
                </a:lnTo>
                <a:lnTo>
                  <a:pt x="4052888" y="755959"/>
                </a:lnTo>
                <a:lnTo>
                  <a:pt x="4058364" y="755877"/>
                </a:lnTo>
                <a:lnTo>
                  <a:pt x="4063841" y="755807"/>
                </a:lnTo>
                <a:lnTo>
                  <a:pt x="4069318" y="755750"/>
                </a:lnTo>
                <a:lnTo>
                  <a:pt x="4074795" y="755705"/>
                </a:lnTo>
                <a:lnTo>
                  <a:pt x="4080272" y="755672"/>
                </a:lnTo>
                <a:lnTo>
                  <a:pt x="4085749" y="755652"/>
                </a:lnTo>
                <a:lnTo>
                  <a:pt x="4091226" y="755645"/>
                </a:lnTo>
                <a:lnTo>
                  <a:pt x="4096703" y="755650"/>
                </a:lnTo>
                <a:lnTo>
                  <a:pt x="4102179" y="755667"/>
                </a:lnTo>
                <a:lnTo>
                  <a:pt x="4107656" y="755697"/>
                </a:lnTo>
                <a:lnTo>
                  <a:pt x="4113133" y="755739"/>
                </a:lnTo>
                <a:lnTo>
                  <a:pt x="4118610" y="755793"/>
                </a:lnTo>
                <a:lnTo>
                  <a:pt x="4124087" y="755859"/>
                </a:lnTo>
                <a:lnTo>
                  <a:pt x="4129564" y="755936"/>
                </a:lnTo>
                <a:lnTo>
                  <a:pt x="4135041" y="756024"/>
                </a:lnTo>
                <a:lnTo>
                  <a:pt x="4140518" y="756122"/>
                </a:lnTo>
                <a:lnTo>
                  <a:pt x="4145994" y="756230"/>
                </a:lnTo>
                <a:lnTo>
                  <a:pt x="4151471" y="756349"/>
                </a:lnTo>
                <a:lnTo>
                  <a:pt x="4156948" y="756476"/>
                </a:lnTo>
                <a:lnTo>
                  <a:pt x="4162425" y="756612"/>
                </a:lnTo>
                <a:lnTo>
                  <a:pt x="4167902" y="756755"/>
                </a:lnTo>
                <a:lnTo>
                  <a:pt x="4173379" y="756907"/>
                </a:lnTo>
                <a:lnTo>
                  <a:pt x="4178856" y="757065"/>
                </a:lnTo>
                <a:lnTo>
                  <a:pt x="4184332" y="757229"/>
                </a:lnTo>
                <a:lnTo>
                  <a:pt x="4189809" y="757399"/>
                </a:lnTo>
                <a:lnTo>
                  <a:pt x="4195286" y="757574"/>
                </a:lnTo>
                <a:lnTo>
                  <a:pt x="4200763" y="757753"/>
                </a:lnTo>
                <a:lnTo>
                  <a:pt x="4206240" y="757936"/>
                </a:lnTo>
                <a:lnTo>
                  <a:pt x="4211717" y="758121"/>
                </a:lnTo>
                <a:lnTo>
                  <a:pt x="4217194" y="758309"/>
                </a:lnTo>
                <a:lnTo>
                  <a:pt x="4222671" y="758498"/>
                </a:lnTo>
                <a:lnTo>
                  <a:pt x="4228148" y="758688"/>
                </a:lnTo>
                <a:lnTo>
                  <a:pt x="4233624" y="758878"/>
                </a:lnTo>
                <a:lnTo>
                  <a:pt x="4239101" y="759067"/>
                </a:lnTo>
                <a:lnTo>
                  <a:pt x="4244578" y="759255"/>
                </a:lnTo>
                <a:lnTo>
                  <a:pt x="4250055" y="759441"/>
                </a:lnTo>
                <a:lnTo>
                  <a:pt x="4255532" y="759624"/>
                </a:lnTo>
                <a:lnTo>
                  <a:pt x="4261009" y="759805"/>
                </a:lnTo>
                <a:lnTo>
                  <a:pt x="4266486" y="759981"/>
                </a:lnTo>
                <a:lnTo>
                  <a:pt x="4271963" y="760153"/>
                </a:lnTo>
                <a:lnTo>
                  <a:pt x="4277439" y="760320"/>
                </a:lnTo>
                <a:lnTo>
                  <a:pt x="4282916" y="760481"/>
                </a:lnTo>
                <a:lnTo>
                  <a:pt x="4288393" y="760636"/>
                </a:lnTo>
                <a:lnTo>
                  <a:pt x="4293870" y="760785"/>
                </a:lnTo>
                <a:lnTo>
                  <a:pt x="4299347" y="760926"/>
                </a:lnTo>
                <a:lnTo>
                  <a:pt x="4304824" y="761061"/>
                </a:lnTo>
                <a:lnTo>
                  <a:pt x="4310301" y="761187"/>
                </a:lnTo>
                <a:lnTo>
                  <a:pt x="4315778" y="761305"/>
                </a:lnTo>
                <a:lnTo>
                  <a:pt x="4321254" y="761415"/>
                </a:lnTo>
                <a:lnTo>
                  <a:pt x="4326731" y="761515"/>
                </a:lnTo>
                <a:lnTo>
                  <a:pt x="4332208" y="761607"/>
                </a:lnTo>
                <a:lnTo>
                  <a:pt x="4337685" y="761689"/>
                </a:lnTo>
                <a:lnTo>
                  <a:pt x="4343162" y="761762"/>
                </a:lnTo>
                <a:lnTo>
                  <a:pt x="4348639" y="761825"/>
                </a:lnTo>
                <a:lnTo>
                  <a:pt x="4354116" y="761879"/>
                </a:lnTo>
                <a:lnTo>
                  <a:pt x="4359593" y="761923"/>
                </a:lnTo>
                <a:lnTo>
                  <a:pt x="4365069" y="761957"/>
                </a:lnTo>
                <a:lnTo>
                  <a:pt x="4370546" y="761981"/>
                </a:lnTo>
                <a:lnTo>
                  <a:pt x="4376023" y="761995"/>
                </a:lnTo>
                <a:lnTo>
                  <a:pt x="4381500" y="762000"/>
                </a:lnTo>
              </a:path>
            </a:pathLst>
          </a:custGeom>
          <a:noFill xmlns:a="http://schemas.openxmlformats.org/drawingml/2006/main"/>
          <a:ln xmlns:a="http://schemas.openxmlformats.org/drawingml/2006/main" w="18098">
            <a:solidFill>
              <a:srgbClr val="202020"/>
            </a:solidFill>
          </a:ln>
        </p:spPr>
      </p:sp>
      <p:sp>
        <p:nvSpPr>
          <p:cNvPr id="10" name="!!ssb-m-axis-line">
            <a:extLst xmlns:a="http://schemas.openxmlformats.org/drawingml/2006/main">
              <a:ext uri="{FF2B5EF4-FFF2-40B4-BE49-F238E27FC236}">
                <a16:creationId xmlns:a16="http://schemas.microsoft.com/office/drawing/2014/main" id="{1EB032DB-1A82-4F16-BEFD-84A5D03A253D}"/>
              </a:ext>
            </a:extLst>
          </p:cNvPr>
          <p:cNvSpPr>
            <a:spLocks xmlns:a="http://schemas.openxmlformats.org/drawingml/2006/main" noGrp="1"/>
          </p:cNvSpPr>
          <p:nvPr/>
        </p:nvSpPr>
        <p:spPr>
          <a:xfrm xmlns:a="http://schemas.openxmlformats.org/drawingml/2006/main">
            <a:off x="7086600" y="3924300"/>
            <a:ext cx="42862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ssb-m-axis-head">
            <a:extLst xmlns:a="http://schemas.openxmlformats.org/drawingml/2006/main">
              <a:ext uri="{FF2B5EF4-FFF2-40B4-BE49-F238E27FC236}">
                <a16:creationId xmlns:a16="http://schemas.microsoft.com/office/drawing/2014/main" id="{8235093A-20DC-4754-A14F-3346E3138029}"/>
              </a:ext>
            </a:extLst>
          </p:cNvPr>
          <p:cNvSpPr>
            <a:spLocks xmlns:a="http://schemas.openxmlformats.org/drawingml/2006/main" noGrp="1"/>
          </p:cNvSpPr>
          <p:nvPr/>
        </p:nvSpPr>
        <p:spPr>
          <a:xfrm xmlns:a="http://schemas.openxmlformats.org/drawingml/2006/main" rot="5400000">
            <a:off x="11353800" y="38766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ssb-m-tick0">
            <a:extLst xmlns:a="http://schemas.openxmlformats.org/drawingml/2006/main">
              <a:ext uri="{FF2B5EF4-FFF2-40B4-BE49-F238E27FC236}">
                <a16:creationId xmlns:a16="http://schemas.microsoft.com/office/drawing/2014/main" id="{C7AE4CB3-71A1-402B-84B2-59CC2B59AE56}"/>
              </a:ext>
            </a:extLst>
          </p:cNvPr>
          <p:cNvSpPr>
            <a:spLocks xmlns:a="http://schemas.openxmlformats.org/drawingml/2006/main" noGrp="1"/>
          </p:cNvSpPr>
          <p:nvPr/>
        </p:nvSpPr>
        <p:spPr>
          <a:xfrm xmlns:a="http://schemas.openxmlformats.org/drawingml/2006/main">
            <a:off x="9003506" y="39243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ssb-m-tick1">
            <a:extLst xmlns:a="http://schemas.openxmlformats.org/drawingml/2006/main">
              <a:ext uri="{FF2B5EF4-FFF2-40B4-BE49-F238E27FC236}">
                <a16:creationId xmlns:a16="http://schemas.microsoft.com/office/drawing/2014/main" id="{480D2EFB-4A60-4200-A350-9E9625C8B438}"/>
              </a:ext>
            </a:extLst>
          </p:cNvPr>
          <p:cNvSpPr>
            <a:spLocks xmlns:a="http://schemas.openxmlformats.org/drawingml/2006/main" noGrp="1"/>
          </p:cNvSpPr>
          <p:nvPr/>
        </p:nvSpPr>
        <p:spPr>
          <a:xfrm xmlns:a="http://schemas.openxmlformats.org/drawingml/2006/main">
            <a:off x="9277350" y="39243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ssb-m-tick2">
            <a:extLst xmlns:a="http://schemas.openxmlformats.org/drawingml/2006/main">
              <a:ext uri="{FF2B5EF4-FFF2-40B4-BE49-F238E27FC236}">
                <a16:creationId xmlns:a16="http://schemas.microsoft.com/office/drawing/2014/main" id="{A629B268-23BA-4C16-A605-F3AC9340E8F8}"/>
              </a:ext>
            </a:extLst>
          </p:cNvPr>
          <p:cNvSpPr>
            <a:spLocks xmlns:a="http://schemas.openxmlformats.org/drawingml/2006/main" noGrp="1"/>
          </p:cNvSpPr>
          <p:nvPr/>
        </p:nvSpPr>
        <p:spPr>
          <a:xfrm xmlns:a="http://schemas.openxmlformats.org/drawingml/2006/main">
            <a:off x="9551194" y="39243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ssb-m-mn">
            <a:extLst xmlns:a="http://schemas.openxmlformats.org/drawingml/2006/main">
              <a:ext uri="{FF2B5EF4-FFF2-40B4-BE49-F238E27FC236}">
                <a16:creationId xmlns:a16="http://schemas.microsoft.com/office/drawing/2014/main" id="{52206165-1332-4FD4-A132-CF6D2C3F0B6A}"/>
              </a:ext>
            </a:extLst>
          </p:cNvPr>
          <p:cNvSpPr>
            <a:spLocks xmlns:a="http://schemas.openxmlformats.org/drawingml/2006/main" noGrp="1"/>
          </p:cNvSpPr>
          <p:nvPr/>
        </p:nvSpPr>
        <p:spPr>
          <a:xfrm xmlns:a="http://schemas.openxmlformats.org/drawingml/2006/main">
            <a:off x="9003506" y="3257550"/>
            <a:ext cx="273844" cy="666750"/>
          </a:xfrm>
          <a:custGeom xmlns:a="http://schemas.openxmlformats.org/drawingml/2006/main">
            <a:pathLst>
              <a:path w="273844" h="666750">
                <a:moveTo>
                  <a:pt x="0" y="666750"/>
                </a:moveTo>
                <a:lnTo>
                  <a:pt x="273844" y="0"/>
                </a:lnTo>
                <a:lnTo>
                  <a:pt x="273844" y="666750"/>
                </a:lnTo>
                <a:close/>
              </a:path>
            </a:pathLst>
          </a:custGeom>
          <a:solidFill xmlns:a="http://schemas.openxmlformats.org/drawingml/2006/main">
            <a:srgbClr val="AAAAAA"/>
          </a:solidFill>
          <a:ln xmlns:a="http://schemas.openxmlformats.org/drawingml/2006/main" w="12383">
            <a:solidFill>
              <a:srgbClr val="202020"/>
            </a:solidFill>
          </a:ln>
        </p:spPr>
      </p:sp>
      <p:sp>
        <p:nvSpPr>
          <p:cNvPr id="16" name="!!ssb-m-mp">
            <a:extLst xmlns:a="http://schemas.openxmlformats.org/drawingml/2006/main">
              <a:ext uri="{FF2B5EF4-FFF2-40B4-BE49-F238E27FC236}">
                <a16:creationId xmlns:a16="http://schemas.microsoft.com/office/drawing/2014/main" id="{2015D025-478D-4A8A-A261-CEC397BE7E06}"/>
              </a:ext>
            </a:extLst>
          </p:cNvPr>
          <p:cNvSpPr>
            <a:spLocks xmlns:a="http://schemas.openxmlformats.org/drawingml/2006/main" noGrp="1"/>
          </p:cNvSpPr>
          <p:nvPr/>
        </p:nvSpPr>
        <p:spPr>
          <a:xfrm xmlns:a="http://schemas.openxmlformats.org/drawingml/2006/main">
            <a:off x="9277350" y="3257550"/>
            <a:ext cx="273844" cy="666750"/>
          </a:xfrm>
          <a:custGeom xmlns:a="http://schemas.openxmlformats.org/drawingml/2006/main">
            <a:pathLst>
              <a:path w="273844" h="666750">
                <a:moveTo>
                  <a:pt x="0" y="666750"/>
                </a:moveTo>
                <a:lnTo>
                  <a:pt x="0" y="0"/>
                </a:lnTo>
                <a:lnTo>
                  <a:pt x="273844" y="666750"/>
                </a:lnTo>
                <a:close/>
              </a:path>
            </a:pathLst>
          </a:custGeom>
          <a:solidFill xmlns:a="http://schemas.openxmlformats.org/drawingml/2006/main">
            <a:srgbClr val="333333"/>
          </a:solidFill>
          <a:ln xmlns:a="http://schemas.openxmlformats.org/drawingml/2006/main" w="12383">
            <a:solidFill>
              <a:srgbClr val="202020"/>
            </a:solidFill>
          </a:ln>
        </p:spPr>
      </p:sp>
      <p:sp>
        <p:nvSpPr>
          <p:cNvPr id="17" name="!!ssb-same-signal-label">
            <a:extLst xmlns:a="http://schemas.openxmlformats.org/drawingml/2006/main">
              <a:ext uri="{FF2B5EF4-FFF2-40B4-BE49-F238E27FC236}">
                <a16:creationId xmlns:a16="http://schemas.microsoft.com/office/drawing/2014/main" id="{1512315F-2A3E-4242-8371-1B7EF79B66B8}"/>
              </a:ext>
            </a:extLst>
          </p:cNvPr>
          <p:cNvSpPr>
            <a:spLocks xmlns:a="http://schemas.openxmlformats.org/drawingml/2006/main" noGrp="1"/>
          </p:cNvSpPr>
          <p:nvPr/>
        </p:nvSpPr>
        <p:spPr>
          <a:xfrm xmlns:a="http://schemas.openxmlformats.org/drawingml/2006/main">
            <a:off x="5305425" y="2809875"/>
            <a:ext cx="158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Same signal</a:t>
            </a:r>
          </a:p>
        </p:txBody>
      </p:sp>
      <p:pic>
        <p:nvPicPr>
          <p:cNvPr id="48" name="!!ssb-route-m" descr="m(t)">
            <ns0:hlinkClick xmlns:ns0="http://schemas.openxmlformats.org/drawingml/2006/main" xmlns:ns1="http://schemas.openxmlformats.org/officeDocument/2006/relationships" ns1:id="rIdmethods_Link13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127875af416f4c7b">
            <a:extLst>
              <a:ext uri="{96DAC541-7B7A-43D3-8B79-37D633B846F1}">
                <ns0:svgBlip xmlns:ns0="http://schemas.microsoft.com/office/drawing/2016/SVG/main" r:embed="rIdVectormf00594"/>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49" name="!!ssb-route-s" descr="s(t)">
            <ns0:hlinkClick xmlns:ns0="http://schemas.openxmlformats.org/drawingml/2006/main" xmlns:ns1="http://schemas.openxmlformats.org/officeDocument/2006/relationships" ns1:id="rIdmethods_Link136"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b3644209daf0451d">
            <a:extLst>
              <a:ext uri="{96DAC541-7B7A-43D3-8B79-37D633B846F1}">
                <ns1:svgBlip xmlns:ns1="http://schemas.microsoft.com/office/drawing/2016/SVG/main" r:embed="rIdVectormf00595"/>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50" name="!!ssb-route-restored" descr="m(t)">
            <ns0:hlinkClick xmlns:ns0="http://schemas.openxmlformats.org/drawingml/2006/main" xmlns:ns1="http://schemas.openxmlformats.org/officeDocument/2006/relationships" ns1:id="rIdmethods_Link13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bffa5e06bc14fb2">
            <a:extLst>
              <a:ext uri="{96DAC541-7B7A-43D3-8B79-37D633B846F1}">
                <ns2:svgBlip xmlns:ns2="http://schemas.microsoft.com/office/drawing/2016/SVG/main" r:embed="rIdVectormf00596"/>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51" name="!!ssb-message-time-domain" descr="t"/>
          <p:cNvPicPr>
            <a:picLocks xmlns:a="http://schemas.openxmlformats.org/drawingml/2006/main" noChangeAspect="1"/>
          </p:cNvPicPr>
          <p:nvPr/>
        </p:nvPicPr>
        <p:blipFill>
          <a:blip xmlns:r="http://schemas.openxmlformats.org/officeDocument/2006/relationships" xmlns:a="http://schemas.openxmlformats.org/drawingml/2006/main" r:embed="R30982180ca0b4a60">
            <a:extLst>
              <a:ext uri="{96DAC541-7B7A-43D3-8B79-37D633B846F1}">
                <ns3:svgBlip xmlns:ns3="http://schemas.microsoft.com/office/drawing/2016/SVG/main" r:embed="rIdVectormf00597"/>
              </a:ext>
            </a:extLst>
          </a:blip>
          <a:stretch xmlns:a="http://schemas.openxmlformats.org/drawingml/2006/main"/>
        </p:blipFill>
        <p:spPr>
          <a:xfrm xmlns:a="http://schemas.openxmlformats.org/drawingml/2006/main">
            <a:off x="5153025" y="2928551"/>
            <a:ext cx="87630" cy="124599"/>
          </a:xfrm>
          <a:prstGeom xmlns:a="http://schemas.openxmlformats.org/drawingml/2006/main" prst="rect">
            <a:avLst/>
          </a:prstGeom>
        </p:spPr>
      </p:pic>
      <p:pic>
        <p:nvPicPr>
          <p:cNvPr id="52" name="!!ssb-message-time-label" descr="m(t)"/>
          <p:cNvPicPr>
            <a:picLocks xmlns:a="http://schemas.openxmlformats.org/drawingml/2006/main" noChangeAspect="1"/>
          </p:cNvPicPr>
          <p:nvPr/>
        </p:nvPicPr>
        <p:blipFill>
          <a:blip xmlns:r="http://schemas.openxmlformats.org/officeDocument/2006/relationships" xmlns:a="http://schemas.openxmlformats.org/drawingml/2006/main" r:embed="R6757f0036e894e1d">
            <a:extLst>
              <a:ext uri="{96DAC541-7B7A-43D3-8B79-37D633B846F1}">
                <ns4:svgBlip xmlns:ns4="http://schemas.microsoft.com/office/drawing/2016/SVG/main" r:embed="rIdVectormf00598"/>
              </a:ext>
            </a:extLst>
          </a:blip>
          <a:stretch xmlns:a="http://schemas.openxmlformats.org/drawingml/2006/main"/>
        </p:blipFill>
        <p:spPr>
          <a:xfrm xmlns:a="http://schemas.openxmlformats.org/drawingml/2006/main">
            <a:off x="723900" y="2162175"/>
            <a:ext cx="657225" cy="285750"/>
          </a:xfrm>
          <a:prstGeom xmlns:a="http://schemas.openxmlformats.org/drawingml/2006/main" prst="rect">
            <a:avLst/>
          </a:prstGeom>
        </p:spPr>
      </p:pic>
      <p:pic>
        <p:nvPicPr>
          <p:cNvPr id="53" name="!!ssb-m-label" descr="M(f)"/>
          <p:cNvPicPr>
            <a:picLocks xmlns:a="http://schemas.openxmlformats.org/drawingml/2006/main" noChangeAspect="1"/>
          </p:cNvPicPr>
          <p:nvPr/>
        </p:nvPicPr>
        <p:blipFill>
          <a:blip xmlns:r="http://schemas.openxmlformats.org/officeDocument/2006/relationships" xmlns:a="http://schemas.openxmlformats.org/drawingml/2006/main" r:embed="Rfa47fa29b7c443df">
            <a:extLst>
              <a:ext uri="{96DAC541-7B7A-43D3-8B79-37D633B846F1}">
                <ns5:svgBlip xmlns:ns5="http://schemas.microsoft.com/office/drawing/2016/SVG/main" r:embed="rIdVectormf00599"/>
              </a:ext>
            </a:extLst>
          </a:blip>
          <a:stretch xmlns:a="http://schemas.openxmlformats.org/drawingml/2006/main"/>
        </p:blipFill>
        <p:spPr>
          <a:xfrm xmlns:a="http://schemas.openxmlformats.org/drawingml/2006/main">
            <a:off x="7086600" y="2155329"/>
            <a:ext cx="685800" cy="280392"/>
          </a:xfrm>
          <a:prstGeom xmlns:a="http://schemas.openxmlformats.org/drawingml/2006/main" prst="rect">
            <a:avLst/>
          </a:prstGeom>
        </p:spPr>
      </p:pic>
      <p:pic>
        <p:nvPicPr>
          <p:cNvPr id="54" name="!!ssb-m-domain" descr="f"/>
          <p:cNvPicPr>
            <a:picLocks xmlns:a="http://schemas.openxmlformats.org/drawingml/2006/main" noChangeAspect="1"/>
          </p:cNvPicPr>
          <p:nvPr/>
        </p:nvPicPr>
        <p:blipFill>
          <a:blip xmlns:r="http://schemas.openxmlformats.org/officeDocument/2006/relationships" xmlns:a="http://schemas.openxmlformats.org/drawingml/2006/main" r:embed="Rfcbc8de58e8b4991">
            <a:extLst>
              <a:ext uri="{96DAC541-7B7A-43D3-8B79-37D633B846F1}">
                <ns6:svgBlip xmlns:ns6="http://schemas.microsoft.com/office/drawing/2016/SVG/main" r:embed="rIdVectormf00600"/>
              </a:ext>
            </a:extLst>
          </a:blip>
          <a:stretch xmlns:a="http://schemas.openxmlformats.org/drawingml/2006/main"/>
        </p:blipFill>
        <p:spPr>
          <a:xfrm xmlns:a="http://schemas.openxmlformats.org/drawingml/2006/main">
            <a:off x="11519588" y="3457099"/>
            <a:ext cx="101811" cy="153352"/>
          </a:xfrm>
          <a:prstGeom xmlns:a="http://schemas.openxmlformats.org/drawingml/2006/main" prst="rect">
            <a:avLst/>
          </a:prstGeom>
        </p:spPr>
      </p:pic>
      <p:pic>
        <p:nvPicPr>
          <p:cNvPr id="55" name="!!ssb-m-ticklabel0" descr="-W"/>
          <p:cNvPicPr>
            <a:picLocks xmlns:a="http://schemas.openxmlformats.org/drawingml/2006/main" noChangeAspect="1"/>
          </p:cNvPicPr>
          <p:nvPr/>
        </p:nvPicPr>
        <p:blipFill>
          <a:blip xmlns:r="http://schemas.openxmlformats.org/officeDocument/2006/relationships" xmlns:a="http://schemas.openxmlformats.org/drawingml/2006/main" r:embed="R3bc3a1d662b44859">
            <a:extLst>
              <a:ext uri="{96DAC541-7B7A-43D3-8B79-37D633B846F1}">
                <ns7:svgBlip xmlns:ns7="http://schemas.microsoft.com/office/drawing/2016/SVG/main" r:embed="rIdVectormf00601"/>
              </a:ext>
            </a:extLst>
          </a:blip>
          <a:stretch xmlns:a="http://schemas.openxmlformats.org/drawingml/2006/main"/>
        </p:blipFill>
        <p:spPr>
          <a:xfrm xmlns:a="http://schemas.openxmlformats.org/drawingml/2006/main">
            <a:off x="8798290" y="4087178"/>
            <a:ext cx="410433" cy="160020"/>
          </a:xfrm>
          <a:prstGeom xmlns:a="http://schemas.openxmlformats.org/drawingml/2006/main" prst="rect">
            <a:avLst/>
          </a:prstGeom>
        </p:spPr>
      </p:pic>
      <p:pic>
        <p:nvPicPr>
          <p:cNvPr id="56" name="!!ssb-m-ticklabel1" descr="0"/>
          <p:cNvPicPr>
            <a:picLocks xmlns:a="http://schemas.openxmlformats.org/drawingml/2006/main" noChangeAspect="1"/>
          </p:cNvPicPr>
          <p:nvPr/>
        </p:nvPicPr>
        <p:blipFill>
          <a:blip xmlns:r="http://schemas.openxmlformats.org/officeDocument/2006/relationships" xmlns:a="http://schemas.openxmlformats.org/drawingml/2006/main" r:embed="R94550b880f604037">
            <a:extLst>
              <a:ext uri="{96DAC541-7B7A-43D3-8B79-37D633B846F1}">
                <ns8:svgBlip xmlns:ns8="http://schemas.microsoft.com/office/drawing/2016/SVG/main" r:embed="rIdVectormf00602"/>
              </a:ext>
            </a:extLst>
          </a:blip>
          <a:stretch xmlns:a="http://schemas.openxmlformats.org/drawingml/2006/main"/>
        </p:blipFill>
        <p:spPr>
          <a:xfrm xmlns:a="http://schemas.openxmlformats.org/drawingml/2006/main">
            <a:off x="9223712" y="4326255"/>
            <a:ext cx="107276" cy="120015"/>
          </a:xfrm>
          <a:prstGeom xmlns:a="http://schemas.openxmlformats.org/drawingml/2006/main" prst="rect">
            <a:avLst/>
          </a:prstGeom>
        </p:spPr>
      </p:pic>
      <p:pic>
        <p:nvPicPr>
          <p:cNvPr id="57" name="!!ssb-m-ticklabel2" descr="W"/>
          <p:cNvPicPr>
            <a:picLocks xmlns:a="http://schemas.openxmlformats.org/drawingml/2006/main" noChangeAspect="1"/>
          </p:cNvPicPr>
          <p:nvPr/>
        </p:nvPicPr>
        <p:blipFill>
          <a:blip xmlns:r="http://schemas.openxmlformats.org/officeDocument/2006/relationships" xmlns:a="http://schemas.openxmlformats.org/drawingml/2006/main" r:embed="R6bd1d8f57e1d4270">
            <a:extLst>
              <a:ext uri="{96DAC541-7B7A-43D3-8B79-37D633B846F1}">
                <ns9:svgBlip xmlns:ns9="http://schemas.microsoft.com/office/drawing/2016/SVG/main" r:embed="rIdVectormf00603"/>
              </a:ext>
            </a:extLst>
          </a:blip>
          <a:stretch xmlns:a="http://schemas.openxmlformats.org/drawingml/2006/main"/>
        </p:blipFill>
        <p:spPr>
          <a:xfrm xmlns:a="http://schemas.openxmlformats.org/drawingml/2006/main">
            <a:off x="9431179" y="4098929"/>
            <a:ext cx="240030" cy="136517"/>
          </a:xfrm>
          <a:prstGeom xmlns:a="http://schemas.openxmlformats.org/drawingml/2006/main" prst="rect">
            <a:avLst/>
          </a:prstGeom>
        </p:spPr>
      </p:pic>
      <p:pic>
        <p:nvPicPr>
          <p:cNvPr id="58" name="!!ssb-m-peak0" descr="1"/>
          <p:cNvPicPr>
            <a:picLocks xmlns:a="http://schemas.openxmlformats.org/drawingml/2006/main" noChangeAspect="1"/>
          </p:cNvPicPr>
          <p:nvPr/>
        </p:nvPicPr>
        <p:blipFill>
          <a:blip xmlns:r="http://schemas.openxmlformats.org/officeDocument/2006/relationships" xmlns:a="http://schemas.openxmlformats.org/drawingml/2006/main" r:embed="R2dd7213c15974272">
            <a:extLst>
              <a:ext uri="{96DAC541-7B7A-43D3-8B79-37D633B846F1}">
                <ns10:svgBlip xmlns:ns10="http://schemas.microsoft.com/office/drawing/2016/SVG/main" r:embed="rIdVectormf00604"/>
              </a:ext>
            </a:extLst>
          </a:blip>
          <a:stretch xmlns:a="http://schemas.openxmlformats.org/drawingml/2006/main"/>
        </p:blipFill>
        <p:spPr>
          <a:xfrm xmlns:a="http://schemas.openxmlformats.org/drawingml/2006/main">
            <a:off x="9208387" y="2889885"/>
            <a:ext cx="137926" cy="154305"/>
          </a:xfrm>
          <a:prstGeom xmlns:a="http://schemas.openxmlformats.org/drawingml/2006/main" prst="rect">
            <a:avLst/>
          </a:prstGeom>
        </p:spPr>
      </p:pic>
      <p:pic>
        <p:nvPicPr>
          <p:cNvPr id="59" name="!!ssb-same-signal" descr="\longleftrightarrow"/>
          <p:cNvPicPr>
            <a:picLocks xmlns:a="http://schemas.openxmlformats.org/drawingml/2006/main" noChangeAspect="1"/>
          </p:cNvPicPr>
          <p:nvPr/>
        </p:nvPicPr>
        <p:blipFill>
          <a:blip xmlns:r="http://schemas.openxmlformats.org/officeDocument/2006/relationships" xmlns:a="http://schemas.openxmlformats.org/drawingml/2006/main" r:embed="Rf2ef834e536e4060">
            <a:extLst>
              <a:ext uri="{96DAC541-7B7A-43D3-8B79-37D633B846F1}">
                <ns11:svgBlip xmlns:ns11="http://schemas.microsoft.com/office/drawing/2016/SVG/main" r:embed="rIdVectormf00605"/>
              </a:ext>
            </a:extLst>
          </a:blip>
          <a:stretch xmlns:a="http://schemas.openxmlformats.org/drawingml/2006/main"/>
        </p:blipFill>
        <p:spPr>
          <a:xfrm xmlns:a="http://schemas.openxmlformats.org/drawingml/2006/main">
            <a:off x="5715953" y="3440013"/>
            <a:ext cx="760095" cy="101798"/>
          </a:xfrm>
          <a:prstGeom xmlns:a="http://schemas.openxmlformats.org/drawingml/2006/main" prst="rect">
            <a:avLst/>
          </a:prstGeom>
        </p:spPr>
      </p:pic>
      <p:pic>
        <p:nvPicPr>
          <p:cNvPr id="60" name="!!ssb-pair" descr="\textstyle m(t)\longleftrightarrow M(f)"/>
          <p:cNvPicPr>
            <a:picLocks xmlns:a="http://schemas.openxmlformats.org/drawingml/2006/main" noChangeAspect="1"/>
          </p:cNvPicPr>
          <p:nvPr/>
        </p:nvPicPr>
        <p:blipFill>
          <a:blip xmlns:r="http://schemas.openxmlformats.org/officeDocument/2006/relationships" xmlns:a="http://schemas.openxmlformats.org/drawingml/2006/main" r:embed="R8849a6b7c21848a8">
            <a:extLst>
              <a:ext uri="{96DAC541-7B7A-43D3-8B79-37D633B846F1}">
                <ns12:svgBlip xmlns:ns12="http://schemas.microsoft.com/office/drawing/2016/SVG/main" r:embed="rIdVectormf00606"/>
              </a:ext>
            </a:extLst>
          </a:blip>
          <a:stretch xmlns:a="http://schemas.openxmlformats.org/drawingml/2006/main"/>
        </p:blipFill>
        <p:spPr>
          <a:xfrm xmlns:a="http://schemas.openxmlformats.org/drawingml/2006/main">
            <a:off x="876300" y="5329238"/>
            <a:ext cx="1857375" cy="247650"/>
          </a:xfrm>
          <a:prstGeom xmlns:a="http://schemas.openxmlformats.org/drawingml/2006/main" prst="rect">
            <a:avLst/>
          </a:prstGeom>
        </p:spPr>
      </p:pic>
    </p:spTree>
    <p:extLst>
      <p:ext uri="{BB962C8B-B14F-4D97-AF65-F5344CB8AC3E}">
        <p14:creationId xmlns:p14="http://schemas.microsoft.com/office/powerpoint/2010/main" val="1631807289"/>
      </p:ext>
    </p:extLst>
  </p:cSld>
</p:sld>
</file>

<file path=ppt/slides/methods_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ssb-title">
            <ns0:hlinkClick xmlns:ns0="http://schemas.openxmlformats.org/drawingml/2006/main" xmlns:ns1="http://schemas.openxmlformats.org/officeDocument/2006/relationships" ns1:id="rIdmethods_Link138" action="ppaction://hlinksldjump"/>
            <a:extLst xmlns:a="http://schemas.openxmlformats.org/drawingml/2006/main">
              <a:ext uri="{FF2B5EF4-FFF2-40B4-BE49-F238E27FC236}">
                <a16:creationId xmlns:a16="http://schemas.microsoft.com/office/drawing/2014/main" id="{39CDE6AD-427A-45B6-AC55-66E184576739}"/>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38" action="ppaction://hlinksldjump"/>
              </a:rPr>
              <a:t>SSB</a:t>
            </a:r>
          </a:p>
        </p:txBody>
      </p:sp>
      <p:sp>
        <p:nvSpPr>
          <p:cNvPr id="2" name="!!ssb-route-tx-line">
            <a:extLst xmlns:a="http://schemas.openxmlformats.org/drawingml/2006/main">
              <a:ext uri="{FF2B5EF4-FFF2-40B4-BE49-F238E27FC236}">
                <a16:creationId xmlns:a16="http://schemas.microsoft.com/office/drawing/2014/main" id="{D4CD7DF8-325E-4567-BF46-3E151F5C91DA}"/>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ssb-route-tx-head">
            <a:extLst xmlns:a="http://schemas.openxmlformats.org/drawingml/2006/main">
              <a:ext uri="{FF2B5EF4-FFF2-40B4-BE49-F238E27FC236}">
                <a16:creationId xmlns:a16="http://schemas.microsoft.com/office/drawing/2014/main" id="{54A87938-595D-46B0-AAD4-AC286BCD2298}"/>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ssb-route-rx-line">
            <a:extLst xmlns:a="http://schemas.openxmlformats.org/drawingml/2006/main">
              <a:ext uri="{FF2B5EF4-FFF2-40B4-BE49-F238E27FC236}">
                <a16:creationId xmlns:a16="http://schemas.microsoft.com/office/drawing/2014/main" id="{76F33A0D-2CC3-4146-B7D5-172DA2FD06E2}"/>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ssb-route-rx-head">
            <a:extLst xmlns:a="http://schemas.openxmlformats.org/drawingml/2006/main">
              <a:ext uri="{FF2B5EF4-FFF2-40B4-BE49-F238E27FC236}">
                <a16:creationId xmlns:a16="http://schemas.microsoft.com/office/drawing/2014/main" id="{B6CB1DFA-4E91-4BF8-9B59-A5663AEE5275}"/>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ssb-review-purpose">
            <a:extLst xmlns:a="http://schemas.openxmlformats.org/drawingml/2006/main">
              <a:ext uri="{FF2B5EF4-FFF2-40B4-BE49-F238E27FC236}">
                <a16:creationId xmlns:a16="http://schemas.microsoft.com/office/drawing/2014/main" id="{C474204E-323B-4DAF-8207-161FEE54A1E5}"/>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Keep one sideband and its negative-frequency mirror</a:t>
            </a:r>
          </a:p>
        </p:txBody>
      </p:sp>
      <p:sp>
        <p:nvSpPr>
          <p:cNvPr id="7" name="!!ssb-ssb-send-g0-r0-axis-line">
            <a:extLst xmlns:a="http://schemas.openxmlformats.org/drawingml/2006/main">
              <a:ext uri="{FF2B5EF4-FFF2-40B4-BE49-F238E27FC236}">
                <a16:creationId xmlns:a16="http://schemas.microsoft.com/office/drawing/2014/main" id="{5D843D19-B1DA-4590-9169-D176BA8F06A6}"/>
              </a:ext>
            </a:extLst>
          </p:cNvPr>
          <p:cNvSpPr>
            <a:spLocks xmlns:a="http://schemas.openxmlformats.org/drawingml/2006/main" noGrp="1"/>
          </p:cNvSpPr>
          <p:nvPr/>
        </p:nvSpPr>
        <p:spPr>
          <a:xfrm xmlns:a="http://schemas.openxmlformats.org/drawingml/2006/main">
            <a:off x="571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ssb-ssb-send-g0-r0-axis-head">
            <a:extLst xmlns:a="http://schemas.openxmlformats.org/drawingml/2006/main">
              <a:ext uri="{FF2B5EF4-FFF2-40B4-BE49-F238E27FC236}">
                <a16:creationId xmlns:a16="http://schemas.microsoft.com/office/drawing/2014/main" id="{5BA245D2-3E71-4803-A139-D2677C5DA550}"/>
              </a:ext>
            </a:extLst>
          </p:cNvPr>
          <p:cNvSpPr>
            <a:spLocks xmlns:a="http://schemas.openxmlformats.org/drawingml/2006/main" noGrp="1"/>
          </p:cNvSpPr>
          <p:nvPr/>
        </p:nvSpPr>
        <p:spPr>
          <a:xfrm xmlns:a="http://schemas.openxmlformats.org/drawingml/2006/main" rot="5400000">
            <a:off x="3238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ssb-ssb-send-g0-r0-tick0">
            <a:extLst xmlns:a="http://schemas.openxmlformats.org/drawingml/2006/main">
              <a:ext uri="{FF2B5EF4-FFF2-40B4-BE49-F238E27FC236}">
                <a16:creationId xmlns:a16="http://schemas.microsoft.com/office/drawing/2014/main" id="{5241D12E-D2E6-43B8-BB4E-FB59B1DE9367}"/>
              </a:ext>
            </a:extLst>
          </p:cNvPr>
          <p:cNvSpPr>
            <a:spLocks xmlns:a="http://schemas.openxmlformats.org/drawingml/2006/main" noGrp="1"/>
          </p:cNvSpPr>
          <p:nvPr/>
        </p:nvSpPr>
        <p:spPr>
          <a:xfrm xmlns:a="http://schemas.openxmlformats.org/drawingml/2006/main">
            <a:off x="17883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ssb-ssb-send-g0-r0-tick1">
            <a:extLst xmlns:a="http://schemas.openxmlformats.org/drawingml/2006/main">
              <a:ext uri="{FF2B5EF4-FFF2-40B4-BE49-F238E27FC236}">
                <a16:creationId xmlns:a16="http://schemas.microsoft.com/office/drawing/2014/main" id="{3644F7A2-1140-41CA-8BA4-396EB62416CB}"/>
              </a:ext>
            </a:extLst>
          </p:cNvPr>
          <p:cNvSpPr>
            <a:spLocks xmlns:a="http://schemas.openxmlformats.org/drawingml/2006/main" noGrp="1"/>
          </p:cNvSpPr>
          <p:nvPr/>
        </p:nvSpPr>
        <p:spPr>
          <a:xfrm xmlns:a="http://schemas.openxmlformats.org/drawingml/2006/main">
            <a:off x="1962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ssb-ssb-send-g0-r0-tick2">
            <a:extLst xmlns:a="http://schemas.openxmlformats.org/drawingml/2006/main">
              <a:ext uri="{FF2B5EF4-FFF2-40B4-BE49-F238E27FC236}">
                <a16:creationId xmlns:a16="http://schemas.microsoft.com/office/drawing/2014/main" id="{69E294BC-3A68-47F6-B238-E24CFFD24BD1}"/>
              </a:ext>
            </a:extLst>
          </p:cNvPr>
          <p:cNvSpPr>
            <a:spLocks xmlns:a="http://schemas.openxmlformats.org/drawingml/2006/main" noGrp="1"/>
          </p:cNvSpPr>
          <p:nvPr/>
        </p:nvSpPr>
        <p:spPr>
          <a:xfrm xmlns:a="http://schemas.openxmlformats.org/drawingml/2006/main">
            <a:off x="21359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ssb-ssb-send-g1-r0-axis-line">
            <a:extLst xmlns:a="http://schemas.openxmlformats.org/drawingml/2006/main">
              <a:ext uri="{FF2B5EF4-FFF2-40B4-BE49-F238E27FC236}">
                <a16:creationId xmlns:a16="http://schemas.microsoft.com/office/drawing/2014/main" id="{60C098CA-3321-4A0B-BC5B-DB6C3AAAC3CD}"/>
              </a:ext>
            </a:extLst>
          </p:cNvPr>
          <p:cNvSpPr>
            <a:spLocks xmlns:a="http://schemas.openxmlformats.org/drawingml/2006/main" noGrp="1"/>
          </p:cNvSpPr>
          <p:nvPr/>
        </p:nvSpPr>
        <p:spPr>
          <a:xfrm xmlns:a="http://schemas.openxmlformats.org/drawingml/2006/main">
            <a:off x="45720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ssb-ssb-send-g1-r0-axis-head">
            <a:extLst xmlns:a="http://schemas.openxmlformats.org/drawingml/2006/main">
              <a:ext uri="{FF2B5EF4-FFF2-40B4-BE49-F238E27FC236}">
                <a16:creationId xmlns:a16="http://schemas.microsoft.com/office/drawing/2014/main" id="{3319DAF2-7673-4C87-9AB4-8E42AAD57530}"/>
              </a:ext>
            </a:extLst>
          </p:cNvPr>
          <p:cNvSpPr>
            <a:spLocks xmlns:a="http://schemas.openxmlformats.org/drawingml/2006/main" noGrp="1"/>
          </p:cNvSpPr>
          <p:nvPr/>
        </p:nvSpPr>
        <p:spPr>
          <a:xfrm xmlns:a="http://schemas.openxmlformats.org/drawingml/2006/main" rot="5400000">
            <a:off x="72390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4" name="!!ssb-ssb-send-g1-r0-tick0">
            <a:extLst xmlns:a="http://schemas.openxmlformats.org/drawingml/2006/main">
              <a:ext uri="{FF2B5EF4-FFF2-40B4-BE49-F238E27FC236}">
                <a16:creationId xmlns:a16="http://schemas.microsoft.com/office/drawing/2014/main" id="{352F3D1C-84C3-4F11-A720-7F9D31E43F10}"/>
              </a:ext>
            </a:extLst>
          </p:cNvPr>
          <p:cNvSpPr>
            <a:spLocks xmlns:a="http://schemas.openxmlformats.org/drawingml/2006/main" noGrp="1"/>
          </p:cNvSpPr>
          <p:nvPr/>
        </p:nvSpPr>
        <p:spPr>
          <a:xfrm xmlns:a="http://schemas.openxmlformats.org/drawingml/2006/main">
            <a:off x="5441156"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ssb-ssb-send-g1-r0-tick1">
            <a:extLst xmlns:a="http://schemas.openxmlformats.org/drawingml/2006/main">
              <a:ext uri="{FF2B5EF4-FFF2-40B4-BE49-F238E27FC236}">
                <a16:creationId xmlns:a16="http://schemas.microsoft.com/office/drawing/2014/main" id="{1F214F15-73FA-4430-904C-E75B9CE8DF61}"/>
              </a:ext>
            </a:extLst>
          </p:cNvPr>
          <p:cNvSpPr>
            <a:spLocks xmlns:a="http://schemas.openxmlformats.org/drawingml/2006/main" noGrp="1"/>
          </p:cNvSpPr>
          <p:nvPr/>
        </p:nvSpPr>
        <p:spPr>
          <a:xfrm xmlns:a="http://schemas.openxmlformats.org/drawingml/2006/main">
            <a:off x="59626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ssb-ssb-send-g1-r0-tick2">
            <a:extLst xmlns:a="http://schemas.openxmlformats.org/drawingml/2006/main">
              <a:ext uri="{FF2B5EF4-FFF2-40B4-BE49-F238E27FC236}">
                <a16:creationId xmlns:a16="http://schemas.microsoft.com/office/drawing/2014/main" id="{99E2468D-F779-4823-A34F-EFA31471300A}"/>
              </a:ext>
            </a:extLst>
          </p:cNvPr>
          <p:cNvSpPr>
            <a:spLocks xmlns:a="http://schemas.openxmlformats.org/drawingml/2006/main" noGrp="1"/>
          </p:cNvSpPr>
          <p:nvPr/>
        </p:nvSpPr>
        <p:spPr>
          <a:xfrm xmlns:a="http://schemas.openxmlformats.org/drawingml/2006/main">
            <a:off x="6484144"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ssb-ssb-send-g2-r0-axis-line">
            <a:extLst xmlns:a="http://schemas.openxmlformats.org/drawingml/2006/main">
              <a:ext uri="{FF2B5EF4-FFF2-40B4-BE49-F238E27FC236}">
                <a16:creationId xmlns:a16="http://schemas.microsoft.com/office/drawing/2014/main" id="{71883332-E578-41D9-8FF6-63D88D5D4E24}"/>
              </a:ext>
            </a:extLst>
          </p:cNvPr>
          <p:cNvSpPr>
            <a:spLocks xmlns:a="http://schemas.openxmlformats.org/drawingml/2006/main" noGrp="1"/>
          </p:cNvSpPr>
          <p:nvPr/>
        </p:nvSpPr>
        <p:spPr>
          <a:xfrm xmlns:a="http://schemas.openxmlformats.org/drawingml/2006/main">
            <a:off x="8572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ssb-ssb-send-g2-r0-axis-head">
            <a:extLst xmlns:a="http://schemas.openxmlformats.org/drawingml/2006/main">
              <a:ext uri="{FF2B5EF4-FFF2-40B4-BE49-F238E27FC236}">
                <a16:creationId xmlns:a16="http://schemas.microsoft.com/office/drawing/2014/main" id="{C200AF9D-97F6-4313-8F6A-762560FE8223}"/>
              </a:ext>
            </a:extLst>
          </p:cNvPr>
          <p:cNvSpPr>
            <a:spLocks xmlns:a="http://schemas.openxmlformats.org/drawingml/2006/main" noGrp="1"/>
          </p:cNvSpPr>
          <p:nvPr/>
        </p:nvSpPr>
        <p:spPr>
          <a:xfrm xmlns:a="http://schemas.openxmlformats.org/drawingml/2006/main" rot="5400000">
            <a:off x="11239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9" name="!!ssb-ssb-send-g2-r0-tick0">
            <a:extLst xmlns:a="http://schemas.openxmlformats.org/drawingml/2006/main">
              <a:ext uri="{FF2B5EF4-FFF2-40B4-BE49-F238E27FC236}">
                <a16:creationId xmlns:a16="http://schemas.microsoft.com/office/drawing/2014/main" id="{836CE547-7FE5-446D-81FE-EBE540A88886}"/>
              </a:ext>
            </a:extLst>
          </p:cNvPr>
          <p:cNvSpPr>
            <a:spLocks xmlns:a="http://schemas.openxmlformats.org/drawingml/2006/main" noGrp="1"/>
          </p:cNvSpPr>
          <p:nvPr/>
        </p:nvSpPr>
        <p:spPr>
          <a:xfrm xmlns:a="http://schemas.openxmlformats.org/drawingml/2006/main">
            <a:off x="9267825"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ssb-ssb-send-g2-r0-tick1">
            <a:extLst xmlns:a="http://schemas.openxmlformats.org/drawingml/2006/main">
              <a:ext uri="{FF2B5EF4-FFF2-40B4-BE49-F238E27FC236}">
                <a16:creationId xmlns:a16="http://schemas.microsoft.com/office/drawing/2014/main" id="{F19812A9-0D38-4596-8AC4-DA68C0CB7812}"/>
              </a:ext>
            </a:extLst>
          </p:cNvPr>
          <p:cNvSpPr>
            <a:spLocks xmlns:a="http://schemas.openxmlformats.org/drawingml/2006/main" noGrp="1"/>
          </p:cNvSpPr>
          <p:nvPr/>
        </p:nvSpPr>
        <p:spPr>
          <a:xfrm xmlns:a="http://schemas.openxmlformats.org/drawingml/2006/main">
            <a:off x="9441656"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ssb-ssb-send-g2-r0-tick2">
            <a:extLst xmlns:a="http://schemas.openxmlformats.org/drawingml/2006/main">
              <a:ext uri="{FF2B5EF4-FFF2-40B4-BE49-F238E27FC236}">
                <a16:creationId xmlns:a16="http://schemas.microsoft.com/office/drawing/2014/main" id="{A0296D86-AE13-4ED4-AC61-B0249583897B}"/>
              </a:ext>
            </a:extLst>
          </p:cNvPr>
          <p:cNvSpPr>
            <a:spLocks xmlns:a="http://schemas.openxmlformats.org/drawingml/2006/main" noGrp="1"/>
          </p:cNvSpPr>
          <p:nvPr/>
        </p:nvSpPr>
        <p:spPr>
          <a:xfrm xmlns:a="http://schemas.openxmlformats.org/drawingml/2006/main">
            <a:off x="9963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ssb-ssb-send-g2-r0-tick3">
            <a:extLst xmlns:a="http://schemas.openxmlformats.org/drawingml/2006/main">
              <a:ext uri="{FF2B5EF4-FFF2-40B4-BE49-F238E27FC236}">
                <a16:creationId xmlns:a16="http://schemas.microsoft.com/office/drawing/2014/main" id="{40C4B238-95D1-43A1-A38E-1543FF2C4EDF}"/>
              </a:ext>
            </a:extLst>
          </p:cNvPr>
          <p:cNvSpPr>
            <a:spLocks xmlns:a="http://schemas.openxmlformats.org/drawingml/2006/main" noGrp="1"/>
          </p:cNvSpPr>
          <p:nvPr/>
        </p:nvSpPr>
        <p:spPr>
          <a:xfrm xmlns:a="http://schemas.openxmlformats.org/drawingml/2006/main">
            <a:off x="10484644"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ssb-ssb-send-g2-r0-tick4">
            <a:extLst xmlns:a="http://schemas.openxmlformats.org/drawingml/2006/main">
              <a:ext uri="{FF2B5EF4-FFF2-40B4-BE49-F238E27FC236}">
                <a16:creationId xmlns:a16="http://schemas.microsoft.com/office/drawing/2014/main" id="{4140FFA4-CF78-431F-A03A-113329A28617}"/>
              </a:ext>
            </a:extLst>
          </p:cNvPr>
          <p:cNvSpPr>
            <a:spLocks xmlns:a="http://schemas.openxmlformats.org/drawingml/2006/main" noGrp="1"/>
          </p:cNvSpPr>
          <p:nvPr/>
        </p:nvSpPr>
        <p:spPr>
          <a:xfrm xmlns:a="http://schemas.openxmlformats.org/drawingml/2006/main">
            <a:off x="10658475"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ssb-ssb-send-g0-mn">
            <a:extLst xmlns:a="http://schemas.openxmlformats.org/drawingml/2006/main">
              <a:ext uri="{FF2B5EF4-FFF2-40B4-BE49-F238E27FC236}">
                <a16:creationId xmlns:a16="http://schemas.microsoft.com/office/drawing/2014/main" id="{590FC6FF-5834-47D7-A09D-EEB6F1070ED8}"/>
              </a:ext>
            </a:extLst>
          </p:cNvPr>
          <p:cNvSpPr>
            <a:spLocks xmlns:a="http://schemas.openxmlformats.org/drawingml/2006/main" noGrp="1"/>
          </p:cNvSpPr>
          <p:nvPr/>
        </p:nvSpPr>
        <p:spPr>
          <a:xfrm xmlns:a="http://schemas.openxmlformats.org/drawingml/2006/main">
            <a:off x="1788319" y="31575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25" name="!!ssb-ssb-send-g0-mp">
            <a:extLst xmlns:a="http://schemas.openxmlformats.org/drawingml/2006/main">
              <a:ext uri="{FF2B5EF4-FFF2-40B4-BE49-F238E27FC236}">
                <a16:creationId xmlns:a16="http://schemas.microsoft.com/office/drawing/2014/main" id="{55D75A83-E58D-42EA-9093-003E96B9FE59}"/>
              </a:ext>
            </a:extLst>
          </p:cNvPr>
          <p:cNvSpPr>
            <a:spLocks xmlns:a="http://schemas.openxmlformats.org/drawingml/2006/main" noGrp="1"/>
          </p:cNvSpPr>
          <p:nvPr/>
        </p:nvSpPr>
        <p:spPr>
          <a:xfrm xmlns:a="http://schemas.openxmlformats.org/drawingml/2006/main">
            <a:off x="1962150" y="31575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26" name="!!ssb-ssb-send-arrow-line">
            <a:extLst xmlns:a="http://schemas.openxmlformats.org/drawingml/2006/main">
              <a:ext uri="{FF2B5EF4-FFF2-40B4-BE49-F238E27FC236}">
                <a16:creationId xmlns:a16="http://schemas.microsoft.com/office/drawing/2014/main" id="{68413E96-8193-4549-AC6C-8FB0B627777D}"/>
              </a:ext>
            </a:extLst>
          </p:cNvPr>
          <p:cNvSpPr>
            <a:spLocks xmlns:a="http://schemas.openxmlformats.org/drawingml/2006/main" noGrp="1"/>
          </p:cNvSpPr>
          <p:nvPr/>
        </p:nvSpPr>
        <p:spPr>
          <a:xfrm xmlns:a="http://schemas.openxmlformats.org/drawingml/2006/main">
            <a:off x="35814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7" name="!!ssb-ssb-send-arrow-head">
            <a:extLst xmlns:a="http://schemas.openxmlformats.org/drawingml/2006/main">
              <a:ext uri="{FF2B5EF4-FFF2-40B4-BE49-F238E27FC236}">
                <a16:creationId xmlns:a16="http://schemas.microsoft.com/office/drawing/2014/main" id="{DBCB31EC-CE77-4759-9ABF-DFB1551D0AA4}"/>
              </a:ext>
            </a:extLst>
          </p:cNvPr>
          <p:cNvSpPr>
            <a:spLocks xmlns:a="http://schemas.openxmlformats.org/drawingml/2006/main" noGrp="1"/>
          </p:cNvSpPr>
          <p:nvPr/>
        </p:nvSpPr>
        <p:spPr>
          <a:xfrm xmlns:a="http://schemas.openxmlformats.org/drawingml/2006/main" rot="5400000">
            <a:off x="42291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8" name="!!ssb-ssb-send-g1-mn0">
            <a:extLst xmlns:a="http://schemas.openxmlformats.org/drawingml/2006/main">
              <a:ext uri="{FF2B5EF4-FFF2-40B4-BE49-F238E27FC236}">
                <a16:creationId xmlns:a16="http://schemas.microsoft.com/office/drawing/2014/main" id="{EEF20DB1-BDF6-4DF9-B126-D5619D4B50C6}"/>
              </a:ext>
            </a:extLst>
          </p:cNvPr>
          <p:cNvSpPr>
            <a:spLocks xmlns:a="http://schemas.openxmlformats.org/drawingml/2006/main" noGrp="1"/>
          </p:cNvSpPr>
          <p:nvPr/>
        </p:nvSpPr>
        <p:spPr>
          <a:xfrm xmlns:a="http://schemas.openxmlformats.org/drawingml/2006/main">
            <a:off x="5267325" y="31575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29" name="!!ssb-ssb-send-g1-mn1">
            <a:extLst xmlns:a="http://schemas.openxmlformats.org/drawingml/2006/main">
              <a:ext uri="{FF2B5EF4-FFF2-40B4-BE49-F238E27FC236}">
                <a16:creationId xmlns:a16="http://schemas.microsoft.com/office/drawing/2014/main" id="{C355916D-33DE-463D-A1E4-C5896D6B7E5C}"/>
              </a:ext>
            </a:extLst>
          </p:cNvPr>
          <p:cNvSpPr>
            <a:spLocks xmlns:a="http://schemas.openxmlformats.org/drawingml/2006/main" noGrp="1"/>
          </p:cNvSpPr>
          <p:nvPr/>
        </p:nvSpPr>
        <p:spPr>
          <a:xfrm xmlns:a="http://schemas.openxmlformats.org/drawingml/2006/main">
            <a:off x="6310313" y="31575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30" name="!!ssb-ssb-send-g1-mp0">
            <a:extLst xmlns:a="http://schemas.openxmlformats.org/drawingml/2006/main">
              <a:ext uri="{FF2B5EF4-FFF2-40B4-BE49-F238E27FC236}">
                <a16:creationId xmlns:a16="http://schemas.microsoft.com/office/drawing/2014/main" id="{FB87A886-BED2-4FA9-9785-6BCE90B8231A}"/>
              </a:ext>
            </a:extLst>
          </p:cNvPr>
          <p:cNvSpPr>
            <a:spLocks xmlns:a="http://schemas.openxmlformats.org/drawingml/2006/main" noGrp="1"/>
          </p:cNvSpPr>
          <p:nvPr/>
        </p:nvSpPr>
        <p:spPr>
          <a:xfrm xmlns:a="http://schemas.openxmlformats.org/drawingml/2006/main">
            <a:off x="5441156" y="31575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31" name="!!ssb-ssb-send-g1-mp1">
            <a:extLst xmlns:a="http://schemas.openxmlformats.org/drawingml/2006/main">
              <a:ext uri="{FF2B5EF4-FFF2-40B4-BE49-F238E27FC236}">
                <a16:creationId xmlns:a16="http://schemas.microsoft.com/office/drawing/2014/main" id="{448B77BF-F20C-486C-8EF0-C5E8CD59B639}"/>
              </a:ext>
            </a:extLst>
          </p:cNvPr>
          <p:cNvSpPr>
            <a:spLocks xmlns:a="http://schemas.openxmlformats.org/drawingml/2006/main" noGrp="1"/>
          </p:cNvSpPr>
          <p:nvPr/>
        </p:nvSpPr>
        <p:spPr>
          <a:xfrm xmlns:a="http://schemas.openxmlformats.org/drawingml/2006/main">
            <a:off x="6484144" y="31575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32" name="!!ssb-ssb-select-arrow-line">
            <a:extLst xmlns:a="http://schemas.openxmlformats.org/drawingml/2006/main">
              <a:ext uri="{FF2B5EF4-FFF2-40B4-BE49-F238E27FC236}">
                <a16:creationId xmlns:a16="http://schemas.microsoft.com/office/drawing/2014/main" id="{17B8E30E-A932-4714-A4A7-C824A49475E4}"/>
              </a:ext>
            </a:extLst>
          </p:cNvPr>
          <p:cNvSpPr>
            <a:spLocks xmlns:a="http://schemas.openxmlformats.org/drawingml/2006/main" noGrp="1"/>
          </p:cNvSpPr>
          <p:nvPr/>
        </p:nvSpPr>
        <p:spPr>
          <a:xfrm xmlns:a="http://schemas.openxmlformats.org/drawingml/2006/main">
            <a:off x="7581900" y="33528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3" name="!!ssb-ssb-select-arrow-head">
            <a:extLst xmlns:a="http://schemas.openxmlformats.org/drawingml/2006/main">
              <a:ext uri="{FF2B5EF4-FFF2-40B4-BE49-F238E27FC236}">
                <a16:creationId xmlns:a16="http://schemas.microsoft.com/office/drawing/2014/main" id="{A29BB412-1536-45ED-A140-123EF5EE275A}"/>
              </a:ext>
            </a:extLst>
          </p:cNvPr>
          <p:cNvSpPr>
            <a:spLocks xmlns:a="http://schemas.openxmlformats.org/drawingml/2006/main" noGrp="1"/>
          </p:cNvSpPr>
          <p:nvPr/>
        </p:nvSpPr>
        <p:spPr>
          <a:xfrm xmlns:a="http://schemas.openxmlformats.org/drawingml/2006/main" rot="5400000">
            <a:off x="8229600" y="3305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4" name="!!ssb-ssb-select-label">
            <a:extLst xmlns:a="http://schemas.openxmlformats.org/drawingml/2006/main">
              <a:ext uri="{FF2B5EF4-FFF2-40B4-BE49-F238E27FC236}">
                <a16:creationId xmlns:a16="http://schemas.microsoft.com/office/drawing/2014/main" id="{9980E512-0CBE-4FA8-A79F-4C3CA57627EB}"/>
              </a:ext>
            </a:extLst>
          </p:cNvPr>
          <p:cNvSpPr>
            <a:spLocks xmlns:a="http://schemas.openxmlformats.org/drawingml/2006/main" noGrp="1"/>
          </p:cNvSpPr>
          <p:nvPr/>
        </p:nvSpPr>
        <p:spPr>
          <a:xfrm xmlns:a="http://schemas.openxmlformats.org/drawingml/2006/main">
            <a:off x="7058025" y="29908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Keep USB</a:t>
            </a:r>
          </a:p>
        </p:txBody>
      </p:sp>
      <p:sp>
        <p:nvSpPr>
          <p:cNvPr id="35" name="!!ssb-ssb-send-g1-r0-filter0">
            <a:extLst xmlns:a="http://schemas.openxmlformats.org/drawingml/2006/main">
              <a:ext uri="{FF2B5EF4-FFF2-40B4-BE49-F238E27FC236}">
                <a16:creationId xmlns:a16="http://schemas.microsoft.com/office/drawing/2014/main" id="{29F17B38-FC27-4766-A784-FE102DB624B1}"/>
              </a:ext>
            </a:extLst>
          </p:cNvPr>
          <p:cNvSpPr>
            <a:spLocks xmlns:a="http://schemas.openxmlformats.org/drawingml/2006/main" noGrp="1"/>
          </p:cNvSpPr>
          <p:nvPr/>
        </p:nvSpPr>
        <p:spPr>
          <a:xfrm xmlns:a="http://schemas.openxmlformats.org/drawingml/2006/main">
            <a:off x="5267325" y="3062288"/>
            <a:ext cx="173831" cy="576263"/>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6" name="!!ssb-ssb-send-g1-r0-filter1">
            <a:extLst xmlns:a="http://schemas.openxmlformats.org/drawingml/2006/main">
              <a:ext uri="{FF2B5EF4-FFF2-40B4-BE49-F238E27FC236}">
                <a16:creationId xmlns:a16="http://schemas.microsoft.com/office/drawing/2014/main" id="{90083234-4312-47C0-9E04-CB878F1D4F86}"/>
              </a:ext>
            </a:extLst>
          </p:cNvPr>
          <p:cNvSpPr>
            <a:spLocks xmlns:a="http://schemas.openxmlformats.org/drawingml/2006/main" noGrp="1"/>
          </p:cNvSpPr>
          <p:nvPr/>
        </p:nvSpPr>
        <p:spPr>
          <a:xfrm xmlns:a="http://schemas.openxmlformats.org/drawingml/2006/main">
            <a:off x="6484144" y="3062288"/>
            <a:ext cx="173831" cy="576263"/>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7" name="!!ssb-ssb-send-g1-filter-name">
            <a:extLst xmlns:a="http://schemas.openxmlformats.org/drawingml/2006/main">
              <a:ext uri="{FF2B5EF4-FFF2-40B4-BE49-F238E27FC236}">
                <a16:creationId xmlns:a16="http://schemas.microsoft.com/office/drawing/2014/main" id="{96D1D76F-9C1A-4212-8664-9F500B6D86F4}"/>
              </a:ext>
            </a:extLst>
          </p:cNvPr>
          <p:cNvSpPr>
            <a:spLocks xmlns:a="http://schemas.openxmlformats.org/drawingml/2006/main" noGrp="1"/>
          </p:cNvSpPr>
          <p:nvPr/>
        </p:nvSpPr>
        <p:spPr>
          <a:xfrm xmlns:a="http://schemas.openxmlformats.org/drawingml/2006/main">
            <a:off x="4572000" y="4171950"/>
            <a:ext cx="2781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USB filter: pass both bands</a:t>
            </a:r>
          </a:p>
        </p:txBody>
      </p:sp>
      <p:sp>
        <p:nvSpPr>
          <p:cNvPr id="38" name="!!ssb-ssb-send-g2-un">
            <a:extLst xmlns:a="http://schemas.openxmlformats.org/drawingml/2006/main">
              <a:ext uri="{FF2B5EF4-FFF2-40B4-BE49-F238E27FC236}">
                <a16:creationId xmlns:a16="http://schemas.microsoft.com/office/drawing/2014/main" id="{127390C1-AB8F-44CE-A694-46C45D84F4AB}"/>
              </a:ext>
            </a:extLst>
          </p:cNvPr>
          <p:cNvSpPr>
            <a:spLocks xmlns:a="http://schemas.openxmlformats.org/drawingml/2006/main" noGrp="1"/>
          </p:cNvSpPr>
          <p:nvPr/>
        </p:nvSpPr>
        <p:spPr>
          <a:xfrm xmlns:a="http://schemas.openxmlformats.org/drawingml/2006/main">
            <a:off x="9267825" y="31575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39" name="!!ssb-ssb-send-g2-up">
            <a:extLst xmlns:a="http://schemas.openxmlformats.org/drawingml/2006/main">
              <a:ext uri="{FF2B5EF4-FFF2-40B4-BE49-F238E27FC236}">
                <a16:creationId xmlns:a16="http://schemas.microsoft.com/office/drawing/2014/main" id="{8AD41540-6488-4147-8A66-BF75622643BA}"/>
              </a:ext>
            </a:extLst>
          </p:cNvPr>
          <p:cNvSpPr>
            <a:spLocks xmlns:a="http://schemas.openxmlformats.org/drawingml/2006/main" noGrp="1"/>
          </p:cNvSpPr>
          <p:nvPr/>
        </p:nvSpPr>
        <p:spPr>
          <a:xfrm xmlns:a="http://schemas.openxmlformats.org/drawingml/2006/main">
            <a:off x="10484644" y="31575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pic>
        <p:nvPicPr>
          <p:cNvPr id="111" name="!!ssb-route-m" descr="m(t)">
            <ns0:hlinkClick xmlns:ns0="http://schemas.openxmlformats.org/drawingml/2006/main" xmlns:ns1="http://schemas.openxmlformats.org/officeDocument/2006/relationships" ns1:id="rIdmethods_Link13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6669ee18376b41e0">
            <a:extLst>
              <a:ext uri="{96DAC541-7B7A-43D3-8B79-37D633B846F1}">
                <ns0:svgBlip xmlns:ns0="http://schemas.microsoft.com/office/drawing/2016/SVG/main" r:embed="rIdVectormf00607"/>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112" name="!!ssb-route-s" descr="s(t)">
            <ns0:hlinkClick xmlns:ns0="http://schemas.openxmlformats.org/drawingml/2006/main" xmlns:ns1="http://schemas.openxmlformats.org/officeDocument/2006/relationships" ns1:id="rIdmethods_Link140"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e766d7602b8949f8">
            <a:extLst>
              <a:ext uri="{96DAC541-7B7A-43D3-8B79-37D633B846F1}">
                <ns1:svgBlip xmlns:ns1="http://schemas.microsoft.com/office/drawing/2016/SVG/main" r:embed="rIdVectormf00608"/>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113" name="!!ssb-route-restored" descr="m(t)">
            <ns0:hlinkClick xmlns:ns0="http://schemas.openxmlformats.org/drawingml/2006/main" xmlns:ns1="http://schemas.openxmlformats.org/officeDocument/2006/relationships" ns1:id="rIdmethods_Link14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5fc5b26716834bde">
            <a:extLst>
              <a:ext uri="{96DAC541-7B7A-43D3-8B79-37D633B846F1}">
                <ns2:svgBlip xmlns:ns2="http://schemas.microsoft.com/office/drawing/2016/SVG/main" r:embed="rIdVectormf00609"/>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114" name="!!ssb-ssb-send-g0-r0-domain" descr="f"/>
          <p:cNvPicPr>
            <a:picLocks xmlns:a="http://schemas.openxmlformats.org/drawingml/2006/main" noChangeAspect="1"/>
          </p:cNvPicPr>
          <p:nvPr/>
        </p:nvPicPr>
        <p:blipFill>
          <a:blip xmlns:r="http://schemas.openxmlformats.org/officeDocument/2006/relationships" xmlns:a="http://schemas.openxmlformats.org/drawingml/2006/main" r:embed="R7e3d6e6126bb4b15">
            <a:extLst>
              <a:ext uri="{96DAC541-7B7A-43D3-8B79-37D633B846F1}">
                <ns3:svgBlip xmlns:ns3="http://schemas.microsoft.com/office/drawing/2016/SVG/main" r:embed="rIdVectormf00610"/>
              </a:ext>
            </a:extLst>
          </a:blip>
          <a:stretch xmlns:a="http://schemas.openxmlformats.org/drawingml/2006/main"/>
        </p:blipFill>
        <p:spPr>
          <a:xfrm xmlns:a="http://schemas.openxmlformats.org/drawingml/2006/main">
            <a:off x="3374873" y="3311843"/>
            <a:ext cx="79678" cy="120015"/>
          </a:xfrm>
          <a:prstGeom xmlns:a="http://schemas.openxmlformats.org/drawingml/2006/main" prst="rect">
            <a:avLst/>
          </a:prstGeom>
        </p:spPr>
      </p:pic>
      <p:pic>
        <p:nvPicPr>
          <p:cNvPr id="115" name="!!ssb-ssb-send-g0-r0-ticklabel0" descr="-W"/>
          <p:cNvPicPr>
            <a:picLocks xmlns:a="http://schemas.openxmlformats.org/drawingml/2006/main" noChangeAspect="1"/>
          </p:cNvPicPr>
          <p:nvPr/>
        </p:nvPicPr>
        <p:blipFill>
          <a:blip xmlns:r="http://schemas.openxmlformats.org/officeDocument/2006/relationships" xmlns:a="http://schemas.openxmlformats.org/drawingml/2006/main" r:embed="Rb5917857fecf4a98">
            <a:extLst>
              <a:ext uri="{96DAC541-7B7A-43D3-8B79-37D633B846F1}">
                <ns4:svgBlip xmlns:ns4="http://schemas.microsoft.com/office/drawing/2016/SVG/main" r:embed="rIdVectormf00611"/>
              </a:ext>
            </a:extLst>
          </a:blip>
          <a:stretch xmlns:a="http://schemas.openxmlformats.org/drawingml/2006/main"/>
        </p:blipFill>
        <p:spPr>
          <a:xfrm xmlns:a="http://schemas.openxmlformats.org/drawingml/2006/main">
            <a:off x="1612419" y="3646170"/>
            <a:ext cx="351800" cy="137160"/>
          </a:xfrm>
          <a:prstGeom xmlns:a="http://schemas.openxmlformats.org/drawingml/2006/main" prst="rect">
            <a:avLst/>
          </a:prstGeom>
        </p:spPr>
      </p:pic>
      <p:pic>
        <p:nvPicPr>
          <p:cNvPr id="116" name="!!ssb-ssb-send-g0-r0-ticklabel1" descr="0"/>
          <p:cNvPicPr>
            <a:picLocks xmlns:a="http://schemas.openxmlformats.org/drawingml/2006/main" noChangeAspect="1"/>
          </p:cNvPicPr>
          <p:nvPr/>
        </p:nvPicPr>
        <p:blipFill>
          <a:blip xmlns:r="http://schemas.openxmlformats.org/officeDocument/2006/relationships" xmlns:a="http://schemas.openxmlformats.org/drawingml/2006/main" r:embed="R5ed6387d84904f86">
            <a:extLst>
              <a:ext uri="{96DAC541-7B7A-43D3-8B79-37D633B846F1}">
                <ns5:svgBlip xmlns:ns5="http://schemas.microsoft.com/office/drawing/2016/SVG/main" r:embed="rIdVectormf00612"/>
              </a:ext>
            </a:extLst>
          </a:blip>
          <a:stretch xmlns:a="http://schemas.openxmlformats.org/drawingml/2006/main"/>
        </p:blipFill>
        <p:spPr>
          <a:xfrm xmlns:a="http://schemas.openxmlformats.org/drawingml/2006/main">
            <a:off x="1916175" y="3863340"/>
            <a:ext cx="91951" cy="102870"/>
          </a:xfrm>
          <a:prstGeom xmlns:a="http://schemas.openxmlformats.org/drawingml/2006/main" prst="rect">
            <a:avLst/>
          </a:prstGeom>
        </p:spPr>
      </p:pic>
      <p:pic>
        <p:nvPicPr>
          <p:cNvPr id="117" name="!!ssb-ssb-send-g0-r0-ticklabel2" descr="W"/>
          <p:cNvPicPr>
            <a:picLocks xmlns:a="http://schemas.openxmlformats.org/drawingml/2006/main" noChangeAspect="1"/>
          </p:cNvPicPr>
          <p:nvPr/>
        </p:nvPicPr>
        <p:blipFill>
          <a:blip xmlns:r="http://schemas.openxmlformats.org/officeDocument/2006/relationships" xmlns:a="http://schemas.openxmlformats.org/drawingml/2006/main" r:embed="R9ea7e656b39c420a">
            <a:extLst>
              <a:ext uri="{96DAC541-7B7A-43D3-8B79-37D633B846F1}">
                <ns6:svgBlip xmlns:ns6="http://schemas.microsoft.com/office/drawing/2016/SVG/main" r:embed="rIdVectormf00613"/>
              </a:ext>
            </a:extLst>
          </a:blip>
          <a:stretch xmlns:a="http://schemas.openxmlformats.org/drawingml/2006/main"/>
        </p:blipFill>
        <p:spPr>
          <a:xfrm xmlns:a="http://schemas.openxmlformats.org/drawingml/2006/main">
            <a:off x="2033111" y="3656243"/>
            <a:ext cx="205740" cy="117015"/>
          </a:xfrm>
          <a:prstGeom xmlns:a="http://schemas.openxmlformats.org/drawingml/2006/main" prst="rect">
            <a:avLst/>
          </a:prstGeom>
        </p:spPr>
      </p:pic>
      <p:pic>
        <p:nvPicPr>
          <p:cNvPr id="118" name="!!ssb-ssb-send-g0-r0-label" descr="\textstyle M(f)"/>
          <p:cNvPicPr>
            <a:picLocks xmlns:a="http://schemas.openxmlformats.org/drawingml/2006/main" noChangeAspect="1"/>
          </p:cNvPicPr>
          <p:nvPr/>
        </p:nvPicPr>
        <p:blipFill>
          <a:blip xmlns:r="http://schemas.openxmlformats.org/officeDocument/2006/relationships" xmlns:a="http://schemas.openxmlformats.org/drawingml/2006/main" r:embed="Rabd222d033b74180">
            <a:extLst>
              <a:ext uri="{96DAC541-7B7A-43D3-8B79-37D633B846F1}">
                <ns7:svgBlip xmlns:ns7="http://schemas.microsoft.com/office/drawing/2016/SVG/main" r:embed="rIdVectormf00614"/>
              </a:ext>
            </a:extLst>
          </a:blip>
          <a:stretch xmlns:a="http://schemas.openxmlformats.org/drawingml/2006/main"/>
        </p:blipFill>
        <p:spPr>
          <a:xfrm xmlns:a="http://schemas.openxmlformats.org/drawingml/2006/main">
            <a:off x="571500" y="2383215"/>
            <a:ext cx="502920" cy="205621"/>
          </a:xfrm>
          <a:prstGeom xmlns:a="http://schemas.openxmlformats.org/drawingml/2006/main" prst="rect">
            <a:avLst/>
          </a:prstGeom>
        </p:spPr>
      </p:pic>
      <p:pic>
        <p:nvPicPr>
          <p:cNvPr id="119" name="!!ssb-ssb-send-g1-r0-domain" descr="f"/>
          <p:cNvPicPr>
            <a:picLocks xmlns:a="http://schemas.openxmlformats.org/drawingml/2006/main" noChangeAspect="1"/>
          </p:cNvPicPr>
          <p:nvPr/>
        </p:nvPicPr>
        <p:blipFill>
          <a:blip xmlns:r="http://schemas.openxmlformats.org/officeDocument/2006/relationships" xmlns:a="http://schemas.openxmlformats.org/drawingml/2006/main" r:embed="R28511a62d04145f6">
            <a:extLst>
              <a:ext uri="{96DAC541-7B7A-43D3-8B79-37D633B846F1}">
                <ns8:svgBlip xmlns:ns8="http://schemas.microsoft.com/office/drawing/2016/SVG/main" r:embed="rIdVectormf00615"/>
              </a:ext>
            </a:extLst>
          </a:blip>
          <a:stretch xmlns:a="http://schemas.openxmlformats.org/drawingml/2006/main"/>
        </p:blipFill>
        <p:spPr>
          <a:xfrm xmlns:a="http://schemas.openxmlformats.org/drawingml/2006/main">
            <a:off x="7375373" y="3311843"/>
            <a:ext cx="79678" cy="120015"/>
          </a:xfrm>
          <a:prstGeom xmlns:a="http://schemas.openxmlformats.org/drawingml/2006/main" prst="rect">
            <a:avLst/>
          </a:prstGeom>
        </p:spPr>
      </p:pic>
      <p:pic>
        <p:nvPicPr>
          <p:cNvPr id="120" name="!!ssb-ssb-send-g1-r0-ticklabel0" descr="-f_c"/>
          <p:cNvPicPr>
            <a:picLocks xmlns:a="http://schemas.openxmlformats.org/drawingml/2006/main" noChangeAspect="1"/>
          </p:cNvPicPr>
          <p:nvPr/>
        </p:nvPicPr>
        <p:blipFill>
          <a:blip xmlns:r="http://schemas.openxmlformats.org/officeDocument/2006/relationships" xmlns:a="http://schemas.openxmlformats.org/drawingml/2006/main" r:embed="R851b489ae9384303">
            <a:extLst>
              <a:ext uri="{96DAC541-7B7A-43D3-8B79-37D633B846F1}">
                <ns9:svgBlip xmlns:ns9="http://schemas.microsoft.com/office/drawing/2016/SVG/main" r:embed="rIdVectormf00616"/>
              </a:ext>
            </a:extLst>
          </a:blip>
          <a:stretch xmlns:a="http://schemas.openxmlformats.org/drawingml/2006/main"/>
        </p:blipFill>
        <p:spPr>
          <a:xfrm xmlns:a="http://schemas.openxmlformats.org/drawingml/2006/main">
            <a:off x="5307342" y="3646170"/>
            <a:ext cx="267629" cy="137160"/>
          </a:xfrm>
          <a:prstGeom xmlns:a="http://schemas.openxmlformats.org/drawingml/2006/main" prst="rect">
            <a:avLst/>
          </a:prstGeom>
        </p:spPr>
      </p:pic>
      <p:pic>
        <p:nvPicPr>
          <p:cNvPr id="121" name="!!ssb-ssb-send-g1-r0-ticklabel1" descr="0"/>
          <p:cNvPicPr>
            <a:picLocks xmlns:a="http://schemas.openxmlformats.org/drawingml/2006/main" noChangeAspect="1"/>
          </p:cNvPicPr>
          <p:nvPr/>
        </p:nvPicPr>
        <p:blipFill>
          <a:blip xmlns:r="http://schemas.openxmlformats.org/officeDocument/2006/relationships" xmlns:a="http://schemas.openxmlformats.org/drawingml/2006/main" r:embed="Rb6f034562d3b40ea">
            <a:extLst>
              <a:ext uri="{96DAC541-7B7A-43D3-8B79-37D633B846F1}">
                <ns10:svgBlip xmlns:ns10="http://schemas.microsoft.com/office/drawing/2016/SVG/main" r:embed="rIdVectormf00617"/>
              </a:ext>
            </a:extLst>
          </a:blip>
          <a:stretch xmlns:a="http://schemas.openxmlformats.org/drawingml/2006/main"/>
        </p:blipFill>
        <p:spPr>
          <a:xfrm xmlns:a="http://schemas.openxmlformats.org/drawingml/2006/main">
            <a:off x="5916675" y="3663315"/>
            <a:ext cx="91951" cy="102870"/>
          </a:xfrm>
          <a:prstGeom xmlns:a="http://schemas.openxmlformats.org/drawingml/2006/main" prst="rect">
            <a:avLst/>
          </a:prstGeom>
        </p:spPr>
      </p:pic>
      <p:pic>
        <p:nvPicPr>
          <p:cNvPr id="122" name="!!ssb-ssb-send-g1-r0-ticklabel2" descr="f_c"/>
          <p:cNvPicPr>
            <a:picLocks xmlns:a="http://schemas.openxmlformats.org/drawingml/2006/main" noChangeAspect="1"/>
          </p:cNvPicPr>
          <p:nvPr/>
        </p:nvPicPr>
        <p:blipFill>
          <a:blip xmlns:r="http://schemas.openxmlformats.org/officeDocument/2006/relationships" xmlns:a="http://schemas.openxmlformats.org/drawingml/2006/main" r:embed="R700156743bcc4111">
            <a:extLst>
              <a:ext uri="{96DAC541-7B7A-43D3-8B79-37D633B846F1}">
                <ns11:svgBlip xmlns:ns11="http://schemas.microsoft.com/office/drawing/2016/SVG/main" r:embed="rIdVectormf00618"/>
              </a:ext>
            </a:extLst>
          </a:blip>
          <a:stretch xmlns:a="http://schemas.openxmlformats.org/drawingml/2006/main"/>
        </p:blipFill>
        <p:spPr>
          <a:xfrm xmlns:a="http://schemas.openxmlformats.org/drawingml/2006/main">
            <a:off x="6422843" y="3646170"/>
            <a:ext cx="122601" cy="137160"/>
          </a:xfrm>
          <a:prstGeom xmlns:a="http://schemas.openxmlformats.org/drawingml/2006/main" prst="rect">
            <a:avLst/>
          </a:prstGeom>
        </p:spPr>
      </p:pic>
      <p:pic>
        <p:nvPicPr>
          <p:cNvPr id="123" name="!!ssb-ssb-send-g1-r0-label" descr="\textstyle S_{DSB}(f)"/>
          <p:cNvPicPr>
            <a:picLocks xmlns:a="http://schemas.openxmlformats.org/drawingml/2006/main" noChangeAspect="1"/>
          </p:cNvPicPr>
          <p:nvPr/>
        </p:nvPicPr>
        <p:blipFill>
          <a:blip xmlns:r="http://schemas.openxmlformats.org/officeDocument/2006/relationships" xmlns:a="http://schemas.openxmlformats.org/drawingml/2006/main" r:embed="R65eff1770e6f4ac5">
            <a:extLst>
              <a:ext uri="{96DAC541-7B7A-43D3-8B79-37D633B846F1}">
                <ns12:svgBlip xmlns:ns12="http://schemas.microsoft.com/office/drawing/2016/SVG/main" r:embed="rIdVectormf00619"/>
              </a:ext>
            </a:extLst>
          </a:blip>
          <a:stretch xmlns:a="http://schemas.openxmlformats.org/drawingml/2006/main"/>
        </p:blipFill>
        <p:spPr>
          <a:xfrm xmlns:a="http://schemas.openxmlformats.org/drawingml/2006/main">
            <a:off x="4574538" y="2381250"/>
            <a:ext cx="812169" cy="209550"/>
          </a:xfrm>
          <a:prstGeom xmlns:a="http://schemas.openxmlformats.org/drawingml/2006/main" prst="rect">
            <a:avLst/>
          </a:prstGeom>
        </p:spPr>
      </p:pic>
      <p:pic>
        <p:nvPicPr>
          <p:cNvPr id="124" name="!!ssb-ssb-send-g2-r0-domain" descr="f"/>
          <p:cNvPicPr>
            <a:picLocks xmlns:a="http://schemas.openxmlformats.org/drawingml/2006/main" noChangeAspect="1"/>
          </p:cNvPicPr>
          <p:nvPr/>
        </p:nvPicPr>
        <p:blipFill>
          <a:blip xmlns:r="http://schemas.openxmlformats.org/officeDocument/2006/relationships" xmlns:a="http://schemas.openxmlformats.org/drawingml/2006/main" r:embed="Rb9c211fa4d714e98">
            <a:extLst>
              <a:ext uri="{96DAC541-7B7A-43D3-8B79-37D633B846F1}">
                <ns13:svgBlip xmlns:ns13="http://schemas.microsoft.com/office/drawing/2016/SVG/main" r:embed="rIdVectormf00620"/>
              </a:ext>
            </a:extLst>
          </a:blip>
          <a:stretch xmlns:a="http://schemas.openxmlformats.org/drawingml/2006/main"/>
        </p:blipFill>
        <p:spPr>
          <a:xfrm xmlns:a="http://schemas.openxmlformats.org/drawingml/2006/main">
            <a:off x="11375873" y="3311843"/>
            <a:ext cx="79678" cy="120015"/>
          </a:xfrm>
          <a:prstGeom xmlns:a="http://schemas.openxmlformats.org/drawingml/2006/main" prst="rect">
            <a:avLst/>
          </a:prstGeom>
        </p:spPr>
      </p:pic>
      <p:pic>
        <p:nvPicPr>
          <p:cNvPr id="125" name="!!ssb-ssb-send-g2-r0-ticklabel0" descr="-f_c-W"/>
          <p:cNvPicPr>
            <a:picLocks xmlns:a="http://schemas.openxmlformats.org/drawingml/2006/main" noChangeAspect="1"/>
          </p:cNvPicPr>
          <p:nvPr/>
        </p:nvPicPr>
        <p:blipFill>
          <a:blip xmlns:r="http://schemas.openxmlformats.org/officeDocument/2006/relationships" xmlns:a="http://schemas.openxmlformats.org/drawingml/2006/main" r:embed="R4bbce32fbba441ae">
            <a:extLst>
              <a:ext uri="{96DAC541-7B7A-43D3-8B79-37D633B846F1}">
                <ns14:svgBlip xmlns:ns14="http://schemas.microsoft.com/office/drawing/2016/SVG/main" r:embed="rIdVectormf00621"/>
              </a:ext>
            </a:extLst>
          </a:blip>
          <a:stretch xmlns:a="http://schemas.openxmlformats.org/drawingml/2006/main"/>
        </p:blipFill>
        <p:spPr>
          <a:xfrm xmlns:a="http://schemas.openxmlformats.org/drawingml/2006/main">
            <a:off x="8918321" y="3646170"/>
            <a:ext cx="699008" cy="137160"/>
          </a:xfrm>
          <a:prstGeom xmlns:a="http://schemas.openxmlformats.org/drawingml/2006/main" prst="rect">
            <a:avLst/>
          </a:prstGeom>
        </p:spPr>
      </p:pic>
      <p:pic>
        <p:nvPicPr>
          <p:cNvPr id="126" name="!!ssb-ssb-send-g2-r0-ticklabel1" descr="-f_c"/>
          <p:cNvPicPr>
            <a:picLocks xmlns:a="http://schemas.openxmlformats.org/drawingml/2006/main" noChangeAspect="1"/>
          </p:cNvPicPr>
          <p:nvPr/>
        </p:nvPicPr>
        <p:blipFill>
          <a:blip xmlns:r="http://schemas.openxmlformats.org/officeDocument/2006/relationships" xmlns:a="http://schemas.openxmlformats.org/drawingml/2006/main" r:embed="Raba3069babcf4cd8">
            <a:extLst>
              <a:ext uri="{96DAC541-7B7A-43D3-8B79-37D633B846F1}">
                <ns15:svgBlip xmlns:ns15="http://schemas.microsoft.com/office/drawing/2016/SVG/main" r:embed="rIdVectormf00622"/>
              </a:ext>
            </a:extLst>
          </a:blip>
          <a:stretch xmlns:a="http://schemas.openxmlformats.org/drawingml/2006/main"/>
        </p:blipFill>
        <p:spPr>
          <a:xfrm xmlns:a="http://schemas.openxmlformats.org/drawingml/2006/main">
            <a:off x="9307842" y="3846195"/>
            <a:ext cx="267629" cy="137160"/>
          </a:xfrm>
          <a:prstGeom xmlns:a="http://schemas.openxmlformats.org/drawingml/2006/main" prst="rect">
            <a:avLst/>
          </a:prstGeom>
        </p:spPr>
      </p:pic>
      <p:pic>
        <p:nvPicPr>
          <p:cNvPr id="127" name="!!ssb-ssb-send-g2-r0-ticklabel2" descr="0"/>
          <p:cNvPicPr>
            <a:picLocks xmlns:a="http://schemas.openxmlformats.org/drawingml/2006/main" noChangeAspect="1"/>
          </p:cNvPicPr>
          <p:nvPr/>
        </p:nvPicPr>
        <p:blipFill>
          <a:blip xmlns:r="http://schemas.openxmlformats.org/officeDocument/2006/relationships" xmlns:a="http://schemas.openxmlformats.org/drawingml/2006/main" r:embed="Rafa5070da6404d85">
            <a:extLst>
              <a:ext uri="{96DAC541-7B7A-43D3-8B79-37D633B846F1}">
                <ns16:svgBlip xmlns:ns16="http://schemas.microsoft.com/office/drawing/2016/SVG/main" r:embed="rIdVectormf00623"/>
              </a:ext>
            </a:extLst>
          </a:blip>
          <a:stretch xmlns:a="http://schemas.openxmlformats.org/drawingml/2006/main"/>
        </p:blipFill>
        <p:spPr>
          <a:xfrm xmlns:a="http://schemas.openxmlformats.org/drawingml/2006/main">
            <a:off x="9917175" y="3663315"/>
            <a:ext cx="91951" cy="102870"/>
          </a:xfrm>
          <a:prstGeom xmlns:a="http://schemas.openxmlformats.org/drawingml/2006/main" prst="rect">
            <a:avLst/>
          </a:prstGeom>
        </p:spPr>
      </p:pic>
      <p:pic>
        <p:nvPicPr>
          <p:cNvPr id="128" name="!!ssb-ssb-send-g2-r0-ticklabel3" descr="f_c"/>
          <p:cNvPicPr>
            <a:picLocks xmlns:a="http://schemas.openxmlformats.org/drawingml/2006/main" noChangeAspect="1"/>
          </p:cNvPicPr>
          <p:nvPr/>
        </p:nvPicPr>
        <p:blipFill>
          <a:blip xmlns:r="http://schemas.openxmlformats.org/officeDocument/2006/relationships" xmlns:a="http://schemas.openxmlformats.org/drawingml/2006/main" r:embed="Rea8f5fd046154d8f">
            <a:extLst>
              <a:ext uri="{96DAC541-7B7A-43D3-8B79-37D633B846F1}">
                <ns17:svgBlip xmlns:ns17="http://schemas.microsoft.com/office/drawing/2016/SVG/main" r:embed="rIdVectormf00624"/>
              </a:ext>
            </a:extLst>
          </a:blip>
          <a:stretch xmlns:a="http://schemas.openxmlformats.org/drawingml/2006/main"/>
        </p:blipFill>
        <p:spPr>
          <a:xfrm xmlns:a="http://schemas.openxmlformats.org/drawingml/2006/main">
            <a:off x="10423343" y="3646170"/>
            <a:ext cx="122601" cy="137160"/>
          </a:xfrm>
          <a:prstGeom xmlns:a="http://schemas.openxmlformats.org/drawingml/2006/main" prst="rect">
            <a:avLst/>
          </a:prstGeom>
        </p:spPr>
      </p:pic>
      <p:pic>
        <p:nvPicPr>
          <p:cNvPr id="129" name="!!ssb-ssb-send-g2-r0-ticklabel4" descr="f_c+W"/>
          <p:cNvPicPr>
            <a:picLocks xmlns:a="http://schemas.openxmlformats.org/drawingml/2006/main" noChangeAspect="1"/>
          </p:cNvPicPr>
          <p:nvPr/>
        </p:nvPicPr>
        <p:blipFill>
          <a:blip xmlns:r="http://schemas.openxmlformats.org/officeDocument/2006/relationships" xmlns:a="http://schemas.openxmlformats.org/drawingml/2006/main" r:embed="Rbd81788ae06f4559">
            <a:extLst>
              <a:ext uri="{96DAC541-7B7A-43D3-8B79-37D633B846F1}">
                <ns18:svgBlip xmlns:ns18="http://schemas.microsoft.com/office/drawing/2016/SVG/main" r:embed="rIdVectormf00625"/>
              </a:ext>
            </a:extLst>
          </a:blip>
          <a:stretch xmlns:a="http://schemas.openxmlformats.org/drawingml/2006/main"/>
        </p:blipFill>
        <p:spPr>
          <a:xfrm xmlns:a="http://schemas.openxmlformats.org/drawingml/2006/main">
            <a:off x="10382123" y="3846195"/>
            <a:ext cx="552704" cy="137160"/>
          </a:xfrm>
          <a:prstGeom xmlns:a="http://schemas.openxmlformats.org/drawingml/2006/main" prst="rect">
            <a:avLst/>
          </a:prstGeom>
        </p:spPr>
      </p:pic>
      <p:pic>
        <p:nvPicPr>
          <p:cNvPr id="130" name="!!ssb-ssb-send-g2-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6374954f709b471c">
            <a:extLst>
              <a:ext uri="{96DAC541-7B7A-43D3-8B79-37D633B846F1}">
                <ns19:svgBlip xmlns:ns19="http://schemas.microsoft.com/office/drawing/2016/SVG/main" r:embed="rIdVectormf00626"/>
              </a:ext>
            </a:extLst>
          </a:blip>
          <a:stretch xmlns:a="http://schemas.openxmlformats.org/drawingml/2006/main"/>
        </p:blipFill>
        <p:spPr>
          <a:xfrm xmlns:a="http://schemas.openxmlformats.org/drawingml/2006/main">
            <a:off x="8572500" y="2381250"/>
            <a:ext cx="419100" cy="209550"/>
          </a:xfrm>
          <a:prstGeom xmlns:a="http://schemas.openxmlformats.org/drawingml/2006/main" prst="rect">
            <a:avLst/>
          </a:prstGeom>
        </p:spPr>
      </p:pic>
      <p:pic>
        <p:nvPicPr>
          <p:cNvPr id="131" name="!!ssb-ssb-send-g0-r0-peak0" descr="1"/>
          <p:cNvPicPr>
            <a:picLocks xmlns:a="http://schemas.openxmlformats.org/drawingml/2006/main" noChangeAspect="1"/>
          </p:cNvPicPr>
          <p:nvPr/>
        </p:nvPicPr>
        <p:blipFill>
          <a:blip xmlns:r="http://schemas.openxmlformats.org/officeDocument/2006/relationships" xmlns:a="http://schemas.openxmlformats.org/drawingml/2006/main" r:embed="R72c3daeb96524494">
            <a:extLst>
              <a:ext uri="{96DAC541-7B7A-43D3-8B79-37D633B846F1}">
                <ns20:svgBlip xmlns:ns20="http://schemas.microsoft.com/office/drawing/2016/SVG/main" r:embed="rIdVectormf00627"/>
              </a:ext>
            </a:extLst>
          </a:blip>
          <a:stretch xmlns:a="http://schemas.openxmlformats.org/drawingml/2006/main"/>
        </p:blipFill>
        <p:spPr>
          <a:xfrm xmlns:a="http://schemas.openxmlformats.org/drawingml/2006/main">
            <a:off x="1911066" y="2747963"/>
            <a:ext cx="102168" cy="114300"/>
          </a:xfrm>
          <a:prstGeom xmlns:a="http://schemas.openxmlformats.org/drawingml/2006/main" prst="rect">
            <a:avLst/>
          </a:prstGeom>
        </p:spPr>
      </p:pic>
      <p:pic>
        <p:nvPicPr>
          <p:cNvPr id="132" name="!!ssb-ssb-send-g0-illustration" descr="\text{Illustration: }A_c=A'_c=2,\quad f_c=3W"/>
          <p:cNvPicPr>
            <a:picLocks xmlns:a="http://schemas.openxmlformats.org/drawingml/2006/main" noChangeAspect="1"/>
          </p:cNvPicPr>
          <p:nvPr/>
        </p:nvPicPr>
        <p:blipFill>
          <a:blip xmlns:r="http://schemas.openxmlformats.org/officeDocument/2006/relationships" xmlns:a="http://schemas.openxmlformats.org/drawingml/2006/main" r:embed="R1ace39838f514186">
            <a:extLst>
              <a:ext uri="{96DAC541-7B7A-43D3-8B79-37D633B846F1}">
                <ns21:svgBlip xmlns:ns21="http://schemas.microsoft.com/office/drawing/2016/SVG/main" r:embed="rIdVectormf00628"/>
              </a:ext>
            </a:extLst>
          </a:blip>
          <a:stretch xmlns:a="http://schemas.openxmlformats.org/drawingml/2006/main"/>
        </p:blipFill>
        <p:spPr>
          <a:xfrm xmlns:a="http://schemas.openxmlformats.org/drawingml/2006/main">
            <a:off x="633359" y="1993583"/>
            <a:ext cx="4181582" cy="251460"/>
          </a:xfrm>
          <a:prstGeom xmlns:a="http://schemas.openxmlformats.org/drawingml/2006/main" prst="rect">
            <a:avLst/>
          </a:prstGeom>
        </p:spPr>
      </p:pic>
      <p:pic>
        <p:nvPicPr>
          <p:cNvPr id="133" name="!!ssb-ssb-send-math" descr="\textstyle \times A_c\cos(2\pi f_ct)"/>
          <p:cNvPicPr>
            <a:picLocks xmlns:a="http://schemas.openxmlformats.org/drawingml/2006/main" noChangeAspect="1"/>
          </p:cNvPicPr>
          <p:nvPr/>
        </p:nvPicPr>
        <p:blipFill>
          <a:blip xmlns:r="http://schemas.openxmlformats.org/officeDocument/2006/relationships" xmlns:a="http://schemas.openxmlformats.org/drawingml/2006/main" r:embed="R780d6afbf7954632">
            <a:extLst>
              <a:ext uri="{96DAC541-7B7A-43D3-8B79-37D633B846F1}">
                <ns22:svgBlip xmlns:ns22="http://schemas.microsoft.com/office/drawing/2016/SVG/main" r:embed="rIdVectormf00629"/>
              </a:ext>
            </a:extLst>
          </a:blip>
          <a:stretch xmlns:a="http://schemas.openxmlformats.org/drawingml/2006/main"/>
        </p:blipFill>
        <p:spPr>
          <a:xfrm xmlns:a="http://schemas.openxmlformats.org/drawingml/2006/main">
            <a:off x="3128010" y="3010614"/>
            <a:ext cx="1668780" cy="227171"/>
          </a:xfrm>
          <a:prstGeom xmlns:a="http://schemas.openxmlformats.org/drawingml/2006/main" prst="rect">
            <a:avLst/>
          </a:prstGeom>
        </p:spPr>
      </p:pic>
      <p:pic>
        <p:nvPicPr>
          <p:cNvPr id="134" name="!!ssb-ssb-send-condition" descr="f_c&gt;W"/>
          <p:cNvPicPr>
            <a:picLocks xmlns:a="http://schemas.openxmlformats.org/drawingml/2006/main" noChangeAspect="1"/>
          </p:cNvPicPr>
          <p:nvPr/>
        </p:nvPicPr>
        <p:blipFill>
          <a:blip xmlns:r="http://schemas.openxmlformats.org/officeDocument/2006/relationships" xmlns:a="http://schemas.openxmlformats.org/drawingml/2006/main" r:embed="Rf24b1f1873dd416e">
            <a:extLst>
              <a:ext uri="{96DAC541-7B7A-43D3-8B79-37D633B846F1}">
                <ns23:svgBlip xmlns:ns23="http://schemas.microsoft.com/office/drawing/2016/SVG/main" r:embed="rIdVectormf00630"/>
              </a:ext>
            </a:extLst>
          </a:blip>
          <a:stretch xmlns:a="http://schemas.openxmlformats.org/drawingml/2006/main"/>
        </p:blipFill>
        <p:spPr>
          <a:xfrm xmlns:a="http://schemas.openxmlformats.org/drawingml/2006/main">
            <a:off x="3625516" y="2672715"/>
            <a:ext cx="673768" cy="160020"/>
          </a:xfrm>
          <a:prstGeom xmlns:a="http://schemas.openxmlformats.org/drawingml/2006/main" prst="rect">
            <a:avLst/>
          </a:prstGeom>
        </p:spPr>
      </p:pic>
      <p:pic>
        <p:nvPicPr>
          <p:cNvPr id="135" name="!!ssb-ssb-send-g1-r0-peak0" descr="\frac{A_c}{2}"/>
          <p:cNvPicPr>
            <a:picLocks xmlns:a="http://schemas.openxmlformats.org/drawingml/2006/main" noChangeAspect="1"/>
          </p:cNvPicPr>
          <p:nvPr/>
        </p:nvPicPr>
        <p:blipFill>
          <a:blip xmlns:r="http://schemas.openxmlformats.org/officeDocument/2006/relationships" xmlns:a="http://schemas.openxmlformats.org/drawingml/2006/main" r:embed="R4e2c581a6a3147ae">
            <a:extLst>
              <a:ext uri="{96DAC541-7B7A-43D3-8B79-37D633B846F1}">
                <ns24:svgBlip xmlns:ns24="http://schemas.microsoft.com/office/drawing/2016/SVG/main" r:embed="rIdVectormf00631"/>
              </a:ext>
            </a:extLst>
          </a:blip>
          <a:stretch xmlns:a="http://schemas.openxmlformats.org/drawingml/2006/main"/>
        </p:blipFill>
        <p:spPr>
          <a:xfrm xmlns:a="http://schemas.openxmlformats.org/drawingml/2006/main">
            <a:off x="6377204" y="2628328"/>
            <a:ext cx="213880" cy="353570"/>
          </a:xfrm>
          <a:prstGeom xmlns:a="http://schemas.openxmlformats.org/drawingml/2006/main" prst="rect">
            <a:avLst/>
          </a:prstGeom>
        </p:spPr>
      </p:pic>
      <p:pic>
        <p:nvPicPr>
          <p:cNvPr id="136" name="!!ssb-ssb-select-condition" descr="B=W"/>
          <p:cNvPicPr>
            <a:picLocks xmlns:a="http://schemas.openxmlformats.org/drawingml/2006/main" noChangeAspect="1"/>
          </p:cNvPicPr>
          <p:nvPr/>
        </p:nvPicPr>
        <p:blipFill>
          <a:blip xmlns:r="http://schemas.openxmlformats.org/officeDocument/2006/relationships" xmlns:a="http://schemas.openxmlformats.org/drawingml/2006/main" r:embed="Rfc8593555d774f14">
            <a:extLst>
              <a:ext uri="{96DAC541-7B7A-43D3-8B79-37D633B846F1}">
                <ns25:svgBlip xmlns:ns25="http://schemas.microsoft.com/office/drawing/2016/SVG/main" r:embed="rIdVectormf00632"/>
              </a:ext>
            </a:extLst>
          </a:blip>
          <a:stretch xmlns:a="http://schemas.openxmlformats.org/drawingml/2006/main"/>
        </p:blipFill>
        <p:spPr>
          <a:xfrm xmlns:a="http://schemas.openxmlformats.org/drawingml/2006/main">
            <a:off x="7612856" y="2685217"/>
            <a:ext cx="700088" cy="135017"/>
          </a:xfrm>
          <a:prstGeom xmlns:a="http://schemas.openxmlformats.org/drawingml/2006/main" prst="rect">
            <a:avLst/>
          </a:prstGeom>
        </p:spPr>
      </p:pic>
      <p:pic>
        <p:nvPicPr>
          <p:cNvPr id="137" name="!!ssb-ssb-send-g2-r0-peak0" descr="\frac{A_c}{2}"/>
          <p:cNvPicPr>
            <a:picLocks xmlns:a="http://schemas.openxmlformats.org/drawingml/2006/main" noChangeAspect="1"/>
          </p:cNvPicPr>
          <p:nvPr/>
        </p:nvPicPr>
        <p:blipFill>
          <a:blip xmlns:r="http://schemas.openxmlformats.org/officeDocument/2006/relationships" xmlns:a="http://schemas.openxmlformats.org/drawingml/2006/main" r:embed="Rdf88bd22b1794fd3">
            <a:extLst>
              <a:ext uri="{96DAC541-7B7A-43D3-8B79-37D633B846F1}">
                <ns26:svgBlip xmlns:ns26="http://schemas.microsoft.com/office/drawing/2016/SVG/main" r:embed="rIdVectormf00633"/>
              </a:ext>
            </a:extLst>
          </a:blip>
          <a:stretch xmlns:a="http://schemas.openxmlformats.org/drawingml/2006/main"/>
        </p:blipFill>
        <p:spPr>
          <a:xfrm xmlns:a="http://schemas.openxmlformats.org/drawingml/2006/main">
            <a:off x="10377704" y="2628328"/>
            <a:ext cx="213880" cy="353570"/>
          </a:xfrm>
          <a:prstGeom xmlns:a="http://schemas.openxmlformats.org/drawingml/2006/main" prst="rect">
            <a:avLst/>
          </a:prstGeom>
        </p:spPr>
      </p:pic>
      <p:pic>
        <p:nvPicPr>
          <p:cNvPr id="138" name="!!ssb-dense-equation-0" descr="\textstyle m(t)\longleftrightarrow M(f)"/>
          <p:cNvPicPr>
            <a:picLocks xmlns:a="http://schemas.openxmlformats.org/drawingml/2006/main" noChangeAspect="1"/>
          </p:cNvPicPr>
          <p:nvPr/>
        </p:nvPicPr>
        <p:blipFill>
          <a:blip xmlns:r="http://schemas.openxmlformats.org/officeDocument/2006/relationships" xmlns:a="http://schemas.openxmlformats.org/drawingml/2006/main" r:embed="R12e5b090c34944d8">
            <a:extLst>
              <a:ext uri="{96DAC541-7B7A-43D3-8B79-37D633B846F1}">
                <ns27:svgBlip xmlns:ns27="http://schemas.microsoft.com/office/drawing/2016/SVG/main" r:embed="rIdVectormf00634"/>
              </a:ext>
            </a:extLst>
          </a:blip>
          <a:stretch xmlns:a="http://schemas.openxmlformats.org/drawingml/2006/main"/>
        </p:blipFill>
        <p:spPr>
          <a:xfrm xmlns:a="http://schemas.openxmlformats.org/drawingml/2006/main">
            <a:off x="609600" y="4643438"/>
            <a:ext cx="1857375" cy="247650"/>
          </a:xfrm>
          <a:prstGeom xmlns:a="http://schemas.openxmlformats.org/drawingml/2006/main" prst="rect">
            <a:avLst/>
          </a:prstGeom>
        </p:spPr>
      </p:pic>
      <p:pic>
        <p:nvPicPr>
          <p:cNvPr id="139" name="!!ssb-dense-equation-1" descr="\textstyle S_{DSB}(f)=\frac{A_c}{2}[M(f-f_c)+M(f+f_c)]"/>
          <p:cNvPicPr>
            <a:picLocks xmlns:a="http://schemas.openxmlformats.org/drawingml/2006/main" noChangeAspect="1"/>
          </p:cNvPicPr>
          <p:nvPr/>
        </p:nvPicPr>
        <p:blipFill>
          <a:blip xmlns:r="http://schemas.openxmlformats.org/officeDocument/2006/relationships" xmlns:a="http://schemas.openxmlformats.org/drawingml/2006/main" r:embed="R10ac0b59a29d47a2">
            <a:extLst>
              <a:ext uri="{96DAC541-7B7A-43D3-8B79-37D633B846F1}">
                <ns28:svgBlip xmlns:ns28="http://schemas.microsoft.com/office/drawing/2016/SVG/main" r:embed="rIdVectormf00635"/>
              </a:ext>
            </a:extLst>
          </a:blip>
          <a:stretch xmlns:a="http://schemas.openxmlformats.org/drawingml/2006/main"/>
        </p:blipFill>
        <p:spPr>
          <a:xfrm xmlns:a="http://schemas.openxmlformats.org/drawingml/2006/main">
            <a:off x="609600" y="5047536"/>
            <a:ext cx="4457700" cy="315754"/>
          </a:xfrm>
          <a:prstGeom xmlns:a="http://schemas.openxmlformats.org/drawingml/2006/main" prst="rect">
            <a:avLst/>
          </a:prstGeom>
        </p:spPr>
      </p:pic>
      <p:pic>
        <p:nvPicPr>
          <p:cNvPr id="140" name="!!ssb-dense-equation-2" descr="\textstyle S(f)=H_{USB}(f)S_{DSB}(f)"/>
          <p:cNvPicPr>
            <a:picLocks xmlns:a="http://schemas.openxmlformats.org/drawingml/2006/main" noChangeAspect="1"/>
          </p:cNvPicPr>
          <p:nvPr/>
        </p:nvPicPr>
        <p:blipFill>
          <a:blip xmlns:r="http://schemas.openxmlformats.org/officeDocument/2006/relationships" xmlns:a="http://schemas.openxmlformats.org/drawingml/2006/main" r:embed="R8a6bf3b6f96747f6">
            <a:extLst>
              <a:ext uri="{96DAC541-7B7A-43D3-8B79-37D633B846F1}">
                <ns29:svgBlip xmlns:ns29="http://schemas.microsoft.com/office/drawing/2016/SVG/main" r:embed="rIdVectormf00636"/>
              </a:ext>
            </a:extLst>
          </a:blip>
          <a:stretch xmlns:a="http://schemas.openxmlformats.org/drawingml/2006/main"/>
        </p:blipFill>
        <p:spPr>
          <a:xfrm xmlns:a="http://schemas.openxmlformats.org/drawingml/2006/main">
            <a:off x="609600" y="5520511"/>
            <a:ext cx="2847975" cy="246102"/>
          </a:xfrm>
          <a:prstGeom xmlns:a="http://schemas.openxmlformats.org/drawingml/2006/main" prst="rect">
            <a:avLst/>
          </a:prstGeom>
        </p:spPr>
      </p:pic>
      <p:pic>
        <p:nvPicPr>
          <p:cNvPr id="141" name="!!ssb-dense-equation-3" descr="\textstyle \text{Pass bands: }[-f_c-W,-f_c],\quad[f_c,f_c+W]"/>
          <p:cNvPicPr>
            <a:picLocks xmlns:a="http://schemas.openxmlformats.org/drawingml/2006/main" noChangeAspect="1"/>
          </p:cNvPicPr>
          <p:nvPr/>
        </p:nvPicPr>
        <p:blipFill>
          <a:blip xmlns:r="http://schemas.openxmlformats.org/officeDocument/2006/relationships" xmlns:a="http://schemas.openxmlformats.org/drawingml/2006/main" r:embed="R0ac2794e450d43e9">
            <a:extLst>
              <a:ext uri="{96DAC541-7B7A-43D3-8B79-37D633B846F1}">
                <ns30:svgBlip xmlns:ns30="http://schemas.microsoft.com/office/drawing/2016/SVG/main" r:embed="rIdVectormf00637"/>
              </a:ext>
            </a:extLst>
          </a:blip>
          <a:stretch xmlns:a="http://schemas.openxmlformats.org/drawingml/2006/main"/>
        </p:blipFill>
        <p:spPr>
          <a:xfrm xmlns:a="http://schemas.openxmlformats.org/drawingml/2006/main">
            <a:off x="609600" y="5957888"/>
            <a:ext cx="5076825" cy="247650"/>
          </a:xfrm>
          <a:prstGeom xmlns:a="http://schemas.openxmlformats.org/drawingml/2006/main" prst="rect">
            <a:avLst/>
          </a:prstGeom>
        </p:spPr>
      </p:pic>
      <p:pic>
        <p:nvPicPr>
          <p:cNvPr id="142" name="!!ssb-dense-equation-4" descr="\textstyle H_{USB}(f)=1\ \text{inside; }0\ \text{outside}"/>
          <p:cNvPicPr>
            <a:picLocks xmlns:a="http://schemas.openxmlformats.org/drawingml/2006/main" noChangeAspect="1"/>
          </p:cNvPicPr>
          <p:nvPr/>
        </p:nvPicPr>
        <p:blipFill>
          <a:blip xmlns:r="http://schemas.openxmlformats.org/officeDocument/2006/relationships" xmlns:a="http://schemas.openxmlformats.org/drawingml/2006/main" r:embed="R74a2b3fc0edc4a24">
            <a:extLst>
              <a:ext uri="{96DAC541-7B7A-43D3-8B79-37D633B846F1}">
                <ns31:svgBlip xmlns:ns31="http://schemas.microsoft.com/office/drawing/2016/SVG/main" r:embed="rIdVectormf00638"/>
              </a:ext>
            </a:extLst>
          </a:blip>
          <a:stretch xmlns:a="http://schemas.openxmlformats.org/drawingml/2006/main"/>
        </p:blipFill>
        <p:spPr>
          <a:xfrm xmlns:a="http://schemas.openxmlformats.org/drawingml/2006/main">
            <a:off x="609600" y="6396811"/>
            <a:ext cx="3640455" cy="246102"/>
          </a:xfrm>
          <a:prstGeom xmlns:a="http://schemas.openxmlformats.org/drawingml/2006/main" prst="rect">
            <a:avLst/>
          </a:prstGeom>
        </p:spPr>
      </p:pic>
    </p:spTree>
    <p:extLst>
      <p:ext uri="{BB962C8B-B14F-4D97-AF65-F5344CB8AC3E}">
        <p14:creationId xmlns:p14="http://schemas.microsoft.com/office/powerpoint/2010/main" val="42614656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133"/>
                                        </p:tgtEl>
                                        <p:attrNameLst>
                                          <p:attrName>style.visibility</p:attrName>
                                        </p:attrNameLst>
                                      </p:cBhvr>
                                      <p:to>
                                        <p:strVal val="visible"/>
                                      </p:to>
                                    </p:set>
                                    <p:animEffect transition="in" filter="fade">
                                      <p:cBhvr>
                                        <p:cTn id="13" dur="400"/>
                                        <p:tgtEl>
                                          <p:spTgt spid="133"/>
                                        </p:tgtEl>
                                      </p:cBhvr>
                                    </p:animEffect>
                                  </p:childTnLst>
                                </p:cTn>
                              </p:par>
                              <p:par>
                                <p:cTn id="14" presetID="10" presetClass="entr" presetSubtype="0" fill="hold" nodeType="withEffect">
                                  <p:stCondLst>
                                    <p:cond delay="0"/>
                                  </p:stCondLst>
                                  <p:childTnLst>
                                    <p:set>
                                      <p:cBhvr>
                                        <p:cTn id="15" dur="1" fill="hold">
                                          <p:stCondLst>
                                            <p:cond delay="0"/>
                                          </p:stCondLst>
                                        </p:cTn>
                                        <p:tgtEl>
                                          <p:spTgt spid="134"/>
                                        </p:tgtEl>
                                        <p:attrNameLst>
                                          <p:attrName>style.visibility</p:attrName>
                                        </p:attrNameLst>
                                      </p:cBhvr>
                                      <p:to>
                                        <p:strVal val="visible"/>
                                      </p:to>
                                    </p:set>
                                    <p:animEffect transition="in" filter="fade">
                                      <p:cBhvr>
                                        <p:cTn id="16" dur="400"/>
                                        <p:tgtEl>
                                          <p:spTgt spid="134"/>
                                        </p:tgtEl>
                                      </p:cBhvr>
                                    </p:animEffect>
                                  </p:childTnLst>
                                </p:cTn>
                              </p:par>
                              <p:par>
                                <p:cTn id="17" presetID="10"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00"/>
                                        <p:tgtEl>
                                          <p:spTgt spid="28"/>
                                        </p:tgtEl>
                                      </p:cBhvr>
                                    </p:animEffect>
                                    <p:animMotion origin="layout" pathEditMode="relative" path="M -0.28535154 0.00000000 L 0.00000000 0.00000000 E">
                                      <p:cBhvr>
                                        <p:cTn id="20" dur="700" fill="hold"/>
                                        <p:tgtEl>
                                          <p:spTgt spid="28"/>
                                        </p:tgtEl>
                                        <p:attrNameLst>
                                          <p:attrName>ppt_x</p:attrName>
                                          <p:attrName>ppt_y</p:attrName>
                                        </p:attrNameLst>
                                      </p:cBhvr>
                                    </p:animMotion>
                                    <p:animScale zoomContents="1">
                                      <p:cBhvr>
                                        <p:cTn id="21" dur="700" fill="hold"/>
                                        <p:tgtEl>
                                          <p:spTgt spid="28"/>
                                        </p:tgtEl>
                                      </p:cBhvr>
                                      <p:from x="100000" y="100000"/>
                                      <p:to x="100000" y="100000"/>
                                    </p:animScale>
                                  </p:childTnLst>
                                </p:cTn>
                              </p:par>
                              <p:par>
                                <p:cTn id="22" presetID="10" presetClass="entr" presetSubtype="0"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200"/>
                                        <p:tgtEl>
                                          <p:spTgt spid="29"/>
                                        </p:tgtEl>
                                      </p:cBhvr>
                                    </p:animEffect>
                                    <p:animMotion origin="layout" pathEditMode="relative" path="M -0.37089846 0.00000000 L 0.00000000 0.00000000 E">
                                      <p:cBhvr>
                                        <p:cTn id="25" dur="700" fill="hold"/>
                                        <p:tgtEl>
                                          <p:spTgt spid="29"/>
                                        </p:tgtEl>
                                        <p:attrNameLst>
                                          <p:attrName>ppt_x</p:attrName>
                                          <p:attrName>ppt_y</p:attrName>
                                        </p:attrNameLst>
                                      </p:cBhvr>
                                    </p:animMotion>
                                    <p:animScale zoomContents="1">
                                      <p:cBhvr>
                                        <p:cTn id="26" dur="700" fill="hold"/>
                                        <p:tgtEl>
                                          <p:spTgt spid="29"/>
                                        </p:tgtEl>
                                      </p:cBhvr>
                                      <p:from x="100000" y="100000"/>
                                      <p:to x="100000" y="100000"/>
                                    </p:animScale>
                                  </p:childTnLst>
                                </p:cTn>
                              </p:par>
                              <p:par>
                                <p:cTn id="27" presetID="10"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200"/>
                                        <p:tgtEl>
                                          <p:spTgt spid="30"/>
                                        </p:tgtEl>
                                      </p:cBhvr>
                                    </p:animEffect>
                                    <p:animMotion origin="layout" pathEditMode="relative" path="M -0.28535154 0.00000000 L 0.00000000 0.00000000 E">
                                      <p:cBhvr>
                                        <p:cTn id="30" dur="700" fill="hold"/>
                                        <p:tgtEl>
                                          <p:spTgt spid="30"/>
                                        </p:tgtEl>
                                        <p:attrNameLst>
                                          <p:attrName>ppt_x</p:attrName>
                                          <p:attrName>ppt_y</p:attrName>
                                        </p:attrNameLst>
                                      </p:cBhvr>
                                    </p:animMotion>
                                    <p:animScale zoomContents="1">
                                      <p:cBhvr>
                                        <p:cTn id="31" dur="700" fill="hold"/>
                                        <p:tgtEl>
                                          <p:spTgt spid="30"/>
                                        </p:tgtEl>
                                      </p:cBhvr>
                                      <p:from x="100000" y="100000"/>
                                      <p:to x="100000" y="100000"/>
                                    </p:animScale>
                                  </p:childTnLst>
                                </p:cTn>
                              </p:par>
                              <p:par>
                                <p:cTn id="32" presetID="10" presetClass="entr" presetSubtype="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200"/>
                                        <p:tgtEl>
                                          <p:spTgt spid="31"/>
                                        </p:tgtEl>
                                      </p:cBhvr>
                                    </p:animEffect>
                                    <p:animMotion origin="layout" pathEditMode="relative" path="M -0.37089846 0.00000000 L 0.00000000 0.00000000 E">
                                      <p:cBhvr>
                                        <p:cTn id="35" dur="700" fill="hold"/>
                                        <p:tgtEl>
                                          <p:spTgt spid="31"/>
                                        </p:tgtEl>
                                        <p:attrNameLst>
                                          <p:attrName>ppt_x</p:attrName>
                                          <p:attrName>ppt_y</p:attrName>
                                        </p:attrNameLst>
                                      </p:cBhvr>
                                    </p:animMotion>
                                    <p:animScale zoomContents="1">
                                      <p:cBhvr>
                                        <p:cTn id="36" dur="700" fill="hold"/>
                                        <p:tgtEl>
                                          <p:spTgt spid="31"/>
                                        </p:tgtEl>
                                      </p:cBhvr>
                                      <p:from x="100000" y="100000"/>
                                      <p:to x="100000" y="100000"/>
                                    </p:animScale>
                                  </p:childTnLst>
                                </p:cTn>
                              </p:par>
                              <p:par>
                                <p:cTn id="37" presetID="10" presetClass="entr" presetSubtype="0" fill="hold" nodeType="withEffect">
                                  <p:stCondLst>
                                    <p:cond delay="0"/>
                                  </p:stCondLst>
                                  <p:childTnLst>
                                    <p:set>
                                      <p:cBhvr>
                                        <p:cTn id="38" dur="1" fill="hold">
                                          <p:stCondLst>
                                            <p:cond delay="0"/>
                                          </p:stCondLst>
                                        </p:cTn>
                                        <p:tgtEl>
                                          <p:spTgt spid="135"/>
                                        </p:tgtEl>
                                        <p:attrNameLst>
                                          <p:attrName>style.visibility</p:attrName>
                                        </p:attrNameLst>
                                      </p:cBhvr>
                                      <p:to>
                                        <p:strVal val="visible"/>
                                      </p:to>
                                    </p:set>
                                    <p:animEffect transition="in" filter="fade">
                                      <p:cBhvr>
                                        <p:cTn id="39" dur="400"/>
                                        <p:tgtEl>
                                          <p:spTgt spid="135"/>
                                        </p:tgtEl>
                                      </p:cBhvr>
                                    </p:animEffect>
                                  </p:childTnLst>
                                </p:cTn>
                              </p:par>
                              <p:par>
                                <p:cTn id="40" presetID="10" presetClass="entr" presetSubtype="0" fill="hold" nodeType="withEffect">
                                  <p:stCondLst>
                                    <p:cond delay="0"/>
                                  </p:stCondLst>
                                  <p:childTnLst>
                                    <p:set>
                                      <p:cBhvr>
                                        <p:cTn id="41" dur="1" fill="hold">
                                          <p:stCondLst>
                                            <p:cond delay="0"/>
                                          </p:stCondLst>
                                        </p:cTn>
                                        <p:tgtEl>
                                          <p:spTgt spid="139"/>
                                        </p:tgtEl>
                                        <p:attrNameLst>
                                          <p:attrName>style.visibility</p:attrName>
                                        </p:attrNameLst>
                                      </p:cBhvr>
                                      <p:to>
                                        <p:strVal val="visible"/>
                                      </p:to>
                                    </p:set>
                                    <p:animEffect transition="in" filter="fade">
                                      <p:cBhvr>
                                        <p:cTn id="42" dur="400"/>
                                        <p:tgtEl>
                                          <p:spTgt spid="1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400"/>
                                        <p:tgtEl>
                                          <p:spTgt spid="32"/>
                                        </p:tgtEl>
                                      </p:cBhvr>
                                    </p:animEffect>
                                  </p:childTnLst>
                                </p:cTn>
                              </p:par>
                              <p:par>
                                <p:cTn id="48" presetID="10" presetClass="entr" presetSubtype="0" fill="hold"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400"/>
                                        <p:tgtEl>
                                          <p:spTgt spid="33"/>
                                        </p:tgtEl>
                                      </p:cBhvr>
                                    </p:animEffect>
                                  </p:childTnLst>
                                </p:cTn>
                              </p:par>
                              <p:par>
                                <p:cTn id="51" presetID="10"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400"/>
                                        <p:tgtEl>
                                          <p:spTgt spid="34"/>
                                        </p:tgtEl>
                                      </p:cBhvr>
                                    </p:animEffect>
                                  </p:childTnLst>
                                </p:cTn>
                              </p:par>
                              <p:par>
                                <p:cTn id="54" presetID="10" presetClass="entr" presetSubtype="0" fill="hold" nodeType="withEffect">
                                  <p:stCondLst>
                                    <p:cond delay="0"/>
                                  </p:stCondLst>
                                  <p:childTnLst>
                                    <p:set>
                                      <p:cBhvr>
                                        <p:cTn id="55" dur="1" fill="hold">
                                          <p:stCondLst>
                                            <p:cond delay="0"/>
                                          </p:stCondLst>
                                        </p:cTn>
                                        <p:tgtEl>
                                          <p:spTgt spid="136"/>
                                        </p:tgtEl>
                                        <p:attrNameLst>
                                          <p:attrName>style.visibility</p:attrName>
                                        </p:attrNameLst>
                                      </p:cBhvr>
                                      <p:to>
                                        <p:strVal val="visible"/>
                                      </p:to>
                                    </p:set>
                                    <p:animEffect transition="in" filter="fade">
                                      <p:cBhvr>
                                        <p:cTn id="56" dur="400"/>
                                        <p:tgtEl>
                                          <p:spTgt spid="136"/>
                                        </p:tgtEl>
                                      </p:cBhvr>
                                    </p:animEffect>
                                  </p:childTnLst>
                                </p:cTn>
                              </p:par>
                              <p:par>
                                <p:cTn id="57" presetID="10"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400"/>
                                        <p:tgtEl>
                                          <p:spTgt spid="35"/>
                                        </p:tgtEl>
                                      </p:cBhvr>
                                    </p:animEffect>
                                  </p:childTnLst>
                                </p:cTn>
                              </p:par>
                              <p:par>
                                <p:cTn id="60" presetID="10" presetClass="entr" presetSubtype="0" fill="hold"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fade">
                                      <p:cBhvr>
                                        <p:cTn id="62" dur="400"/>
                                        <p:tgtEl>
                                          <p:spTgt spid="36"/>
                                        </p:tgtEl>
                                      </p:cBhvr>
                                    </p:animEffect>
                                  </p:childTnLst>
                                </p:cTn>
                              </p:par>
                              <p:par>
                                <p:cTn id="63" presetID="10" presetClass="entr" presetSubtype="0" fill="hold"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00"/>
                                        <p:tgtEl>
                                          <p:spTgt spid="3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200"/>
                                        <p:tgtEl>
                                          <p:spTgt spid="38"/>
                                        </p:tgtEl>
                                      </p:cBhvr>
                                    </p:animEffect>
                                    <p:animMotion origin="layout" pathEditMode="relative" path="M -0.32812500 0.00000000 L 0.00000000 0.00000000 E">
                                      <p:cBhvr>
                                        <p:cTn id="71" dur="700" fill="hold"/>
                                        <p:tgtEl>
                                          <p:spTgt spid="38"/>
                                        </p:tgtEl>
                                        <p:attrNameLst>
                                          <p:attrName>ppt_x</p:attrName>
                                          <p:attrName>ppt_y</p:attrName>
                                        </p:attrNameLst>
                                      </p:cBhvr>
                                    </p:animMotion>
                                    <p:animScale zoomContents="1">
                                      <p:cBhvr>
                                        <p:cTn id="72" dur="700" fill="hold"/>
                                        <p:tgtEl>
                                          <p:spTgt spid="38"/>
                                        </p:tgtEl>
                                      </p:cBhvr>
                                      <p:from x="100000" y="100000"/>
                                      <p:to x="100000" y="100000"/>
                                    </p:animScale>
                                  </p:childTnLst>
                                </p:cTn>
                              </p:par>
                              <p:par>
                                <p:cTn id="73" presetID="10" presetClass="entr" presetSubtype="0" fill="hold" nodeType="with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200"/>
                                        <p:tgtEl>
                                          <p:spTgt spid="39"/>
                                        </p:tgtEl>
                                      </p:cBhvr>
                                    </p:animEffect>
                                    <p:animMotion origin="layout" pathEditMode="relative" path="M -0.32812500 0.00000000 L 0.00000000 0.00000000 E">
                                      <p:cBhvr>
                                        <p:cTn id="76" dur="700" fill="hold"/>
                                        <p:tgtEl>
                                          <p:spTgt spid="39"/>
                                        </p:tgtEl>
                                        <p:attrNameLst>
                                          <p:attrName>ppt_x</p:attrName>
                                          <p:attrName>ppt_y</p:attrName>
                                        </p:attrNameLst>
                                      </p:cBhvr>
                                    </p:animMotion>
                                    <p:animScale zoomContents="1">
                                      <p:cBhvr>
                                        <p:cTn id="77" dur="700" fill="hold"/>
                                        <p:tgtEl>
                                          <p:spTgt spid="39"/>
                                        </p:tgtEl>
                                      </p:cBhvr>
                                      <p:from x="100000" y="100000"/>
                                      <p:to x="100000" y="100000"/>
                                    </p:animScale>
                                  </p:childTnLst>
                                </p:cTn>
                              </p:par>
                              <p:par>
                                <p:cTn id="78" presetID="10" presetClass="entr" presetSubtype="0" fill="hold" nodeType="withEffect">
                                  <p:stCondLst>
                                    <p:cond delay="0"/>
                                  </p:stCondLst>
                                  <p:childTnLst>
                                    <p:set>
                                      <p:cBhvr>
                                        <p:cTn id="79" dur="1" fill="hold">
                                          <p:stCondLst>
                                            <p:cond delay="0"/>
                                          </p:stCondLst>
                                        </p:cTn>
                                        <p:tgtEl>
                                          <p:spTgt spid="137"/>
                                        </p:tgtEl>
                                        <p:attrNameLst>
                                          <p:attrName>style.visibility</p:attrName>
                                        </p:attrNameLst>
                                      </p:cBhvr>
                                      <p:to>
                                        <p:strVal val="visible"/>
                                      </p:to>
                                    </p:set>
                                    <p:animEffect transition="in" filter="fade">
                                      <p:cBhvr>
                                        <p:cTn id="80" dur="400"/>
                                        <p:tgtEl>
                                          <p:spTgt spid="137"/>
                                        </p:tgtEl>
                                      </p:cBhvr>
                                    </p:animEffect>
                                  </p:childTnLst>
                                </p:cTn>
                              </p:par>
                              <p:par>
                                <p:cTn id="81" presetID="10" presetClass="entr" presetSubtype="0" fill="hold" nodeType="withEffect">
                                  <p:stCondLst>
                                    <p:cond delay="0"/>
                                  </p:stCondLst>
                                  <p:childTnLst>
                                    <p:set>
                                      <p:cBhvr>
                                        <p:cTn id="82" dur="1" fill="hold">
                                          <p:stCondLst>
                                            <p:cond delay="0"/>
                                          </p:stCondLst>
                                        </p:cTn>
                                        <p:tgtEl>
                                          <p:spTgt spid="140"/>
                                        </p:tgtEl>
                                        <p:attrNameLst>
                                          <p:attrName>style.visibility</p:attrName>
                                        </p:attrNameLst>
                                      </p:cBhvr>
                                      <p:to>
                                        <p:strVal val="visible"/>
                                      </p:to>
                                    </p:set>
                                    <p:animEffect transition="in" filter="fade">
                                      <p:cBhvr>
                                        <p:cTn id="83" dur="400"/>
                                        <p:tgtEl>
                                          <p:spTgt spid="14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41"/>
                                        </p:tgtEl>
                                        <p:attrNameLst>
                                          <p:attrName>style.visibility</p:attrName>
                                        </p:attrNameLst>
                                      </p:cBhvr>
                                      <p:to>
                                        <p:strVal val="visible"/>
                                      </p:to>
                                    </p:set>
                                    <p:animEffect transition="in" filter="fade">
                                      <p:cBhvr>
                                        <p:cTn id="88" dur="400"/>
                                        <p:tgtEl>
                                          <p:spTgt spid="141"/>
                                        </p:tgtEl>
                                      </p:cBhvr>
                                    </p:animEffect>
                                  </p:childTnLst>
                                </p:cTn>
                              </p:par>
                              <p:par>
                                <p:cTn id="89" presetID="10" presetClass="entr" presetSubtype="0" fill="hold" nodeType="withEffect">
                                  <p:stCondLst>
                                    <p:cond delay="0"/>
                                  </p:stCondLst>
                                  <p:childTnLst>
                                    <p:set>
                                      <p:cBhvr>
                                        <p:cTn id="90" dur="1" fill="hold">
                                          <p:stCondLst>
                                            <p:cond delay="0"/>
                                          </p:stCondLst>
                                        </p:cTn>
                                        <p:tgtEl>
                                          <p:spTgt spid="142"/>
                                        </p:tgtEl>
                                        <p:attrNameLst>
                                          <p:attrName>style.visibility</p:attrName>
                                        </p:attrNameLst>
                                      </p:cBhvr>
                                      <p:to>
                                        <p:strVal val="visible"/>
                                      </p:to>
                                    </p:set>
                                    <p:animEffect transition="in" filter="fade">
                                      <p:cBhvr>
                                        <p:cTn id="91" dur="4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7" grpId="0" animBg="1"/>
    </p:bldLst>
  </p:timing>
</p:sld>
</file>

<file path=ppt/slides/methods_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ssb-title">
            <ns0:hlinkClick xmlns:ns0="http://schemas.openxmlformats.org/drawingml/2006/main" xmlns:ns1="http://schemas.openxmlformats.org/officeDocument/2006/relationships" ns1:id="rIdmethods_Link142" action="ppaction://hlinksldjump"/>
            <a:extLst xmlns:a="http://schemas.openxmlformats.org/drawingml/2006/main">
              <a:ext uri="{FF2B5EF4-FFF2-40B4-BE49-F238E27FC236}">
                <a16:creationId xmlns:a16="http://schemas.microsoft.com/office/drawing/2014/main" id="{1BC4BD25-4F8C-4EA8-ADF1-620F2D17C52C}"/>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42" action="ppaction://hlinksldjump"/>
              </a:rPr>
              <a:t>SSB</a:t>
            </a:r>
          </a:p>
        </p:txBody>
      </p:sp>
      <p:sp>
        <p:nvSpPr>
          <p:cNvPr id="2" name="!!ssb-route-tx-line">
            <a:extLst xmlns:a="http://schemas.openxmlformats.org/drawingml/2006/main">
              <a:ext uri="{FF2B5EF4-FFF2-40B4-BE49-F238E27FC236}">
                <a16:creationId xmlns:a16="http://schemas.microsoft.com/office/drawing/2014/main" id="{FA1E7EAC-96BA-48DD-87C5-732A0EDA1CB1}"/>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ssb-route-tx-head">
            <a:extLst xmlns:a="http://schemas.openxmlformats.org/drawingml/2006/main">
              <a:ext uri="{FF2B5EF4-FFF2-40B4-BE49-F238E27FC236}">
                <a16:creationId xmlns:a16="http://schemas.microsoft.com/office/drawing/2014/main" id="{398CFFC4-0AB9-4374-8A3C-7DDFA1207A92}"/>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ssb-route-rx-line">
            <a:extLst xmlns:a="http://schemas.openxmlformats.org/drawingml/2006/main">
              <a:ext uri="{FF2B5EF4-FFF2-40B4-BE49-F238E27FC236}">
                <a16:creationId xmlns:a16="http://schemas.microsoft.com/office/drawing/2014/main" id="{5001BF33-6C1B-4CE2-82A6-25CB8493091F}"/>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ssb-route-rx-head">
            <a:extLst xmlns:a="http://schemas.openxmlformats.org/drawingml/2006/main">
              <a:ext uri="{FF2B5EF4-FFF2-40B4-BE49-F238E27FC236}">
                <a16:creationId xmlns:a16="http://schemas.microsoft.com/office/drawing/2014/main" id="{32315907-EBD5-44E6-80A1-66C2E9FC4BD9}"/>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ssb-review-purpose">
            <a:extLst xmlns:a="http://schemas.openxmlformats.org/drawingml/2006/main">
              <a:ext uri="{FF2B5EF4-FFF2-40B4-BE49-F238E27FC236}">
                <a16:creationId xmlns:a16="http://schemas.microsoft.com/office/drawing/2014/main" id="{14611331-5E84-4D2A-9323-40B6ECE41177}"/>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Shift back: the two halves rejoin around zero</a:t>
            </a:r>
          </a:p>
        </p:txBody>
      </p:sp>
      <p:sp>
        <p:nvSpPr>
          <p:cNvPr id="7" name="!!ssb-ssb-multiply-g0-r0-axis-line">
            <a:extLst xmlns:a="http://schemas.openxmlformats.org/drawingml/2006/main">
              <a:ext uri="{FF2B5EF4-FFF2-40B4-BE49-F238E27FC236}">
                <a16:creationId xmlns:a16="http://schemas.microsoft.com/office/drawing/2014/main" id="{D3959C2B-FDB6-4D8B-9C44-AD35FBEDFD8A}"/>
              </a:ext>
            </a:extLst>
          </p:cNvPr>
          <p:cNvSpPr>
            <a:spLocks xmlns:a="http://schemas.openxmlformats.org/drawingml/2006/main" noGrp="1"/>
          </p:cNvSpPr>
          <p:nvPr/>
        </p:nvSpPr>
        <p:spPr>
          <a:xfrm xmlns:a="http://schemas.openxmlformats.org/drawingml/2006/main">
            <a:off x="571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ssb-ssb-multiply-g0-r0-axis-head">
            <a:extLst xmlns:a="http://schemas.openxmlformats.org/drawingml/2006/main">
              <a:ext uri="{FF2B5EF4-FFF2-40B4-BE49-F238E27FC236}">
                <a16:creationId xmlns:a16="http://schemas.microsoft.com/office/drawing/2014/main" id="{086940C8-FD70-4D5E-94CB-DB2335C30717}"/>
              </a:ext>
            </a:extLst>
          </p:cNvPr>
          <p:cNvSpPr>
            <a:spLocks xmlns:a="http://schemas.openxmlformats.org/drawingml/2006/main" noGrp="1"/>
          </p:cNvSpPr>
          <p:nvPr/>
        </p:nvSpPr>
        <p:spPr>
          <a:xfrm xmlns:a="http://schemas.openxmlformats.org/drawingml/2006/main" rot="5400000">
            <a:off x="3238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ssb-ssb-multiply-g0-r0-tick0">
            <a:extLst xmlns:a="http://schemas.openxmlformats.org/drawingml/2006/main">
              <a:ext uri="{FF2B5EF4-FFF2-40B4-BE49-F238E27FC236}">
                <a16:creationId xmlns:a16="http://schemas.microsoft.com/office/drawing/2014/main" id="{495290B1-B3F7-4F30-8A3A-3F99F81FCCF8}"/>
              </a:ext>
            </a:extLst>
          </p:cNvPr>
          <p:cNvSpPr>
            <a:spLocks xmlns:a="http://schemas.openxmlformats.org/drawingml/2006/main" noGrp="1"/>
          </p:cNvSpPr>
          <p:nvPr/>
        </p:nvSpPr>
        <p:spPr>
          <a:xfrm xmlns:a="http://schemas.openxmlformats.org/drawingml/2006/main">
            <a:off x="1266825"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ssb-ssb-multiply-g0-r0-tick1">
            <a:extLst xmlns:a="http://schemas.openxmlformats.org/drawingml/2006/main">
              <a:ext uri="{FF2B5EF4-FFF2-40B4-BE49-F238E27FC236}">
                <a16:creationId xmlns:a16="http://schemas.microsoft.com/office/drawing/2014/main" id="{7EE2589C-F9DF-4AF3-9A1E-970D655C2056}"/>
              </a:ext>
            </a:extLst>
          </p:cNvPr>
          <p:cNvSpPr>
            <a:spLocks xmlns:a="http://schemas.openxmlformats.org/drawingml/2006/main" noGrp="1"/>
          </p:cNvSpPr>
          <p:nvPr/>
        </p:nvSpPr>
        <p:spPr>
          <a:xfrm xmlns:a="http://schemas.openxmlformats.org/drawingml/2006/main">
            <a:off x="1440656"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ssb-ssb-multiply-g0-r0-tick2">
            <a:extLst xmlns:a="http://schemas.openxmlformats.org/drawingml/2006/main">
              <a:ext uri="{FF2B5EF4-FFF2-40B4-BE49-F238E27FC236}">
                <a16:creationId xmlns:a16="http://schemas.microsoft.com/office/drawing/2014/main" id="{EDA77131-375E-4B3F-8D39-A674D01D8FF2}"/>
              </a:ext>
            </a:extLst>
          </p:cNvPr>
          <p:cNvSpPr>
            <a:spLocks xmlns:a="http://schemas.openxmlformats.org/drawingml/2006/main" noGrp="1"/>
          </p:cNvSpPr>
          <p:nvPr/>
        </p:nvSpPr>
        <p:spPr>
          <a:xfrm xmlns:a="http://schemas.openxmlformats.org/drawingml/2006/main">
            <a:off x="1962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ssb-ssb-multiply-g0-r0-tick3">
            <a:extLst xmlns:a="http://schemas.openxmlformats.org/drawingml/2006/main">
              <a:ext uri="{FF2B5EF4-FFF2-40B4-BE49-F238E27FC236}">
                <a16:creationId xmlns:a16="http://schemas.microsoft.com/office/drawing/2014/main" id="{32EB899C-645B-4AB9-A3B2-295298D4F69C}"/>
              </a:ext>
            </a:extLst>
          </p:cNvPr>
          <p:cNvSpPr>
            <a:spLocks xmlns:a="http://schemas.openxmlformats.org/drawingml/2006/main" noGrp="1"/>
          </p:cNvSpPr>
          <p:nvPr/>
        </p:nvSpPr>
        <p:spPr>
          <a:xfrm xmlns:a="http://schemas.openxmlformats.org/drawingml/2006/main">
            <a:off x="2483644"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ssb-ssb-multiply-g0-r0-tick4">
            <a:extLst xmlns:a="http://schemas.openxmlformats.org/drawingml/2006/main">
              <a:ext uri="{FF2B5EF4-FFF2-40B4-BE49-F238E27FC236}">
                <a16:creationId xmlns:a16="http://schemas.microsoft.com/office/drawing/2014/main" id="{8E30630B-814E-4A03-8B98-14BD30F41C22}"/>
              </a:ext>
            </a:extLst>
          </p:cNvPr>
          <p:cNvSpPr>
            <a:spLocks xmlns:a="http://schemas.openxmlformats.org/drawingml/2006/main" noGrp="1"/>
          </p:cNvSpPr>
          <p:nvPr/>
        </p:nvSpPr>
        <p:spPr>
          <a:xfrm xmlns:a="http://schemas.openxmlformats.org/drawingml/2006/main">
            <a:off x="2657475"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ssb-ssb-multiply-g1-r0-axis-line">
            <a:extLst xmlns:a="http://schemas.openxmlformats.org/drawingml/2006/main">
              <a:ext uri="{FF2B5EF4-FFF2-40B4-BE49-F238E27FC236}">
                <a16:creationId xmlns:a16="http://schemas.microsoft.com/office/drawing/2014/main" id="{C92DFAA1-D655-446C-A978-A59BE9CA1222}"/>
              </a:ext>
            </a:extLst>
          </p:cNvPr>
          <p:cNvSpPr>
            <a:spLocks xmlns:a="http://schemas.openxmlformats.org/drawingml/2006/main" noGrp="1"/>
          </p:cNvSpPr>
          <p:nvPr/>
        </p:nvSpPr>
        <p:spPr>
          <a:xfrm xmlns:a="http://schemas.openxmlformats.org/drawingml/2006/main">
            <a:off x="4572000" y="27813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ssb-ssb-multiply-g1-r0-axis-head">
            <a:extLst xmlns:a="http://schemas.openxmlformats.org/drawingml/2006/main">
              <a:ext uri="{FF2B5EF4-FFF2-40B4-BE49-F238E27FC236}">
                <a16:creationId xmlns:a16="http://schemas.microsoft.com/office/drawing/2014/main" id="{C3072C4D-BB1E-47ED-B509-71E74D23A347}"/>
              </a:ext>
            </a:extLst>
          </p:cNvPr>
          <p:cNvSpPr>
            <a:spLocks xmlns:a="http://schemas.openxmlformats.org/drawingml/2006/main" noGrp="1"/>
          </p:cNvSpPr>
          <p:nvPr/>
        </p:nvSpPr>
        <p:spPr>
          <a:xfrm xmlns:a="http://schemas.openxmlformats.org/drawingml/2006/main" rot="5400000">
            <a:off x="7239000" y="27336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6" name="!!ssb-ssb-multiply-g1-r0-tick0">
            <a:extLst xmlns:a="http://schemas.openxmlformats.org/drawingml/2006/main">
              <a:ext uri="{FF2B5EF4-FFF2-40B4-BE49-F238E27FC236}">
                <a16:creationId xmlns:a16="http://schemas.microsoft.com/office/drawing/2014/main" id="{241B893B-EC40-4CAE-A0E0-A61C09D44A32}"/>
              </a:ext>
            </a:extLst>
          </p:cNvPr>
          <p:cNvSpPr>
            <a:spLocks xmlns:a="http://schemas.openxmlformats.org/drawingml/2006/main" noGrp="1"/>
          </p:cNvSpPr>
          <p:nvPr/>
        </p:nvSpPr>
        <p:spPr>
          <a:xfrm xmlns:a="http://schemas.openxmlformats.org/drawingml/2006/main">
            <a:off x="4919663" y="27813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ssb-ssb-multiply-g1-r0-tick1">
            <a:extLst xmlns:a="http://schemas.openxmlformats.org/drawingml/2006/main">
              <a:ext uri="{FF2B5EF4-FFF2-40B4-BE49-F238E27FC236}">
                <a16:creationId xmlns:a16="http://schemas.microsoft.com/office/drawing/2014/main" id="{58A87811-52F9-46DC-9D87-BA45643D38C5}"/>
              </a:ext>
            </a:extLst>
          </p:cNvPr>
          <p:cNvSpPr>
            <a:spLocks xmlns:a="http://schemas.openxmlformats.org/drawingml/2006/main" noGrp="1"/>
          </p:cNvSpPr>
          <p:nvPr/>
        </p:nvSpPr>
        <p:spPr>
          <a:xfrm xmlns:a="http://schemas.openxmlformats.org/drawingml/2006/main">
            <a:off x="5962650" y="27813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ssb-ssb-multiply-g1-r0-tick2">
            <a:extLst xmlns:a="http://schemas.openxmlformats.org/drawingml/2006/main">
              <a:ext uri="{FF2B5EF4-FFF2-40B4-BE49-F238E27FC236}">
                <a16:creationId xmlns:a16="http://schemas.microsoft.com/office/drawing/2014/main" id="{C077526C-D1DD-4722-AF09-DD45845FE84F}"/>
              </a:ext>
            </a:extLst>
          </p:cNvPr>
          <p:cNvSpPr>
            <a:spLocks xmlns:a="http://schemas.openxmlformats.org/drawingml/2006/main" noGrp="1"/>
          </p:cNvSpPr>
          <p:nvPr/>
        </p:nvSpPr>
        <p:spPr>
          <a:xfrm xmlns:a="http://schemas.openxmlformats.org/drawingml/2006/main">
            <a:off x="7005638" y="278130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ssb-ssb-multiply-g1-r1-axis-line">
            <a:extLst xmlns:a="http://schemas.openxmlformats.org/drawingml/2006/main">
              <a:ext uri="{FF2B5EF4-FFF2-40B4-BE49-F238E27FC236}">
                <a16:creationId xmlns:a16="http://schemas.microsoft.com/office/drawing/2014/main" id="{76EC2029-6EE1-47DE-97B1-5D5A733DE9A3}"/>
              </a:ext>
            </a:extLst>
          </p:cNvPr>
          <p:cNvSpPr>
            <a:spLocks xmlns:a="http://schemas.openxmlformats.org/drawingml/2006/main" noGrp="1"/>
          </p:cNvSpPr>
          <p:nvPr/>
        </p:nvSpPr>
        <p:spPr>
          <a:xfrm xmlns:a="http://schemas.openxmlformats.org/drawingml/2006/main">
            <a:off x="4572000" y="40481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ssb-ssb-multiply-g1-r1-axis-head">
            <a:extLst xmlns:a="http://schemas.openxmlformats.org/drawingml/2006/main">
              <a:ext uri="{FF2B5EF4-FFF2-40B4-BE49-F238E27FC236}">
                <a16:creationId xmlns:a16="http://schemas.microsoft.com/office/drawing/2014/main" id="{610DAF28-6BF2-4766-BA25-ADB32F0142B9}"/>
              </a:ext>
            </a:extLst>
          </p:cNvPr>
          <p:cNvSpPr>
            <a:spLocks xmlns:a="http://schemas.openxmlformats.org/drawingml/2006/main" noGrp="1"/>
          </p:cNvSpPr>
          <p:nvPr/>
        </p:nvSpPr>
        <p:spPr>
          <a:xfrm xmlns:a="http://schemas.openxmlformats.org/drawingml/2006/main" rot="5400000">
            <a:off x="7239000" y="40005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1" name="!!ssb-ssb-multiply-g1-r1-tick0">
            <a:extLst xmlns:a="http://schemas.openxmlformats.org/drawingml/2006/main">
              <a:ext uri="{FF2B5EF4-FFF2-40B4-BE49-F238E27FC236}">
                <a16:creationId xmlns:a16="http://schemas.microsoft.com/office/drawing/2014/main" id="{16FFBA7C-0C31-4190-83D4-B427BE9B457F}"/>
              </a:ext>
            </a:extLst>
          </p:cNvPr>
          <p:cNvSpPr>
            <a:spLocks xmlns:a="http://schemas.openxmlformats.org/drawingml/2006/main" noGrp="1"/>
          </p:cNvSpPr>
          <p:nvPr/>
        </p:nvSpPr>
        <p:spPr>
          <a:xfrm xmlns:a="http://schemas.openxmlformats.org/drawingml/2006/main">
            <a:off x="4919663" y="40481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ssb-ssb-multiply-g1-r1-tick1">
            <a:extLst xmlns:a="http://schemas.openxmlformats.org/drawingml/2006/main">
              <a:ext uri="{FF2B5EF4-FFF2-40B4-BE49-F238E27FC236}">
                <a16:creationId xmlns:a16="http://schemas.microsoft.com/office/drawing/2014/main" id="{0C0D17AC-1F1F-40D2-B3ED-B22F3767F521}"/>
              </a:ext>
            </a:extLst>
          </p:cNvPr>
          <p:cNvSpPr>
            <a:spLocks xmlns:a="http://schemas.openxmlformats.org/drawingml/2006/main" noGrp="1"/>
          </p:cNvSpPr>
          <p:nvPr/>
        </p:nvSpPr>
        <p:spPr>
          <a:xfrm xmlns:a="http://schemas.openxmlformats.org/drawingml/2006/main">
            <a:off x="5962650" y="40481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ssb-ssb-multiply-g1-r1-tick2">
            <a:extLst xmlns:a="http://schemas.openxmlformats.org/drawingml/2006/main">
              <a:ext uri="{FF2B5EF4-FFF2-40B4-BE49-F238E27FC236}">
                <a16:creationId xmlns:a16="http://schemas.microsoft.com/office/drawing/2014/main" id="{7AAE0743-D413-496B-9AA6-148D7D1CDAF7}"/>
              </a:ext>
            </a:extLst>
          </p:cNvPr>
          <p:cNvSpPr>
            <a:spLocks xmlns:a="http://schemas.openxmlformats.org/drawingml/2006/main" noGrp="1"/>
          </p:cNvSpPr>
          <p:nvPr/>
        </p:nvSpPr>
        <p:spPr>
          <a:xfrm xmlns:a="http://schemas.openxmlformats.org/drawingml/2006/main">
            <a:off x="7005638" y="4048125"/>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ssb-ssb-multiply-g2-r0-axis-line">
            <a:extLst xmlns:a="http://schemas.openxmlformats.org/drawingml/2006/main">
              <a:ext uri="{FF2B5EF4-FFF2-40B4-BE49-F238E27FC236}">
                <a16:creationId xmlns:a16="http://schemas.microsoft.com/office/drawing/2014/main" id="{4A20A1BA-879D-4A20-9EC9-CD2730FA15E5}"/>
              </a:ext>
            </a:extLst>
          </p:cNvPr>
          <p:cNvSpPr>
            <a:spLocks xmlns:a="http://schemas.openxmlformats.org/drawingml/2006/main" noGrp="1"/>
          </p:cNvSpPr>
          <p:nvPr/>
        </p:nvSpPr>
        <p:spPr>
          <a:xfrm xmlns:a="http://schemas.openxmlformats.org/drawingml/2006/main">
            <a:off x="8572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ssb-ssb-multiply-g2-r0-axis-head">
            <a:extLst xmlns:a="http://schemas.openxmlformats.org/drawingml/2006/main">
              <a:ext uri="{FF2B5EF4-FFF2-40B4-BE49-F238E27FC236}">
                <a16:creationId xmlns:a16="http://schemas.microsoft.com/office/drawing/2014/main" id="{948F4AAD-AB23-45CB-9F7D-D17EF813E829}"/>
              </a:ext>
            </a:extLst>
          </p:cNvPr>
          <p:cNvSpPr>
            <a:spLocks xmlns:a="http://schemas.openxmlformats.org/drawingml/2006/main" noGrp="1"/>
          </p:cNvSpPr>
          <p:nvPr/>
        </p:nvSpPr>
        <p:spPr>
          <a:xfrm xmlns:a="http://schemas.openxmlformats.org/drawingml/2006/main" rot="5400000">
            <a:off x="11239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6" name="!!ssb-ssb-multiply-g2-r0-tick0">
            <a:extLst xmlns:a="http://schemas.openxmlformats.org/drawingml/2006/main">
              <a:ext uri="{FF2B5EF4-FFF2-40B4-BE49-F238E27FC236}">
                <a16:creationId xmlns:a16="http://schemas.microsoft.com/office/drawing/2014/main" id="{127DCC1F-D69C-4602-BAB7-F16C66CBF287}"/>
              </a:ext>
            </a:extLst>
          </p:cNvPr>
          <p:cNvSpPr>
            <a:spLocks xmlns:a="http://schemas.openxmlformats.org/drawingml/2006/main" noGrp="1"/>
          </p:cNvSpPr>
          <p:nvPr/>
        </p:nvSpPr>
        <p:spPr>
          <a:xfrm xmlns:a="http://schemas.openxmlformats.org/drawingml/2006/main">
            <a:off x="8920163"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ssb-ssb-multiply-g2-r0-tick1">
            <a:extLst xmlns:a="http://schemas.openxmlformats.org/drawingml/2006/main">
              <a:ext uri="{FF2B5EF4-FFF2-40B4-BE49-F238E27FC236}">
                <a16:creationId xmlns:a16="http://schemas.microsoft.com/office/drawing/2014/main" id="{624CE9AF-A501-4117-8695-699717120179}"/>
              </a:ext>
            </a:extLst>
          </p:cNvPr>
          <p:cNvSpPr>
            <a:spLocks xmlns:a="http://schemas.openxmlformats.org/drawingml/2006/main" noGrp="1"/>
          </p:cNvSpPr>
          <p:nvPr/>
        </p:nvSpPr>
        <p:spPr>
          <a:xfrm xmlns:a="http://schemas.openxmlformats.org/drawingml/2006/main">
            <a:off x="9963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ssb-ssb-multiply-g2-r0-tick2">
            <a:extLst xmlns:a="http://schemas.openxmlformats.org/drawingml/2006/main">
              <a:ext uri="{FF2B5EF4-FFF2-40B4-BE49-F238E27FC236}">
                <a16:creationId xmlns:a16="http://schemas.microsoft.com/office/drawing/2014/main" id="{1B2A700C-33DE-45A9-8EAB-50F211EFB02F}"/>
              </a:ext>
            </a:extLst>
          </p:cNvPr>
          <p:cNvSpPr>
            <a:spLocks xmlns:a="http://schemas.openxmlformats.org/drawingml/2006/main" noGrp="1"/>
          </p:cNvSpPr>
          <p:nvPr/>
        </p:nvSpPr>
        <p:spPr>
          <a:xfrm xmlns:a="http://schemas.openxmlformats.org/drawingml/2006/main">
            <a:off x="11006138"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ssb-ssb-multiply-g0-un">
            <a:extLst xmlns:a="http://schemas.openxmlformats.org/drawingml/2006/main">
              <a:ext uri="{FF2B5EF4-FFF2-40B4-BE49-F238E27FC236}">
                <a16:creationId xmlns:a16="http://schemas.microsoft.com/office/drawing/2014/main" id="{12CAB84C-DA4D-4798-B3BD-E3B4F9D32149}"/>
              </a:ext>
            </a:extLst>
          </p:cNvPr>
          <p:cNvSpPr>
            <a:spLocks xmlns:a="http://schemas.openxmlformats.org/drawingml/2006/main" noGrp="1"/>
          </p:cNvSpPr>
          <p:nvPr/>
        </p:nvSpPr>
        <p:spPr>
          <a:xfrm xmlns:a="http://schemas.openxmlformats.org/drawingml/2006/main">
            <a:off x="1266825" y="31575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30" name="!!ssb-ssb-multiply-g0-up">
            <a:extLst xmlns:a="http://schemas.openxmlformats.org/drawingml/2006/main">
              <a:ext uri="{FF2B5EF4-FFF2-40B4-BE49-F238E27FC236}">
                <a16:creationId xmlns:a16="http://schemas.microsoft.com/office/drawing/2014/main" id="{11CF46D4-E445-4DDB-85F4-E4A9ADA85F07}"/>
              </a:ext>
            </a:extLst>
          </p:cNvPr>
          <p:cNvSpPr>
            <a:spLocks xmlns:a="http://schemas.openxmlformats.org/drawingml/2006/main" noGrp="1"/>
          </p:cNvSpPr>
          <p:nvPr/>
        </p:nvSpPr>
        <p:spPr>
          <a:xfrm xmlns:a="http://schemas.openxmlformats.org/drawingml/2006/main">
            <a:off x="2483644" y="31575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31" name="!!ssb-ssb-multiply-arrow-line">
            <a:extLst xmlns:a="http://schemas.openxmlformats.org/drawingml/2006/main">
              <a:ext uri="{FF2B5EF4-FFF2-40B4-BE49-F238E27FC236}">
                <a16:creationId xmlns:a16="http://schemas.microsoft.com/office/drawing/2014/main" id="{DDC4FA14-52BA-4746-A47F-4C7C60BC8342}"/>
              </a:ext>
            </a:extLst>
          </p:cNvPr>
          <p:cNvSpPr>
            <a:spLocks xmlns:a="http://schemas.openxmlformats.org/drawingml/2006/main" noGrp="1"/>
          </p:cNvSpPr>
          <p:nvPr/>
        </p:nvSpPr>
        <p:spPr>
          <a:xfrm xmlns:a="http://schemas.openxmlformats.org/drawingml/2006/main">
            <a:off x="3581400" y="338137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2" name="!!ssb-ssb-multiply-arrow-head">
            <a:extLst xmlns:a="http://schemas.openxmlformats.org/drawingml/2006/main">
              <a:ext uri="{FF2B5EF4-FFF2-40B4-BE49-F238E27FC236}">
                <a16:creationId xmlns:a16="http://schemas.microsoft.com/office/drawing/2014/main" id="{5915A132-E7FB-4DDB-A4B6-CEC0FE58075C}"/>
              </a:ext>
            </a:extLst>
          </p:cNvPr>
          <p:cNvSpPr>
            <a:spLocks xmlns:a="http://schemas.openxmlformats.org/drawingml/2006/main" noGrp="1"/>
          </p:cNvSpPr>
          <p:nvPr/>
        </p:nvSpPr>
        <p:spPr>
          <a:xfrm xmlns:a="http://schemas.openxmlformats.org/drawingml/2006/main" rot="5400000">
            <a:off x="4229100" y="3333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3" name="!!ssb-ssb-multiply-g1-0-on">
            <a:extLst xmlns:a="http://schemas.openxmlformats.org/drawingml/2006/main">
              <a:ext uri="{FF2B5EF4-FFF2-40B4-BE49-F238E27FC236}">
                <a16:creationId xmlns:a16="http://schemas.microsoft.com/office/drawing/2014/main" id="{D9152D2B-5A6A-44D5-8F26-9BDE8155D8C0}"/>
              </a:ext>
            </a:extLst>
          </p:cNvPr>
          <p:cNvSpPr>
            <a:spLocks xmlns:a="http://schemas.openxmlformats.org/drawingml/2006/main" noGrp="1"/>
          </p:cNvSpPr>
          <p:nvPr/>
        </p:nvSpPr>
        <p:spPr>
          <a:xfrm xmlns:a="http://schemas.openxmlformats.org/drawingml/2006/main">
            <a:off x="4745831" y="241458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34" name="!!ssb-ssb-multiply-g1-0-in-p">
            <a:extLst xmlns:a="http://schemas.openxmlformats.org/drawingml/2006/main">
              <a:ext uri="{FF2B5EF4-FFF2-40B4-BE49-F238E27FC236}">
                <a16:creationId xmlns:a16="http://schemas.microsoft.com/office/drawing/2014/main" id="{F43C043C-248B-4D08-B6BB-232F85348ED2}"/>
              </a:ext>
            </a:extLst>
          </p:cNvPr>
          <p:cNvSpPr>
            <a:spLocks xmlns:a="http://schemas.openxmlformats.org/drawingml/2006/main" noGrp="1"/>
          </p:cNvSpPr>
          <p:nvPr/>
        </p:nvSpPr>
        <p:spPr>
          <a:xfrm xmlns:a="http://schemas.openxmlformats.org/drawingml/2006/main">
            <a:off x="5962650" y="241458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35" name="!!ssb-ssb-multiply-g1-1-op">
            <a:extLst xmlns:a="http://schemas.openxmlformats.org/drawingml/2006/main">
              <a:ext uri="{FF2B5EF4-FFF2-40B4-BE49-F238E27FC236}">
                <a16:creationId xmlns:a16="http://schemas.microsoft.com/office/drawing/2014/main" id="{6C0CBDBD-231C-4BA7-9906-E22963D48B2A}"/>
              </a:ext>
            </a:extLst>
          </p:cNvPr>
          <p:cNvSpPr>
            <a:spLocks xmlns:a="http://schemas.openxmlformats.org/drawingml/2006/main" noGrp="1"/>
          </p:cNvSpPr>
          <p:nvPr/>
        </p:nvSpPr>
        <p:spPr>
          <a:xfrm xmlns:a="http://schemas.openxmlformats.org/drawingml/2006/main">
            <a:off x="7005638" y="3681413"/>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36" name="!!ssb-ssb-multiply-g1-1-in-n">
            <a:extLst xmlns:a="http://schemas.openxmlformats.org/drawingml/2006/main">
              <a:ext uri="{FF2B5EF4-FFF2-40B4-BE49-F238E27FC236}">
                <a16:creationId xmlns:a16="http://schemas.microsoft.com/office/drawing/2014/main" id="{CA7383FB-8B40-4F58-A4EA-9DE6FDBD663D}"/>
              </a:ext>
            </a:extLst>
          </p:cNvPr>
          <p:cNvSpPr>
            <a:spLocks xmlns:a="http://schemas.openxmlformats.org/drawingml/2006/main" noGrp="1"/>
          </p:cNvSpPr>
          <p:nvPr/>
        </p:nvSpPr>
        <p:spPr>
          <a:xfrm xmlns:a="http://schemas.openxmlformats.org/drawingml/2006/main">
            <a:off x="5788819" y="3681413"/>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37" name="!!ssb-ssb-add-arrow-line">
            <a:extLst xmlns:a="http://schemas.openxmlformats.org/drawingml/2006/main">
              <a:ext uri="{FF2B5EF4-FFF2-40B4-BE49-F238E27FC236}">
                <a16:creationId xmlns:a16="http://schemas.microsoft.com/office/drawing/2014/main" id="{F0E91862-4B65-49CB-B8E0-71E206F22989}"/>
              </a:ext>
            </a:extLst>
          </p:cNvPr>
          <p:cNvSpPr>
            <a:spLocks xmlns:a="http://schemas.openxmlformats.org/drawingml/2006/main" noGrp="1"/>
          </p:cNvSpPr>
          <p:nvPr/>
        </p:nvSpPr>
        <p:spPr>
          <a:xfrm xmlns:a="http://schemas.openxmlformats.org/drawingml/2006/main">
            <a:off x="7581900" y="338137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8" name="!!ssb-ssb-add-arrow-head">
            <a:extLst xmlns:a="http://schemas.openxmlformats.org/drawingml/2006/main">
              <a:ext uri="{FF2B5EF4-FFF2-40B4-BE49-F238E27FC236}">
                <a16:creationId xmlns:a16="http://schemas.microsoft.com/office/drawing/2014/main" id="{55EE278B-D79E-4B8A-910A-920CC742DFDA}"/>
              </a:ext>
            </a:extLst>
          </p:cNvPr>
          <p:cNvSpPr>
            <a:spLocks xmlns:a="http://schemas.openxmlformats.org/drawingml/2006/main" noGrp="1"/>
          </p:cNvSpPr>
          <p:nvPr/>
        </p:nvSpPr>
        <p:spPr>
          <a:xfrm xmlns:a="http://schemas.openxmlformats.org/drawingml/2006/main" rot="5400000">
            <a:off x="8229600" y="3333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9" name="!!ssb-ssb-multiply-g2-on">
            <a:extLst xmlns:a="http://schemas.openxmlformats.org/drawingml/2006/main">
              <a:ext uri="{FF2B5EF4-FFF2-40B4-BE49-F238E27FC236}">
                <a16:creationId xmlns:a16="http://schemas.microsoft.com/office/drawing/2014/main" id="{84DDE61A-6CB1-4D40-BD34-F09D49A2DDAD}"/>
              </a:ext>
            </a:extLst>
          </p:cNvPr>
          <p:cNvSpPr>
            <a:spLocks xmlns:a="http://schemas.openxmlformats.org/drawingml/2006/main" noGrp="1"/>
          </p:cNvSpPr>
          <p:nvPr/>
        </p:nvSpPr>
        <p:spPr>
          <a:xfrm xmlns:a="http://schemas.openxmlformats.org/drawingml/2006/main">
            <a:off x="8746331" y="31575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40" name="!!ssb-ssb-multiply-g2-op">
            <a:extLst xmlns:a="http://schemas.openxmlformats.org/drawingml/2006/main">
              <a:ext uri="{FF2B5EF4-FFF2-40B4-BE49-F238E27FC236}">
                <a16:creationId xmlns:a16="http://schemas.microsoft.com/office/drawing/2014/main" id="{09820B38-8594-432C-A305-2AC8289A7E12}"/>
              </a:ext>
            </a:extLst>
          </p:cNvPr>
          <p:cNvSpPr>
            <a:spLocks xmlns:a="http://schemas.openxmlformats.org/drawingml/2006/main" noGrp="1"/>
          </p:cNvSpPr>
          <p:nvPr/>
        </p:nvSpPr>
        <p:spPr>
          <a:xfrm xmlns:a="http://schemas.openxmlformats.org/drawingml/2006/main">
            <a:off x="11006138" y="31575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41" name="!!ssb-ssb-multiply-g2-in-n">
            <a:extLst xmlns:a="http://schemas.openxmlformats.org/drawingml/2006/main">
              <a:ext uri="{FF2B5EF4-FFF2-40B4-BE49-F238E27FC236}">
                <a16:creationId xmlns:a16="http://schemas.microsoft.com/office/drawing/2014/main" id="{15681A1A-9447-47BF-9BAF-95000BE38518}"/>
              </a:ext>
            </a:extLst>
          </p:cNvPr>
          <p:cNvSpPr>
            <a:spLocks xmlns:a="http://schemas.openxmlformats.org/drawingml/2006/main" noGrp="1"/>
          </p:cNvSpPr>
          <p:nvPr/>
        </p:nvSpPr>
        <p:spPr>
          <a:xfrm xmlns:a="http://schemas.openxmlformats.org/drawingml/2006/main">
            <a:off x="9789319" y="31575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42" name="!!ssb-ssb-multiply-g2-in-p">
            <a:extLst xmlns:a="http://schemas.openxmlformats.org/drawingml/2006/main">
              <a:ext uri="{FF2B5EF4-FFF2-40B4-BE49-F238E27FC236}">
                <a16:creationId xmlns:a16="http://schemas.microsoft.com/office/drawing/2014/main" id="{85AF0A41-9BBF-4A36-A395-C74B47EB0403}"/>
              </a:ext>
            </a:extLst>
          </p:cNvPr>
          <p:cNvSpPr>
            <a:spLocks xmlns:a="http://schemas.openxmlformats.org/drawingml/2006/main" noGrp="1"/>
          </p:cNvSpPr>
          <p:nvPr/>
        </p:nvSpPr>
        <p:spPr>
          <a:xfrm xmlns:a="http://schemas.openxmlformats.org/drawingml/2006/main">
            <a:off x="9963150" y="31575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pic>
        <p:nvPicPr>
          <p:cNvPr id="119" name="!!ssb-route-m" descr="m(t)">
            <ns0:hlinkClick xmlns:ns0="http://schemas.openxmlformats.org/drawingml/2006/main" xmlns:ns1="http://schemas.openxmlformats.org/officeDocument/2006/relationships" ns1:id="rIdmethods_Link14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c10b61fb5f0949a3">
            <a:extLst>
              <a:ext uri="{96DAC541-7B7A-43D3-8B79-37D633B846F1}">
                <ns0:svgBlip xmlns:ns0="http://schemas.microsoft.com/office/drawing/2016/SVG/main" r:embed="rIdVectormf00639"/>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120" name="!!ssb-route-s" descr="s(t)">
            <ns0:hlinkClick xmlns:ns0="http://schemas.openxmlformats.org/drawingml/2006/main" xmlns:ns1="http://schemas.openxmlformats.org/officeDocument/2006/relationships" ns1:id="rIdmethods_Link14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837707c042304ec3">
            <a:extLst>
              <a:ext uri="{96DAC541-7B7A-43D3-8B79-37D633B846F1}">
                <ns1:svgBlip xmlns:ns1="http://schemas.microsoft.com/office/drawing/2016/SVG/main" r:embed="rIdVectormf00640"/>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121" name="!!ssb-route-restored" descr="m(t)">
            <ns0:hlinkClick xmlns:ns0="http://schemas.openxmlformats.org/drawingml/2006/main" xmlns:ns1="http://schemas.openxmlformats.org/officeDocument/2006/relationships" ns1:id="rIdmethods_Link14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89a2bcd882b84d0e">
            <a:extLst>
              <a:ext uri="{96DAC541-7B7A-43D3-8B79-37D633B846F1}">
                <ns2:svgBlip xmlns:ns2="http://schemas.microsoft.com/office/drawing/2016/SVG/main" r:embed="rIdVectormf00641"/>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122" name="!!ssb-ssb-multiply-g0-r0-domain" descr="f"/>
          <p:cNvPicPr>
            <a:picLocks xmlns:a="http://schemas.openxmlformats.org/drawingml/2006/main" noChangeAspect="1"/>
          </p:cNvPicPr>
          <p:nvPr/>
        </p:nvPicPr>
        <p:blipFill>
          <a:blip xmlns:r="http://schemas.openxmlformats.org/officeDocument/2006/relationships" xmlns:a="http://schemas.openxmlformats.org/drawingml/2006/main" r:embed="Re111a945e51d4964">
            <a:extLst>
              <a:ext uri="{96DAC541-7B7A-43D3-8B79-37D633B846F1}">
                <ns3:svgBlip xmlns:ns3="http://schemas.microsoft.com/office/drawing/2016/SVG/main" r:embed="rIdVectormf00642"/>
              </a:ext>
            </a:extLst>
          </a:blip>
          <a:stretch xmlns:a="http://schemas.openxmlformats.org/drawingml/2006/main"/>
        </p:blipFill>
        <p:spPr>
          <a:xfrm xmlns:a="http://schemas.openxmlformats.org/drawingml/2006/main">
            <a:off x="3374873" y="3311843"/>
            <a:ext cx="79678" cy="120015"/>
          </a:xfrm>
          <a:prstGeom xmlns:a="http://schemas.openxmlformats.org/drawingml/2006/main" prst="rect">
            <a:avLst/>
          </a:prstGeom>
        </p:spPr>
      </p:pic>
      <p:pic>
        <p:nvPicPr>
          <p:cNvPr id="123" name="!!ssb-ssb-multiply-g0-r0-ticklabel0" descr="-f_c-W"/>
          <p:cNvPicPr>
            <a:picLocks xmlns:a="http://schemas.openxmlformats.org/drawingml/2006/main" noChangeAspect="1"/>
          </p:cNvPicPr>
          <p:nvPr/>
        </p:nvPicPr>
        <p:blipFill>
          <a:blip xmlns:r="http://schemas.openxmlformats.org/officeDocument/2006/relationships" xmlns:a="http://schemas.openxmlformats.org/drawingml/2006/main" r:embed="R98f7c4d8325f45a2">
            <a:extLst>
              <a:ext uri="{96DAC541-7B7A-43D3-8B79-37D633B846F1}">
                <ns4:svgBlip xmlns:ns4="http://schemas.microsoft.com/office/drawing/2016/SVG/main" r:embed="rIdVectormf00643"/>
              </a:ext>
            </a:extLst>
          </a:blip>
          <a:stretch xmlns:a="http://schemas.openxmlformats.org/drawingml/2006/main"/>
        </p:blipFill>
        <p:spPr>
          <a:xfrm xmlns:a="http://schemas.openxmlformats.org/drawingml/2006/main">
            <a:off x="917321" y="3646170"/>
            <a:ext cx="699008" cy="137160"/>
          </a:xfrm>
          <a:prstGeom xmlns:a="http://schemas.openxmlformats.org/drawingml/2006/main" prst="rect">
            <a:avLst/>
          </a:prstGeom>
        </p:spPr>
      </p:pic>
      <p:pic>
        <p:nvPicPr>
          <p:cNvPr id="124" name="!!ssb-ssb-multiply-g0-r0-ticklabel1" descr="-f_c"/>
          <p:cNvPicPr>
            <a:picLocks xmlns:a="http://schemas.openxmlformats.org/drawingml/2006/main" noChangeAspect="1"/>
          </p:cNvPicPr>
          <p:nvPr/>
        </p:nvPicPr>
        <p:blipFill>
          <a:blip xmlns:r="http://schemas.openxmlformats.org/officeDocument/2006/relationships" xmlns:a="http://schemas.openxmlformats.org/drawingml/2006/main" r:embed="R1b7767b405304933">
            <a:extLst>
              <a:ext uri="{96DAC541-7B7A-43D3-8B79-37D633B846F1}">
                <ns5:svgBlip xmlns:ns5="http://schemas.microsoft.com/office/drawing/2016/SVG/main" r:embed="rIdVectormf00644"/>
              </a:ext>
            </a:extLst>
          </a:blip>
          <a:stretch xmlns:a="http://schemas.openxmlformats.org/drawingml/2006/main"/>
        </p:blipFill>
        <p:spPr>
          <a:xfrm xmlns:a="http://schemas.openxmlformats.org/drawingml/2006/main">
            <a:off x="1306842" y="3846195"/>
            <a:ext cx="267629" cy="137160"/>
          </a:xfrm>
          <a:prstGeom xmlns:a="http://schemas.openxmlformats.org/drawingml/2006/main" prst="rect">
            <a:avLst/>
          </a:prstGeom>
        </p:spPr>
      </p:pic>
      <p:pic>
        <p:nvPicPr>
          <p:cNvPr id="125" name="!!ssb-ssb-multiply-g0-r0-ticklabel2" descr="0"/>
          <p:cNvPicPr>
            <a:picLocks xmlns:a="http://schemas.openxmlformats.org/drawingml/2006/main" noChangeAspect="1"/>
          </p:cNvPicPr>
          <p:nvPr/>
        </p:nvPicPr>
        <p:blipFill>
          <a:blip xmlns:r="http://schemas.openxmlformats.org/officeDocument/2006/relationships" xmlns:a="http://schemas.openxmlformats.org/drawingml/2006/main" r:embed="R0dd6ac2e11414770">
            <a:extLst>
              <a:ext uri="{96DAC541-7B7A-43D3-8B79-37D633B846F1}">
                <ns6:svgBlip xmlns:ns6="http://schemas.microsoft.com/office/drawing/2016/SVG/main" r:embed="rIdVectormf00645"/>
              </a:ext>
            </a:extLst>
          </a:blip>
          <a:stretch xmlns:a="http://schemas.openxmlformats.org/drawingml/2006/main"/>
        </p:blipFill>
        <p:spPr>
          <a:xfrm xmlns:a="http://schemas.openxmlformats.org/drawingml/2006/main">
            <a:off x="1916175" y="3663315"/>
            <a:ext cx="91951" cy="102870"/>
          </a:xfrm>
          <a:prstGeom xmlns:a="http://schemas.openxmlformats.org/drawingml/2006/main" prst="rect">
            <a:avLst/>
          </a:prstGeom>
        </p:spPr>
      </p:pic>
      <p:pic>
        <p:nvPicPr>
          <p:cNvPr id="126" name="!!ssb-ssb-multiply-g0-r0-ticklabel3" descr="f_c"/>
          <p:cNvPicPr>
            <a:picLocks xmlns:a="http://schemas.openxmlformats.org/drawingml/2006/main" noChangeAspect="1"/>
          </p:cNvPicPr>
          <p:nvPr/>
        </p:nvPicPr>
        <p:blipFill>
          <a:blip xmlns:r="http://schemas.openxmlformats.org/officeDocument/2006/relationships" xmlns:a="http://schemas.openxmlformats.org/drawingml/2006/main" r:embed="Ra098bdf5a7b1428b">
            <a:extLst>
              <a:ext uri="{96DAC541-7B7A-43D3-8B79-37D633B846F1}">
                <ns7:svgBlip xmlns:ns7="http://schemas.microsoft.com/office/drawing/2016/SVG/main" r:embed="rIdVectormf00646"/>
              </a:ext>
            </a:extLst>
          </a:blip>
          <a:stretch xmlns:a="http://schemas.openxmlformats.org/drawingml/2006/main"/>
        </p:blipFill>
        <p:spPr>
          <a:xfrm xmlns:a="http://schemas.openxmlformats.org/drawingml/2006/main">
            <a:off x="2422343" y="3646170"/>
            <a:ext cx="122601" cy="137160"/>
          </a:xfrm>
          <a:prstGeom xmlns:a="http://schemas.openxmlformats.org/drawingml/2006/main" prst="rect">
            <a:avLst/>
          </a:prstGeom>
        </p:spPr>
      </p:pic>
      <p:pic>
        <p:nvPicPr>
          <p:cNvPr id="127" name="!!ssb-ssb-multiply-g0-r0-ticklabel4" descr="f_c+W"/>
          <p:cNvPicPr>
            <a:picLocks xmlns:a="http://schemas.openxmlformats.org/drawingml/2006/main" noChangeAspect="1"/>
          </p:cNvPicPr>
          <p:nvPr/>
        </p:nvPicPr>
        <p:blipFill>
          <a:blip xmlns:r="http://schemas.openxmlformats.org/officeDocument/2006/relationships" xmlns:a="http://schemas.openxmlformats.org/drawingml/2006/main" r:embed="R824dd028ddd2456a">
            <a:extLst>
              <a:ext uri="{96DAC541-7B7A-43D3-8B79-37D633B846F1}">
                <ns8:svgBlip xmlns:ns8="http://schemas.microsoft.com/office/drawing/2016/SVG/main" r:embed="rIdVectormf00647"/>
              </a:ext>
            </a:extLst>
          </a:blip>
          <a:stretch xmlns:a="http://schemas.openxmlformats.org/drawingml/2006/main"/>
        </p:blipFill>
        <p:spPr>
          <a:xfrm xmlns:a="http://schemas.openxmlformats.org/drawingml/2006/main">
            <a:off x="2381123" y="3846195"/>
            <a:ext cx="552704" cy="137160"/>
          </a:xfrm>
          <a:prstGeom xmlns:a="http://schemas.openxmlformats.org/drawingml/2006/main" prst="rect">
            <a:avLst/>
          </a:prstGeom>
        </p:spPr>
      </p:pic>
      <p:pic>
        <p:nvPicPr>
          <p:cNvPr id="128" name="!!ssb-ssb-multiply-g0-r0-label" descr="\textstyle S(f)"/>
          <p:cNvPicPr>
            <a:picLocks xmlns:a="http://schemas.openxmlformats.org/drawingml/2006/main" noChangeAspect="1"/>
          </p:cNvPicPr>
          <p:nvPr/>
        </p:nvPicPr>
        <p:blipFill>
          <a:blip xmlns:r="http://schemas.openxmlformats.org/officeDocument/2006/relationships" xmlns:a="http://schemas.openxmlformats.org/drawingml/2006/main" r:embed="Ra29a6c2ef809479a">
            <a:extLst>
              <a:ext uri="{96DAC541-7B7A-43D3-8B79-37D633B846F1}">
                <ns9:svgBlip xmlns:ns9="http://schemas.microsoft.com/office/drawing/2016/SVG/main" r:embed="rIdVectormf00648"/>
              </a:ext>
            </a:extLst>
          </a:blip>
          <a:stretch xmlns:a="http://schemas.openxmlformats.org/drawingml/2006/main"/>
        </p:blipFill>
        <p:spPr>
          <a:xfrm xmlns:a="http://schemas.openxmlformats.org/drawingml/2006/main">
            <a:off x="571500" y="2381250"/>
            <a:ext cx="419100" cy="209550"/>
          </a:xfrm>
          <a:prstGeom xmlns:a="http://schemas.openxmlformats.org/drawingml/2006/main" prst="rect">
            <a:avLst/>
          </a:prstGeom>
        </p:spPr>
      </p:pic>
      <p:pic>
        <p:nvPicPr>
          <p:cNvPr id="129" name="!!ssb-ssb-multiply-g1-r0-domain" descr="f"/>
          <p:cNvPicPr>
            <a:picLocks xmlns:a="http://schemas.openxmlformats.org/drawingml/2006/main" noChangeAspect="1"/>
          </p:cNvPicPr>
          <p:nvPr/>
        </p:nvPicPr>
        <p:blipFill>
          <a:blip xmlns:r="http://schemas.openxmlformats.org/officeDocument/2006/relationships" xmlns:a="http://schemas.openxmlformats.org/drawingml/2006/main" r:embed="R5cad7025dfbe4a2f">
            <a:extLst>
              <a:ext uri="{96DAC541-7B7A-43D3-8B79-37D633B846F1}">
                <ns10:svgBlip xmlns:ns10="http://schemas.microsoft.com/office/drawing/2016/SVG/main" r:embed="rIdVectormf00649"/>
              </a:ext>
            </a:extLst>
          </a:blip>
          <a:stretch xmlns:a="http://schemas.openxmlformats.org/drawingml/2006/main"/>
        </p:blipFill>
        <p:spPr>
          <a:xfrm xmlns:a="http://schemas.openxmlformats.org/drawingml/2006/main">
            <a:off x="7375373" y="2568893"/>
            <a:ext cx="79678" cy="120015"/>
          </a:xfrm>
          <a:prstGeom xmlns:a="http://schemas.openxmlformats.org/drawingml/2006/main" prst="rect">
            <a:avLst/>
          </a:prstGeom>
        </p:spPr>
      </p:pic>
      <p:pic>
        <p:nvPicPr>
          <p:cNvPr id="130" name="!!ssb-ssb-multiply-g1-r0-ticklabel0" descr="-2f_c"/>
          <p:cNvPicPr>
            <a:picLocks xmlns:a="http://schemas.openxmlformats.org/drawingml/2006/main" noChangeAspect="1"/>
          </p:cNvPicPr>
          <p:nvPr/>
        </p:nvPicPr>
        <p:blipFill>
          <a:blip xmlns:r="http://schemas.openxmlformats.org/officeDocument/2006/relationships" xmlns:a="http://schemas.openxmlformats.org/drawingml/2006/main" r:embed="R3a862eecdea74115">
            <a:extLst>
              <a:ext uri="{96DAC541-7B7A-43D3-8B79-37D633B846F1}">
                <ns11:svgBlip xmlns:ns11="http://schemas.microsoft.com/office/drawing/2016/SVG/main" r:embed="rIdVectormf00650"/>
              </a:ext>
            </a:extLst>
          </a:blip>
          <a:stretch xmlns:a="http://schemas.openxmlformats.org/drawingml/2006/main"/>
        </p:blipFill>
        <p:spPr>
          <a:xfrm xmlns:a="http://schemas.openxmlformats.org/drawingml/2006/main">
            <a:off x="4738158" y="2903220"/>
            <a:ext cx="363010" cy="137160"/>
          </a:xfrm>
          <a:prstGeom xmlns:a="http://schemas.openxmlformats.org/drawingml/2006/main" prst="rect">
            <a:avLst/>
          </a:prstGeom>
        </p:spPr>
      </p:pic>
      <p:pic>
        <p:nvPicPr>
          <p:cNvPr id="131" name="!!ssb-ssb-multiply-g1-r0-ticklabel1" descr="0"/>
          <p:cNvPicPr>
            <a:picLocks xmlns:a="http://schemas.openxmlformats.org/drawingml/2006/main" noChangeAspect="1"/>
          </p:cNvPicPr>
          <p:nvPr/>
        </p:nvPicPr>
        <p:blipFill>
          <a:blip xmlns:r="http://schemas.openxmlformats.org/officeDocument/2006/relationships" xmlns:a="http://schemas.openxmlformats.org/drawingml/2006/main" r:embed="Ra9cfe0365fe64e50">
            <a:extLst>
              <a:ext uri="{96DAC541-7B7A-43D3-8B79-37D633B846F1}">
                <ns12:svgBlip xmlns:ns12="http://schemas.microsoft.com/office/drawing/2016/SVG/main" r:embed="rIdVectormf00651"/>
              </a:ext>
            </a:extLst>
          </a:blip>
          <a:stretch xmlns:a="http://schemas.openxmlformats.org/drawingml/2006/main"/>
        </p:blipFill>
        <p:spPr>
          <a:xfrm xmlns:a="http://schemas.openxmlformats.org/drawingml/2006/main">
            <a:off x="5916675" y="2920365"/>
            <a:ext cx="91951" cy="102870"/>
          </a:xfrm>
          <a:prstGeom xmlns:a="http://schemas.openxmlformats.org/drawingml/2006/main" prst="rect">
            <a:avLst/>
          </a:prstGeom>
        </p:spPr>
      </p:pic>
      <p:pic>
        <p:nvPicPr>
          <p:cNvPr id="132" name="!!ssb-ssb-multiply-g1-r0-ticklabel2" descr="2f_c"/>
          <p:cNvPicPr>
            <a:picLocks xmlns:a="http://schemas.openxmlformats.org/drawingml/2006/main" noChangeAspect="1"/>
          </p:cNvPicPr>
          <p:nvPr/>
        </p:nvPicPr>
        <p:blipFill>
          <a:blip xmlns:r="http://schemas.openxmlformats.org/officeDocument/2006/relationships" xmlns:a="http://schemas.openxmlformats.org/drawingml/2006/main" r:embed="R659945ec7add4fae">
            <a:extLst>
              <a:ext uri="{96DAC541-7B7A-43D3-8B79-37D633B846F1}">
                <ns13:svgBlip xmlns:ns13="http://schemas.microsoft.com/office/drawing/2016/SVG/main" r:embed="rIdVectormf00652"/>
              </a:ext>
            </a:extLst>
          </a:blip>
          <a:stretch xmlns:a="http://schemas.openxmlformats.org/drawingml/2006/main"/>
        </p:blipFill>
        <p:spPr>
          <a:xfrm xmlns:a="http://schemas.openxmlformats.org/drawingml/2006/main">
            <a:off x="6897531" y="2903220"/>
            <a:ext cx="216213" cy="137160"/>
          </a:xfrm>
          <a:prstGeom xmlns:a="http://schemas.openxmlformats.org/drawingml/2006/main" prst="rect">
            <a:avLst/>
          </a:prstGeom>
        </p:spPr>
      </p:pic>
      <p:pic>
        <p:nvPicPr>
          <p:cNvPr id="133" name="!!ssb-ssb-multiply-g1-r0-label" descr="\textstyle \frac{A'_c}{2}S(f+f_c)"/>
          <p:cNvPicPr>
            <a:picLocks xmlns:a="http://schemas.openxmlformats.org/drawingml/2006/main" noChangeAspect="1"/>
          </p:cNvPicPr>
          <p:nvPr/>
        </p:nvPicPr>
        <p:blipFill>
          <a:blip xmlns:r="http://schemas.openxmlformats.org/officeDocument/2006/relationships" xmlns:a="http://schemas.openxmlformats.org/drawingml/2006/main" r:embed="Rd5e03ba421d04e8a">
            <a:extLst>
              <a:ext uri="{96DAC541-7B7A-43D3-8B79-37D633B846F1}">
                <ns14:svgBlip xmlns:ns14="http://schemas.microsoft.com/office/drawing/2016/SVG/main" r:embed="rIdVectormf00653"/>
              </a:ext>
            </a:extLst>
          </a:blip>
          <a:stretch xmlns:a="http://schemas.openxmlformats.org/drawingml/2006/main"/>
        </p:blipFill>
        <p:spPr>
          <a:xfrm xmlns:a="http://schemas.openxmlformats.org/drawingml/2006/main">
            <a:off x="4572000" y="2036763"/>
            <a:ext cx="1097280" cy="298450"/>
          </a:xfrm>
          <a:prstGeom xmlns:a="http://schemas.openxmlformats.org/drawingml/2006/main" prst="rect">
            <a:avLst/>
          </a:prstGeom>
        </p:spPr>
      </p:pic>
      <p:pic>
        <p:nvPicPr>
          <p:cNvPr id="134" name="!!ssb-ssb-multiply-g1-r1-domain" descr="f"/>
          <p:cNvPicPr>
            <a:picLocks xmlns:a="http://schemas.openxmlformats.org/drawingml/2006/main" noChangeAspect="1"/>
          </p:cNvPicPr>
          <p:nvPr/>
        </p:nvPicPr>
        <p:blipFill>
          <a:blip xmlns:r="http://schemas.openxmlformats.org/officeDocument/2006/relationships" xmlns:a="http://schemas.openxmlformats.org/drawingml/2006/main" r:embed="Raeb00f8a3e4d4f97">
            <a:extLst>
              <a:ext uri="{96DAC541-7B7A-43D3-8B79-37D633B846F1}">
                <ns15:svgBlip xmlns:ns15="http://schemas.microsoft.com/office/drawing/2016/SVG/main" r:embed="rIdVectormf00654"/>
              </a:ext>
            </a:extLst>
          </a:blip>
          <a:stretch xmlns:a="http://schemas.openxmlformats.org/drawingml/2006/main"/>
        </p:blipFill>
        <p:spPr>
          <a:xfrm xmlns:a="http://schemas.openxmlformats.org/drawingml/2006/main">
            <a:off x="7375373" y="3835718"/>
            <a:ext cx="79678" cy="120015"/>
          </a:xfrm>
          <a:prstGeom xmlns:a="http://schemas.openxmlformats.org/drawingml/2006/main" prst="rect">
            <a:avLst/>
          </a:prstGeom>
        </p:spPr>
      </p:pic>
      <p:pic>
        <p:nvPicPr>
          <p:cNvPr id="135" name="!!ssb-ssb-multiply-g1-r1-ticklabel0" descr="-2f_c"/>
          <p:cNvPicPr>
            <a:picLocks xmlns:a="http://schemas.openxmlformats.org/drawingml/2006/main" noChangeAspect="1"/>
          </p:cNvPicPr>
          <p:nvPr/>
        </p:nvPicPr>
        <p:blipFill>
          <a:blip xmlns:r="http://schemas.openxmlformats.org/officeDocument/2006/relationships" xmlns:a="http://schemas.openxmlformats.org/drawingml/2006/main" r:embed="R6eba4a1f935143ff">
            <a:extLst>
              <a:ext uri="{96DAC541-7B7A-43D3-8B79-37D633B846F1}">
                <ns16:svgBlip xmlns:ns16="http://schemas.microsoft.com/office/drawing/2016/SVG/main" r:embed="rIdVectormf00655"/>
              </a:ext>
            </a:extLst>
          </a:blip>
          <a:stretch xmlns:a="http://schemas.openxmlformats.org/drawingml/2006/main"/>
        </p:blipFill>
        <p:spPr>
          <a:xfrm xmlns:a="http://schemas.openxmlformats.org/drawingml/2006/main">
            <a:off x="4738158" y="4170045"/>
            <a:ext cx="363010" cy="137160"/>
          </a:xfrm>
          <a:prstGeom xmlns:a="http://schemas.openxmlformats.org/drawingml/2006/main" prst="rect">
            <a:avLst/>
          </a:prstGeom>
        </p:spPr>
      </p:pic>
      <p:pic>
        <p:nvPicPr>
          <p:cNvPr id="136" name="!!ssb-ssb-multiply-g1-r1-ticklabel1" descr="0"/>
          <p:cNvPicPr>
            <a:picLocks xmlns:a="http://schemas.openxmlformats.org/drawingml/2006/main" noChangeAspect="1"/>
          </p:cNvPicPr>
          <p:nvPr/>
        </p:nvPicPr>
        <p:blipFill>
          <a:blip xmlns:r="http://schemas.openxmlformats.org/officeDocument/2006/relationships" xmlns:a="http://schemas.openxmlformats.org/drawingml/2006/main" r:embed="R27857b4f79a14838">
            <a:extLst>
              <a:ext uri="{96DAC541-7B7A-43D3-8B79-37D633B846F1}">
                <ns17:svgBlip xmlns:ns17="http://schemas.microsoft.com/office/drawing/2016/SVG/main" r:embed="rIdVectormf00656"/>
              </a:ext>
            </a:extLst>
          </a:blip>
          <a:stretch xmlns:a="http://schemas.openxmlformats.org/drawingml/2006/main"/>
        </p:blipFill>
        <p:spPr>
          <a:xfrm xmlns:a="http://schemas.openxmlformats.org/drawingml/2006/main">
            <a:off x="5916675" y="4187190"/>
            <a:ext cx="91951" cy="102870"/>
          </a:xfrm>
          <a:prstGeom xmlns:a="http://schemas.openxmlformats.org/drawingml/2006/main" prst="rect">
            <a:avLst/>
          </a:prstGeom>
        </p:spPr>
      </p:pic>
      <p:pic>
        <p:nvPicPr>
          <p:cNvPr id="137" name="!!ssb-ssb-multiply-g1-r1-ticklabel2" descr="2f_c"/>
          <p:cNvPicPr>
            <a:picLocks xmlns:a="http://schemas.openxmlformats.org/drawingml/2006/main" noChangeAspect="1"/>
          </p:cNvPicPr>
          <p:nvPr/>
        </p:nvPicPr>
        <p:blipFill>
          <a:blip xmlns:r="http://schemas.openxmlformats.org/officeDocument/2006/relationships" xmlns:a="http://schemas.openxmlformats.org/drawingml/2006/main" r:embed="Rcdd0d833c8a74795">
            <a:extLst>
              <a:ext uri="{96DAC541-7B7A-43D3-8B79-37D633B846F1}">
                <ns18:svgBlip xmlns:ns18="http://schemas.microsoft.com/office/drawing/2016/SVG/main" r:embed="rIdVectormf00657"/>
              </a:ext>
            </a:extLst>
          </a:blip>
          <a:stretch xmlns:a="http://schemas.openxmlformats.org/drawingml/2006/main"/>
        </p:blipFill>
        <p:spPr>
          <a:xfrm xmlns:a="http://schemas.openxmlformats.org/drawingml/2006/main">
            <a:off x="6897531" y="4170045"/>
            <a:ext cx="216213" cy="137160"/>
          </a:xfrm>
          <a:prstGeom xmlns:a="http://schemas.openxmlformats.org/drawingml/2006/main" prst="rect">
            <a:avLst/>
          </a:prstGeom>
        </p:spPr>
      </p:pic>
      <p:pic>
        <p:nvPicPr>
          <p:cNvPr id="138" name="!!ssb-ssb-multiply-g1-r1-label" descr="\textstyle \frac{A'_c}{2}S(f-f_c)"/>
          <p:cNvPicPr>
            <a:picLocks xmlns:a="http://schemas.openxmlformats.org/drawingml/2006/main" noChangeAspect="1"/>
          </p:cNvPicPr>
          <p:nvPr/>
        </p:nvPicPr>
        <p:blipFill>
          <a:blip xmlns:r="http://schemas.openxmlformats.org/officeDocument/2006/relationships" xmlns:a="http://schemas.openxmlformats.org/drawingml/2006/main" r:embed="R1e13857b85aa46c8">
            <a:extLst>
              <a:ext uri="{96DAC541-7B7A-43D3-8B79-37D633B846F1}">
                <ns19:svgBlip xmlns:ns19="http://schemas.microsoft.com/office/drawing/2016/SVG/main" r:embed="rIdVectormf00658"/>
              </a:ext>
            </a:extLst>
          </a:blip>
          <a:stretch xmlns:a="http://schemas.openxmlformats.org/drawingml/2006/main"/>
        </p:blipFill>
        <p:spPr>
          <a:xfrm xmlns:a="http://schemas.openxmlformats.org/drawingml/2006/main">
            <a:off x="4572000" y="3303588"/>
            <a:ext cx="1097280" cy="298450"/>
          </a:xfrm>
          <a:prstGeom xmlns:a="http://schemas.openxmlformats.org/drawingml/2006/main" prst="rect">
            <a:avLst/>
          </a:prstGeom>
        </p:spPr>
      </p:pic>
      <p:pic>
        <p:nvPicPr>
          <p:cNvPr id="139" name="!!ssb-ssb-multiply-g2-r0-domain" descr="f"/>
          <p:cNvPicPr>
            <a:picLocks xmlns:a="http://schemas.openxmlformats.org/drawingml/2006/main" noChangeAspect="1"/>
          </p:cNvPicPr>
          <p:nvPr/>
        </p:nvPicPr>
        <p:blipFill>
          <a:blip xmlns:r="http://schemas.openxmlformats.org/officeDocument/2006/relationships" xmlns:a="http://schemas.openxmlformats.org/drawingml/2006/main" r:embed="Rf2fe728b0c024e42">
            <a:extLst>
              <a:ext uri="{96DAC541-7B7A-43D3-8B79-37D633B846F1}">
                <ns20:svgBlip xmlns:ns20="http://schemas.microsoft.com/office/drawing/2016/SVG/main" r:embed="rIdVectormf00659"/>
              </a:ext>
            </a:extLst>
          </a:blip>
          <a:stretch xmlns:a="http://schemas.openxmlformats.org/drawingml/2006/main"/>
        </p:blipFill>
        <p:spPr>
          <a:xfrm xmlns:a="http://schemas.openxmlformats.org/drawingml/2006/main">
            <a:off x="11375873" y="3311843"/>
            <a:ext cx="79678" cy="120015"/>
          </a:xfrm>
          <a:prstGeom xmlns:a="http://schemas.openxmlformats.org/drawingml/2006/main" prst="rect">
            <a:avLst/>
          </a:prstGeom>
        </p:spPr>
      </p:pic>
      <p:pic>
        <p:nvPicPr>
          <p:cNvPr id="140" name="!!ssb-ssb-multiply-g2-r0-ticklabel0" descr="-2f_c"/>
          <p:cNvPicPr>
            <a:picLocks xmlns:a="http://schemas.openxmlformats.org/drawingml/2006/main" noChangeAspect="1"/>
          </p:cNvPicPr>
          <p:nvPr/>
        </p:nvPicPr>
        <p:blipFill>
          <a:blip xmlns:r="http://schemas.openxmlformats.org/officeDocument/2006/relationships" xmlns:a="http://schemas.openxmlformats.org/drawingml/2006/main" r:embed="R114b2d0207b84004">
            <a:extLst>
              <a:ext uri="{96DAC541-7B7A-43D3-8B79-37D633B846F1}">
                <ns21:svgBlip xmlns:ns21="http://schemas.microsoft.com/office/drawing/2016/SVG/main" r:embed="rIdVectormf00660"/>
              </a:ext>
            </a:extLst>
          </a:blip>
          <a:stretch xmlns:a="http://schemas.openxmlformats.org/drawingml/2006/main"/>
        </p:blipFill>
        <p:spPr>
          <a:xfrm xmlns:a="http://schemas.openxmlformats.org/drawingml/2006/main">
            <a:off x="8738658" y="3646170"/>
            <a:ext cx="363010" cy="137160"/>
          </a:xfrm>
          <a:prstGeom xmlns:a="http://schemas.openxmlformats.org/drawingml/2006/main" prst="rect">
            <a:avLst/>
          </a:prstGeom>
        </p:spPr>
      </p:pic>
      <p:pic>
        <p:nvPicPr>
          <p:cNvPr id="141" name="!!ssb-ssb-multiply-g2-r0-ticklabel1" descr="0"/>
          <p:cNvPicPr>
            <a:picLocks xmlns:a="http://schemas.openxmlformats.org/drawingml/2006/main" noChangeAspect="1"/>
          </p:cNvPicPr>
          <p:nvPr/>
        </p:nvPicPr>
        <p:blipFill>
          <a:blip xmlns:r="http://schemas.openxmlformats.org/officeDocument/2006/relationships" xmlns:a="http://schemas.openxmlformats.org/drawingml/2006/main" r:embed="Rb3707344794e4a68">
            <a:extLst>
              <a:ext uri="{96DAC541-7B7A-43D3-8B79-37D633B846F1}">
                <ns22:svgBlip xmlns:ns22="http://schemas.microsoft.com/office/drawing/2016/SVG/main" r:embed="rIdVectormf00661"/>
              </a:ext>
            </a:extLst>
          </a:blip>
          <a:stretch xmlns:a="http://schemas.openxmlformats.org/drawingml/2006/main"/>
        </p:blipFill>
        <p:spPr>
          <a:xfrm xmlns:a="http://schemas.openxmlformats.org/drawingml/2006/main">
            <a:off x="9917175" y="3663315"/>
            <a:ext cx="91951" cy="102870"/>
          </a:xfrm>
          <a:prstGeom xmlns:a="http://schemas.openxmlformats.org/drawingml/2006/main" prst="rect">
            <a:avLst/>
          </a:prstGeom>
        </p:spPr>
      </p:pic>
      <p:pic>
        <p:nvPicPr>
          <p:cNvPr id="142" name="!!ssb-ssb-multiply-g2-r0-ticklabel2" descr="2f_c"/>
          <p:cNvPicPr>
            <a:picLocks xmlns:a="http://schemas.openxmlformats.org/drawingml/2006/main" noChangeAspect="1"/>
          </p:cNvPicPr>
          <p:nvPr/>
        </p:nvPicPr>
        <p:blipFill>
          <a:blip xmlns:r="http://schemas.openxmlformats.org/officeDocument/2006/relationships" xmlns:a="http://schemas.openxmlformats.org/drawingml/2006/main" r:embed="R9f5dbc50610243c9">
            <a:extLst>
              <a:ext uri="{96DAC541-7B7A-43D3-8B79-37D633B846F1}">
                <ns23:svgBlip xmlns:ns23="http://schemas.microsoft.com/office/drawing/2016/SVG/main" r:embed="rIdVectormf00662"/>
              </a:ext>
            </a:extLst>
          </a:blip>
          <a:stretch xmlns:a="http://schemas.openxmlformats.org/drawingml/2006/main"/>
        </p:blipFill>
        <p:spPr>
          <a:xfrm xmlns:a="http://schemas.openxmlformats.org/drawingml/2006/main">
            <a:off x="10898031" y="3646170"/>
            <a:ext cx="216213" cy="137160"/>
          </a:xfrm>
          <a:prstGeom xmlns:a="http://schemas.openxmlformats.org/drawingml/2006/main" prst="rect">
            <a:avLst/>
          </a:prstGeom>
        </p:spPr>
      </p:pic>
      <p:pic>
        <p:nvPicPr>
          <p:cNvPr id="143" name="!!ssb-ssb-multiply-g2-r0-label" descr="\textstyle V(f)"/>
          <p:cNvPicPr>
            <a:picLocks xmlns:a="http://schemas.openxmlformats.org/drawingml/2006/main" noChangeAspect="1"/>
          </p:cNvPicPr>
          <p:nvPr/>
        </p:nvPicPr>
        <p:blipFill>
          <a:blip xmlns:r="http://schemas.openxmlformats.org/officeDocument/2006/relationships" xmlns:a="http://schemas.openxmlformats.org/drawingml/2006/main" r:embed="Rd844c55b35844366">
            <a:extLst>
              <a:ext uri="{96DAC541-7B7A-43D3-8B79-37D633B846F1}">
                <ns24:svgBlip xmlns:ns24="http://schemas.microsoft.com/office/drawing/2016/SVG/main" r:embed="rIdVectormf00663"/>
              </a:ext>
            </a:extLst>
          </a:blip>
          <a:stretch xmlns:a="http://schemas.openxmlformats.org/drawingml/2006/main"/>
        </p:blipFill>
        <p:spPr>
          <a:xfrm xmlns:a="http://schemas.openxmlformats.org/drawingml/2006/main">
            <a:off x="8572500" y="2383215"/>
            <a:ext cx="461010" cy="205621"/>
          </a:xfrm>
          <a:prstGeom xmlns:a="http://schemas.openxmlformats.org/drawingml/2006/main" prst="rect">
            <a:avLst/>
          </a:prstGeom>
        </p:spPr>
      </p:pic>
      <p:pic>
        <p:nvPicPr>
          <p:cNvPr id="144" name="!!ssb-ssb-multiply-g0-r0-peak0" descr="\frac{A_c}{2}"/>
          <p:cNvPicPr>
            <a:picLocks xmlns:a="http://schemas.openxmlformats.org/drawingml/2006/main" noChangeAspect="1"/>
          </p:cNvPicPr>
          <p:nvPr/>
        </p:nvPicPr>
        <p:blipFill>
          <a:blip xmlns:r="http://schemas.openxmlformats.org/officeDocument/2006/relationships" xmlns:a="http://schemas.openxmlformats.org/drawingml/2006/main" r:embed="Rdf851d496ed2447e">
            <a:extLst>
              <a:ext uri="{96DAC541-7B7A-43D3-8B79-37D633B846F1}">
                <ns25:svgBlip xmlns:ns25="http://schemas.microsoft.com/office/drawing/2016/SVG/main" r:embed="rIdVectormf00664"/>
              </a:ext>
            </a:extLst>
          </a:blip>
          <a:stretch xmlns:a="http://schemas.openxmlformats.org/drawingml/2006/main"/>
        </p:blipFill>
        <p:spPr>
          <a:xfrm xmlns:a="http://schemas.openxmlformats.org/drawingml/2006/main">
            <a:off x="2376704" y="2628328"/>
            <a:ext cx="213880" cy="353570"/>
          </a:xfrm>
          <a:prstGeom xmlns:a="http://schemas.openxmlformats.org/drawingml/2006/main" prst="rect">
            <a:avLst/>
          </a:prstGeom>
        </p:spPr>
      </p:pic>
      <p:pic>
        <p:nvPicPr>
          <p:cNvPr id="145" name="!!ssb-ssb-multiply-math" descr="\textstyle \times A'_c\cos(2\pi f_ct)"/>
          <p:cNvPicPr>
            <a:picLocks xmlns:a="http://schemas.openxmlformats.org/drawingml/2006/main" noChangeAspect="1"/>
          </p:cNvPicPr>
          <p:nvPr/>
        </p:nvPicPr>
        <p:blipFill>
          <a:blip xmlns:r="http://schemas.openxmlformats.org/officeDocument/2006/relationships" xmlns:a="http://schemas.openxmlformats.org/drawingml/2006/main" r:embed="R4ff3574af1fa4d4e">
            <a:extLst>
              <a:ext uri="{96DAC541-7B7A-43D3-8B79-37D633B846F1}">
                <ns26:svgBlip xmlns:ns26="http://schemas.microsoft.com/office/drawing/2016/SVG/main" r:embed="rIdVectormf00665"/>
              </a:ext>
            </a:extLst>
          </a:blip>
          <a:stretch xmlns:a="http://schemas.openxmlformats.org/drawingml/2006/main"/>
        </p:blipFill>
        <p:spPr>
          <a:xfrm xmlns:a="http://schemas.openxmlformats.org/drawingml/2006/main">
            <a:off x="3128010" y="3032046"/>
            <a:ext cx="1668780" cy="241459"/>
          </a:xfrm>
          <a:prstGeom xmlns:a="http://schemas.openxmlformats.org/drawingml/2006/main" prst="rect">
            <a:avLst/>
          </a:prstGeom>
        </p:spPr>
      </p:pic>
      <p:pic>
        <p:nvPicPr>
          <p:cNvPr id="146" name="!!ssb-ssb-multiply-condition" descr="f_{LO}=f_c,\ \upphi=0"/>
          <p:cNvPicPr>
            <a:picLocks xmlns:a="http://schemas.openxmlformats.org/drawingml/2006/main" noChangeAspect="1"/>
          </p:cNvPicPr>
          <p:nvPr/>
        </p:nvPicPr>
        <p:blipFill>
          <a:blip xmlns:r="http://schemas.openxmlformats.org/officeDocument/2006/relationships" xmlns:a="http://schemas.openxmlformats.org/drawingml/2006/main" r:embed="R4098d43f93b44e42">
            <a:extLst>
              <a:ext uri="{96DAC541-7B7A-43D3-8B79-37D633B846F1}">
                <ns27:svgBlip xmlns:ns27="http://schemas.microsoft.com/office/drawing/2016/SVG/main" r:embed="rIdVectormf00666"/>
              </a:ext>
            </a:extLst>
          </a:blip>
          <a:stretch xmlns:a="http://schemas.openxmlformats.org/drawingml/2006/main"/>
        </p:blipFill>
        <p:spPr>
          <a:xfrm xmlns:a="http://schemas.openxmlformats.org/drawingml/2006/main">
            <a:off x="3182303" y="2387114"/>
            <a:ext cx="1560195" cy="178772"/>
          </a:xfrm>
          <a:prstGeom xmlns:a="http://schemas.openxmlformats.org/drawingml/2006/main" prst="rect">
            <a:avLst/>
          </a:prstGeom>
        </p:spPr>
      </p:pic>
      <p:pic>
        <p:nvPicPr>
          <p:cNvPr id="147" name="!!ssb-ssb-add-math" descr="\textstyle +"/>
          <p:cNvPicPr>
            <a:picLocks xmlns:a="http://schemas.openxmlformats.org/drawingml/2006/main" noChangeAspect="1"/>
          </p:cNvPicPr>
          <p:nvPr/>
        </p:nvPicPr>
        <p:blipFill>
          <a:blip xmlns:r="http://schemas.openxmlformats.org/officeDocument/2006/relationships" xmlns:a="http://schemas.openxmlformats.org/drawingml/2006/main" r:embed="R590d74e75a6547a3">
            <a:extLst>
              <a:ext uri="{96DAC541-7B7A-43D3-8B79-37D633B846F1}">
                <ns28:svgBlip xmlns:ns28="http://schemas.microsoft.com/office/drawing/2016/SVG/main" r:embed="rIdVectormf00667"/>
              </a:ext>
            </a:extLst>
          </a:blip>
          <a:stretch xmlns:a="http://schemas.openxmlformats.org/drawingml/2006/main"/>
        </p:blipFill>
        <p:spPr>
          <a:xfrm xmlns:a="http://schemas.openxmlformats.org/drawingml/2006/main">
            <a:off x="7860030" y="3064693"/>
            <a:ext cx="205740" cy="176165"/>
          </a:xfrm>
          <a:prstGeom xmlns:a="http://schemas.openxmlformats.org/drawingml/2006/main" prst="rect">
            <a:avLst/>
          </a:prstGeom>
        </p:spPr>
      </p:pic>
      <p:pic>
        <p:nvPicPr>
          <p:cNvPr id="148" name="!!ssb-ssb-multiply-g2-r0-peak0" descr="\frac{A_cA'_c}{4}"/>
          <p:cNvPicPr>
            <a:picLocks xmlns:a="http://schemas.openxmlformats.org/drawingml/2006/main" noChangeAspect="1"/>
          </p:cNvPicPr>
          <p:nvPr/>
        </p:nvPicPr>
        <p:blipFill>
          <a:blip xmlns:r="http://schemas.openxmlformats.org/officeDocument/2006/relationships" xmlns:a="http://schemas.openxmlformats.org/drawingml/2006/main" r:embed="R8cb9b157b079418a">
            <a:extLst>
              <a:ext uri="{96DAC541-7B7A-43D3-8B79-37D633B846F1}">
                <ns29:svgBlip xmlns:ns29="http://schemas.microsoft.com/office/drawing/2016/SVG/main" r:embed="rIdVectormf00668"/>
              </a:ext>
            </a:extLst>
          </a:blip>
          <a:stretch xmlns:a="http://schemas.openxmlformats.org/drawingml/2006/main"/>
        </p:blipFill>
        <p:spPr>
          <a:xfrm xmlns:a="http://schemas.openxmlformats.org/drawingml/2006/main">
            <a:off x="9750479" y="2624138"/>
            <a:ext cx="425342" cy="361950"/>
          </a:xfrm>
          <a:prstGeom xmlns:a="http://schemas.openxmlformats.org/drawingml/2006/main" prst="rect">
            <a:avLst/>
          </a:prstGeom>
        </p:spPr>
      </p:pic>
      <p:pic>
        <p:nvPicPr>
          <p:cNvPr id="149" name="!!ssb-dense-equation-0" descr="\textstyle S(f)=H_{USB}(f)S_{DSB}(f)"/>
          <p:cNvPicPr>
            <a:picLocks xmlns:a="http://schemas.openxmlformats.org/drawingml/2006/main" noChangeAspect="1"/>
          </p:cNvPicPr>
          <p:nvPr/>
        </p:nvPicPr>
        <p:blipFill>
          <a:blip xmlns:r="http://schemas.openxmlformats.org/officeDocument/2006/relationships" xmlns:a="http://schemas.openxmlformats.org/drawingml/2006/main" r:embed="R170e57b2093741d3">
            <a:extLst>
              <a:ext uri="{96DAC541-7B7A-43D3-8B79-37D633B846F1}">
                <ns30:svgBlip xmlns:ns30="http://schemas.microsoft.com/office/drawing/2016/SVG/main" r:embed="rIdVectormf00669"/>
              </a:ext>
            </a:extLst>
          </a:blip>
          <a:stretch xmlns:a="http://schemas.openxmlformats.org/drawingml/2006/main"/>
        </p:blipFill>
        <p:spPr>
          <a:xfrm xmlns:a="http://schemas.openxmlformats.org/drawingml/2006/main">
            <a:off x="609600" y="4771370"/>
            <a:ext cx="2847975" cy="246102"/>
          </a:xfrm>
          <a:prstGeom xmlns:a="http://schemas.openxmlformats.org/drawingml/2006/main" prst="rect">
            <a:avLst/>
          </a:prstGeom>
        </p:spPr>
      </p:pic>
      <p:pic>
        <p:nvPicPr>
          <p:cNvPr id="150" name="!!ssb-dense-equation-1" descr="\textstyle V(f)=\frac{A'_c}{2}[S(f-f_c)+S(f+f_c)]"/>
          <p:cNvPicPr>
            <a:picLocks xmlns:a="http://schemas.openxmlformats.org/drawingml/2006/main" noChangeAspect="1"/>
          </p:cNvPicPr>
          <p:nvPr/>
        </p:nvPicPr>
        <p:blipFill>
          <a:blip xmlns:r="http://schemas.openxmlformats.org/officeDocument/2006/relationships" xmlns:a="http://schemas.openxmlformats.org/drawingml/2006/main" r:embed="Ra05c0b3702b24ed0">
            <a:extLst>
              <a:ext uri="{96DAC541-7B7A-43D3-8B79-37D633B846F1}">
                <ns31:svgBlip xmlns:ns31="http://schemas.microsoft.com/office/drawing/2016/SVG/main" r:embed="rIdVectormf00670"/>
              </a:ext>
            </a:extLst>
          </a:blip>
          <a:stretch xmlns:a="http://schemas.openxmlformats.org/drawingml/2006/main"/>
        </p:blipFill>
        <p:spPr>
          <a:xfrm xmlns:a="http://schemas.openxmlformats.org/drawingml/2006/main">
            <a:off x="609600" y="5151477"/>
            <a:ext cx="3838575" cy="362188"/>
          </a:xfrm>
          <a:prstGeom xmlns:a="http://schemas.openxmlformats.org/drawingml/2006/main" prst="rect">
            <a:avLst/>
          </a:prstGeom>
        </p:spPr>
      </p:pic>
      <p:pic>
        <p:nvPicPr>
          <p:cNvPr id="151" name="!!ssb-dense-equation-2" descr="\textstyle \frac{A_c}{2}\ (\text{send})\ \times\ \frac{A'_c}{2}\ (\text{mix back})=\frac{A_cA'_c}{4}"/>
          <p:cNvPicPr>
            <a:picLocks xmlns:a="http://schemas.openxmlformats.org/drawingml/2006/main" noChangeAspect="1"/>
          </p:cNvPicPr>
          <p:nvPr/>
        </p:nvPicPr>
        <p:blipFill>
          <a:blip xmlns:r="http://schemas.openxmlformats.org/officeDocument/2006/relationships" xmlns:a="http://schemas.openxmlformats.org/drawingml/2006/main" r:embed="Re7eee37bae0e4cdc">
            <a:extLst>
              <a:ext uri="{96DAC541-7B7A-43D3-8B79-37D633B846F1}">
                <ns32:svgBlip xmlns:ns32="http://schemas.microsoft.com/office/drawing/2016/SVG/main" r:embed="rIdVectormf00671"/>
              </a:ext>
            </a:extLst>
          </a:blip>
          <a:stretch xmlns:a="http://schemas.openxmlformats.org/drawingml/2006/main"/>
        </p:blipFill>
        <p:spPr>
          <a:xfrm xmlns:a="http://schemas.openxmlformats.org/drawingml/2006/main">
            <a:off x="609600" y="5589627"/>
            <a:ext cx="4408170" cy="362188"/>
          </a:xfrm>
          <a:prstGeom xmlns:a="http://schemas.openxmlformats.org/drawingml/2006/main" prst="rect">
            <a:avLst/>
          </a:prstGeom>
        </p:spPr>
      </p:pic>
      <p:pic>
        <p:nvPicPr>
          <p:cNvPr id="152" name="!!ssb-dense-equation-3" descr="\textstyle |f|\leq W:\quad V(f)=\frac{A_cA'_c}{4}M(f)"/>
          <p:cNvPicPr>
            <a:picLocks xmlns:a="http://schemas.openxmlformats.org/drawingml/2006/main" noChangeAspect="1"/>
          </p:cNvPicPr>
          <p:nvPr/>
        </p:nvPicPr>
        <p:blipFill>
          <a:blip xmlns:r="http://schemas.openxmlformats.org/officeDocument/2006/relationships" xmlns:a="http://schemas.openxmlformats.org/drawingml/2006/main" r:embed="Rf385284ed1eb48bb">
            <a:extLst>
              <a:ext uri="{96DAC541-7B7A-43D3-8B79-37D633B846F1}">
                <ns33:svgBlip xmlns:ns33="http://schemas.microsoft.com/office/drawing/2016/SVG/main" r:embed="rIdVectormf00672"/>
              </a:ext>
            </a:extLst>
          </a:blip>
          <a:stretch xmlns:a="http://schemas.openxmlformats.org/drawingml/2006/main"/>
        </p:blipFill>
        <p:spPr>
          <a:xfrm xmlns:a="http://schemas.openxmlformats.org/drawingml/2006/main">
            <a:off x="609600" y="6027777"/>
            <a:ext cx="3590925" cy="362188"/>
          </a:xfrm>
          <a:prstGeom xmlns:a="http://schemas.openxmlformats.org/drawingml/2006/main" prst="rect">
            <a:avLst/>
          </a:prstGeom>
        </p:spPr>
      </p:pic>
    </p:spTree>
    <p:extLst>
      <p:ext uri="{BB962C8B-B14F-4D97-AF65-F5344CB8AC3E}">
        <p14:creationId xmlns:p14="http://schemas.microsoft.com/office/powerpoint/2010/main" val="98685171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145"/>
                                        </p:tgtEl>
                                        <p:attrNameLst>
                                          <p:attrName>style.visibility</p:attrName>
                                        </p:attrNameLst>
                                      </p:cBhvr>
                                      <p:to>
                                        <p:strVal val="visible"/>
                                      </p:to>
                                    </p:set>
                                    <p:animEffect transition="in" filter="fade">
                                      <p:cBhvr>
                                        <p:cTn id="13" dur="400"/>
                                        <p:tgtEl>
                                          <p:spTgt spid="145"/>
                                        </p:tgtEl>
                                      </p:cBhvr>
                                    </p:animEffect>
                                  </p:childTnLst>
                                </p:cTn>
                              </p:par>
                              <p:par>
                                <p:cTn id="14" presetID="10" presetClass="entr" presetSubtype="0" fill="hold" nodeType="withEffect">
                                  <p:stCondLst>
                                    <p:cond delay="0"/>
                                  </p:stCondLst>
                                  <p:childTnLst>
                                    <p:set>
                                      <p:cBhvr>
                                        <p:cTn id="15" dur="1" fill="hold">
                                          <p:stCondLst>
                                            <p:cond delay="0"/>
                                          </p:stCondLst>
                                        </p:cTn>
                                        <p:tgtEl>
                                          <p:spTgt spid="146"/>
                                        </p:tgtEl>
                                        <p:attrNameLst>
                                          <p:attrName>style.visibility</p:attrName>
                                        </p:attrNameLst>
                                      </p:cBhvr>
                                      <p:to>
                                        <p:strVal val="visible"/>
                                      </p:to>
                                    </p:set>
                                    <p:animEffect transition="in" filter="fade">
                                      <p:cBhvr>
                                        <p:cTn id="16" dur="400"/>
                                        <p:tgtEl>
                                          <p:spTgt spid="146"/>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200"/>
                                        <p:tgtEl>
                                          <p:spTgt spid="33"/>
                                        </p:tgtEl>
                                      </p:cBhvr>
                                    </p:animEffect>
                                    <p:animMotion origin="layout" pathEditMode="relative" path="M -0.28535154 0.10833333 L 0.00000000 0.00000000 E">
                                      <p:cBhvr>
                                        <p:cTn id="20" dur="700" fill="hold"/>
                                        <p:tgtEl>
                                          <p:spTgt spid="33"/>
                                        </p:tgtEl>
                                        <p:attrNameLst>
                                          <p:attrName>ppt_x</p:attrName>
                                          <p:attrName>ppt_y</p:attrName>
                                        </p:attrNameLst>
                                      </p:cBhvr>
                                    </p:animMotion>
                                    <p:animScale zoomContents="1">
                                      <p:cBhvr>
                                        <p:cTn id="21" dur="700" fill="hold"/>
                                        <p:tgtEl>
                                          <p:spTgt spid="33"/>
                                        </p:tgtEl>
                                      </p:cBhvr>
                                      <p:from x="100000" y="100000"/>
                                      <p:to x="100000" y="100000"/>
                                    </p:animScale>
                                  </p:childTnLst>
                                </p:cTn>
                              </p:par>
                              <p:par>
                                <p:cTn id="22" presetID="10" presetClass="entr" presetSubtype="0" fill="hold"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200"/>
                                        <p:tgtEl>
                                          <p:spTgt spid="34"/>
                                        </p:tgtEl>
                                      </p:cBhvr>
                                    </p:animEffect>
                                    <p:animMotion origin="layout" pathEditMode="relative" path="M -0.28535154 0.10833333 L 0.00000000 0.00000000 E">
                                      <p:cBhvr>
                                        <p:cTn id="25" dur="700" fill="hold"/>
                                        <p:tgtEl>
                                          <p:spTgt spid="34"/>
                                        </p:tgtEl>
                                        <p:attrNameLst>
                                          <p:attrName>ppt_x</p:attrName>
                                          <p:attrName>ppt_y</p:attrName>
                                        </p:attrNameLst>
                                      </p:cBhvr>
                                    </p:animMotion>
                                    <p:animScale zoomContents="1">
                                      <p:cBhvr>
                                        <p:cTn id="26" dur="700" fill="hold"/>
                                        <p:tgtEl>
                                          <p:spTgt spid="34"/>
                                        </p:tgtEl>
                                      </p:cBhvr>
                                      <p:from x="100000" y="100000"/>
                                      <p:to x="100000" y="100000"/>
                                    </p:animScale>
                                  </p:childTnLst>
                                </p:cTn>
                              </p:par>
                              <p:par>
                                <p:cTn id="27" presetID="10"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200"/>
                                        <p:tgtEl>
                                          <p:spTgt spid="35"/>
                                        </p:tgtEl>
                                      </p:cBhvr>
                                    </p:animEffect>
                                    <p:animMotion origin="layout" pathEditMode="relative" path="M -0.37089846 -0.07638889 L 0.00000000 0.00000000 E">
                                      <p:cBhvr>
                                        <p:cTn id="30" dur="700" fill="hold"/>
                                        <p:tgtEl>
                                          <p:spTgt spid="35"/>
                                        </p:tgtEl>
                                        <p:attrNameLst>
                                          <p:attrName>ppt_x</p:attrName>
                                          <p:attrName>ppt_y</p:attrName>
                                        </p:attrNameLst>
                                      </p:cBhvr>
                                    </p:animMotion>
                                    <p:animScale zoomContents="1">
                                      <p:cBhvr>
                                        <p:cTn id="31" dur="700" fill="hold"/>
                                        <p:tgtEl>
                                          <p:spTgt spid="35"/>
                                        </p:tgtEl>
                                      </p:cBhvr>
                                      <p:from x="100000" y="100000"/>
                                      <p:to x="100000" y="100000"/>
                                    </p:animScale>
                                  </p:childTnLst>
                                </p:cTn>
                              </p:par>
                              <p:par>
                                <p:cTn id="32" presetID="10" presetClass="entr" presetSubtype="0"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200"/>
                                        <p:tgtEl>
                                          <p:spTgt spid="36"/>
                                        </p:tgtEl>
                                      </p:cBhvr>
                                    </p:animEffect>
                                    <p:animMotion origin="layout" pathEditMode="relative" path="M -0.37089846 -0.07638889 L 0.00000000 0.00000000 E">
                                      <p:cBhvr>
                                        <p:cTn id="35" dur="700" fill="hold"/>
                                        <p:tgtEl>
                                          <p:spTgt spid="36"/>
                                        </p:tgtEl>
                                        <p:attrNameLst>
                                          <p:attrName>ppt_x</p:attrName>
                                          <p:attrName>ppt_y</p:attrName>
                                        </p:attrNameLst>
                                      </p:cBhvr>
                                    </p:animMotion>
                                    <p:animScale zoomContents="1">
                                      <p:cBhvr>
                                        <p:cTn id="36" dur="700" fill="hold"/>
                                        <p:tgtEl>
                                          <p:spTgt spid="36"/>
                                        </p:tgtEl>
                                      </p:cBhvr>
                                      <p:from x="100000" y="100000"/>
                                      <p:to x="100000" y="100000"/>
                                    </p:animScale>
                                  </p:childTnLst>
                                </p:cTn>
                              </p:par>
                              <p:par>
                                <p:cTn id="37" presetID="10" presetClass="entr" presetSubtype="0" fill="hold" nodeType="withEffect">
                                  <p:stCondLst>
                                    <p:cond delay="0"/>
                                  </p:stCondLst>
                                  <p:childTnLst>
                                    <p:set>
                                      <p:cBhvr>
                                        <p:cTn id="38" dur="1" fill="hold">
                                          <p:stCondLst>
                                            <p:cond delay="0"/>
                                          </p:stCondLst>
                                        </p:cTn>
                                        <p:tgtEl>
                                          <p:spTgt spid="150"/>
                                        </p:tgtEl>
                                        <p:attrNameLst>
                                          <p:attrName>style.visibility</p:attrName>
                                        </p:attrNameLst>
                                      </p:cBhvr>
                                      <p:to>
                                        <p:strVal val="visible"/>
                                      </p:to>
                                    </p:set>
                                    <p:animEffect transition="in" filter="fade">
                                      <p:cBhvr>
                                        <p:cTn id="39" dur="400"/>
                                        <p:tgtEl>
                                          <p:spTgt spid="15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400"/>
                                        <p:tgtEl>
                                          <p:spTgt spid="37"/>
                                        </p:tgtEl>
                                      </p:cBhvr>
                                    </p:animEffect>
                                  </p:childTnLst>
                                </p:cTn>
                              </p:par>
                              <p:par>
                                <p:cTn id="45" presetID="10"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400"/>
                                        <p:tgtEl>
                                          <p:spTgt spid="38"/>
                                        </p:tgtEl>
                                      </p:cBhvr>
                                    </p:animEffect>
                                  </p:childTnLst>
                                </p:cTn>
                              </p:par>
                              <p:par>
                                <p:cTn id="48" presetID="10" presetClass="entr" presetSubtype="0" fill="hold" nodeType="withEffect">
                                  <p:stCondLst>
                                    <p:cond delay="0"/>
                                  </p:stCondLst>
                                  <p:childTnLst>
                                    <p:set>
                                      <p:cBhvr>
                                        <p:cTn id="49" dur="1" fill="hold">
                                          <p:stCondLst>
                                            <p:cond delay="0"/>
                                          </p:stCondLst>
                                        </p:cTn>
                                        <p:tgtEl>
                                          <p:spTgt spid="147"/>
                                        </p:tgtEl>
                                        <p:attrNameLst>
                                          <p:attrName>style.visibility</p:attrName>
                                        </p:attrNameLst>
                                      </p:cBhvr>
                                      <p:to>
                                        <p:strVal val="visible"/>
                                      </p:to>
                                    </p:set>
                                    <p:animEffect transition="in" filter="fade">
                                      <p:cBhvr>
                                        <p:cTn id="50" dur="400"/>
                                        <p:tgtEl>
                                          <p:spTgt spid="147"/>
                                        </p:tgtEl>
                                      </p:cBhvr>
                                    </p:animEffect>
                                  </p:childTnLst>
                                </p:cTn>
                              </p:par>
                              <p:par>
                                <p:cTn id="51" presetID="10"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200"/>
                                        <p:tgtEl>
                                          <p:spTgt spid="39"/>
                                        </p:tgtEl>
                                      </p:cBhvr>
                                    </p:animEffect>
                                    <p:animMotion origin="layout" pathEditMode="relative" path="M -0.32812500 -0.10833333 L 0.00000000 0.00000000 E">
                                      <p:cBhvr>
                                        <p:cTn id="54" dur="700" fill="hold"/>
                                        <p:tgtEl>
                                          <p:spTgt spid="39"/>
                                        </p:tgtEl>
                                        <p:attrNameLst>
                                          <p:attrName>ppt_x</p:attrName>
                                          <p:attrName>ppt_y</p:attrName>
                                        </p:attrNameLst>
                                      </p:cBhvr>
                                    </p:animMotion>
                                    <p:animScale zoomContents="1">
                                      <p:cBhvr>
                                        <p:cTn id="55" dur="700" fill="hold"/>
                                        <p:tgtEl>
                                          <p:spTgt spid="39"/>
                                        </p:tgtEl>
                                      </p:cBhvr>
                                      <p:from x="100000" y="100000"/>
                                      <p:to x="100000" y="100000"/>
                                    </p:animScale>
                                  </p:childTnLst>
                                </p:cTn>
                              </p:par>
                              <p:par>
                                <p:cTn id="56" presetID="10" presetClass="entr" presetSubtype="0" fill="hold" nodeType="with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200"/>
                                        <p:tgtEl>
                                          <p:spTgt spid="40"/>
                                        </p:tgtEl>
                                      </p:cBhvr>
                                    </p:animEffect>
                                    <p:animMotion origin="layout" pathEditMode="relative" path="M -0.32812500 0.07638889 L 0.00000000 0.00000000 E">
                                      <p:cBhvr>
                                        <p:cTn id="59" dur="700" fill="hold"/>
                                        <p:tgtEl>
                                          <p:spTgt spid="40"/>
                                        </p:tgtEl>
                                        <p:attrNameLst>
                                          <p:attrName>ppt_x</p:attrName>
                                          <p:attrName>ppt_y</p:attrName>
                                        </p:attrNameLst>
                                      </p:cBhvr>
                                    </p:animMotion>
                                    <p:animScale zoomContents="1">
                                      <p:cBhvr>
                                        <p:cTn id="60" dur="700" fill="hold"/>
                                        <p:tgtEl>
                                          <p:spTgt spid="40"/>
                                        </p:tgtEl>
                                      </p:cBhvr>
                                      <p:from x="100000" y="100000"/>
                                      <p:to x="100000" y="100000"/>
                                    </p:animScale>
                                  </p:childTnLst>
                                </p:cTn>
                              </p:par>
                              <p:par>
                                <p:cTn id="61" presetID="10" presetClass="entr" presetSubtype="0" fill="hold"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200"/>
                                        <p:tgtEl>
                                          <p:spTgt spid="41"/>
                                        </p:tgtEl>
                                      </p:cBhvr>
                                    </p:animEffect>
                                    <p:animMotion origin="layout" pathEditMode="relative" path="M -0.32812500 0.07638889 L 0.00000000 0.00000000 E">
                                      <p:cBhvr>
                                        <p:cTn id="64" dur="700" fill="hold"/>
                                        <p:tgtEl>
                                          <p:spTgt spid="41"/>
                                        </p:tgtEl>
                                        <p:attrNameLst>
                                          <p:attrName>ppt_x</p:attrName>
                                          <p:attrName>ppt_y</p:attrName>
                                        </p:attrNameLst>
                                      </p:cBhvr>
                                    </p:animMotion>
                                    <p:animScale zoomContents="1">
                                      <p:cBhvr>
                                        <p:cTn id="65" dur="700" fill="hold"/>
                                        <p:tgtEl>
                                          <p:spTgt spid="41"/>
                                        </p:tgtEl>
                                      </p:cBhvr>
                                      <p:from x="100000" y="100000"/>
                                      <p:to x="100000" y="100000"/>
                                    </p:animScale>
                                  </p:childTnLst>
                                </p:cTn>
                              </p:par>
                              <p:par>
                                <p:cTn id="66" presetID="10" presetClass="entr" presetSubtype="0" fill="hold" nodeType="with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200"/>
                                        <p:tgtEl>
                                          <p:spTgt spid="42"/>
                                        </p:tgtEl>
                                      </p:cBhvr>
                                    </p:animEffect>
                                    <p:animMotion origin="layout" pathEditMode="relative" path="M -0.32812500 -0.10833333 L 0.00000000 0.00000000 E">
                                      <p:cBhvr>
                                        <p:cTn id="69" dur="700" fill="hold"/>
                                        <p:tgtEl>
                                          <p:spTgt spid="42"/>
                                        </p:tgtEl>
                                        <p:attrNameLst>
                                          <p:attrName>ppt_x</p:attrName>
                                          <p:attrName>ppt_y</p:attrName>
                                        </p:attrNameLst>
                                      </p:cBhvr>
                                    </p:animMotion>
                                    <p:animScale zoomContents="1">
                                      <p:cBhvr>
                                        <p:cTn id="70" dur="700" fill="hold"/>
                                        <p:tgtEl>
                                          <p:spTgt spid="42"/>
                                        </p:tgtEl>
                                      </p:cBhvr>
                                      <p:from x="100000" y="100000"/>
                                      <p:to x="100000" y="100000"/>
                                    </p:animScale>
                                  </p:childTnLst>
                                </p:cTn>
                              </p:par>
                              <p:par>
                                <p:cTn id="71" presetID="10" presetClass="entr" presetSubtype="0" fill="hold" nodeType="withEffect">
                                  <p:stCondLst>
                                    <p:cond delay="0"/>
                                  </p:stCondLst>
                                  <p:childTnLst>
                                    <p:set>
                                      <p:cBhvr>
                                        <p:cTn id="72" dur="1" fill="hold">
                                          <p:stCondLst>
                                            <p:cond delay="0"/>
                                          </p:stCondLst>
                                        </p:cTn>
                                        <p:tgtEl>
                                          <p:spTgt spid="148"/>
                                        </p:tgtEl>
                                        <p:attrNameLst>
                                          <p:attrName>style.visibility</p:attrName>
                                        </p:attrNameLst>
                                      </p:cBhvr>
                                      <p:to>
                                        <p:strVal val="visible"/>
                                      </p:to>
                                    </p:set>
                                    <p:animEffect transition="in" filter="fade">
                                      <p:cBhvr>
                                        <p:cTn id="73" dur="400"/>
                                        <p:tgtEl>
                                          <p:spTgt spid="14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51"/>
                                        </p:tgtEl>
                                        <p:attrNameLst>
                                          <p:attrName>style.visibility</p:attrName>
                                        </p:attrNameLst>
                                      </p:cBhvr>
                                      <p:to>
                                        <p:strVal val="visible"/>
                                      </p:to>
                                    </p:set>
                                    <p:animEffect transition="in" filter="fade">
                                      <p:cBhvr>
                                        <p:cTn id="78" dur="400"/>
                                        <p:tgtEl>
                                          <p:spTgt spid="151"/>
                                        </p:tgtEl>
                                      </p:cBhvr>
                                    </p:animEffect>
                                  </p:childTnLst>
                                </p:cTn>
                              </p:par>
                              <p:par>
                                <p:cTn id="79" presetID="10" presetClass="entr" presetSubtype="0" fill="hold" nodeType="withEffect">
                                  <p:stCondLst>
                                    <p:cond delay="0"/>
                                  </p:stCondLst>
                                  <p:childTnLst>
                                    <p:set>
                                      <p:cBhvr>
                                        <p:cTn id="80" dur="1" fill="hold">
                                          <p:stCondLst>
                                            <p:cond delay="0"/>
                                          </p:stCondLst>
                                        </p:cTn>
                                        <p:tgtEl>
                                          <p:spTgt spid="152"/>
                                        </p:tgtEl>
                                        <p:attrNameLst>
                                          <p:attrName>style.visibility</p:attrName>
                                        </p:attrNameLst>
                                      </p:cBhvr>
                                      <p:to>
                                        <p:strVal val="visible"/>
                                      </p:to>
                                    </p:set>
                                    <p:animEffect transition="in" filter="fade">
                                      <p:cBhvr>
                                        <p:cTn id="81" dur="4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ssb-title">
            <ns0:hlinkClick xmlns:ns0="http://schemas.openxmlformats.org/drawingml/2006/main" xmlns:ns1="http://schemas.openxmlformats.org/officeDocument/2006/relationships" ns1:id="rIdmethods_Link146" action="ppaction://hlinksldjump"/>
            <a:extLst xmlns:a="http://schemas.openxmlformats.org/drawingml/2006/main">
              <a:ext uri="{FF2B5EF4-FFF2-40B4-BE49-F238E27FC236}">
                <a16:creationId xmlns:a16="http://schemas.microsoft.com/office/drawing/2014/main" id="{3603599A-5D06-4496-A641-40A9E3584579}"/>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46" action="ppaction://hlinksldjump"/>
              </a:rPr>
              <a:t>SSB</a:t>
            </a:r>
          </a:p>
        </p:txBody>
      </p:sp>
      <p:sp>
        <p:nvSpPr>
          <p:cNvPr id="2" name="!!ssb-route-tx-line">
            <a:extLst xmlns:a="http://schemas.openxmlformats.org/drawingml/2006/main">
              <a:ext uri="{FF2B5EF4-FFF2-40B4-BE49-F238E27FC236}">
                <a16:creationId xmlns:a16="http://schemas.microsoft.com/office/drawing/2014/main" id="{948041FB-57C6-4077-807E-0D8465BB1C37}"/>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ssb-route-tx-head">
            <a:extLst xmlns:a="http://schemas.openxmlformats.org/drawingml/2006/main">
              <a:ext uri="{FF2B5EF4-FFF2-40B4-BE49-F238E27FC236}">
                <a16:creationId xmlns:a16="http://schemas.microsoft.com/office/drawing/2014/main" id="{7BC1AD09-75F8-4505-B00D-D6185CF5E973}"/>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ssb-route-rx-line">
            <a:extLst xmlns:a="http://schemas.openxmlformats.org/drawingml/2006/main">
              <a:ext uri="{FF2B5EF4-FFF2-40B4-BE49-F238E27FC236}">
                <a16:creationId xmlns:a16="http://schemas.microsoft.com/office/drawing/2014/main" id="{AA916504-671F-4B44-8D1A-D7603099833C}"/>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ssb-route-rx-head">
            <a:extLst xmlns:a="http://schemas.openxmlformats.org/drawingml/2006/main">
              <a:ext uri="{FF2B5EF4-FFF2-40B4-BE49-F238E27FC236}">
                <a16:creationId xmlns:a16="http://schemas.microsoft.com/office/drawing/2014/main" id="{E36908E8-6DF4-4759-ADCA-FC8261EBACAE}"/>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ssb-review-purpose">
            <a:extLst xmlns:a="http://schemas.openxmlformats.org/drawingml/2006/main">
              <a:ext uri="{FF2B5EF4-FFF2-40B4-BE49-F238E27FC236}">
                <a16:creationId xmlns:a16="http://schemas.microsoft.com/office/drawing/2014/main" id="{FB281C75-79B0-4F73-A4F7-09E92C68F858}"/>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Keep the rejoined message; remove the known gain</a:t>
            </a:r>
          </a:p>
        </p:txBody>
      </p:sp>
      <p:sp>
        <p:nvSpPr>
          <p:cNvPr id="7" name="!!ssb-ssb-lpf-g0-r0-axis-line">
            <a:extLst xmlns:a="http://schemas.openxmlformats.org/drawingml/2006/main">
              <a:ext uri="{FF2B5EF4-FFF2-40B4-BE49-F238E27FC236}">
                <a16:creationId xmlns:a16="http://schemas.microsoft.com/office/drawing/2014/main" id="{1D201349-27A1-4655-AD28-F1B08265AD5A}"/>
              </a:ext>
            </a:extLst>
          </p:cNvPr>
          <p:cNvSpPr>
            <a:spLocks xmlns:a="http://schemas.openxmlformats.org/drawingml/2006/main" noGrp="1"/>
          </p:cNvSpPr>
          <p:nvPr/>
        </p:nvSpPr>
        <p:spPr>
          <a:xfrm xmlns:a="http://schemas.openxmlformats.org/drawingml/2006/main">
            <a:off x="571500" y="28765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ssb-ssb-lpf-g0-r0-axis-head">
            <a:extLst xmlns:a="http://schemas.openxmlformats.org/drawingml/2006/main">
              <a:ext uri="{FF2B5EF4-FFF2-40B4-BE49-F238E27FC236}">
                <a16:creationId xmlns:a16="http://schemas.microsoft.com/office/drawing/2014/main" id="{66FFE963-9BC9-4915-904F-B01AAB25D070}"/>
              </a:ext>
            </a:extLst>
          </p:cNvPr>
          <p:cNvSpPr>
            <a:spLocks xmlns:a="http://schemas.openxmlformats.org/drawingml/2006/main" noGrp="1"/>
          </p:cNvSpPr>
          <p:nvPr/>
        </p:nvSpPr>
        <p:spPr>
          <a:xfrm xmlns:a="http://schemas.openxmlformats.org/drawingml/2006/main" rot="5400000">
            <a:off x="3238500" y="28289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ssb-ssb-lpf-g0-r0-tick0">
            <a:extLst xmlns:a="http://schemas.openxmlformats.org/drawingml/2006/main">
              <a:ext uri="{FF2B5EF4-FFF2-40B4-BE49-F238E27FC236}">
                <a16:creationId xmlns:a16="http://schemas.microsoft.com/office/drawing/2014/main" id="{B94ACC60-3E3B-4A5B-904E-846064547254}"/>
              </a:ext>
            </a:extLst>
          </p:cNvPr>
          <p:cNvSpPr>
            <a:spLocks xmlns:a="http://schemas.openxmlformats.org/drawingml/2006/main" noGrp="1"/>
          </p:cNvSpPr>
          <p:nvPr/>
        </p:nvSpPr>
        <p:spPr>
          <a:xfrm xmlns:a="http://schemas.openxmlformats.org/drawingml/2006/main">
            <a:off x="919163"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ssb-ssb-lpf-g0-r0-tick1">
            <a:extLst xmlns:a="http://schemas.openxmlformats.org/drawingml/2006/main">
              <a:ext uri="{FF2B5EF4-FFF2-40B4-BE49-F238E27FC236}">
                <a16:creationId xmlns:a16="http://schemas.microsoft.com/office/drawing/2014/main" id="{9A137E2B-0BD9-4D54-A8ED-1F746A1903FE}"/>
              </a:ext>
            </a:extLst>
          </p:cNvPr>
          <p:cNvSpPr>
            <a:spLocks xmlns:a="http://schemas.openxmlformats.org/drawingml/2006/main" noGrp="1"/>
          </p:cNvSpPr>
          <p:nvPr/>
        </p:nvSpPr>
        <p:spPr>
          <a:xfrm xmlns:a="http://schemas.openxmlformats.org/drawingml/2006/main">
            <a:off x="1962150"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ssb-ssb-lpf-g0-r0-tick2">
            <a:extLst xmlns:a="http://schemas.openxmlformats.org/drawingml/2006/main">
              <a:ext uri="{FF2B5EF4-FFF2-40B4-BE49-F238E27FC236}">
                <a16:creationId xmlns:a16="http://schemas.microsoft.com/office/drawing/2014/main" id="{2B2C6863-CA04-48B6-B456-98BD2E7F8F4C}"/>
              </a:ext>
            </a:extLst>
          </p:cNvPr>
          <p:cNvSpPr>
            <a:spLocks xmlns:a="http://schemas.openxmlformats.org/drawingml/2006/main" noGrp="1"/>
          </p:cNvSpPr>
          <p:nvPr/>
        </p:nvSpPr>
        <p:spPr>
          <a:xfrm xmlns:a="http://schemas.openxmlformats.org/drawingml/2006/main">
            <a:off x="3005138"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ssb-ssb-lpf-g1-r0-axis-line">
            <a:extLst xmlns:a="http://schemas.openxmlformats.org/drawingml/2006/main">
              <a:ext uri="{FF2B5EF4-FFF2-40B4-BE49-F238E27FC236}">
                <a16:creationId xmlns:a16="http://schemas.microsoft.com/office/drawing/2014/main" id="{19330171-6347-4633-9BC3-41B2B3374B5E}"/>
              </a:ext>
            </a:extLst>
          </p:cNvPr>
          <p:cNvSpPr>
            <a:spLocks xmlns:a="http://schemas.openxmlformats.org/drawingml/2006/main" noGrp="1"/>
          </p:cNvSpPr>
          <p:nvPr/>
        </p:nvSpPr>
        <p:spPr>
          <a:xfrm xmlns:a="http://schemas.openxmlformats.org/drawingml/2006/main">
            <a:off x="4572000" y="28765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ssb-ssb-lpf-g1-r0-axis-head">
            <a:extLst xmlns:a="http://schemas.openxmlformats.org/drawingml/2006/main">
              <a:ext uri="{FF2B5EF4-FFF2-40B4-BE49-F238E27FC236}">
                <a16:creationId xmlns:a16="http://schemas.microsoft.com/office/drawing/2014/main" id="{F233F003-11DF-4CEF-A02B-EDABC66F074E}"/>
              </a:ext>
            </a:extLst>
          </p:cNvPr>
          <p:cNvSpPr>
            <a:spLocks xmlns:a="http://schemas.openxmlformats.org/drawingml/2006/main" noGrp="1"/>
          </p:cNvSpPr>
          <p:nvPr/>
        </p:nvSpPr>
        <p:spPr>
          <a:xfrm xmlns:a="http://schemas.openxmlformats.org/drawingml/2006/main" rot="5400000">
            <a:off x="7239000" y="28289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4" name="!!ssb-ssb-lpf-g1-r0-tick0">
            <a:extLst xmlns:a="http://schemas.openxmlformats.org/drawingml/2006/main">
              <a:ext uri="{FF2B5EF4-FFF2-40B4-BE49-F238E27FC236}">
                <a16:creationId xmlns:a16="http://schemas.microsoft.com/office/drawing/2014/main" id="{7D2AEEB6-A4CD-4159-81FB-2308A458A924}"/>
              </a:ext>
            </a:extLst>
          </p:cNvPr>
          <p:cNvSpPr>
            <a:spLocks xmlns:a="http://schemas.openxmlformats.org/drawingml/2006/main" noGrp="1"/>
          </p:cNvSpPr>
          <p:nvPr/>
        </p:nvSpPr>
        <p:spPr>
          <a:xfrm xmlns:a="http://schemas.openxmlformats.org/drawingml/2006/main">
            <a:off x="5788819"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ssb-ssb-lpf-g1-r0-tick1">
            <a:extLst xmlns:a="http://schemas.openxmlformats.org/drawingml/2006/main">
              <a:ext uri="{FF2B5EF4-FFF2-40B4-BE49-F238E27FC236}">
                <a16:creationId xmlns:a16="http://schemas.microsoft.com/office/drawing/2014/main" id="{B92288F1-AF98-4F90-858F-64D30C6152EA}"/>
              </a:ext>
            </a:extLst>
          </p:cNvPr>
          <p:cNvSpPr>
            <a:spLocks xmlns:a="http://schemas.openxmlformats.org/drawingml/2006/main" noGrp="1"/>
          </p:cNvSpPr>
          <p:nvPr/>
        </p:nvSpPr>
        <p:spPr>
          <a:xfrm xmlns:a="http://schemas.openxmlformats.org/drawingml/2006/main">
            <a:off x="5962650"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ssb-ssb-lpf-g1-r0-tick2">
            <a:extLst xmlns:a="http://schemas.openxmlformats.org/drawingml/2006/main">
              <a:ext uri="{FF2B5EF4-FFF2-40B4-BE49-F238E27FC236}">
                <a16:creationId xmlns:a16="http://schemas.microsoft.com/office/drawing/2014/main" id="{3785FA42-6695-445C-A281-EAC4DAE2A8C3}"/>
              </a:ext>
            </a:extLst>
          </p:cNvPr>
          <p:cNvSpPr>
            <a:spLocks xmlns:a="http://schemas.openxmlformats.org/drawingml/2006/main" noGrp="1"/>
          </p:cNvSpPr>
          <p:nvPr/>
        </p:nvSpPr>
        <p:spPr>
          <a:xfrm xmlns:a="http://schemas.openxmlformats.org/drawingml/2006/main">
            <a:off x="6136481"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ssb-ssb-lpf-g2-r0-axis-line">
            <a:extLst xmlns:a="http://schemas.openxmlformats.org/drawingml/2006/main">
              <a:ext uri="{FF2B5EF4-FFF2-40B4-BE49-F238E27FC236}">
                <a16:creationId xmlns:a16="http://schemas.microsoft.com/office/drawing/2014/main" id="{7E5E1520-5CA7-41CC-A02D-53E0801E274A}"/>
              </a:ext>
            </a:extLst>
          </p:cNvPr>
          <p:cNvSpPr>
            <a:spLocks xmlns:a="http://schemas.openxmlformats.org/drawingml/2006/main" noGrp="1"/>
          </p:cNvSpPr>
          <p:nvPr/>
        </p:nvSpPr>
        <p:spPr>
          <a:xfrm xmlns:a="http://schemas.openxmlformats.org/drawingml/2006/main">
            <a:off x="8572500" y="28765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ssb-ssb-lpf-g2-r0-axis-head">
            <a:extLst xmlns:a="http://schemas.openxmlformats.org/drawingml/2006/main">
              <a:ext uri="{FF2B5EF4-FFF2-40B4-BE49-F238E27FC236}">
                <a16:creationId xmlns:a16="http://schemas.microsoft.com/office/drawing/2014/main" id="{AEECCC07-7C14-4FFF-8627-4296E002E51A}"/>
              </a:ext>
            </a:extLst>
          </p:cNvPr>
          <p:cNvSpPr>
            <a:spLocks xmlns:a="http://schemas.openxmlformats.org/drawingml/2006/main" noGrp="1"/>
          </p:cNvSpPr>
          <p:nvPr/>
        </p:nvSpPr>
        <p:spPr>
          <a:xfrm xmlns:a="http://schemas.openxmlformats.org/drawingml/2006/main" rot="5400000">
            <a:off x="11239500" y="28289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9" name="!!ssb-ssb-lpf-g2-r0-tick0">
            <a:extLst xmlns:a="http://schemas.openxmlformats.org/drawingml/2006/main">
              <a:ext uri="{FF2B5EF4-FFF2-40B4-BE49-F238E27FC236}">
                <a16:creationId xmlns:a16="http://schemas.microsoft.com/office/drawing/2014/main" id="{37AFDD30-880A-4255-AD46-DCFA1D9D456B}"/>
              </a:ext>
            </a:extLst>
          </p:cNvPr>
          <p:cNvSpPr>
            <a:spLocks xmlns:a="http://schemas.openxmlformats.org/drawingml/2006/main" noGrp="1"/>
          </p:cNvSpPr>
          <p:nvPr/>
        </p:nvSpPr>
        <p:spPr>
          <a:xfrm xmlns:a="http://schemas.openxmlformats.org/drawingml/2006/main">
            <a:off x="9789319"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ssb-ssb-lpf-g2-r0-tick1">
            <a:extLst xmlns:a="http://schemas.openxmlformats.org/drawingml/2006/main">
              <a:ext uri="{FF2B5EF4-FFF2-40B4-BE49-F238E27FC236}">
                <a16:creationId xmlns:a16="http://schemas.microsoft.com/office/drawing/2014/main" id="{7BEB950B-8FCB-4063-B4EC-9163DFE516E4}"/>
              </a:ext>
            </a:extLst>
          </p:cNvPr>
          <p:cNvSpPr>
            <a:spLocks xmlns:a="http://schemas.openxmlformats.org/drawingml/2006/main" noGrp="1"/>
          </p:cNvSpPr>
          <p:nvPr/>
        </p:nvSpPr>
        <p:spPr>
          <a:xfrm xmlns:a="http://schemas.openxmlformats.org/drawingml/2006/main">
            <a:off x="9963150"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ssb-ssb-lpf-g2-r0-tick2">
            <a:extLst xmlns:a="http://schemas.openxmlformats.org/drawingml/2006/main">
              <a:ext uri="{FF2B5EF4-FFF2-40B4-BE49-F238E27FC236}">
                <a16:creationId xmlns:a16="http://schemas.microsoft.com/office/drawing/2014/main" id="{59CE2542-DE8B-41E9-9E01-8B6E08AEFAC5}"/>
              </a:ext>
            </a:extLst>
          </p:cNvPr>
          <p:cNvSpPr>
            <a:spLocks xmlns:a="http://schemas.openxmlformats.org/drawingml/2006/main" noGrp="1"/>
          </p:cNvSpPr>
          <p:nvPr/>
        </p:nvSpPr>
        <p:spPr>
          <a:xfrm xmlns:a="http://schemas.openxmlformats.org/drawingml/2006/main">
            <a:off x="10136981" y="28765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ssb-ssb-lpf-g0-on">
            <a:extLst xmlns:a="http://schemas.openxmlformats.org/drawingml/2006/main">
              <a:ext uri="{FF2B5EF4-FFF2-40B4-BE49-F238E27FC236}">
                <a16:creationId xmlns:a16="http://schemas.microsoft.com/office/drawing/2014/main" id="{D1D99045-95B5-409D-A80C-D244D6E66208}"/>
              </a:ext>
            </a:extLst>
          </p:cNvPr>
          <p:cNvSpPr>
            <a:spLocks xmlns:a="http://schemas.openxmlformats.org/drawingml/2006/main" noGrp="1"/>
          </p:cNvSpPr>
          <p:nvPr/>
        </p:nvSpPr>
        <p:spPr>
          <a:xfrm xmlns:a="http://schemas.openxmlformats.org/drawingml/2006/main">
            <a:off x="745331" y="25098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23" name="!!ssb-ssb-lpf-g0-op">
            <a:extLst xmlns:a="http://schemas.openxmlformats.org/drawingml/2006/main">
              <a:ext uri="{FF2B5EF4-FFF2-40B4-BE49-F238E27FC236}">
                <a16:creationId xmlns:a16="http://schemas.microsoft.com/office/drawing/2014/main" id="{370169D0-14E6-4711-8CD8-D5E1C1ACA026}"/>
              </a:ext>
            </a:extLst>
          </p:cNvPr>
          <p:cNvSpPr>
            <a:spLocks xmlns:a="http://schemas.openxmlformats.org/drawingml/2006/main" noGrp="1"/>
          </p:cNvSpPr>
          <p:nvPr/>
        </p:nvSpPr>
        <p:spPr>
          <a:xfrm xmlns:a="http://schemas.openxmlformats.org/drawingml/2006/main">
            <a:off x="3005138" y="25098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24" name="!!ssb-ssb-lpf-g0-in-n">
            <a:extLst xmlns:a="http://schemas.openxmlformats.org/drawingml/2006/main">
              <a:ext uri="{FF2B5EF4-FFF2-40B4-BE49-F238E27FC236}">
                <a16:creationId xmlns:a16="http://schemas.microsoft.com/office/drawing/2014/main" id="{98AE6571-7F83-4604-8904-F5A51D3FDE2C}"/>
              </a:ext>
            </a:extLst>
          </p:cNvPr>
          <p:cNvSpPr>
            <a:spLocks xmlns:a="http://schemas.openxmlformats.org/drawingml/2006/main" noGrp="1"/>
          </p:cNvSpPr>
          <p:nvPr/>
        </p:nvSpPr>
        <p:spPr>
          <a:xfrm xmlns:a="http://schemas.openxmlformats.org/drawingml/2006/main">
            <a:off x="1788319" y="25098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25" name="!!ssb-ssb-lpf-g0-in-p">
            <a:extLst xmlns:a="http://schemas.openxmlformats.org/drawingml/2006/main">
              <a:ext uri="{FF2B5EF4-FFF2-40B4-BE49-F238E27FC236}">
                <a16:creationId xmlns:a16="http://schemas.microsoft.com/office/drawing/2014/main" id="{2BDA88BE-9DC7-4C2B-8BCC-CC650F9F5128}"/>
              </a:ext>
            </a:extLst>
          </p:cNvPr>
          <p:cNvSpPr>
            <a:spLocks xmlns:a="http://schemas.openxmlformats.org/drawingml/2006/main" noGrp="1"/>
          </p:cNvSpPr>
          <p:nvPr/>
        </p:nvSpPr>
        <p:spPr>
          <a:xfrm xmlns:a="http://schemas.openxmlformats.org/drawingml/2006/main">
            <a:off x="1962150" y="25098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26" name="!!ssb-ssb-lpf-arrow-line">
            <a:extLst xmlns:a="http://schemas.openxmlformats.org/drawingml/2006/main">
              <a:ext uri="{FF2B5EF4-FFF2-40B4-BE49-F238E27FC236}">
                <a16:creationId xmlns:a16="http://schemas.microsoft.com/office/drawing/2014/main" id="{A460EDC6-F073-45AF-87A1-0EE6518535AD}"/>
              </a:ext>
            </a:extLst>
          </p:cNvPr>
          <p:cNvSpPr>
            <a:spLocks xmlns:a="http://schemas.openxmlformats.org/drawingml/2006/main" noGrp="1"/>
          </p:cNvSpPr>
          <p:nvPr/>
        </p:nvSpPr>
        <p:spPr>
          <a:xfrm xmlns:a="http://schemas.openxmlformats.org/drawingml/2006/main">
            <a:off x="3581400" y="27051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7" name="!!ssb-ssb-lpf-arrow-head">
            <a:extLst xmlns:a="http://schemas.openxmlformats.org/drawingml/2006/main">
              <a:ext uri="{FF2B5EF4-FFF2-40B4-BE49-F238E27FC236}">
                <a16:creationId xmlns:a16="http://schemas.microsoft.com/office/drawing/2014/main" id="{F6E55D38-9703-4ACF-9FFF-15EE98D75FCB}"/>
              </a:ext>
            </a:extLst>
          </p:cNvPr>
          <p:cNvSpPr>
            <a:spLocks xmlns:a="http://schemas.openxmlformats.org/drawingml/2006/main" noGrp="1"/>
          </p:cNvSpPr>
          <p:nvPr/>
        </p:nvSpPr>
        <p:spPr>
          <a:xfrm xmlns:a="http://schemas.openxmlformats.org/drawingml/2006/main" rot="5400000">
            <a:off x="4229100" y="2657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8" name="!!ssb-ssb-lpf-label">
            <a:extLst xmlns:a="http://schemas.openxmlformats.org/drawingml/2006/main">
              <a:ext uri="{FF2B5EF4-FFF2-40B4-BE49-F238E27FC236}">
                <a16:creationId xmlns:a16="http://schemas.microsoft.com/office/drawing/2014/main" id="{4BF4C0E0-4AA0-45E2-9990-01951B3DF6B8}"/>
              </a:ext>
            </a:extLst>
          </p:cNvPr>
          <p:cNvSpPr>
            <a:spLocks xmlns:a="http://schemas.openxmlformats.org/drawingml/2006/main" noGrp="1"/>
          </p:cNvSpPr>
          <p:nvPr/>
        </p:nvSpPr>
        <p:spPr>
          <a:xfrm xmlns:a="http://schemas.openxmlformats.org/drawingml/2006/main">
            <a:off x="3057525" y="23431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LPF</a:t>
            </a:r>
          </a:p>
        </p:txBody>
      </p:sp>
      <p:sp>
        <p:nvSpPr>
          <p:cNvPr id="29" name="!!ssb-ssb-lpf-g0-r0-filter0">
            <a:extLst xmlns:a="http://schemas.openxmlformats.org/drawingml/2006/main">
              <a:ext uri="{FF2B5EF4-FFF2-40B4-BE49-F238E27FC236}">
                <a16:creationId xmlns:a16="http://schemas.microsoft.com/office/drawing/2014/main" id="{1CCED9C7-3305-4C22-8A22-C7C768D6EDEE}"/>
              </a:ext>
            </a:extLst>
          </p:cNvPr>
          <p:cNvSpPr>
            <a:spLocks xmlns:a="http://schemas.openxmlformats.org/drawingml/2006/main" noGrp="1"/>
          </p:cNvSpPr>
          <p:nvPr/>
        </p:nvSpPr>
        <p:spPr>
          <a:xfrm xmlns:a="http://schemas.openxmlformats.org/drawingml/2006/main">
            <a:off x="1788319" y="2414588"/>
            <a:ext cx="347663" cy="576263"/>
          </a:xfrm>
          <a:prstGeom xmlns:a="http://schemas.openxmlformats.org/drawingml/2006/main" prst="rect">
            <a:avLst/>
          </a:prstGeom>
          <a:noFill xmlns:a="http://schemas.openxmlformats.org/drawingml/2006/main"/>
          <a:ln xmlns:a="http://schemas.openxmlformats.org/drawingml/2006/main" w="12383">
            <a:solidFill>
              <a:srgbClr val="777777"/>
            </a:solidFill>
          </a:ln>
        </p:spPr>
      </p:sp>
      <p:sp>
        <p:nvSpPr>
          <p:cNvPr id="30" name="!!ssb-ssb-lpf-g0-filter-name">
            <a:extLst xmlns:a="http://schemas.openxmlformats.org/drawingml/2006/main">
              <a:ext uri="{FF2B5EF4-FFF2-40B4-BE49-F238E27FC236}">
                <a16:creationId xmlns:a16="http://schemas.microsoft.com/office/drawing/2014/main" id="{D3F80E9A-BC18-412E-A6E6-E75F6D6C6F6A}"/>
              </a:ext>
            </a:extLst>
          </p:cNvPr>
          <p:cNvSpPr>
            <a:spLocks xmlns:a="http://schemas.openxmlformats.org/drawingml/2006/main" noGrp="1"/>
          </p:cNvSpPr>
          <p:nvPr/>
        </p:nvSpPr>
        <p:spPr>
          <a:xfrm xmlns:a="http://schemas.openxmlformats.org/drawingml/2006/main">
            <a:off x="571500" y="3524250"/>
            <a:ext cx="2781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LPF: pass -W to W</a:t>
            </a:r>
          </a:p>
        </p:txBody>
      </p:sp>
      <p:sp>
        <p:nvSpPr>
          <p:cNvPr id="31" name="!!ssb-ssb-lpf-g1-mn">
            <a:extLst xmlns:a="http://schemas.openxmlformats.org/drawingml/2006/main">
              <a:ext uri="{FF2B5EF4-FFF2-40B4-BE49-F238E27FC236}">
                <a16:creationId xmlns:a16="http://schemas.microsoft.com/office/drawing/2014/main" id="{9EBE14A1-C191-4DC5-AC39-97D207CCA86C}"/>
              </a:ext>
            </a:extLst>
          </p:cNvPr>
          <p:cNvSpPr>
            <a:spLocks xmlns:a="http://schemas.openxmlformats.org/drawingml/2006/main" noGrp="1"/>
          </p:cNvSpPr>
          <p:nvPr/>
        </p:nvSpPr>
        <p:spPr>
          <a:xfrm xmlns:a="http://schemas.openxmlformats.org/drawingml/2006/main">
            <a:off x="5788819" y="25098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32" name="!!ssb-ssb-lpf-g1-mp">
            <a:extLst xmlns:a="http://schemas.openxmlformats.org/drawingml/2006/main">
              <a:ext uri="{FF2B5EF4-FFF2-40B4-BE49-F238E27FC236}">
                <a16:creationId xmlns:a16="http://schemas.microsoft.com/office/drawing/2014/main" id="{E707488E-0C29-4473-9E48-5EF74EC0FA88}"/>
              </a:ext>
            </a:extLst>
          </p:cNvPr>
          <p:cNvSpPr>
            <a:spLocks xmlns:a="http://schemas.openxmlformats.org/drawingml/2006/main" noGrp="1"/>
          </p:cNvSpPr>
          <p:nvPr/>
        </p:nvSpPr>
        <p:spPr>
          <a:xfrm xmlns:a="http://schemas.openxmlformats.org/drawingml/2006/main">
            <a:off x="5962650" y="25098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33" name="!!ssb-ssb-gain-arrow-line">
            <a:extLst xmlns:a="http://schemas.openxmlformats.org/drawingml/2006/main">
              <a:ext uri="{FF2B5EF4-FFF2-40B4-BE49-F238E27FC236}">
                <a16:creationId xmlns:a16="http://schemas.microsoft.com/office/drawing/2014/main" id="{7BFFD1B5-A80D-42A3-BB7C-2B797B543BBA}"/>
              </a:ext>
            </a:extLst>
          </p:cNvPr>
          <p:cNvSpPr>
            <a:spLocks xmlns:a="http://schemas.openxmlformats.org/drawingml/2006/main" noGrp="1"/>
          </p:cNvSpPr>
          <p:nvPr/>
        </p:nvSpPr>
        <p:spPr>
          <a:xfrm xmlns:a="http://schemas.openxmlformats.org/drawingml/2006/main">
            <a:off x="7581900" y="2705100"/>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4" name="!!ssb-ssb-gain-arrow-head">
            <a:extLst xmlns:a="http://schemas.openxmlformats.org/drawingml/2006/main">
              <a:ext uri="{FF2B5EF4-FFF2-40B4-BE49-F238E27FC236}">
                <a16:creationId xmlns:a16="http://schemas.microsoft.com/office/drawing/2014/main" id="{855E0A65-CABF-4F65-ABAF-680F6EE86CCF}"/>
              </a:ext>
            </a:extLst>
          </p:cNvPr>
          <p:cNvSpPr>
            <a:spLocks xmlns:a="http://schemas.openxmlformats.org/drawingml/2006/main" noGrp="1"/>
          </p:cNvSpPr>
          <p:nvPr/>
        </p:nvSpPr>
        <p:spPr>
          <a:xfrm xmlns:a="http://schemas.openxmlformats.org/drawingml/2006/main" rot="5400000">
            <a:off x="8229600" y="2657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5" name="!!ssb-ssb-lpf-g2-mn">
            <a:extLst xmlns:a="http://schemas.openxmlformats.org/drawingml/2006/main">
              <a:ext uri="{FF2B5EF4-FFF2-40B4-BE49-F238E27FC236}">
                <a16:creationId xmlns:a16="http://schemas.microsoft.com/office/drawing/2014/main" id="{91393E27-8BED-4013-8649-D28FCFA1CA81}"/>
              </a:ext>
            </a:extLst>
          </p:cNvPr>
          <p:cNvSpPr>
            <a:spLocks xmlns:a="http://schemas.openxmlformats.org/drawingml/2006/main" noGrp="1"/>
          </p:cNvSpPr>
          <p:nvPr/>
        </p:nvSpPr>
        <p:spPr>
          <a:xfrm xmlns:a="http://schemas.openxmlformats.org/drawingml/2006/main">
            <a:off x="9789319" y="2509838"/>
            <a:ext cx="173831" cy="366713"/>
          </a:xfrm>
          <a:custGeom xmlns:a="http://schemas.openxmlformats.org/drawingml/2006/main">
            <a:pathLst>
              <a:path w="173831" h="366713">
                <a:moveTo>
                  <a:pt x="0" y="366713"/>
                </a:moveTo>
                <a:lnTo>
                  <a:pt x="173831" y="0"/>
                </a:lnTo>
                <a:lnTo>
                  <a:pt x="173831" y="366713"/>
                </a:lnTo>
                <a:close/>
              </a:path>
            </a:pathLst>
          </a:custGeom>
          <a:solidFill xmlns:a="http://schemas.openxmlformats.org/drawingml/2006/main">
            <a:srgbClr val="AAAAAA"/>
          </a:solidFill>
          <a:ln xmlns:a="http://schemas.openxmlformats.org/drawingml/2006/main" w="10478">
            <a:solidFill>
              <a:srgbClr val="202020"/>
            </a:solidFill>
          </a:ln>
        </p:spPr>
      </p:sp>
      <p:sp>
        <p:nvSpPr>
          <p:cNvPr id="36" name="!!ssb-ssb-lpf-g2-mp">
            <a:extLst xmlns:a="http://schemas.openxmlformats.org/drawingml/2006/main">
              <a:ext uri="{FF2B5EF4-FFF2-40B4-BE49-F238E27FC236}">
                <a16:creationId xmlns:a16="http://schemas.microsoft.com/office/drawing/2014/main" id="{05A24B53-E200-4970-9516-28EF97E81D58}"/>
              </a:ext>
            </a:extLst>
          </p:cNvPr>
          <p:cNvSpPr>
            <a:spLocks xmlns:a="http://schemas.openxmlformats.org/drawingml/2006/main" noGrp="1"/>
          </p:cNvSpPr>
          <p:nvPr/>
        </p:nvSpPr>
        <p:spPr>
          <a:xfrm xmlns:a="http://schemas.openxmlformats.org/drawingml/2006/main">
            <a:off x="9963150" y="2509838"/>
            <a:ext cx="173831" cy="366713"/>
          </a:xfrm>
          <a:custGeom xmlns:a="http://schemas.openxmlformats.org/drawingml/2006/main">
            <a:pathLst>
              <a:path w="173831" h="366713">
                <a:moveTo>
                  <a:pt x="0" y="366713"/>
                </a:moveTo>
                <a:lnTo>
                  <a:pt x="0" y="0"/>
                </a:lnTo>
                <a:lnTo>
                  <a:pt x="173831" y="366713"/>
                </a:lnTo>
                <a:close/>
              </a:path>
            </a:pathLst>
          </a:custGeom>
          <a:solidFill xmlns:a="http://schemas.openxmlformats.org/drawingml/2006/main">
            <a:srgbClr val="333333"/>
          </a:solidFill>
          <a:ln xmlns:a="http://schemas.openxmlformats.org/drawingml/2006/main" w="10478">
            <a:solidFill>
              <a:srgbClr val="202020"/>
            </a:solidFill>
          </a:ln>
        </p:spPr>
      </p:sp>
      <p:sp>
        <p:nvSpPr>
          <p:cNvPr id="37" name="!!ssb-ssb-lpf-g2-time-r0-axis-line">
            <a:extLst xmlns:a="http://schemas.openxmlformats.org/drawingml/2006/main">
              <a:ext uri="{FF2B5EF4-FFF2-40B4-BE49-F238E27FC236}">
                <a16:creationId xmlns:a16="http://schemas.microsoft.com/office/drawing/2014/main" id="{CC38E10F-69A6-415B-A679-09FBCE6719BB}"/>
              </a:ext>
            </a:extLst>
          </p:cNvPr>
          <p:cNvSpPr>
            <a:spLocks xmlns:a="http://schemas.openxmlformats.org/drawingml/2006/main" noGrp="1"/>
          </p:cNvSpPr>
          <p:nvPr/>
        </p:nvSpPr>
        <p:spPr>
          <a:xfrm xmlns:a="http://schemas.openxmlformats.org/drawingml/2006/main">
            <a:off x="8572500" y="40957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8" name="!!ssb-ssb-lpf-g2-time-r0-axis-head">
            <a:extLst xmlns:a="http://schemas.openxmlformats.org/drawingml/2006/main">
              <a:ext uri="{FF2B5EF4-FFF2-40B4-BE49-F238E27FC236}">
                <a16:creationId xmlns:a16="http://schemas.microsoft.com/office/drawing/2014/main" id="{1727F860-EF2E-4526-85BE-B6B75519F936}"/>
              </a:ext>
            </a:extLst>
          </p:cNvPr>
          <p:cNvSpPr>
            <a:spLocks xmlns:a="http://schemas.openxmlformats.org/drawingml/2006/main" noGrp="1"/>
          </p:cNvSpPr>
          <p:nvPr/>
        </p:nvSpPr>
        <p:spPr>
          <a:xfrm xmlns:a="http://schemas.openxmlformats.org/drawingml/2006/main" rot="5400000">
            <a:off x="11239500" y="40481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9" name="!!ssb-ssb-lpf-g2-time-r0-wave">
            <a:extLst xmlns:a="http://schemas.openxmlformats.org/drawingml/2006/main">
              <a:ext uri="{FF2B5EF4-FFF2-40B4-BE49-F238E27FC236}">
                <a16:creationId xmlns:a16="http://schemas.microsoft.com/office/drawing/2014/main" id="{57391B92-6E0D-4C20-97A9-C7A18BFF47AF}"/>
              </a:ext>
            </a:extLst>
          </p:cNvPr>
          <p:cNvSpPr>
            <a:spLocks xmlns:a="http://schemas.openxmlformats.org/drawingml/2006/main" noGrp="1"/>
          </p:cNvSpPr>
          <p:nvPr/>
        </p:nvSpPr>
        <p:spPr>
          <a:xfrm xmlns:a="http://schemas.openxmlformats.org/drawingml/2006/main">
            <a:off x="8572500" y="3676650"/>
            <a:ext cx="2781300" cy="419100"/>
          </a:xfrm>
          <a:custGeom xmlns:a="http://schemas.openxmlformats.org/drawingml/2006/main">
            <a:pathLst>
              <a:path w="2781300" h="419100">
                <a:moveTo>
                  <a:pt x="0" y="419100"/>
                </a:moveTo>
                <a:lnTo>
                  <a:pt x="3477" y="419097"/>
                </a:lnTo>
                <a:lnTo>
                  <a:pt x="6953" y="419089"/>
                </a:lnTo>
                <a:lnTo>
                  <a:pt x="10430" y="419076"/>
                </a:lnTo>
                <a:lnTo>
                  <a:pt x="13907" y="419057"/>
                </a:lnTo>
                <a:lnTo>
                  <a:pt x="17383" y="419033"/>
                </a:lnTo>
                <a:lnTo>
                  <a:pt x="20860" y="419004"/>
                </a:lnTo>
                <a:lnTo>
                  <a:pt x="24336" y="418969"/>
                </a:lnTo>
                <a:lnTo>
                  <a:pt x="27813" y="418929"/>
                </a:lnTo>
                <a:lnTo>
                  <a:pt x="31290" y="418884"/>
                </a:lnTo>
                <a:lnTo>
                  <a:pt x="34766" y="418833"/>
                </a:lnTo>
                <a:lnTo>
                  <a:pt x="38243" y="418778"/>
                </a:lnTo>
                <a:lnTo>
                  <a:pt x="41719" y="418718"/>
                </a:lnTo>
                <a:lnTo>
                  <a:pt x="45196" y="418653"/>
                </a:lnTo>
                <a:lnTo>
                  <a:pt x="48673" y="418583"/>
                </a:lnTo>
                <a:lnTo>
                  <a:pt x="52149" y="418510"/>
                </a:lnTo>
                <a:lnTo>
                  <a:pt x="55626" y="418432"/>
                </a:lnTo>
                <a:lnTo>
                  <a:pt x="59103" y="418350"/>
                </a:lnTo>
                <a:lnTo>
                  <a:pt x="62579" y="418265"/>
                </a:lnTo>
                <a:lnTo>
                  <a:pt x="66056" y="418176"/>
                </a:lnTo>
                <a:lnTo>
                  <a:pt x="69532" y="418084"/>
                </a:lnTo>
                <a:lnTo>
                  <a:pt x="73009" y="417989"/>
                </a:lnTo>
                <a:lnTo>
                  <a:pt x="76486" y="417892"/>
                </a:lnTo>
                <a:lnTo>
                  <a:pt x="79962" y="417793"/>
                </a:lnTo>
                <a:lnTo>
                  <a:pt x="83439" y="417692"/>
                </a:lnTo>
                <a:lnTo>
                  <a:pt x="86916" y="417590"/>
                </a:lnTo>
                <a:lnTo>
                  <a:pt x="90392" y="417487"/>
                </a:lnTo>
                <a:lnTo>
                  <a:pt x="93869" y="417383"/>
                </a:lnTo>
                <a:lnTo>
                  <a:pt x="97346" y="417278"/>
                </a:lnTo>
                <a:lnTo>
                  <a:pt x="100822" y="417174"/>
                </a:lnTo>
                <a:lnTo>
                  <a:pt x="104299" y="417070"/>
                </a:lnTo>
                <a:lnTo>
                  <a:pt x="107775" y="416967"/>
                </a:lnTo>
                <a:lnTo>
                  <a:pt x="111252" y="416865"/>
                </a:lnTo>
                <a:lnTo>
                  <a:pt x="114729" y="416764"/>
                </a:lnTo>
                <a:lnTo>
                  <a:pt x="118205" y="416666"/>
                </a:lnTo>
                <a:lnTo>
                  <a:pt x="121682" y="416570"/>
                </a:lnTo>
                <a:lnTo>
                  <a:pt x="125158" y="416476"/>
                </a:lnTo>
                <a:lnTo>
                  <a:pt x="128635" y="416386"/>
                </a:lnTo>
                <a:lnTo>
                  <a:pt x="132112" y="416299"/>
                </a:lnTo>
                <a:lnTo>
                  <a:pt x="135588" y="416215"/>
                </a:lnTo>
                <a:lnTo>
                  <a:pt x="139065" y="416136"/>
                </a:lnTo>
                <a:lnTo>
                  <a:pt x="142542" y="416062"/>
                </a:lnTo>
                <a:lnTo>
                  <a:pt x="146018" y="415992"/>
                </a:lnTo>
                <a:lnTo>
                  <a:pt x="149495" y="415927"/>
                </a:lnTo>
                <a:lnTo>
                  <a:pt x="152971" y="415867"/>
                </a:lnTo>
                <a:lnTo>
                  <a:pt x="156448" y="415813"/>
                </a:lnTo>
                <a:lnTo>
                  <a:pt x="159925" y="415765"/>
                </a:lnTo>
                <a:lnTo>
                  <a:pt x="163401" y="415722"/>
                </a:lnTo>
                <a:lnTo>
                  <a:pt x="166878" y="415686"/>
                </a:lnTo>
                <a:lnTo>
                  <a:pt x="170355" y="415657"/>
                </a:lnTo>
                <a:lnTo>
                  <a:pt x="173831" y="415634"/>
                </a:lnTo>
                <a:lnTo>
                  <a:pt x="177308" y="415617"/>
                </a:lnTo>
                <a:lnTo>
                  <a:pt x="180785" y="415607"/>
                </a:lnTo>
                <a:lnTo>
                  <a:pt x="184261" y="415605"/>
                </a:lnTo>
                <a:lnTo>
                  <a:pt x="187738" y="415609"/>
                </a:lnTo>
                <a:lnTo>
                  <a:pt x="191214" y="415620"/>
                </a:lnTo>
                <a:lnTo>
                  <a:pt x="194691" y="415638"/>
                </a:lnTo>
                <a:lnTo>
                  <a:pt x="198168" y="415662"/>
                </a:lnTo>
                <a:lnTo>
                  <a:pt x="201644" y="415694"/>
                </a:lnTo>
                <a:lnTo>
                  <a:pt x="205121" y="415732"/>
                </a:lnTo>
                <a:lnTo>
                  <a:pt x="208597" y="415777"/>
                </a:lnTo>
                <a:lnTo>
                  <a:pt x="212074" y="415829"/>
                </a:lnTo>
                <a:lnTo>
                  <a:pt x="215551" y="415887"/>
                </a:lnTo>
                <a:lnTo>
                  <a:pt x="219027" y="415951"/>
                </a:lnTo>
                <a:lnTo>
                  <a:pt x="222504" y="416021"/>
                </a:lnTo>
                <a:lnTo>
                  <a:pt x="225981" y="416096"/>
                </a:lnTo>
                <a:lnTo>
                  <a:pt x="229457" y="416177"/>
                </a:lnTo>
                <a:lnTo>
                  <a:pt x="232934" y="416263"/>
                </a:lnTo>
                <a:lnTo>
                  <a:pt x="236411" y="416354"/>
                </a:lnTo>
                <a:lnTo>
                  <a:pt x="239887" y="416449"/>
                </a:lnTo>
                <a:lnTo>
                  <a:pt x="243364" y="416548"/>
                </a:lnTo>
                <a:lnTo>
                  <a:pt x="246840" y="416651"/>
                </a:lnTo>
                <a:lnTo>
                  <a:pt x="250317" y="416757"/>
                </a:lnTo>
                <a:lnTo>
                  <a:pt x="253794" y="416866"/>
                </a:lnTo>
                <a:lnTo>
                  <a:pt x="257270" y="416977"/>
                </a:lnTo>
                <a:lnTo>
                  <a:pt x="260747" y="417090"/>
                </a:lnTo>
                <a:lnTo>
                  <a:pt x="264224" y="417204"/>
                </a:lnTo>
                <a:lnTo>
                  <a:pt x="267700" y="417320"/>
                </a:lnTo>
                <a:lnTo>
                  <a:pt x="271177" y="417436"/>
                </a:lnTo>
                <a:lnTo>
                  <a:pt x="274653" y="417552"/>
                </a:lnTo>
                <a:lnTo>
                  <a:pt x="278130" y="417667"/>
                </a:lnTo>
                <a:lnTo>
                  <a:pt x="281607" y="417782"/>
                </a:lnTo>
                <a:lnTo>
                  <a:pt x="285083" y="417894"/>
                </a:lnTo>
                <a:lnTo>
                  <a:pt x="288560" y="418005"/>
                </a:lnTo>
                <a:lnTo>
                  <a:pt x="292036" y="418113"/>
                </a:lnTo>
                <a:lnTo>
                  <a:pt x="295513" y="418218"/>
                </a:lnTo>
                <a:lnTo>
                  <a:pt x="298990" y="418319"/>
                </a:lnTo>
                <a:lnTo>
                  <a:pt x="302466" y="418416"/>
                </a:lnTo>
                <a:lnTo>
                  <a:pt x="305943" y="418509"/>
                </a:lnTo>
                <a:lnTo>
                  <a:pt x="309420" y="418596"/>
                </a:lnTo>
                <a:lnTo>
                  <a:pt x="312896" y="418678"/>
                </a:lnTo>
                <a:lnTo>
                  <a:pt x="316373" y="418754"/>
                </a:lnTo>
                <a:lnTo>
                  <a:pt x="319850" y="418823"/>
                </a:lnTo>
                <a:lnTo>
                  <a:pt x="323326" y="418886"/>
                </a:lnTo>
                <a:lnTo>
                  <a:pt x="326803" y="418941"/>
                </a:lnTo>
                <a:lnTo>
                  <a:pt x="330279" y="418988"/>
                </a:lnTo>
                <a:lnTo>
                  <a:pt x="333756" y="419028"/>
                </a:lnTo>
                <a:lnTo>
                  <a:pt x="337233" y="419059"/>
                </a:lnTo>
                <a:lnTo>
                  <a:pt x="340709" y="419082"/>
                </a:lnTo>
                <a:lnTo>
                  <a:pt x="344186" y="419095"/>
                </a:lnTo>
                <a:lnTo>
                  <a:pt x="347663" y="419100"/>
                </a:lnTo>
                <a:lnTo>
                  <a:pt x="351139" y="419095"/>
                </a:lnTo>
                <a:lnTo>
                  <a:pt x="354616" y="419081"/>
                </a:lnTo>
                <a:lnTo>
                  <a:pt x="358092" y="419057"/>
                </a:lnTo>
                <a:lnTo>
                  <a:pt x="361569" y="419024"/>
                </a:lnTo>
                <a:lnTo>
                  <a:pt x="365046" y="418981"/>
                </a:lnTo>
                <a:lnTo>
                  <a:pt x="368522" y="418928"/>
                </a:lnTo>
                <a:lnTo>
                  <a:pt x="371999" y="418865"/>
                </a:lnTo>
                <a:lnTo>
                  <a:pt x="375475" y="418792"/>
                </a:lnTo>
                <a:lnTo>
                  <a:pt x="378952" y="418710"/>
                </a:lnTo>
                <a:lnTo>
                  <a:pt x="382429" y="418618"/>
                </a:lnTo>
                <a:lnTo>
                  <a:pt x="385905" y="418517"/>
                </a:lnTo>
                <a:lnTo>
                  <a:pt x="389382" y="418406"/>
                </a:lnTo>
                <a:lnTo>
                  <a:pt x="392859" y="418287"/>
                </a:lnTo>
                <a:lnTo>
                  <a:pt x="396335" y="418159"/>
                </a:lnTo>
                <a:lnTo>
                  <a:pt x="399812" y="418022"/>
                </a:lnTo>
                <a:lnTo>
                  <a:pt x="403289" y="417878"/>
                </a:lnTo>
                <a:lnTo>
                  <a:pt x="406765" y="417726"/>
                </a:lnTo>
                <a:lnTo>
                  <a:pt x="410242" y="417567"/>
                </a:lnTo>
                <a:lnTo>
                  <a:pt x="413718" y="417401"/>
                </a:lnTo>
                <a:lnTo>
                  <a:pt x="417195" y="417229"/>
                </a:lnTo>
                <a:lnTo>
                  <a:pt x="420672" y="417051"/>
                </a:lnTo>
                <a:lnTo>
                  <a:pt x="424148" y="416868"/>
                </a:lnTo>
                <a:lnTo>
                  <a:pt x="427625" y="416680"/>
                </a:lnTo>
                <a:lnTo>
                  <a:pt x="431101" y="416488"/>
                </a:lnTo>
                <a:lnTo>
                  <a:pt x="434578" y="416292"/>
                </a:lnTo>
                <a:lnTo>
                  <a:pt x="438055" y="416094"/>
                </a:lnTo>
                <a:lnTo>
                  <a:pt x="441531" y="415894"/>
                </a:lnTo>
                <a:lnTo>
                  <a:pt x="445008" y="415692"/>
                </a:lnTo>
                <a:lnTo>
                  <a:pt x="448485" y="415490"/>
                </a:lnTo>
                <a:lnTo>
                  <a:pt x="451961" y="415288"/>
                </a:lnTo>
                <a:lnTo>
                  <a:pt x="455438" y="415086"/>
                </a:lnTo>
                <a:lnTo>
                  <a:pt x="458914" y="414885"/>
                </a:lnTo>
                <a:lnTo>
                  <a:pt x="462391" y="414687"/>
                </a:lnTo>
                <a:lnTo>
                  <a:pt x="465868" y="414491"/>
                </a:lnTo>
                <a:lnTo>
                  <a:pt x="469344" y="414299"/>
                </a:lnTo>
                <a:lnTo>
                  <a:pt x="472821" y="414112"/>
                </a:lnTo>
                <a:lnTo>
                  <a:pt x="476298" y="413929"/>
                </a:lnTo>
                <a:lnTo>
                  <a:pt x="479774" y="413752"/>
                </a:lnTo>
                <a:lnTo>
                  <a:pt x="483251" y="413582"/>
                </a:lnTo>
                <a:lnTo>
                  <a:pt x="486728" y="413418"/>
                </a:lnTo>
                <a:lnTo>
                  <a:pt x="490204" y="413263"/>
                </a:lnTo>
                <a:lnTo>
                  <a:pt x="493681" y="413115"/>
                </a:lnTo>
                <a:lnTo>
                  <a:pt x="497157" y="412977"/>
                </a:lnTo>
                <a:lnTo>
                  <a:pt x="500634" y="412848"/>
                </a:lnTo>
                <a:lnTo>
                  <a:pt x="504111" y="412729"/>
                </a:lnTo>
                <a:lnTo>
                  <a:pt x="507587" y="412622"/>
                </a:lnTo>
                <a:lnTo>
                  <a:pt x="511064" y="412525"/>
                </a:lnTo>
                <a:lnTo>
                  <a:pt x="514540" y="412440"/>
                </a:lnTo>
                <a:lnTo>
                  <a:pt x="518017" y="412366"/>
                </a:lnTo>
                <a:lnTo>
                  <a:pt x="521494" y="412306"/>
                </a:lnTo>
                <a:lnTo>
                  <a:pt x="524970" y="412258"/>
                </a:lnTo>
                <a:lnTo>
                  <a:pt x="528447" y="412223"/>
                </a:lnTo>
                <a:lnTo>
                  <a:pt x="531924" y="412201"/>
                </a:lnTo>
                <a:lnTo>
                  <a:pt x="535400" y="412193"/>
                </a:lnTo>
                <a:lnTo>
                  <a:pt x="538877" y="412199"/>
                </a:lnTo>
                <a:lnTo>
                  <a:pt x="542354" y="412218"/>
                </a:lnTo>
                <a:lnTo>
                  <a:pt x="545830" y="412251"/>
                </a:lnTo>
                <a:lnTo>
                  <a:pt x="549307" y="412298"/>
                </a:lnTo>
                <a:lnTo>
                  <a:pt x="552783" y="412358"/>
                </a:lnTo>
                <a:lnTo>
                  <a:pt x="556260" y="412432"/>
                </a:lnTo>
                <a:lnTo>
                  <a:pt x="559737" y="412519"/>
                </a:lnTo>
                <a:lnTo>
                  <a:pt x="563213" y="412619"/>
                </a:lnTo>
                <a:lnTo>
                  <a:pt x="566690" y="412732"/>
                </a:lnTo>
                <a:lnTo>
                  <a:pt x="570167" y="412858"/>
                </a:lnTo>
                <a:lnTo>
                  <a:pt x="573643" y="412996"/>
                </a:lnTo>
                <a:lnTo>
                  <a:pt x="577120" y="413145"/>
                </a:lnTo>
                <a:lnTo>
                  <a:pt x="580596" y="413305"/>
                </a:lnTo>
                <a:lnTo>
                  <a:pt x="584073" y="413476"/>
                </a:lnTo>
                <a:lnTo>
                  <a:pt x="587550" y="413656"/>
                </a:lnTo>
                <a:lnTo>
                  <a:pt x="591026" y="413846"/>
                </a:lnTo>
                <a:lnTo>
                  <a:pt x="594503" y="414044"/>
                </a:lnTo>
                <a:lnTo>
                  <a:pt x="597979" y="414250"/>
                </a:lnTo>
                <a:lnTo>
                  <a:pt x="601456" y="414463"/>
                </a:lnTo>
                <a:lnTo>
                  <a:pt x="604933" y="414682"/>
                </a:lnTo>
                <a:lnTo>
                  <a:pt x="608409" y="414906"/>
                </a:lnTo>
                <a:lnTo>
                  <a:pt x="611886" y="415134"/>
                </a:lnTo>
                <a:lnTo>
                  <a:pt x="615363" y="415366"/>
                </a:lnTo>
                <a:lnTo>
                  <a:pt x="618839" y="415599"/>
                </a:lnTo>
                <a:lnTo>
                  <a:pt x="622316" y="415834"/>
                </a:lnTo>
                <a:lnTo>
                  <a:pt x="625793" y="416069"/>
                </a:lnTo>
                <a:lnTo>
                  <a:pt x="629269" y="416303"/>
                </a:lnTo>
                <a:lnTo>
                  <a:pt x="632746" y="416535"/>
                </a:lnTo>
                <a:lnTo>
                  <a:pt x="636222" y="416763"/>
                </a:lnTo>
                <a:lnTo>
                  <a:pt x="639699" y="416988"/>
                </a:lnTo>
                <a:lnTo>
                  <a:pt x="643176" y="417207"/>
                </a:lnTo>
                <a:lnTo>
                  <a:pt x="646652" y="417419"/>
                </a:lnTo>
                <a:lnTo>
                  <a:pt x="650129" y="417624"/>
                </a:lnTo>
                <a:lnTo>
                  <a:pt x="653606" y="417820"/>
                </a:lnTo>
                <a:lnTo>
                  <a:pt x="657082" y="418006"/>
                </a:lnTo>
                <a:lnTo>
                  <a:pt x="660559" y="418181"/>
                </a:lnTo>
                <a:lnTo>
                  <a:pt x="664035" y="418343"/>
                </a:lnTo>
                <a:lnTo>
                  <a:pt x="667512" y="418493"/>
                </a:lnTo>
                <a:lnTo>
                  <a:pt x="670989" y="418628"/>
                </a:lnTo>
                <a:lnTo>
                  <a:pt x="674465" y="418749"/>
                </a:lnTo>
                <a:lnTo>
                  <a:pt x="677942" y="418853"/>
                </a:lnTo>
                <a:lnTo>
                  <a:pt x="681418" y="418940"/>
                </a:lnTo>
                <a:lnTo>
                  <a:pt x="684895" y="419009"/>
                </a:lnTo>
                <a:lnTo>
                  <a:pt x="688372" y="419059"/>
                </a:lnTo>
                <a:lnTo>
                  <a:pt x="691848" y="419090"/>
                </a:lnTo>
                <a:lnTo>
                  <a:pt x="695325" y="419100"/>
                </a:lnTo>
                <a:lnTo>
                  <a:pt x="698802" y="419089"/>
                </a:lnTo>
                <a:lnTo>
                  <a:pt x="702278" y="419057"/>
                </a:lnTo>
                <a:lnTo>
                  <a:pt x="705755" y="419003"/>
                </a:lnTo>
                <a:lnTo>
                  <a:pt x="709232" y="418926"/>
                </a:lnTo>
                <a:lnTo>
                  <a:pt x="712708" y="418827"/>
                </a:lnTo>
                <a:lnTo>
                  <a:pt x="716185" y="418704"/>
                </a:lnTo>
                <a:lnTo>
                  <a:pt x="719661" y="418558"/>
                </a:lnTo>
                <a:lnTo>
                  <a:pt x="723138" y="418388"/>
                </a:lnTo>
                <a:lnTo>
                  <a:pt x="726615" y="418194"/>
                </a:lnTo>
                <a:lnTo>
                  <a:pt x="730091" y="417977"/>
                </a:lnTo>
                <a:lnTo>
                  <a:pt x="733568" y="417736"/>
                </a:lnTo>
                <a:lnTo>
                  <a:pt x="737045" y="417472"/>
                </a:lnTo>
                <a:lnTo>
                  <a:pt x="740521" y="417185"/>
                </a:lnTo>
                <a:lnTo>
                  <a:pt x="743998" y="416875"/>
                </a:lnTo>
                <a:lnTo>
                  <a:pt x="747474" y="416543"/>
                </a:lnTo>
                <a:lnTo>
                  <a:pt x="750951" y="416189"/>
                </a:lnTo>
                <a:lnTo>
                  <a:pt x="754428" y="415814"/>
                </a:lnTo>
                <a:lnTo>
                  <a:pt x="757904" y="415419"/>
                </a:lnTo>
                <a:lnTo>
                  <a:pt x="761381" y="415005"/>
                </a:lnTo>
                <a:lnTo>
                  <a:pt x="764857" y="414572"/>
                </a:lnTo>
                <a:lnTo>
                  <a:pt x="768334" y="414121"/>
                </a:lnTo>
                <a:lnTo>
                  <a:pt x="771811" y="413655"/>
                </a:lnTo>
                <a:lnTo>
                  <a:pt x="775287" y="413172"/>
                </a:lnTo>
                <a:lnTo>
                  <a:pt x="778764" y="412676"/>
                </a:lnTo>
                <a:lnTo>
                  <a:pt x="782241" y="412167"/>
                </a:lnTo>
                <a:lnTo>
                  <a:pt x="785717" y="411647"/>
                </a:lnTo>
                <a:lnTo>
                  <a:pt x="789194" y="411117"/>
                </a:lnTo>
                <a:lnTo>
                  <a:pt x="792671" y="410578"/>
                </a:lnTo>
                <a:lnTo>
                  <a:pt x="796147" y="410033"/>
                </a:lnTo>
                <a:lnTo>
                  <a:pt x="799624" y="409483"/>
                </a:lnTo>
                <a:lnTo>
                  <a:pt x="803100" y="408930"/>
                </a:lnTo>
                <a:lnTo>
                  <a:pt x="806577" y="408374"/>
                </a:lnTo>
                <a:lnTo>
                  <a:pt x="810054" y="407819"/>
                </a:lnTo>
                <a:lnTo>
                  <a:pt x="813530" y="407266"/>
                </a:lnTo>
                <a:lnTo>
                  <a:pt x="817007" y="406717"/>
                </a:lnTo>
                <a:lnTo>
                  <a:pt x="820483" y="406174"/>
                </a:lnTo>
                <a:lnTo>
                  <a:pt x="823960" y="405638"/>
                </a:lnTo>
                <a:lnTo>
                  <a:pt x="827437" y="405112"/>
                </a:lnTo>
                <a:lnTo>
                  <a:pt x="830913" y="404598"/>
                </a:lnTo>
                <a:lnTo>
                  <a:pt x="834390" y="404097"/>
                </a:lnTo>
                <a:lnTo>
                  <a:pt x="837867" y="403611"/>
                </a:lnTo>
                <a:lnTo>
                  <a:pt x="841343" y="403142"/>
                </a:lnTo>
                <a:lnTo>
                  <a:pt x="844820" y="402692"/>
                </a:lnTo>
                <a:lnTo>
                  <a:pt x="848296" y="402264"/>
                </a:lnTo>
                <a:lnTo>
                  <a:pt x="851773" y="401858"/>
                </a:lnTo>
                <a:lnTo>
                  <a:pt x="855250" y="401476"/>
                </a:lnTo>
                <a:lnTo>
                  <a:pt x="858726" y="401121"/>
                </a:lnTo>
                <a:lnTo>
                  <a:pt x="862203" y="400793"/>
                </a:lnTo>
                <a:lnTo>
                  <a:pt x="865680" y="400495"/>
                </a:lnTo>
                <a:lnTo>
                  <a:pt x="869156" y="400227"/>
                </a:lnTo>
                <a:lnTo>
                  <a:pt x="872633" y="399992"/>
                </a:lnTo>
                <a:lnTo>
                  <a:pt x="876110" y="399790"/>
                </a:lnTo>
                <a:lnTo>
                  <a:pt x="879586" y="399623"/>
                </a:lnTo>
                <a:lnTo>
                  <a:pt x="883063" y="399492"/>
                </a:lnTo>
                <a:lnTo>
                  <a:pt x="886539" y="399397"/>
                </a:lnTo>
                <a:lnTo>
                  <a:pt x="890016" y="399341"/>
                </a:lnTo>
                <a:lnTo>
                  <a:pt x="893493" y="399322"/>
                </a:lnTo>
                <a:lnTo>
                  <a:pt x="896969" y="399343"/>
                </a:lnTo>
                <a:lnTo>
                  <a:pt x="900446" y="399404"/>
                </a:lnTo>
                <a:lnTo>
                  <a:pt x="903922" y="399504"/>
                </a:lnTo>
                <a:lnTo>
                  <a:pt x="907399" y="399644"/>
                </a:lnTo>
                <a:lnTo>
                  <a:pt x="910876" y="399824"/>
                </a:lnTo>
                <a:lnTo>
                  <a:pt x="914352" y="400044"/>
                </a:lnTo>
                <a:lnTo>
                  <a:pt x="917829" y="400304"/>
                </a:lnTo>
                <a:lnTo>
                  <a:pt x="921306" y="400603"/>
                </a:lnTo>
                <a:lnTo>
                  <a:pt x="924782" y="400940"/>
                </a:lnTo>
                <a:lnTo>
                  <a:pt x="928259" y="401315"/>
                </a:lnTo>
                <a:lnTo>
                  <a:pt x="931735" y="401726"/>
                </a:lnTo>
                <a:lnTo>
                  <a:pt x="935212" y="402173"/>
                </a:lnTo>
                <a:lnTo>
                  <a:pt x="938689" y="402655"/>
                </a:lnTo>
                <a:lnTo>
                  <a:pt x="942165" y="403168"/>
                </a:lnTo>
                <a:lnTo>
                  <a:pt x="945642" y="403713"/>
                </a:lnTo>
                <a:lnTo>
                  <a:pt x="949119" y="404286"/>
                </a:lnTo>
                <a:lnTo>
                  <a:pt x="952595" y="404887"/>
                </a:lnTo>
                <a:lnTo>
                  <a:pt x="956072" y="405512"/>
                </a:lnTo>
                <a:lnTo>
                  <a:pt x="959549" y="406159"/>
                </a:lnTo>
                <a:lnTo>
                  <a:pt x="963025" y="406825"/>
                </a:lnTo>
                <a:lnTo>
                  <a:pt x="966502" y="407508"/>
                </a:lnTo>
                <a:lnTo>
                  <a:pt x="969978" y="408205"/>
                </a:lnTo>
                <a:lnTo>
                  <a:pt x="973455" y="408912"/>
                </a:lnTo>
                <a:lnTo>
                  <a:pt x="976932" y="409626"/>
                </a:lnTo>
                <a:lnTo>
                  <a:pt x="980408" y="410344"/>
                </a:lnTo>
                <a:lnTo>
                  <a:pt x="983885" y="411062"/>
                </a:lnTo>
                <a:lnTo>
                  <a:pt x="987361" y="411776"/>
                </a:lnTo>
                <a:lnTo>
                  <a:pt x="990838" y="412482"/>
                </a:lnTo>
                <a:lnTo>
                  <a:pt x="994315" y="413177"/>
                </a:lnTo>
                <a:lnTo>
                  <a:pt x="997791" y="413855"/>
                </a:lnTo>
                <a:lnTo>
                  <a:pt x="1001268" y="414513"/>
                </a:lnTo>
                <a:lnTo>
                  <a:pt x="1004745" y="415145"/>
                </a:lnTo>
                <a:lnTo>
                  <a:pt x="1008221" y="415749"/>
                </a:lnTo>
                <a:lnTo>
                  <a:pt x="1011698" y="416318"/>
                </a:lnTo>
                <a:lnTo>
                  <a:pt x="1015175" y="416848"/>
                </a:lnTo>
                <a:lnTo>
                  <a:pt x="1018651" y="417335"/>
                </a:lnTo>
                <a:lnTo>
                  <a:pt x="1022128" y="417773"/>
                </a:lnTo>
                <a:lnTo>
                  <a:pt x="1025604" y="418157"/>
                </a:lnTo>
                <a:lnTo>
                  <a:pt x="1029081" y="418483"/>
                </a:lnTo>
                <a:lnTo>
                  <a:pt x="1032558" y="418746"/>
                </a:lnTo>
                <a:lnTo>
                  <a:pt x="1036034" y="418939"/>
                </a:lnTo>
                <a:lnTo>
                  <a:pt x="1039511" y="419059"/>
                </a:lnTo>
                <a:lnTo>
                  <a:pt x="1042988" y="419100"/>
                </a:lnTo>
                <a:lnTo>
                  <a:pt x="1046464" y="419057"/>
                </a:lnTo>
                <a:lnTo>
                  <a:pt x="1049941" y="418926"/>
                </a:lnTo>
                <a:lnTo>
                  <a:pt x="1053417" y="418700"/>
                </a:lnTo>
                <a:lnTo>
                  <a:pt x="1056894" y="418376"/>
                </a:lnTo>
                <a:lnTo>
                  <a:pt x="1060371" y="417949"/>
                </a:lnTo>
                <a:lnTo>
                  <a:pt x="1063847" y="417413"/>
                </a:lnTo>
                <a:lnTo>
                  <a:pt x="1067324" y="416764"/>
                </a:lnTo>
                <a:lnTo>
                  <a:pt x="1070800" y="415997"/>
                </a:lnTo>
                <a:lnTo>
                  <a:pt x="1074277" y="415109"/>
                </a:lnTo>
                <a:lnTo>
                  <a:pt x="1077754" y="414094"/>
                </a:lnTo>
                <a:lnTo>
                  <a:pt x="1081230" y="412949"/>
                </a:lnTo>
                <a:lnTo>
                  <a:pt x="1084707" y="411669"/>
                </a:lnTo>
                <a:lnTo>
                  <a:pt x="1088184" y="410251"/>
                </a:lnTo>
                <a:lnTo>
                  <a:pt x="1091660" y="408691"/>
                </a:lnTo>
                <a:lnTo>
                  <a:pt x="1095137" y="406986"/>
                </a:lnTo>
                <a:lnTo>
                  <a:pt x="1098614" y="405133"/>
                </a:lnTo>
                <a:lnTo>
                  <a:pt x="1102090" y="403128"/>
                </a:lnTo>
                <a:lnTo>
                  <a:pt x="1105567" y="400968"/>
                </a:lnTo>
                <a:lnTo>
                  <a:pt x="1109043" y="398652"/>
                </a:lnTo>
                <a:lnTo>
                  <a:pt x="1112520" y="396177"/>
                </a:lnTo>
                <a:lnTo>
                  <a:pt x="1115997" y="393540"/>
                </a:lnTo>
                <a:lnTo>
                  <a:pt x="1119473" y="390741"/>
                </a:lnTo>
                <a:lnTo>
                  <a:pt x="1122950" y="387778"/>
                </a:lnTo>
                <a:lnTo>
                  <a:pt x="1126427" y="384649"/>
                </a:lnTo>
                <a:lnTo>
                  <a:pt x="1129903" y="381354"/>
                </a:lnTo>
                <a:lnTo>
                  <a:pt x="1133380" y="377893"/>
                </a:lnTo>
                <a:lnTo>
                  <a:pt x="1136856" y="374264"/>
                </a:lnTo>
                <a:lnTo>
                  <a:pt x="1140333" y="370469"/>
                </a:lnTo>
                <a:lnTo>
                  <a:pt x="1143810" y="366507"/>
                </a:lnTo>
                <a:lnTo>
                  <a:pt x="1147286" y="362380"/>
                </a:lnTo>
                <a:lnTo>
                  <a:pt x="1150763" y="358088"/>
                </a:lnTo>
                <a:lnTo>
                  <a:pt x="1154240" y="353633"/>
                </a:lnTo>
                <a:lnTo>
                  <a:pt x="1157716" y="349017"/>
                </a:lnTo>
                <a:lnTo>
                  <a:pt x="1161193" y="344241"/>
                </a:lnTo>
                <a:lnTo>
                  <a:pt x="1164669" y="339309"/>
                </a:lnTo>
                <a:lnTo>
                  <a:pt x="1168146" y="334223"/>
                </a:lnTo>
                <a:lnTo>
                  <a:pt x="1171623" y="328986"/>
                </a:lnTo>
                <a:lnTo>
                  <a:pt x="1175099" y="323603"/>
                </a:lnTo>
                <a:lnTo>
                  <a:pt x="1178576" y="318075"/>
                </a:lnTo>
                <a:lnTo>
                  <a:pt x="1182052" y="312409"/>
                </a:lnTo>
                <a:lnTo>
                  <a:pt x="1185529" y="306608"/>
                </a:lnTo>
                <a:lnTo>
                  <a:pt x="1189006" y="300677"/>
                </a:lnTo>
                <a:lnTo>
                  <a:pt x="1192482" y="294622"/>
                </a:lnTo>
                <a:lnTo>
                  <a:pt x="1195959" y="288447"/>
                </a:lnTo>
                <a:lnTo>
                  <a:pt x="1199436" y="282159"/>
                </a:lnTo>
                <a:lnTo>
                  <a:pt x="1202912" y="275764"/>
                </a:lnTo>
                <a:lnTo>
                  <a:pt x="1206389" y="269269"/>
                </a:lnTo>
                <a:lnTo>
                  <a:pt x="1209865" y="262679"/>
                </a:lnTo>
                <a:lnTo>
                  <a:pt x="1213342" y="256002"/>
                </a:lnTo>
                <a:lnTo>
                  <a:pt x="1216819" y="249245"/>
                </a:lnTo>
                <a:lnTo>
                  <a:pt x="1220295" y="242416"/>
                </a:lnTo>
                <a:lnTo>
                  <a:pt x="1223772" y="235522"/>
                </a:lnTo>
                <a:lnTo>
                  <a:pt x="1227249" y="228572"/>
                </a:lnTo>
                <a:lnTo>
                  <a:pt x="1230725" y="221573"/>
                </a:lnTo>
                <a:lnTo>
                  <a:pt x="1234202" y="214534"/>
                </a:lnTo>
                <a:lnTo>
                  <a:pt x="1237679" y="207464"/>
                </a:lnTo>
                <a:lnTo>
                  <a:pt x="1241155" y="200371"/>
                </a:lnTo>
                <a:lnTo>
                  <a:pt x="1244632" y="193264"/>
                </a:lnTo>
                <a:lnTo>
                  <a:pt x="1248108" y="186152"/>
                </a:lnTo>
                <a:lnTo>
                  <a:pt x="1251585" y="179045"/>
                </a:lnTo>
                <a:lnTo>
                  <a:pt x="1255062" y="171952"/>
                </a:lnTo>
                <a:lnTo>
                  <a:pt x="1258538" y="164881"/>
                </a:lnTo>
                <a:lnTo>
                  <a:pt x="1262015" y="157843"/>
                </a:lnTo>
                <a:lnTo>
                  <a:pt x="1265492" y="150847"/>
                </a:lnTo>
                <a:lnTo>
                  <a:pt x="1268968" y="143903"/>
                </a:lnTo>
                <a:lnTo>
                  <a:pt x="1272445" y="137020"/>
                </a:lnTo>
                <a:lnTo>
                  <a:pt x="1275921" y="130208"/>
                </a:lnTo>
                <a:lnTo>
                  <a:pt x="1279398" y="123476"/>
                </a:lnTo>
                <a:lnTo>
                  <a:pt x="1282875" y="116833"/>
                </a:lnTo>
                <a:lnTo>
                  <a:pt x="1286351" y="110290"/>
                </a:lnTo>
                <a:lnTo>
                  <a:pt x="1289828" y="103856"/>
                </a:lnTo>
                <a:lnTo>
                  <a:pt x="1293304" y="97540"/>
                </a:lnTo>
                <a:lnTo>
                  <a:pt x="1296781" y="91351"/>
                </a:lnTo>
                <a:lnTo>
                  <a:pt x="1300258" y="85298"/>
                </a:lnTo>
                <a:lnTo>
                  <a:pt x="1303734" y="79390"/>
                </a:lnTo>
                <a:lnTo>
                  <a:pt x="1307211" y="73637"/>
                </a:lnTo>
                <a:lnTo>
                  <a:pt x="1310688" y="68045"/>
                </a:lnTo>
                <a:lnTo>
                  <a:pt x="1314164" y="62625"/>
                </a:lnTo>
                <a:lnTo>
                  <a:pt x="1317641" y="57383"/>
                </a:lnTo>
                <a:lnTo>
                  <a:pt x="1321118" y="52329"/>
                </a:lnTo>
                <a:lnTo>
                  <a:pt x="1324594" y="47469"/>
                </a:lnTo>
                <a:lnTo>
                  <a:pt x="1328071" y="42811"/>
                </a:lnTo>
                <a:lnTo>
                  <a:pt x="1331547" y="38362"/>
                </a:lnTo>
                <a:lnTo>
                  <a:pt x="1335024" y="34129"/>
                </a:lnTo>
                <a:lnTo>
                  <a:pt x="1338501" y="30119"/>
                </a:lnTo>
                <a:lnTo>
                  <a:pt x="1341977" y="26337"/>
                </a:lnTo>
                <a:lnTo>
                  <a:pt x="1345454" y="22789"/>
                </a:lnTo>
                <a:lnTo>
                  <a:pt x="1348930" y="19482"/>
                </a:lnTo>
                <a:lnTo>
                  <a:pt x="1352407" y="16420"/>
                </a:lnTo>
                <a:lnTo>
                  <a:pt x="1355884" y="13608"/>
                </a:lnTo>
                <a:lnTo>
                  <a:pt x="1359360" y="11050"/>
                </a:lnTo>
                <a:lnTo>
                  <a:pt x="1362837" y="8750"/>
                </a:lnTo>
                <a:lnTo>
                  <a:pt x="1366314" y="6713"/>
                </a:lnTo>
                <a:lnTo>
                  <a:pt x="1369790" y="4940"/>
                </a:lnTo>
                <a:lnTo>
                  <a:pt x="1373267" y="3436"/>
                </a:lnTo>
                <a:lnTo>
                  <a:pt x="1376743" y="2201"/>
                </a:lnTo>
                <a:lnTo>
                  <a:pt x="1380220" y="1239"/>
                </a:lnTo>
                <a:lnTo>
                  <a:pt x="1383697" y="551"/>
                </a:lnTo>
                <a:lnTo>
                  <a:pt x="1387173" y="138"/>
                </a:lnTo>
                <a:lnTo>
                  <a:pt x="1390650" y="0"/>
                </a:lnTo>
                <a:lnTo>
                  <a:pt x="1394127" y="138"/>
                </a:lnTo>
                <a:lnTo>
                  <a:pt x="1397603" y="551"/>
                </a:lnTo>
                <a:lnTo>
                  <a:pt x="1401080" y="1239"/>
                </a:lnTo>
                <a:lnTo>
                  <a:pt x="1404557" y="2201"/>
                </a:lnTo>
                <a:lnTo>
                  <a:pt x="1408033" y="3436"/>
                </a:lnTo>
                <a:lnTo>
                  <a:pt x="1411510" y="4940"/>
                </a:lnTo>
                <a:lnTo>
                  <a:pt x="1414986" y="6713"/>
                </a:lnTo>
                <a:lnTo>
                  <a:pt x="1418463" y="8750"/>
                </a:lnTo>
                <a:lnTo>
                  <a:pt x="1421940" y="11050"/>
                </a:lnTo>
                <a:lnTo>
                  <a:pt x="1425416" y="13608"/>
                </a:lnTo>
                <a:lnTo>
                  <a:pt x="1428893" y="16420"/>
                </a:lnTo>
                <a:lnTo>
                  <a:pt x="1432370" y="19482"/>
                </a:lnTo>
                <a:lnTo>
                  <a:pt x="1435846" y="22789"/>
                </a:lnTo>
                <a:lnTo>
                  <a:pt x="1439323" y="26337"/>
                </a:lnTo>
                <a:lnTo>
                  <a:pt x="1442799" y="30119"/>
                </a:lnTo>
                <a:lnTo>
                  <a:pt x="1446276" y="34129"/>
                </a:lnTo>
                <a:lnTo>
                  <a:pt x="1449753" y="38362"/>
                </a:lnTo>
                <a:lnTo>
                  <a:pt x="1453229" y="42811"/>
                </a:lnTo>
                <a:lnTo>
                  <a:pt x="1456706" y="47469"/>
                </a:lnTo>
                <a:lnTo>
                  <a:pt x="1460182" y="52329"/>
                </a:lnTo>
                <a:lnTo>
                  <a:pt x="1463659" y="57383"/>
                </a:lnTo>
                <a:lnTo>
                  <a:pt x="1467136" y="62625"/>
                </a:lnTo>
                <a:lnTo>
                  <a:pt x="1470612" y="68045"/>
                </a:lnTo>
                <a:lnTo>
                  <a:pt x="1474089" y="73637"/>
                </a:lnTo>
                <a:lnTo>
                  <a:pt x="1477566" y="79390"/>
                </a:lnTo>
                <a:lnTo>
                  <a:pt x="1481042" y="85298"/>
                </a:lnTo>
                <a:lnTo>
                  <a:pt x="1484519" y="91351"/>
                </a:lnTo>
                <a:lnTo>
                  <a:pt x="1487996" y="97540"/>
                </a:lnTo>
                <a:lnTo>
                  <a:pt x="1491472" y="103856"/>
                </a:lnTo>
                <a:lnTo>
                  <a:pt x="1494949" y="110290"/>
                </a:lnTo>
                <a:lnTo>
                  <a:pt x="1498425" y="116833"/>
                </a:lnTo>
                <a:lnTo>
                  <a:pt x="1501902" y="123476"/>
                </a:lnTo>
                <a:lnTo>
                  <a:pt x="1505379" y="130208"/>
                </a:lnTo>
                <a:lnTo>
                  <a:pt x="1508855" y="137020"/>
                </a:lnTo>
                <a:lnTo>
                  <a:pt x="1512332" y="143903"/>
                </a:lnTo>
                <a:lnTo>
                  <a:pt x="1515808" y="150847"/>
                </a:lnTo>
                <a:lnTo>
                  <a:pt x="1519285" y="157843"/>
                </a:lnTo>
                <a:lnTo>
                  <a:pt x="1522762" y="164881"/>
                </a:lnTo>
                <a:lnTo>
                  <a:pt x="1526238" y="171952"/>
                </a:lnTo>
                <a:lnTo>
                  <a:pt x="1529715" y="179045"/>
                </a:lnTo>
                <a:lnTo>
                  <a:pt x="1533192" y="186152"/>
                </a:lnTo>
                <a:lnTo>
                  <a:pt x="1536668" y="193264"/>
                </a:lnTo>
                <a:lnTo>
                  <a:pt x="1540145" y="200371"/>
                </a:lnTo>
                <a:lnTo>
                  <a:pt x="1543621" y="207464"/>
                </a:lnTo>
                <a:lnTo>
                  <a:pt x="1547098" y="214534"/>
                </a:lnTo>
                <a:lnTo>
                  <a:pt x="1550575" y="221573"/>
                </a:lnTo>
                <a:lnTo>
                  <a:pt x="1554051" y="228572"/>
                </a:lnTo>
                <a:lnTo>
                  <a:pt x="1557528" y="235522"/>
                </a:lnTo>
                <a:lnTo>
                  <a:pt x="1561005" y="242416"/>
                </a:lnTo>
                <a:lnTo>
                  <a:pt x="1564481" y="249245"/>
                </a:lnTo>
                <a:lnTo>
                  <a:pt x="1567958" y="256002"/>
                </a:lnTo>
                <a:lnTo>
                  <a:pt x="1571435" y="262679"/>
                </a:lnTo>
                <a:lnTo>
                  <a:pt x="1574911" y="269269"/>
                </a:lnTo>
                <a:lnTo>
                  <a:pt x="1578388" y="275764"/>
                </a:lnTo>
                <a:lnTo>
                  <a:pt x="1581864" y="282159"/>
                </a:lnTo>
                <a:lnTo>
                  <a:pt x="1585341" y="288447"/>
                </a:lnTo>
                <a:lnTo>
                  <a:pt x="1588818" y="294622"/>
                </a:lnTo>
                <a:lnTo>
                  <a:pt x="1592294" y="300677"/>
                </a:lnTo>
                <a:lnTo>
                  <a:pt x="1595771" y="306608"/>
                </a:lnTo>
                <a:lnTo>
                  <a:pt x="1599248" y="312409"/>
                </a:lnTo>
                <a:lnTo>
                  <a:pt x="1602724" y="318075"/>
                </a:lnTo>
                <a:lnTo>
                  <a:pt x="1606201" y="323603"/>
                </a:lnTo>
                <a:lnTo>
                  <a:pt x="1609677" y="328986"/>
                </a:lnTo>
                <a:lnTo>
                  <a:pt x="1613154" y="334223"/>
                </a:lnTo>
                <a:lnTo>
                  <a:pt x="1616631" y="339309"/>
                </a:lnTo>
                <a:lnTo>
                  <a:pt x="1620107" y="344241"/>
                </a:lnTo>
                <a:lnTo>
                  <a:pt x="1623584" y="349017"/>
                </a:lnTo>
                <a:lnTo>
                  <a:pt x="1627060" y="353633"/>
                </a:lnTo>
                <a:lnTo>
                  <a:pt x="1630537" y="358088"/>
                </a:lnTo>
                <a:lnTo>
                  <a:pt x="1634014" y="362380"/>
                </a:lnTo>
                <a:lnTo>
                  <a:pt x="1637490" y="366507"/>
                </a:lnTo>
                <a:lnTo>
                  <a:pt x="1640967" y="370469"/>
                </a:lnTo>
                <a:lnTo>
                  <a:pt x="1644444" y="374264"/>
                </a:lnTo>
                <a:lnTo>
                  <a:pt x="1647920" y="377893"/>
                </a:lnTo>
                <a:lnTo>
                  <a:pt x="1651397" y="381354"/>
                </a:lnTo>
                <a:lnTo>
                  <a:pt x="1654874" y="384649"/>
                </a:lnTo>
                <a:lnTo>
                  <a:pt x="1658350" y="387778"/>
                </a:lnTo>
                <a:lnTo>
                  <a:pt x="1661827" y="390741"/>
                </a:lnTo>
                <a:lnTo>
                  <a:pt x="1665303" y="393540"/>
                </a:lnTo>
                <a:lnTo>
                  <a:pt x="1668780" y="396177"/>
                </a:lnTo>
                <a:lnTo>
                  <a:pt x="1672257" y="398652"/>
                </a:lnTo>
                <a:lnTo>
                  <a:pt x="1675733" y="400968"/>
                </a:lnTo>
                <a:lnTo>
                  <a:pt x="1679210" y="403128"/>
                </a:lnTo>
                <a:lnTo>
                  <a:pt x="1682687" y="405133"/>
                </a:lnTo>
                <a:lnTo>
                  <a:pt x="1686163" y="406986"/>
                </a:lnTo>
                <a:lnTo>
                  <a:pt x="1689640" y="408691"/>
                </a:lnTo>
                <a:lnTo>
                  <a:pt x="1693116" y="410251"/>
                </a:lnTo>
                <a:lnTo>
                  <a:pt x="1696593" y="411669"/>
                </a:lnTo>
                <a:lnTo>
                  <a:pt x="1700070" y="412949"/>
                </a:lnTo>
                <a:lnTo>
                  <a:pt x="1703546" y="414094"/>
                </a:lnTo>
                <a:lnTo>
                  <a:pt x="1707023" y="415109"/>
                </a:lnTo>
                <a:lnTo>
                  <a:pt x="1710499" y="415997"/>
                </a:lnTo>
                <a:lnTo>
                  <a:pt x="1713976" y="416764"/>
                </a:lnTo>
                <a:lnTo>
                  <a:pt x="1717453" y="417413"/>
                </a:lnTo>
                <a:lnTo>
                  <a:pt x="1720929" y="417949"/>
                </a:lnTo>
                <a:lnTo>
                  <a:pt x="1724406" y="418376"/>
                </a:lnTo>
                <a:lnTo>
                  <a:pt x="1727883" y="418700"/>
                </a:lnTo>
                <a:lnTo>
                  <a:pt x="1731359" y="418926"/>
                </a:lnTo>
                <a:lnTo>
                  <a:pt x="1734836" y="419057"/>
                </a:lnTo>
                <a:lnTo>
                  <a:pt x="1738313" y="419100"/>
                </a:lnTo>
                <a:lnTo>
                  <a:pt x="1741789" y="419059"/>
                </a:lnTo>
                <a:lnTo>
                  <a:pt x="1745266" y="418939"/>
                </a:lnTo>
                <a:lnTo>
                  <a:pt x="1748742" y="418746"/>
                </a:lnTo>
                <a:lnTo>
                  <a:pt x="1752219" y="418483"/>
                </a:lnTo>
                <a:lnTo>
                  <a:pt x="1755696" y="418157"/>
                </a:lnTo>
                <a:lnTo>
                  <a:pt x="1759172" y="417773"/>
                </a:lnTo>
                <a:lnTo>
                  <a:pt x="1762649" y="417335"/>
                </a:lnTo>
                <a:lnTo>
                  <a:pt x="1766126" y="416848"/>
                </a:lnTo>
                <a:lnTo>
                  <a:pt x="1769602" y="416318"/>
                </a:lnTo>
                <a:lnTo>
                  <a:pt x="1773079" y="415749"/>
                </a:lnTo>
                <a:lnTo>
                  <a:pt x="1776555" y="415145"/>
                </a:lnTo>
                <a:lnTo>
                  <a:pt x="1780032" y="414513"/>
                </a:lnTo>
                <a:lnTo>
                  <a:pt x="1783509" y="413855"/>
                </a:lnTo>
                <a:lnTo>
                  <a:pt x="1786985" y="413177"/>
                </a:lnTo>
                <a:lnTo>
                  <a:pt x="1790462" y="412482"/>
                </a:lnTo>
                <a:lnTo>
                  <a:pt x="1793938" y="411776"/>
                </a:lnTo>
                <a:lnTo>
                  <a:pt x="1797415" y="411062"/>
                </a:lnTo>
                <a:lnTo>
                  <a:pt x="1800892" y="410344"/>
                </a:lnTo>
                <a:lnTo>
                  <a:pt x="1804368" y="409626"/>
                </a:lnTo>
                <a:lnTo>
                  <a:pt x="1807845" y="408912"/>
                </a:lnTo>
                <a:lnTo>
                  <a:pt x="1811322" y="408205"/>
                </a:lnTo>
                <a:lnTo>
                  <a:pt x="1814798" y="407508"/>
                </a:lnTo>
                <a:lnTo>
                  <a:pt x="1818275" y="406825"/>
                </a:lnTo>
                <a:lnTo>
                  <a:pt x="1821752" y="406159"/>
                </a:lnTo>
                <a:lnTo>
                  <a:pt x="1825228" y="405512"/>
                </a:lnTo>
                <a:lnTo>
                  <a:pt x="1828705" y="404887"/>
                </a:lnTo>
                <a:lnTo>
                  <a:pt x="1832181" y="404286"/>
                </a:lnTo>
                <a:lnTo>
                  <a:pt x="1835658" y="403713"/>
                </a:lnTo>
                <a:lnTo>
                  <a:pt x="1839135" y="403168"/>
                </a:lnTo>
                <a:lnTo>
                  <a:pt x="1842611" y="402655"/>
                </a:lnTo>
                <a:lnTo>
                  <a:pt x="1846088" y="402173"/>
                </a:lnTo>
                <a:lnTo>
                  <a:pt x="1849565" y="401726"/>
                </a:lnTo>
                <a:lnTo>
                  <a:pt x="1853041" y="401315"/>
                </a:lnTo>
                <a:lnTo>
                  <a:pt x="1856518" y="400940"/>
                </a:lnTo>
                <a:lnTo>
                  <a:pt x="1859994" y="400603"/>
                </a:lnTo>
                <a:lnTo>
                  <a:pt x="1863471" y="400304"/>
                </a:lnTo>
                <a:lnTo>
                  <a:pt x="1866948" y="400044"/>
                </a:lnTo>
                <a:lnTo>
                  <a:pt x="1870424" y="399824"/>
                </a:lnTo>
                <a:lnTo>
                  <a:pt x="1873901" y="399644"/>
                </a:lnTo>
                <a:lnTo>
                  <a:pt x="1877377" y="399504"/>
                </a:lnTo>
                <a:lnTo>
                  <a:pt x="1880854" y="399404"/>
                </a:lnTo>
                <a:lnTo>
                  <a:pt x="1884331" y="399343"/>
                </a:lnTo>
                <a:lnTo>
                  <a:pt x="1887807" y="399322"/>
                </a:lnTo>
                <a:lnTo>
                  <a:pt x="1891284" y="399341"/>
                </a:lnTo>
                <a:lnTo>
                  <a:pt x="1894761" y="399397"/>
                </a:lnTo>
                <a:lnTo>
                  <a:pt x="1898237" y="399492"/>
                </a:lnTo>
                <a:lnTo>
                  <a:pt x="1901714" y="399623"/>
                </a:lnTo>
                <a:lnTo>
                  <a:pt x="1905190" y="399790"/>
                </a:lnTo>
                <a:lnTo>
                  <a:pt x="1908667" y="399992"/>
                </a:lnTo>
                <a:lnTo>
                  <a:pt x="1912144" y="400227"/>
                </a:lnTo>
                <a:lnTo>
                  <a:pt x="1915620" y="400495"/>
                </a:lnTo>
                <a:lnTo>
                  <a:pt x="1919097" y="400793"/>
                </a:lnTo>
                <a:lnTo>
                  <a:pt x="1922574" y="401121"/>
                </a:lnTo>
                <a:lnTo>
                  <a:pt x="1926050" y="401476"/>
                </a:lnTo>
                <a:lnTo>
                  <a:pt x="1929527" y="401858"/>
                </a:lnTo>
                <a:lnTo>
                  <a:pt x="1933004" y="402264"/>
                </a:lnTo>
                <a:lnTo>
                  <a:pt x="1936480" y="402692"/>
                </a:lnTo>
                <a:lnTo>
                  <a:pt x="1939957" y="403142"/>
                </a:lnTo>
                <a:lnTo>
                  <a:pt x="1943433" y="403611"/>
                </a:lnTo>
                <a:lnTo>
                  <a:pt x="1946910" y="404097"/>
                </a:lnTo>
                <a:lnTo>
                  <a:pt x="1950387" y="404598"/>
                </a:lnTo>
                <a:lnTo>
                  <a:pt x="1953863" y="405112"/>
                </a:lnTo>
                <a:lnTo>
                  <a:pt x="1957340" y="405638"/>
                </a:lnTo>
                <a:lnTo>
                  <a:pt x="1960817" y="406174"/>
                </a:lnTo>
                <a:lnTo>
                  <a:pt x="1964293" y="406717"/>
                </a:lnTo>
                <a:lnTo>
                  <a:pt x="1967770" y="407266"/>
                </a:lnTo>
                <a:lnTo>
                  <a:pt x="1971246" y="407819"/>
                </a:lnTo>
                <a:lnTo>
                  <a:pt x="1974723" y="408374"/>
                </a:lnTo>
                <a:lnTo>
                  <a:pt x="1978200" y="408930"/>
                </a:lnTo>
                <a:lnTo>
                  <a:pt x="1981676" y="409483"/>
                </a:lnTo>
                <a:lnTo>
                  <a:pt x="1985153" y="410033"/>
                </a:lnTo>
                <a:lnTo>
                  <a:pt x="1988629" y="410578"/>
                </a:lnTo>
                <a:lnTo>
                  <a:pt x="1992106" y="411117"/>
                </a:lnTo>
                <a:lnTo>
                  <a:pt x="1995583" y="411647"/>
                </a:lnTo>
                <a:lnTo>
                  <a:pt x="1999059" y="412167"/>
                </a:lnTo>
                <a:lnTo>
                  <a:pt x="2002536" y="412676"/>
                </a:lnTo>
                <a:lnTo>
                  <a:pt x="2006013" y="413172"/>
                </a:lnTo>
                <a:lnTo>
                  <a:pt x="2009489" y="413655"/>
                </a:lnTo>
                <a:lnTo>
                  <a:pt x="2012966" y="414121"/>
                </a:lnTo>
                <a:lnTo>
                  <a:pt x="2016443" y="414572"/>
                </a:lnTo>
                <a:lnTo>
                  <a:pt x="2019919" y="415005"/>
                </a:lnTo>
                <a:lnTo>
                  <a:pt x="2023396" y="415419"/>
                </a:lnTo>
                <a:lnTo>
                  <a:pt x="2026872" y="415814"/>
                </a:lnTo>
                <a:lnTo>
                  <a:pt x="2030349" y="416189"/>
                </a:lnTo>
                <a:lnTo>
                  <a:pt x="2033826" y="416543"/>
                </a:lnTo>
                <a:lnTo>
                  <a:pt x="2037302" y="416875"/>
                </a:lnTo>
                <a:lnTo>
                  <a:pt x="2040779" y="417185"/>
                </a:lnTo>
                <a:lnTo>
                  <a:pt x="2044255" y="417472"/>
                </a:lnTo>
                <a:lnTo>
                  <a:pt x="2047732" y="417736"/>
                </a:lnTo>
                <a:lnTo>
                  <a:pt x="2051209" y="417977"/>
                </a:lnTo>
                <a:lnTo>
                  <a:pt x="2054685" y="418194"/>
                </a:lnTo>
                <a:lnTo>
                  <a:pt x="2058162" y="418388"/>
                </a:lnTo>
                <a:lnTo>
                  <a:pt x="2061639" y="418558"/>
                </a:lnTo>
                <a:lnTo>
                  <a:pt x="2065115" y="418704"/>
                </a:lnTo>
                <a:lnTo>
                  <a:pt x="2068592" y="418827"/>
                </a:lnTo>
                <a:lnTo>
                  <a:pt x="2072068" y="418926"/>
                </a:lnTo>
                <a:lnTo>
                  <a:pt x="2075545" y="419003"/>
                </a:lnTo>
                <a:lnTo>
                  <a:pt x="2079022" y="419057"/>
                </a:lnTo>
                <a:lnTo>
                  <a:pt x="2082498" y="419089"/>
                </a:lnTo>
                <a:lnTo>
                  <a:pt x="2085975" y="419100"/>
                </a:lnTo>
                <a:lnTo>
                  <a:pt x="2089452" y="419090"/>
                </a:lnTo>
                <a:lnTo>
                  <a:pt x="2092928" y="419059"/>
                </a:lnTo>
                <a:lnTo>
                  <a:pt x="2096405" y="419009"/>
                </a:lnTo>
                <a:lnTo>
                  <a:pt x="2099882" y="418940"/>
                </a:lnTo>
                <a:lnTo>
                  <a:pt x="2103358" y="418853"/>
                </a:lnTo>
                <a:lnTo>
                  <a:pt x="2106835" y="418749"/>
                </a:lnTo>
                <a:lnTo>
                  <a:pt x="2110311" y="418628"/>
                </a:lnTo>
                <a:lnTo>
                  <a:pt x="2113788" y="418493"/>
                </a:lnTo>
                <a:lnTo>
                  <a:pt x="2117265" y="418343"/>
                </a:lnTo>
                <a:lnTo>
                  <a:pt x="2120741" y="418181"/>
                </a:lnTo>
                <a:lnTo>
                  <a:pt x="2124218" y="418006"/>
                </a:lnTo>
                <a:lnTo>
                  <a:pt x="2127695" y="417820"/>
                </a:lnTo>
                <a:lnTo>
                  <a:pt x="2131171" y="417624"/>
                </a:lnTo>
                <a:lnTo>
                  <a:pt x="2134648" y="417419"/>
                </a:lnTo>
                <a:lnTo>
                  <a:pt x="2138124" y="417207"/>
                </a:lnTo>
                <a:lnTo>
                  <a:pt x="2141601" y="416988"/>
                </a:lnTo>
                <a:lnTo>
                  <a:pt x="2145078" y="416763"/>
                </a:lnTo>
                <a:lnTo>
                  <a:pt x="2148554" y="416535"/>
                </a:lnTo>
                <a:lnTo>
                  <a:pt x="2152031" y="416303"/>
                </a:lnTo>
                <a:lnTo>
                  <a:pt x="2155507" y="416069"/>
                </a:lnTo>
                <a:lnTo>
                  <a:pt x="2158984" y="415834"/>
                </a:lnTo>
                <a:lnTo>
                  <a:pt x="2162461" y="415599"/>
                </a:lnTo>
                <a:lnTo>
                  <a:pt x="2165937" y="415366"/>
                </a:lnTo>
                <a:lnTo>
                  <a:pt x="2169414" y="415134"/>
                </a:lnTo>
                <a:lnTo>
                  <a:pt x="2172891" y="414906"/>
                </a:lnTo>
                <a:lnTo>
                  <a:pt x="2176367" y="414682"/>
                </a:lnTo>
                <a:lnTo>
                  <a:pt x="2179844" y="414463"/>
                </a:lnTo>
                <a:lnTo>
                  <a:pt x="2183321" y="414250"/>
                </a:lnTo>
                <a:lnTo>
                  <a:pt x="2186797" y="414044"/>
                </a:lnTo>
                <a:lnTo>
                  <a:pt x="2190274" y="413846"/>
                </a:lnTo>
                <a:lnTo>
                  <a:pt x="2193750" y="413656"/>
                </a:lnTo>
                <a:lnTo>
                  <a:pt x="2197227" y="413476"/>
                </a:lnTo>
                <a:lnTo>
                  <a:pt x="2200704" y="413305"/>
                </a:lnTo>
                <a:lnTo>
                  <a:pt x="2204180" y="413145"/>
                </a:lnTo>
                <a:lnTo>
                  <a:pt x="2207657" y="412996"/>
                </a:lnTo>
                <a:lnTo>
                  <a:pt x="2211133" y="412858"/>
                </a:lnTo>
                <a:lnTo>
                  <a:pt x="2214610" y="412732"/>
                </a:lnTo>
                <a:lnTo>
                  <a:pt x="2218087" y="412619"/>
                </a:lnTo>
                <a:lnTo>
                  <a:pt x="2221563" y="412519"/>
                </a:lnTo>
                <a:lnTo>
                  <a:pt x="2225040" y="412432"/>
                </a:lnTo>
                <a:lnTo>
                  <a:pt x="2228517" y="412358"/>
                </a:lnTo>
                <a:lnTo>
                  <a:pt x="2231993" y="412298"/>
                </a:lnTo>
                <a:lnTo>
                  <a:pt x="2235470" y="412251"/>
                </a:lnTo>
                <a:lnTo>
                  <a:pt x="2238946" y="412218"/>
                </a:lnTo>
                <a:lnTo>
                  <a:pt x="2242423" y="412199"/>
                </a:lnTo>
                <a:lnTo>
                  <a:pt x="2245900" y="412193"/>
                </a:lnTo>
                <a:lnTo>
                  <a:pt x="2249376" y="412201"/>
                </a:lnTo>
                <a:lnTo>
                  <a:pt x="2252853" y="412223"/>
                </a:lnTo>
                <a:lnTo>
                  <a:pt x="2256330" y="412258"/>
                </a:lnTo>
                <a:lnTo>
                  <a:pt x="2259806" y="412306"/>
                </a:lnTo>
                <a:lnTo>
                  <a:pt x="2263283" y="412366"/>
                </a:lnTo>
                <a:lnTo>
                  <a:pt x="2266760" y="412440"/>
                </a:lnTo>
                <a:lnTo>
                  <a:pt x="2270236" y="412525"/>
                </a:lnTo>
                <a:lnTo>
                  <a:pt x="2273713" y="412622"/>
                </a:lnTo>
                <a:lnTo>
                  <a:pt x="2277189" y="412729"/>
                </a:lnTo>
                <a:lnTo>
                  <a:pt x="2280666" y="412848"/>
                </a:lnTo>
                <a:lnTo>
                  <a:pt x="2284143" y="412977"/>
                </a:lnTo>
                <a:lnTo>
                  <a:pt x="2287619" y="413115"/>
                </a:lnTo>
                <a:lnTo>
                  <a:pt x="2291096" y="413263"/>
                </a:lnTo>
                <a:lnTo>
                  <a:pt x="2294573" y="413418"/>
                </a:lnTo>
                <a:lnTo>
                  <a:pt x="2298049" y="413582"/>
                </a:lnTo>
                <a:lnTo>
                  <a:pt x="2301526" y="413752"/>
                </a:lnTo>
                <a:lnTo>
                  <a:pt x="2305002" y="413929"/>
                </a:lnTo>
                <a:lnTo>
                  <a:pt x="2308479" y="414112"/>
                </a:lnTo>
                <a:lnTo>
                  <a:pt x="2311956" y="414299"/>
                </a:lnTo>
                <a:lnTo>
                  <a:pt x="2315432" y="414491"/>
                </a:lnTo>
                <a:lnTo>
                  <a:pt x="2318909" y="414687"/>
                </a:lnTo>
                <a:lnTo>
                  <a:pt x="2322385" y="414885"/>
                </a:lnTo>
                <a:lnTo>
                  <a:pt x="2325862" y="415086"/>
                </a:lnTo>
                <a:lnTo>
                  <a:pt x="2329339" y="415288"/>
                </a:lnTo>
                <a:lnTo>
                  <a:pt x="2332815" y="415490"/>
                </a:lnTo>
                <a:lnTo>
                  <a:pt x="2336292" y="415692"/>
                </a:lnTo>
                <a:lnTo>
                  <a:pt x="2339769" y="415894"/>
                </a:lnTo>
                <a:lnTo>
                  <a:pt x="2343245" y="416094"/>
                </a:lnTo>
                <a:lnTo>
                  <a:pt x="2346722" y="416292"/>
                </a:lnTo>
                <a:lnTo>
                  <a:pt x="2350199" y="416488"/>
                </a:lnTo>
                <a:lnTo>
                  <a:pt x="2353675" y="416680"/>
                </a:lnTo>
                <a:lnTo>
                  <a:pt x="2357152" y="416868"/>
                </a:lnTo>
                <a:lnTo>
                  <a:pt x="2360628" y="417051"/>
                </a:lnTo>
                <a:lnTo>
                  <a:pt x="2364105" y="417229"/>
                </a:lnTo>
                <a:lnTo>
                  <a:pt x="2367582" y="417401"/>
                </a:lnTo>
                <a:lnTo>
                  <a:pt x="2371058" y="417567"/>
                </a:lnTo>
                <a:lnTo>
                  <a:pt x="2374535" y="417726"/>
                </a:lnTo>
                <a:lnTo>
                  <a:pt x="2378012" y="417878"/>
                </a:lnTo>
                <a:lnTo>
                  <a:pt x="2381488" y="418022"/>
                </a:lnTo>
                <a:lnTo>
                  <a:pt x="2384965" y="418159"/>
                </a:lnTo>
                <a:lnTo>
                  <a:pt x="2388441" y="418287"/>
                </a:lnTo>
                <a:lnTo>
                  <a:pt x="2391918" y="418406"/>
                </a:lnTo>
                <a:lnTo>
                  <a:pt x="2395395" y="418517"/>
                </a:lnTo>
                <a:lnTo>
                  <a:pt x="2398871" y="418618"/>
                </a:lnTo>
                <a:lnTo>
                  <a:pt x="2402348" y="418710"/>
                </a:lnTo>
                <a:lnTo>
                  <a:pt x="2405824" y="418792"/>
                </a:lnTo>
                <a:lnTo>
                  <a:pt x="2409301" y="418865"/>
                </a:lnTo>
                <a:lnTo>
                  <a:pt x="2412778" y="418928"/>
                </a:lnTo>
                <a:lnTo>
                  <a:pt x="2416254" y="418981"/>
                </a:lnTo>
                <a:lnTo>
                  <a:pt x="2419731" y="419024"/>
                </a:lnTo>
                <a:lnTo>
                  <a:pt x="2423208" y="419057"/>
                </a:lnTo>
                <a:lnTo>
                  <a:pt x="2426684" y="419081"/>
                </a:lnTo>
                <a:lnTo>
                  <a:pt x="2430161" y="419095"/>
                </a:lnTo>
                <a:lnTo>
                  <a:pt x="2433638" y="419100"/>
                </a:lnTo>
                <a:lnTo>
                  <a:pt x="2437114" y="419095"/>
                </a:lnTo>
                <a:lnTo>
                  <a:pt x="2440591" y="419082"/>
                </a:lnTo>
                <a:lnTo>
                  <a:pt x="2444067" y="419059"/>
                </a:lnTo>
                <a:lnTo>
                  <a:pt x="2447544" y="419028"/>
                </a:lnTo>
                <a:lnTo>
                  <a:pt x="2451021" y="418988"/>
                </a:lnTo>
                <a:lnTo>
                  <a:pt x="2454497" y="418941"/>
                </a:lnTo>
                <a:lnTo>
                  <a:pt x="2457974" y="418886"/>
                </a:lnTo>
                <a:lnTo>
                  <a:pt x="2461451" y="418823"/>
                </a:lnTo>
                <a:lnTo>
                  <a:pt x="2464927" y="418754"/>
                </a:lnTo>
                <a:lnTo>
                  <a:pt x="2468404" y="418678"/>
                </a:lnTo>
                <a:lnTo>
                  <a:pt x="2471880" y="418596"/>
                </a:lnTo>
                <a:lnTo>
                  <a:pt x="2475357" y="418509"/>
                </a:lnTo>
                <a:lnTo>
                  <a:pt x="2478834" y="418416"/>
                </a:lnTo>
                <a:lnTo>
                  <a:pt x="2482310" y="418319"/>
                </a:lnTo>
                <a:lnTo>
                  <a:pt x="2485787" y="418218"/>
                </a:lnTo>
                <a:lnTo>
                  <a:pt x="2489263" y="418113"/>
                </a:lnTo>
                <a:lnTo>
                  <a:pt x="2492740" y="418005"/>
                </a:lnTo>
                <a:lnTo>
                  <a:pt x="2496217" y="417894"/>
                </a:lnTo>
                <a:lnTo>
                  <a:pt x="2499693" y="417782"/>
                </a:lnTo>
                <a:lnTo>
                  <a:pt x="2503170" y="417667"/>
                </a:lnTo>
                <a:lnTo>
                  <a:pt x="2506647" y="417552"/>
                </a:lnTo>
                <a:lnTo>
                  <a:pt x="2510123" y="417436"/>
                </a:lnTo>
                <a:lnTo>
                  <a:pt x="2513600" y="417320"/>
                </a:lnTo>
                <a:lnTo>
                  <a:pt x="2517077" y="417204"/>
                </a:lnTo>
                <a:lnTo>
                  <a:pt x="2520553" y="417090"/>
                </a:lnTo>
                <a:lnTo>
                  <a:pt x="2524030" y="416977"/>
                </a:lnTo>
                <a:lnTo>
                  <a:pt x="2527506" y="416866"/>
                </a:lnTo>
                <a:lnTo>
                  <a:pt x="2530983" y="416757"/>
                </a:lnTo>
                <a:lnTo>
                  <a:pt x="2534460" y="416651"/>
                </a:lnTo>
                <a:lnTo>
                  <a:pt x="2537936" y="416548"/>
                </a:lnTo>
                <a:lnTo>
                  <a:pt x="2541413" y="416449"/>
                </a:lnTo>
                <a:lnTo>
                  <a:pt x="2544890" y="416354"/>
                </a:lnTo>
                <a:lnTo>
                  <a:pt x="2548366" y="416263"/>
                </a:lnTo>
                <a:lnTo>
                  <a:pt x="2551843" y="416177"/>
                </a:lnTo>
                <a:lnTo>
                  <a:pt x="2555319" y="416096"/>
                </a:lnTo>
                <a:lnTo>
                  <a:pt x="2558796" y="416021"/>
                </a:lnTo>
                <a:lnTo>
                  <a:pt x="2562273" y="415951"/>
                </a:lnTo>
                <a:lnTo>
                  <a:pt x="2565749" y="415887"/>
                </a:lnTo>
                <a:lnTo>
                  <a:pt x="2569226" y="415829"/>
                </a:lnTo>
                <a:lnTo>
                  <a:pt x="2572702" y="415777"/>
                </a:lnTo>
                <a:lnTo>
                  <a:pt x="2576179" y="415732"/>
                </a:lnTo>
                <a:lnTo>
                  <a:pt x="2579656" y="415694"/>
                </a:lnTo>
                <a:lnTo>
                  <a:pt x="2583132" y="415662"/>
                </a:lnTo>
                <a:lnTo>
                  <a:pt x="2586609" y="415638"/>
                </a:lnTo>
                <a:lnTo>
                  <a:pt x="2590086" y="415620"/>
                </a:lnTo>
                <a:lnTo>
                  <a:pt x="2593562" y="415609"/>
                </a:lnTo>
                <a:lnTo>
                  <a:pt x="2597039" y="415605"/>
                </a:lnTo>
                <a:lnTo>
                  <a:pt x="2600516" y="415607"/>
                </a:lnTo>
                <a:lnTo>
                  <a:pt x="2603992" y="415617"/>
                </a:lnTo>
                <a:lnTo>
                  <a:pt x="2607469" y="415634"/>
                </a:lnTo>
                <a:lnTo>
                  <a:pt x="2610945" y="415657"/>
                </a:lnTo>
                <a:lnTo>
                  <a:pt x="2614422" y="415686"/>
                </a:lnTo>
                <a:lnTo>
                  <a:pt x="2617899" y="415722"/>
                </a:lnTo>
                <a:lnTo>
                  <a:pt x="2621375" y="415765"/>
                </a:lnTo>
                <a:lnTo>
                  <a:pt x="2624852" y="415813"/>
                </a:lnTo>
                <a:lnTo>
                  <a:pt x="2628329" y="415867"/>
                </a:lnTo>
                <a:lnTo>
                  <a:pt x="2631805" y="415927"/>
                </a:lnTo>
                <a:lnTo>
                  <a:pt x="2635282" y="415992"/>
                </a:lnTo>
                <a:lnTo>
                  <a:pt x="2638758" y="416062"/>
                </a:lnTo>
                <a:lnTo>
                  <a:pt x="2642235" y="416136"/>
                </a:lnTo>
                <a:lnTo>
                  <a:pt x="2645712" y="416215"/>
                </a:lnTo>
                <a:lnTo>
                  <a:pt x="2649188" y="416299"/>
                </a:lnTo>
                <a:lnTo>
                  <a:pt x="2652665" y="416386"/>
                </a:lnTo>
                <a:lnTo>
                  <a:pt x="2656142" y="416476"/>
                </a:lnTo>
                <a:lnTo>
                  <a:pt x="2659618" y="416570"/>
                </a:lnTo>
                <a:lnTo>
                  <a:pt x="2663095" y="416666"/>
                </a:lnTo>
                <a:lnTo>
                  <a:pt x="2666571" y="416764"/>
                </a:lnTo>
                <a:lnTo>
                  <a:pt x="2670048" y="416865"/>
                </a:lnTo>
                <a:lnTo>
                  <a:pt x="2673525" y="416967"/>
                </a:lnTo>
                <a:lnTo>
                  <a:pt x="2677001" y="417070"/>
                </a:lnTo>
                <a:lnTo>
                  <a:pt x="2680478" y="417174"/>
                </a:lnTo>
                <a:lnTo>
                  <a:pt x="2683954" y="417278"/>
                </a:lnTo>
                <a:lnTo>
                  <a:pt x="2687431" y="417383"/>
                </a:lnTo>
                <a:lnTo>
                  <a:pt x="2690908" y="417487"/>
                </a:lnTo>
                <a:lnTo>
                  <a:pt x="2694384" y="417590"/>
                </a:lnTo>
                <a:lnTo>
                  <a:pt x="2697861" y="417692"/>
                </a:lnTo>
                <a:lnTo>
                  <a:pt x="2701338" y="417793"/>
                </a:lnTo>
                <a:lnTo>
                  <a:pt x="2704814" y="417892"/>
                </a:lnTo>
                <a:lnTo>
                  <a:pt x="2708291" y="417989"/>
                </a:lnTo>
                <a:lnTo>
                  <a:pt x="2711768" y="418084"/>
                </a:lnTo>
                <a:lnTo>
                  <a:pt x="2715244" y="418176"/>
                </a:lnTo>
                <a:lnTo>
                  <a:pt x="2718721" y="418265"/>
                </a:lnTo>
                <a:lnTo>
                  <a:pt x="2722197" y="418350"/>
                </a:lnTo>
                <a:lnTo>
                  <a:pt x="2725674" y="418432"/>
                </a:lnTo>
                <a:lnTo>
                  <a:pt x="2729151" y="418510"/>
                </a:lnTo>
                <a:lnTo>
                  <a:pt x="2732627" y="418583"/>
                </a:lnTo>
                <a:lnTo>
                  <a:pt x="2736104" y="418653"/>
                </a:lnTo>
                <a:lnTo>
                  <a:pt x="2739580" y="418718"/>
                </a:lnTo>
                <a:lnTo>
                  <a:pt x="2743057" y="418778"/>
                </a:lnTo>
                <a:lnTo>
                  <a:pt x="2746534" y="418833"/>
                </a:lnTo>
                <a:lnTo>
                  <a:pt x="2750010" y="418884"/>
                </a:lnTo>
                <a:lnTo>
                  <a:pt x="2753487" y="418929"/>
                </a:lnTo>
                <a:lnTo>
                  <a:pt x="2756964" y="418969"/>
                </a:lnTo>
                <a:lnTo>
                  <a:pt x="2760440" y="419004"/>
                </a:lnTo>
                <a:lnTo>
                  <a:pt x="2763917" y="419033"/>
                </a:lnTo>
                <a:lnTo>
                  <a:pt x="2767393" y="419057"/>
                </a:lnTo>
                <a:lnTo>
                  <a:pt x="2770870" y="419076"/>
                </a:lnTo>
                <a:lnTo>
                  <a:pt x="2774347" y="419089"/>
                </a:lnTo>
                <a:lnTo>
                  <a:pt x="2777823" y="419097"/>
                </a:lnTo>
                <a:lnTo>
                  <a:pt x="2781300" y="419100"/>
                </a:lnTo>
              </a:path>
            </a:pathLst>
          </a:custGeom>
          <a:noFill xmlns:a="http://schemas.openxmlformats.org/drawingml/2006/main"/>
          <a:ln xmlns:a="http://schemas.openxmlformats.org/drawingml/2006/main" w="15240">
            <a:solidFill>
              <a:srgbClr val="202020"/>
            </a:solidFill>
          </a:ln>
        </p:spPr>
      </p:sp>
      <p:pic>
        <p:nvPicPr>
          <p:cNvPr id="109" name="!!ssb-route-m" descr="m(t)">
            <ns0:hlinkClick xmlns:ns0="http://schemas.openxmlformats.org/drawingml/2006/main" xmlns:ns1="http://schemas.openxmlformats.org/officeDocument/2006/relationships" ns1:id="rIdmethods_Link14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b7798d7f5104e60">
            <a:extLst>
              <a:ext uri="{96DAC541-7B7A-43D3-8B79-37D633B846F1}">
                <ns0:svgBlip xmlns:ns0="http://schemas.microsoft.com/office/drawing/2016/SVG/main" r:embed="rIdVectormf00673"/>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110" name="!!ssb-route-s" descr="s(t)">
            <ns0:hlinkClick xmlns:ns0="http://schemas.openxmlformats.org/drawingml/2006/main" xmlns:ns1="http://schemas.openxmlformats.org/officeDocument/2006/relationships" ns1:id="rIdmethods_Link148"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47f8c52da9c45d4">
            <a:extLst>
              <a:ext uri="{96DAC541-7B7A-43D3-8B79-37D633B846F1}">
                <ns1:svgBlip xmlns:ns1="http://schemas.microsoft.com/office/drawing/2016/SVG/main" r:embed="rIdVectormf00674"/>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111" name="!!ssb-route-restored" descr="m(t)">
            <ns0:hlinkClick xmlns:ns0="http://schemas.openxmlformats.org/drawingml/2006/main" xmlns:ns1="http://schemas.openxmlformats.org/officeDocument/2006/relationships" ns1:id="rIdmethods_Link14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ffa30d3c3a7a4c4b">
            <a:extLst>
              <a:ext uri="{96DAC541-7B7A-43D3-8B79-37D633B846F1}">
                <ns2:svgBlip xmlns:ns2="http://schemas.microsoft.com/office/drawing/2016/SVG/main" r:embed="rIdVectormf00675"/>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112" name="!!ssb-ssb-lpf-g0-r0-domain" descr="f"/>
          <p:cNvPicPr>
            <a:picLocks xmlns:a="http://schemas.openxmlformats.org/drawingml/2006/main" noChangeAspect="1"/>
          </p:cNvPicPr>
          <p:nvPr/>
        </p:nvPicPr>
        <p:blipFill>
          <a:blip xmlns:r="http://schemas.openxmlformats.org/officeDocument/2006/relationships" xmlns:a="http://schemas.openxmlformats.org/drawingml/2006/main" r:embed="R53647566e36942a1">
            <a:extLst>
              <a:ext uri="{96DAC541-7B7A-43D3-8B79-37D633B846F1}">
                <ns3:svgBlip xmlns:ns3="http://schemas.microsoft.com/office/drawing/2016/SVG/main" r:embed="rIdVectormf00676"/>
              </a:ext>
            </a:extLst>
          </a:blip>
          <a:stretch xmlns:a="http://schemas.openxmlformats.org/drawingml/2006/main"/>
        </p:blipFill>
        <p:spPr>
          <a:xfrm xmlns:a="http://schemas.openxmlformats.org/drawingml/2006/main">
            <a:off x="3374873" y="2664143"/>
            <a:ext cx="79678" cy="120015"/>
          </a:xfrm>
          <a:prstGeom xmlns:a="http://schemas.openxmlformats.org/drawingml/2006/main" prst="rect">
            <a:avLst/>
          </a:prstGeom>
        </p:spPr>
      </p:pic>
      <p:pic>
        <p:nvPicPr>
          <p:cNvPr id="113" name="!!ssb-ssb-lpf-g0-r0-ticklabel0" descr="-2f_c"/>
          <p:cNvPicPr>
            <a:picLocks xmlns:a="http://schemas.openxmlformats.org/drawingml/2006/main" noChangeAspect="1"/>
          </p:cNvPicPr>
          <p:nvPr/>
        </p:nvPicPr>
        <p:blipFill>
          <a:blip xmlns:r="http://schemas.openxmlformats.org/officeDocument/2006/relationships" xmlns:a="http://schemas.openxmlformats.org/drawingml/2006/main" r:embed="R39a5fb9b468c425f">
            <a:extLst>
              <a:ext uri="{96DAC541-7B7A-43D3-8B79-37D633B846F1}">
                <ns4:svgBlip xmlns:ns4="http://schemas.microsoft.com/office/drawing/2016/SVG/main" r:embed="rIdVectormf00677"/>
              </a:ext>
            </a:extLst>
          </a:blip>
          <a:stretch xmlns:a="http://schemas.openxmlformats.org/drawingml/2006/main"/>
        </p:blipFill>
        <p:spPr>
          <a:xfrm xmlns:a="http://schemas.openxmlformats.org/drawingml/2006/main">
            <a:off x="737658" y="2998470"/>
            <a:ext cx="363010" cy="137160"/>
          </a:xfrm>
          <a:prstGeom xmlns:a="http://schemas.openxmlformats.org/drawingml/2006/main" prst="rect">
            <a:avLst/>
          </a:prstGeom>
        </p:spPr>
      </p:pic>
      <p:pic>
        <p:nvPicPr>
          <p:cNvPr id="114" name="!!ssb-ssb-lpf-g0-r0-ticklabel1" descr="0"/>
          <p:cNvPicPr>
            <a:picLocks xmlns:a="http://schemas.openxmlformats.org/drawingml/2006/main" noChangeAspect="1"/>
          </p:cNvPicPr>
          <p:nvPr/>
        </p:nvPicPr>
        <p:blipFill>
          <a:blip xmlns:r="http://schemas.openxmlformats.org/officeDocument/2006/relationships" xmlns:a="http://schemas.openxmlformats.org/drawingml/2006/main" r:embed="Rcbfa5ea0349f47a2">
            <a:extLst>
              <a:ext uri="{96DAC541-7B7A-43D3-8B79-37D633B846F1}">
                <ns5:svgBlip xmlns:ns5="http://schemas.microsoft.com/office/drawing/2016/SVG/main" r:embed="rIdVectormf00678"/>
              </a:ext>
            </a:extLst>
          </a:blip>
          <a:stretch xmlns:a="http://schemas.openxmlformats.org/drawingml/2006/main"/>
        </p:blipFill>
        <p:spPr>
          <a:xfrm xmlns:a="http://schemas.openxmlformats.org/drawingml/2006/main">
            <a:off x="1916175" y="3015615"/>
            <a:ext cx="91951" cy="102870"/>
          </a:xfrm>
          <a:prstGeom xmlns:a="http://schemas.openxmlformats.org/drawingml/2006/main" prst="rect">
            <a:avLst/>
          </a:prstGeom>
        </p:spPr>
      </p:pic>
      <p:pic>
        <p:nvPicPr>
          <p:cNvPr id="115" name="!!ssb-ssb-lpf-g0-r0-ticklabel2" descr="2f_c"/>
          <p:cNvPicPr>
            <a:picLocks xmlns:a="http://schemas.openxmlformats.org/drawingml/2006/main" noChangeAspect="1"/>
          </p:cNvPicPr>
          <p:nvPr/>
        </p:nvPicPr>
        <p:blipFill>
          <a:blip xmlns:r="http://schemas.openxmlformats.org/officeDocument/2006/relationships" xmlns:a="http://schemas.openxmlformats.org/drawingml/2006/main" r:embed="Rfcaa0d9bfd8b4962">
            <a:extLst>
              <a:ext uri="{96DAC541-7B7A-43D3-8B79-37D633B846F1}">
                <ns6:svgBlip xmlns:ns6="http://schemas.microsoft.com/office/drawing/2016/SVG/main" r:embed="rIdVectormf00679"/>
              </a:ext>
            </a:extLst>
          </a:blip>
          <a:stretch xmlns:a="http://schemas.openxmlformats.org/drawingml/2006/main"/>
        </p:blipFill>
        <p:spPr>
          <a:xfrm xmlns:a="http://schemas.openxmlformats.org/drawingml/2006/main">
            <a:off x="2897031" y="2998470"/>
            <a:ext cx="216213" cy="137160"/>
          </a:xfrm>
          <a:prstGeom xmlns:a="http://schemas.openxmlformats.org/drawingml/2006/main" prst="rect">
            <a:avLst/>
          </a:prstGeom>
        </p:spPr>
      </p:pic>
      <p:pic>
        <p:nvPicPr>
          <p:cNvPr id="116" name="!!ssb-ssb-lpf-g0-r0-label" descr="\textstyle V(f)"/>
          <p:cNvPicPr>
            <a:picLocks xmlns:a="http://schemas.openxmlformats.org/drawingml/2006/main" noChangeAspect="1"/>
          </p:cNvPicPr>
          <p:nvPr/>
        </p:nvPicPr>
        <p:blipFill>
          <a:blip xmlns:r="http://schemas.openxmlformats.org/officeDocument/2006/relationships" xmlns:a="http://schemas.openxmlformats.org/drawingml/2006/main" r:embed="Rca93dd281a91497c">
            <a:extLst>
              <a:ext uri="{96DAC541-7B7A-43D3-8B79-37D633B846F1}">
                <ns7:svgBlip xmlns:ns7="http://schemas.microsoft.com/office/drawing/2016/SVG/main" r:embed="rIdVectormf00680"/>
              </a:ext>
            </a:extLst>
          </a:blip>
          <a:stretch xmlns:a="http://schemas.openxmlformats.org/drawingml/2006/main"/>
        </p:blipFill>
        <p:spPr>
          <a:xfrm xmlns:a="http://schemas.openxmlformats.org/drawingml/2006/main">
            <a:off x="571500" y="2178427"/>
            <a:ext cx="461010" cy="205621"/>
          </a:xfrm>
          <a:prstGeom xmlns:a="http://schemas.openxmlformats.org/drawingml/2006/main" prst="rect">
            <a:avLst/>
          </a:prstGeom>
        </p:spPr>
      </p:pic>
      <p:pic>
        <p:nvPicPr>
          <p:cNvPr id="117" name="!!ssb-ssb-lpf-g1-r0-domain" descr="f"/>
          <p:cNvPicPr>
            <a:picLocks xmlns:a="http://schemas.openxmlformats.org/drawingml/2006/main" noChangeAspect="1"/>
          </p:cNvPicPr>
          <p:nvPr/>
        </p:nvPicPr>
        <p:blipFill>
          <a:blip xmlns:r="http://schemas.openxmlformats.org/officeDocument/2006/relationships" xmlns:a="http://schemas.openxmlformats.org/drawingml/2006/main" r:embed="R8425c9644a9d4424">
            <a:extLst>
              <a:ext uri="{96DAC541-7B7A-43D3-8B79-37D633B846F1}">
                <ns8:svgBlip xmlns:ns8="http://schemas.microsoft.com/office/drawing/2016/SVG/main" r:embed="rIdVectormf00681"/>
              </a:ext>
            </a:extLst>
          </a:blip>
          <a:stretch xmlns:a="http://schemas.openxmlformats.org/drawingml/2006/main"/>
        </p:blipFill>
        <p:spPr>
          <a:xfrm xmlns:a="http://schemas.openxmlformats.org/drawingml/2006/main">
            <a:off x="7375373" y="2664143"/>
            <a:ext cx="79678" cy="120015"/>
          </a:xfrm>
          <a:prstGeom xmlns:a="http://schemas.openxmlformats.org/drawingml/2006/main" prst="rect">
            <a:avLst/>
          </a:prstGeom>
        </p:spPr>
      </p:pic>
      <p:pic>
        <p:nvPicPr>
          <p:cNvPr id="118" name="!!ssb-ssb-lpf-g1-r0-ticklabel0" descr="-W"/>
          <p:cNvPicPr>
            <a:picLocks xmlns:a="http://schemas.openxmlformats.org/drawingml/2006/main" noChangeAspect="1"/>
          </p:cNvPicPr>
          <p:nvPr/>
        </p:nvPicPr>
        <p:blipFill>
          <a:blip xmlns:r="http://schemas.openxmlformats.org/officeDocument/2006/relationships" xmlns:a="http://schemas.openxmlformats.org/drawingml/2006/main" r:embed="Rc27d3bb04ab7497a">
            <a:extLst>
              <a:ext uri="{96DAC541-7B7A-43D3-8B79-37D633B846F1}">
                <ns9:svgBlip xmlns:ns9="http://schemas.microsoft.com/office/drawing/2016/SVG/main" r:embed="rIdVectormf00682"/>
              </a:ext>
            </a:extLst>
          </a:blip>
          <a:stretch xmlns:a="http://schemas.openxmlformats.org/drawingml/2006/main"/>
        </p:blipFill>
        <p:spPr>
          <a:xfrm xmlns:a="http://schemas.openxmlformats.org/drawingml/2006/main">
            <a:off x="5612919" y="2998470"/>
            <a:ext cx="351800" cy="137160"/>
          </a:xfrm>
          <a:prstGeom xmlns:a="http://schemas.openxmlformats.org/drawingml/2006/main" prst="rect">
            <a:avLst/>
          </a:prstGeom>
        </p:spPr>
      </p:pic>
      <p:pic>
        <p:nvPicPr>
          <p:cNvPr id="119" name="!!ssb-ssb-lpf-g1-r0-ticklabel1" descr="0"/>
          <p:cNvPicPr>
            <a:picLocks xmlns:a="http://schemas.openxmlformats.org/drawingml/2006/main" noChangeAspect="1"/>
          </p:cNvPicPr>
          <p:nvPr/>
        </p:nvPicPr>
        <p:blipFill>
          <a:blip xmlns:r="http://schemas.openxmlformats.org/officeDocument/2006/relationships" xmlns:a="http://schemas.openxmlformats.org/drawingml/2006/main" r:embed="R740fbd2e5cab4a0a">
            <a:extLst>
              <a:ext uri="{96DAC541-7B7A-43D3-8B79-37D633B846F1}">
                <ns10:svgBlip xmlns:ns10="http://schemas.microsoft.com/office/drawing/2016/SVG/main" r:embed="rIdVectormf00683"/>
              </a:ext>
            </a:extLst>
          </a:blip>
          <a:stretch xmlns:a="http://schemas.openxmlformats.org/drawingml/2006/main"/>
        </p:blipFill>
        <p:spPr>
          <a:xfrm xmlns:a="http://schemas.openxmlformats.org/drawingml/2006/main">
            <a:off x="5916675" y="3215640"/>
            <a:ext cx="91951" cy="102870"/>
          </a:xfrm>
          <a:prstGeom xmlns:a="http://schemas.openxmlformats.org/drawingml/2006/main" prst="rect">
            <a:avLst/>
          </a:prstGeom>
        </p:spPr>
      </p:pic>
      <p:pic>
        <p:nvPicPr>
          <p:cNvPr id="120" name="!!ssb-ssb-lpf-g1-r0-ticklabel2" descr="W"/>
          <p:cNvPicPr>
            <a:picLocks xmlns:a="http://schemas.openxmlformats.org/drawingml/2006/main" noChangeAspect="1"/>
          </p:cNvPicPr>
          <p:nvPr/>
        </p:nvPicPr>
        <p:blipFill>
          <a:blip xmlns:r="http://schemas.openxmlformats.org/officeDocument/2006/relationships" xmlns:a="http://schemas.openxmlformats.org/drawingml/2006/main" r:embed="R0a29a4beb4dc4211">
            <a:extLst>
              <a:ext uri="{96DAC541-7B7A-43D3-8B79-37D633B846F1}">
                <ns11:svgBlip xmlns:ns11="http://schemas.microsoft.com/office/drawing/2016/SVG/main" r:embed="rIdVectormf00684"/>
              </a:ext>
            </a:extLst>
          </a:blip>
          <a:stretch xmlns:a="http://schemas.openxmlformats.org/drawingml/2006/main"/>
        </p:blipFill>
        <p:spPr>
          <a:xfrm xmlns:a="http://schemas.openxmlformats.org/drawingml/2006/main">
            <a:off x="6033611" y="3008543"/>
            <a:ext cx="205740" cy="117015"/>
          </a:xfrm>
          <a:prstGeom xmlns:a="http://schemas.openxmlformats.org/drawingml/2006/main" prst="rect">
            <a:avLst/>
          </a:prstGeom>
        </p:spPr>
      </p:pic>
      <p:pic>
        <p:nvPicPr>
          <p:cNvPr id="121" name="!!ssb-ssb-lpf-g1-r0-label" descr="\textstyle V_0(f)"/>
          <p:cNvPicPr>
            <a:picLocks xmlns:a="http://schemas.openxmlformats.org/drawingml/2006/main" noChangeAspect="1"/>
          </p:cNvPicPr>
          <p:nvPr/>
        </p:nvPicPr>
        <p:blipFill>
          <a:blip xmlns:r="http://schemas.openxmlformats.org/officeDocument/2006/relationships" xmlns:a="http://schemas.openxmlformats.org/drawingml/2006/main" r:embed="R97c42f6958284d84">
            <a:extLst>
              <a:ext uri="{96DAC541-7B7A-43D3-8B79-37D633B846F1}">
                <ns12:svgBlip xmlns:ns12="http://schemas.microsoft.com/office/drawing/2016/SVG/main" r:embed="rIdVectormf00685"/>
              </a:ext>
            </a:extLst>
          </a:blip>
          <a:stretch xmlns:a="http://schemas.openxmlformats.org/drawingml/2006/main"/>
        </p:blipFill>
        <p:spPr>
          <a:xfrm xmlns:a="http://schemas.openxmlformats.org/drawingml/2006/main">
            <a:off x="4572000" y="2177772"/>
            <a:ext cx="565785" cy="206931"/>
          </a:xfrm>
          <a:prstGeom xmlns:a="http://schemas.openxmlformats.org/drawingml/2006/main" prst="rect">
            <a:avLst/>
          </a:prstGeom>
        </p:spPr>
      </p:pic>
      <p:pic>
        <p:nvPicPr>
          <p:cNvPr id="122" name="!!ssb-ssb-lpf-g2-r0-domain" descr="f"/>
          <p:cNvPicPr>
            <a:picLocks xmlns:a="http://schemas.openxmlformats.org/drawingml/2006/main" noChangeAspect="1"/>
          </p:cNvPicPr>
          <p:nvPr/>
        </p:nvPicPr>
        <p:blipFill>
          <a:blip xmlns:r="http://schemas.openxmlformats.org/officeDocument/2006/relationships" xmlns:a="http://schemas.openxmlformats.org/drawingml/2006/main" r:embed="Rfee1770106944a55">
            <a:extLst>
              <a:ext uri="{96DAC541-7B7A-43D3-8B79-37D633B846F1}">
                <ns13:svgBlip xmlns:ns13="http://schemas.microsoft.com/office/drawing/2016/SVG/main" r:embed="rIdVectormf00686"/>
              </a:ext>
            </a:extLst>
          </a:blip>
          <a:stretch xmlns:a="http://schemas.openxmlformats.org/drawingml/2006/main"/>
        </p:blipFill>
        <p:spPr>
          <a:xfrm xmlns:a="http://schemas.openxmlformats.org/drawingml/2006/main">
            <a:off x="11375873" y="2664143"/>
            <a:ext cx="79678" cy="120015"/>
          </a:xfrm>
          <a:prstGeom xmlns:a="http://schemas.openxmlformats.org/drawingml/2006/main" prst="rect">
            <a:avLst/>
          </a:prstGeom>
        </p:spPr>
      </p:pic>
      <p:pic>
        <p:nvPicPr>
          <p:cNvPr id="123" name="!!ssb-ssb-lpf-g2-r0-ticklabel0" descr="-W"/>
          <p:cNvPicPr>
            <a:picLocks xmlns:a="http://schemas.openxmlformats.org/drawingml/2006/main" noChangeAspect="1"/>
          </p:cNvPicPr>
          <p:nvPr/>
        </p:nvPicPr>
        <p:blipFill>
          <a:blip xmlns:r="http://schemas.openxmlformats.org/officeDocument/2006/relationships" xmlns:a="http://schemas.openxmlformats.org/drawingml/2006/main" r:embed="R61a14d7cd9584dd7">
            <a:extLst>
              <a:ext uri="{96DAC541-7B7A-43D3-8B79-37D633B846F1}">
                <ns14:svgBlip xmlns:ns14="http://schemas.microsoft.com/office/drawing/2016/SVG/main" r:embed="rIdVectormf00687"/>
              </a:ext>
            </a:extLst>
          </a:blip>
          <a:stretch xmlns:a="http://schemas.openxmlformats.org/drawingml/2006/main"/>
        </p:blipFill>
        <p:spPr>
          <a:xfrm xmlns:a="http://schemas.openxmlformats.org/drawingml/2006/main">
            <a:off x="9613419" y="2998470"/>
            <a:ext cx="351800" cy="137160"/>
          </a:xfrm>
          <a:prstGeom xmlns:a="http://schemas.openxmlformats.org/drawingml/2006/main" prst="rect">
            <a:avLst/>
          </a:prstGeom>
        </p:spPr>
      </p:pic>
      <p:pic>
        <p:nvPicPr>
          <p:cNvPr id="124" name="!!ssb-ssb-lpf-g2-r0-ticklabel1" descr="0"/>
          <p:cNvPicPr>
            <a:picLocks xmlns:a="http://schemas.openxmlformats.org/drawingml/2006/main" noChangeAspect="1"/>
          </p:cNvPicPr>
          <p:nvPr/>
        </p:nvPicPr>
        <p:blipFill>
          <a:blip xmlns:r="http://schemas.openxmlformats.org/officeDocument/2006/relationships" xmlns:a="http://schemas.openxmlformats.org/drawingml/2006/main" r:embed="Rf1cc00ba7bfc472d">
            <a:extLst>
              <a:ext uri="{96DAC541-7B7A-43D3-8B79-37D633B846F1}">
                <ns15:svgBlip xmlns:ns15="http://schemas.microsoft.com/office/drawing/2016/SVG/main" r:embed="rIdVectormf00688"/>
              </a:ext>
            </a:extLst>
          </a:blip>
          <a:stretch xmlns:a="http://schemas.openxmlformats.org/drawingml/2006/main"/>
        </p:blipFill>
        <p:spPr>
          <a:xfrm xmlns:a="http://schemas.openxmlformats.org/drawingml/2006/main">
            <a:off x="9917175" y="3215640"/>
            <a:ext cx="91951" cy="102870"/>
          </a:xfrm>
          <a:prstGeom xmlns:a="http://schemas.openxmlformats.org/drawingml/2006/main" prst="rect">
            <a:avLst/>
          </a:prstGeom>
        </p:spPr>
      </p:pic>
      <p:pic>
        <p:nvPicPr>
          <p:cNvPr id="125" name="!!ssb-ssb-lpf-g2-r0-ticklabel2" descr="W"/>
          <p:cNvPicPr>
            <a:picLocks xmlns:a="http://schemas.openxmlformats.org/drawingml/2006/main" noChangeAspect="1"/>
          </p:cNvPicPr>
          <p:nvPr/>
        </p:nvPicPr>
        <p:blipFill>
          <a:blip xmlns:r="http://schemas.openxmlformats.org/officeDocument/2006/relationships" xmlns:a="http://schemas.openxmlformats.org/drawingml/2006/main" r:embed="Re7d5d67436234ed3">
            <a:extLst>
              <a:ext uri="{96DAC541-7B7A-43D3-8B79-37D633B846F1}">
                <ns16:svgBlip xmlns:ns16="http://schemas.microsoft.com/office/drawing/2016/SVG/main" r:embed="rIdVectormf00689"/>
              </a:ext>
            </a:extLst>
          </a:blip>
          <a:stretch xmlns:a="http://schemas.openxmlformats.org/drawingml/2006/main"/>
        </p:blipFill>
        <p:spPr>
          <a:xfrm xmlns:a="http://schemas.openxmlformats.org/drawingml/2006/main">
            <a:off x="10034111" y="3008543"/>
            <a:ext cx="205740" cy="117015"/>
          </a:xfrm>
          <a:prstGeom xmlns:a="http://schemas.openxmlformats.org/drawingml/2006/main" prst="rect">
            <a:avLst/>
          </a:prstGeom>
        </p:spPr>
      </p:pic>
      <p:pic>
        <p:nvPicPr>
          <p:cNvPr id="126" name="!!ssb-ssb-lpf-g2-r0-label" descr="\textstyle M(f)"/>
          <p:cNvPicPr>
            <a:picLocks xmlns:a="http://schemas.openxmlformats.org/drawingml/2006/main" noChangeAspect="1"/>
          </p:cNvPicPr>
          <p:nvPr/>
        </p:nvPicPr>
        <p:blipFill>
          <a:blip xmlns:r="http://schemas.openxmlformats.org/officeDocument/2006/relationships" xmlns:a="http://schemas.openxmlformats.org/drawingml/2006/main" r:embed="R20f450dabc0b4462">
            <a:extLst>
              <a:ext uri="{96DAC541-7B7A-43D3-8B79-37D633B846F1}">
                <ns17:svgBlip xmlns:ns17="http://schemas.microsoft.com/office/drawing/2016/SVG/main" r:embed="rIdVectormf00690"/>
              </a:ext>
            </a:extLst>
          </a:blip>
          <a:stretch xmlns:a="http://schemas.openxmlformats.org/drawingml/2006/main"/>
        </p:blipFill>
        <p:spPr>
          <a:xfrm xmlns:a="http://schemas.openxmlformats.org/drawingml/2006/main">
            <a:off x="8572500" y="2178427"/>
            <a:ext cx="502920" cy="205621"/>
          </a:xfrm>
          <a:prstGeom xmlns:a="http://schemas.openxmlformats.org/drawingml/2006/main" prst="rect">
            <a:avLst/>
          </a:prstGeom>
        </p:spPr>
      </p:pic>
      <p:pic>
        <p:nvPicPr>
          <p:cNvPr id="127" name="!!ssb-ssb-lpf-g0-r0-peak0" descr="\frac{A_cA'_c}{4}"/>
          <p:cNvPicPr>
            <a:picLocks xmlns:a="http://schemas.openxmlformats.org/drawingml/2006/main" noChangeAspect="1"/>
          </p:cNvPicPr>
          <p:nvPr/>
        </p:nvPicPr>
        <p:blipFill>
          <a:blip xmlns:r="http://schemas.openxmlformats.org/officeDocument/2006/relationships" xmlns:a="http://schemas.openxmlformats.org/drawingml/2006/main" r:embed="Rc34deba34bd84d1b">
            <a:extLst>
              <a:ext uri="{96DAC541-7B7A-43D3-8B79-37D633B846F1}">
                <ns18:svgBlip xmlns:ns18="http://schemas.microsoft.com/office/drawing/2016/SVG/main" r:embed="rIdVectormf00691"/>
              </a:ext>
            </a:extLst>
          </a:blip>
          <a:stretch xmlns:a="http://schemas.openxmlformats.org/drawingml/2006/main"/>
        </p:blipFill>
        <p:spPr>
          <a:xfrm xmlns:a="http://schemas.openxmlformats.org/drawingml/2006/main">
            <a:off x="1749479" y="1976438"/>
            <a:ext cx="425342" cy="361950"/>
          </a:xfrm>
          <a:prstGeom xmlns:a="http://schemas.openxmlformats.org/drawingml/2006/main" prst="rect">
            <a:avLst/>
          </a:prstGeom>
        </p:spPr>
      </p:pic>
      <p:pic>
        <p:nvPicPr>
          <p:cNvPr id="128" name="!!ssb-ssb-lpf-condition" descr="|f|\leq W"/>
          <p:cNvPicPr>
            <a:picLocks xmlns:a="http://schemas.openxmlformats.org/drawingml/2006/main" noChangeAspect="1"/>
          </p:cNvPicPr>
          <p:nvPr/>
        </p:nvPicPr>
        <p:blipFill>
          <a:blip xmlns:r="http://schemas.openxmlformats.org/officeDocument/2006/relationships" xmlns:a="http://schemas.openxmlformats.org/drawingml/2006/main" r:embed="R6f21949fda544215">
            <a:extLst>
              <a:ext uri="{96DAC541-7B7A-43D3-8B79-37D633B846F1}">
                <ns19:svgBlip xmlns:ns19="http://schemas.microsoft.com/office/drawing/2016/SVG/main" r:embed="rIdVectormf00692"/>
              </a:ext>
            </a:extLst>
          </a:blip>
          <a:stretch xmlns:a="http://schemas.openxmlformats.org/drawingml/2006/main"/>
        </p:blipFill>
        <p:spPr>
          <a:xfrm xmlns:a="http://schemas.openxmlformats.org/drawingml/2006/main">
            <a:off x="3582353" y="2006263"/>
            <a:ext cx="760095" cy="197525"/>
          </a:xfrm>
          <a:prstGeom xmlns:a="http://schemas.openxmlformats.org/drawingml/2006/main" prst="rect">
            <a:avLst/>
          </a:prstGeom>
        </p:spPr>
      </p:pic>
      <p:pic>
        <p:nvPicPr>
          <p:cNvPr id="129" name="!!ssb-ssb-lpf-g1-r0-peak0" descr="\frac{A_cA'_c}{4}"/>
          <p:cNvPicPr>
            <a:picLocks xmlns:a="http://schemas.openxmlformats.org/drawingml/2006/main" noChangeAspect="1"/>
          </p:cNvPicPr>
          <p:nvPr/>
        </p:nvPicPr>
        <p:blipFill>
          <a:blip xmlns:r="http://schemas.openxmlformats.org/officeDocument/2006/relationships" xmlns:a="http://schemas.openxmlformats.org/drawingml/2006/main" r:embed="R0eef4d96802c49c8">
            <a:extLst>
              <a:ext uri="{96DAC541-7B7A-43D3-8B79-37D633B846F1}">
                <ns20:svgBlip xmlns:ns20="http://schemas.microsoft.com/office/drawing/2016/SVG/main" r:embed="rIdVectormf00693"/>
              </a:ext>
            </a:extLst>
          </a:blip>
          <a:stretch xmlns:a="http://schemas.openxmlformats.org/drawingml/2006/main"/>
        </p:blipFill>
        <p:spPr>
          <a:xfrm xmlns:a="http://schemas.openxmlformats.org/drawingml/2006/main">
            <a:off x="5749979" y="1976438"/>
            <a:ext cx="425342" cy="361950"/>
          </a:xfrm>
          <a:prstGeom xmlns:a="http://schemas.openxmlformats.org/drawingml/2006/main" prst="rect">
            <a:avLst/>
          </a:prstGeom>
        </p:spPr>
      </p:pic>
      <p:pic>
        <p:nvPicPr>
          <p:cNvPr id="130" name="!!ssb-ssb-gain-math" descr="\textstyle \times\frac{4}{A_cA'_c}"/>
          <p:cNvPicPr>
            <a:picLocks xmlns:a="http://schemas.openxmlformats.org/drawingml/2006/main" noChangeAspect="1"/>
          </p:cNvPicPr>
          <p:nvPr/>
        </p:nvPicPr>
        <p:blipFill>
          <a:blip xmlns:r="http://schemas.openxmlformats.org/officeDocument/2006/relationships" xmlns:a="http://schemas.openxmlformats.org/drawingml/2006/main" r:embed="Re6e5323085ed48f2">
            <a:extLst>
              <a:ext uri="{96DAC541-7B7A-43D3-8B79-37D633B846F1}">
                <ns21:svgBlip xmlns:ns21="http://schemas.microsoft.com/office/drawing/2016/SVG/main" r:embed="rIdVectormf00694"/>
              </a:ext>
            </a:extLst>
          </a:blip>
          <a:stretch xmlns:a="http://schemas.openxmlformats.org/drawingml/2006/main"/>
        </p:blipFill>
        <p:spPr>
          <a:xfrm xmlns:a="http://schemas.openxmlformats.org/drawingml/2006/main">
            <a:off x="7672805" y="2343150"/>
            <a:ext cx="580189" cy="266700"/>
          </a:xfrm>
          <a:prstGeom xmlns:a="http://schemas.openxmlformats.org/drawingml/2006/main" prst="rect">
            <a:avLst/>
          </a:prstGeom>
        </p:spPr>
      </p:pic>
      <p:pic>
        <p:nvPicPr>
          <p:cNvPr id="131" name="!!ssb-ssb-lpf-g2-r0-peak0" descr="1"/>
          <p:cNvPicPr>
            <a:picLocks xmlns:a="http://schemas.openxmlformats.org/drawingml/2006/main" noChangeAspect="1"/>
          </p:cNvPicPr>
          <p:nvPr/>
        </p:nvPicPr>
        <p:blipFill>
          <a:blip xmlns:r="http://schemas.openxmlformats.org/officeDocument/2006/relationships" xmlns:a="http://schemas.openxmlformats.org/drawingml/2006/main" r:embed="R6e16adffd8f84c3e">
            <a:extLst>
              <a:ext uri="{96DAC541-7B7A-43D3-8B79-37D633B846F1}">
                <ns22:svgBlip xmlns:ns22="http://schemas.microsoft.com/office/drawing/2016/SVG/main" r:embed="rIdVectormf00695"/>
              </a:ext>
            </a:extLst>
          </a:blip>
          <a:stretch xmlns:a="http://schemas.openxmlformats.org/drawingml/2006/main"/>
        </p:blipFill>
        <p:spPr>
          <a:xfrm xmlns:a="http://schemas.openxmlformats.org/drawingml/2006/main">
            <a:off x="9912066" y="2100263"/>
            <a:ext cx="102168" cy="114300"/>
          </a:xfrm>
          <a:prstGeom xmlns:a="http://schemas.openxmlformats.org/drawingml/2006/main" prst="rect">
            <a:avLst/>
          </a:prstGeom>
        </p:spPr>
      </p:pic>
      <p:pic>
        <p:nvPicPr>
          <p:cNvPr id="132" name="!!ssb-ssb-lpf-g2-time-r0-domain" descr="t"/>
          <p:cNvPicPr>
            <a:picLocks xmlns:a="http://schemas.openxmlformats.org/drawingml/2006/main" noChangeAspect="1"/>
          </p:cNvPicPr>
          <p:nvPr/>
        </p:nvPicPr>
        <p:blipFill>
          <a:blip xmlns:r="http://schemas.openxmlformats.org/officeDocument/2006/relationships" xmlns:a="http://schemas.openxmlformats.org/drawingml/2006/main" r:embed="R880c52f5dc674ead">
            <a:extLst>
              <a:ext uri="{96DAC541-7B7A-43D3-8B79-37D633B846F1}">
                <ns23:svgBlip xmlns:ns23="http://schemas.microsoft.com/office/drawing/2016/SVG/main" r:embed="rIdVectormf00696"/>
              </a:ext>
            </a:extLst>
          </a:blip>
          <a:stretch xmlns:a="http://schemas.openxmlformats.org/drawingml/2006/main"/>
        </p:blipFill>
        <p:spPr>
          <a:xfrm xmlns:a="http://schemas.openxmlformats.org/drawingml/2006/main">
            <a:off x="11372850" y="3894594"/>
            <a:ext cx="68580" cy="97512"/>
          </a:xfrm>
          <a:prstGeom xmlns:a="http://schemas.openxmlformats.org/drawingml/2006/main" prst="rect">
            <a:avLst/>
          </a:prstGeom>
        </p:spPr>
      </p:pic>
      <p:pic>
        <p:nvPicPr>
          <p:cNvPr id="133" name="!!ssb-ssb-lpf-g2-time-r0-label" descr="\textstyle m(t)"/>
          <p:cNvPicPr>
            <a:picLocks xmlns:a="http://schemas.openxmlformats.org/drawingml/2006/main" noChangeAspect="1"/>
          </p:cNvPicPr>
          <p:nvPr/>
        </p:nvPicPr>
        <p:blipFill>
          <a:blip xmlns:r="http://schemas.openxmlformats.org/officeDocument/2006/relationships" xmlns:a="http://schemas.openxmlformats.org/drawingml/2006/main" r:embed="R4d0251c1d5954ca0">
            <a:extLst>
              <a:ext uri="{96DAC541-7B7A-43D3-8B79-37D633B846F1}">
                <ns24:svgBlip xmlns:ns24="http://schemas.microsoft.com/office/drawing/2016/SVG/main" r:embed="rIdVectormf00697"/>
              </a:ext>
            </a:extLst>
          </a:blip>
          <a:stretch xmlns:a="http://schemas.openxmlformats.org/drawingml/2006/main"/>
        </p:blipFill>
        <p:spPr>
          <a:xfrm xmlns:a="http://schemas.openxmlformats.org/drawingml/2006/main">
            <a:off x="8572500" y="3343275"/>
            <a:ext cx="481965" cy="209550"/>
          </a:xfrm>
          <a:prstGeom xmlns:a="http://schemas.openxmlformats.org/drawingml/2006/main" prst="rect">
            <a:avLst/>
          </a:prstGeom>
        </p:spPr>
      </p:pic>
      <p:pic>
        <p:nvPicPr>
          <p:cNvPr id="134" name="!!ssb-ssb-lpf-g2-pair" descr="\updownarrow"/>
          <p:cNvPicPr>
            <a:picLocks xmlns:a="http://schemas.openxmlformats.org/drawingml/2006/main" noChangeAspect="1"/>
          </p:cNvPicPr>
          <p:nvPr/>
        </p:nvPicPr>
        <p:blipFill>
          <a:blip xmlns:r="http://schemas.openxmlformats.org/officeDocument/2006/relationships" xmlns:a="http://schemas.openxmlformats.org/drawingml/2006/main" r:embed="R5b36a73470974a65">
            <a:extLst>
              <a:ext uri="{96DAC541-7B7A-43D3-8B79-37D633B846F1}">
                <ns25:svgBlip xmlns:ns25="http://schemas.microsoft.com/office/drawing/2016/SVG/main" r:embed="rIdVectormf00698"/>
              </a:ext>
            </a:extLst>
          </a:blip>
          <a:stretch xmlns:a="http://schemas.openxmlformats.org/drawingml/2006/main"/>
        </p:blipFill>
        <p:spPr>
          <a:xfrm xmlns:a="http://schemas.openxmlformats.org/drawingml/2006/main">
            <a:off x="9832363" y="3362325"/>
            <a:ext cx="120604" cy="209550"/>
          </a:xfrm>
          <a:prstGeom xmlns:a="http://schemas.openxmlformats.org/drawingml/2006/main" prst="rect">
            <a:avLst/>
          </a:prstGeom>
        </p:spPr>
      </p:pic>
      <p:pic>
        <p:nvPicPr>
          <p:cNvPr id="135" name="!!ssb-dense-equation-0" descr="\textstyle V(f)=\frac{A'_c}{2}[S(f-f_c)+S(f+f_c)]"/>
          <p:cNvPicPr>
            <a:picLocks xmlns:a="http://schemas.openxmlformats.org/drawingml/2006/main" noChangeAspect="1"/>
          </p:cNvPicPr>
          <p:nvPr/>
        </p:nvPicPr>
        <p:blipFill>
          <a:blip xmlns:r="http://schemas.openxmlformats.org/officeDocument/2006/relationships" xmlns:a="http://schemas.openxmlformats.org/drawingml/2006/main" r:embed="Rada8e19aa15c47ac">
            <a:extLst>
              <a:ext uri="{96DAC541-7B7A-43D3-8B79-37D633B846F1}">
                <ns26:svgBlip xmlns:ns26="http://schemas.microsoft.com/office/drawing/2016/SVG/main" r:embed="rIdVectormf00699"/>
              </a:ext>
            </a:extLst>
          </a:blip>
          <a:stretch xmlns:a="http://schemas.openxmlformats.org/drawingml/2006/main"/>
        </p:blipFill>
        <p:spPr>
          <a:xfrm xmlns:a="http://schemas.openxmlformats.org/drawingml/2006/main">
            <a:off x="609600" y="4665702"/>
            <a:ext cx="3838575" cy="362188"/>
          </a:xfrm>
          <a:prstGeom xmlns:a="http://schemas.openxmlformats.org/drawingml/2006/main" prst="rect">
            <a:avLst/>
          </a:prstGeom>
        </p:spPr>
      </p:pic>
      <p:pic>
        <p:nvPicPr>
          <p:cNvPr id="136" name="!!ssb-dense-equation-1" descr="\textstyle V_0(f)=\frac{A_cA'_c}{4}M(f)"/>
          <p:cNvPicPr>
            <a:picLocks xmlns:a="http://schemas.openxmlformats.org/drawingml/2006/main" noChangeAspect="1"/>
          </p:cNvPicPr>
          <p:nvPr/>
        </p:nvPicPr>
        <p:blipFill>
          <a:blip xmlns:r="http://schemas.openxmlformats.org/officeDocument/2006/relationships" xmlns:a="http://schemas.openxmlformats.org/drawingml/2006/main" r:embed="R0176cb6b687b4f64">
            <a:extLst>
              <a:ext uri="{96DAC541-7B7A-43D3-8B79-37D633B846F1}">
                <ns27:svgBlip xmlns:ns27="http://schemas.microsoft.com/office/drawing/2016/SVG/main" r:embed="rIdVectormf00700"/>
              </a:ext>
            </a:extLst>
          </a:blip>
          <a:stretch xmlns:a="http://schemas.openxmlformats.org/drawingml/2006/main"/>
        </p:blipFill>
        <p:spPr>
          <a:xfrm xmlns:a="http://schemas.openxmlformats.org/drawingml/2006/main">
            <a:off x="609600" y="5105400"/>
            <a:ext cx="2228850" cy="359093"/>
          </a:xfrm>
          <a:prstGeom xmlns:a="http://schemas.openxmlformats.org/drawingml/2006/main" prst="rect">
            <a:avLst/>
          </a:prstGeom>
        </p:spPr>
      </p:pic>
      <p:pic>
        <p:nvPicPr>
          <p:cNvPr id="137" name="!!ssb-dense-equation-2" descr="\textstyle \frac{4V_0(f)}{A_cA'_c}=M(f)"/>
          <p:cNvPicPr>
            <a:picLocks xmlns:a="http://schemas.openxmlformats.org/drawingml/2006/main" noChangeAspect="1"/>
          </p:cNvPicPr>
          <p:nvPr/>
        </p:nvPicPr>
        <p:blipFill>
          <a:blip xmlns:r="http://schemas.openxmlformats.org/officeDocument/2006/relationships" xmlns:a="http://schemas.openxmlformats.org/drawingml/2006/main" r:embed="Re2a4b9fda3724f87">
            <a:extLst>
              <a:ext uri="{96DAC541-7B7A-43D3-8B79-37D633B846F1}">
                <ns28:svgBlip xmlns:ns28="http://schemas.microsoft.com/office/drawing/2016/SVG/main" r:embed="rIdVectormf00701"/>
              </a:ext>
            </a:extLst>
          </a:blip>
          <a:stretch xmlns:a="http://schemas.openxmlformats.org/drawingml/2006/main"/>
        </p:blipFill>
        <p:spPr>
          <a:xfrm xmlns:a="http://schemas.openxmlformats.org/drawingml/2006/main">
            <a:off x="609600" y="5528072"/>
            <a:ext cx="1659255" cy="390049"/>
          </a:xfrm>
          <a:prstGeom xmlns:a="http://schemas.openxmlformats.org/drawingml/2006/main" prst="rect">
            <a:avLst/>
          </a:prstGeom>
        </p:spPr>
      </p:pic>
      <p:pic>
        <p:nvPicPr>
          <p:cNvPr id="138" name="!!ssb-dense-equation-3" descr="\textstyle M(f)\longleftrightarrow m(t)=\frac{4v_0(t)}{A_cA'_c}"/>
          <p:cNvPicPr>
            <a:picLocks xmlns:a="http://schemas.openxmlformats.org/drawingml/2006/main" noChangeAspect="1"/>
          </p:cNvPicPr>
          <p:nvPr/>
        </p:nvPicPr>
        <p:blipFill>
          <a:blip xmlns:r="http://schemas.openxmlformats.org/officeDocument/2006/relationships" xmlns:a="http://schemas.openxmlformats.org/drawingml/2006/main" r:embed="R0867de2b0b1548d7">
            <a:extLst>
              <a:ext uri="{96DAC541-7B7A-43D3-8B79-37D633B846F1}">
                <ns29:svgBlip xmlns:ns29="http://schemas.microsoft.com/office/drawing/2016/SVG/main" r:embed="rIdVectormf00702"/>
              </a:ext>
            </a:extLst>
          </a:blip>
          <a:stretch xmlns:a="http://schemas.openxmlformats.org/drawingml/2006/main"/>
        </p:blipFill>
        <p:spPr>
          <a:xfrm xmlns:a="http://schemas.openxmlformats.org/drawingml/2006/main">
            <a:off x="609600" y="5966222"/>
            <a:ext cx="2847975" cy="390049"/>
          </a:xfrm>
          <a:prstGeom xmlns:a="http://schemas.openxmlformats.org/drawingml/2006/main" prst="rect">
            <a:avLst/>
          </a:prstGeom>
        </p:spPr>
      </p:pic>
    </p:spTree>
    <p:extLst>
      <p:ext uri="{BB962C8B-B14F-4D97-AF65-F5344CB8AC3E}">
        <p14:creationId xmlns:p14="http://schemas.microsoft.com/office/powerpoint/2010/main" val="129365500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4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fade">
                                      <p:cBhvr>
                                        <p:cTn id="16" dur="400"/>
                                        <p:tgtEl>
                                          <p:spTgt spid="128"/>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par>
                                <p:cTn id="20" presetID="10" presetClass="entr" presetSubtype="0"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200"/>
                                        <p:tgtEl>
                                          <p:spTgt spid="31"/>
                                        </p:tgtEl>
                                      </p:cBhvr>
                                    </p:animEffect>
                                    <p:animMotion origin="layout" pathEditMode="relative" path="M -0.32812500 0.00000000 L 0.00000000 0.00000000 E">
                                      <p:cBhvr>
                                        <p:cTn id="28" dur="700" fill="hold"/>
                                        <p:tgtEl>
                                          <p:spTgt spid="31"/>
                                        </p:tgtEl>
                                        <p:attrNameLst>
                                          <p:attrName>ppt_x</p:attrName>
                                          <p:attrName>ppt_y</p:attrName>
                                        </p:attrNameLst>
                                      </p:cBhvr>
                                    </p:animMotion>
                                    <p:animScale zoomContents="1">
                                      <p:cBhvr>
                                        <p:cTn id="29" dur="700" fill="hold"/>
                                        <p:tgtEl>
                                          <p:spTgt spid="31"/>
                                        </p:tgtEl>
                                      </p:cBhvr>
                                      <p:from x="100000" y="100000"/>
                                      <p:to x="100000" y="100000"/>
                                    </p:animScale>
                                  </p:childTnLst>
                                </p:cTn>
                              </p:par>
                              <p:par>
                                <p:cTn id="30" presetID="10"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200"/>
                                        <p:tgtEl>
                                          <p:spTgt spid="32"/>
                                        </p:tgtEl>
                                      </p:cBhvr>
                                    </p:animEffect>
                                    <p:animMotion origin="layout" pathEditMode="relative" path="M -0.32812500 0.00000000 L 0.00000000 0.00000000 E">
                                      <p:cBhvr>
                                        <p:cTn id="33" dur="700" fill="hold"/>
                                        <p:tgtEl>
                                          <p:spTgt spid="32"/>
                                        </p:tgtEl>
                                        <p:attrNameLst>
                                          <p:attrName>ppt_x</p:attrName>
                                          <p:attrName>ppt_y</p:attrName>
                                        </p:attrNameLst>
                                      </p:cBhvr>
                                    </p:animMotion>
                                    <p:animScale zoomContents="1">
                                      <p:cBhvr>
                                        <p:cTn id="34" dur="700" fill="hold"/>
                                        <p:tgtEl>
                                          <p:spTgt spid="32"/>
                                        </p:tgtEl>
                                      </p:cBhvr>
                                      <p:from x="100000" y="100000"/>
                                      <p:to x="100000" y="100000"/>
                                    </p:animScale>
                                  </p:childTnLst>
                                </p:cTn>
                              </p:par>
                              <p:par>
                                <p:cTn id="35" presetID="10" presetClass="entr" presetSubtype="0" fill="hold" nodeType="withEffect">
                                  <p:stCondLst>
                                    <p:cond delay="0"/>
                                  </p:stCondLst>
                                  <p:childTnLst>
                                    <p:set>
                                      <p:cBhvr>
                                        <p:cTn id="36" dur="1" fill="hold">
                                          <p:stCondLst>
                                            <p:cond delay="0"/>
                                          </p:stCondLst>
                                        </p:cTn>
                                        <p:tgtEl>
                                          <p:spTgt spid="129"/>
                                        </p:tgtEl>
                                        <p:attrNameLst>
                                          <p:attrName>style.visibility</p:attrName>
                                        </p:attrNameLst>
                                      </p:cBhvr>
                                      <p:to>
                                        <p:strVal val="visible"/>
                                      </p:to>
                                    </p:set>
                                    <p:animEffect transition="in" filter="fade">
                                      <p:cBhvr>
                                        <p:cTn id="37" dur="400"/>
                                        <p:tgtEl>
                                          <p:spTgt spid="129"/>
                                        </p:tgtEl>
                                      </p:cBhvr>
                                    </p:animEffect>
                                  </p:childTnLst>
                                </p:cTn>
                              </p:par>
                              <p:par>
                                <p:cTn id="38" presetID="10" presetClass="entr" presetSubtype="0" fill="hold" nodeType="withEffect">
                                  <p:stCondLst>
                                    <p:cond delay="0"/>
                                  </p:stCondLst>
                                  <p:childTnLst>
                                    <p:set>
                                      <p:cBhvr>
                                        <p:cTn id="39" dur="1" fill="hold">
                                          <p:stCondLst>
                                            <p:cond delay="0"/>
                                          </p:stCondLst>
                                        </p:cTn>
                                        <p:tgtEl>
                                          <p:spTgt spid="136"/>
                                        </p:tgtEl>
                                        <p:attrNameLst>
                                          <p:attrName>style.visibility</p:attrName>
                                        </p:attrNameLst>
                                      </p:cBhvr>
                                      <p:to>
                                        <p:strVal val="visible"/>
                                      </p:to>
                                    </p:set>
                                    <p:animEffect transition="in" filter="fade">
                                      <p:cBhvr>
                                        <p:cTn id="40" dur="400"/>
                                        <p:tgtEl>
                                          <p:spTgt spid="1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400"/>
                                        <p:tgtEl>
                                          <p:spTgt spid="33"/>
                                        </p:tgtEl>
                                      </p:cBhvr>
                                    </p:animEffect>
                                  </p:childTnLst>
                                </p:cTn>
                              </p:par>
                              <p:par>
                                <p:cTn id="46" presetID="10" presetClass="entr" presetSubtype="0"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nodeType="withEffect">
                                  <p:stCondLst>
                                    <p:cond delay="0"/>
                                  </p:stCondLst>
                                  <p:childTnLst>
                                    <p:set>
                                      <p:cBhvr>
                                        <p:cTn id="50" dur="1" fill="hold">
                                          <p:stCondLst>
                                            <p:cond delay="0"/>
                                          </p:stCondLst>
                                        </p:cTn>
                                        <p:tgtEl>
                                          <p:spTgt spid="130"/>
                                        </p:tgtEl>
                                        <p:attrNameLst>
                                          <p:attrName>style.visibility</p:attrName>
                                        </p:attrNameLst>
                                      </p:cBhvr>
                                      <p:to>
                                        <p:strVal val="visible"/>
                                      </p:to>
                                    </p:set>
                                    <p:animEffect transition="in" filter="fade">
                                      <p:cBhvr>
                                        <p:cTn id="51" dur="400"/>
                                        <p:tgtEl>
                                          <p:spTgt spid="130"/>
                                        </p:tgtEl>
                                      </p:cBhvr>
                                    </p:animEffect>
                                  </p:childTnLst>
                                </p:cTn>
                              </p:par>
                              <p:par>
                                <p:cTn id="52" presetID="10" presetClass="entr" presetSubtype="0" fill="hold"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200"/>
                                        <p:tgtEl>
                                          <p:spTgt spid="35"/>
                                        </p:tgtEl>
                                      </p:cBhvr>
                                    </p:animEffect>
                                    <p:animMotion origin="layout" pathEditMode="relative" path="M -0.32812500 0.00000000 L 0.00000000 0.00000000 E">
                                      <p:cBhvr>
                                        <p:cTn id="55" dur="700" fill="hold"/>
                                        <p:tgtEl>
                                          <p:spTgt spid="35"/>
                                        </p:tgtEl>
                                        <p:attrNameLst>
                                          <p:attrName>ppt_x</p:attrName>
                                          <p:attrName>ppt_y</p:attrName>
                                        </p:attrNameLst>
                                      </p:cBhvr>
                                    </p:animMotion>
                                    <p:animScale zoomContents="1">
                                      <p:cBhvr>
                                        <p:cTn id="56" dur="700" fill="hold"/>
                                        <p:tgtEl>
                                          <p:spTgt spid="35"/>
                                        </p:tgtEl>
                                      </p:cBhvr>
                                      <p:from x="100000" y="100000"/>
                                      <p:to x="100000" y="100000"/>
                                    </p:animScale>
                                  </p:childTnLst>
                                </p:cTn>
                              </p:par>
                              <p:par>
                                <p:cTn id="57" presetID="10" presetClass="entr" presetSubtype="0" fill="hold"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200"/>
                                        <p:tgtEl>
                                          <p:spTgt spid="36"/>
                                        </p:tgtEl>
                                      </p:cBhvr>
                                    </p:animEffect>
                                    <p:animMotion origin="layout" pathEditMode="relative" path="M -0.32812500 0.00000000 L 0.00000000 0.00000000 E">
                                      <p:cBhvr>
                                        <p:cTn id="60" dur="700" fill="hold"/>
                                        <p:tgtEl>
                                          <p:spTgt spid="36"/>
                                        </p:tgtEl>
                                        <p:attrNameLst>
                                          <p:attrName>ppt_x</p:attrName>
                                          <p:attrName>ppt_y</p:attrName>
                                        </p:attrNameLst>
                                      </p:cBhvr>
                                    </p:animMotion>
                                    <p:animScale zoomContents="1">
                                      <p:cBhvr>
                                        <p:cTn id="61" dur="700" fill="hold"/>
                                        <p:tgtEl>
                                          <p:spTgt spid="36"/>
                                        </p:tgtEl>
                                      </p:cBhvr>
                                      <p:from x="100000" y="100000"/>
                                      <p:to x="100000" y="100000"/>
                                    </p:animScale>
                                  </p:childTnLst>
                                </p:cTn>
                              </p:par>
                              <p:par>
                                <p:cTn id="62" presetID="10" presetClass="entr" presetSubtype="0" fill="hold" nodeType="withEffect">
                                  <p:stCondLst>
                                    <p:cond delay="0"/>
                                  </p:stCondLst>
                                  <p:childTnLst>
                                    <p:set>
                                      <p:cBhvr>
                                        <p:cTn id="63" dur="1" fill="hold">
                                          <p:stCondLst>
                                            <p:cond delay="0"/>
                                          </p:stCondLst>
                                        </p:cTn>
                                        <p:tgtEl>
                                          <p:spTgt spid="131"/>
                                        </p:tgtEl>
                                        <p:attrNameLst>
                                          <p:attrName>style.visibility</p:attrName>
                                        </p:attrNameLst>
                                      </p:cBhvr>
                                      <p:to>
                                        <p:strVal val="visible"/>
                                      </p:to>
                                    </p:set>
                                    <p:animEffect transition="in" filter="fade">
                                      <p:cBhvr>
                                        <p:cTn id="64" dur="400"/>
                                        <p:tgtEl>
                                          <p:spTgt spid="131"/>
                                        </p:tgtEl>
                                      </p:cBhvr>
                                    </p:animEffect>
                                  </p:childTnLst>
                                </p:cTn>
                              </p:par>
                              <p:par>
                                <p:cTn id="65" presetID="10" presetClass="entr" presetSubtype="0" fill="hold" nodeType="withEffect">
                                  <p:stCondLst>
                                    <p:cond delay="0"/>
                                  </p:stCondLst>
                                  <p:childTnLst>
                                    <p:set>
                                      <p:cBhvr>
                                        <p:cTn id="66" dur="1" fill="hold">
                                          <p:stCondLst>
                                            <p:cond delay="0"/>
                                          </p:stCondLst>
                                        </p:cTn>
                                        <p:tgtEl>
                                          <p:spTgt spid="137"/>
                                        </p:tgtEl>
                                        <p:attrNameLst>
                                          <p:attrName>style.visibility</p:attrName>
                                        </p:attrNameLst>
                                      </p:cBhvr>
                                      <p:to>
                                        <p:strVal val="visible"/>
                                      </p:to>
                                    </p:set>
                                    <p:animEffect transition="in" filter="fade">
                                      <p:cBhvr>
                                        <p:cTn id="67" dur="400"/>
                                        <p:tgtEl>
                                          <p:spTgt spid="13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nodeType="withEffect">
                                  <p:stCondLst>
                                    <p:cond delay="0"/>
                                  </p:stCondLst>
                                  <p:childTnLst>
                                    <p:set>
                                      <p:cBhvr>
                                        <p:cTn id="77" dur="1" fill="hold">
                                          <p:stCondLst>
                                            <p:cond delay="0"/>
                                          </p:stCondLst>
                                        </p:cTn>
                                        <p:tgtEl>
                                          <p:spTgt spid="132"/>
                                        </p:tgtEl>
                                        <p:attrNameLst>
                                          <p:attrName>style.visibility</p:attrName>
                                        </p:attrNameLst>
                                      </p:cBhvr>
                                      <p:to>
                                        <p:strVal val="visible"/>
                                      </p:to>
                                    </p:set>
                                    <p:animEffect transition="in" filter="fade">
                                      <p:cBhvr>
                                        <p:cTn id="78" dur="400"/>
                                        <p:tgtEl>
                                          <p:spTgt spid="132"/>
                                        </p:tgtEl>
                                      </p:cBhvr>
                                    </p:animEffect>
                                  </p:childTnLst>
                                </p:cTn>
                              </p:par>
                              <p:par>
                                <p:cTn id="79" presetID="10" presetClass="entr" presetSubtype="0" fill="hold" nodeType="withEffect">
                                  <p:stCondLst>
                                    <p:cond delay="0"/>
                                  </p:stCondLst>
                                  <p:childTnLst>
                                    <p:set>
                                      <p:cBhvr>
                                        <p:cTn id="80" dur="1" fill="hold">
                                          <p:stCondLst>
                                            <p:cond delay="0"/>
                                          </p:stCondLst>
                                        </p:cTn>
                                        <p:tgtEl>
                                          <p:spTgt spid="133"/>
                                        </p:tgtEl>
                                        <p:attrNameLst>
                                          <p:attrName>style.visibility</p:attrName>
                                        </p:attrNameLst>
                                      </p:cBhvr>
                                      <p:to>
                                        <p:strVal val="visible"/>
                                      </p:to>
                                    </p:set>
                                    <p:animEffect transition="in" filter="fade">
                                      <p:cBhvr>
                                        <p:cTn id="81" dur="400"/>
                                        <p:tgtEl>
                                          <p:spTgt spid="133"/>
                                        </p:tgtEl>
                                      </p:cBhvr>
                                    </p:animEffect>
                                  </p:childTnLst>
                                </p:cTn>
                              </p:par>
                              <p:par>
                                <p:cTn id="82" presetID="10" presetClass="entr" presetSubtype="0" fill="hold"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400"/>
                                        <p:tgtEl>
                                          <p:spTgt spid="39"/>
                                        </p:tgtEl>
                                      </p:cBhvr>
                                    </p:animEffect>
                                  </p:childTnLst>
                                </p:cTn>
                              </p:par>
                              <p:par>
                                <p:cTn id="85" presetID="10" presetClass="entr" presetSubtype="0" fill="hold" nodeType="withEffect">
                                  <p:stCondLst>
                                    <p:cond delay="0"/>
                                  </p:stCondLst>
                                  <p:childTnLst>
                                    <p:set>
                                      <p:cBhvr>
                                        <p:cTn id="86" dur="1" fill="hold">
                                          <p:stCondLst>
                                            <p:cond delay="0"/>
                                          </p:stCondLst>
                                        </p:cTn>
                                        <p:tgtEl>
                                          <p:spTgt spid="134"/>
                                        </p:tgtEl>
                                        <p:attrNameLst>
                                          <p:attrName>style.visibility</p:attrName>
                                        </p:attrNameLst>
                                      </p:cBhvr>
                                      <p:to>
                                        <p:strVal val="visible"/>
                                      </p:to>
                                    </p:set>
                                    <p:animEffect transition="in" filter="fade">
                                      <p:cBhvr>
                                        <p:cTn id="87" dur="400"/>
                                        <p:tgtEl>
                                          <p:spTgt spid="134"/>
                                        </p:tgtEl>
                                      </p:cBhvr>
                                    </p:animEffect>
                                  </p:childTnLst>
                                </p:cTn>
                              </p:par>
                              <p:par>
                                <p:cTn id="88" presetID="10" presetClass="entr" presetSubtype="0" fill="hold" nodeType="withEffect">
                                  <p:stCondLst>
                                    <p:cond delay="0"/>
                                  </p:stCondLst>
                                  <p:childTnLst>
                                    <p:set>
                                      <p:cBhvr>
                                        <p:cTn id="89" dur="1" fill="hold">
                                          <p:stCondLst>
                                            <p:cond delay="0"/>
                                          </p:stCondLst>
                                        </p:cTn>
                                        <p:tgtEl>
                                          <p:spTgt spid="138"/>
                                        </p:tgtEl>
                                        <p:attrNameLst>
                                          <p:attrName>style.visibility</p:attrName>
                                        </p:attrNameLst>
                                      </p:cBhvr>
                                      <p:to>
                                        <p:strVal val="visible"/>
                                      </p:to>
                                    </p:set>
                                    <p:animEffect transition="in" filter="fade">
                                      <p:cBhvr>
                                        <p:cTn id="90" dur="4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Lst>
  </p:timing>
</p:sld>
</file>

<file path=ppt/slides/methods_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amschemes-title">
            <ns0:hlinkClick xmlns:ns0="http://schemas.openxmlformats.org/drawingml/2006/main" xmlns:ns1="http://schemas.openxmlformats.org/officeDocument/2006/relationships" ns1:id="rIdmethods_Link150" action="ppaction://hlinksldjump"/>
            <a:extLst xmlns:a="http://schemas.openxmlformats.org/drawingml/2006/main">
              <a:ext uri="{FF2B5EF4-FFF2-40B4-BE49-F238E27FC236}">
                <a16:creationId xmlns:a16="http://schemas.microsoft.com/office/drawing/2014/main" id="{1A0B8778-1240-4EA5-AA12-6FA648360A55}"/>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50" action="ppaction://hlinksldjump"/>
              </a:rPr>
              <a:t>AM schemes</a:t>
            </a:r>
          </a:p>
        </p:txBody>
      </p:sp>
      <p:sp>
        <p:nvSpPr>
          <p:cNvPr id="2" name="!!amschemes-route-tx-line">
            <a:extLst xmlns:a="http://schemas.openxmlformats.org/drawingml/2006/main">
              <a:ext uri="{FF2B5EF4-FFF2-40B4-BE49-F238E27FC236}">
                <a16:creationId xmlns:a16="http://schemas.microsoft.com/office/drawing/2014/main" id="{DBBC4BE4-0AC8-481F-9E47-880D2524916C}"/>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amschemes-route-tx-head">
            <a:extLst xmlns:a="http://schemas.openxmlformats.org/drawingml/2006/main">
              <a:ext uri="{FF2B5EF4-FFF2-40B4-BE49-F238E27FC236}">
                <a16:creationId xmlns:a16="http://schemas.microsoft.com/office/drawing/2014/main" id="{7081A4D4-8F30-4959-B051-52AEFF1C24E7}"/>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amschemes-route-rx-line">
            <a:extLst xmlns:a="http://schemas.openxmlformats.org/drawingml/2006/main">
              <a:ext uri="{FF2B5EF4-FFF2-40B4-BE49-F238E27FC236}">
                <a16:creationId xmlns:a16="http://schemas.microsoft.com/office/drawing/2014/main" id="{3946D98C-1076-44D4-A6D0-B1E8600C7892}"/>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amschemes-route-rx-head">
            <a:extLst xmlns:a="http://schemas.openxmlformats.org/drawingml/2006/main">
              <a:ext uri="{FF2B5EF4-FFF2-40B4-BE49-F238E27FC236}">
                <a16:creationId xmlns:a16="http://schemas.microsoft.com/office/drawing/2014/main" id="{8E4C0C74-BC46-4873-9DC0-4C0553941CD5}"/>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amschemes-question">
            <a:extLst xmlns:a="http://schemas.openxmlformats.org/drawingml/2006/main">
              <a:ext uri="{FF2B5EF4-FFF2-40B4-BE49-F238E27FC236}">
                <a16:creationId xmlns:a16="http://schemas.microsoft.com/office/drawing/2014/main" id="{C478F03E-2F47-4BB2-8EEE-EF982A053A1C}"/>
              </a:ext>
            </a:extLst>
          </p:cNvPr>
          <p:cNvSpPr>
            <a:spLocks xmlns:a="http://schemas.openxmlformats.org/drawingml/2006/main" noGrp="1"/>
          </p:cNvSpPr>
          <p:nvPr/>
        </p:nvSpPr>
        <p:spPr>
          <a:xfrm xmlns:a="http://schemas.openxmlformats.org/drawingml/2006/main">
            <a:off x="666750" y="15525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Calculate: occupied intervals and transmission bandwidth.</a:t>
            </a:r>
          </a:p>
        </p:txBody>
      </p:sp>
      <p:sp>
        <p:nvSpPr>
          <p:cNvPr id="7" name="!!amschemes-detail">
            <a:extLst xmlns:a="http://schemas.openxmlformats.org/drawingml/2006/main">
              <a:ext uri="{FF2B5EF4-FFF2-40B4-BE49-F238E27FC236}">
                <a16:creationId xmlns:a16="http://schemas.microsoft.com/office/drawing/2014/main" id="{EB020C1C-050D-4369-88E4-7CDCA9B36BF7}"/>
              </a:ext>
            </a:extLst>
          </p:cNvPr>
          <p:cNvSpPr>
            <a:spLocks xmlns:a="http://schemas.openxmlformats.org/drawingml/2006/main" noGrp="1"/>
          </p:cNvSpPr>
          <p:nvPr/>
        </p:nvSpPr>
        <p:spPr>
          <a:xfrm xmlns:a="http://schemas.openxmlformats.org/drawingml/2006/main">
            <a:off x="666750" y="23812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Occupied bands; local frequency axes in kHz</a:t>
            </a:r>
          </a:p>
        </p:txBody>
      </p:sp>
      <p:sp>
        <p:nvSpPr>
          <p:cNvPr id="8" name="!!amschemes-method0">
            <a:extLst xmlns:a="http://schemas.openxmlformats.org/drawingml/2006/main">
              <a:ext uri="{FF2B5EF4-FFF2-40B4-BE49-F238E27FC236}">
                <a16:creationId xmlns:a16="http://schemas.microsoft.com/office/drawing/2014/main" id="{0ABFCC36-9D6A-47C4-AC8A-7B11596CB158}"/>
              </a:ext>
            </a:extLst>
          </p:cNvPr>
          <p:cNvSpPr>
            <a:spLocks xmlns:a="http://schemas.openxmlformats.org/drawingml/2006/main" noGrp="1"/>
          </p:cNvSpPr>
          <p:nvPr/>
        </p:nvSpPr>
        <p:spPr>
          <a:xfrm xmlns:a="http://schemas.openxmlformats.org/drawingml/2006/main">
            <a:off x="1047750" y="275272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DSB-SC</a:t>
            </a:r>
          </a:p>
        </p:txBody>
      </p:sp>
      <p:sp>
        <p:nvSpPr>
          <p:cNvPr id="9" name="!!amschemes-axis00-line">
            <a:extLst xmlns:a="http://schemas.openxmlformats.org/drawingml/2006/main">
              <a:ext uri="{FF2B5EF4-FFF2-40B4-BE49-F238E27FC236}">
                <a16:creationId xmlns:a16="http://schemas.microsoft.com/office/drawing/2014/main" id="{2914FA3D-5F9A-401F-A940-A2BAA5BB5FEF}"/>
              </a:ext>
            </a:extLst>
          </p:cNvPr>
          <p:cNvSpPr>
            <a:spLocks xmlns:a="http://schemas.openxmlformats.org/drawingml/2006/main" noGrp="1"/>
          </p:cNvSpPr>
          <p:nvPr/>
        </p:nvSpPr>
        <p:spPr>
          <a:xfrm xmlns:a="http://schemas.openxmlformats.org/drawingml/2006/main">
            <a:off x="1047750" y="3829050"/>
            <a:ext cx="1857375"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mschemes-axis00-head">
            <a:extLst xmlns:a="http://schemas.openxmlformats.org/drawingml/2006/main">
              <a:ext uri="{FF2B5EF4-FFF2-40B4-BE49-F238E27FC236}">
                <a16:creationId xmlns:a16="http://schemas.microsoft.com/office/drawing/2014/main" id="{DA0711EB-B1D7-4CEA-B7C0-13698B71893D}"/>
              </a:ext>
            </a:extLst>
          </p:cNvPr>
          <p:cNvSpPr>
            <a:spLocks xmlns:a="http://schemas.openxmlformats.org/drawingml/2006/main" noGrp="1"/>
          </p:cNvSpPr>
          <p:nvPr/>
        </p:nvSpPr>
        <p:spPr>
          <a:xfrm xmlns:a="http://schemas.openxmlformats.org/drawingml/2006/main" rot="5400000">
            <a:off x="2886075" y="37814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amschemes-tick00">
            <a:extLst xmlns:a="http://schemas.openxmlformats.org/drawingml/2006/main">
              <a:ext uri="{FF2B5EF4-FFF2-40B4-BE49-F238E27FC236}">
                <a16:creationId xmlns:a16="http://schemas.microsoft.com/office/drawing/2014/main" id="{F94A28EB-3687-4CFB-A6B7-DE8767937912}"/>
              </a:ext>
            </a:extLst>
          </p:cNvPr>
          <p:cNvSpPr>
            <a:spLocks xmlns:a="http://schemas.openxmlformats.org/drawingml/2006/main" noGrp="1"/>
          </p:cNvSpPr>
          <p:nvPr/>
        </p:nvSpPr>
        <p:spPr>
          <a:xfrm xmlns:a="http://schemas.openxmlformats.org/drawingml/2006/main">
            <a:off x="2024063" y="38290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mschemes-axis01-line">
            <a:extLst xmlns:a="http://schemas.openxmlformats.org/drawingml/2006/main">
              <a:ext uri="{FF2B5EF4-FFF2-40B4-BE49-F238E27FC236}">
                <a16:creationId xmlns:a16="http://schemas.microsoft.com/office/drawing/2014/main" id="{043ECEC9-37F0-4A93-A03F-87A363F89C31}"/>
              </a:ext>
            </a:extLst>
          </p:cNvPr>
          <p:cNvSpPr>
            <a:spLocks xmlns:a="http://schemas.openxmlformats.org/drawingml/2006/main" noGrp="1"/>
          </p:cNvSpPr>
          <p:nvPr/>
        </p:nvSpPr>
        <p:spPr>
          <a:xfrm xmlns:a="http://schemas.openxmlformats.org/drawingml/2006/main">
            <a:off x="3381375" y="3829050"/>
            <a:ext cx="1857375"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mschemes-axis01-head">
            <a:extLst xmlns:a="http://schemas.openxmlformats.org/drawingml/2006/main">
              <a:ext uri="{FF2B5EF4-FFF2-40B4-BE49-F238E27FC236}">
                <a16:creationId xmlns:a16="http://schemas.microsoft.com/office/drawing/2014/main" id="{B1B3B60E-DEBB-46A4-ADAB-A5F47E193460}"/>
              </a:ext>
            </a:extLst>
          </p:cNvPr>
          <p:cNvSpPr>
            <a:spLocks xmlns:a="http://schemas.openxmlformats.org/drawingml/2006/main" noGrp="1"/>
          </p:cNvSpPr>
          <p:nvPr/>
        </p:nvSpPr>
        <p:spPr>
          <a:xfrm xmlns:a="http://schemas.openxmlformats.org/drawingml/2006/main" rot="5400000">
            <a:off x="5219700" y="37814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4" name="!!amschemes-tick01">
            <a:extLst xmlns:a="http://schemas.openxmlformats.org/drawingml/2006/main">
              <a:ext uri="{FF2B5EF4-FFF2-40B4-BE49-F238E27FC236}">
                <a16:creationId xmlns:a16="http://schemas.microsoft.com/office/drawing/2014/main" id="{0EF5AE72-5470-4FB1-9AFC-2A5514E869E4}"/>
              </a:ext>
            </a:extLst>
          </p:cNvPr>
          <p:cNvSpPr>
            <a:spLocks xmlns:a="http://schemas.openxmlformats.org/drawingml/2006/main" noGrp="1"/>
          </p:cNvSpPr>
          <p:nvPr/>
        </p:nvSpPr>
        <p:spPr>
          <a:xfrm xmlns:a="http://schemas.openxmlformats.org/drawingml/2006/main">
            <a:off x="4357688" y="38290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mschemes-gap0">
            <a:extLst xmlns:a="http://schemas.openxmlformats.org/drawingml/2006/main">
              <a:ext uri="{FF2B5EF4-FFF2-40B4-BE49-F238E27FC236}">
                <a16:creationId xmlns:a16="http://schemas.microsoft.com/office/drawing/2014/main" id="{480E53AB-0E93-40C2-8559-DC4E2FF05B07}"/>
              </a:ext>
            </a:extLst>
          </p:cNvPr>
          <p:cNvSpPr>
            <a:spLocks xmlns:a="http://schemas.openxmlformats.org/drawingml/2006/main" noGrp="1"/>
          </p:cNvSpPr>
          <p:nvPr/>
        </p:nvSpPr>
        <p:spPr>
          <a:xfrm xmlns:a="http://schemas.openxmlformats.org/drawingml/2006/main">
            <a:off x="3114675" y="3743325"/>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777777"/>
                </a:solidFill>
                <a:latin typeface="Times New Roman"/>
                <a:ea typeface="Times New Roman"/>
                <a:cs typeface="Times New Roman"/>
              </a:defRPr>
            </a:pPr>
            <a:r>
              <a:rPr sz="1650" b="0" i="0">
                <a:solidFill>
                  <a:srgbClr val="777777"/>
                </a:solidFill>
                <a:latin typeface="Times New Roman"/>
                <a:ea typeface="Times New Roman"/>
                <a:cs typeface="Times New Roman"/>
              </a:rPr>
              <a:t>...</a:t>
            </a:r>
          </a:p>
        </p:txBody>
      </p:sp>
      <p:sp>
        <p:nvSpPr>
          <p:cNvPr id="16" name="!!amschemes-method1">
            <a:extLst xmlns:a="http://schemas.openxmlformats.org/drawingml/2006/main">
              <a:ext uri="{FF2B5EF4-FFF2-40B4-BE49-F238E27FC236}">
                <a16:creationId xmlns:a16="http://schemas.microsoft.com/office/drawing/2014/main" id="{1E454F30-3C8E-4206-9608-6012637E46F6}"/>
              </a:ext>
            </a:extLst>
          </p:cNvPr>
          <p:cNvSpPr>
            <a:spLocks xmlns:a="http://schemas.openxmlformats.org/drawingml/2006/main" noGrp="1"/>
          </p:cNvSpPr>
          <p:nvPr/>
        </p:nvSpPr>
        <p:spPr>
          <a:xfrm xmlns:a="http://schemas.openxmlformats.org/drawingml/2006/main">
            <a:off x="7096125" y="275272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USB</a:t>
            </a:r>
          </a:p>
        </p:txBody>
      </p:sp>
      <p:sp>
        <p:nvSpPr>
          <p:cNvPr id="17" name="!!amschemes-axis10-line">
            <a:extLst xmlns:a="http://schemas.openxmlformats.org/drawingml/2006/main">
              <a:ext uri="{FF2B5EF4-FFF2-40B4-BE49-F238E27FC236}">
                <a16:creationId xmlns:a16="http://schemas.microsoft.com/office/drawing/2014/main" id="{E407A617-E229-4F3C-A87E-BD3179E9F353}"/>
              </a:ext>
            </a:extLst>
          </p:cNvPr>
          <p:cNvSpPr>
            <a:spLocks xmlns:a="http://schemas.openxmlformats.org/drawingml/2006/main" noGrp="1"/>
          </p:cNvSpPr>
          <p:nvPr/>
        </p:nvSpPr>
        <p:spPr>
          <a:xfrm xmlns:a="http://schemas.openxmlformats.org/drawingml/2006/main">
            <a:off x="7096125" y="3829050"/>
            <a:ext cx="1857375"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mschemes-axis10-head">
            <a:extLst xmlns:a="http://schemas.openxmlformats.org/drawingml/2006/main">
              <a:ext uri="{FF2B5EF4-FFF2-40B4-BE49-F238E27FC236}">
                <a16:creationId xmlns:a16="http://schemas.microsoft.com/office/drawing/2014/main" id="{43FF7DA4-DEA6-45D9-A712-23ED2B9A5047}"/>
              </a:ext>
            </a:extLst>
          </p:cNvPr>
          <p:cNvSpPr>
            <a:spLocks xmlns:a="http://schemas.openxmlformats.org/drawingml/2006/main" noGrp="1"/>
          </p:cNvSpPr>
          <p:nvPr/>
        </p:nvSpPr>
        <p:spPr>
          <a:xfrm xmlns:a="http://schemas.openxmlformats.org/drawingml/2006/main" rot="5400000">
            <a:off x="8934450" y="37814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9" name="!!amschemes-tick10">
            <a:extLst xmlns:a="http://schemas.openxmlformats.org/drawingml/2006/main">
              <a:ext uri="{FF2B5EF4-FFF2-40B4-BE49-F238E27FC236}">
                <a16:creationId xmlns:a16="http://schemas.microsoft.com/office/drawing/2014/main" id="{1FA8A97B-78C4-4DA1-A755-E12DF6C725D4}"/>
              </a:ext>
            </a:extLst>
          </p:cNvPr>
          <p:cNvSpPr>
            <a:spLocks xmlns:a="http://schemas.openxmlformats.org/drawingml/2006/main" noGrp="1"/>
          </p:cNvSpPr>
          <p:nvPr/>
        </p:nvSpPr>
        <p:spPr>
          <a:xfrm xmlns:a="http://schemas.openxmlformats.org/drawingml/2006/main">
            <a:off x="8072438" y="38290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amschemes-axis11-line">
            <a:extLst xmlns:a="http://schemas.openxmlformats.org/drawingml/2006/main">
              <a:ext uri="{FF2B5EF4-FFF2-40B4-BE49-F238E27FC236}">
                <a16:creationId xmlns:a16="http://schemas.microsoft.com/office/drawing/2014/main" id="{567311F5-BB47-4B16-A157-FEBE4F78900F}"/>
              </a:ext>
            </a:extLst>
          </p:cNvPr>
          <p:cNvSpPr>
            <a:spLocks xmlns:a="http://schemas.openxmlformats.org/drawingml/2006/main" noGrp="1"/>
          </p:cNvSpPr>
          <p:nvPr/>
        </p:nvSpPr>
        <p:spPr>
          <a:xfrm xmlns:a="http://schemas.openxmlformats.org/drawingml/2006/main">
            <a:off x="9429750" y="3829050"/>
            <a:ext cx="1857375"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amschemes-axis11-head">
            <a:extLst xmlns:a="http://schemas.openxmlformats.org/drawingml/2006/main">
              <a:ext uri="{FF2B5EF4-FFF2-40B4-BE49-F238E27FC236}">
                <a16:creationId xmlns:a16="http://schemas.microsoft.com/office/drawing/2014/main" id="{CB082750-D1F9-4C98-8A80-BAA54DF9BC2A}"/>
              </a:ext>
            </a:extLst>
          </p:cNvPr>
          <p:cNvSpPr>
            <a:spLocks xmlns:a="http://schemas.openxmlformats.org/drawingml/2006/main" noGrp="1"/>
          </p:cNvSpPr>
          <p:nvPr/>
        </p:nvSpPr>
        <p:spPr>
          <a:xfrm xmlns:a="http://schemas.openxmlformats.org/drawingml/2006/main" rot="5400000">
            <a:off x="11268075" y="37814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2" name="!!amschemes-tick11">
            <a:extLst xmlns:a="http://schemas.openxmlformats.org/drawingml/2006/main">
              <a:ext uri="{FF2B5EF4-FFF2-40B4-BE49-F238E27FC236}">
                <a16:creationId xmlns:a16="http://schemas.microsoft.com/office/drawing/2014/main" id="{6862DF3B-C29B-4111-BDFD-862A08F52069}"/>
              </a:ext>
            </a:extLst>
          </p:cNvPr>
          <p:cNvSpPr>
            <a:spLocks xmlns:a="http://schemas.openxmlformats.org/drawingml/2006/main" noGrp="1"/>
          </p:cNvSpPr>
          <p:nvPr/>
        </p:nvSpPr>
        <p:spPr>
          <a:xfrm xmlns:a="http://schemas.openxmlformats.org/drawingml/2006/main">
            <a:off x="10406063" y="38290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amschemes-gap1">
            <a:extLst xmlns:a="http://schemas.openxmlformats.org/drawingml/2006/main">
              <a:ext uri="{FF2B5EF4-FFF2-40B4-BE49-F238E27FC236}">
                <a16:creationId xmlns:a16="http://schemas.microsoft.com/office/drawing/2014/main" id="{09568F38-897C-47E1-8083-BAE26F480511}"/>
              </a:ext>
            </a:extLst>
          </p:cNvPr>
          <p:cNvSpPr>
            <a:spLocks xmlns:a="http://schemas.openxmlformats.org/drawingml/2006/main" noGrp="1"/>
          </p:cNvSpPr>
          <p:nvPr/>
        </p:nvSpPr>
        <p:spPr>
          <a:xfrm xmlns:a="http://schemas.openxmlformats.org/drawingml/2006/main">
            <a:off x="9163050" y="3743325"/>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777777"/>
                </a:solidFill>
                <a:latin typeface="Times New Roman"/>
                <a:ea typeface="Times New Roman"/>
                <a:cs typeface="Times New Roman"/>
              </a:defRPr>
            </a:pPr>
            <a:r>
              <a:rPr sz="1650" b="0" i="0">
                <a:solidFill>
                  <a:srgbClr val="777777"/>
                </a:solidFill>
                <a:latin typeface="Times New Roman"/>
                <a:ea typeface="Times New Roman"/>
                <a:cs typeface="Times New Roman"/>
              </a:rPr>
              <a:t>...</a:t>
            </a:r>
          </a:p>
        </p:txBody>
      </p:sp>
      <p:pic>
        <p:nvPicPr>
          <p:cNvPr id="55" name="!!amschemes-route-m" descr="m(t)">
            <ns0:hlinkClick xmlns:ns0="http://schemas.openxmlformats.org/drawingml/2006/main" xmlns:ns1="http://schemas.openxmlformats.org/officeDocument/2006/relationships" ns1:id="rIdmethods_Link15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32a46047fbc4abc">
            <a:extLst>
              <a:ext uri="{96DAC541-7B7A-43D3-8B79-37D633B846F1}">
                <ns0:svgBlip xmlns:ns0="http://schemas.microsoft.com/office/drawing/2016/SVG/main" r:embed="rIdVectormf00703"/>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56" name="!!amschemes-route-s" descr="s(t)">
            <ns0:hlinkClick xmlns:ns0="http://schemas.openxmlformats.org/drawingml/2006/main" xmlns:ns1="http://schemas.openxmlformats.org/officeDocument/2006/relationships" ns1:id="rIdmethods_Link15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6880690043294731">
            <a:extLst>
              <a:ext uri="{96DAC541-7B7A-43D3-8B79-37D633B846F1}">
                <ns1:svgBlip xmlns:ns1="http://schemas.microsoft.com/office/drawing/2016/SVG/main" r:embed="rIdVectormf00704"/>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57" name="!!amschemes-route-restored" descr="m(t)">
            <ns0:hlinkClick xmlns:ns0="http://schemas.openxmlformats.org/drawingml/2006/main" xmlns:ns1="http://schemas.openxmlformats.org/officeDocument/2006/relationships" ns1:id="rIdmethods_Link15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e6671f4943943b6">
            <a:extLst>
              <a:ext uri="{96DAC541-7B7A-43D3-8B79-37D633B846F1}">
                <ns2:svgBlip xmlns:ns2="http://schemas.microsoft.com/office/drawing/2016/SVG/main" r:embed="rIdVectormf00705"/>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58" name="!!amschemes-given" descr="W=5\ \mathrm{kHz},\quad f_c=100\ \mathrm{kHz}"/>
          <p:cNvPicPr>
            <a:picLocks xmlns:a="http://schemas.openxmlformats.org/drawingml/2006/main" noChangeAspect="1"/>
          </p:cNvPicPr>
          <p:nvPr/>
        </p:nvPicPr>
        <p:blipFill>
          <a:blip xmlns:r="http://schemas.openxmlformats.org/officeDocument/2006/relationships" xmlns:a="http://schemas.openxmlformats.org/drawingml/2006/main" r:embed="R2adcb8adb5eb4765">
            <a:extLst>
              <a:ext uri="{96DAC541-7B7A-43D3-8B79-37D633B846F1}">
                <ns3:svgBlip xmlns:ns3="http://schemas.microsoft.com/office/drawing/2016/SVG/main" r:embed="rIdVectormf00706"/>
              </a:ext>
            </a:extLst>
          </a:blip>
          <a:stretch xmlns:a="http://schemas.openxmlformats.org/drawingml/2006/main"/>
        </p:blipFill>
        <p:spPr>
          <a:xfrm xmlns:a="http://schemas.openxmlformats.org/drawingml/2006/main">
            <a:off x="666750" y="2023705"/>
            <a:ext cx="3417570" cy="219789"/>
          </a:xfrm>
          <a:prstGeom xmlns:a="http://schemas.openxmlformats.org/drawingml/2006/main" prst="rect">
            <a:avLst/>
          </a:prstGeom>
        </p:spPr>
      </p:pic>
      <p:pic>
        <p:nvPicPr>
          <p:cNvPr id="59" name="!!amschemes-center00" descr="-100"/>
          <p:cNvPicPr>
            <a:picLocks xmlns:a="http://schemas.openxmlformats.org/drawingml/2006/main" noChangeAspect="1"/>
          </p:cNvPicPr>
          <p:nvPr/>
        </p:nvPicPr>
        <p:blipFill>
          <a:blip xmlns:r="http://schemas.openxmlformats.org/officeDocument/2006/relationships" xmlns:a="http://schemas.openxmlformats.org/drawingml/2006/main" r:embed="Rb9715512380c422d">
            <a:extLst>
              <a:ext uri="{96DAC541-7B7A-43D3-8B79-37D633B846F1}">
                <ns4:svgBlip xmlns:ns4="http://schemas.microsoft.com/office/drawing/2016/SVG/main" r:embed="rIdVectormf00707"/>
              </a:ext>
            </a:extLst>
          </a:blip>
          <a:stretch xmlns:a="http://schemas.openxmlformats.org/drawingml/2006/main"/>
        </p:blipFill>
        <p:spPr>
          <a:xfrm xmlns:a="http://schemas.openxmlformats.org/drawingml/2006/main">
            <a:off x="1776413" y="3951089"/>
            <a:ext cx="495300" cy="146447"/>
          </a:xfrm>
          <a:prstGeom xmlns:a="http://schemas.openxmlformats.org/drawingml/2006/main" prst="rect">
            <a:avLst/>
          </a:prstGeom>
        </p:spPr>
      </p:pic>
      <p:pic>
        <p:nvPicPr>
          <p:cNvPr id="60" name="!!amschemes-center01" descr="100"/>
          <p:cNvPicPr>
            <a:picLocks xmlns:a="http://schemas.openxmlformats.org/drawingml/2006/main" noChangeAspect="1"/>
          </p:cNvPicPr>
          <p:nvPr/>
        </p:nvPicPr>
        <p:blipFill>
          <a:blip xmlns:r="http://schemas.openxmlformats.org/officeDocument/2006/relationships" xmlns:a="http://schemas.openxmlformats.org/drawingml/2006/main" r:embed="R6787e6f210f64f98">
            <a:extLst>
              <a:ext uri="{96DAC541-7B7A-43D3-8B79-37D633B846F1}">
                <ns5:svgBlip xmlns:ns5="http://schemas.microsoft.com/office/drawing/2016/SVG/main" r:embed="rIdVectormf00708"/>
              </a:ext>
            </a:extLst>
          </a:blip>
          <a:stretch xmlns:a="http://schemas.openxmlformats.org/drawingml/2006/main"/>
        </p:blipFill>
        <p:spPr>
          <a:xfrm xmlns:a="http://schemas.openxmlformats.org/drawingml/2006/main">
            <a:off x="4205288" y="3967163"/>
            <a:ext cx="304800" cy="114300"/>
          </a:xfrm>
          <a:prstGeom xmlns:a="http://schemas.openxmlformats.org/drawingml/2006/main" prst="rect">
            <a:avLst/>
          </a:prstGeom>
        </p:spPr>
      </p:pic>
      <p:pic>
        <p:nvPicPr>
          <p:cNvPr id="61" name="!!amschemes-center10" descr="-100"/>
          <p:cNvPicPr>
            <a:picLocks xmlns:a="http://schemas.openxmlformats.org/drawingml/2006/main" noChangeAspect="1"/>
          </p:cNvPicPr>
          <p:nvPr/>
        </p:nvPicPr>
        <p:blipFill>
          <a:blip xmlns:r="http://schemas.openxmlformats.org/officeDocument/2006/relationships" xmlns:a="http://schemas.openxmlformats.org/drawingml/2006/main" r:embed="R92efa912b590417a">
            <a:extLst>
              <a:ext uri="{96DAC541-7B7A-43D3-8B79-37D633B846F1}">
                <ns6:svgBlip xmlns:ns6="http://schemas.microsoft.com/office/drawing/2016/SVG/main" r:embed="rIdVectormf00709"/>
              </a:ext>
            </a:extLst>
          </a:blip>
          <a:stretch xmlns:a="http://schemas.openxmlformats.org/drawingml/2006/main"/>
        </p:blipFill>
        <p:spPr>
          <a:xfrm xmlns:a="http://schemas.openxmlformats.org/drawingml/2006/main">
            <a:off x="7824788" y="3951089"/>
            <a:ext cx="495300" cy="146447"/>
          </a:xfrm>
          <a:prstGeom xmlns:a="http://schemas.openxmlformats.org/drawingml/2006/main" prst="rect">
            <a:avLst/>
          </a:prstGeom>
        </p:spPr>
      </p:pic>
      <p:pic>
        <p:nvPicPr>
          <p:cNvPr id="62" name="!!amschemes-center11" descr="100"/>
          <p:cNvPicPr>
            <a:picLocks xmlns:a="http://schemas.openxmlformats.org/drawingml/2006/main" noChangeAspect="1"/>
          </p:cNvPicPr>
          <p:nvPr/>
        </p:nvPicPr>
        <p:blipFill>
          <a:blip xmlns:r="http://schemas.openxmlformats.org/officeDocument/2006/relationships" xmlns:a="http://schemas.openxmlformats.org/drawingml/2006/main" r:embed="R405ea241e2a64e55">
            <a:extLst>
              <a:ext uri="{96DAC541-7B7A-43D3-8B79-37D633B846F1}">
                <ns7:svgBlip xmlns:ns7="http://schemas.microsoft.com/office/drawing/2016/SVG/main" r:embed="rIdVectormf00710"/>
              </a:ext>
            </a:extLst>
          </a:blip>
          <a:stretch xmlns:a="http://schemas.openxmlformats.org/drawingml/2006/main"/>
        </p:blipFill>
        <p:spPr>
          <a:xfrm xmlns:a="http://schemas.openxmlformats.org/drawingml/2006/main">
            <a:off x="10253663" y="3967163"/>
            <a:ext cx="304800" cy="114300"/>
          </a:xfrm>
          <a:prstGeom xmlns:a="http://schemas.openxmlformats.org/drawingml/2006/main" prst="rect">
            <a:avLst/>
          </a:prstGeom>
        </p:spPr>
      </p:pic>
    </p:spTree>
    <p:extLst>
      <p:ext uri="{BB962C8B-B14F-4D97-AF65-F5344CB8AC3E}">
        <p14:creationId xmlns:p14="http://schemas.microsoft.com/office/powerpoint/2010/main" val="1770946619"/>
      </p:ext>
    </p:extLst>
  </p:cSld>
</p:sld>
</file>

<file path=ppt/slides/methods_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amschemes-title">
            <ns0:hlinkClick xmlns:ns0="http://schemas.openxmlformats.org/drawingml/2006/main" xmlns:ns1="http://schemas.openxmlformats.org/officeDocument/2006/relationships" ns1:id="rIdmethods_Link154" action="ppaction://hlinksldjump"/>
            <a:extLst xmlns:a="http://schemas.openxmlformats.org/drawingml/2006/main">
              <a:ext uri="{FF2B5EF4-FFF2-40B4-BE49-F238E27FC236}">
                <a16:creationId xmlns:a16="http://schemas.microsoft.com/office/drawing/2014/main" id="{6517AA26-0C3E-46D8-AC87-CE9F1B5A8AF1}"/>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54" action="ppaction://hlinksldjump"/>
              </a:rPr>
              <a:t>AM schemes</a:t>
            </a:r>
          </a:p>
        </p:txBody>
      </p:sp>
      <p:sp>
        <p:nvSpPr>
          <p:cNvPr id="2" name="!!amschemes-route-tx-line">
            <a:extLst xmlns:a="http://schemas.openxmlformats.org/drawingml/2006/main">
              <a:ext uri="{FF2B5EF4-FFF2-40B4-BE49-F238E27FC236}">
                <a16:creationId xmlns:a16="http://schemas.microsoft.com/office/drawing/2014/main" id="{86690CE9-BDD7-43EA-980F-57520B6B1890}"/>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amschemes-route-tx-head">
            <a:extLst xmlns:a="http://schemas.openxmlformats.org/drawingml/2006/main">
              <a:ext uri="{FF2B5EF4-FFF2-40B4-BE49-F238E27FC236}">
                <a16:creationId xmlns:a16="http://schemas.microsoft.com/office/drawing/2014/main" id="{8A30FD73-5FED-4D67-B2B3-732B996F1728}"/>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amschemes-route-rx-line">
            <a:extLst xmlns:a="http://schemas.openxmlformats.org/drawingml/2006/main">
              <a:ext uri="{FF2B5EF4-FFF2-40B4-BE49-F238E27FC236}">
                <a16:creationId xmlns:a16="http://schemas.microsoft.com/office/drawing/2014/main" id="{37541FB9-927B-45FB-9A8B-00A74C7B6542}"/>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amschemes-route-rx-head">
            <a:extLst xmlns:a="http://schemas.openxmlformats.org/drawingml/2006/main">
              <a:ext uri="{FF2B5EF4-FFF2-40B4-BE49-F238E27FC236}">
                <a16:creationId xmlns:a16="http://schemas.microsoft.com/office/drawing/2014/main" id="{951AC580-C84B-4C11-BE5C-3DEF411735E4}"/>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amschemes-question">
            <a:extLst xmlns:a="http://schemas.openxmlformats.org/drawingml/2006/main">
              <a:ext uri="{FF2B5EF4-FFF2-40B4-BE49-F238E27FC236}">
                <a16:creationId xmlns:a16="http://schemas.microsoft.com/office/drawing/2014/main" id="{43184A84-1A09-4DA8-ABA3-2F792EC5D1C8}"/>
              </a:ext>
            </a:extLst>
          </p:cNvPr>
          <p:cNvSpPr>
            <a:spLocks xmlns:a="http://schemas.openxmlformats.org/drawingml/2006/main" noGrp="1"/>
          </p:cNvSpPr>
          <p:nvPr/>
        </p:nvSpPr>
        <p:spPr>
          <a:xfrm xmlns:a="http://schemas.openxmlformats.org/drawingml/2006/main">
            <a:off x="666750" y="15525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Calculate: occupied intervals and transmission bandwidth.</a:t>
            </a:r>
          </a:p>
        </p:txBody>
      </p:sp>
      <p:sp>
        <p:nvSpPr>
          <p:cNvPr id="7" name="!!amschemes-detail">
            <a:extLst xmlns:a="http://schemas.openxmlformats.org/drawingml/2006/main">
              <a:ext uri="{FF2B5EF4-FFF2-40B4-BE49-F238E27FC236}">
                <a16:creationId xmlns:a16="http://schemas.microsoft.com/office/drawing/2014/main" id="{16D84B8B-0D5A-43B5-8B5A-5575BA63734E}"/>
              </a:ext>
            </a:extLst>
          </p:cNvPr>
          <p:cNvSpPr>
            <a:spLocks xmlns:a="http://schemas.openxmlformats.org/drawingml/2006/main" noGrp="1"/>
          </p:cNvSpPr>
          <p:nvPr/>
        </p:nvSpPr>
        <p:spPr>
          <a:xfrm xmlns:a="http://schemas.openxmlformats.org/drawingml/2006/main">
            <a:off x="666750" y="23812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i="0">
                <a:solidFill>
                  <a:srgbClr val="202020"/>
                </a:solidFill>
                <a:latin typeface="Times New Roman"/>
                <a:ea typeface="Times New Roman"/>
                <a:cs typeface="Times New Roman"/>
              </a:defRPr>
            </a:pPr>
            <a:r>
              <a:rPr sz="1650" b="0" i="0">
                <a:solidFill>
                  <a:srgbClr val="202020"/>
                </a:solidFill>
                <a:latin typeface="Times New Roman"/>
                <a:ea typeface="Times New Roman"/>
                <a:cs typeface="Times New Roman"/>
              </a:rPr>
              <a:t>Occupied bands; local frequency axes in kHz</a:t>
            </a:r>
          </a:p>
        </p:txBody>
      </p:sp>
      <p:sp>
        <p:nvSpPr>
          <p:cNvPr id="8" name="!!amschemes-method0">
            <a:extLst xmlns:a="http://schemas.openxmlformats.org/drawingml/2006/main">
              <a:ext uri="{FF2B5EF4-FFF2-40B4-BE49-F238E27FC236}">
                <a16:creationId xmlns:a16="http://schemas.microsoft.com/office/drawing/2014/main" id="{AE77A116-30A3-4B2B-88CD-16DB6C627978}"/>
              </a:ext>
            </a:extLst>
          </p:cNvPr>
          <p:cNvSpPr>
            <a:spLocks xmlns:a="http://schemas.openxmlformats.org/drawingml/2006/main" noGrp="1"/>
          </p:cNvSpPr>
          <p:nvPr/>
        </p:nvSpPr>
        <p:spPr>
          <a:xfrm xmlns:a="http://schemas.openxmlformats.org/drawingml/2006/main">
            <a:off x="1047750" y="275272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DSB-SC</a:t>
            </a:r>
          </a:p>
        </p:txBody>
      </p:sp>
      <p:sp>
        <p:nvSpPr>
          <p:cNvPr id="9" name="!!amschemes-axis00-line">
            <a:extLst xmlns:a="http://schemas.openxmlformats.org/drawingml/2006/main">
              <a:ext uri="{FF2B5EF4-FFF2-40B4-BE49-F238E27FC236}">
                <a16:creationId xmlns:a16="http://schemas.microsoft.com/office/drawing/2014/main" id="{E8F315C4-63DC-4CA9-A791-F24CC4CC6222}"/>
              </a:ext>
            </a:extLst>
          </p:cNvPr>
          <p:cNvSpPr>
            <a:spLocks xmlns:a="http://schemas.openxmlformats.org/drawingml/2006/main" noGrp="1"/>
          </p:cNvSpPr>
          <p:nvPr/>
        </p:nvSpPr>
        <p:spPr>
          <a:xfrm xmlns:a="http://schemas.openxmlformats.org/drawingml/2006/main">
            <a:off x="1047750" y="3829050"/>
            <a:ext cx="1857375"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mschemes-axis00-head">
            <a:extLst xmlns:a="http://schemas.openxmlformats.org/drawingml/2006/main">
              <a:ext uri="{FF2B5EF4-FFF2-40B4-BE49-F238E27FC236}">
                <a16:creationId xmlns:a16="http://schemas.microsoft.com/office/drawing/2014/main" id="{05DD3CCD-81C1-4F93-87E7-2C08F631EE1E}"/>
              </a:ext>
            </a:extLst>
          </p:cNvPr>
          <p:cNvSpPr>
            <a:spLocks xmlns:a="http://schemas.openxmlformats.org/drawingml/2006/main" noGrp="1"/>
          </p:cNvSpPr>
          <p:nvPr/>
        </p:nvSpPr>
        <p:spPr>
          <a:xfrm xmlns:a="http://schemas.openxmlformats.org/drawingml/2006/main" rot="5400000">
            <a:off x="2886075" y="37814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amschemes-tick00">
            <a:extLst xmlns:a="http://schemas.openxmlformats.org/drawingml/2006/main">
              <a:ext uri="{FF2B5EF4-FFF2-40B4-BE49-F238E27FC236}">
                <a16:creationId xmlns:a16="http://schemas.microsoft.com/office/drawing/2014/main" id="{ADB9E8A7-2484-4A0D-AAE6-6A48E9750FB8}"/>
              </a:ext>
            </a:extLst>
          </p:cNvPr>
          <p:cNvSpPr>
            <a:spLocks xmlns:a="http://schemas.openxmlformats.org/drawingml/2006/main" noGrp="1"/>
          </p:cNvSpPr>
          <p:nvPr/>
        </p:nvSpPr>
        <p:spPr>
          <a:xfrm xmlns:a="http://schemas.openxmlformats.org/drawingml/2006/main">
            <a:off x="2024063" y="38290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mschemes-band00">
            <a:extLst xmlns:a="http://schemas.openxmlformats.org/drawingml/2006/main">
              <a:ext uri="{FF2B5EF4-FFF2-40B4-BE49-F238E27FC236}">
                <a16:creationId xmlns:a16="http://schemas.microsoft.com/office/drawing/2014/main" id="{13E978CC-B30C-49BB-8750-B37A063D2592}"/>
              </a:ext>
            </a:extLst>
          </p:cNvPr>
          <p:cNvSpPr>
            <a:spLocks xmlns:a="http://schemas.openxmlformats.org/drawingml/2006/main" noGrp="1"/>
          </p:cNvSpPr>
          <p:nvPr/>
        </p:nvSpPr>
        <p:spPr>
          <a:xfrm xmlns:a="http://schemas.openxmlformats.org/drawingml/2006/main">
            <a:off x="1369219" y="3324225"/>
            <a:ext cx="1309688" cy="504825"/>
          </a:xfrm>
          <a:custGeom xmlns:a="http://schemas.openxmlformats.org/drawingml/2006/main">
            <a:pathLst>
              <a:path w="1309688" h="504825">
                <a:moveTo>
                  <a:pt x="0" y="504825"/>
                </a:moveTo>
                <a:lnTo>
                  <a:pt x="0" y="0"/>
                </a:lnTo>
                <a:lnTo>
                  <a:pt x="1309688" y="0"/>
                </a:lnTo>
                <a:lnTo>
                  <a:pt x="1309688" y="504825"/>
                </a:lnTo>
                <a:close/>
              </a:path>
            </a:pathLst>
          </a:custGeom>
          <a:solidFill xmlns:a="http://schemas.openxmlformats.org/drawingml/2006/main">
            <a:srgbClr val="CCCCCC"/>
          </a:solidFill>
          <a:ln xmlns:a="http://schemas.openxmlformats.org/drawingml/2006/main" w="11430">
            <a:solidFill>
              <a:srgbClr val="202020"/>
            </a:solidFill>
          </a:ln>
        </p:spPr>
      </p:sp>
      <p:sp>
        <p:nvSpPr>
          <p:cNvPr id="13" name="!!amschemes-axis01-line">
            <a:extLst xmlns:a="http://schemas.openxmlformats.org/drawingml/2006/main">
              <a:ext uri="{FF2B5EF4-FFF2-40B4-BE49-F238E27FC236}">
                <a16:creationId xmlns:a16="http://schemas.microsoft.com/office/drawing/2014/main" id="{06CBD91F-2DD5-4E88-A5F0-A6B6E1E22280}"/>
              </a:ext>
            </a:extLst>
          </p:cNvPr>
          <p:cNvSpPr>
            <a:spLocks xmlns:a="http://schemas.openxmlformats.org/drawingml/2006/main" noGrp="1"/>
          </p:cNvSpPr>
          <p:nvPr/>
        </p:nvSpPr>
        <p:spPr>
          <a:xfrm xmlns:a="http://schemas.openxmlformats.org/drawingml/2006/main">
            <a:off x="3381375" y="3829050"/>
            <a:ext cx="1857375"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mschemes-axis01-head">
            <a:extLst xmlns:a="http://schemas.openxmlformats.org/drawingml/2006/main">
              <a:ext uri="{FF2B5EF4-FFF2-40B4-BE49-F238E27FC236}">
                <a16:creationId xmlns:a16="http://schemas.microsoft.com/office/drawing/2014/main" id="{A57F3A4F-A386-4FC7-8D48-EDADE5A5F80F}"/>
              </a:ext>
            </a:extLst>
          </p:cNvPr>
          <p:cNvSpPr>
            <a:spLocks xmlns:a="http://schemas.openxmlformats.org/drawingml/2006/main" noGrp="1"/>
          </p:cNvSpPr>
          <p:nvPr/>
        </p:nvSpPr>
        <p:spPr>
          <a:xfrm xmlns:a="http://schemas.openxmlformats.org/drawingml/2006/main" rot="5400000">
            <a:off x="5219700" y="37814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5" name="!!amschemes-tick01">
            <a:extLst xmlns:a="http://schemas.openxmlformats.org/drawingml/2006/main">
              <a:ext uri="{FF2B5EF4-FFF2-40B4-BE49-F238E27FC236}">
                <a16:creationId xmlns:a16="http://schemas.microsoft.com/office/drawing/2014/main" id="{7FEA0EDC-41D7-4009-B863-3CD030265EBB}"/>
              </a:ext>
            </a:extLst>
          </p:cNvPr>
          <p:cNvSpPr>
            <a:spLocks xmlns:a="http://schemas.openxmlformats.org/drawingml/2006/main" noGrp="1"/>
          </p:cNvSpPr>
          <p:nvPr/>
        </p:nvSpPr>
        <p:spPr>
          <a:xfrm xmlns:a="http://schemas.openxmlformats.org/drawingml/2006/main">
            <a:off x="4357688" y="38290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mschemes-band01">
            <a:extLst xmlns:a="http://schemas.openxmlformats.org/drawingml/2006/main">
              <a:ext uri="{FF2B5EF4-FFF2-40B4-BE49-F238E27FC236}">
                <a16:creationId xmlns:a16="http://schemas.microsoft.com/office/drawing/2014/main" id="{7A241E6E-9643-4422-8F6C-AA358D1D2889}"/>
              </a:ext>
            </a:extLst>
          </p:cNvPr>
          <p:cNvSpPr>
            <a:spLocks xmlns:a="http://schemas.openxmlformats.org/drawingml/2006/main" noGrp="1"/>
          </p:cNvSpPr>
          <p:nvPr/>
        </p:nvSpPr>
        <p:spPr>
          <a:xfrm xmlns:a="http://schemas.openxmlformats.org/drawingml/2006/main">
            <a:off x="3702844" y="3324225"/>
            <a:ext cx="1309688" cy="504825"/>
          </a:xfrm>
          <a:custGeom xmlns:a="http://schemas.openxmlformats.org/drawingml/2006/main">
            <a:pathLst>
              <a:path w="1309688" h="504825">
                <a:moveTo>
                  <a:pt x="0" y="504825"/>
                </a:moveTo>
                <a:lnTo>
                  <a:pt x="0" y="0"/>
                </a:lnTo>
                <a:lnTo>
                  <a:pt x="1309688" y="0"/>
                </a:lnTo>
                <a:lnTo>
                  <a:pt x="1309688" y="504825"/>
                </a:lnTo>
                <a:close/>
              </a:path>
            </a:pathLst>
          </a:custGeom>
          <a:solidFill xmlns:a="http://schemas.openxmlformats.org/drawingml/2006/main">
            <a:srgbClr val="CCCCCC"/>
          </a:solidFill>
          <a:ln xmlns:a="http://schemas.openxmlformats.org/drawingml/2006/main" w="11430">
            <a:solidFill>
              <a:srgbClr val="202020"/>
            </a:solidFill>
          </a:ln>
        </p:spPr>
      </p:sp>
      <p:sp>
        <p:nvSpPr>
          <p:cNvPr id="17" name="!!amschemes-width0">
            <a:extLst xmlns:a="http://schemas.openxmlformats.org/drawingml/2006/main">
              <a:ext uri="{FF2B5EF4-FFF2-40B4-BE49-F238E27FC236}">
                <a16:creationId xmlns:a16="http://schemas.microsoft.com/office/drawing/2014/main" id="{D2F9B031-A8D5-40E7-8B29-367C92DC2855}"/>
              </a:ext>
            </a:extLst>
          </p:cNvPr>
          <p:cNvSpPr>
            <a:spLocks xmlns:a="http://schemas.openxmlformats.org/drawingml/2006/main" noGrp="1"/>
          </p:cNvSpPr>
          <p:nvPr/>
        </p:nvSpPr>
        <p:spPr>
          <a:xfrm xmlns:a="http://schemas.openxmlformats.org/drawingml/2006/main">
            <a:off x="3702844" y="3143250"/>
            <a:ext cx="1309688" cy="95250"/>
          </a:xfrm>
          <a:custGeom xmlns:a="http://schemas.openxmlformats.org/drawingml/2006/main">
            <a:pathLst>
              <a:path w="1309688" h="95250">
                <a:moveTo>
                  <a:pt x="0" y="95250"/>
                </a:moveTo>
                <a:lnTo>
                  <a:pt x="0" y="0"/>
                </a:lnTo>
                <a:lnTo>
                  <a:pt x="1309688" y="0"/>
                </a:lnTo>
                <a:lnTo>
                  <a:pt x="1309688" y="95250"/>
                </a:lnTo>
              </a:path>
            </a:pathLst>
          </a:custGeom>
          <a:noFill xmlns:a="http://schemas.openxmlformats.org/drawingml/2006/main"/>
          <a:ln xmlns:a="http://schemas.openxmlformats.org/drawingml/2006/main" w="11430">
            <a:solidFill>
              <a:srgbClr val="202020"/>
            </a:solidFill>
          </a:ln>
        </p:spPr>
      </p:sp>
      <p:sp>
        <p:nvSpPr>
          <p:cNvPr id="18" name="!!amschemes-gap0">
            <a:extLst xmlns:a="http://schemas.openxmlformats.org/drawingml/2006/main">
              <a:ext uri="{FF2B5EF4-FFF2-40B4-BE49-F238E27FC236}">
                <a16:creationId xmlns:a16="http://schemas.microsoft.com/office/drawing/2014/main" id="{98A4253B-2A2B-4EF1-8AA7-1E684FFE052A}"/>
              </a:ext>
            </a:extLst>
          </p:cNvPr>
          <p:cNvSpPr>
            <a:spLocks xmlns:a="http://schemas.openxmlformats.org/drawingml/2006/main" noGrp="1"/>
          </p:cNvSpPr>
          <p:nvPr/>
        </p:nvSpPr>
        <p:spPr>
          <a:xfrm xmlns:a="http://schemas.openxmlformats.org/drawingml/2006/main">
            <a:off x="3114675" y="3743325"/>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777777"/>
                </a:solidFill>
                <a:latin typeface="Times New Roman"/>
                <a:ea typeface="Times New Roman"/>
                <a:cs typeface="Times New Roman"/>
              </a:defRPr>
            </a:pPr>
            <a:r>
              <a:rPr sz="1650" b="0" i="0">
                <a:solidFill>
                  <a:srgbClr val="777777"/>
                </a:solidFill>
                <a:latin typeface="Times New Roman"/>
                <a:ea typeface="Times New Roman"/>
                <a:cs typeface="Times New Roman"/>
              </a:rPr>
              <a:t>...</a:t>
            </a:r>
          </a:p>
        </p:txBody>
      </p:sp>
      <p:sp>
        <p:nvSpPr>
          <p:cNvPr id="19" name="!!amschemes-method1">
            <a:extLst xmlns:a="http://schemas.openxmlformats.org/drawingml/2006/main">
              <a:ext uri="{FF2B5EF4-FFF2-40B4-BE49-F238E27FC236}">
                <a16:creationId xmlns:a16="http://schemas.microsoft.com/office/drawing/2014/main" id="{967ADC68-B6F2-41DE-9882-D18A0B485588}"/>
              </a:ext>
            </a:extLst>
          </p:cNvPr>
          <p:cNvSpPr>
            <a:spLocks xmlns:a="http://schemas.openxmlformats.org/drawingml/2006/main" noGrp="1"/>
          </p:cNvSpPr>
          <p:nvPr/>
        </p:nvSpPr>
        <p:spPr>
          <a:xfrm xmlns:a="http://schemas.openxmlformats.org/drawingml/2006/main">
            <a:off x="7096125" y="275272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USB</a:t>
            </a:r>
          </a:p>
        </p:txBody>
      </p:sp>
      <p:sp>
        <p:nvSpPr>
          <p:cNvPr id="20" name="!!amschemes-axis10-line">
            <a:extLst xmlns:a="http://schemas.openxmlformats.org/drawingml/2006/main">
              <a:ext uri="{FF2B5EF4-FFF2-40B4-BE49-F238E27FC236}">
                <a16:creationId xmlns:a16="http://schemas.microsoft.com/office/drawing/2014/main" id="{65C89601-A344-4D7E-A116-E60D3605DB30}"/>
              </a:ext>
            </a:extLst>
          </p:cNvPr>
          <p:cNvSpPr>
            <a:spLocks xmlns:a="http://schemas.openxmlformats.org/drawingml/2006/main" noGrp="1"/>
          </p:cNvSpPr>
          <p:nvPr/>
        </p:nvSpPr>
        <p:spPr>
          <a:xfrm xmlns:a="http://schemas.openxmlformats.org/drawingml/2006/main">
            <a:off x="7096125" y="3829050"/>
            <a:ext cx="1857375"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amschemes-axis10-head">
            <a:extLst xmlns:a="http://schemas.openxmlformats.org/drawingml/2006/main">
              <a:ext uri="{FF2B5EF4-FFF2-40B4-BE49-F238E27FC236}">
                <a16:creationId xmlns:a16="http://schemas.microsoft.com/office/drawing/2014/main" id="{C647538B-9AFB-4C44-AA90-4AA32C949296}"/>
              </a:ext>
            </a:extLst>
          </p:cNvPr>
          <p:cNvSpPr>
            <a:spLocks xmlns:a="http://schemas.openxmlformats.org/drawingml/2006/main" noGrp="1"/>
          </p:cNvSpPr>
          <p:nvPr/>
        </p:nvSpPr>
        <p:spPr>
          <a:xfrm xmlns:a="http://schemas.openxmlformats.org/drawingml/2006/main" rot="5400000">
            <a:off x="8934450" y="37814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2" name="!!amschemes-tick10">
            <a:extLst xmlns:a="http://schemas.openxmlformats.org/drawingml/2006/main">
              <a:ext uri="{FF2B5EF4-FFF2-40B4-BE49-F238E27FC236}">
                <a16:creationId xmlns:a16="http://schemas.microsoft.com/office/drawing/2014/main" id="{B9F2847B-3139-4FBF-A765-61D2B3265DBF}"/>
              </a:ext>
            </a:extLst>
          </p:cNvPr>
          <p:cNvSpPr>
            <a:spLocks xmlns:a="http://schemas.openxmlformats.org/drawingml/2006/main" noGrp="1"/>
          </p:cNvSpPr>
          <p:nvPr/>
        </p:nvSpPr>
        <p:spPr>
          <a:xfrm xmlns:a="http://schemas.openxmlformats.org/drawingml/2006/main">
            <a:off x="8072438" y="38290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amschemes-band10">
            <a:extLst xmlns:a="http://schemas.openxmlformats.org/drawingml/2006/main">
              <a:ext uri="{FF2B5EF4-FFF2-40B4-BE49-F238E27FC236}">
                <a16:creationId xmlns:a16="http://schemas.microsoft.com/office/drawing/2014/main" id="{7035EBA7-DEFF-4218-9F64-868C39CD6DF8}"/>
              </a:ext>
            </a:extLst>
          </p:cNvPr>
          <p:cNvSpPr>
            <a:spLocks xmlns:a="http://schemas.openxmlformats.org/drawingml/2006/main" noGrp="1"/>
          </p:cNvSpPr>
          <p:nvPr/>
        </p:nvSpPr>
        <p:spPr>
          <a:xfrm xmlns:a="http://schemas.openxmlformats.org/drawingml/2006/main">
            <a:off x="7417594" y="3324225"/>
            <a:ext cx="654844" cy="504825"/>
          </a:xfrm>
          <a:custGeom xmlns:a="http://schemas.openxmlformats.org/drawingml/2006/main">
            <a:pathLst>
              <a:path w="654844" h="504825">
                <a:moveTo>
                  <a:pt x="0" y="504825"/>
                </a:moveTo>
                <a:lnTo>
                  <a:pt x="0" y="0"/>
                </a:lnTo>
                <a:lnTo>
                  <a:pt x="654844" y="0"/>
                </a:lnTo>
                <a:lnTo>
                  <a:pt x="654844" y="504825"/>
                </a:lnTo>
                <a:close/>
              </a:path>
            </a:pathLst>
          </a:custGeom>
          <a:solidFill xmlns:a="http://schemas.openxmlformats.org/drawingml/2006/main">
            <a:srgbClr val="CCCCCC"/>
          </a:solidFill>
          <a:ln xmlns:a="http://schemas.openxmlformats.org/drawingml/2006/main" w="11430">
            <a:solidFill>
              <a:srgbClr val="202020"/>
            </a:solidFill>
          </a:ln>
        </p:spPr>
      </p:sp>
      <p:sp>
        <p:nvSpPr>
          <p:cNvPr id="24" name="!!amschemes-axis11-line">
            <a:extLst xmlns:a="http://schemas.openxmlformats.org/drawingml/2006/main">
              <a:ext uri="{FF2B5EF4-FFF2-40B4-BE49-F238E27FC236}">
                <a16:creationId xmlns:a16="http://schemas.microsoft.com/office/drawing/2014/main" id="{E53A7A62-7F12-4C48-979F-85E9806F226A}"/>
              </a:ext>
            </a:extLst>
          </p:cNvPr>
          <p:cNvSpPr>
            <a:spLocks xmlns:a="http://schemas.openxmlformats.org/drawingml/2006/main" noGrp="1"/>
          </p:cNvSpPr>
          <p:nvPr/>
        </p:nvSpPr>
        <p:spPr>
          <a:xfrm xmlns:a="http://schemas.openxmlformats.org/drawingml/2006/main">
            <a:off x="9429750" y="3829050"/>
            <a:ext cx="1857375"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amschemes-axis11-head">
            <a:extLst xmlns:a="http://schemas.openxmlformats.org/drawingml/2006/main">
              <a:ext uri="{FF2B5EF4-FFF2-40B4-BE49-F238E27FC236}">
                <a16:creationId xmlns:a16="http://schemas.microsoft.com/office/drawing/2014/main" id="{DBAB481F-22D6-4110-8453-103CA0B5CC2F}"/>
              </a:ext>
            </a:extLst>
          </p:cNvPr>
          <p:cNvSpPr>
            <a:spLocks xmlns:a="http://schemas.openxmlformats.org/drawingml/2006/main" noGrp="1"/>
          </p:cNvSpPr>
          <p:nvPr/>
        </p:nvSpPr>
        <p:spPr>
          <a:xfrm xmlns:a="http://schemas.openxmlformats.org/drawingml/2006/main" rot="5400000">
            <a:off x="11268075" y="37814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6" name="!!amschemes-tick11">
            <a:extLst xmlns:a="http://schemas.openxmlformats.org/drawingml/2006/main">
              <a:ext uri="{FF2B5EF4-FFF2-40B4-BE49-F238E27FC236}">
                <a16:creationId xmlns:a16="http://schemas.microsoft.com/office/drawing/2014/main" id="{AFAA4EA1-7D61-46CD-838A-A30ED0E4E0C4}"/>
              </a:ext>
            </a:extLst>
          </p:cNvPr>
          <p:cNvSpPr>
            <a:spLocks xmlns:a="http://schemas.openxmlformats.org/drawingml/2006/main" noGrp="1"/>
          </p:cNvSpPr>
          <p:nvPr/>
        </p:nvSpPr>
        <p:spPr>
          <a:xfrm xmlns:a="http://schemas.openxmlformats.org/drawingml/2006/main">
            <a:off x="10406063" y="38290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amschemes-band11">
            <a:extLst xmlns:a="http://schemas.openxmlformats.org/drawingml/2006/main">
              <a:ext uri="{FF2B5EF4-FFF2-40B4-BE49-F238E27FC236}">
                <a16:creationId xmlns:a16="http://schemas.microsoft.com/office/drawing/2014/main" id="{9AFB9461-1B0E-4FCE-8404-E939D153950C}"/>
              </a:ext>
            </a:extLst>
          </p:cNvPr>
          <p:cNvSpPr>
            <a:spLocks xmlns:a="http://schemas.openxmlformats.org/drawingml/2006/main" noGrp="1"/>
          </p:cNvSpPr>
          <p:nvPr/>
        </p:nvSpPr>
        <p:spPr>
          <a:xfrm xmlns:a="http://schemas.openxmlformats.org/drawingml/2006/main">
            <a:off x="10406063" y="3324225"/>
            <a:ext cx="654844" cy="504825"/>
          </a:xfrm>
          <a:custGeom xmlns:a="http://schemas.openxmlformats.org/drawingml/2006/main">
            <a:pathLst>
              <a:path w="654844" h="504825">
                <a:moveTo>
                  <a:pt x="0" y="504825"/>
                </a:moveTo>
                <a:lnTo>
                  <a:pt x="0" y="0"/>
                </a:lnTo>
                <a:lnTo>
                  <a:pt x="654844" y="0"/>
                </a:lnTo>
                <a:lnTo>
                  <a:pt x="654844" y="504825"/>
                </a:lnTo>
                <a:close/>
              </a:path>
            </a:pathLst>
          </a:custGeom>
          <a:solidFill xmlns:a="http://schemas.openxmlformats.org/drawingml/2006/main">
            <a:srgbClr val="CCCCCC"/>
          </a:solidFill>
          <a:ln xmlns:a="http://schemas.openxmlformats.org/drawingml/2006/main" w="11430">
            <a:solidFill>
              <a:srgbClr val="202020"/>
            </a:solidFill>
          </a:ln>
        </p:spPr>
      </p:sp>
      <p:sp>
        <p:nvSpPr>
          <p:cNvPr id="28" name="!!amschemes-width1">
            <a:extLst xmlns:a="http://schemas.openxmlformats.org/drawingml/2006/main">
              <a:ext uri="{FF2B5EF4-FFF2-40B4-BE49-F238E27FC236}">
                <a16:creationId xmlns:a16="http://schemas.microsoft.com/office/drawing/2014/main" id="{904982F5-04E3-4E89-B4FD-CB09FF083363}"/>
              </a:ext>
            </a:extLst>
          </p:cNvPr>
          <p:cNvSpPr>
            <a:spLocks xmlns:a="http://schemas.openxmlformats.org/drawingml/2006/main" noGrp="1"/>
          </p:cNvSpPr>
          <p:nvPr/>
        </p:nvSpPr>
        <p:spPr>
          <a:xfrm xmlns:a="http://schemas.openxmlformats.org/drawingml/2006/main">
            <a:off x="10406063" y="3143250"/>
            <a:ext cx="654844" cy="95250"/>
          </a:xfrm>
          <a:custGeom xmlns:a="http://schemas.openxmlformats.org/drawingml/2006/main">
            <a:pathLst>
              <a:path w="654844" h="95250">
                <a:moveTo>
                  <a:pt x="0" y="95250"/>
                </a:moveTo>
                <a:lnTo>
                  <a:pt x="0" y="0"/>
                </a:lnTo>
                <a:lnTo>
                  <a:pt x="654844" y="0"/>
                </a:lnTo>
                <a:lnTo>
                  <a:pt x="654844" y="95250"/>
                </a:lnTo>
              </a:path>
            </a:pathLst>
          </a:custGeom>
          <a:noFill xmlns:a="http://schemas.openxmlformats.org/drawingml/2006/main"/>
          <a:ln xmlns:a="http://schemas.openxmlformats.org/drawingml/2006/main" w="11430">
            <a:solidFill>
              <a:srgbClr val="202020"/>
            </a:solidFill>
          </a:ln>
        </p:spPr>
      </p:sp>
      <p:sp>
        <p:nvSpPr>
          <p:cNvPr id="29" name="!!amschemes-gap1">
            <a:extLst xmlns:a="http://schemas.openxmlformats.org/drawingml/2006/main">
              <a:ext uri="{FF2B5EF4-FFF2-40B4-BE49-F238E27FC236}">
                <a16:creationId xmlns:a16="http://schemas.microsoft.com/office/drawing/2014/main" id="{DE2F5991-D906-4B58-BF65-2A000C33EC5A}"/>
              </a:ext>
            </a:extLst>
          </p:cNvPr>
          <p:cNvSpPr>
            <a:spLocks xmlns:a="http://schemas.openxmlformats.org/drawingml/2006/main" noGrp="1"/>
          </p:cNvSpPr>
          <p:nvPr/>
        </p:nvSpPr>
        <p:spPr>
          <a:xfrm xmlns:a="http://schemas.openxmlformats.org/drawingml/2006/main">
            <a:off x="9163050" y="3743325"/>
            <a:ext cx="228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i="0">
                <a:solidFill>
                  <a:srgbClr val="777777"/>
                </a:solidFill>
                <a:latin typeface="Times New Roman"/>
                <a:ea typeface="Times New Roman"/>
                <a:cs typeface="Times New Roman"/>
              </a:defRPr>
            </a:pPr>
            <a:r>
              <a:rPr sz="1650" b="0" i="0">
                <a:solidFill>
                  <a:srgbClr val="777777"/>
                </a:solidFill>
                <a:latin typeface="Times New Roman"/>
                <a:ea typeface="Times New Roman"/>
                <a:cs typeface="Times New Roman"/>
              </a:rPr>
              <a:t>...</a:t>
            </a:r>
          </a:p>
        </p:txBody>
      </p:sp>
      <p:pic>
        <p:nvPicPr>
          <p:cNvPr id="79" name="!!amschemes-route-m" descr="m(t)">
            <ns0:hlinkClick xmlns:ns0="http://schemas.openxmlformats.org/drawingml/2006/main" xmlns:ns1="http://schemas.openxmlformats.org/officeDocument/2006/relationships" ns1:id="rIdmethods_Link15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52bc08a100a2410d">
            <a:extLst>
              <a:ext uri="{96DAC541-7B7A-43D3-8B79-37D633B846F1}">
                <ns0:svgBlip xmlns:ns0="http://schemas.microsoft.com/office/drawing/2016/SVG/main" r:embed="rIdVectormf00711"/>
              </a:ext>
            </a:extLst>
          </a:blip>
          <a:stretch xmlns:a="http://schemas.openxmlformats.org/drawingml/2006/main"/>
        </p:blipFill>
        <p:spPr>
          <a:xfrm xmlns:a="http://schemas.openxmlformats.org/drawingml/2006/main">
            <a:off x="2159318" y="895350"/>
            <a:ext cx="920115" cy="400050"/>
          </a:xfrm>
          <a:prstGeom xmlns:a="http://schemas.openxmlformats.org/drawingml/2006/main" prst="rect">
            <a:avLst/>
          </a:prstGeom>
        </p:spPr>
      </p:pic>
      <p:pic>
        <p:nvPicPr>
          <p:cNvPr id="80" name="!!amschemes-route-s" descr="s(t)">
            <ns0:hlinkClick xmlns:ns0="http://schemas.openxmlformats.org/drawingml/2006/main" xmlns:ns1="http://schemas.openxmlformats.org/officeDocument/2006/relationships" ns1:id="rIdmethods_Link156"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e71353bb6ff47f1">
            <a:extLst>
              <a:ext uri="{96DAC541-7B7A-43D3-8B79-37D633B846F1}">
                <ns1:svgBlip xmlns:ns1="http://schemas.microsoft.com/office/drawing/2016/SVG/main" r:embed="rIdVectormf00712"/>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81" name="!!amschemes-route-restored" descr="m(t)">
            <ns0:hlinkClick xmlns:ns0="http://schemas.openxmlformats.org/drawingml/2006/main" xmlns:ns1="http://schemas.openxmlformats.org/officeDocument/2006/relationships" ns1:id="rIdmethods_Link15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941962fbffd74071">
            <a:extLst>
              <a:ext uri="{96DAC541-7B7A-43D3-8B79-37D633B846F1}">
                <ns2:svgBlip xmlns:ns2="http://schemas.microsoft.com/office/drawing/2016/SVG/main" r:embed="rIdVectormf00713"/>
              </a:ext>
            </a:extLst>
          </a:blip>
          <a:stretch xmlns:a="http://schemas.openxmlformats.org/drawingml/2006/main"/>
        </p:blipFill>
        <p:spPr>
          <a:xfrm xmlns:a="http://schemas.openxmlformats.org/drawingml/2006/main">
            <a:off x="9112568" y="895350"/>
            <a:ext cx="920115" cy="400050"/>
          </a:xfrm>
          <a:prstGeom xmlns:a="http://schemas.openxmlformats.org/drawingml/2006/main" prst="rect">
            <a:avLst/>
          </a:prstGeom>
        </p:spPr>
      </p:pic>
      <p:pic>
        <p:nvPicPr>
          <p:cNvPr id="82" name="!!amschemes-given" descr="W=5\ \mathrm{kHz},\quad f_c=100\ \mathrm{kHz}"/>
          <p:cNvPicPr>
            <a:picLocks xmlns:a="http://schemas.openxmlformats.org/drawingml/2006/main" noChangeAspect="1"/>
          </p:cNvPicPr>
          <p:nvPr/>
        </p:nvPicPr>
        <p:blipFill>
          <a:blip xmlns:r="http://schemas.openxmlformats.org/officeDocument/2006/relationships" xmlns:a="http://schemas.openxmlformats.org/drawingml/2006/main" r:embed="Raa2d91634fbb4639">
            <a:extLst>
              <a:ext uri="{96DAC541-7B7A-43D3-8B79-37D633B846F1}">
                <ns3:svgBlip xmlns:ns3="http://schemas.microsoft.com/office/drawing/2016/SVG/main" r:embed="rIdVectormf00714"/>
              </a:ext>
            </a:extLst>
          </a:blip>
          <a:stretch xmlns:a="http://schemas.openxmlformats.org/drawingml/2006/main"/>
        </p:blipFill>
        <p:spPr>
          <a:xfrm xmlns:a="http://schemas.openxmlformats.org/drawingml/2006/main">
            <a:off x="666750" y="2023705"/>
            <a:ext cx="3417570" cy="219789"/>
          </a:xfrm>
          <a:prstGeom xmlns:a="http://schemas.openxmlformats.org/drawingml/2006/main" prst="rect">
            <a:avLst/>
          </a:prstGeom>
        </p:spPr>
      </p:pic>
      <p:pic>
        <p:nvPicPr>
          <p:cNvPr id="83" name="!!amschemes-center00" descr="-100"/>
          <p:cNvPicPr>
            <a:picLocks xmlns:a="http://schemas.openxmlformats.org/drawingml/2006/main" noChangeAspect="1"/>
          </p:cNvPicPr>
          <p:nvPr/>
        </p:nvPicPr>
        <p:blipFill>
          <a:blip xmlns:r="http://schemas.openxmlformats.org/officeDocument/2006/relationships" xmlns:a="http://schemas.openxmlformats.org/drawingml/2006/main" r:embed="Rf5f4c3f419064ef8">
            <a:extLst>
              <a:ext uri="{96DAC541-7B7A-43D3-8B79-37D633B846F1}">
                <ns4:svgBlip xmlns:ns4="http://schemas.microsoft.com/office/drawing/2016/SVG/main" r:embed="rIdVectormf00715"/>
              </a:ext>
            </a:extLst>
          </a:blip>
          <a:stretch xmlns:a="http://schemas.openxmlformats.org/drawingml/2006/main"/>
        </p:blipFill>
        <p:spPr>
          <a:xfrm xmlns:a="http://schemas.openxmlformats.org/drawingml/2006/main">
            <a:off x="1776413" y="3951089"/>
            <a:ext cx="495300" cy="146447"/>
          </a:xfrm>
          <a:prstGeom xmlns:a="http://schemas.openxmlformats.org/drawingml/2006/main" prst="rect">
            <a:avLst/>
          </a:prstGeom>
        </p:spPr>
      </p:pic>
      <p:pic>
        <p:nvPicPr>
          <p:cNvPr id="84" name="!!amschemes-edge00-105" descr="-105"/>
          <p:cNvPicPr>
            <a:picLocks xmlns:a="http://schemas.openxmlformats.org/drawingml/2006/main" noChangeAspect="1"/>
          </p:cNvPicPr>
          <p:nvPr/>
        </p:nvPicPr>
        <p:blipFill>
          <a:blip xmlns:r="http://schemas.openxmlformats.org/officeDocument/2006/relationships" xmlns:a="http://schemas.openxmlformats.org/drawingml/2006/main" r:embed="Ra4d91bfc387f4370">
            <a:extLst>
              <a:ext uri="{96DAC541-7B7A-43D3-8B79-37D633B846F1}">
                <ns5:svgBlip xmlns:ns5="http://schemas.microsoft.com/office/drawing/2016/SVG/main" r:embed="rIdVectormf00716"/>
              </a:ext>
            </a:extLst>
          </a:blip>
          <a:stretch xmlns:a="http://schemas.openxmlformats.org/drawingml/2006/main"/>
        </p:blipFill>
        <p:spPr>
          <a:xfrm xmlns:a="http://schemas.openxmlformats.org/drawingml/2006/main">
            <a:off x="1121569" y="3951089"/>
            <a:ext cx="495300" cy="146447"/>
          </a:xfrm>
          <a:prstGeom xmlns:a="http://schemas.openxmlformats.org/drawingml/2006/main" prst="rect">
            <a:avLst/>
          </a:prstGeom>
        </p:spPr>
      </p:pic>
      <p:pic>
        <p:nvPicPr>
          <p:cNvPr id="85" name="!!amschemes-edge00-95" descr="-95"/>
          <p:cNvPicPr>
            <a:picLocks xmlns:a="http://schemas.openxmlformats.org/drawingml/2006/main" noChangeAspect="1"/>
          </p:cNvPicPr>
          <p:nvPr/>
        </p:nvPicPr>
        <p:blipFill>
          <a:blip xmlns:r="http://schemas.openxmlformats.org/officeDocument/2006/relationships" xmlns:a="http://schemas.openxmlformats.org/drawingml/2006/main" r:embed="R73ffd831646c44c0">
            <a:extLst>
              <a:ext uri="{96DAC541-7B7A-43D3-8B79-37D633B846F1}">
                <ns6:svgBlip xmlns:ns6="http://schemas.microsoft.com/office/drawing/2016/SVG/main" r:embed="rIdVectormf00717"/>
              </a:ext>
            </a:extLst>
          </a:blip>
          <a:stretch xmlns:a="http://schemas.openxmlformats.org/drawingml/2006/main"/>
        </p:blipFill>
        <p:spPr>
          <a:xfrm xmlns:a="http://schemas.openxmlformats.org/drawingml/2006/main">
            <a:off x="2488406" y="3951684"/>
            <a:ext cx="381000" cy="145256"/>
          </a:xfrm>
          <a:prstGeom xmlns:a="http://schemas.openxmlformats.org/drawingml/2006/main" prst="rect">
            <a:avLst/>
          </a:prstGeom>
        </p:spPr>
      </p:pic>
      <p:pic>
        <p:nvPicPr>
          <p:cNvPr id="86" name="!!amschemes-center01" descr="100"/>
          <p:cNvPicPr>
            <a:picLocks xmlns:a="http://schemas.openxmlformats.org/drawingml/2006/main" noChangeAspect="1"/>
          </p:cNvPicPr>
          <p:nvPr/>
        </p:nvPicPr>
        <p:blipFill>
          <a:blip xmlns:r="http://schemas.openxmlformats.org/officeDocument/2006/relationships" xmlns:a="http://schemas.openxmlformats.org/drawingml/2006/main" r:embed="R7b44c206b3fe4697">
            <a:extLst>
              <a:ext uri="{96DAC541-7B7A-43D3-8B79-37D633B846F1}">
                <ns7:svgBlip xmlns:ns7="http://schemas.microsoft.com/office/drawing/2016/SVG/main" r:embed="rIdVectormf00718"/>
              </a:ext>
            </a:extLst>
          </a:blip>
          <a:stretch xmlns:a="http://schemas.openxmlformats.org/drawingml/2006/main"/>
        </p:blipFill>
        <p:spPr>
          <a:xfrm xmlns:a="http://schemas.openxmlformats.org/drawingml/2006/main">
            <a:off x="4205288" y="3967163"/>
            <a:ext cx="304800" cy="114300"/>
          </a:xfrm>
          <a:prstGeom xmlns:a="http://schemas.openxmlformats.org/drawingml/2006/main" prst="rect">
            <a:avLst/>
          </a:prstGeom>
        </p:spPr>
      </p:pic>
      <p:pic>
        <p:nvPicPr>
          <p:cNvPr id="87" name="!!amschemes-edge0195" descr="95"/>
          <p:cNvPicPr>
            <a:picLocks xmlns:a="http://schemas.openxmlformats.org/drawingml/2006/main" noChangeAspect="1"/>
          </p:cNvPicPr>
          <p:nvPr/>
        </p:nvPicPr>
        <p:blipFill>
          <a:blip xmlns:r="http://schemas.openxmlformats.org/officeDocument/2006/relationships" xmlns:a="http://schemas.openxmlformats.org/drawingml/2006/main" r:embed="Rb59e12024e4440ee">
            <a:extLst>
              <a:ext uri="{96DAC541-7B7A-43D3-8B79-37D633B846F1}">
                <ns8:svgBlip xmlns:ns8="http://schemas.microsoft.com/office/drawing/2016/SVG/main" r:embed="rIdVectormf00719"/>
              </a:ext>
            </a:extLst>
          </a:blip>
          <a:stretch xmlns:a="http://schemas.openxmlformats.org/drawingml/2006/main"/>
        </p:blipFill>
        <p:spPr>
          <a:xfrm xmlns:a="http://schemas.openxmlformats.org/drawingml/2006/main">
            <a:off x="3600676" y="3967163"/>
            <a:ext cx="204335" cy="114300"/>
          </a:xfrm>
          <a:prstGeom xmlns:a="http://schemas.openxmlformats.org/drawingml/2006/main" prst="rect">
            <a:avLst/>
          </a:prstGeom>
        </p:spPr>
      </p:pic>
      <p:pic>
        <p:nvPicPr>
          <p:cNvPr id="88" name="!!amschemes-edge01105" descr="105"/>
          <p:cNvPicPr>
            <a:picLocks xmlns:a="http://schemas.openxmlformats.org/drawingml/2006/main" noChangeAspect="1"/>
          </p:cNvPicPr>
          <p:nvPr/>
        </p:nvPicPr>
        <p:blipFill>
          <a:blip xmlns:r="http://schemas.openxmlformats.org/officeDocument/2006/relationships" xmlns:a="http://schemas.openxmlformats.org/drawingml/2006/main" r:embed="R715da286dfe54a04">
            <a:extLst>
              <a:ext uri="{96DAC541-7B7A-43D3-8B79-37D633B846F1}">
                <ns9:svgBlip xmlns:ns9="http://schemas.microsoft.com/office/drawing/2016/SVG/main" r:embed="rIdVectormf00720"/>
              </a:ext>
            </a:extLst>
          </a:blip>
          <a:stretch xmlns:a="http://schemas.openxmlformats.org/drawingml/2006/main"/>
        </p:blipFill>
        <p:spPr>
          <a:xfrm xmlns:a="http://schemas.openxmlformats.org/drawingml/2006/main">
            <a:off x="4860131" y="3967163"/>
            <a:ext cx="304800" cy="114300"/>
          </a:xfrm>
          <a:prstGeom xmlns:a="http://schemas.openxmlformats.org/drawingml/2006/main" prst="rect">
            <a:avLst/>
          </a:prstGeom>
        </p:spPr>
      </p:pic>
      <p:pic>
        <p:nvPicPr>
          <p:cNvPr id="89" name="!!amschemes-width-label0" descr="B=10"/>
          <p:cNvPicPr>
            <a:picLocks xmlns:a="http://schemas.openxmlformats.org/drawingml/2006/main" noChangeAspect="1"/>
          </p:cNvPicPr>
          <p:nvPr/>
        </p:nvPicPr>
        <p:blipFill>
          <a:blip xmlns:r="http://schemas.openxmlformats.org/officeDocument/2006/relationships" xmlns:a="http://schemas.openxmlformats.org/drawingml/2006/main" r:embed="R69d83a9533624e18">
            <a:extLst>
              <a:ext uri="{96DAC541-7B7A-43D3-8B79-37D633B846F1}">
                <ns10:svgBlip xmlns:ns10="http://schemas.microsoft.com/office/drawing/2016/SVG/main" r:embed="rIdVectormf00721"/>
              </a:ext>
            </a:extLst>
          </a:blip>
          <a:stretch xmlns:a="http://schemas.openxmlformats.org/drawingml/2006/main"/>
        </p:blipFill>
        <p:spPr>
          <a:xfrm xmlns:a="http://schemas.openxmlformats.org/drawingml/2006/main">
            <a:off x="3990975" y="2871192"/>
            <a:ext cx="733425" cy="144066"/>
          </a:xfrm>
          <a:prstGeom xmlns:a="http://schemas.openxmlformats.org/drawingml/2006/main" prst="rect">
            <a:avLst/>
          </a:prstGeom>
        </p:spPr>
      </p:pic>
      <p:pic>
        <p:nvPicPr>
          <p:cNvPr id="90" name="!!amschemes-center10" descr="-100"/>
          <p:cNvPicPr>
            <a:picLocks xmlns:a="http://schemas.openxmlformats.org/drawingml/2006/main" noChangeAspect="1"/>
          </p:cNvPicPr>
          <p:nvPr/>
        </p:nvPicPr>
        <p:blipFill>
          <a:blip xmlns:r="http://schemas.openxmlformats.org/officeDocument/2006/relationships" xmlns:a="http://schemas.openxmlformats.org/drawingml/2006/main" r:embed="R575729765526458b">
            <a:extLst>
              <a:ext uri="{96DAC541-7B7A-43D3-8B79-37D633B846F1}">
                <ns11:svgBlip xmlns:ns11="http://schemas.microsoft.com/office/drawing/2016/SVG/main" r:embed="rIdVectormf00722"/>
              </a:ext>
            </a:extLst>
          </a:blip>
          <a:stretch xmlns:a="http://schemas.openxmlformats.org/drawingml/2006/main"/>
        </p:blipFill>
        <p:spPr>
          <a:xfrm xmlns:a="http://schemas.openxmlformats.org/drawingml/2006/main">
            <a:off x="7824788" y="3951089"/>
            <a:ext cx="495300" cy="146447"/>
          </a:xfrm>
          <a:prstGeom xmlns:a="http://schemas.openxmlformats.org/drawingml/2006/main" prst="rect">
            <a:avLst/>
          </a:prstGeom>
        </p:spPr>
      </p:pic>
      <p:pic>
        <p:nvPicPr>
          <p:cNvPr id="91" name="!!amschemes-edge10-105" descr="-105"/>
          <p:cNvPicPr>
            <a:picLocks xmlns:a="http://schemas.openxmlformats.org/drawingml/2006/main" noChangeAspect="1"/>
          </p:cNvPicPr>
          <p:nvPr/>
        </p:nvPicPr>
        <p:blipFill>
          <a:blip xmlns:r="http://schemas.openxmlformats.org/officeDocument/2006/relationships" xmlns:a="http://schemas.openxmlformats.org/drawingml/2006/main" r:embed="R94529271d5164759">
            <a:extLst>
              <a:ext uri="{96DAC541-7B7A-43D3-8B79-37D633B846F1}">
                <ns12:svgBlip xmlns:ns12="http://schemas.microsoft.com/office/drawing/2016/SVG/main" r:embed="rIdVectormf00723"/>
              </a:ext>
            </a:extLst>
          </a:blip>
          <a:stretch xmlns:a="http://schemas.openxmlformats.org/drawingml/2006/main"/>
        </p:blipFill>
        <p:spPr>
          <a:xfrm xmlns:a="http://schemas.openxmlformats.org/drawingml/2006/main">
            <a:off x="7169944" y="3951089"/>
            <a:ext cx="495300" cy="146447"/>
          </a:xfrm>
          <a:prstGeom xmlns:a="http://schemas.openxmlformats.org/drawingml/2006/main" prst="rect">
            <a:avLst/>
          </a:prstGeom>
        </p:spPr>
      </p:pic>
      <p:pic>
        <p:nvPicPr>
          <p:cNvPr id="92" name="!!amschemes-center11" descr="100"/>
          <p:cNvPicPr>
            <a:picLocks xmlns:a="http://schemas.openxmlformats.org/drawingml/2006/main" noChangeAspect="1"/>
          </p:cNvPicPr>
          <p:nvPr/>
        </p:nvPicPr>
        <p:blipFill>
          <a:blip xmlns:r="http://schemas.openxmlformats.org/officeDocument/2006/relationships" xmlns:a="http://schemas.openxmlformats.org/drawingml/2006/main" r:embed="R2be4190a74a74319">
            <a:extLst>
              <a:ext uri="{96DAC541-7B7A-43D3-8B79-37D633B846F1}">
                <ns13:svgBlip xmlns:ns13="http://schemas.microsoft.com/office/drawing/2016/SVG/main" r:embed="rIdVectormf00724"/>
              </a:ext>
            </a:extLst>
          </a:blip>
          <a:stretch xmlns:a="http://schemas.openxmlformats.org/drawingml/2006/main"/>
        </p:blipFill>
        <p:spPr>
          <a:xfrm xmlns:a="http://schemas.openxmlformats.org/drawingml/2006/main">
            <a:off x="10253663" y="3967163"/>
            <a:ext cx="304800" cy="114300"/>
          </a:xfrm>
          <a:prstGeom xmlns:a="http://schemas.openxmlformats.org/drawingml/2006/main" prst="rect">
            <a:avLst/>
          </a:prstGeom>
        </p:spPr>
      </p:pic>
      <p:pic>
        <p:nvPicPr>
          <p:cNvPr id="93" name="!!amschemes-edge11105" descr="105"/>
          <p:cNvPicPr>
            <a:picLocks xmlns:a="http://schemas.openxmlformats.org/drawingml/2006/main" noChangeAspect="1"/>
          </p:cNvPicPr>
          <p:nvPr/>
        </p:nvPicPr>
        <p:blipFill>
          <a:blip xmlns:r="http://schemas.openxmlformats.org/officeDocument/2006/relationships" xmlns:a="http://schemas.openxmlformats.org/drawingml/2006/main" r:embed="Rca3d8401c33b4f77">
            <a:extLst>
              <a:ext uri="{96DAC541-7B7A-43D3-8B79-37D633B846F1}">
                <ns14:svgBlip xmlns:ns14="http://schemas.microsoft.com/office/drawing/2016/SVG/main" r:embed="rIdVectormf00725"/>
              </a:ext>
            </a:extLst>
          </a:blip>
          <a:stretch xmlns:a="http://schemas.openxmlformats.org/drawingml/2006/main"/>
        </p:blipFill>
        <p:spPr>
          <a:xfrm xmlns:a="http://schemas.openxmlformats.org/drawingml/2006/main">
            <a:off x="10908506" y="3967163"/>
            <a:ext cx="304800" cy="114300"/>
          </a:xfrm>
          <a:prstGeom xmlns:a="http://schemas.openxmlformats.org/drawingml/2006/main" prst="rect">
            <a:avLst/>
          </a:prstGeom>
        </p:spPr>
      </p:pic>
      <p:pic>
        <p:nvPicPr>
          <p:cNvPr id="94" name="!!amschemes-width-label1" descr="B=5"/>
          <p:cNvPicPr>
            <a:picLocks xmlns:a="http://schemas.openxmlformats.org/drawingml/2006/main" noChangeAspect="1"/>
          </p:cNvPicPr>
          <p:nvPr/>
        </p:nvPicPr>
        <p:blipFill>
          <a:blip xmlns:r="http://schemas.openxmlformats.org/officeDocument/2006/relationships" xmlns:a="http://schemas.openxmlformats.org/drawingml/2006/main" r:embed="R5d15900ec37a47d7">
            <a:extLst>
              <a:ext uri="{96DAC541-7B7A-43D3-8B79-37D633B846F1}">
                <ns15:svgBlip xmlns:ns15="http://schemas.microsoft.com/office/drawing/2016/SVG/main" r:embed="rIdVectormf00726"/>
              </a:ext>
            </a:extLst>
          </a:blip>
          <a:stretch xmlns:a="http://schemas.openxmlformats.org/drawingml/2006/main"/>
        </p:blipFill>
        <p:spPr>
          <a:xfrm xmlns:a="http://schemas.openxmlformats.org/drawingml/2006/main">
            <a:off x="10429637" y="2871847"/>
            <a:ext cx="607695" cy="142756"/>
          </a:xfrm>
          <a:prstGeom xmlns:a="http://schemas.openxmlformats.org/drawingml/2006/main" prst="rect">
            <a:avLst/>
          </a:prstGeom>
        </p:spPr>
      </p:pic>
      <p:pic>
        <p:nvPicPr>
          <p:cNvPr id="95" name="!!amschemes-dsb-edge" descr="\textstyle \mathrm{DSB}:\quad f_c\pm W=100\pm5\ \Rightarrow\ [95,105],\ [-105,-95]\ \mathrm{kHz}"/>
          <p:cNvPicPr>
            <a:picLocks xmlns:a="http://schemas.openxmlformats.org/drawingml/2006/main" noChangeAspect="1"/>
          </p:cNvPicPr>
          <p:nvPr/>
        </p:nvPicPr>
        <p:blipFill>
          <a:blip xmlns:r="http://schemas.openxmlformats.org/officeDocument/2006/relationships" xmlns:a="http://schemas.openxmlformats.org/drawingml/2006/main" r:embed="Rb071b9ab30534405">
            <a:extLst>
              <a:ext uri="{96DAC541-7B7A-43D3-8B79-37D633B846F1}">
                <ns16:svgBlip xmlns:ns16="http://schemas.microsoft.com/office/drawing/2016/SVG/main" r:embed="rIdVectormf00727"/>
              </a:ext>
            </a:extLst>
          </a:blip>
          <a:stretch xmlns:a="http://schemas.openxmlformats.org/drawingml/2006/main"/>
        </p:blipFill>
        <p:spPr>
          <a:xfrm xmlns:a="http://schemas.openxmlformats.org/drawingml/2006/main">
            <a:off x="666750" y="4881563"/>
            <a:ext cx="7107555" cy="247650"/>
          </a:xfrm>
          <a:prstGeom xmlns:a="http://schemas.openxmlformats.org/drawingml/2006/main" prst="rect">
            <a:avLst/>
          </a:prstGeom>
        </p:spPr>
      </p:pic>
      <p:pic>
        <p:nvPicPr>
          <p:cNvPr id="96" name="!!amschemes-dsb-width" descr="\textstyle B=(f_c+W)-(f_c-W)=2W=10\ \mathrm{kHz}"/>
          <p:cNvPicPr>
            <a:picLocks xmlns:a="http://schemas.openxmlformats.org/drawingml/2006/main" noChangeAspect="1"/>
          </p:cNvPicPr>
          <p:nvPr/>
        </p:nvPicPr>
        <p:blipFill>
          <a:blip xmlns:r="http://schemas.openxmlformats.org/officeDocument/2006/relationships" xmlns:a="http://schemas.openxmlformats.org/drawingml/2006/main" r:embed="R339d5dec29d84f1c">
            <a:extLst>
              <a:ext uri="{96DAC541-7B7A-43D3-8B79-37D633B846F1}">
                <ns17:svgBlip xmlns:ns17="http://schemas.microsoft.com/office/drawing/2016/SVG/main" r:embed="rIdVectormf00728"/>
              </a:ext>
            </a:extLst>
          </a:blip>
          <a:stretch xmlns:a="http://schemas.openxmlformats.org/drawingml/2006/main"/>
        </p:blipFill>
        <p:spPr>
          <a:xfrm xmlns:a="http://schemas.openxmlformats.org/drawingml/2006/main">
            <a:off x="666750" y="5282386"/>
            <a:ext cx="5126355" cy="246102"/>
          </a:xfrm>
          <a:prstGeom xmlns:a="http://schemas.openxmlformats.org/drawingml/2006/main" prst="rect">
            <a:avLst/>
          </a:prstGeom>
        </p:spPr>
      </p:pic>
      <p:pic>
        <p:nvPicPr>
          <p:cNvPr id="97" name="!!amschemes-usb-edge" descr="\textstyle \mathrm{USB}:\quad[f_c,f_c+W]=[100,105],\quad[-105,-100]\ \mathrm{kHz}"/>
          <p:cNvPicPr>
            <a:picLocks xmlns:a="http://schemas.openxmlformats.org/drawingml/2006/main" noChangeAspect="1"/>
          </p:cNvPicPr>
          <p:nvPr/>
        </p:nvPicPr>
        <p:blipFill>
          <a:blip xmlns:r="http://schemas.openxmlformats.org/officeDocument/2006/relationships" xmlns:a="http://schemas.openxmlformats.org/drawingml/2006/main" r:embed="Rae19e07bc62543d4">
            <a:extLst>
              <a:ext uri="{96DAC541-7B7A-43D3-8B79-37D633B846F1}">
                <ns18:svgBlip xmlns:ns18="http://schemas.microsoft.com/office/drawing/2016/SVG/main" r:embed="rIdVectormf00729"/>
              </a:ext>
            </a:extLst>
          </a:blip>
          <a:stretch xmlns:a="http://schemas.openxmlformats.org/drawingml/2006/main"/>
        </p:blipFill>
        <p:spPr>
          <a:xfrm xmlns:a="http://schemas.openxmlformats.org/drawingml/2006/main">
            <a:off x="666750" y="5787211"/>
            <a:ext cx="6513195" cy="246102"/>
          </a:xfrm>
          <a:prstGeom xmlns:a="http://schemas.openxmlformats.org/drawingml/2006/main" prst="rect">
            <a:avLst/>
          </a:prstGeom>
        </p:spPr>
      </p:pic>
      <p:pic>
        <p:nvPicPr>
          <p:cNvPr id="98" name="!!amschemes-usb-width" descr="\textstyle B=(f_c+W)-f_c=W=5\ \mathrm{kHz}"/>
          <p:cNvPicPr>
            <a:picLocks xmlns:a="http://schemas.openxmlformats.org/drawingml/2006/main" noChangeAspect="1"/>
          </p:cNvPicPr>
          <p:nvPr/>
        </p:nvPicPr>
        <p:blipFill>
          <a:blip xmlns:r="http://schemas.openxmlformats.org/officeDocument/2006/relationships" xmlns:a="http://schemas.openxmlformats.org/drawingml/2006/main" r:embed="R118b5829fcae440e">
            <a:extLst>
              <a:ext uri="{96DAC541-7B7A-43D3-8B79-37D633B846F1}">
                <ns19:svgBlip xmlns:ns19="http://schemas.microsoft.com/office/drawing/2016/SVG/main" r:embed="rIdVectormf00730"/>
              </a:ext>
            </a:extLst>
          </a:blip>
          <a:stretch xmlns:a="http://schemas.openxmlformats.org/drawingml/2006/main"/>
        </p:blipFill>
        <p:spPr>
          <a:xfrm xmlns:a="http://schemas.openxmlformats.org/drawingml/2006/main">
            <a:off x="666750" y="6186488"/>
            <a:ext cx="3987165" cy="247650"/>
          </a:xfrm>
          <a:prstGeom xmlns:a="http://schemas.openxmlformats.org/drawingml/2006/main" prst="rect">
            <a:avLst/>
          </a:prstGeom>
        </p:spPr>
      </p:pic>
    </p:spTree>
    <p:extLst>
      <p:ext uri="{BB962C8B-B14F-4D97-AF65-F5344CB8AC3E}">
        <p14:creationId xmlns:p14="http://schemas.microsoft.com/office/powerpoint/2010/main" val="145794787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84"/>
                                        </p:tgtEl>
                                        <p:attrNameLst>
                                          <p:attrName>style.visibility</p:attrName>
                                        </p:attrNameLst>
                                      </p:cBhvr>
                                      <p:to>
                                        <p:strVal val="visible"/>
                                      </p:to>
                                    </p:set>
                                    <p:animEffect transition="in" filter="fade">
                                      <p:cBhvr>
                                        <p:cTn id="10" dur="400"/>
                                        <p:tgtEl>
                                          <p:spTgt spid="84"/>
                                        </p:tgtEl>
                                      </p:cBhvr>
                                    </p:animEffect>
                                  </p:childTnLst>
                                </p:cTn>
                              </p:par>
                              <p:par>
                                <p:cTn id="11" presetID="10" presetClass="entr" presetSubtype="0" fill="hold" nodeType="withEffect">
                                  <p:stCondLst>
                                    <p:cond delay="0"/>
                                  </p:stCondLst>
                                  <p:childTnLst>
                                    <p:set>
                                      <p:cBhvr>
                                        <p:cTn id="12" dur="1" fill="hold">
                                          <p:stCondLst>
                                            <p:cond delay="0"/>
                                          </p:stCondLst>
                                        </p:cTn>
                                        <p:tgtEl>
                                          <p:spTgt spid="85"/>
                                        </p:tgtEl>
                                        <p:attrNameLst>
                                          <p:attrName>style.visibility</p:attrName>
                                        </p:attrNameLst>
                                      </p:cBhvr>
                                      <p:to>
                                        <p:strVal val="visible"/>
                                      </p:to>
                                    </p:set>
                                    <p:animEffect transition="in" filter="fade">
                                      <p:cBhvr>
                                        <p:cTn id="13" dur="400"/>
                                        <p:tgtEl>
                                          <p:spTgt spid="85"/>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87"/>
                                        </p:tgtEl>
                                        <p:attrNameLst>
                                          <p:attrName>style.visibility</p:attrName>
                                        </p:attrNameLst>
                                      </p:cBhvr>
                                      <p:to>
                                        <p:strVal val="visible"/>
                                      </p:to>
                                    </p:set>
                                    <p:animEffect transition="in" filter="fade">
                                      <p:cBhvr>
                                        <p:cTn id="19" dur="400"/>
                                        <p:tgtEl>
                                          <p:spTgt spid="87"/>
                                        </p:tgtEl>
                                      </p:cBhvr>
                                    </p:animEffect>
                                  </p:childTnLst>
                                </p:cTn>
                              </p:par>
                              <p:par>
                                <p:cTn id="20" presetID="10" presetClass="entr" presetSubtype="0" fill="hold" nodeType="with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fade">
                                      <p:cBhvr>
                                        <p:cTn id="22" dur="400"/>
                                        <p:tgtEl>
                                          <p:spTgt spid="88"/>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89"/>
                                        </p:tgtEl>
                                        <p:attrNameLst>
                                          <p:attrName>style.visibility</p:attrName>
                                        </p:attrNameLst>
                                      </p:cBhvr>
                                      <p:to>
                                        <p:strVal val="visible"/>
                                      </p:to>
                                    </p:set>
                                    <p:animEffect transition="in" filter="fade">
                                      <p:cBhvr>
                                        <p:cTn id="28" dur="400"/>
                                        <p:tgtEl>
                                          <p:spTgt spid="89"/>
                                        </p:tgtEl>
                                      </p:cBhvr>
                                    </p:animEffect>
                                  </p:childTnLst>
                                </p:cTn>
                              </p:par>
                              <p:par>
                                <p:cTn id="29" presetID="10" presetClass="entr" presetSubtype="0" fill="hold" nodeType="with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fade">
                                      <p:cBhvr>
                                        <p:cTn id="31" dur="400"/>
                                        <p:tgtEl>
                                          <p:spTgt spid="95"/>
                                        </p:tgtEl>
                                      </p:cBhvr>
                                    </p:animEffect>
                                  </p:childTnLst>
                                </p:cTn>
                              </p:par>
                              <p:par>
                                <p:cTn id="32" presetID="10" presetClass="entr" presetSubtype="0" fill="hold" nodeType="withEffect">
                                  <p:stCondLst>
                                    <p:cond delay="0"/>
                                  </p:stCondLst>
                                  <p:childTnLst>
                                    <p:set>
                                      <p:cBhvr>
                                        <p:cTn id="33" dur="1" fill="hold">
                                          <p:stCondLst>
                                            <p:cond delay="0"/>
                                          </p:stCondLst>
                                        </p:cTn>
                                        <p:tgtEl>
                                          <p:spTgt spid="96"/>
                                        </p:tgtEl>
                                        <p:attrNameLst>
                                          <p:attrName>style.visibility</p:attrName>
                                        </p:attrNameLst>
                                      </p:cBhvr>
                                      <p:to>
                                        <p:strVal val="visible"/>
                                      </p:to>
                                    </p:set>
                                    <p:animEffect transition="in" filter="fade">
                                      <p:cBhvr>
                                        <p:cTn id="34" dur="400"/>
                                        <p:tgtEl>
                                          <p:spTgt spid="9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nodeType="withEffect">
                                  <p:stCondLst>
                                    <p:cond delay="0"/>
                                  </p:stCondLst>
                                  <p:childTnLst>
                                    <p:set>
                                      <p:cBhvr>
                                        <p:cTn id="41" dur="1" fill="hold">
                                          <p:stCondLst>
                                            <p:cond delay="0"/>
                                          </p:stCondLst>
                                        </p:cTn>
                                        <p:tgtEl>
                                          <p:spTgt spid="91"/>
                                        </p:tgtEl>
                                        <p:attrNameLst>
                                          <p:attrName>style.visibility</p:attrName>
                                        </p:attrNameLst>
                                      </p:cBhvr>
                                      <p:to>
                                        <p:strVal val="visible"/>
                                      </p:to>
                                    </p:set>
                                    <p:animEffect transition="in" filter="fade">
                                      <p:cBhvr>
                                        <p:cTn id="42" dur="400"/>
                                        <p:tgtEl>
                                          <p:spTgt spid="91"/>
                                        </p:tgtEl>
                                      </p:cBhvr>
                                    </p:animEffect>
                                  </p:childTnLst>
                                </p:cTn>
                              </p:par>
                              <p:par>
                                <p:cTn id="43" presetID="10"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400"/>
                                        <p:tgtEl>
                                          <p:spTgt spid="27"/>
                                        </p:tgtEl>
                                      </p:cBhvr>
                                    </p:animEffect>
                                  </p:childTnLst>
                                </p:cTn>
                              </p:par>
                              <p:par>
                                <p:cTn id="46" presetID="10" presetClass="entr" presetSubtype="0" fill="hold" nodeType="withEffect">
                                  <p:stCondLst>
                                    <p:cond delay="0"/>
                                  </p:stCondLst>
                                  <p:childTnLst>
                                    <p:set>
                                      <p:cBhvr>
                                        <p:cTn id="47" dur="1" fill="hold">
                                          <p:stCondLst>
                                            <p:cond delay="0"/>
                                          </p:stCondLst>
                                        </p:cTn>
                                        <p:tgtEl>
                                          <p:spTgt spid="93"/>
                                        </p:tgtEl>
                                        <p:attrNameLst>
                                          <p:attrName>style.visibility</p:attrName>
                                        </p:attrNameLst>
                                      </p:cBhvr>
                                      <p:to>
                                        <p:strVal val="visible"/>
                                      </p:to>
                                    </p:set>
                                    <p:animEffect transition="in" filter="fade">
                                      <p:cBhvr>
                                        <p:cTn id="48" dur="400"/>
                                        <p:tgtEl>
                                          <p:spTgt spid="93"/>
                                        </p:tgtEl>
                                      </p:cBhvr>
                                    </p:animEffect>
                                  </p:childTnLst>
                                </p:cTn>
                              </p:par>
                              <p:par>
                                <p:cTn id="49" presetID="10"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400"/>
                                        <p:tgtEl>
                                          <p:spTgt spid="28"/>
                                        </p:tgtEl>
                                      </p:cBhvr>
                                    </p:animEffect>
                                  </p:childTnLst>
                                </p:cTn>
                              </p:par>
                              <p:par>
                                <p:cTn id="52" presetID="10" presetClass="entr" presetSubtype="0" fill="hold" nodeType="withEffect">
                                  <p:stCondLst>
                                    <p:cond delay="0"/>
                                  </p:stCondLst>
                                  <p:childTnLst>
                                    <p:set>
                                      <p:cBhvr>
                                        <p:cTn id="53" dur="1" fill="hold">
                                          <p:stCondLst>
                                            <p:cond delay="0"/>
                                          </p:stCondLst>
                                        </p:cTn>
                                        <p:tgtEl>
                                          <p:spTgt spid="94"/>
                                        </p:tgtEl>
                                        <p:attrNameLst>
                                          <p:attrName>style.visibility</p:attrName>
                                        </p:attrNameLst>
                                      </p:cBhvr>
                                      <p:to>
                                        <p:strVal val="visible"/>
                                      </p:to>
                                    </p:set>
                                    <p:animEffect transition="in" filter="fade">
                                      <p:cBhvr>
                                        <p:cTn id="54" dur="400"/>
                                        <p:tgtEl>
                                          <p:spTgt spid="94"/>
                                        </p:tgtEl>
                                      </p:cBhvr>
                                    </p:animEffect>
                                  </p:childTnLst>
                                </p:cTn>
                              </p:par>
                              <p:par>
                                <p:cTn id="55" presetID="10" presetClass="entr" presetSubtype="0" fill="hold" nodeType="withEffect">
                                  <p:stCondLst>
                                    <p:cond delay="0"/>
                                  </p:stCondLst>
                                  <p:childTnLst>
                                    <p:set>
                                      <p:cBhvr>
                                        <p:cTn id="56" dur="1" fill="hold">
                                          <p:stCondLst>
                                            <p:cond delay="0"/>
                                          </p:stCondLst>
                                        </p:cTn>
                                        <p:tgtEl>
                                          <p:spTgt spid="97"/>
                                        </p:tgtEl>
                                        <p:attrNameLst>
                                          <p:attrName>style.visibility</p:attrName>
                                        </p:attrNameLst>
                                      </p:cBhvr>
                                      <p:to>
                                        <p:strVal val="visible"/>
                                      </p:to>
                                    </p:set>
                                    <p:animEffect transition="in" filter="fade">
                                      <p:cBhvr>
                                        <p:cTn id="57" dur="400"/>
                                        <p:tgtEl>
                                          <p:spTgt spid="97"/>
                                        </p:tgtEl>
                                      </p:cBhvr>
                                    </p:animEffect>
                                  </p:childTnLst>
                                </p:cTn>
                              </p:par>
                              <p:par>
                                <p:cTn id="58" presetID="10" presetClass="entr" presetSubtype="0" fill="hold" nodeType="withEffect">
                                  <p:stCondLst>
                                    <p:cond delay="0"/>
                                  </p:stCondLst>
                                  <p:childTnLst>
                                    <p:set>
                                      <p:cBhvr>
                                        <p:cTn id="59" dur="1" fill="hold">
                                          <p:stCondLst>
                                            <p:cond delay="0"/>
                                          </p:stCondLst>
                                        </p:cTn>
                                        <p:tgtEl>
                                          <p:spTgt spid="98"/>
                                        </p:tgtEl>
                                        <p:attrNameLst>
                                          <p:attrName>style.visibility</p:attrName>
                                        </p:attrNameLst>
                                      </p:cBhvr>
                                      <p:to>
                                        <p:strVal val="visible"/>
                                      </p:to>
                                    </p:set>
                                    <p:animEffect transition="in" filter="fade">
                                      <p:cBhvr>
                                        <p:cTn id="60" dur="4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qam-title">
            <ns0:hlinkClick xmlns:ns0="http://schemas.openxmlformats.org/drawingml/2006/main" xmlns:ns1="http://schemas.openxmlformats.org/officeDocument/2006/relationships" ns1:id="rIdmethods_Link158" action="ppaction://hlinksldjump"/>
            <a:extLst xmlns:a="http://schemas.openxmlformats.org/drawingml/2006/main">
              <a:ext uri="{FF2B5EF4-FFF2-40B4-BE49-F238E27FC236}">
                <a16:creationId xmlns:a16="http://schemas.microsoft.com/office/drawing/2014/main" id="{C6294870-A98D-4E9E-AE1D-6BF79EF5D4A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58" action="ppaction://hlinksldjump"/>
              </a:rPr>
              <a:t>QAM</a:t>
            </a:r>
          </a:p>
        </p:txBody>
      </p:sp>
      <p:sp>
        <p:nvSpPr>
          <p:cNvPr id="2" name="!!qam-route-tx-line">
            <a:extLst xmlns:a="http://schemas.openxmlformats.org/drawingml/2006/main">
              <a:ext uri="{FF2B5EF4-FFF2-40B4-BE49-F238E27FC236}">
                <a16:creationId xmlns:a16="http://schemas.microsoft.com/office/drawing/2014/main" id="{1DF96ACF-57CF-478A-AC73-9BCA16A5CA08}"/>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qam-route-tx-head">
            <a:extLst xmlns:a="http://schemas.openxmlformats.org/drawingml/2006/main">
              <a:ext uri="{FF2B5EF4-FFF2-40B4-BE49-F238E27FC236}">
                <a16:creationId xmlns:a16="http://schemas.microsoft.com/office/drawing/2014/main" id="{015CCF48-FC62-46CB-A144-4F2BEAEB72AC}"/>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qam-route-rx-line">
            <a:extLst xmlns:a="http://schemas.openxmlformats.org/drawingml/2006/main">
              <a:ext uri="{FF2B5EF4-FFF2-40B4-BE49-F238E27FC236}">
                <a16:creationId xmlns:a16="http://schemas.microsoft.com/office/drawing/2014/main" id="{FC122E1A-0A16-4D49-8A3E-BC6BD4B7BEB5}"/>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qam-route-rx-head">
            <a:extLst xmlns:a="http://schemas.openxmlformats.org/drawingml/2006/main">
              <a:ext uri="{FF2B5EF4-FFF2-40B4-BE49-F238E27FC236}">
                <a16:creationId xmlns:a16="http://schemas.microsoft.com/office/drawing/2014/main" id="{0B853708-A7CB-45F2-BCA8-6AE75968D584}"/>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qam-purpose">
            <a:extLst xmlns:a="http://schemas.openxmlformats.org/drawingml/2006/main">
              <a:ext uri="{FF2B5EF4-FFF2-40B4-BE49-F238E27FC236}">
                <a16:creationId xmlns:a16="http://schemas.microsoft.com/office/drawing/2014/main" id="{ACAB6285-8F1F-46DA-A6F7-3AC86C797BC6}"/>
              </a:ext>
            </a:extLst>
          </p:cNvPr>
          <p:cNvSpPr>
            <a:spLocks xmlns:a="http://schemas.openxmlformats.org/drawingml/2006/main" noGrp="1"/>
          </p:cNvSpPr>
          <p:nvPr/>
        </p:nvSpPr>
        <p:spPr>
          <a:xfrm xmlns:a="http://schemas.openxmlformats.org/drawingml/2006/main">
            <a:off x="666750" y="15621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Two messages, one carrier frequency</a:t>
            </a:r>
          </a:p>
        </p:txBody>
      </p:sp>
      <p:sp>
        <p:nvSpPr>
          <p:cNvPr id="7" name="!!qam-qam-start-r0-axis-line">
            <a:extLst xmlns:a="http://schemas.openxmlformats.org/drawingml/2006/main">
              <a:ext uri="{FF2B5EF4-FFF2-40B4-BE49-F238E27FC236}">
                <a16:creationId xmlns:a16="http://schemas.microsoft.com/office/drawing/2014/main" id="{57ED2025-D2CD-42B4-B68B-7FE36FD1CE1D}"/>
              </a:ext>
            </a:extLst>
          </p:cNvPr>
          <p:cNvSpPr>
            <a:spLocks xmlns:a="http://schemas.openxmlformats.org/drawingml/2006/main" noGrp="1"/>
          </p:cNvSpPr>
          <p:nvPr/>
        </p:nvSpPr>
        <p:spPr>
          <a:xfrm xmlns:a="http://schemas.openxmlformats.org/drawingml/2006/main">
            <a:off x="571500" y="27813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qam-qam-start-r0-axis-head">
            <a:extLst xmlns:a="http://schemas.openxmlformats.org/drawingml/2006/main">
              <a:ext uri="{FF2B5EF4-FFF2-40B4-BE49-F238E27FC236}">
                <a16:creationId xmlns:a16="http://schemas.microsoft.com/office/drawing/2014/main" id="{B6B9F9CE-0C85-47F8-B7D4-DB6A02583193}"/>
              </a:ext>
            </a:extLst>
          </p:cNvPr>
          <p:cNvSpPr>
            <a:spLocks xmlns:a="http://schemas.openxmlformats.org/drawingml/2006/main" noGrp="1"/>
          </p:cNvSpPr>
          <p:nvPr/>
        </p:nvSpPr>
        <p:spPr>
          <a:xfrm xmlns:a="http://schemas.openxmlformats.org/drawingml/2006/main" rot="5400000">
            <a:off x="3238500" y="27336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qam-qam-start-r0-wave">
            <a:extLst xmlns:a="http://schemas.openxmlformats.org/drawingml/2006/main">
              <a:ext uri="{FF2B5EF4-FFF2-40B4-BE49-F238E27FC236}">
                <a16:creationId xmlns:a16="http://schemas.microsoft.com/office/drawing/2014/main" id="{989D79BD-5F5C-492B-9217-3B4120B3EB1C}"/>
              </a:ext>
            </a:extLst>
          </p:cNvPr>
          <p:cNvSpPr>
            <a:spLocks xmlns:a="http://schemas.openxmlformats.org/drawingml/2006/main" noGrp="1"/>
          </p:cNvSpPr>
          <p:nvPr/>
        </p:nvSpPr>
        <p:spPr>
          <a:xfrm xmlns:a="http://schemas.openxmlformats.org/drawingml/2006/main">
            <a:off x="571500" y="2414588"/>
            <a:ext cx="2781300" cy="366713"/>
          </a:xfrm>
          <a:custGeom xmlns:a="http://schemas.openxmlformats.org/drawingml/2006/main">
            <a:pathLst>
              <a:path w="2781300" h="366713">
                <a:moveTo>
                  <a:pt x="0" y="366713"/>
                </a:moveTo>
                <a:lnTo>
                  <a:pt x="3477" y="366710"/>
                </a:lnTo>
                <a:lnTo>
                  <a:pt x="6953" y="366703"/>
                </a:lnTo>
                <a:lnTo>
                  <a:pt x="10430" y="366692"/>
                </a:lnTo>
                <a:lnTo>
                  <a:pt x="13907" y="366675"/>
                </a:lnTo>
                <a:lnTo>
                  <a:pt x="17383" y="366654"/>
                </a:lnTo>
                <a:lnTo>
                  <a:pt x="20860" y="366628"/>
                </a:lnTo>
                <a:lnTo>
                  <a:pt x="24336" y="366598"/>
                </a:lnTo>
                <a:lnTo>
                  <a:pt x="27813" y="366563"/>
                </a:lnTo>
                <a:lnTo>
                  <a:pt x="31290" y="366523"/>
                </a:lnTo>
                <a:lnTo>
                  <a:pt x="34766" y="366479"/>
                </a:lnTo>
                <a:lnTo>
                  <a:pt x="38243" y="366431"/>
                </a:lnTo>
                <a:lnTo>
                  <a:pt x="41719" y="366378"/>
                </a:lnTo>
                <a:lnTo>
                  <a:pt x="45196" y="366321"/>
                </a:lnTo>
                <a:lnTo>
                  <a:pt x="48673" y="366260"/>
                </a:lnTo>
                <a:lnTo>
                  <a:pt x="52149" y="366196"/>
                </a:lnTo>
                <a:lnTo>
                  <a:pt x="55626" y="366128"/>
                </a:lnTo>
                <a:lnTo>
                  <a:pt x="59103" y="366056"/>
                </a:lnTo>
                <a:lnTo>
                  <a:pt x="62579" y="365981"/>
                </a:lnTo>
                <a:lnTo>
                  <a:pt x="66056" y="365904"/>
                </a:lnTo>
                <a:lnTo>
                  <a:pt x="69532" y="365824"/>
                </a:lnTo>
                <a:lnTo>
                  <a:pt x="73009" y="365741"/>
                </a:lnTo>
                <a:lnTo>
                  <a:pt x="76486" y="365656"/>
                </a:lnTo>
                <a:lnTo>
                  <a:pt x="79962" y="365569"/>
                </a:lnTo>
                <a:lnTo>
                  <a:pt x="83439" y="365481"/>
                </a:lnTo>
                <a:lnTo>
                  <a:pt x="86916" y="365391"/>
                </a:lnTo>
                <a:lnTo>
                  <a:pt x="90392" y="365301"/>
                </a:lnTo>
                <a:lnTo>
                  <a:pt x="93869" y="365210"/>
                </a:lnTo>
                <a:lnTo>
                  <a:pt x="97345" y="365118"/>
                </a:lnTo>
                <a:lnTo>
                  <a:pt x="100822" y="365027"/>
                </a:lnTo>
                <a:lnTo>
                  <a:pt x="104299" y="364936"/>
                </a:lnTo>
                <a:lnTo>
                  <a:pt x="107775" y="364846"/>
                </a:lnTo>
                <a:lnTo>
                  <a:pt x="111252" y="364757"/>
                </a:lnTo>
                <a:lnTo>
                  <a:pt x="114729" y="364669"/>
                </a:lnTo>
                <a:lnTo>
                  <a:pt x="118205" y="364583"/>
                </a:lnTo>
                <a:lnTo>
                  <a:pt x="121682" y="364498"/>
                </a:lnTo>
                <a:lnTo>
                  <a:pt x="125159" y="364417"/>
                </a:lnTo>
                <a:lnTo>
                  <a:pt x="128635" y="364337"/>
                </a:lnTo>
                <a:lnTo>
                  <a:pt x="132112" y="364261"/>
                </a:lnTo>
                <a:lnTo>
                  <a:pt x="135588" y="364189"/>
                </a:lnTo>
                <a:lnTo>
                  <a:pt x="139065" y="364119"/>
                </a:lnTo>
                <a:lnTo>
                  <a:pt x="142542" y="364054"/>
                </a:lnTo>
                <a:lnTo>
                  <a:pt x="146018" y="363993"/>
                </a:lnTo>
                <a:lnTo>
                  <a:pt x="149495" y="363936"/>
                </a:lnTo>
                <a:lnTo>
                  <a:pt x="152972" y="363884"/>
                </a:lnTo>
                <a:lnTo>
                  <a:pt x="156448" y="363836"/>
                </a:lnTo>
                <a:lnTo>
                  <a:pt x="159925" y="363794"/>
                </a:lnTo>
                <a:lnTo>
                  <a:pt x="163401" y="363757"/>
                </a:lnTo>
                <a:lnTo>
                  <a:pt x="166878" y="363726"/>
                </a:lnTo>
                <a:lnTo>
                  <a:pt x="170355" y="363700"/>
                </a:lnTo>
                <a:lnTo>
                  <a:pt x="173831" y="363679"/>
                </a:lnTo>
                <a:lnTo>
                  <a:pt x="177308" y="363665"/>
                </a:lnTo>
                <a:lnTo>
                  <a:pt x="180785" y="363657"/>
                </a:lnTo>
                <a:lnTo>
                  <a:pt x="184261" y="363654"/>
                </a:lnTo>
                <a:lnTo>
                  <a:pt x="187738" y="363658"/>
                </a:lnTo>
                <a:lnTo>
                  <a:pt x="191214" y="363667"/>
                </a:lnTo>
                <a:lnTo>
                  <a:pt x="194691" y="363683"/>
                </a:lnTo>
                <a:lnTo>
                  <a:pt x="198168" y="363705"/>
                </a:lnTo>
                <a:lnTo>
                  <a:pt x="201644" y="363732"/>
                </a:lnTo>
                <a:lnTo>
                  <a:pt x="205121" y="363766"/>
                </a:lnTo>
                <a:lnTo>
                  <a:pt x="208598" y="363805"/>
                </a:lnTo>
                <a:lnTo>
                  <a:pt x="212074" y="363850"/>
                </a:lnTo>
                <a:lnTo>
                  <a:pt x="215551" y="363901"/>
                </a:lnTo>
                <a:lnTo>
                  <a:pt x="219027" y="363957"/>
                </a:lnTo>
                <a:lnTo>
                  <a:pt x="222504" y="364018"/>
                </a:lnTo>
                <a:lnTo>
                  <a:pt x="225981" y="364084"/>
                </a:lnTo>
                <a:lnTo>
                  <a:pt x="229457" y="364155"/>
                </a:lnTo>
                <a:lnTo>
                  <a:pt x="232934" y="364230"/>
                </a:lnTo>
                <a:lnTo>
                  <a:pt x="236410" y="364309"/>
                </a:lnTo>
                <a:lnTo>
                  <a:pt x="239887" y="364393"/>
                </a:lnTo>
                <a:lnTo>
                  <a:pt x="243364" y="364479"/>
                </a:lnTo>
                <a:lnTo>
                  <a:pt x="246840" y="364569"/>
                </a:lnTo>
                <a:lnTo>
                  <a:pt x="250317" y="364662"/>
                </a:lnTo>
                <a:lnTo>
                  <a:pt x="253794" y="364757"/>
                </a:lnTo>
                <a:lnTo>
                  <a:pt x="257270" y="364855"/>
                </a:lnTo>
                <a:lnTo>
                  <a:pt x="260747" y="364954"/>
                </a:lnTo>
                <a:lnTo>
                  <a:pt x="264223" y="365054"/>
                </a:lnTo>
                <a:lnTo>
                  <a:pt x="267700" y="365155"/>
                </a:lnTo>
                <a:lnTo>
                  <a:pt x="271177" y="365256"/>
                </a:lnTo>
                <a:lnTo>
                  <a:pt x="274653" y="365358"/>
                </a:lnTo>
                <a:lnTo>
                  <a:pt x="278130" y="365459"/>
                </a:lnTo>
                <a:lnTo>
                  <a:pt x="281607" y="365559"/>
                </a:lnTo>
                <a:lnTo>
                  <a:pt x="285083" y="365658"/>
                </a:lnTo>
                <a:lnTo>
                  <a:pt x="288560" y="365754"/>
                </a:lnTo>
                <a:lnTo>
                  <a:pt x="292036" y="365849"/>
                </a:lnTo>
                <a:lnTo>
                  <a:pt x="295513" y="365941"/>
                </a:lnTo>
                <a:lnTo>
                  <a:pt x="298990" y="366029"/>
                </a:lnTo>
                <a:lnTo>
                  <a:pt x="302466" y="366114"/>
                </a:lnTo>
                <a:lnTo>
                  <a:pt x="305943" y="366195"/>
                </a:lnTo>
                <a:lnTo>
                  <a:pt x="309420" y="366272"/>
                </a:lnTo>
                <a:lnTo>
                  <a:pt x="312896" y="366343"/>
                </a:lnTo>
                <a:lnTo>
                  <a:pt x="316373" y="366410"/>
                </a:lnTo>
                <a:lnTo>
                  <a:pt x="319850" y="366470"/>
                </a:lnTo>
                <a:lnTo>
                  <a:pt x="323326" y="366525"/>
                </a:lnTo>
                <a:lnTo>
                  <a:pt x="326803" y="366573"/>
                </a:lnTo>
                <a:lnTo>
                  <a:pt x="330279" y="366615"/>
                </a:lnTo>
                <a:lnTo>
                  <a:pt x="333756" y="366649"/>
                </a:lnTo>
                <a:lnTo>
                  <a:pt x="337233" y="366677"/>
                </a:lnTo>
                <a:lnTo>
                  <a:pt x="340709" y="366696"/>
                </a:lnTo>
                <a:lnTo>
                  <a:pt x="344186" y="366708"/>
                </a:lnTo>
                <a:lnTo>
                  <a:pt x="347663" y="366713"/>
                </a:lnTo>
                <a:lnTo>
                  <a:pt x="351139" y="366708"/>
                </a:lnTo>
                <a:lnTo>
                  <a:pt x="354616" y="366696"/>
                </a:lnTo>
                <a:lnTo>
                  <a:pt x="358092" y="366675"/>
                </a:lnTo>
                <a:lnTo>
                  <a:pt x="361569" y="366646"/>
                </a:lnTo>
                <a:lnTo>
                  <a:pt x="365046" y="366608"/>
                </a:lnTo>
                <a:lnTo>
                  <a:pt x="368522" y="366562"/>
                </a:lnTo>
                <a:lnTo>
                  <a:pt x="371999" y="366507"/>
                </a:lnTo>
                <a:lnTo>
                  <a:pt x="375476" y="366443"/>
                </a:lnTo>
                <a:lnTo>
                  <a:pt x="378952" y="366371"/>
                </a:lnTo>
                <a:lnTo>
                  <a:pt x="382429" y="366291"/>
                </a:lnTo>
                <a:lnTo>
                  <a:pt x="385905" y="366202"/>
                </a:lnTo>
                <a:lnTo>
                  <a:pt x="389382" y="366105"/>
                </a:lnTo>
                <a:lnTo>
                  <a:pt x="392859" y="366001"/>
                </a:lnTo>
                <a:lnTo>
                  <a:pt x="396335" y="365889"/>
                </a:lnTo>
                <a:lnTo>
                  <a:pt x="399812" y="365770"/>
                </a:lnTo>
                <a:lnTo>
                  <a:pt x="403289" y="365643"/>
                </a:lnTo>
                <a:lnTo>
                  <a:pt x="406765" y="365510"/>
                </a:lnTo>
                <a:lnTo>
                  <a:pt x="410242" y="365371"/>
                </a:lnTo>
                <a:lnTo>
                  <a:pt x="413718" y="365226"/>
                </a:lnTo>
                <a:lnTo>
                  <a:pt x="417195" y="365075"/>
                </a:lnTo>
                <a:lnTo>
                  <a:pt x="420672" y="364919"/>
                </a:lnTo>
                <a:lnTo>
                  <a:pt x="424148" y="364759"/>
                </a:lnTo>
                <a:lnTo>
                  <a:pt x="427625" y="364595"/>
                </a:lnTo>
                <a:lnTo>
                  <a:pt x="431101" y="364427"/>
                </a:lnTo>
                <a:lnTo>
                  <a:pt x="434578" y="364256"/>
                </a:lnTo>
                <a:lnTo>
                  <a:pt x="438055" y="364083"/>
                </a:lnTo>
                <a:lnTo>
                  <a:pt x="441531" y="363907"/>
                </a:lnTo>
                <a:lnTo>
                  <a:pt x="445008" y="363731"/>
                </a:lnTo>
                <a:lnTo>
                  <a:pt x="448485" y="363554"/>
                </a:lnTo>
                <a:lnTo>
                  <a:pt x="451961" y="363377"/>
                </a:lnTo>
                <a:lnTo>
                  <a:pt x="455438" y="363200"/>
                </a:lnTo>
                <a:lnTo>
                  <a:pt x="458915" y="363025"/>
                </a:lnTo>
                <a:lnTo>
                  <a:pt x="462391" y="362851"/>
                </a:lnTo>
                <a:lnTo>
                  <a:pt x="465868" y="362680"/>
                </a:lnTo>
                <a:lnTo>
                  <a:pt x="469344" y="362512"/>
                </a:lnTo>
                <a:lnTo>
                  <a:pt x="472821" y="362348"/>
                </a:lnTo>
                <a:lnTo>
                  <a:pt x="476298" y="362188"/>
                </a:lnTo>
                <a:lnTo>
                  <a:pt x="479774" y="362033"/>
                </a:lnTo>
                <a:lnTo>
                  <a:pt x="483251" y="361884"/>
                </a:lnTo>
                <a:lnTo>
                  <a:pt x="486727" y="361741"/>
                </a:lnTo>
                <a:lnTo>
                  <a:pt x="490204" y="361605"/>
                </a:lnTo>
                <a:lnTo>
                  <a:pt x="493681" y="361476"/>
                </a:lnTo>
                <a:lnTo>
                  <a:pt x="497157" y="361355"/>
                </a:lnTo>
                <a:lnTo>
                  <a:pt x="500634" y="361242"/>
                </a:lnTo>
                <a:lnTo>
                  <a:pt x="504111" y="361138"/>
                </a:lnTo>
                <a:lnTo>
                  <a:pt x="507587" y="361044"/>
                </a:lnTo>
                <a:lnTo>
                  <a:pt x="511064" y="360959"/>
                </a:lnTo>
                <a:lnTo>
                  <a:pt x="514541" y="360885"/>
                </a:lnTo>
                <a:lnTo>
                  <a:pt x="518017" y="360821"/>
                </a:lnTo>
                <a:lnTo>
                  <a:pt x="521494" y="360768"/>
                </a:lnTo>
                <a:lnTo>
                  <a:pt x="524970" y="360726"/>
                </a:lnTo>
                <a:lnTo>
                  <a:pt x="528447" y="360695"/>
                </a:lnTo>
                <a:lnTo>
                  <a:pt x="531924" y="360676"/>
                </a:lnTo>
                <a:lnTo>
                  <a:pt x="535400" y="360669"/>
                </a:lnTo>
                <a:lnTo>
                  <a:pt x="538877" y="360674"/>
                </a:lnTo>
                <a:lnTo>
                  <a:pt x="542354" y="360691"/>
                </a:lnTo>
                <a:lnTo>
                  <a:pt x="545830" y="360720"/>
                </a:lnTo>
                <a:lnTo>
                  <a:pt x="549307" y="360760"/>
                </a:lnTo>
                <a:lnTo>
                  <a:pt x="552783" y="360813"/>
                </a:lnTo>
                <a:lnTo>
                  <a:pt x="556260" y="360878"/>
                </a:lnTo>
                <a:lnTo>
                  <a:pt x="559737" y="360954"/>
                </a:lnTo>
                <a:lnTo>
                  <a:pt x="563213" y="361042"/>
                </a:lnTo>
                <a:lnTo>
                  <a:pt x="566690" y="361141"/>
                </a:lnTo>
                <a:lnTo>
                  <a:pt x="570167" y="361251"/>
                </a:lnTo>
                <a:lnTo>
                  <a:pt x="573643" y="361371"/>
                </a:lnTo>
                <a:lnTo>
                  <a:pt x="577120" y="361502"/>
                </a:lnTo>
                <a:lnTo>
                  <a:pt x="580596" y="361642"/>
                </a:lnTo>
                <a:lnTo>
                  <a:pt x="584073" y="361791"/>
                </a:lnTo>
                <a:lnTo>
                  <a:pt x="587550" y="361949"/>
                </a:lnTo>
                <a:lnTo>
                  <a:pt x="591026" y="362115"/>
                </a:lnTo>
                <a:lnTo>
                  <a:pt x="594503" y="362289"/>
                </a:lnTo>
                <a:lnTo>
                  <a:pt x="597980" y="362469"/>
                </a:lnTo>
                <a:lnTo>
                  <a:pt x="601456" y="362655"/>
                </a:lnTo>
                <a:lnTo>
                  <a:pt x="604933" y="362847"/>
                </a:lnTo>
                <a:lnTo>
                  <a:pt x="608409" y="363043"/>
                </a:lnTo>
                <a:lnTo>
                  <a:pt x="611886" y="363242"/>
                </a:lnTo>
                <a:lnTo>
                  <a:pt x="615363" y="363445"/>
                </a:lnTo>
                <a:lnTo>
                  <a:pt x="618839" y="363649"/>
                </a:lnTo>
                <a:lnTo>
                  <a:pt x="622316" y="363855"/>
                </a:lnTo>
                <a:lnTo>
                  <a:pt x="625793" y="364060"/>
                </a:lnTo>
                <a:lnTo>
                  <a:pt x="629269" y="364265"/>
                </a:lnTo>
                <a:lnTo>
                  <a:pt x="632746" y="364468"/>
                </a:lnTo>
                <a:lnTo>
                  <a:pt x="636222" y="364668"/>
                </a:lnTo>
                <a:lnTo>
                  <a:pt x="639699" y="364864"/>
                </a:lnTo>
                <a:lnTo>
                  <a:pt x="643176" y="365056"/>
                </a:lnTo>
                <a:lnTo>
                  <a:pt x="646652" y="365242"/>
                </a:lnTo>
                <a:lnTo>
                  <a:pt x="650129" y="365421"/>
                </a:lnTo>
                <a:lnTo>
                  <a:pt x="653606" y="365592"/>
                </a:lnTo>
                <a:lnTo>
                  <a:pt x="657082" y="365755"/>
                </a:lnTo>
                <a:lnTo>
                  <a:pt x="660559" y="365908"/>
                </a:lnTo>
                <a:lnTo>
                  <a:pt x="664035" y="366050"/>
                </a:lnTo>
                <a:lnTo>
                  <a:pt x="667512" y="366181"/>
                </a:lnTo>
                <a:lnTo>
                  <a:pt x="670989" y="366300"/>
                </a:lnTo>
                <a:lnTo>
                  <a:pt x="674465" y="366405"/>
                </a:lnTo>
                <a:lnTo>
                  <a:pt x="677942" y="366496"/>
                </a:lnTo>
                <a:lnTo>
                  <a:pt x="681419" y="366572"/>
                </a:lnTo>
                <a:lnTo>
                  <a:pt x="684895" y="366633"/>
                </a:lnTo>
                <a:lnTo>
                  <a:pt x="688372" y="366677"/>
                </a:lnTo>
                <a:lnTo>
                  <a:pt x="691848" y="366703"/>
                </a:lnTo>
                <a:lnTo>
                  <a:pt x="695325" y="366713"/>
                </a:lnTo>
                <a:lnTo>
                  <a:pt x="698802" y="366703"/>
                </a:lnTo>
                <a:lnTo>
                  <a:pt x="702278" y="366675"/>
                </a:lnTo>
                <a:lnTo>
                  <a:pt x="705755" y="366628"/>
                </a:lnTo>
                <a:lnTo>
                  <a:pt x="709231" y="366561"/>
                </a:lnTo>
                <a:lnTo>
                  <a:pt x="712708" y="366473"/>
                </a:lnTo>
                <a:lnTo>
                  <a:pt x="716185" y="366366"/>
                </a:lnTo>
                <a:lnTo>
                  <a:pt x="719661" y="366238"/>
                </a:lnTo>
                <a:lnTo>
                  <a:pt x="723138" y="366089"/>
                </a:lnTo>
                <a:lnTo>
                  <a:pt x="726615" y="365920"/>
                </a:lnTo>
                <a:lnTo>
                  <a:pt x="730091" y="365730"/>
                </a:lnTo>
                <a:lnTo>
                  <a:pt x="733568" y="365519"/>
                </a:lnTo>
                <a:lnTo>
                  <a:pt x="737045" y="365288"/>
                </a:lnTo>
                <a:lnTo>
                  <a:pt x="740521" y="365037"/>
                </a:lnTo>
                <a:lnTo>
                  <a:pt x="743998" y="364765"/>
                </a:lnTo>
                <a:lnTo>
                  <a:pt x="747474" y="364475"/>
                </a:lnTo>
                <a:lnTo>
                  <a:pt x="750951" y="364165"/>
                </a:lnTo>
                <a:lnTo>
                  <a:pt x="754428" y="363838"/>
                </a:lnTo>
                <a:lnTo>
                  <a:pt x="757904" y="363492"/>
                </a:lnTo>
                <a:lnTo>
                  <a:pt x="761381" y="363129"/>
                </a:lnTo>
                <a:lnTo>
                  <a:pt x="764858" y="362750"/>
                </a:lnTo>
                <a:lnTo>
                  <a:pt x="768334" y="362356"/>
                </a:lnTo>
                <a:lnTo>
                  <a:pt x="771811" y="361948"/>
                </a:lnTo>
                <a:lnTo>
                  <a:pt x="775287" y="361526"/>
                </a:lnTo>
                <a:lnTo>
                  <a:pt x="778764" y="361092"/>
                </a:lnTo>
                <a:lnTo>
                  <a:pt x="782241" y="360646"/>
                </a:lnTo>
                <a:lnTo>
                  <a:pt x="785717" y="360191"/>
                </a:lnTo>
                <a:lnTo>
                  <a:pt x="789194" y="359727"/>
                </a:lnTo>
                <a:lnTo>
                  <a:pt x="792671" y="359256"/>
                </a:lnTo>
                <a:lnTo>
                  <a:pt x="796147" y="358779"/>
                </a:lnTo>
                <a:lnTo>
                  <a:pt x="799624" y="358298"/>
                </a:lnTo>
                <a:lnTo>
                  <a:pt x="803100" y="357813"/>
                </a:lnTo>
                <a:lnTo>
                  <a:pt x="806577" y="357328"/>
                </a:lnTo>
                <a:lnTo>
                  <a:pt x="810054" y="356842"/>
                </a:lnTo>
                <a:lnTo>
                  <a:pt x="813530" y="356358"/>
                </a:lnTo>
                <a:lnTo>
                  <a:pt x="817007" y="355878"/>
                </a:lnTo>
                <a:lnTo>
                  <a:pt x="820483" y="355402"/>
                </a:lnTo>
                <a:lnTo>
                  <a:pt x="823960" y="354934"/>
                </a:lnTo>
                <a:lnTo>
                  <a:pt x="827437" y="354473"/>
                </a:lnTo>
                <a:lnTo>
                  <a:pt x="830913" y="354023"/>
                </a:lnTo>
                <a:lnTo>
                  <a:pt x="834390" y="353584"/>
                </a:lnTo>
                <a:lnTo>
                  <a:pt x="837867" y="353159"/>
                </a:lnTo>
                <a:lnTo>
                  <a:pt x="841343" y="352749"/>
                </a:lnTo>
                <a:lnTo>
                  <a:pt x="844820" y="352356"/>
                </a:lnTo>
                <a:lnTo>
                  <a:pt x="848297" y="351981"/>
                </a:lnTo>
                <a:lnTo>
                  <a:pt x="851773" y="351626"/>
                </a:lnTo>
                <a:lnTo>
                  <a:pt x="855250" y="351292"/>
                </a:lnTo>
                <a:lnTo>
                  <a:pt x="858726" y="350981"/>
                </a:lnTo>
                <a:lnTo>
                  <a:pt x="862203" y="350694"/>
                </a:lnTo>
                <a:lnTo>
                  <a:pt x="865680" y="350433"/>
                </a:lnTo>
                <a:lnTo>
                  <a:pt x="869156" y="350199"/>
                </a:lnTo>
                <a:lnTo>
                  <a:pt x="872633" y="349993"/>
                </a:lnTo>
                <a:lnTo>
                  <a:pt x="876110" y="349816"/>
                </a:lnTo>
                <a:lnTo>
                  <a:pt x="879586" y="349670"/>
                </a:lnTo>
                <a:lnTo>
                  <a:pt x="883063" y="349555"/>
                </a:lnTo>
                <a:lnTo>
                  <a:pt x="886539" y="349473"/>
                </a:lnTo>
                <a:lnTo>
                  <a:pt x="890016" y="349423"/>
                </a:lnTo>
                <a:lnTo>
                  <a:pt x="893493" y="349407"/>
                </a:lnTo>
                <a:lnTo>
                  <a:pt x="896969" y="349425"/>
                </a:lnTo>
                <a:lnTo>
                  <a:pt x="900446" y="349478"/>
                </a:lnTo>
                <a:lnTo>
                  <a:pt x="903923" y="349566"/>
                </a:lnTo>
                <a:lnTo>
                  <a:pt x="907399" y="349688"/>
                </a:lnTo>
                <a:lnTo>
                  <a:pt x="910876" y="349846"/>
                </a:lnTo>
                <a:lnTo>
                  <a:pt x="914352" y="350039"/>
                </a:lnTo>
                <a:lnTo>
                  <a:pt x="917829" y="350266"/>
                </a:lnTo>
                <a:lnTo>
                  <a:pt x="921306" y="350527"/>
                </a:lnTo>
                <a:lnTo>
                  <a:pt x="924782" y="350822"/>
                </a:lnTo>
                <a:lnTo>
                  <a:pt x="928259" y="351150"/>
                </a:lnTo>
                <a:lnTo>
                  <a:pt x="931735" y="351511"/>
                </a:lnTo>
                <a:lnTo>
                  <a:pt x="935212" y="351902"/>
                </a:lnTo>
                <a:lnTo>
                  <a:pt x="938689" y="352323"/>
                </a:lnTo>
                <a:lnTo>
                  <a:pt x="942165" y="352772"/>
                </a:lnTo>
                <a:lnTo>
                  <a:pt x="945642" y="353249"/>
                </a:lnTo>
                <a:lnTo>
                  <a:pt x="949119" y="353751"/>
                </a:lnTo>
                <a:lnTo>
                  <a:pt x="952595" y="354276"/>
                </a:lnTo>
                <a:lnTo>
                  <a:pt x="956072" y="354823"/>
                </a:lnTo>
                <a:lnTo>
                  <a:pt x="959549" y="355389"/>
                </a:lnTo>
                <a:lnTo>
                  <a:pt x="963025" y="355972"/>
                </a:lnTo>
                <a:lnTo>
                  <a:pt x="966502" y="356570"/>
                </a:lnTo>
                <a:lnTo>
                  <a:pt x="969978" y="357179"/>
                </a:lnTo>
                <a:lnTo>
                  <a:pt x="973455" y="357798"/>
                </a:lnTo>
                <a:lnTo>
                  <a:pt x="976932" y="358423"/>
                </a:lnTo>
                <a:lnTo>
                  <a:pt x="980408" y="359051"/>
                </a:lnTo>
                <a:lnTo>
                  <a:pt x="983885" y="359679"/>
                </a:lnTo>
                <a:lnTo>
                  <a:pt x="987362" y="360304"/>
                </a:lnTo>
                <a:lnTo>
                  <a:pt x="990838" y="360922"/>
                </a:lnTo>
                <a:lnTo>
                  <a:pt x="994315" y="361529"/>
                </a:lnTo>
                <a:lnTo>
                  <a:pt x="997791" y="362123"/>
                </a:lnTo>
                <a:lnTo>
                  <a:pt x="1001268" y="362698"/>
                </a:lnTo>
                <a:lnTo>
                  <a:pt x="1004745" y="363252"/>
                </a:lnTo>
                <a:lnTo>
                  <a:pt x="1008221" y="363780"/>
                </a:lnTo>
                <a:lnTo>
                  <a:pt x="1011698" y="364278"/>
                </a:lnTo>
                <a:lnTo>
                  <a:pt x="1015174" y="364742"/>
                </a:lnTo>
                <a:lnTo>
                  <a:pt x="1018651" y="365168"/>
                </a:lnTo>
                <a:lnTo>
                  <a:pt x="1022128" y="365551"/>
                </a:lnTo>
                <a:lnTo>
                  <a:pt x="1025604" y="365888"/>
                </a:lnTo>
                <a:lnTo>
                  <a:pt x="1029081" y="366173"/>
                </a:lnTo>
                <a:lnTo>
                  <a:pt x="1032558" y="366402"/>
                </a:lnTo>
                <a:lnTo>
                  <a:pt x="1036034" y="366572"/>
                </a:lnTo>
                <a:lnTo>
                  <a:pt x="1039511" y="366677"/>
                </a:lnTo>
                <a:lnTo>
                  <a:pt x="1042988" y="366713"/>
                </a:lnTo>
                <a:lnTo>
                  <a:pt x="1046464" y="366675"/>
                </a:lnTo>
                <a:lnTo>
                  <a:pt x="1049941" y="366560"/>
                </a:lnTo>
                <a:lnTo>
                  <a:pt x="1053417" y="366363"/>
                </a:lnTo>
                <a:lnTo>
                  <a:pt x="1056894" y="366079"/>
                </a:lnTo>
                <a:lnTo>
                  <a:pt x="1060371" y="365705"/>
                </a:lnTo>
                <a:lnTo>
                  <a:pt x="1063847" y="365236"/>
                </a:lnTo>
                <a:lnTo>
                  <a:pt x="1067324" y="364668"/>
                </a:lnTo>
                <a:lnTo>
                  <a:pt x="1070801" y="363998"/>
                </a:lnTo>
                <a:lnTo>
                  <a:pt x="1074277" y="363220"/>
                </a:lnTo>
                <a:lnTo>
                  <a:pt x="1077754" y="362332"/>
                </a:lnTo>
                <a:lnTo>
                  <a:pt x="1081230" y="361330"/>
                </a:lnTo>
                <a:lnTo>
                  <a:pt x="1084707" y="360210"/>
                </a:lnTo>
                <a:lnTo>
                  <a:pt x="1088184" y="358970"/>
                </a:lnTo>
                <a:lnTo>
                  <a:pt x="1091660" y="357605"/>
                </a:lnTo>
                <a:lnTo>
                  <a:pt x="1095137" y="356113"/>
                </a:lnTo>
                <a:lnTo>
                  <a:pt x="1098614" y="354491"/>
                </a:lnTo>
                <a:lnTo>
                  <a:pt x="1102090" y="352737"/>
                </a:lnTo>
                <a:lnTo>
                  <a:pt x="1105567" y="350847"/>
                </a:lnTo>
                <a:lnTo>
                  <a:pt x="1109043" y="348821"/>
                </a:lnTo>
                <a:lnTo>
                  <a:pt x="1112520" y="346655"/>
                </a:lnTo>
                <a:lnTo>
                  <a:pt x="1115997" y="344348"/>
                </a:lnTo>
                <a:lnTo>
                  <a:pt x="1119473" y="341899"/>
                </a:lnTo>
                <a:lnTo>
                  <a:pt x="1122950" y="339306"/>
                </a:lnTo>
                <a:lnTo>
                  <a:pt x="1126427" y="336568"/>
                </a:lnTo>
                <a:lnTo>
                  <a:pt x="1129903" y="333685"/>
                </a:lnTo>
                <a:lnTo>
                  <a:pt x="1133380" y="330656"/>
                </a:lnTo>
                <a:lnTo>
                  <a:pt x="1136856" y="327481"/>
                </a:lnTo>
                <a:lnTo>
                  <a:pt x="1140333" y="324160"/>
                </a:lnTo>
                <a:lnTo>
                  <a:pt x="1143810" y="320694"/>
                </a:lnTo>
                <a:lnTo>
                  <a:pt x="1147286" y="317082"/>
                </a:lnTo>
                <a:lnTo>
                  <a:pt x="1150763" y="313327"/>
                </a:lnTo>
                <a:lnTo>
                  <a:pt x="1154240" y="309429"/>
                </a:lnTo>
                <a:lnTo>
                  <a:pt x="1157716" y="305390"/>
                </a:lnTo>
                <a:lnTo>
                  <a:pt x="1161193" y="301211"/>
                </a:lnTo>
                <a:lnTo>
                  <a:pt x="1164669" y="296896"/>
                </a:lnTo>
                <a:lnTo>
                  <a:pt x="1168146" y="292445"/>
                </a:lnTo>
                <a:lnTo>
                  <a:pt x="1171623" y="287863"/>
                </a:lnTo>
                <a:lnTo>
                  <a:pt x="1175099" y="283152"/>
                </a:lnTo>
                <a:lnTo>
                  <a:pt x="1178576" y="278316"/>
                </a:lnTo>
                <a:lnTo>
                  <a:pt x="1182053" y="273358"/>
                </a:lnTo>
                <a:lnTo>
                  <a:pt x="1185529" y="268282"/>
                </a:lnTo>
                <a:lnTo>
                  <a:pt x="1189006" y="263092"/>
                </a:lnTo>
                <a:lnTo>
                  <a:pt x="1192482" y="257794"/>
                </a:lnTo>
                <a:lnTo>
                  <a:pt x="1195959" y="252391"/>
                </a:lnTo>
                <a:lnTo>
                  <a:pt x="1199436" y="246889"/>
                </a:lnTo>
                <a:lnTo>
                  <a:pt x="1202912" y="241294"/>
                </a:lnTo>
                <a:lnTo>
                  <a:pt x="1206389" y="235610"/>
                </a:lnTo>
                <a:lnTo>
                  <a:pt x="1209865" y="229844"/>
                </a:lnTo>
                <a:lnTo>
                  <a:pt x="1213342" y="224002"/>
                </a:lnTo>
                <a:lnTo>
                  <a:pt x="1216819" y="218090"/>
                </a:lnTo>
                <a:lnTo>
                  <a:pt x="1220295" y="212114"/>
                </a:lnTo>
                <a:lnTo>
                  <a:pt x="1223772" y="206082"/>
                </a:lnTo>
                <a:lnTo>
                  <a:pt x="1227249" y="200001"/>
                </a:lnTo>
                <a:lnTo>
                  <a:pt x="1230725" y="193877"/>
                </a:lnTo>
                <a:lnTo>
                  <a:pt x="1234202" y="187718"/>
                </a:lnTo>
                <a:lnTo>
                  <a:pt x="1237679" y="181531"/>
                </a:lnTo>
                <a:lnTo>
                  <a:pt x="1241155" y="175325"/>
                </a:lnTo>
                <a:lnTo>
                  <a:pt x="1244632" y="169106"/>
                </a:lnTo>
                <a:lnTo>
                  <a:pt x="1248108" y="162883"/>
                </a:lnTo>
                <a:lnTo>
                  <a:pt x="1251585" y="156664"/>
                </a:lnTo>
                <a:lnTo>
                  <a:pt x="1255062" y="150458"/>
                </a:lnTo>
                <a:lnTo>
                  <a:pt x="1258538" y="144271"/>
                </a:lnTo>
                <a:lnTo>
                  <a:pt x="1262015" y="138113"/>
                </a:lnTo>
                <a:lnTo>
                  <a:pt x="1265492" y="131991"/>
                </a:lnTo>
                <a:lnTo>
                  <a:pt x="1268968" y="125915"/>
                </a:lnTo>
                <a:lnTo>
                  <a:pt x="1272445" y="119892"/>
                </a:lnTo>
                <a:lnTo>
                  <a:pt x="1275921" y="113932"/>
                </a:lnTo>
                <a:lnTo>
                  <a:pt x="1279398" y="108041"/>
                </a:lnTo>
                <a:lnTo>
                  <a:pt x="1282875" y="102229"/>
                </a:lnTo>
                <a:lnTo>
                  <a:pt x="1286351" y="96504"/>
                </a:lnTo>
                <a:lnTo>
                  <a:pt x="1289828" y="90874"/>
                </a:lnTo>
                <a:lnTo>
                  <a:pt x="1293305" y="85347"/>
                </a:lnTo>
                <a:lnTo>
                  <a:pt x="1296781" y="79932"/>
                </a:lnTo>
                <a:lnTo>
                  <a:pt x="1300258" y="74636"/>
                </a:lnTo>
                <a:lnTo>
                  <a:pt x="1303734" y="69467"/>
                </a:lnTo>
                <a:lnTo>
                  <a:pt x="1307211" y="64432"/>
                </a:lnTo>
                <a:lnTo>
                  <a:pt x="1310688" y="59540"/>
                </a:lnTo>
                <a:lnTo>
                  <a:pt x="1314164" y="54797"/>
                </a:lnTo>
                <a:lnTo>
                  <a:pt x="1317641" y="50210"/>
                </a:lnTo>
                <a:lnTo>
                  <a:pt x="1321118" y="45788"/>
                </a:lnTo>
                <a:lnTo>
                  <a:pt x="1324594" y="41535"/>
                </a:lnTo>
                <a:lnTo>
                  <a:pt x="1328071" y="37459"/>
                </a:lnTo>
                <a:lnTo>
                  <a:pt x="1331547" y="33567"/>
                </a:lnTo>
                <a:lnTo>
                  <a:pt x="1335024" y="29863"/>
                </a:lnTo>
                <a:lnTo>
                  <a:pt x="1338501" y="26354"/>
                </a:lnTo>
                <a:lnTo>
                  <a:pt x="1341977" y="23045"/>
                </a:lnTo>
                <a:lnTo>
                  <a:pt x="1345454" y="19941"/>
                </a:lnTo>
                <a:lnTo>
                  <a:pt x="1348931" y="17047"/>
                </a:lnTo>
                <a:lnTo>
                  <a:pt x="1352407" y="14367"/>
                </a:lnTo>
                <a:lnTo>
                  <a:pt x="1355884" y="11907"/>
                </a:lnTo>
                <a:lnTo>
                  <a:pt x="1359360" y="9669"/>
                </a:lnTo>
                <a:lnTo>
                  <a:pt x="1362837" y="7656"/>
                </a:lnTo>
                <a:lnTo>
                  <a:pt x="1366314" y="5874"/>
                </a:lnTo>
                <a:lnTo>
                  <a:pt x="1369790" y="4323"/>
                </a:lnTo>
                <a:lnTo>
                  <a:pt x="1373267" y="3006"/>
                </a:lnTo>
                <a:lnTo>
                  <a:pt x="1376744" y="1926"/>
                </a:lnTo>
                <a:lnTo>
                  <a:pt x="1380220" y="1085"/>
                </a:lnTo>
                <a:lnTo>
                  <a:pt x="1383697" y="482"/>
                </a:lnTo>
                <a:lnTo>
                  <a:pt x="1387173" y="121"/>
                </a:lnTo>
                <a:lnTo>
                  <a:pt x="1390650" y="0"/>
                </a:lnTo>
                <a:lnTo>
                  <a:pt x="1394127" y="121"/>
                </a:lnTo>
                <a:lnTo>
                  <a:pt x="1397603" y="482"/>
                </a:lnTo>
                <a:lnTo>
                  <a:pt x="1401080" y="1085"/>
                </a:lnTo>
                <a:lnTo>
                  <a:pt x="1404557" y="1926"/>
                </a:lnTo>
                <a:lnTo>
                  <a:pt x="1408033" y="3006"/>
                </a:lnTo>
                <a:lnTo>
                  <a:pt x="1411510" y="4323"/>
                </a:lnTo>
                <a:lnTo>
                  <a:pt x="1414986" y="5874"/>
                </a:lnTo>
                <a:lnTo>
                  <a:pt x="1418463" y="7656"/>
                </a:lnTo>
                <a:lnTo>
                  <a:pt x="1421940" y="9669"/>
                </a:lnTo>
                <a:lnTo>
                  <a:pt x="1425416" y="11907"/>
                </a:lnTo>
                <a:lnTo>
                  <a:pt x="1428893" y="14367"/>
                </a:lnTo>
                <a:lnTo>
                  <a:pt x="1432370" y="17047"/>
                </a:lnTo>
                <a:lnTo>
                  <a:pt x="1435846" y="19941"/>
                </a:lnTo>
                <a:lnTo>
                  <a:pt x="1439323" y="23045"/>
                </a:lnTo>
                <a:lnTo>
                  <a:pt x="1442799" y="26354"/>
                </a:lnTo>
                <a:lnTo>
                  <a:pt x="1446276" y="29863"/>
                </a:lnTo>
                <a:lnTo>
                  <a:pt x="1449753" y="33567"/>
                </a:lnTo>
                <a:lnTo>
                  <a:pt x="1453229" y="37459"/>
                </a:lnTo>
                <a:lnTo>
                  <a:pt x="1456706" y="41535"/>
                </a:lnTo>
                <a:lnTo>
                  <a:pt x="1460183" y="45788"/>
                </a:lnTo>
                <a:lnTo>
                  <a:pt x="1463659" y="50210"/>
                </a:lnTo>
                <a:lnTo>
                  <a:pt x="1467136" y="54797"/>
                </a:lnTo>
                <a:lnTo>
                  <a:pt x="1470612" y="59540"/>
                </a:lnTo>
                <a:lnTo>
                  <a:pt x="1474089" y="64432"/>
                </a:lnTo>
                <a:lnTo>
                  <a:pt x="1477566" y="69467"/>
                </a:lnTo>
                <a:lnTo>
                  <a:pt x="1481042" y="74636"/>
                </a:lnTo>
                <a:lnTo>
                  <a:pt x="1484519" y="79932"/>
                </a:lnTo>
                <a:lnTo>
                  <a:pt x="1487996" y="85347"/>
                </a:lnTo>
                <a:lnTo>
                  <a:pt x="1491472" y="90874"/>
                </a:lnTo>
                <a:lnTo>
                  <a:pt x="1494949" y="96504"/>
                </a:lnTo>
                <a:lnTo>
                  <a:pt x="1498425" y="102229"/>
                </a:lnTo>
                <a:lnTo>
                  <a:pt x="1501902" y="108041"/>
                </a:lnTo>
                <a:lnTo>
                  <a:pt x="1505379" y="113932"/>
                </a:lnTo>
                <a:lnTo>
                  <a:pt x="1508855" y="119892"/>
                </a:lnTo>
                <a:lnTo>
                  <a:pt x="1512332" y="125915"/>
                </a:lnTo>
                <a:lnTo>
                  <a:pt x="1515808" y="131991"/>
                </a:lnTo>
                <a:lnTo>
                  <a:pt x="1519285" y="138113"/>
                </a:lnTo>
                <a:lnTo>
                  <a:pt x="1522762" y="144271"/>
                </a:lnTo>
                <a:lnTo>
                  <a:pt x="1526238" y="150458"/>
                </a:lnTo>
                <a:lnTo>
                  <a:pt x="1529715" y="156664"/>
                </a:lnTo>
                <a:lnTo>
                  <a:pt x="1533192" y="162883"/>
                </a:lnTo>
                <a:lnTo>
                  <a:pt x="1536668" y="169106"/>
                </a:lnTo>
                <a:lnTo>
                  <a:pt x="1540145" y="175325"/>
                </a:lnTo>
                <a:lnTo>
                  <a:pt x="1543622" y="181531"/>
                </a:lnTo>
                <a:lnTo>
                  <a:pt x="1547098" y="187718"/>
                </a:lnTo>
                <a:lnTo>
                  <a:pt x="1550575" y="193877"/>
                </a:lnTo>
                <a:lnTo>
                  <a:pt x="1554051" y="200001"/>
                </a:lnTo>
                <a:lnTo>
                  <a:pt x="1557528" y="206082"/>
                </a:lnTo>
                <a:lnTo>
                  <a:pt x="1561005" y="212114"/>
                </a:lnTo>
                <a:lnTo>
                  <a:pt x="1564481" y="218090"/>
                </a:lnTo>
                <a:lnTo>
                  <a:pt x="1567958" y="224002"/>
                </a:lnTo>
                <a:lnTo>
                  <a:pt x="1571435" y="229844"/>
                </a:lnTo>
                <a:lnTo>
                  <a:pt x="1574911" y="235610"/>
                </a:lnTo>
                <a:lnTo>
                  <a:pt x="1578388" y="241294"/>
                </a:lnTo>
                <a:lnTo>
                  <a:pt x="1581864" y="246889"/>
                </a:lnTo>
                <a:lnTo>
                  <a:pt x="1585341" y="252391"/>
                </a:lnTo>
                <a:lnTo>
                  <a:pt x="1588818" y="257794"/>
                </a:lnTo>
                <a:lnTo>
                  <a:pt x="1592294" y="263092"/>
                </a:lnTo>
                <a:lnTo>
                  <a:pt x="1595771" y="268282"/>
                </a:lnTo>
                <a:lnTo>
                  <a:pt x="1599248" y="273358"/>
                </a:lnTo>
                <a:lnTo>
                  <a:pt x="1602724" y="278316"/>
                </a:lnTo>
                <a:lnTo>
                  <a:pt x="1606201" y="283152"/>
                </a:lnTo>
                <a:lnTo>
                  <a:pt x="1609677" y="287863"/>
                </a:lnTo>
                <a:lnTo>
                  <a:pt x="1613154" y="292445"/>
                </a:lnTo>
                <a:lnTo>
                  <a:pt x="1616631" y="296896"/>
                </a:lnTo>
                <a:lnTo>
                  <a:pt x="1620107" y="301211"/>
                </a:lnTo>
                <a:lnTo>
                  <a:pt x="1623584" y="305390"/>
                </a:lnTo>
                <a:lnTo>
                  <a:pt x="1627061" y="309429"/>
                </a:lnTo>
                <a:lnTo>
                  <a:pt x="1630537" y="313327"/>
                </a:lnTo>
                <a:lnTo>
                  <a:pt x="1634014" y="317082"/>
                </a:lnTo>
                <a:lnTo>
                  <a:pt x="1637490" y="320694"/>
                </a:lnTo>
                <a:lnTo>
                  <a:pt x="1640967" y="324160"/>
                </a:lnTo>
                <a:lnTo>
                  <a:pt x="1644444" y="327481"/>
                </a:lnTo>
                <a:lnTo>
                  <a:pt x="1647920" y="330656"/>
                </a:lnTo>
                <a:lnTo>
                  <a:pt x="1651397" y="333685"/>
                </a:lnTo>
                <a:lnTo>
                  <a:pt x="1654874" y="336568"/>
                </a:lnTo>
                <a:lnTo>
                  <a:pt x="1658350" y="339306"/>
                </a:lnTo>
                <a:lnTo>
                  <a:pt x="1661827" y="341899"/>
                </a:lnTo>
                <a:lnTo>
                  <a:pt x="1665303" y="344348"/>
                </a:lnTo>
                <a:lnTo>
                  <a:pt x="1668780" y="346655"/>
                </a:lnTo>
                <a:lnTo>
                  <a:pt x="1672257" y="348821"/>
                </a:lnTo>
                <a:lnTo>
                  <a:pt x="1675733" y="350847"/>
                </a:lnTo>
                <a:lnTo>
                  <a:pt x="1679210" y="352737"/>
                </a:lnTo>
                <a:lnTo>
                  <a:pt x="1682687" y="354491"/>
                </a:lnTo>
                <a:lnTo>
                  <a:pt x="1686163" y="356113"/>
                </a:lnTo>
                <a:lnTo>
                  <a:pt x="1689640" y="357605"/>
                </a:lnTo>
                <a:lnTo>
                  <a:pt x="1693116" y="358970"/>
                </a:lnTo>
                <a:lnTo>
                  <a:pt x="1696593" y="360210"/>
                </a:lnTo>
                <a:lnTo>
                  <a:pt x="1700070" y="361330"/>
                </a:lnTo>
                <a:lnTo>
                  <a:pt x="1703546" y="362332"/>
                </a:lnTo>
                <a:lnTo>
                  <a:pt x="1707023" y="363220"/>
                </a:lnTo>
                <a:lnTo>
                  <a:pt x="1710500" y="363998"/>
                </a:lnTo>
                <a:lnTo>
                  <a:pt x="1713976" y="364668"/>
                </a:lnTo>
                <a:lnTo>
                  <a:pt x="1717453" y="365236"/>
                </a:lnTo>
                <a:lnTo>
                  <a:pt x="1720929" y="365705"/>
                </a:lnTo>
                <a:lnTo>
                  <a:pt x="1724406" y="366079"/>
                </a:lnTo>
                <a:lnTo>
                  <a:pt x="1727883" y="366363"/>
                </a:lnTo>
                <a:lnTo>
                  <a:pt x="1731359" y="366560"/>
                </a:lnTo>
                <a:lnTo>
                  <a:pt x="1734836" y="366675"/>
                </a:lnTo>
                <a:lnTo>
                  <a:pt x="1738313" y="366713"/>
                </a:lnTo>
                <a:lnTo>
                  <a:pt x="1741789" y="366677"/>
                </a:lnTo>
                <a:lnTo>
                  <a:pt x="1745266" y="366572"/>
                </a:lnTo>
                <a:lnTo>
                  <a:pt x="1748742" y="366402"/>
                </a:lnTo>
                <a:lnTo>
                  <a:pt x="1752219" y="366173"/>
                </a:lnTo>
                <a:lnTo>
                  <a:pt x="1755696" y="365888"/>
                </a:lnTo>
                <a:lnTo>
                  <a:pt x="1759172" y="365551"/>
                </a:lnTo>
                <a:lnTo>
                  <a:pt x="1762649" y="365168"/>
                </a:lnTo>
                <a:lnTo>
                  <a:pt x="1766125" y="364742"/>
                </a:lnTo>
                <a:lnTo>
                  <a:pt x="1769602" y="364278"/>
                </a:lnTo>
                <a:lnTo>
                  <a:pt x="1773079" y="363780"/>
                </a:lnTo>
                <a:lnTo>
                  <a:pt x="1776555" y="363252"/>
                </a:lnTo>
                <a:lnTo>
                  <a:pt x="1780032" y="362698"/>
                </a:lnTo>
                <a:lnTo>
                  <a:pt x="1783509" y="362123"/>
                </a:lnTo>
                <a:lnTo>
                  <a:pt x="1786985" y="361529"/>
                </a:lnTo>
                <a:lnTo>
                  <a:pt x="1790462" y="360922"/>
                </a:lnTo>
                <a:lnTo>
                  <a:pt x="1793939" y="360304"/>
                </a:lnTo>
                <a:lnTo>
                  <a:pt x="1797415" y="359679"/>
                </a:lnTo>
                <a:lnTo>
                  <a:pt x="1800892" y="359051"/>
                </a:lnTo>
                <a:lnTo>
                  <a:pt x="1804368" y="358423"/>
                </a:lnTo>
                <a:lnTo>
                  <a:pt x="1807845" y="357798"/>
                </a:lnTo>
                <a:lnTo>
                  <a:pt x="1811322" y="357179"/>
                </a:lnTo>
                <a:lnTo>
                  <a:pt x="1814798" y="356570"/>
                </a:lnTo>
                <a:lnTo>
                  <a:pt x="1818275" y="355972"/>
                </a:lnTo>
                <a:lnTo>
                  <a:pt x="1821752" y="355389"/>
                </a:lnTo>
                <a:lnTo>
                  <a:pt x="1825228" y="354823"/>
                </a:lnTo>
                <a:lnTo>
                  <a:pt x="1828705" y="354276"/>
                </a:lnTo>
                <a:lnTo>
                  <a:pt x="1832181" y="353751"/>
                </a:lnTo>
                <a:lnTo>
                  <a:pt x="1835658" y="353249"/>
                </a:lnTo>
                <a:lnTo>
                  <a:pt x="1839135" y="352772"/>
                </a:lnTo>
                <a:lnTo>
                  <a:pt x="1842611" y="352323"/>
                </a:lnTo>
                <a:lnTo>
                  <a:pt x="1846088" y="351902"/>
                </a:lnTo>
                <a:lnTo>
                  <a:pt x="1849565" y="351511"/>
                </a:lnTo>
                <a:lnTo>
                  <a:pt x="1853041" y="351150"/>
                </a:lnTo>
                <a:lnTo>
                  <a:pt x="1856518" y="350822"/>
                </a:lnTo>
                <a:lnTo>
                  <a:pt x="1859994" y="350527"/>
                </a:lnTo>
                <a:lnTo>
                  <a:pt x="1863471" y="350266"/>
                </a:lnTo>
                <a:lnTo>
                  <a:pt x="1866948" y="350039"/>
                </a:lnTo>
                <a:lnTo>
                  <a:pt x="1870424" y="349846"/>
                </a:lnTo>
                <a:lnTo>
                  <a:pt x="1873901" y="349688"/>
                </a:lnTo>
                <a:lnTo>
                  <a:pt x="1877378" y="349566"/>
                </a:lnTo>
                <a:lnTo>
                  <a:pt x="1880854" y="349478"/>
                </a:lnTo>
                <a:lnTo>
                  <a:pt x="1884331" y="349425"/>
                </a:lnTo>
                <a:lnTo>
                  <a:pt x="1887807" y="349407"/>
                </a:lnTo>
                <a:lnTo>
                  <a:pt x="1891284" y="349423"/>
                </a:lnTo>
                <a:lnTo>
                  <a:pt x="1894761" y="349473"/>
                </a:lnTo>
                <a:lnTo>
                  <a:pt x="1898237" y="349555"/>
                </a:lnTo>
                <a:lnTo>
                  <a:pt x="1901714" y="349670"/>
                </a:lnTo>
                <a:lnTo>
                  <a:pt x="1905190" y="349816"/>
                </a:lnTo>
                <a:lnTo>
                  <a:pt x="1908667" y="349993"/>
                </a:lnTo>
                <a:lnTo>
                  <a:pt x="1912144" y="350199"/>
                </a:lnTo>
                <a:lnTo>
                  <a:pt x="1915620" y="350433"/>
                </a:lnTo>
                <a:lnTo>
                  <a:pt x="1919097" y="350694"/>
                </a:lnTo>
                <a:lnTo>
                  <a:pt x="1922574" y="350981"/>
                </a:lnTo>
                <a:lnTo>
                  <a:pt x="1926050" y="351292"/>
                </a:lnTo>
                <a:lnTo>
                  <a:pt x="1929527" y="351626"/>
                </a:lnTo>
                <a:lnTo>
                  <a:pt x="1933004" y="351981"/>
                </a:lnTo>
                <a:lnTo>
                  <a:pt x="1936480" y="352356"/>
                </a:lnTo>
                <a:lnTo>
                  <a:pt x="1939957" y="352749"/>
                </a:lnTo>
                <a:lnTo>
                  <a:pt x="1943433" y="353159"/>
                </a:lnTo>
                <a:lnTo>
                  <a:pt x="1946910" y="353584"/>
                </a:lnTo>
                <a:lnTo>
                  <a:pt x="1950387" y="354023"/>
                </a:lnTo>
                <a:lnTo>
                  <a:pt x="1953863" y="354473"/>
                </a:lnTo>
                <a:lnTo>
                  <a:pt x="1957340" y="354934"/>
                </a:lnTo>
                <a:lnTo>
                  <a:pt x="1960817" y="355402"/>
                </a:lnTo>
                <a:lnTo>
                  <a:pt x="1964293" y="355878"/>
                </a:lnTo>
                <a:lnTo>
                  <a:pt x="1967770" y="356358"/>
                </a:lnTo>
                <a:lnTo>
                  <a:pt x="1971246" y="356842"/>
                </a:lnTo>
                <a:lnTo>
                  <a:pt x="1974723" y="357328"/>
                </a:lnTo>
                <a:lnTo>
                  <a:pt x="1978200" y="357813"/>
                </a:lnTo>
                <a:lnTo>
                  <a:pt x="1981676" y="358298"/>
                </a:lnTo>
                <a:lnTo>
                  <a:pt x="1985153" y="358779"/>
                </a:lnTo>
                <a:lnTo>
                  <a:pt x="1988629" y="359256"/>
                </a:lnTo>
                <a:lnTo>
                  <a:pt x="1992106" y="359727"/>
                </a:lnTo>
                <a:lnTo>
                  <a:pt x="1995583" y="360191"/>
                </a:lnTo>
                <a:lnTo>
                  <a:pt x="1999059" y="360646"/>
                </a:lnTo>
                <a:lnTo>
                  <a:pt x="2002536" y="361092"/>
                </a:lnTo>
                <a:lnTo>
                  <a:pt x="2006013" y="361526"/>
                </a:lnTo>
                <a:lnTo>
                  <a:pt x="2009489" y="361948"/>
                </a:lnTo>
                <a:lnTo>
                  <a:pt x="2012966" y="362356"/>
                </a:lnTo>
                <a:lnTo>
                  <a:pt x="2016443" y="362750"/>
                </a:lnTo>
                <a:lnTo>
                  <a:pt x="2019919" y="363129"/>
                </a:lnTo>
                <a:lnTo>
                  <a:pt x="2023396" y="363492"/>
                </a:lnTo>
                <a:lnTo>
                  <a:pt x="2026872" y="363838"/>
                </a:lnTo>
                <a:lnTo>
                  <a:pt x="2030349" y="364165"/>
                </a:lnTo>
                <a:lnTo>
                  <a:pt x="2033826" y="364475"/>
                </a:lnTo>
                <a:lnTo>
                  <a:pt x="2037302" y="364765"/>
                </a:lnTo>
                <a:lnTo>
                  <a:pt x="2040779" y="365037"/>
                </a:lnTo>
                <a:lnTo>
                  <a:pt x="2044256" y="365288"/>
                </a:lnTo>
                <a:lnTo>
                  <a:pt x="2047732" y="365519"/>
                </a:lnTo>
                <a:lnTo>
                  <a:pt x="2051209" y="365730"/>
                </a:lnTo>
                <a:lnTo>
                  <a:pt x="2054685" y="365920"/>
                </a:lnTo>
                <a:lnTo>
                  <a:pt x="2058162" y="366089"/>
                </a:lnTo>
                <a:lnTo>
                  <a:pt x="2061639" y="366238"/>
                </a:lnTo>
                <a:lnTo>
                  <a:pt x="2065115" y="366366"/>
                </a:lnTo>
                <a:lnTo>
                  <a:pt x="2068592" y="366473"/>
                </a:lnTo>
                <a:lnTo>
                  <a:pt x="2072068" y="366561"/>
                </a:lnTo>
                <a:lnTo>
                  <a:pt x="2075545" y="366628"/>
                </a:lnTo>
                <a:lnTo>
                  <a:pt x="2079022" y="366675"/>
                </a:lnTo>
                <a:lnTo>
                  <a:pt x="2082498" y="366703"/>
                </a:lnTo>
                <a:lnTo>
                  <a:pt x="2085975" y="366713"/>
                </a:lnTo>
                <a:lnTo>
                  <a:pt x="2089452" y="366703"/>
                </a:lnTo>
                <a:lnTo>
                  <a:pt x="2092928" y="366677"/>
                </a:lnTo>
                <a:lnTo>
                  <a:pt x="2096405" y="366633"/>
                </a:lnTo>
                <a:lnTo>
                  <a:pt x="2099882" y="366572"/>
                </a:lnTo>
                <a:lnTo>
                  <a:pt x="2103358" y="366496"/>
                </a:lnTo>
                <a:lnTo>
                  <a:pt x="2106835" y="366405"/>
                </a:lnTo>
                <a:lnTo>
                  <a:pt x="2110311" y="366300"/>
                </a:lnTo>
                <a:lnTo>
                  <a:pt x="2113788" y="366181"/>
                </a:lnTo>
                <a:lnTo>
                  <a:pt x="2117265" y="366050"/>
                </a:lnTo>
                <a:lnTo>
                  <a:pt x="2120741" y="365908"/>
                </a:lnTo>
                <a:lnTo>
                  <a:pt x="2124218" y="365755"/>
                </a:lnTo>
                <a:lnTo>
                  <a:pt x="2127695" y="365592"/>
                </a:lnTo>
                <a:lnTo>
                  <a:pt x="2131171" y="365421"/>
                </a:lnTo>
                <a:lnTo>
                  <a:pt x="2134648" y="365242"/>
                </a:lnTo>
                <a:lnTo>
                  <a:pt x="2138124" y="365056"/>
                </a:lnTo>
                <a:lnTo>
                  <a:pt x="2141601" y="364864"/>
                </a:lnTo>
                <a:lnTo>
                  <a:pt x="2145078" y="364668"/>
                </a:lnTo>
                <a:lnTo>
                  <a:pt x="2148554" y="364468"/>
                </a:lnTo>
                <a:lnTo>
                  <a:pt x="2152031" y="364265"/>
                </a:lnTo>
                <a:lnTo>
                  <a:pt x="2155508" y="364060"/>
                </a:lnTo>
                <a:lnTo>
                  <a:pt x="2158984" y="363855"/>
                </a:lnTo>
                <a:lnTo>
                  <a:pt x="2162461" y="363649"/>
                </a:lnTo>
                <a:lnTo>
                  <a:pt x="2165937" y="363445"/>
                </a:lnTo>
                <a:lnTo>
                  <a:pt x="2169414" y="363242"/>
                </a:lnTo>
                <a:lnTo>
                  <a:pt x="2172891" y="363043"/>
                </a:lnTo>
                <a:lnTo>
                  <a:pt x="2176367" y="362847"/>
                </a:lnTo>
                <a:lnTo>
                  <a:pt x="2179844" y="362655"/>
                </a:lnTo>
                <a:lnTo>
                  <a:pt x="2183321" y="362469"/>
                </a:lnTo>
                <a:lnTo>
                  <a:pt x="2186797" y="362289"/>
                </a:lnTo>
                <a:lnTo>
                  <a:pt x="2190274" y="362115"/>
                </a:lnTo>
                <a:lnTo>
                  <a:pt x="2193750" y="361949"/>
                </a:lnTo>
                <a:lnTo>
                  <a:pt x="2197227" y="361791"/>
                </a:lnTo>
                <a:lnTo>
                  <a:pt x="2200704" y="361642"/>
                </a:lnTo>
                <a:lnTo>
                  <a:pt x="2204180" y="361502"/>
                </a:lnTo>
                <a:lnTo>
                  <a:pt x="2207657" y="361371"/>
                </a:lnTo>
                <a:lnTo>
                  <a:pt x="2211134" y="361251"/>
                </a:lnTo>
                <a:lnTo>
                  <a:pt x="2214610" y="361141"/>
                </a:lnTo>
                <a:lnTo>
                  <a:pt x="2218087" y="361042"/>
                </a:lnTo>
                <a:lnTo>
                  <a:pt x="2221563" y="360954"/>
                </a:lnTo>
                <a:lnTo>
                  <a:pt x="2225040" y="360878"/>
                </a:lnTo>
                <a:lnTo>
                  <a:pt x="2228517" y="360813"/>
                </a:lnTo>
                <a:lnTo>
                  <a:pt x="2231993" y="360760"/>
                </a:lnTo>
                <a:lnTo>
                  <a:pt x="2235470" y="360720"/>
                </a:lnTo>
                <a:lnTo>
                  <a:pt x="2238947" y="360691"/>
                </a:lnTo>
                <a:lnTo>
                  <a:pt x="2242423" y="360674"/>
                </a:lnTo>
                <a:lnTo>
                  <a:pt x="2245900" y="360669"/>
                </a:lnTo>
                <a:lnTo>
                  <a:pt x="2249376" y="360676"/>
                </a:lnTo>
                <a:lnTo>
                  <a:pt x="2252853" y="360695"/>
                </a:lnTo>
                <a:lnTo>
                  <a:pt x="2256330" y="360726"/>
                </a:lnTo>
                <a:lnTo>
                  <a:pt x="2259806" y="360768"/>
                </a:lnTo>
                <a:lnTo>
                  <a:pt x="2263283" y="360821"/>
                </a:lnTo>
                <a:lnTo>
                  <a:pt x="2266760" y="360885"/>
                </a:lnTo>
                <a:lnTo>
                  <a:pt x="2270236" y="360959"/>
                </a:lnTo>
                <a:lnTo>
                  <a:pt x="2273713" y="361044"/>
                </a:lnTo>
                <a:lnTo>
                  <a:pt x="2277189" y="361138"/>
                </a:lnTo>
                <a:lnTo>
                  <a:pt x="2280666" y="361242"/>
                </a:lnTo>
                <a:lnTo>
                  <a:pt x="2284143" y="361355"/>
                </a:lnTo>
                <a:lnTo>
                  <a:pt x="2287619" y="361476"/>
                </a:lnTo>
                <a:lnTo>
                  <a:pt x="2291096" y="361605"/>
                </a:lnTo>
                <a:lnTo>
                  <a:pt x="2294573" y="361741"/>
                </a:lnTo>
                <a:lnTo>
                  <a:pt x="2298049" y="361884"/>
                </a:lnTo>
                <a:lnTo>
                  <a:pt x="2301526" y="362033"/>
                </a:lnTo>
                <a:lnTo>
                  <a:pt x="2305002" y="362188"/>
                </a:lnTo>
                <a:lnTo>
                  <a:pt x="2308479" y="362348"/>
                </a:lnTo>
                <a:lnTo>
                  <a:pt x="2311956" y="362512"/>
                </a:lnTo>
                <a:lnTo>
                  <a:pt x="2315432" y="362680"/>
                </a:lnTo>
                <a:lnTo>
                  <a:pt x="2318909" y="362851"/>
                </a:lnTo>
                <a:lnTo>
                  <a:pt x="2322386" y="363025"/>
                </a:lnTo>
                <a:lnTo>
                  <a:pt x="2325862" y="363200"/>
                </a:lnTo>
                <a:lnTo>
                  <a:pt x="2329339" y="363377"/>
                </a:lnTo>
                <a:lnTo>
                  <a:pt x="2332815" y="363554"/>
                </a:lnTo>
                <a:lnTo>
                  <a:pt x="2336292" y="363731"/>
                </a:lnTo>
                <a:lnTo>
                  <a:pt x="2339769" y="363907"/>
                </a:lnTo>
                <a:lnTo>
                  <a:pt x="2343245" y="364083"/>
                </a:lnTo>
                <a:lnTo>
                  <a:pt x="2346722" y="364256"/>
                </a:lnTo>
                <a:lnTo>
                  <a:pt x="2350199" y="364427"/>
                </a:lnTo>
                <a:lnTo>
                  <a:pt x="2353675" y="364595"/>
                </a:lnTo>
                <a:lnTo>
                  <a:pt x="2357152" y="364759"/>
                </a:lnTo>
                <a:lnTo>
                  <a:pt x="2360628" y="364919"/>
                </a:lnTo>
                <a:lnTo>
                  <a:pt x="2364105" y="365075"/>
                </a:lnTo>
                <a:lnTo>
                  <a:pt x="2367582" y="365226"/>
                </a:lnTo>
                <a:lnTo>
                  <a:pt x="2371058" y="365371"/>
                </a:lnTo>
                <a:lnTo>
                  <a:pt x="2374535" y="365510"/>
                </a:lnTo>
                <a:lnTo>
                  <a:pt x="2378011" y="365643"/>
                </a:lnTo>
                <a:lnTo>
                  <a:pt x="2381488" y="365770"/>
                </a:lnTo>
                <a:lnTo>
                  <a:pt x="2384965" y="365889"/>
                </a:lnTo>
                <a:lnTo>
                  <a:pt x="2388441" y="366001"/>
                </a:lnTo>
                <a:lnTo>
                  <a:pt x="2391918" y="366105"/>
                </a:lnTo>
                <a:lnTo>
                  <a:pt x="2395395" y="366202"/>
                </a:lnTo>
                <a:lnTo>
                  <a:pt x="2398871" y="366291"/>
                </a:lnTo>
                <a:lnTo>
                  <a:pt x="2402348" y="366371"/>
                </a:lnTo>
                <a:lnTo>
                  <a:pt x="2405825" y="366443"/>
                </a:lnTo>
                <a:lnTo>
                  <a:pt x="2409301" y="366507"/>
                </a:lnTo>
                <a:lnTo>
                  <a:pt x="2412778" y="366562"/>
                </a:lnTo>
                <a:lnTo>
                  <a:pt x="2416254" y="366608"/>
                </a:lnTo>
                <a:lnTo>
                  <a:pt x="2419731" y="366646"/>
                </a:lnTo>
                <a:lnTo>
                  <a:pt x="2423208" y="366675"/>
                </a:lnTo>
                <a:lnTo>
                  <a:pt x="2426684" y="366696"/>
                </a:lnTo>
                <a:lnTo>
                  <a:pt x="2430161" y="366708"/>
                </a:lnTo>
                <a:lnTo>
                  <a:pt x="2433638" y="366713"/>
                </a:lnTo>
                <a:lnTo>
                  <a:pt x="2437114" y="366708"/>
                </a:lnTo>
                <a:lnTo>
                  <a:pt x="2440591" y="366696"/>
                </a:lnTo>
                <a:lnTo>
                  <a:pt x="2444067" y="366677"/>
                </a:lnTo>
                <a:lnTo>
                  <a:pt x="2447544" y="366649"/>
                </a:lnTo>
                <a:lnTo>
                  <a:pt x="2451021" y="366615"/>
                </a:lnTo>
                <a:lnTo>
                  <a:pt x="2454497" y="366573"/>
                </a:lnTo>
                <a:lnTo>
                  <a:pt x="2457974" y="366525"/>
                </a:lnTo>
                <a:lnTo>
                  <a:pt x="2461451" y="366470"/>
                </a:lnTo>
                <a:lnTo>
                  <a:pt x="2464927" y="366410"/>
                </a:lnTo>
                <a:lnTo>
                  <a:pt x="2468404" y="366343"/>
                </a:lnTo>
                <a:lnTo>
                  <a:pt x="2471880" y="366272"/>
                </a:lnTo>
                <a:lnTo>
                  <a:pt x="2475357" y="366195"/>
                </a:lnTo>
                <a:lnTo>
                  <a:pt x="2478834" y="366114"/>
                </a:lnTo>
                <a:lnTo>
                  <a:pt x="2482310" y="366029"/>
                </a:lnTo>
                <a:lnTo>
                  <a:pt x="2485787" y="365941"/>
                </a:lnTo>
                <a:lnTo>
                  <a:pt x="2489263" y="365849"/>
                </a:lnTo>
                <a:lnTo>
                  <a:pt x="2492740" y="365754"/>
                </a:lnTo>
                <a:lnTo>
                  <a:pt x="2496217" y="365658"/>
                </a:lnTo>
                <a:lnTo>
                  <a:pt x="2499693" y="365559"/>
                </a:lnTo>
                <a:lnTo>
                  <a:pt x="2503170" y="365459"/>
                </a:lnTo>
                <a:lnTo>
                  <a:pt x="2506647" y="365358"/>
                </a:lnTo>
                <a:lnTo>
                  <a:pt x="2510123" y="365256"/>
                </a:lnTo>
                <a:lnTo>
                  <a:pt x="2513600" y="365155"/>
                </a:lnTo>
                <a:lnTo>
                  <a:pt x="2517077" y="365054"/>
                </a:lnTo>
                <a:lnTo>
                  <a:pt x="2520553" y="364954"/>
                </a:lnTo>
                <a:lnTo>
                  <a:pt x="2524030" y="364855"/>
                </a:lnTo>
                <a:lnTo>
                  <a:pt x="2527506" y="364757"/>
                </a:lnTo>
                <a:lnTo>
                  <a:pt x="2530983" y="364662"/>
                </a:lnTo>
                <a:lnTo>
                  <a:pt x="2534460" y="364569"/>
                </a:lnTo>
                <a:lnTo>
                  <a:pt x="2537936" y="364479"/>
                </a:lnTo>
                <a:lnTo>
                  <a:pt x="2541413" y="364393"/>
                </a:lnTo>
                <a:lnTo>
                  <a:pt x="2544890" y="364309"/>
                </a:lnTo>
                <a:lnTo>
                  <a:pt x="2548366" y="364230"/>
                </a:lnTo>
                <a:lnTo>
                  <a:pt x="2551843" y="364155"/>
                </a:lnTo>
                <a:lnTo>
                  <a:pt x="2555319" y="364084"/>
                </a:lnTo>
                <a:lnTo>
                  <a:pt x="2558796" y="364018"/>
                </a:lnTo>
                <a:lnTo>
                  <a:pt x="2562273" y="363957"/>
                </a:lnTo>
                <a:lnTo>
                  <a:pt x="2565749" y="363901"/>
                </a:lnTo>
                <a:lnTo>
                  <a:pt x="2569226" y="363850"/>
                </a:lnTo>
                <a:lnTo>
                  <a:pt x="2572703" y="363805"/>
                </a:lnTo>
                <a:lnTo>
                  <a:pt x="2576179" y="363766"/>
                </a:lnTo>
                <a:lnTo>
                  <a:pt x="2579656" y="363732"/>
                </a:lnTo>
                <a:lnTo>
                  <a:pt x="2583132" y="363705"/>
                </a:lnTo>
                <a:lnTo>
                  <a:pt x="2586609" y="363683"/>
                </a:lnTo>
                <a:lnTo>
                  <a:pt x="2590086" y="363667"/>
                </a:lnTo>
                <a:lnTo>
                  <a:pt x="2593562" y="363658"/>
                </a:lnTo>
                <a:lnTo>
                  <a:pt x="2597039" y="363654"/>
                </a:lnTo>
                <a:lnTo>
                  <a:pt x="2600516" y="363657"/>
                </a:lnTo>
                <a:lnTo>
                  <a:pt x="2603992" y="363665"/>
                </a:lnTo>
                <a:lnTo>
                  <a:pt x="2607469" y="363679"/>
                </a:lnTo>
                <a:lnTo>
                  <a:pt x="2610945" y="363700"/>
                </a:lnTo>
                <a:lnTo>
                  <a:pt x="2614422" y="363726"/>
                </a:lnTo>
                <a:lnTo>
                  <a:pt x="2617899" y="363757"/>
                </a:lnTo>
                <a:lnTo>
                  <a:pt x="2621375" y="363794"/>
                </a:lnTo>
                <a:lnTo>
                  <a:pt x="2624852" y="363836"/>
                </a:lnTo>
                <a:lnTo>
                  <a:pt x="2628329" y="363884"/>
                </a:lnTo>
                <a:lnTo>
                  <a:pt x="2631805" y="363936"/>
                </a:lnTo>
                <a:lnTo>
                  <a:pt x="2635282" y="363993"/>
                </a:lnTo>
                <a:lnTo>
                  <a:pt x="2638758" y="364054"/>
                </a:lnTo>
                <a:lnTo>
                  <a:pt x="2642235" y="364119"/>
                </a:lnTo>
                <a:lnTo>
                  <a:pt x="2645712" y="364189"/>
                </a:lnTo>
                <a:lnTo>
                  <a:pt x="2649188" y="364261"/>
                </a:lnTo>
                <a:lnTo>
                  <a:pt x="2652665" y="364337"/>
                </a:lnTo>
                <a:lnTo>
                  <a:pt x="2656142" y="364417"/>
                </a:lnTo>
                <a:lnTo>
                  <a:pt x="2659618" y="364498"/>
                </a:lnTo>
                <a:lnTo>
                  <a:pt x="2663095" y="364583"/>
                </a:lnTo>
                <a:lnTo>
                  <a:pt x="2666571" y="364669"/>
                </a:lnTo>
                <a:lnTo>
                  <a:pt x="2670048" y="364757"/>
                </a:lnTo>
                <a:lnTo>
                  <a:pt x="2673525" y="364846"/>
                </a:lnTo>
                <a:lnTo>
                  <a:pt x="2677001" y="364936"/>
                </a:lnTo>
                <a:lnTo>
                  <a:pt x="2680478" y="365027"/>
                </a:lnTo>
                <a:lnTo>
                  <a:pt x="2683954" y="365118"/>
                </a:lnTo>
                <a:lnTo>
                  <a:pt x="2687431" y="365210"/>
                </a:lnTo>
                <a:lnTo>
                  <a:pt x="2690908" y="365301"/>
                </a:lnTo>
                <a:lnTo>
                  <a:pt x="2694384" y="365391"/>
                </a:lnTo>
                <a:lnTo>
                  <a:pt x="2697861" y="365481"/>
                </a:lnTo>
                <a:lnTo>
                  <a:pt x="2701338" y="365569"/>
                </a:lnTo>
                <a:lnTo>
                  <a:pt x="2704814" y="365656"/>
                </a:lnTo>
                <a:lnTo>
                  <a:pt x="2708291" y="365741"/>
                </a:lnTo>
                <a:lnTo>
                  <a:pt x="2711768" y="365824"/>
                </a:lnTo>
                <a:lnTo>
                  <a:pt x="2715244" y="365904"/>
                </a:lnTo>
                <a:lnTo>
                  <a:pt x="2718721" y="365981"/>
                </a:lnTo>
                <a:lnTo>
                  <a:pt x="2722197" y="366056"/>
                </a:lnTo>
                <a:lnTo>
                  <a:pt x="2725674" y="366128"/>
                </a:lnTo>
                <a:lnTo>
                  <a:pt x="2729151" y="366196"/>
                </a:lnTo>
                <a:lnTo>
                  <a:pt x="2732627" y="366260"/>
                </a:lnTo>
                <a:lnTo>
                  <a:pt x="2736104" y="366321"/>
                </a:lnTo>
                <a:lnTo>
                  <a:pt x="2739581" y="366378"/>
                </a:lnTo>
                <a:lnTo>
                  <a:pt x="2743057" y="366431"/>
                </a:lnTo>
                <a:lnTo>
                  <a:pt x="2746534" y="366479"/>
                </a:lnTo>
                <a:lnTo>
                  <a:pt x="2750010" y="366523"/>
                </a:lnTo>
                <a:lnTo>
                  <a:pt x="2753487" y="366563"/>
                </a:lnTo>
                <a:lnTo>
                  <a:pt x="2756964" y="366598"/>
                </a:lnTo>
                <a:lnTo>
                  <a:pt x="2760440" y="366628"/>
                </a:lnTo>
                <a:lnTo>
                  <a:pt x="2763917" y="366654"/>
                </a:lnTo>
                <a:lnTo>
                  <a:pt x="2767394" y="366675"/>
                </a:lnTo>
                <a:lnTo>
                  <a:pt x="2770870" y="366692"/>
                </a:lnTo>
                <a:lnTo>
                  <a:pt x="2774347" y="366703"/>
                </a:lnTo>
                <a:lnTo>
                  <a:pt x="2777823" y="366710"/>
                </a:lnTo>
                <a:lnTo>
                  <a:pt x="2781300" y="366713"/>
                </a:lnTo>
              </a:path>
            </a:pathLst>
          </a:custGeom>
          <a:noFill xmlns:a="http://schemas.openxmlformats.org/drawingml/2006/main"/>
          <a:ln xmlns:a="http://schemas.openxmlformats.org/drawingml/2006/main" w="15240">
            <a:solidFill>
              <a:srgbClr val="202020"/>
            </a:solidFill>
          </a:ln>
        </p:spPr>
      </p:sp>
      <p:sp>
        <p:nvSpPr>
          <p:cNvPr id="10" name="!!qam-qam-start-r1-axis-line">
            <a:extLst xmlns:a="http://schemas.openxmlformats.org/drawingml/2006/main">
              <a:ext uri="{FF2B5EF4-FFF2-40B4-BE49-F238E27FC236}">
                <a16:creationId xmlns:a16="http://schemas.microsoft.com/office/drawing/2014/main" id="{88FA4E77-854B-4ADC-AC82-ADF692673B5E}"/>
              </a:ext>
            </a:extLst>
          </p:cNvPr>
          <p:cNvSpPr>
            <a:spLocks xmlns:a="http://schemas.openxmlformats.org/drawingml/2006/main" noGrp="1"/>
          </p:cNvSpPr>
          <p:nvPr/>
        </p:nvSpPr>
        <p:spPr>
          <a:xfrm xmlns:a="http://schemas.openxmlformats.org/drawingml/2006/main">
            <a:off x="571500" y="40481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qam-qam-start-r1-axis-head">
            <a:extLst xmlns:a="http://schemas.openxmlformats.org/drawingml/2006/main">
              <a:ext uri="{FF2B5EF4-FFF2-40B4-BE49-F238E27FC236}">
                <a16:creationId xmlns:a16="http://schemas.microsoft.com/office/drawing/2014/main" id="{E9573C7F-F1F4-47E1-9A14-C649F60EEE07}"/>
              </a:ext>
            </a:extLst>
          </p:cNvPr>
          <p:cNvSpPr>
            <a:spLocks xmlns:a="http://schemas.openxmlformats.org/drawingml/2006/main" noGrp="1"/>
          </p:cNvSpPr>
          <p:nvPr/>
        </p:nvSpPr>
        <p:spPr>
          <a:xfrm xmlns:a="http://schemas.openxmlformats.org/drawingml/2006/main" rot="5400000">
            <a:off x="3238500" y="40005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qam-qam-start-r1-wave">
            <a:extLst xmlns:a="http://schemas.openxmlformats.org/drawingml/2006/main">
              <a:ext uri="{FF2B5EF4-FFF2-40B4-BE49-F238E27FC236}">
                <a16:creationId xmlns:a16="http://schemas.microsoft.com/office/drawing/2014/main" id="{A5488986-1B1D-491E-9132-504F8592CA05}"/>
              </a:ext>
            </a:extLst>
          </p:cNvPr>
          <p:cNvSpPr>
            <a:spLocks xmlns:a="http://schemas.openxmlformats.org/drawingml/2006/main" noGrp="1"/>
          </p:cNvSpPr>
          <p:nvPr/>
        </p:nvSpPr>
        <p:spPr>
          <a:xfrm xmlns:a="http://schemas.openxmlformats.org/drawingml/2006/main">
            <a:off x="571500" y="3842766"/>
            <a:ext cx="2781300" cy="205359"/>
          </a:xfrm>
          <a:custGeom xmlns:a="http://schemas.openxmlformats.org/drawingml/2006/main">
            <a:pathLst>
              <a:path w="2781300" h="205359">
                <a:moveTo>
                  <a:pt x="0" y="204442"/>
                </a:moveTo>
                <a:lnTo>
                  <a:pt x="3477" y="204381"/>
                </a:lnTo>
                <a:lnTo>
                  <a:pt x="6953" y="204319"/>
                </a:lnTo>
                <a:lnTo>
                  <a:pt x="10430" y="204256"/>
                </a:lnTo>
                <a:lnTo>
                  <a:pt x="13907" y="204192"/>
                </a:lnTo>
                <a:lnTo>
                  <a:pt x="17383" y="204126"/>
                </a:lnTo>
                <a:lnTo>
                  <a:pt x="20860" y="204060"/>
                </a:lnTo>
                <a:lnTo>
                  <a:pt x="24336" y="203993"/>
                </a:lnTo>
                <a:lnTo>
                  <a:pt x="27813" y="203925"/>
                </a:lnTo>
                <a:lnTo>
                  <a:pt x="31290" y="203857"/>
                </a:lnTo>
                <a:lnTo>
                  <a:pt x="34766" y="203788"/>
                </a:lnTo>
                <a:lnTo>
                  <a:pt x="38243" y="203719"/>
                </a:lnTo>
                <a:lnTo>
                  <a:pt x="41719" y="203650"/>
                </a:lnTo>
                <a:lnTo>
                  <a:pt x="45196" y="203580"/>
                </a:lnTo>
                <a:lnTo>
                  <a:pt x="48673" y="203511"/>
                </a:lnTo>
                <a:lnTo>
                  <a:pt x="52149" y="203441"/>
                </a:lnTo>
                <a:lnTo>
                  <a:pt x="55626" y="203372"/>
                </a:lnTo>
                <a:lnTo>
                  <a:pt x="59103" y="203304"/>
                </a:lnTo>
                <a:lnTo>
                  <a:pt x="62579" y="203235"/>
                </a:lnTo>
                <a:lnTo>
                  <a:pt x="66056" y="203168"/>
                </a:lnTo>
                <a:lnTo>
                  <a:pt x="69532" y="203101"/>
                </a:lnTo>
                <a:lnTo>
                  <a:pt x="73009" y="203035"/>
                </a:lnTo>
                <a:lnTo>
                  <a:pt x="76486" y="202970"/>
                </a:lnTo>
                <a:lnTo>
                  <a:pt x="79962" y="202906"/>
                </a:lnTo>
                <a:lnTo>
                  <a:pt x="83439" y="202843"/>
                </a:lnTo>
                <a:lnTo>
                  <a:pt x="86916" y="202782"/>
                </a:lnTo>
                <a:lnTo>
                  <a:pt x="90392" y="202722"/>
                </a:lnTo>
                <a:lnTo>
                  <a:pt x="93869" y="202663"/>
                </a:lnTo>
                <a:lnTo>
                  <a:pt x="97345" y="202607"/>
                </a:lnTo>
                <a:lnTo>
                  <a:pt x="100822" y="202552"/>
                </a:lnTo>
                <a:lnTo>
                  <a:pt x="104299" y="202499"/>
                </a:lnTo>
                <a:lnTo>
                  <a:pt x="107775" y="202448"/>
                </a:lnTo>
                <a:lnTo>
                  <a:pt x="111252" y="202399"/>
                </a:lnTo>
                <a:lnTo>
                  <a:pt x="114729" y="202352"/>
                </a:lnTo>
                <a:lnTo>
                  <a:pt x="118205" y="202308"/>
                </a:lnTo>
                <a:lnTo>
                  <a:pt x="121682" y="202266"/>
                </a:lnTo>
                <a:lnTo>
                  <a:pt x="125159" y="202226"/>
                </a:lnTo>
                <a:lnTo>
                  <a:pt x="128635" y="202190"/>
                </a:lnTo>
                <a:lnTo>
                  <a:pt x="132112" y="202155"/>
                </a:lnTo>
                <a:lnTo>
                  <a:pt x="135588" y="202124"/>
                </a:lnTo>
                <a:lnTo>
                  <a:pt x="139065" y="202095"/>
                </a:lnTo>
                <a:lnTo>
                  <a:pt x="142542" y="202070"/>
                </a:lnTo>
                <a:lnTo>
                  <a:pt x="146018" y="202047"/>
                </a:lnTo>
                <a:lnTo>
                  <a:pt x="149495" y="202027"/>
                </a:lnTo>
                <a:lnTo>
                  <a:pt x="152972" y="202011"/>
                </a:lnTo>
                <a:lnTo>
                  <a:pt x="156448" y="201997"/>
                </a:lnTo>
                <a:lnTo>
                  <a:pt x="159925" y="201987"/>
                </a:lnTo>
                <a:lnTo>
                  <a:pt x="163401" y="201979"/>
                </a:lnTo>
                <a:lnTo>
                  <a:pt x="166878" y="201976"/>
                </a:lnTo>
                <a:lnTo>
                  <a:pt x="170355" y="201975"/>
                </a:lnTo>
                <a:lnTo>
                  <a:pt x="173831" y="201977"/>
                </a:lnTo>
                <a:lnTo>
                  <a:pt x="177308" y="201983"/>
                </a:lnTo>
                <a:lnTo>
                  <a:pt x="180785" y="201992"/>
                </a:lnTo>
                <a:lnTo>
                  <a:pt x="184261" y="202005"/>
                </a:lnTo>
                <a:lnTo>
                  <a:pt x="187738" y="202021"/>
                </a:lnTo>
                <a:lnTo>
                  <a:pt x="191214" y="202040"/>
                </a:lnTo>
                <a:lnTo>
                  <a:pt x="194691" y="202062"/>
                </a:lnTo>
                <a:lnTo>
                  <a:pt x="198168" y="202088"/>
                </a:lnTo>
                <a:lnTo>
                  <a:pt x="201644" y="202116"/>
                </a:lnTo>
                <a:lnTo>
                  <a:pt x="205121" y="202148"/>
                </a:lnTo>
                <a:lnTo>
                  <a:pt x="208598" y="202183"/>
                </a:lnTo>
                <a:lnTo>
                  <a:pt x="212074" y="202222"/>
                </a:lnTo>
                <a:lnTo>
                  <a:pt x="215551" y="202263"/>
                </a:lnTo>
                <a:lnTo>
                  <a:pt x="219027" y="202307"/>
                </a:lnTo>
                <a:lnTo>
                  <a:pt x="222504" y="202354"/>
                </a:lnTo>
                <a:lnTo>
                  <a:pt x="225981" y="202404"/>
                </a:lnTo>
                <a:lnTo>
                  <a:pt x="229457" y="202456"/>
                </a:lnTo>
                <a:lnTo>
                  <a:pt x="232934" y="202511"/>
                </a:lnTo>
                <a:lnTo>
                  <a:pt x="236410" y="202569"/>
                </a:lnTo>
                <a:lnTo>
                  <a:pt x="239887" y="202629"/>
                </a:lnTo>
                <a:lnTo>
                  <a:pt x="243364" y="202692"/>
                </a:lnTo>
                <a:lnTo>
                  <a:pt x="246840" y="202756"/>
                </a:lnTo>
                <a:lnTo>
                  <a:pt x="250317" y="202823"/>
                </a:lnTo>
                <a:lnTo>
                  <a:pt x="253794" y="202892"/>
                </a:lnTo>
                <a:lnTo>
                  <a:pt x="257270" y="202962"/>
                </a:lnTo>
                <a:lnTo>
                  <a:pt x="260747" y="203034"/>
                </a:lnTo>
                <a:lnTo>
                  <a:pt x="264223" y="203108"/>
                </a:lnTo>
                <a:lnTo>
                  <a:pt x="267700" y="203183"/>
                </a:lnTo>
                <a:lnTo>
                  <a:pt x="271177" y="203260"/>
                </a:lnTo>
                <a:lnTo>
                  <a:pt x="274653" y="203337"/>
                </a:lnTo>
                <a:lnTo>
                  <a:pt x="278130" y="203416"/>
                </a:lnTo>
                <a:lnTo>
                  <a:pt x="281607" y="203495"/>
                </a:lnTo>
                <a:lnTo>
                  <a:pt x="285083" y="203575"/>
                </a:lnTo>
                <a:lnTo>
                  <a:pt x="288560" y="203655"/>
                </a:lnTo>
                <a:lnTo>
                  <a:pt x="292036" y="203736"/>
                </a:lnTo>
                <a:lnTo>
                  <a:pt x="295513" y="203816"/>
                </a:lnTo>
                <a:lnTo>
                  <a:pt x="298990" y="203897"/>
                </a:lnTo>
                <a:lnTo>
                  <a:pt x="302466" y="203977"/>
                </a:lnTo>
                <a:lnTo>
                  <a:pt x="305943" y="204057"/>
                </a:lnTo>
                <a:lnTo>
                  <a:pt x="309420" y="204136"/>
                </a:lnTo>
                <a:lnTo>
                  <a:pt x="312896" y="204214"/>
                </a:lnTo>
                <a:lnTo>
                  <a:pt x="316373" y="204291"/>
                </a:lnTo>
                <a:lnTo>
                  <a:pt x="319850" y="204367"/>
                </a:lnTo>
                <a:lnTo>
                  <a:pt x="323326" y="204442"/>
                </a:lnTo>
                <a:lnTo>
                  <a:pt x="326803" y="204515"/>
                </a:lnTo>
                <a:lnTo>
                  <a:pt x="330279" y="204586"/>
                </a:lnTo>
                <a:lnTo>
                  <a:pt x="333756" y="204655"/>
                </a:lnTo>
                <a:lnTo>
                  <a:pt x="337233" y="204722"/>
                </a:lnTo>
                <a:lnTo>
                  <a:pt x="340709" y="204787"/>
                </a:lnTo>
                <a:lnTo>
                  <a:pt x="344186" y="204849"/>
                </a:lnTo>
                <a:lnTo>
                  <a:pt x="347663" y="204908"/>
                </a:lnTo>
                <a:lnTo>
                  <a:pt x="351139" y="204965"/>
                </a:lnTo>
                <a:lnTo>
                  <a:pt x="354616" y="205018"/>
                </a:lnTo>
                <a:lnTo>
                  <a:pt x="358092" y="205069"/>
                </a:lnTo>
                <a:lnTo>
                  <a:pt x="361569" y="205115"/>
                </a:lnTo>
                <a:lnTo>
                  <a:pt x="365046" y="205158"/>
                </a:lnTo>
                <a:lnTo>
                  <a:pt x="368522" y="205198"/>
                </a:lnTo>
                <a:lnTo>
                  <a:pt x="371999" y="205233"/>
                </a:lnTo>
                <a:lnTo>
                  <a:pt x="375476" y="205264"/>
                </a:lnTo>
                <a:lnTo>
                  <a:pt x="378952" y="205292"/>
                </a:lnTo>
                <a:lnTo>
                  <a:pt x="382429" y="205314"/>
                </a:lnTo>
                <a:lnTo>
                  <a:pt x="385905" y="205333"/>
                </a:lnTo>
                <a:lnTo>
                  <a:pt x="389382" y="205346"/>
                </a:lnTo>
                <a:lnTo>
                  <a:pt x="392859" y="205355"/>
                </a:lnTo>
                <a:lnTo>
                  <a:pt x="396335" y="205359"/>
                </a:lnTo>
                <a:lnTo>
                  <a:pt x="399812" y="205358"/>
                </a:lnTo>
                <a:lnTo>
                  <a:pt x="403289" y="205352"/>
                </a:lnTo>
                <a:lnTo>
                  <a:pt x="406765" y="205340"/>
                </a:lnTo>
                <a:lnTo>
                  <a:pt x="410242" y="205323"/>
                </a:lnTo>
                <a:lnTo>
                  <a:pt x="413718" y="205301"/>
                </a:lnTo>
                <a:lnTo>
                  <a:pt x="417195" y="205274"/>
                </a:lnTo>
                <a:lnTo>
                  <a:pt x="420672" y="205241"/>
                </a:lnTo>
                <a:lnTo>
                  <a:pt x="424148" y="205202"/>
                </a:lnTo>
                <a:lnTo>
                  <a:pt x="427625" y="205158"/>
                </a:lnTo>
                <a:lnTo>
                  <a:pt x="431101" y="205108"/>
                </a:lnTo>
                <a:lnTo>
                  <a:pt x="434578" y="205053"/>
                </a:lnTo>
                <a:lnTo>
                  <a:pt x="438055" y="204992"/>
                </a:lnTo>
                <a:lnTo>
                  <a:pt x="441531" y="204925"/>
                </a:lnTo>
                <a:lnTo>
                  <a:pt x="445008" y="204853"/>
                </a:lnTo>
                <a:lnTo>
                  <a:pt x="448485" y="204774"/>
                </a:lnTo>
                <a:lnTo>
                  <a:pt x="451961" y="204691"/>
                </a:lnTo>
                <a:lnTo>
                  <a:pt x="455438" y="204601"/>
                </a:lnTo>
                <a:lnTo>
                  <a:pt x="458915" y="204506"/>
                </a:lnTo>
                <a:lnTo>
                  <a:pt x="462391" y="204406"/>
                </a:lnTo>
                <a:lnTo>
                  <a:pt x="465868" y="204300"/>
                </a:lnTo>
                <a:lnTo>
                  <a:pt x="469344" y="204189"/>
                </a:lnTo>
                <a:lnTo>
                  <a:pt x="472821" y="204072"/>
                </a:lnTo>
                <a:lnTo>
                  <a:pt x="476298" y="203950"/>
                </a:lnTo>
                <a:lnTo>
                  <a:pt x="479774" y="203824"/>
                </a:lnTo>
                <a:lnTo>
                  <a:pt x="483251" y="203692"/>
                </a:lnTo>
                <a:lnTo>
                  <a:pt x="486727" y="203555"/>
                </a:lnTo>
                <a:lnTo>
                  <a:pt x="490204" y="203414"/>
                </a:lnTo>
                <a:lnTo>
                  <a:pt x="493681" y="203269"/>
                </a:lnTo>
                <a:lnTo>
                  <a:pt x="497157" y="203119"/>
                </a:lnTo>
                <a:lnTo>
                  <a:pt x="500634" y="202964"/>
                </a:lnTo>
                <a:lnTo>
                  <a:pt x="504111" y="202806"/>
                </a:lnTo>
                <a:lnTo>
                  <a:pt x="507587" y="202644"/>
                </a:lnTo>
                <a:lnTo>
                  <a:pt x="511064" y="202478"/>
                </a:lnTo>
                <a:lnTo>
                  <a:pt x="514541" y="202309"/>
                </a:lnTo>
                <a:lnTo>
                  <a:pt x="518017" y="202137"/>
                </a:lnTo>
                <a:lnTo>
                  <a:pt x="521494" y="201962"/>
                </a:lnTo>
                <a:lnTo>
                  <a:pt x="524970" y="201784"/>
                </a:lnTo>
                <a:lnTo>
                  <a:pt x="528447" y="201604"/>
                </a:lnTo>
                <a:lnTo>
                  <a:pt x="531924" y="201421"/>
                </a:lnTo>
                <a:lnTo>
                  <a:pt x="535400" y="201236"/>
                </a:lnTo>
                <a:lnTo>
                  <a:pt x="538877" y="201050"/>
                </a:lnTo>
                <a:lnTo>
                  <a:pt x="542354" y="200863"/>
                </a:lnTo>
                <a:lnTo>
                  <a:pt x="545830" y="200674"/>
                </a:lnTo>
                <a:lnTo>
                  <a:pt x="549307" y="200484"/>
                </a:lnTo>
                <a:lnTo>
                  <a:pt x="552783" y="200294"/>
                </a:lnTo>
                <a:lnTo>
                  <a:pt x="556260" y="200103"/>
                </a:lnTo>
                <a:lnTo>
                  <a:pt x="559737" y="199913"/>
                </a:lnTo>
                <a:lnTo>
                  <a:pt x="563213" y="199723"/>
                </a:lnTo>
                <a:lnTo>
                  <a:pt x="566690" y="199534"/>
                </a:lnTo>
                <a:lnTo>
                  <a:pt x="570167" y="199345"/>
                </a:lnTo>
                <a:lnTo>
                  <a:pt x="573643" y="199158"/>
                </a:lnTo>
                <a:lnTo>
                  <a:pt x="577120" y="198972"/>
                </a:lnTo>
                <a:lnTo>
                  <a:pt x="580596" y="198789"/>
                </a:lnTo>
                <a:lnTo>
                  <a:pt x="584073" y="198608"/>
                </a:lnTo>
                <a:lnTo>
                  <a:pt x="587550" y="198429"/>
                </a:lnTo>
                <a:lnTo>
                  <a:pt x="591026" y="198253"/>
                </a:lnTo>
                <a:lnTo>
                  <a:pt x="594503" y="198080"/>
                </a:lnTo>
                <a:lnTo>
                  <a:pt x="597980" y="197911"/>
                </a:lnTo>
                <a:lnTo>
                  <a:pt x="601456" y="197746"/>
                </a:lnTo>
                <a:lnTo>
                  <a:pt x="604933" y="197585"/>
                </a:lnTo>
                <a:lnTo>
                  <a:pt x="608409" y="197428"/>
                </a:lnTo>
                <a:lnTo>
                  <a:pt x="611886" y="197276"/>
                </a:lnTo>
                <a:lnTo>
                  <a:pt x="615363" y="197130"/>
                </a:lnTo>
                <a:lnTo>
                  <a:pt x="618839" y="196988"/>
                </a:lnTo>
                <a:lnTo>
                  <a:pt x="622316" y="196853"/>
                </a:lnTo>
                <a:lnTo>
                  <a:pt x="625793" y="196723"/>
                </a:lnTo>
                <a:lnTo>
                  <a:pt x="629269" y="196600"/>
                </a:lnTo>
                <a:lnTo>
                  <a:pt x="632746" y="196483"/>
                </a:lnTo>
                <a:lnTo>
                  <a:pt x="636222" y="196373"/>
                </a:lnTo>
                <a:lnTo>
                  <a:pt x="639699" y="196270"/>
                </a:lnTo>
                <a:lnTo>
                  <a:pt x="643176" y="196175"/>
                </a:lnTo>
                <a:lnTo>
                  <a:pt x="646652" y="196087"/>
                </a:lnTo>
                <a:lnTo>
                  <a:pt x="650129" y="196007"/>
                </a:lnTo>
                <a:lnTo>
                  <a:pt x="653606" y="195935"/>
                </a:lnTo>
                <a:lnTo>
                  <a:pt x="657082" y="195871"/>
                </a:lnTo>
                <a:lnTo>
                  <a:pt x="660559" y="195815"/>
                </a:lnTo>
                <a:lnTo>
                  <a:pt x="664035" y="195768"/>
                </a:lnTo>
                <a:lnTo>
                  <a:pt x="667512" y="195730"/>
                </a:lnTo>
                <a:lnTo>
                  <a:pt x="670989" y="195701"/>
                </a:lnTo>
                <a:lnTo>
                  <a:pt x="674465" y="195681"/>
                </a:lnTo>
                <a:lnTo>
                  <a:pt x="677942" y="195670"/>
                </a:lnTo>
                <a:lnTo>
                  <a:pt x="681419" y="195669"/>
                </a:lnTo>
                <a:lnTo>
                  <a:pt x="684895" y="195676"/>
                </a:lnTo>
                <a:lnTo>
                  <a:pt x="688372" y="195694"/>
                </a:lnTo>
                <a:lnTo>
                  <a:pt x="691848" y="195720"/>
                </a:lnTo>
                <a:lnTo>
                  <a:pt x="695325" y="195757"/>
                </a:lnTo>
                <a:lnTo>
                  <a:pt x="698802" y="195803"/>
                </a:lnTo>
                <a:lnTo>
                  <a:pt x="702278" y="195858"/>
                </a:lnTo>
                <a:lnTo>
                  <a:pt x="705755" y="195924"/>
                </a:lnTo>
                <a:lnTo>
                  <a:pt x="709231" y="195998"/>
                </a:lnTo>
                <a:lnTo>
                  <a:pt x="712708" y="196083"/>
                </a:lnTo>
                <a:lnTo>
                  <a:pt x="716185" y="196177"/>
                </a:lnTo>
                <a:lnTo>
                  <a:pt x="719661" y="196280"/>
                </a:lnTo>
                <a:lnTo>
                  <a:pt x="723138" y="196392"/>
                </a:lnTo>
                <a:lnTo>
                  <a:pt x="726615" y="196514"/>
                </a:lnTo>
                <a:lnTo>
                  <a:pt x="730091" y="196644"/>
                </a:lnTo>
                <a:lnTo>
                  <a:pt x="733568" y="196784"/>
                </a:lnTo>
                <a:lnTo>
                  <a:pt x="737045" y="196931"/>
                </a:lnTo>
                <a:lnTo>
                  <a:pt x="740521" y="197088"/>
                </a:lnTo>
                <a:lnTo>
                  <a:pt x="743998" y="197252"/>
                </a:lnTo>
                <a:lnTo>
                  <a:pt x="747474" y="197425"/>
                </a:lnTo>
                <a:lnTo>
                  <a:pt x="750951" y="197605"/>
                </a:lnTo>
                <a:lnTo>
                  <a:pt x="754428" y="197792"/>
                </a:lnTo>
                <a:lnTo>
                  <a:pt x="757904" y="197986"/>
                </a:lnTo>
                <a:lnTo>
                  <a:pt x="761381" y="198187"/>
                </a:lnTo>
                <a:lnTo>
                  <a:pt x="764858" y="198394"/>
                </a:lnTo>
                <a:lnTo>
                  <a:pt x="768334" y="198608"/>
                </a:lnTo>
                <a:lnTo>
                  <a:pt x="771811" y="198826"/>
                </a:lnTo>
                <a:lnTo>
                  <a:pt x="775287" y="199050"/>
                </a:lnTo>
                <a:lnTo>
                  <a:pt x="778764" y="199278"/>
                </a:lnTo>
                <a:lnTo>
                  <a:pt x="782241" y="199511"/>
                </a:lnTo>
                <a:lnTo>
                  <a:pt x="785717" y="199747"/>
                </a:lnTo>
                <a:lnTo>
                  <a:pt x="789194" y="199986"/>
                </a:lnTo>
                <a:lnTo>
                  <a:pt x="792671" y="200228"/>
                </a:lnTo>
                <a:lnTo>
                  <a:pt x="796147" y="200472"/>
                </a:lnTo>
                <a:lnTo>
                  <a:pt x="799624" y="200717"/>
                </a:lnTo>
                <a:lnTo>
                  <a:pt x="803100" y="200963"/>
                </a:lnTo>
                <a:lnTo>
                  <a:pt x="806577" y="201209"/>
                </a:lnTo>
                <a:lnTo>
                  <a:pt x="810054" y="201455"/>
                </a:lnTo>
                <a:lnTo>
                  <a:pt x="813530" y="201700"/>
                </a:lnTo>
                <a:lnTo>
                  <a:pt x="817007" y="201944"/>
                </a:lnTo>
                <a:lnTo>
                  <a:pt x="820483" y="202185"/>
                </a:lnTo>
                <a:lnTo>
                  <a:pt x="823960" y="202423"/>
                </a:lnTo>
                <a:lnTo>
                  <a:pt x="827437" y="202657"/>
                </a:lnTo>
                <a:lnTo>
                  <a:pt x="830913" y="202887"/>
                </a:lnTo>
                <a:lnTo>
                  <a:pt x="834390" y="203111"/>
                </a:lnTo>
                <a:lnTo>
                  <a:pt x="837867" y="203330"/>
                </a:lnTo>
                <a:lnTo>
                  <a:pt x="841343" y="203541"/>
                </a:lnTo>
                <a:lnTo>
                  <a:pt x="844820" y="203746"/>
                </a:lnTo>
                <a:lnTo>
                  <a:pt x="848297" y="203942"/>
                </a:lnTo>
                <a:lnTo>
                  <a:pt x="851773" y="204128"/>
                </a:lnTo>
                <a:lnTo>
                  <a:pt x="855250" y="204305"/>
                </a:lnTo>
                <a:lnTo>
                  <a:pt x="858726" y="204471"/>
                </a:lnTo>
                <a:lnTo>
                  <a:pt x="862203" y="204626"/>
                </a:lnTo>
                <a:lnTo>
                  <a:pt x="865680" y="204768"/>
                </a:lnTo>
                <a:lnTo>
                  <a:pt x="869156" y="204897"/>
                </a:lnTo>
                <a:lnTo>
                  <a:pt x="872633" y="205012"/>
                </a:lnTo>
                <a:lnTo>
                  <a:pt x="876110" y="205112"/>
                </a:lnTo>
                <a:lnTo>
                  <a:pt x="879586" y="205196"/>
                </a:lnTo>
                <a:lnTo>
                  <a:pt x="883063" y="205264"/>
                </a:lnTo>
                <a:lnTo>
                  <a:pt x="886539" y="205314"/>
                </a:lnTo>
                <a:lnTo>
                  <a:pt x="890016" y="205346"/>
                </a:lnTo>
                <a:lnTo>
                  <a:pt x="893493" y="205359"/>
                </a:lnTo>
                <a:lnTo>
                  <a:pt x="896969" y="205352"/>
                </a:lnTo>
                <a:lnTo>
                  <a:pt x="900446" y="205323"/>
                </a:lnTo>
                <a:lnTo>
                  <a:pt x="903923" y="205274"/>
                </a:lnTo>
                <a:lnTo>
                  <a:pt x="907399" y="205201"/>
                </a:lnTo>
                <a:lnTo>
                  <a:pt x="910876" y="205106"/>
                </a:lnTo>
                <a:lnTo>
                  <a:pt x="914352" y="204986"/>
                </a:lnTo>
                <a:lnTo>
                  <a:pt x="917829" y="204841"/>
                </a:lnTo>
                <a:lnTo>
                  <a:pt x="921306" y="204670"/>
                </a:lnTo>
                <a:lnTo>
                  <a:pt x="924782" y="204473"/>
                </a:lnTo>
                <a:lnTo>
                  <a:pt x="928259" y="204249"/>
                </a:lnTo>
                <a:lnTo>
                  <a:pt x="931735" y="203996"/>
                </a:lnTo>
                <a:lnTo>
                  <a:pt x="935212" y="203714"/>
                </a:lnTo>
                <a:lnTo>
                  <a:pt x="938689" y="203403"/>
                </a:lnTo>
                <a:lnTo>
                  <a:pt x="942165" y="203062"/>
                </a:lnTo>
                <a:lnTo>
                  <a:pt x="945642" y="202689"/>
                </a:lnTo>
                <a:lnTo>
                  <a:pt x="949119" y="202285"/>
                </a:lnTo>
                <a:lnTo>
                  <a:pt x="952595" y="201849"/>
                </a:lnTo>
                <a:lnTo>
                  <a:pt x="956072" y="201379"/>
                </a:lnTo>
                <a:lnTo>
                  <a:pt x="959549" y="200876"/>
                </a:lnTo>
                <a:lnTo>
                  <a:pt x="963025" y="200338"/>
                </a:lnTo>
                <a:lnTo>
                  <a:pt x="966502" y="199766"/>
                </a:lnTo>
                <a:lnTo>
                  <a:pt x="969978" y="199159"/>
                </a:lnTo>
                <a:lnTo>
                  <a:pt x="973455" y="198515"/>
                </a:lnTo>
                <a:lnTo>
                  <a:pt x="976932" y="197835"/>
                </a:lnTo>
                <a:lnTo>
                  <a:pt x="980408" y="197118"/>
                </a:lnTo>
                <a:lnTo>
                  <a:pt x="983885" y="196364"/>
                </a:lnTo>
                <a:lnTo>
                  <a:pt x="987362" y="195573"/>
                </a:lnTo>
                <a:lnTo>
                  <a:pt x="990838" y="194743"/>
                </a:lnTo>
                <a:lnTo>
                  <a:pt x="994315" y="193875"/>
                </a:lnTo>
                <a:lnTo>
                  <a:pt x="997791" y="192968"/>
                </a:lnTo>
                <a:lnTo>
                  <a:pt x="1001268" y="192022"/>
                </a:lnTo>
                <a:lnTo>
                  <a:pt x="1004745" y="191036"/>
                </a:lnTo>
                <a:lnTo>
                  <a:pt x="1008221" y="190011"/>
                </a:lnTo>
                <a:lnTo>
                  <a:pt x="1011698" y="188947"/>
                </a:lnTo>
                <a:lnTo>
                  <a:pt x="1015174" y="187842"/>
                </a:lnTo>
                <a:lnTo>
                  <a:pt x="1018651" y="186698"/>
                </a:lnTo>
                <a:lnTo>
                  <a:pt x="1022128" y="185513"/>
                </a:lnTo>
                <a:lnTo>
                  <a:pt x="1025604" y="184289"/>
                </a:lnTo>
                <a:lnTo>
                  <a:pt x="1029081" y="183024"/>
                </a:lnTo>
                <a:lnTo>
                  <a:pt x="1032558" y="181719"/>
                </a:lnTo>
                <a:lnTo>
                  <a:pt x="1036034" y="180375"/>
                </a:lnTo>
                <a:lnTo>
                  <a:pt x="1039511" y="178990"/>
                </a:lnTo>
                <a:lnTo>
                  <a:pt x="1042988" y="177566"/>
                </a:lnTo>
                <a:lnTo>
                  <a:pt x="1046464" y="176102"/>
                </a:lnTo>
                <a:lnTo>
                  <a:pt x="1049941" y="174599"/>
                </a:lnTo>
                <a:lnTo>
                  <a:pt x="1053417" y="173058"/>
                </a:lnTo>
                <a:lnTo>
                  <a:pt x="1056894" y="171477"/>
                </a:lnTo>
                <a:lnTo>
                  <a:pt x="1060371" y="169858"/>
                </a:lnTo>
                <a:lnTo>
                  <a:pt x="1063847" y="168201"/>
                </a:lnTo>
                <a:lnTo>
                  <a:pt x="1067324" y="166507"/>
                </a:lnTo>
                <a:lnTo>
                  <a:pt x="1070801" y="164775"/>
                </a:lnTo>
                <a:lnTo>
                  <a:pt x="1074277" y="163007"/>
                </a:lnTo>
                <a:lnTo>
                  <a:pt x="1077754" y="161203"/>
                </a:lnTo>
                <a:lnTo>
                  <a:pt x="1081230" y="159364"/>
                </a:lnTo>
                <a:lnTo>
                  <a:pt x="1084707" y="157490"/>
                </a:lnTo>
                <a:lnTo>
                  <a:pt x="1088184" y="155582"/>
                </a:lnTo>
                <a:lnTo>
                  <a:pt x="1091660" y="153641"/>
                </a:lnTo>
                <a:lnTo>
                  <a:pt x="1095137" y="151667"/>
                </a:lnTo>
                <a:lnTo>
                  <a:pt x="1098614" y="149662"/>
                </a:lnTo>
                <a:lnTo>
                  <a:pt x="1102090" y="147625"/>
                </a:lnTo>
                <a:lnTo>
                  <a:pt x="1105567" y="145559"/>
                </a:lnTo>
                <a:lnTo>
                  <a:pt x="1109043" y="143463"/>
                </a:lnTo>
                <a:lnTo>
                  <a:pt x="1112520" y="141339"/>
                </a:lnTo>
                <a:lnTo>
                  <a:pt x="1115997" y="139188"/>
                </a:lnTo>
                <a:lnTo>
                  <a:pt x="1119473" y="137011"/>
                </a:lnTo>
                <a:lnTo>
                  <a:pt x="1122950" y="134808"/>
                </a:lnTo>
                <a:lnTo>
                  <a:pt x="1126427" y="132582"/>
                </a:lnTo>
                <a:lnTo>
                  <a:pt x="1129903" y="130333"/>
                </a:lnTo>
                <a:lnTo>
                  <a:pt x="1133380" y="128062"/>
                </a:lnTo>
                <a:lnTo>
                  <a:pt x="1136856" y="125770"/>
                </a:lnTo>
                <a:lnTo>
                  <a:pt x="1140333" y="123459"/>
                </a:lnTo>
                <a:lnTo>
                  <a:pt x="1143810" y="121130"/>
                </a:lnTo>
                <a:lnTo>
                  <a:pt x="1147286" y="118784"/>
                </a:lnTo>
                <a:lnTo>
                  <a:pt x="1150763" y="116422"/>
                </a:lnTo>
                <a:lnTo>
                  <a:pt x="1154240" y="114047"/>
                </a:lnTo>
                <a:lnTo>
                  <a:pt x="1157716" y="111658"/>
                </a:lnTo>
                <a:lnTo>
                  <a:pt x="1161193" y="109258"/>
                </a:lnTo>
                <a:lnTo>
                  <a:pt x="1164669" y="106849"/>
                </a:lnTo>
                <a:lnTo>
                  <a:pt x="1168146" y="104430"/>
                </a:lnTo>
                <a:lnTo>
                  <a:pt x="1171623" y="102004"/>
                </a:lnTo>
                <a:lnTo>
                  <a:pt x="1175099" y="99573"/>
                </a:lnTo>
                <a:lnTo>
                  <a:pt x="1178576" y="97138"/>
                </a:lnTo>
                <a:lnTo>
                  <a:pt x="1182053" y="94699"/>
                </a:lnTo>
                <a:lnTo>
                  <a:pt x="1185529" y="92260"/>
                </a:lnTo>
                <a:lnTo>
                  <a:pt x="1189006" y="89821"/>
                </a:lnTo>
                <a:lnTo>
                  <a:pt x="1192482" y="87384"/>
                </a:lnTo>
                <a:lnTo>
                  <a:pt x="1195959" y="84951"/>
                </a:lnTo>
                <a:lnTo>
                  <a:pt x="1199436" y="82522"/>
                </a:lnTo>
                <a:lnTo>
                  <a:pt x="1202912" y="80101"/>
                </a:lnTo>
                <a:lnTo>
                  <a:pt x="1206389" y="77687"/>
                </a:lnTo>
                <a:lnTo>
                  <a:pt x="1209865" y="75284"/>
                </a:lnTo>
                <a:lnTo>
                  <a:pt x="1213342" y="72892"/>
                </a:lnTo>
                <a:lnTo>
                  <a:pt x="1216819" y="70513"/>
                </a:lnTo>
                <a:lnTo>
                  <a:pt x="1220295" y="68148"/>
                </a:lnTo>
                <a:lnTo>
                  <a:pt x="1223772" y="65800"/>
                </a:lnTo>
                <a:lnTo>
                  <a:pt x="1227249" y="63470"/>
                </a:lnTo>
                <a:lnTo>
                  <a:pt x="1230725" y="61159"/>
                </a:lnTo>
                <a:lnTo>
                  <a:pt x="1234202" y="58870"/>
                </a:lnTo>
                <a:lnTo>
                  <a:pt x="1237679" y="56603"/>
                </a:lnTo>
                <a:lnTo>
                  <a:pt x="1241155" y="54361"/>
                </a:lnTo>
                <a:lnTo>
                  <a:pt x="1244632" y="52144"/>
                </a:lnTo>
                <a:lnTo>
                  <a:pt x="1248108" y="49955"/>
                </a:lnTo>
                <a:lnTo>
                  <a:pt x="1251585" y="47795"/>
                </a:lnTo>
                <a:lnTo>
                  <a:pt x="1255062" y="45665"/>
                </a:lnTo>
                <a:lnTo>
                  <a:pt x="1258538" y="43567"/>
                </a:lnTo>
                <a:lnTo>
                  <a:pt x="1262015" y="41503"/>
                </a:lnTo>
                <a:lnTo>
                  <a:pt x="1265492" y="39474"/>
                </a:lnTo>
                <a:lnTo>
                  <a:pt x="1268968" y="37482"/>
                </a:lnTo>
                <a:lnTo>
                  <a:pt x="1272445" y="35527"/>
                </a:lnTo>
                <a:lnTo>
                  <a:pt x="1275921" y="33612"/>
                </a:lnTo>
                <a:lnTo>
                  <a:pt x="1279398" y="31738"/>
                </a:lnTo>
                <a:lnTo>
                  <a:pt x="1282875" y="29906"/>
                </a:lnTo>
                <a:lnTo>
                  <a:pt x="1286351" y="28118"/>
                </a:lnTo>
                <a:lnTo>
                  <a:pt x="1289828" y="26374"/>
                </a:lnTo>
                <a:lnTo>
                  <a:pt x="1293305" y="24677"/>
                </a:lnTo>
                <a:lnTo>
                  <a:pt x="1296781" y="23027"/>
                </a:lnTo>
                <a:lnTo>
                  <a:pt x="1300258" y="21426"/>
                </a:lnTo>
                <a:lnTo>
                  <a:pt x="1303734" y="19874"/>
                </a:lnTo>
                <a:lnTo>
                  <a:pt x="1307211" y="18374"/>
                </a:lnTo>
                <a:lnTo>
                  <a:pt x="1310688" y="16926"/>
                </a:lnTo>
                <a:lnTo>
                  <a:pt x="1314164" y="15531"/>
                </a:lnTo>
                <a:lnTo>
                  <a:pt x="1317641" y="14190"/>
                </a:lnTo>
                <a:lnTo>
                  <a:pt x="1321118" y="12905"/>
                </a:lnTo>
                <a:lnTo>
                  <a:pt x="1324594" y="11676"/>
                </a:lnTo>
                <a:lnTo>
                  <a:pt x="1328071" y="10504"/>
                </a:lnTo>
                <a:lnTo>
                  <a:pt x="1331547" y="9391"/>
                </a:lnTo>
                <a:lnTo>
                  <a:pt x="1335024" y="8336"/>
                </a:lnTo>
                <a:lnTo>
                  <a:pt x="1338501" y="7341"/>
                </a:lnTo>
                <a:lnTo>
                  <a:pt x="1341977" y="6407"/>
                </a:lnTo>
                <a:lnTo>
                  <a:pt x="1345454" y="5534"/>
                </a:lnTo>
                <a:lnTo>
                  <a:pt x="1348931" y="4723"/>
                </a:lnTo>
                <a:lnTo>
                  <a:pt x="1352407" y="3975"/>
                </a:lnTo>
                <a:lnTo>
                  <a:pt x="1355884" y="3289"/>
                </a:lnTo>
                <a:lnTo>
                  <a:pt x="1359360" y="2668"/>
                </a:lnTo>
                <a:lnTo>
                  <a:pt x="1362837" y="2110"/>
                </a:lnTo>
                <a:lnTo>
                  <a:pt x="1366314" y="1617"/>
                </a:lnTo>
                <a:lnTo>
                  <a:pt x="1369790" y="1189"/>
                </a:lnTo>
                <a:lnTo>
                  <a:pt x="1373267" y="826"/>
                </a:lnTo>
                <a:lnTo>
                  <a:pt x="1376744" y="529"/>
                </a:lnTo>
                <a:lnTo>
                  <a:pt x="1380220" y="298"/>
                </a:lnTo>
                <a:lnTo>
                  <a:pt x="1383697" y="132"/>
                </a:lnTo>
                <a:lnTo>
                  <a:pt x="1387173" y="33"/>
                </a:lnTo>
                <a:lnTo>
                  <a:pt x="1390650" y="0"/>
                </a:lnTo>
                <a:lnTo>
                  <a:pt x="1394127" y="33"/>
                </a:lnTo>
                <a:lnTo>
                  <a:pt x="1397603" y="132"/>
                </a:lnTo>
                <a:lnTo>
                  <a:pt x="1401080" y="298"/>
                </a:lnTo>
                <a:lnTo>
                  <a:pt x="1404557" y="529"/>
                </a:lnTo>
                <a:lnTo>
                  <a:pt x="1408033" y="826"/>
                </a:lnTo>
                <a:lnTo>
                  <a:pt x="1411510" y="1189"/>
                </a:lnTo>
                <a:lnTo>
                  <a:pt x="1414986" y="1617"/>
                </a:lnTo>
                <a:lnTo>
                  <a:pt x="1418463" y="2110"/>
                </a:lnTo>
                <a:lnTo>
                  <a:pt x="1421940" y="2668"/>
                </a:lnTo>
                <a:lnTo>
                  <a:pt x="1425416" y="3289"/>
                </a:lnTo>
                <a:lnTo>
                  <a:pt x="1428893" y="3975"/>
                </a:lnTo>
                <a:lnTo>
                  <a:pt x="1432370" y="4723"/>
                </a:lnTo>
                <a:lnTo>
                  <a:pt x="1435846" y="5534"/>
                </a:lnTo>
                <a:lnTo>
                  <a:pt x="1439323" y="6407"/>
                </a:lnTo>
                <a:lnTo>
                  <a:pt x="1442799" y="7341"/>
                </a:lnTo>
                <a:lnTo>
                  <a:pt x="1446276" y="8336"/>
                </a:lnTo>
                <a:lnTo>
                  <a:pt x="1449753" y="9391"/>
                </a:lnTo>
                <a:lnTo>
                  <a:pt x="1453229" y="10504"/>
                </a:lnTo>
                <a:lnTo>
                  <a:pt x="1456706" y="11676"/>
                </a:lnTo>
                <a:lnTo>
                  <a:pt x="1460183" y="12905"/>
                </a:lnTo>
                <a:lnTo>
                  <a:pt x="1463659" y="14190"/>
                </a:lnTo>
                <a:lnTo>
                  <a:pt x="1467136" y="15531"/>
                </a:lnTo>
                <a:lnTo>
                  <a:pt x="1470612" y="16926"/>
                </a:lnTo>
                <a:lnTo>
                  <a:pt x="1474089" y="18374"/>
                </a:lnTo>
                <a:lnTo>
                  <a:pt x="1477566" y="19874"/>
                </a:lnTo>
                <a:lnTo>
                  <a:pt x="1481042" y="21426"/>
                </a:lnTo>
                <a:lnTo>
                  <a:pt x="1484519" y="23027"/>
                </a:lnTo>
                <a:lnTo>
                  <a:pt x="1487996" y="24677"/>
                </a:lnTo>
                <a:lnTo>
                  <a:pt x="1491472" y="26374"/>
                </a:lnTo>
                <a:lnTo>
                  <a:pt x="1494949" y="28118"/>
                </a:lnTo>
                <a:lnTo>
                  <a:pt x="1498425" y="29906"/>
                </a:lnTo>
                <a:lnTo>
                  <a:pt x="1501902" y="31738"/>
                </a:lnTo>
                <a:lnTo>
                  <a:pt x="1505379" y="33612"/>
                </a:lnTo>
                <a:lnTo>
                  <a:pt x="1508855" y="35527"/>
                </a:lnTo>
                <a:lnTo>
                  <a:pt x="1512332" y="37482"/>
                </a:lnTo>
                <a:lnTo>
                  <a:pt x="1515808" y="39474"/>
                </a:lnTo>
                <a:lnTo>
                  <a:pt x="1519285" y="41503"/>
                </a:lnTo>
                <a:lnTo>
                  <a:pt x="1522762" y="43567"/>
                </a:lnTo>
                <a:lnTo>
                  <a:pt x="1526238" y="45665"/>
                </a:lnTo>
                <a:lnTo>
                  <a:pt x="1529715" y="47795"/>
                </a:lnTo>
                <a:lnTo>
                  <a:pt x="1533192" y="49955"/>
                </a:lnTo>
                <a:lnTo>
                  <a:pt x="1536668" y="52144"/>
                </a:lnTo>
                <a:lnTo>
                  <a:pt x="1540145" y="54361"/>
                </a:lnTo>
                <a:lnTo>
                  <a:pt x="1543622" y="56603"/>
                </a:lnTo>
                <a:lnTo>
                  <a:pt x="1547098" y="58870"/>
                </a:lnTo>
                <a:lnTo>
                  <a:pt x="1550575" y="61159"/>
                </a:lnTo>
                <a:lnTo>
                  <a:pt x="1554051" y="63470"/>
                </a:lnTo>
                <a:lnTo>
                  <a:pt x="1557528" y="65800"/>
                </a:lnTo>
                <a:lnTo>
                  <a:pt x="1561005" y="68148"/>
                </a:lnTo>
                <a:lnTo>
                  <a:pt x="1564481" y="70513"/>
                </a:lnTo>
                <a:lnTo>
                  <a:pt x="1567958" y="72892"/>
                </a:lnTo>
                <a:lnTo>
                  <a:pt x="1571435" y="75284"/>
                </a:lnTo>
                <a:lnTo>
                  <a:pt x="1574911" y="77687"/>
                </a:lnTo>
                <a:lnTo>
                  <a:pt x="1578388" y="80101"/>
                </a:lnTo>
                <a:lnTo>
                  <a:pt x="1581864" y="82522"/>
                </a:lnTo>
                <a:lnTo>
                  <a:pt x="1585341" y="84951"/>
                </a:lnTo>
                <a:lnTo>
                  <a:pt x="1588818" y="87384"/>
                </a:lnTo>
                <a:lnTo>
                  <a:pt x="1592294" y="89821"/>
                </a:lnTo>
                <a:lnTo>
                  <a:pt x="1595771" y="92260"/>
                </a:lnTo>
                <a:lnTo>
                  <a:pt x="1599248" y="94699"/>
                </a:lnTo>
                <a:lnTo>
                  <a:pt x="1602724" y="97138"/>
                </a:lnTo>
                <a:lnTo>
                  <a:pt x="1606201" y="99573"/>
                </a:lnTo>
                <a:lnTo>
                  <a:pt x="1609677" y="102004"/>
                </a:lnTo>
                <a:lnTo>
                  <a:pt x="1613154" y="104430"/>
                </a:lnTo>
                <a:lnTo>
                  <a:pt x="1616631" y="106849"/>
                </a:lnTo>
                <a:lnTo>
                  <a:pt x="1620107" y="109258"/>
                </a:lnTo>
                <a:lnTo>
                  <a:pt x="1623584" y="111658"/>
                </a:lnTo>
                <a:lnTo>
                  <a:pt x="1627061" y="114047"/>
                </a:lnTo>
                <a:lnTo>
                  <a:pt x="1630537" y="116422"/>
                </a:lnTo>
                <a:lnTo>
                  <a:pt x="1634014" y="118784"/>
                </a:lnTo>
                <a:lnTo>
                  <a:pt x="1637490" y="121130"/>
                </a:lnTo>
                <a:lnTo>
                  <a:pt x="1640967" y="123459"/>
                </a:lnTo>
                <a:lnTo>
                  <a:pt x="1644444" y="125770"/>
                </a:lnTo>
                <a:lnTo>
                  <a:pt x="1647920" y="128062"/>
                </a:lnTo>
                <a:lnTo>
                  <a:pt x="1651397" y="130333"/>
                </a:lnTo>
                <a:lnTo>
                  <a:pt x="1654874" y="132582"/>
                </a:lnTo>
                <a:lnTo>
                  <a:pt x="1658350" y="134808"/>
                </a:lnTo>
                <a:lnTo>
                  <a:pt x="1661827" y="137011"/>
                </a:lnTo>
                <a:lnTo>
                  <a:pt x="1665303" y="139188"/>
                </a:lnTo>
                <a:lnTo>
                  <a:pt x="1668780" y="141339"/>
                </a:lnTo>
                <a:lnTo>
                  <a:pt x="1672257" y="143463"/>
                </a:lnTo>
                <a:lnTo>
                  <a:pt x="1675733" y="145559"/>
                </a:lnTo>
                <a:lnTo>
                  <a:pt x="1679210" y="147625"/>
                </a:lnTo>
                <a:lnTo>
                  <a:pt x="1682687" y="149662"/>
                </a:lnTo>
                <a:lnTo>
                  <a:pt x="1686163" y="151667"/>
                </a:lnTo>
                <a:lnTo>
                  <a:pt x="1689640" y="153641"/>
                </a:lnTo>
                <a:lnTo>
                  <a:pt x="1693116" y="155582"/>
                </a:lnTo>
                <a:lnTo>
                  <a:pt x="1696593" y="157490"/>
                </a:lnTo>
                <a:lnTo>
                  <a:pt x="1700070" y="159364"/>
                </a:lnTo>
                <a:lnTo>
                  <a:pt x="1703546" y="161203"/>
                </a:lnTo>
                <a:lnTo>
                  <a:pt x="1707023" y="163007"/>
                </a:lnTo>
                <a:lnTo>
                  <a:pt x="1710500" y="164775"/>
                </a:lnTo>
                <a:lnTo>
                  <a:pt x="1713976" y="166507"/>
                </a:lnTo>
                <a:lnTo>
                  <a:pt x="1717453" y="168201"/>
                </a:lnTo>
                <a:lnTo>
                  <a:pt x="1720929" y="169858"/>
                </a:lnTo>
                <a:lnTo>
                  <a:pt x="1724406" y="171477"/>
                </a:lnTo>
                <a:lnTo>
                  <a:pt x="1727883" y="173058"/>
                </a:lnTo>
                <a:lnTo>
                  <a:pt x="1731359" y="174599"/>
                </a:lnTo>
                <a:lnTo>
                  <a:pt x="1734836" y="176102"/>
                </a:lnTo>
                <a:lnTo>
                  <a:pt x="1738313" y="177566"/>
                </a:lnTo>
                <a:lnTo>
                  <a:pt x="1741789" y="178990"/>
                </a:lnTo>
                <a:lnTo>
                  <a:pt x="1745266" y="180375"/>
                </a:lnTo>
                <a:lnTo>
                  <a:pt x="1748742" y="181719"/>
                </a:lnTo>
                <a:lnTo>
                  <a:pt x="1752219" y="183024"/>
                </a:lnTo>
                <a:lnTo>
                  <a:pt x="1755696" y="184289"/>
                </a:lnTo>
                <a:lnTo>
                  <a:pt x="1759172" y="185513"/>
                </a:lnTo>
                <a:lnTo>
                  <a:pt x="1762649" y="186698"/>
                </a:lnTo>
                <a:lnTo>
                  <a:pt x="1766125" y="187842"/>
                </a:lnTo>
                <a:lnTo>
                  <a:pt x="1769602" y="188947"/>
                </a:lnTo>
                <a:lnTo>
                  <a:pt x="1773079" y="190011"/>
                </a:lnTo>
                <a:lnTo>
                  <a:pt x="1776555" y="191036"/>
                </a:lnTo>
                <a:lnTo>
                  <a:pt x="1780032" y="192022"/>
                </a:lnTo>
                <a:lnTo>
                  <a:pt x="1783509" y="192968"/>
                </a:lnTo>
                <a:lnTo>
                  <a:pt x="1786985" y="193875"/>
                </a:lnTo>
                <a:lnTo>
                  <a:pt x="1790462" y="194743"/>
                </a:lnTo>
                <a:lnTo>
                  <a:pt x="1793939" y="195573"/>
                </a:lnTo>
                <a:lnTo>
                  <a:pt x="1797415" y="196364"/>
                </a:lnTo>
                <a:lnTo>
                  <a:pt x="1800892" y="197118"/>
                </a:lnTo>
                <a:lnTo>
                  <a:pt x="1804368" y="197835"/>
                </a:lnTo>
                <a:lnTo>
                  <a:pt x="1807845" y="198515"/>
                </a:lnTo>
                <a:lnTo>
                  <a:pt x="1811322" y="199159"/>
                </a:lnTo>
                <a:lnTo>
                  <a:pt x="1814798" y="199766"/>
                </a:lnTo>
                <a:lnTo>
                  <a:pt x="1818275" y="200338"/>
                </a:lnTo>
                <a:lnTo>
                  <a:pt x="1821752" y="200876"/>
                </a:lnTo>
                <a:lnTo>
                  <a:pt x="1825228" y="201379"/>
                </a:lnTo>
                <a:lnTo>
                  <a:pt x="1828705" y="201849"/>
                </a:lnTo>
                <a:lnTo>
                  <a:pt x="1832181" y="202285"/>
                </a:lnTo>
                <a:lnTo>
                  <a:pt x="1835658" y="202689"/>
                </a:lnTo>
                <a:lnTo>
                  <a:pt x="1839135" y="203062"/>
                </a:lnTo>
                <a:lnTo>
                  <a:pt x="1842611" y="203403"/>
                </a:lnTo>
                <a:lnTo>
                  <a:pt x="1846088" y="203714"/>
                </a:lnTo>
                <a:lnTo>
                  <a:pt x="1849565" y="203996"/>
                </a:lnTo>
                <a:lnTo>
                  <a:pt x="1853041" y="204249"/>
                </a:lnTo>
                <a:lnTo>
                  <a:pt x="1856518" y="204473"/>
                </a:lnTo>
                <a:lnTo>
                  <a:pt x="1859994" y="204670"/>
                </a:lnTo>
                <a:lnTo>
                  <a:pt x="1863471" y="204841"/>
                </a:lnTo>
                <a:lnTo>
                  <a:pt x="1866948" y="204986"/>
                </a:lnTo>
                <a:lnTo>
                  <a:pt x="1870424" y="205106"/>
                </a:lnTo>
                <a:lnTo>
                  <a:pt x="1873901" y="205201"/>
                </a:lnTo>
                <a:lnTo>
                  <a:pt x="1877378" y="205274"/>
                </a:lnTo>
                <a:lnTo>
                  <a:pt x="1880854" y="205323"/>
                </a:lnTo>
                <a:lnTo>
                  <a:pt x="1884331" y="205352"/>
                </a:lnTo>
                <a:lnTo>
                  <a:pt x="1887807" y="205359"/>
                </a:lnTo>
                <a:lnTo>
                  <a:pt x="1891284" y="205346"/>
                </a:lnTo>
                <a:lnTo>
                  <a:pt x="1894761" y="205314"/>
                </a:lnTo>
                <a:lnTo>
                  <a:pt x="1898237" y="205264"/>
                </a:lnTo>
                <a:lnTo>
                  <a:pt x="1901714" y="205196"/>
                </a:lnTo>
                <a:lnTo>
                  <a:pt x="1905190" y="205112"/>
                </a:lnTo>
                <a:lnTo>
                  <a:pt x="1908667" y="205012"/>
                </a:lnTo>
                <a:lnTo>
                  <a:pt x="1912144" y="204897"/>
                </a:lnTo>
                <a:lnTo>
                  <a:pt x="1915620" y="204768"/>
                </a:lnTo>
                <a:lnTo>
                  <a:pt x="1919097" y="204626"/>
                </a:lnTo>
                <a:lnTo>
                  <a:pt x="1922574" y="204471"/>
                </a:lnTo>
                <a:lnTo>
                  <a:pt x="1926050" y="204305"/>
                </a:lnTo>
                <a:lnTo>
                  <a:pt x="1929527" y="204128"/>
                </a:lnTo>
                <a:lnTo>
                  <a:pt x="1933004" y="203942"/>
                </a:lnTo>
                <a:lnTo>
                  <a:pt x="1936480" y="203746"/>
                </a:lnTo>
                <a:lnTo>
                  <a:pt x="1939957" y="203541"/>
                </a:lnTo>
                <a:lnTo>
                  <a:pt x="1943433" y="203330"/>
                </a:lnTo>
                <a:lnTo>
                  <a:pt x="1946910" y="203111"/>
                </a:lnTo>
                <a:lnTo>
                  <a:pt x="1950387" y="202887"/>
                </a:lnTo>
                <a:lnTo>
                  <a:pt x="1953863" y="202657"/>
                </a:lnTo>
                <a:lnTo>
                  <a:pt x="1957340" y="202423"/>
                </a:lnTo>
                <a:lnTo>
                  <a:pt x="1960817" y="202185"/>
                </a:lnTo>
                <a:lnTo>
                  <a:pt x="1964293" y="201944"/>
                </a:lnTo>
                <a:lnTo>
                  <a:pt x="1967770" y="201700"/>
                </a:lnTo>
                <a:lnTo>
                  <a:pt x="1971246" y="201455"/>
                </a:lnTo>
                <a:lnTo>
                  <a:pt x="1974723" y="201209"/>
                </a:lnTo>
                <a:lnTo>
                  <a:pt x="1978200" y="200963"/>
                </a:lnTo>
                <a:lnTo>
                  <a:pt x="1981676" y="200717"/>
                </a:lnTo>
                <a:lnTo>
                  <a:pt x="1985153" y="200472"/>
                </a:lnTo>
                <a:lnTo>
                  <a:pt x="1988629" y="200228"/>
                </a:lnTo>
                <a:lnTo>
                  <a:pt x="1992106" y="199986"/>
                </a:lnTo>
                <a:lnTo>
                  <a:pt x="1995583" y="199747"/>
                </a:lnTo>
                <a:lnTo>
                  <a:pt x="1999059" y="199511"/>
                </a:lnTo>
                <a:lnTo>
                  <a:pt x="2002536" y="199278"/>
                </a:lnTo>
                <a:lnTo>
                  <a:pt x="2006013" y="199050"/>
                </a:lnTo>
                <a:lnTo>
                  <a:pt x="2009489" y="198826"/>
                </a:lnTo>
                <a:lnTo>
                  <a:pt x="2012966" y="198608"/>
                </a:lnTo>
                <a:lnTo>
                  <a:pt x="2016443" y="198394"/>
                </a:lnTo>
                <a:lnTo>
                  <a:pt x="2019919" y="198187"/>
                </a:lnTo>
                <a:lnTo>
                  <a:pt x="2023396" y="197986"/>
                </a:lnTo>
                <a:lnTo>
                  <a:pt x="2026872" y="197792"/>
                </a:lnTo>
                <a:lnTo>
                  <a:pt x="2030349" y="197605"/>
                </a:lnTo>
                <a:lnTo>
                  <a:pt x="2033826" y="197425"/>
                </a:lnTo>
                <a:lnTo>
                  <a:pt x="2037302" y="197252"/>
                </a:lnTo>
                <a:lnTo>
                  <a:pt x="2040779" y="197088"/>
                </a:lnTo>
                <a:lnTo>
                  <a:pt x="2044256" y="196931"/>
                </a:lnTo>
                <a:lnTo>
                  <a:pt x="2047732" y="196784"/>
                </a:lnTo>
                <a:lnTo>
                  <a:pt x="2051209" y="196644"/>
                </a:lnTo>
                <a:lnTo>
                  <a:pt x="2054685" y="196514"/>
                </a:lnTo>
                <a:lnTo>
                  <a:pt x="2058162" y="196392"/>
                </a:lnTo>
                <a:lnTo>
                  <a:pt x="2061639" y="196280"/>
                </a:lnTo>
                <a:lnTo>
                  <a:pt x="2065115" y="196177"/>
                </a:lnTo>
                <a:lnTo>
                  <a:pt x="2068592" y="196083"/>
                </a:lnTo>
                <a:lnTo>
                  <a:pt x="2072068" y="195998"/>
                </a:lnTo>
                <a:lnTo>
                  <a:pt x="2075545" y="195924"/>
                </a:lnTo>
                <a:lnTo>
                  <a:pt x="2079022" y="195858"/>
                </a:lnTo>
                <a:lnTo>
                  <a:pt x="2082498" y="195803"/>
                </a:lnTo>
                <a:lnTo>
                  <a:pt x="2085975" y="195757"/>
                </a:lnTo>
                <a:lnTo>
                  <a:pt x="2089452" y="195720"/>
                </a:lnTo>
                <a:lnTo>
                  <a:pt x="2092928" y="195694"/>
                </a:lnTo>
                <a:lnTo>
                  <a:pt x="2096405" y="195676"/>
                </a:lnTo>
                <a:lnTo>
                  <a:pt x="2099882" y="195669"/>
                </a:lnTo>
                <a:lnTo>
                  <a:pt x="2103358" y="195670"/>
                </a:lnTo>
                <a:lnTo>
                  <a:pt x="2106835" y="195681"/>
                </a:lnTo>
                <a:lnTo>
                  <a:pt x="2110311" y="195701"/>
                </a:lnTo>
                <a:lnTo>
                  <a:pt x="2113788" y="195730"/>
                </a:lnTo>
                <a:lnTo>
                  <a:pt x="2117265" y="195768"/>
                </a:lnTo>
                <a:lnTo>
                  <a:pt x="2120741" y="195815"/>
                </a:lnTo>
                <a:lnTo>
                  <a:pt x="2124218" y="195871"/>
                </a:lnTo>
                <a:lnTo>
                  <a:pt x="2127695" y="195935"/>
                </a:lnTo>
                <a:lnTo>
                  <a:pt x="2131171" y="196007"/>
                </a:lnTo>
                <a:lnTo>
                  <a:pt x="2134648" y="196087"/>
                </a:lnTo>
                <a:lnTo>
                  <a:pt x="2138124" y="196175"/>
                </a:lnTo>
                <a:lnTo>
                  <a:pt x="2141601" y="196270"/>
                </a:lnTo>
                <a:lnTo>
                  <a:pt x="2145078" y="196373"/>
                </a:lnTo>
                <a:lnTo>
                  <a:pt x="2148554" y="196483"/>
                </a:lnTo>
                <a:lnTo>
                  <a:pt x="2152031" y="196600"/>
                </a:lnTo>
                <a:lnTo>
                  <a:pt x="2155508" y="196723"/>
                </a:lnTo>
                <a:lnTo>
                  <a:pt x="2158984" y="196853"/>
                </a:lnTo>
                <a:lnTo>
                  <a:pt x="2162461" y="196988"/>
                </a:lnTo>
                <a:lnTo>
                  <a:pt x="2165937" y="197130"/>
                </a:lnTo>
                <a:lnTo>
                  <a:pt x="2169414" y="197276"/>
                </a:lnTo>
                <a:lnTo>
                  <a:pt x="2172891" y="197428"/>
                </a:lnTo>
                <a:lnTo>
                  <a:pt x="2176367" y="197585"/>
                </a:lnTo>
                <a:lnTo>
                  <a:pt x="2179844" y="197746"/>
                </a:lnTo>
                <a:lnTo>
                  <a:pt x="2183321" y="197911"/>
                </a:lnTo>
                <a:lnTo>
                  <a:pt x="2186797" y="198080"/>
                </a:lnTo>
                <a:lnTo>
                  <a:pt x="2190274" y="198253"/>
                </a:lnTo>
                <a:lnTo>
                  <a:pt x="2193750" y="198429"/>
                </a:lnTo>
                <a:lnTo>
                  <a:pt x="2197227" y="198608"/>
                </a:lnTo>
                <a:lnTo>
                  <a:pt x="2200704" y="198789"/>
                </a:lnTo>
                <a:lnTo>
                  <a:pt x="2204180" y="198972"/>
                </a:lnTo>
                <a:lnTo>
                  <a:pt x="2207657" y="199158"/>
                </a:lnTo>
                <a:lnTo>
                  <a:pt x="2211134" y="199345"/>
                </a:lnTo>
                <a:lnTo>
                  <a:pt x="2214610" y="199534"/>
                </a:lnTo>
                <a:lnTo>
                  <a:pt x="2218087" y="199723"/>
                </a:lnTo>
                <a:lnTo>
                  <a:pt x="2221563" y="199913"/>
                </a:lnTo>
                <a:lnTo>
                  <a:pt x="2225040" y="200103"/>
                </a:lnTo>
                <a:lnTo>
                  <a:pt x="2228517" y="200294"/>
                </a:lnTo>
                <a:lnTo>
                  <a:pt x="2231993" y="200484"/>
                </a:lnTo>
                <a:lnTo>
                  <a:pt x="2235470" y="200674"/>
                </a:lnTo>
                <a:lnTo>
                  <a:pt x="2238947" y="200863"/>
                </a:lnTo>
                <a:lnTo>
                  <a:pt x="2242423" y="201050"/>
                </a:lnTo>
                <a:lnTo>
                  <a:pt x="2245900" y="201236"/>
                </a:lnTo>
                <a:lnTo>
                  <a:pt x="2249376" y="201421"/>
                </a:lnTo>
                <a:lnTo>
                  <a:pt x="2252853" y="201604"/>
                </a:lnTo>
                <a:lnTo>
                  <a:pt x="2256330" y="201784"/>
                </a:lnTo>
                <a:lnTo>
                  <a:pt x="2259806" y="201962"/>
                </a:lnTo>
                <a:lnTo>
                  <a:pt x="2263283" y="202137"/>
                </a:lnTo>
                <a:lnTo>
                  <a:pt x="2266760" y="202309"/>
                </a:lnTo>
                <a:lnTo>
                  <a:pt x="2270236" y="202478"/>
                </a:lnTo>
                <a:lnTo>
                  <a:pt x="2273713" y="202644"/>
                </a:lnTo>
                <a:lnTo>
                  <a:pt x="2277189" y="202806"/>
                </a:lnTo>
                <a:lnTo>
                  <a:pt x="2280666" y="202964"/>
                </a:lnTo>
                <a:lnTo>
                  <a:pt x="2284143" y="203119"/>
                </a:lnTo>
                <a:lnTo>
                  <a:pt x="2287619" y="203269"/>
                </a:lnTo>
                <a:lnTo>
                  <a:pt x="2291096" y="203414"/>
                </a:lnTo>
                <a:lnTo>
                  <a:pt x="2294573" y="203555"/>
                </a:lnTo>
                <a:lnTo>
                  <a:pt x="2298049" y="203692"/>
                </a:lnTo>
                <a:lnTo>
                  <a:pt x="2301526" y="203824"/>
                </a:lnTo>
                <a:lnTo>
                  <a:pt x="2305002" y="203950"/>
                </a:lnTo>
                <a:lnTo>
                  <a:pt x="2308479" y="204072"/>
                </a:lnTo>
                <a:lnTo>
                  <a:pt x="2311956" y="204189"/>
                </a:lnTo>
                <a:lnTo>
                  <a:pt x="2315432" y="204300"/>
                </a:lnTo>
                <a:lnTo>
                  <a:pt x="2318909" y="204406"/>
                </a:lnTo>
                <a:lnTo>
                  <a:pt x="2322386" y="204506"/>
                </a:lnTo>
                <a:lnTo>
                  <a:pt x="2325862" y="204601"/>
                </a:lnTo>
                <a:lnTo>
                  <a:pt x="2329339" y="204691"/>
                </a:lnTo>
                <a:lnTo>
                  <a:pt x="2332815" y="204774"/>
                </a:lnTo>
                <a:lnTo>
                  <a:pt x="2336292" y="204853"/>
                </a:lnTo>
                <a:lnTo>
                  <a:pt x="2339769" y="204925"/>
                </a:lnTo>
                <a:lnTo>
                  <a:pt x="2343245" y="204992"/>
                </a:lnTo>
                <a:lnTo>
                  <a:pt x="2346722" y="205053"/>
                </a:lnTo>
                <a:lnTo>
                  <a:pt x="2350199" y="205108"/>
                </a:lnTo>
                <a:lnTo>
                  <a:pt x="2353675" y="205158"/>
                </a:lnTo>
                <a:lnTo>
                  <a:pt x="2357152" y="205202"/>
                </a:lnTo>
                <a:lnTo>
                  <a:pt x="2360628" y="205241"/>
                </a:lnTo>
                <a:lnTo>
                  <a:pt x="2364105" y="205274"/>
                </a:lnTo>
                <a:lnTo>
                  <a:pt x="2367582" y="205301"/>
                </a:lnTo>
                <a:lnTo>
                  <a:pt x="2371058" y="205323"/>
                </a:lnTo>
                <a:lnTo>
                  <a:pt x="2374535" y="205340"/>
                </a:lnTo>
                <a:lnTo>
                  <a:pt x="2378011" y="205352"/>
                </a:lnTo>
                <a:lnTo>
                  <a:pt x="2381488" y="205358"/>
                </a:lnTo>
                <a:lnTo>
                  <a:pt x="2384965" y="205359"/>
                </a:lnTo>
                <a:lnTo>
                  <a:pt x="2388441" y="205355"/>
                </a:lnTo>
                <a:lnTo>
                  <a:pt x="2391918" y="205346"/>
                </a:lnTo>
                <a:lnTo>
                  <a:pt x="2395395" y="205333"/>
                </a:lnTo>
                <a:lnTo>
                  <a:pt x="2398871" y="205314"/>
                </a:lnTo>
                <a:lnTo>
                  <a:pt x="2402348" y="205292"/>
                </a:lnTo>
                <a:lnTo>
                  <a:pt x="2405825" y="205264"/>
                </a:lnTo>
                <a:lnTo>
                  <a:pt x="2409301" y="205233"/>
                </a:lnTo>
                <a:lnTo>
                  <a:pt x="2412778" y="205198"/>
                </a:lnTo>
                <a:lnTo>
                  <a:pt x="2416254" y="205158"/>
                </a:lnTo>
                <a:lnTo>
                  <a:pt x="2419731" y="205115"/>
                </a:lnTo>
                <a:lnTo>
                  <a:pt x="2423208" y="205069"/>
                </a:lnTo>
                <a:lnTo>
                  <a:pt x="2426684" y="205018"/>
                </a:lnTo>
                <a:lnTo>
                  <a:pt x="2430161" y="204965"/>
                </a:lnTo>
                <a:lnTo>
                  <a:pt x="2433638" y="204908"/>
                </a:lnTo>
                <a:lnTo>
                  <a:pt x="2437114" y="204849"/>
                </a:lnTo>
                <a:lnTo>
                  <a:pt x="2440591" y="204787"/>
                </a:lnTo>
                <a:lnTo>
                  <a:pt x="2444067" y="204722"/>
                </a:lnTo>
                <a:lnTo>
                  <a:pt x="2447544" y="204655"/>
                </a:lnTo>
                <a:lnTo>
                  <a:pt x="2451021" y="204586"/>
                </a:lnTo>
                <a:lnTo>
                  <a:pt x="2454497" y="204515"/>
                </a:lnTo>
                <a:lnTo>
                  <a:pt x="2457974" y="204442"/>
                </a:lnTo>
                <a:lnTo>
                  <a:pt x="2461451" y="204367"/>
                </a:lnTo>
                <a:lnTo>
                  <a:pt x="2464927" y="204291"/>
                </a:lnTo>
                <a:lnTo>
                  <a:pt x="2468404" y="204214"/>
                </a:lnTo>
                <a:lnTo>
                  <a:pt x="2471880" y="204136"/>
                </a:lnTo>
                <a:lnTo>
                  <a:pt x="2475357" y="204057"/>
                </a:lnTo>
                <a:lnTo>
                  <a:pt x="2478834" y="203977"/>
                </a:lnTo>
                <a:lnTo>
                  <a:pt x="2482310" y="203897"/>
                </a:lnTo>
                <a:lnTo>
                  <a:pt x="2485787" y="203816"/>
                </a:lnTo>
                <a:lnTo>
                  <a:pt x="2489263" y="203736"/>
                </a:lnTo>
                <a:lnTo>
                  <a:pt x="2492740" y="203655"/>
                </a:lnTo>
                <a:lnTo>
                  <a:pt x="2496217" y="203575"/>
                </a:lnTo>
                <a:lnTo>
                  <a:pt x="2499693" y="203495"/>
                </a:lnTo>
                <a:lnTo>
                  <a:pt x="2503170" y="203416"/>
                </a:lnTo>
                <a:lnTo>
                  <a:pt x="2506647" y="203337"/>
                </a:lnTo>
                <a:lnTo>
                  <a:pt x="2510123" y="203260"/>
                </a:lnTo>
                <a:lnTo>
                  <a:pt x="2513600" y="203183"/>
                </a:lnTo>
                <a:lnTo>
                  <a:pt x="2517077" y="203108"/>
                </a:lnTo>
                <a:lnTo>
                  <a:pt x="2520553" y="203034"/>
                </a:lnTo>
                <a:lnTo>
                  <a:pt x="2524030" y="202962"/>
                </a:lnTo>
                <a:lnTo>
                  <a:pt x="2527506" y="202892"/>
                </a:lnTo>
                <a:lnTo>
                  <a:pt x="2530983" y="202823"/>
                </a:lnTo>
                <a:lnTo>
                  <a:pt x="2534460" y="202756"/>
                </a:lnTo>
                <a:lnTo>
                  <a:pt x="2537936" y="202692"/>
                </a:lnTo>
                <a:lnTo>
                  <a:pt x="2541413" y="202629"/>
                </a:lnTo>
                <a:lnTo>
                  <a:pt x="2544890" y="202569"/>
                </a:lnTo>
                <a:lnTo>
                  <a:pt x="2548366" y="202511"/>
                </a:lnTo>
                <a:lnTo>
                  <a:pt x="2551843" y="202456"/>
                </a:lnTo>
                <a:lnTo>
                  <a:pt x="2555319" y="202404"/>
                </a:lnTo>
                <a:lnTo>
                  <a:pt x="2558796" y="202354"/>
                </a:lnTo>
                <a:lnTo>
                  <a:pt x="2562273" y="202307"/>
                </a:lnTo>
                <a:lnTo>
                  <a:pt x="2565749" y="202263"/>
                </a:lnTo>
                <a:lnTo>
                  <a:pt x="2569226" y="202222"/>
                </a:lnTo>
                <a:lnTo>
                  <a:pt x="2572703" y="202183"/>
                </a:lnTo>
                <a:lnTo>
                  <a:pt x="2576179" y="202148"/>
                </a:lnTo>
                <a:lnTo>
                  <a:pt x="2579656" y="202116"/>
                </a:lnTo>
                <a:lnTo>
                  <a:pt x="2583132" y="202088"/>
                </a:lnTo>
                <a:lnTo>
                  <a:pt x="2586609" y="202062"/>
                </a:lnTo>
                <a:lnTo>
                  <a:pt x="2590086" y="202040"/>
                </a:lnTo>
                <a:lnTo>
                  <a:pt x="2593562" y="202021"/>
                </a:lnTo>
                <a:lnTo>
                  <a:pt x="2597039" y="202005"/>
                </a:lnTo>
                <a:lnTo>
                  <a:pt x="2600516" y="201992"/>
                </a:lnTo>
                <a:lnTo>
                  <a:pt x="2603992" y="201983"/>
                </a:lnTo>
                <a:lnTo>
                  <a:pt x="2607469" y="201977"/>
                </a:lnTo>
                <a:lnTo>
                  <a:pt x="2610945" y="201975"/>
                </a:lnTo>
                <a:lnTo>
                  <a:pt x="2614422" y="201976"/>
                </a:lnTo>
                <a:lnTo>
                  <a:pt x="2617899" y="201979"/>
                </a:lnTo>
                <a:lnTo>
                  <a:pt x="2621375" y="201987"/>
                </a:lnTo>
                <a:lnTo>
                  <a:pt x="2624852" y="201997"/>
                </a:lnTo>
                <a:lnTo>
                  <a:pt x="2628329" y="202011"/>
                </a:lnTo>
                <a:lnTo>
                  <a:pt x="2631805" y="202027"/>
                </a:lnTo>
                <a:lnTo>
                  <a:pt x="2635282" y="202047"/>
                </a:lnTo>
                <a:lnTo>
                  <a:pt x="2638758" y="202070"/>
                </a:lnTo>
                <a:lnTo>
                  <a:pt x="2642235" y="202095"/>
                </a:lnTo>
                <a:lnTo>
                  <a:pt x="2645712" y="202124"/>
                </a:lnTo>
                <a:lnTo>
                  <a:pt x="2649188" y="202155"/>
                </a:lnTo>
                <a:lnTo>
                  <a:pt x="2652665" y="202190"/>
                </a:lnTo>
                <a:lnTo>
                  <a:pt x="2656142" y="202226"/>
                </a:lnTo>
                <a:lnTo>
                  <a:pt x="2659618" y="202266"/>
                </a:lnTo>
                <a:lnTo>
                  <a:pt x="2663095" y="202308"/>
                </a:lnTo>
                <a:lnTo>
                  <a:pt x="2666571" y="202352"/>
                </a:lnTo>
                <a:lnTo>
                  <a:pt x="2670048" y="202399"/>
                </a:lnTo>
                <a:lnTo>
                  <a:pt x="2673525" y="202448"/>
                </a:lnTo>
                <a:lnTo>
                  <a:pt x="2677001" y="202499"/>
                </a:lnTo>
                <a:lnTo>
                  <a:pt x="2680478" y="202552"/>
                </a:lnTo>
                <a:lnTo>
                  <a:pt x="2683954" y="202607"/>
                </a:lnTo>
                <a:lnTo>
                  <a:pt x="2687431" y="202663"/>
                </a:lnTo>
                <a:lnTo>
                  <a:pt x="2690908" y="202722"/>
                </a:lnTo>
                <a:lnTo>
                  <a:pt x="2694384" y="202782"/>
                </a:lnTo>
                <a:lnTo>
                  <a:pt x="2697861" y="202843"/>
                </a:lnTo>
                <a:lnTo>
                  <a:pt x="2701338" y="202906"/>
                </a:lnTo>
                <a:lnTo>
                  <a:pt x="2704814" y="202970"/>
                </a:lnTo>
                <a:lnTo>
                  <a:pt x="2708291" y="203035"/>
                </a:lnTo>
                <a:lnTo>
                  <a:pt x="2711768" y="203101"/>
                </a:lnTo>
                <a:lnTo>
                  <a:pt x="2715244" y="203168"/>
                </a:lnTo>
                <a:lnTo>
                  <a:pt x="2718721" y="203235"/>
                </a:lnTo>
                <a:lnTo>
                  <a:pt x="2722197" y="203304"/>
                </a:lnTo>
                <a:lnTo>
                  <a:pt x="2725674" y="203372"/>
                </a:lnTo>
                <a:lnTo>
                  <a:pt x="2729151" y="203441"/>
                </a:lnTo>
                <a:lnTo>
                  <a:pt x="2732627" y="203511"/>
                </a:lnTo>
                <a:lnTo>
                  <a:pt x="2736104" y="203580"/>
                </a:lnTo>
                <a:lnTo>
                  <a:pt x="2739581" y="203650"/>
                </a:lnTo>
                <a:lnTo>
                  <a:pt x="2743057" y="203719"/>
                </a:lnTo>
                <a:lnTo>
                  <a:pt x="2746534" y="203788"/>
                </a:lnTo>
                <a:lnTo>
                  <a:pt x="2750010" y="203857"/>
                </a:lnTo>
                <a:lnTo>
                  <a:pt x="2753487" y="203925"/>
                </a:lnTo>
                <a:lnTo>
                  <a:pt x="2756964" y="203993"/>
                </a:lnTo>
                <a:lnTo>
                  <a:pt x="2760440" y="204060"/>
                </a:lnTo>
                <a:lnTo>
                  <a:pt x="2763917" y="204126"/>
                </a:lnTo>
                <a:lnTo>
                  <a:pt x="2767394" y="204192"/>
                </a:lnTo>
                <a:lnTo>
                  <a:pt x="2770870" y="204256"/>
                </a:lnTo>
                <a:lnTo>
                  <a:pt x="2774347" y="204319"/>
                </a:lnTo>
                <a:lnTo>
                  <a:pt x="2777823" y="204381"/>
                </a:lnTo>
                <a:lnTo>
                  <a:pt x="2781300" y="204442"/>
                </a:lnTo>
              </a:path>
            </a:pathLst>
          </a:custGeom>
          <a:noFill xmlns:a="http://schemas.openxmlformats.org/drawingml/2006/main"/>
          <a:ln xmlns:a="http://schemas.openxmlformats.org/drawingml/2006/main" w="15240">
            <a:solidFill>
              <a:srgbClr val="202020"/>
            </a:solidFill>
          </a:ln>
        </p:spPr>
      </p:sp>
      <p:pic>
        <p:nvPicPr>
          <p:cNvPr id="36" name="!!qam-route-m" descr="m_1,m_2">
            <ns0:hlinkClick xmlns:ns0="http://schemas.openxmlformats.org/drawingml/2006/main" xmlns:ns1="http://schemas.openxmlformats.org/officeDocument/2006/relationships" ns1:id="rIdmethods_Link15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bdfed4573be41b5">
            <a:extLst>
              <a:ext uri="{96DAC541-7B7A-43D3-8B79-37D633B846F1}">
                <ns0:svgBlip xmlns:ns0="http://schemas.microsoft.com/office/drawing/2016/SVG/main" r:embed="rIdVectormf00731"/>
              </a:ext>
            </a:extLst>
          </a:blip>
          <a:stretch xmlns:a="http://schemas.openxmlformats.org/drawingml/2006/main"/>
        </p:blipFill>
        <p:spPr>
          <a:xfrm xmlns:a="http://schemas.openxmlformats.org/drawingml/2006/main">
            <a:off x="1985509" y="975360"/>
            <a:ext cx="1267731" cy="240030"/>
          </a:xfrm>
          <a:prstGeom xmlns:a="http://schemas.openxmlformats.org/drawingml/2006/main" prst="rect">
            <a:avLst/>
          </a:prstGeom>
        </p:spPr>
      </p:pic>
      <p:pic>
        <p:nvPicPr>
          <p:cNvPr id="37" name="!!qam-route-s" descr="s(t)">
            <ns0:hlinkClick xmlns:ns0="http://schemas.openxmlformats.org/drawingml/2006/main" xmlns:ns1="http://schemas.openxmlformats.org/officeDocument/2006/relationships" ns1:id="rIdmethods_Link160"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e456a2eac57f4352">
            <a:extLst>
              <a:ext uri="{96DAC541-7B7A-43D3-8B79-37D633B846F1}">
                <ns1:svgBlip xmlns:ns1="http://schemas.microsoft.com/office/drawing/2016/SVG/main" r:embed="rIdVectormf00732"/>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38" name="!!qam-route-restored" descr="m_1,m_2">
            <ns0:hlinkClick xmlns:ns0="http://schemas.openxmlformats.org/drawingml/2006/main" xmlns:ns1="http://schemas.openxmlformats.org/officeDocument/2006/relationships" ns1:id="rIdmethods_Link16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cb15f5265c354bc4">
            <a:extLst>
              <a:ext uri="{96DAC541-7B7A-43D3-8B79-37D633B846F1}">
                <ns2:svgBlip xmlns:ns2="http://schemas.microsoft.com/office/drawing/2016/SVG/main" r:embed="rIdVectormf00733"/>
              </a:ext>
            </a:extLst>
          </a:blip>
          <a:stretch xmlns:a="http://schemas.openxmlformats.org/drawingml/2006/main"/>
        </p:blipFill>
        <p:spPr>
          <a:xfrm xmlns:a="http://schemas.openxmlformats.org/drawingml/2006/main">
            <a:off x="8938759" y="975360"/>
            <a:ext cx="1267731" cy="240030"/>
          </a:xfrm>
          <a:prstGeom xmlns:a="http://schemas.openxmlformats.org/drawingml/2006/main" prst="rect">
            <a:avLst/>
          </a:prstGeom>
        </p:spPr>
      </p:pic>
      <p:pic>
        <p:nvPicPr>
          <p:cNvPr id="39" name="!!qam-qam-start-r0-domain" descr="t"/>
          <p:cNvPicPr>
            <a:picLocks xmlns:a="http://schemas.openxmlformats.org/drawingml/2006/main" noChangeAspect="1"/>
          </p:cNvPicPr>
          <p:nvPr/>
        </p:nvPicPr>
        <p:blipFill>
          <a:blip xmlns:r="http://schemas.openxmlformats.org/officeDocument/2006/relationships" xmlns:a="http://schemas.openxmlformats.org/drawingml/2006/main" r:embed="R6f5d1e51f76b43ae">
            <a:extLst>
              <a:ext uri="{96DAC541-7B7A-43D3-8B79-37D633B846F1}">
                <ns3:svgBlip xmlns:ns3="http://schemas.microsoft.com/office/drawing/2016/SVG/main" r:embed="rIdVectormf00734"/>
              </a:ext>
            </a:extLst>
          </a:blip>
          <a:stretch xmlns:a="http://schemas.openxmlformats.org/drawingml/2006/main"/>
        </p:blipFill>
        <p:spPr>
          <a:xfrm xmlns:a="http://schemas.openxmlformats.org/drawingml/2006/main">
            <a:off x="3371850" y="2580144"/>
            <a:ext cx="68580" cy="97512"/>
          </a:xfrm>
          <a:prstGeom xmlns:a="http://schemas.openxmlformats.org/drawingml/2006/main" prst="rect">
            <a:avLst/>
          </a:prstGeom>
        </p:spPr>
      </p:pic>
      <p:pic>
        <p:nvPicPr>
          <p:cNvPr id="40" name="!!qam-qam-start-r0-label" descr="\textstyle m_1(t)"/>
          <p:cNvPicPr>
            <a:picLocks xmlns:a="http://schemas.openxmlformats.org/drawingml/2006/main" noChangeAspect="1"/>
          </p:cNvPicPr>
          <p:nvPr/>
        </p:nvPicPr>
        <p:blipFill>
          <a:blip xmlns:r="http://schemas.openxmlformats.org/officeDocument/2006/relationships" xmlns:a="http://schemas.openxmlformats.org/drawingml/2006/main" r:embed="R52dd0dd1ec3f434c">
            <a:extLst>
              <a:ext uri="{96DAC541-7B7A-43D3-8B79-37D633B846F1}">
                <ns4:svgBlip xmlns:ns4="http://schemas.microsoft.com/office/drawing/2016/SVG/main" r:embed="rIdVectormf00735"/>
              </a:ext>
            </a:extLst>
          </a:blip>
          <a:stretch xmlns:a="http://schemas.openxmlformats.org/drawingml/2006/main"/>
        </p:blipFill>
        <p:spPr>
          <a:xfrm xmlns:a="http://schemas.openxmlformats.org/drawingml/2006/main">
            <a:off x="571500" y="2081213"/>
            <a:ext cx="586740" cy="209550"/>
          </a:xfrm>
          <a:prstGeom xmlns:a="http://schemas.openxmlformats.org/drawingml/2006/main" prst="rect">
            <a:avLst/>
          </a:prstGeom>
        </p:spPr>
      </p:pic>
      <p:pic>
        <p:nvPicPr>
          <p:cNvPr id="41" name="!!qam-qam-start-r1-domain" descr="t"/>
          <p:cNvPicPr>
            <a:picLocks xmlns:a="http://schemas.openxmlformats.org/drawingml/2006/main" noChangeAspect="1"/>
          </p:cNvPicPr>
          <p:nvPr/>
        </p:nvPicPr>
        <p:blipFill>
          <a:blip xmlns:r="http://schemas.openxmlformats.org/officeDocument/2006/relationships" xmlns:a="http://schemas.openxmlformats.org/drawingml/2006/main" r:embed="Rb973f7c87a184dcf">
            <a:extLst>
              <a:ext uri="{96DAC541-7B7A-43D3-8B79-37D633B846F1}">
                <ns5:svgBlip xmlns:ns5="http://schemas.microsoft.com/office/drawing/2016/SVG/main" r:embed="rIdVectormf00736"/>
              </a:ext>
            </a:extLst>
          </a:blip>
          <a:stretch xmlns:a="http://schemas.openxmlformats.org/drawingml/2006/main"/>
        </p:blipFill>
        <p:spPr>
          <a:xfrm xmlns:a="http://schemas.openxmlformats.org/drawingml/2006/main">
            <a:off x="3371850" y="3846969"/>
            <a:ext cx="68580" cy="97512"/>
          </a:xfrm>
          <a:prstGeom xmlns:a="http://schemas.openxmlformats.org/drawingml/2006/main" prst="rect">
            <a:avLst/>
          </a:prstGeom>
        </p:spPr>
      </p:pic>
      <p:pic>
        <p:nvPicPr>
          <p:cNvPr id="42" name="!!qam-qam-start-r1-label" descr="\textstyle m_2(t)"/>
          <p:cNvPicPr>
            <a:picLocks xmlns:a="http://schemas.openxmlformats.org/drawingml/2006/main" noChangeAspect="1"/>
          </p:cNvPicPr>
          <p:nvPr/>
        </p:nvPicPr>
        <p:blipFill>
          <a:blip xmlns:r="http://schemas.openxmlformats.org/officeDocument/2006/relationships" xmlns:a="http://schemas.openxmlformats.org/drawingml/2006/main" r:embed="Re064020e05454274">
            <a:extLst>
              <a:ext uri="{96DAC541-7B7A-43D3-8B79-37D633B846F1}">
                <ns6:svgBlip xmlns:ns6="http://schemas.microsoft.com/office/drawing/2016/SVG/main" r:embed="rIdVectormf00737"/>
              </a:ext>
            </a:extLst>
          </a:blip>
          <a:stretch xmlns:a="http://schemas.openxmlformats.org/drawingml/2006/main"/>
        </p:blipFill>
        <p:spPr>
          <a:xfrm xmlns:a="http://schemas.openxmlformats.org/drawingml/2006/main">
            <a:off x="571500" y="3486150"/>
            <a:ext cx="586740" cy="209550"/>
          </a:xfrm>
          <a:prstGeom xmlns:a="http://schemas.openxmlformats.org/drawingml/2006/main" prst="rect">
            <a:avLst/>
          </a:prstGeom>
        </p:spPr>
      </p:pic>
      <p:pic>
        <p:nvPicPr>
          <p:cNvPr id="43" name="!!qam-basis-cos" descr="\cos(2\pi f_ct)"/>
          <p:cNvPicPr>
            <a:picLocks xmlns:a="http://schemas.openxmlformats.org/drawingml/2006/main" noChangeAspect="1"/>
          </p:cNvPicPr>
          <p:nvPr/>
        </p:nvPicPr>
        <p:blipFill>
          <a:blip xmlns:r="http://schemas.openxmlformats.org/officeDocument/2006/relationships" xmlns:a="http://schemas.openxmlformats.org/drawingml/2006/main" r:embed="R657fb94a8c224234">
            <a:extLst>
              <a:ext uri="{96DAC541-7B7A-43D3-8B79-37D633B846F1}">
                <ns7:svgBlip xmlns:ns7="http://schemas.microsoft.com/office/drawing/2016/SVG/main" r:embed="rIdVectormf00738"/>
              </a:ext>
            </a:extLst>
          </a:blip>
          <a:stretch xmlns:a="http://schemas.openxmlformats.org/drawingml/2006/main"/>
        </p:blipFill>
        <p:spPr>
          <a:xfrm xmlns:a="http://schemas.openxmlformats.org/drawingml/2006/main">
            <a:off x="5381625" y="2620387"/>
            <a:ext cx="1586865" cy="321826"/>
          </a:xfrm>
          <a:prstGeom xmlns:a="http://schemas.openxmlformats.org/drawingml/2006/main" prst="rect">
            <a:avLst/>
          </a:prstGeom>
        </p:spPr>
      </p:pic>
      <p:pic>
        <p:nvPicPr>
          <p:cNvPr id="44" name="!!qam-basis-sin" descr="\sin(2\pi f_ct)"/>
          <p:cNvPicPr>
            <a:picLocks xmlns:a="http://schemas.openxmlformats.org/drawingml/2006/main" noChangeAspect="1"/>
          </p:cNvPicPr>
          <p:nvPr/>
        </p:nvPicPr>
        <p:blipFill>
          <a:blip xmlns:r="http://schemas.openxmlformats.org/officeDocument/2006/relationships" xmlns:a="http://schemas.openxmlformats.org/drawingml/2006/main" r:embed="R62702bf8ec78449a">
            <a:extLst>
              <a:ext uri="{96DAC541-7B7A-43D3-8B79-37D633B846F1}">
                <ns8:svgBlip xmlns:ns8="http://schemas.microsoft.com/office/drawing/2016/SVG/main" r:embed="rIdVectormf00739"/>
              </a:ext>
            </a:extLst>
          </a:blip>
          <a:stretch xmlns:a="http://schemas.openxmlformats.org/drawingml/2006/main"/>
        </p:blipFill>
        <p:spPr>
          <a:xfrm xmlns:a="http://schemas.openxmlformats.org/drawingml/2006/main">
            <a:off x="5381625" y="3848100"/>
            <a:ext cx="1554480" cy="323850"/>
          </a:xfrm>
          <a:prstGeom xmlns:a="http://schemas.openxmlformats.org/drawingml/2006/main" prst="rect">
            <a:avLst/>
          </a:prstGeom>
        </p:spPr>
      </p:pic>
      <p:pic>
        <p:nvPicPr>
          <p:cNvPr id="45" name="!!qam-dense-equation-0" descr="\textstyle m_1(t)\times\cos(2\pi f_ct),\qquad m_2(t)\times\sin(2\pi f_ct)"/>
          <p:cNvPicPr>
            <a:picLocks xmlns:a="http://schemas.openxmlformats.org/drawingml/2006/main" noChangeAspect="1"/>
          </p:cNvPicPr>
          <p:nvPr/>
        </p:nvPicPr>
        <p:blipFill>
          <a:blip xmlns:r="http://schemas.openxmlformats.org/officeDocument/2006/relationships" xmlns:a="http://schemas.openxmlformats.org/drawingml/2006/main" r:embed="Re33445b063da41b0">
            <a:extLst>
              <a:ext uri="{96DAC541-7B7A-43D3-8B79-37D633B846F1}">
                <ns9:svgBlip xmlns:ns9="http://schemas.microsoft.com/office/drawing/2016/SVG/main" r:embed="rIdVectormf00740"/>
              </a:ext>
            </a:extLst>
          </a:blip>
          <a:stretch xmlns:a="http://schemas.openxmlformats.org/drawingml/2006/main"/>
        </p:blipFill>
        <p:spPr>
          <a:xfrm xmlns:a="http://schemas.openxmlformats.org/drawingml/2006/main">
            <a:off x="609600" y="5172075"/>
            <a:ext cx="5175885" cy="247650"/>
          </a:xfrm>
          <a:prstGeom xmlns:a="http://schemas.openxmlformats.org/drawingml/2006/main" prst="rect">
            <a:avLst/>
          </a:prstGeom>
        </p:spPr>
      </p:pic>
      <p:pic>
        <p:nvPicPr>
          <p:cNvPr id="46" name="!!qam-dense-equation-1" descr="\textstyle \text{Both modulated branches: }[f_c-W,f_c+W]\ \text{and its negative mirror.}"/>
          <p:cNvPicPr>
            <a:picLocks xmlns:a="http://schemas.openxmlformats.org/drawingml/2006/main" noChangeAspect="1"/>
          </p:cNvPicPr>
          <p:nvPr/>
        </p:nvPicPr>
        <p:blipFill>
          <a:blip xmlns:r="http://schemas.openxmlformats.org/officeDocument/2006/relationships" xmlns:a="http://schemas.openxmlformats.org/drawingml/2006/main" r:embed="R04aba9f2ab1a4ba3">
            <a:extLst>
              <a:ext uri="{96DAC541-7B7A-43D3-8B79-37D633B846F1}">
                <ns10:svgBlip xmlns:ns10="http://schemas.microsoft.com/office/drawing/2016/SVG/main" r:embed="rIdVectormf00741"/>
              </a:ext>
            </a:extLst>
          </a:blip>
          <a:stretch xmlns:a="http://schemas.openxmlformats.org/drawingml/2006/main"/>
        </p:blipFill>
        <p:spPr>
          <a:xfrm xmlns:a="http://schemas.openxmlformats.org/drawingml/2006/main">
            <a:off x="609600" y="5610999"/>
            <a:ext cx="8420100" cy="246102"/>
          </a:xfrm>
          <a:prstGeom xmlns:a="http://schemas.openxmlformats.org/drawingml/2006/main" prst="rect">
            <a:avLst/>
          </a:prstGeom>
        </p:spPr>
      </p:pic>
    </p:spTree>
    <p:extLst>
      <p:ext uri="{BB962C8B-B14F-4D97-AF65-F5344CB8AC3E}">
        <p14:creationId xmlns:p14="http://schemas.microsoft.com/office/powerpoint/2010/main" val="358371668"/>
      </p:ext>
    </p:extLst>
  </p:cSld>
</p:sld>
</file>

<file path=ppt/slides/methods_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qam-title">
            <ns0:hlinkClick xmlns:ns0="http://schemas.openxmlformats.org/drawingml/2006/main" xmlns:ns1="http://schemas.openxmlformats.org/officeDocument/2006/relationships" ns1:id="rIdmethods_Link162" action="ppaction://hlinksldjump"/>
            <a:extLst xmlns:a="http://schemas.openxmlformats.org/drawingml/2006/main">
              <a:ext uri="{FF2B5EF4-FFF2-40B4-BE49-F238E27FC236}">
                <a16:creationId xmlns:a16="http://schemas.microsoft.com/office/drawing/2014/main" id="{8E9EE20E-3E33-46AA-B0CE-338E1FBDC233}"/>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62" action="ppaction://hlinksldjump"/>
              </a:rPr>
              <a:t>QAM</a:t>
            </a:r>
          </a:p>
        </p:txBody>
      </p:sp>
      <p:sp>
        <p:nvSpPr>
          <p:cNvPr id="2" name="!!qam-route-tx-line">
            <a:extLst xmlns:a="http://schemas.openxmlformats.org/drawingml/2006/main">
              <a:ext uri="{FF2B5EF4-FFF2-40B4-BE49-F238E27FC236}">
                <a16:creationId xmlns:a16="http://schemas.microsoft.com/office/drawing/2014/main" id="{A0A71504-EA76-41C4-A051-F789A9EDBE08}"/>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qam-route-tx-head">
            <a:extLst xmlns:a="http://schemas.openxmlformats.org/drawingml/2006/main">
              <a:ext uri="{FF2B5EF4-FFF2-40B4-BE49-F238E27FC236}">
                <a16:creationId xmlns:a16="http://schemas.microsoft.com/office/drawing/2014/main" id="{6FF610F7-2A4D-4147-B738-A3AE857A3262}"/>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qam-route-rx-line">
            <a:extLst xmlns:a="http://schemas.openxmlformats.org/drawingml/2006/main">
              <a:ext uri="{FF2B5EF4-FFF2-40B4-BE49-F238E27FC236}">
                <a16:creationId xmlns:a16="http://schemas.microsoft.com/office/drawing/2014/main" id="{68B1BDAC-8681-4207-AC1F-1E5C22E38105}"/>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5" name="!!qam-route-rx-head">
            <a:extLst xmlns:a="http://schemas.openxmlformats.org/drawingml/2006/main">
              <a:ext uri="{FF2B5EF4-FFF2-40B4-BE49-F238E27FC236}">
                <a16:creationId xmlns:a16="http://schemas.microsoft.com/office/drawing/2014/main" id="{B699CC2C-2E96-4E08-897A-D20F794332E3}"/>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6" name="!!qam-review-purpose">
            <a:extLst xmlns:a="http://schemas.openxmlformats.org/drawingml/2006/main">
              <a:ext uri="{FF2B5EF4-FFF2-40B4-BE49-F238E27FC236}">
                <a16:creationId xmlns:a16="http://schemas.microsoft.com/office/drawing/2014/main" id="{09C1662C-C057-472F-A5E5-56F718FC93EF}"/>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Two amplitudes: one for cosine, one for sine</a:t>
            </a:r>
          </a:p>
        </p:txBody>
      </p:sp>
      <p:sp>
        <p:nvSpPr>
          <p:cNvPr id="7" name="!!qam-qam-modulate-g0-r0-axis-line">
            <a:extLst xmlns:a="http://schemas.openxmlformats.org/drawingml/2006/main">
              <a:ext uri="{FF2B5EF4-FFF2-40B4-BE49-F238E27FC236}">
                <a16:creationId xmlns:a16="http://schemas.microsoft.com/office/drawing/2014/main" id="{292D2A58-FB81-4F06-91CC-D8347749984D}"/>
              </a:ext>
            </a:extLst>
          </p:cNvPr>
          <p:cNvSpPr>
            <a:spLocks xmlns:a="http://schemas.openxmlformats.org/drawingml/2006/main" noGrp="1"/>
          </p:cNvSpPr>
          <p:nvPr/>
        </p:nvSpPr>
        <p:spPr>
          <a:xfrm xmlns:a="http://schemas.openxmlformats.org/drawingml/2006/main">
            <a:off x="571500" y="27813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qam-qam-modulate-g0-r0-axis-head">
            <a:extLst xmlns:a="http://schemas.openxmlformats.org/drawingml/2006/main">
              <a:ext uri="{FF2B5EF4-FFF2-40B4-BE49-F238E27FC236}">
                <a16:creationId xmlns:a16="http://schemas.microsoft.com/office/drawing/2014/main" id="{CB53CF4F-0385-4E78-90B5-A4BD37733C09}"/>
              </a:ext>
            </a:extLst>
          </p:cNvPr>
          <p:cNvSpPr>
            <a:spLocks xmlns:a="http://schemas.openxmlformats.org/drawingml/2006/main" noGrp="1"/>
          </p:cNvSpPr>
          <p:nvPr/>
        </p:nvSpPr>
        <p:spPr>
          <a:xfrm xmlns:a="http://schemas.openxmlformats.org/drawingml/2006/main" rot="5400000">
            <a:off x="3238500" y="27336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qam-qam-modulate-g0-r1-axis-line">
            <a:extLst xmlns:a="http://schemas.openxmlformats.org/drawingml/2006/main">
              <a:ext uri="{FF2B5EF4-FFF2-40B4-BE49-F238E27FC236}">
                <a16:creationId xmlns:a16="http://schemas.microsoft.com/office/drawing/2014/main" id="{74BD5C68-789A-4056-877D-C9BEB64A9417}"/>
              </a:ext>
            </a:extLst>
          </p:cNvPr>
          <p:cNvSpPr>
            <a:spLocks xmlns:a="http://schemas.openxmlformats.org/drawingml/2006/main" noGrp="1"/>
          </p:cNvSpPr>
          <p:nvPr/>
        </p:nvSpPr>
        <p:spPr>
          <a:xfrm xmlns:a="http://schemas.openxmlformats.org/drawingml/2006/main">
            <a:off x="571500" y="40481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qam-qam-modulate-g0-r1-axis-head">
            <a:extLst xmlns:a="http://schemas.openxmlformats.org/drawingml/2006/main">
              <a:ext uri="{FF2B5EF4-FFF2-40B4-BE49-F238E27FC236}">
                <a16:creationId xmlns:a16="http://schemas.microsoft.com/office/drawing/2014/main" id="{15C6BB65-920F-4894-97C6-B17C4ED76313}"/>
              </a:ext>
            </a:extLst>
          </p:cNvPr>
          <p:cNvSpPr>
            <a:spLocks xmlns:a="http://schemas.openxmlformats.org/drawingml/2006/main" noGrp="1"/>
          </p:cNvSpPr>
          <p:nvPr/>
        </p:nvSpPr>
        <p:spPr>
          <a:xfrm xmlns:a="http://schemas.openxmlformats.org/drawingml/2006/main" rot="5400000">
            <a:off x="3238500" y="40005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qam-qam-modulate-g1-r0-axis-line">
            <a:extLst xmlns:a="http://schemas.openxmlformats.org/drawingml/2006/main">
              <a:ext uri="{FF2B5EF4-FFF2-40B4-BE49-F238E27FC236}">
                <a16:creationId xmlns:a16="http://schemas.microsoft.com/office/drawing/2014/main" id="{1CE2557C-695E-4C3C-86CF-529D4A42A136}"/>
              </a:ext>
            </a:extLst>
          </p:cNvPr>
          <p:cNvSpPr>
            <a:spLocks xmlns:a="http://schemas.openxmlformats.org/drawingml/2006/main" noGrp="1"/>
          </p:cNvSpPr>
          <p:nvPr/>
        </p:nvSpPr>
        <p:spPr>
          <a:xfrm xmlns:a="http://schemas.openxmlformats.org/drawingml/2006/main">
            <a:off x="4572000" y="278130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qam-qam-modulate-g1-r0-axis-head">
            <a:extLst xmlns:a="http://schemas.openxmlformats.org/drawingml/2006/main">
              <a:ext uri="{FF2B5EF4-FFF2-40B4-BE49-F238E27FC236}">
                <a16:creationId xmlns:a16="http://schemas.microsoft.com/office/drawing/2014/main" id="{02360B61-9473-4547-8C2D-763F2D35936F}"/>
              </a:ext>
            </a:extLst>
          </p:cNvPr>
          <p:cNvSpPr>
            <a:spLocks xmlns:a="http://schemas.openxmlformats.org/drawingml/2006/main" noGrp="1"/>
          </p:cNvSpPr>
          <p:nvPr/>
        </p:nvSpPr>
        <p:spPr>
          <a:xfrm xmlns:a="http://schemas.openxmlformats.org/drawingml/2006/main" rot="5400000">
            <a:off x="7239000" y="273367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3" name="!!qam-qam-modulate-g1-r1-axis-line">
            <a:extLst xmlns:a="http://schemas.openxmlformats.org/drawingml/2006/main">
              <a:ext uri="{FF2B5EF4-FFF2-40B4-BE49-F238E27FC236}">
                <a16:creationId xmlns:a16="http://schemas.microsoft.com/office/drawing/2014/main" id="{6FAE8EA4-77D1-4777-899B-4DAB73A2097A}"/>
              </a:ext>
            </a:extLst>
          </p:cNvPr>
          <p:cNvSpPr>
            <a:spLocks xmlns:a="http://schemas.openxmlformats.org/drawingml/2006/main" noGrp="1"/>
          </p:cNvSpPr>
          <p:nvPr/>
        </p:nvSpPr>
        <p:spPr>
          <a:xfrm xmlns:a="http://schemas.openxmlformats.org/drawingml/2006/main">
            <a:off x="4572000" y="40481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qam-qam-modulate-g1-r1-axis-head">
            <a:extLst xmlns:a="http://schemas.openxmlformats.org/drawingml/2006/main">
              <a:ext uri="{FF2B5EF4-FFF2-40B4-BE49-F238E27FC236}">
                <a16:creationId xmlns:a16="http://schemas.microsoft.com/office/drawing/2014/main" id="{0A620D88-385A-47C1-A5DE-88BBF54840DF}"/>
              </a:ext>
            </a:extLst>
          </p:cNvPr>
          <p:cNvSpPr>
            <a:spLocks xmlns:a="http://schemas.openxmlformats.org/drawingml/2006/main" noGrp="1"/>
          </p:cNvSpPr>
          <p:nvPr/>
        </p:nvSpPr>
        <p:spPr>
          <a:xfrm xmlns:a="http://schemas.openxmlformats.org/drawingml/2006/main" rot="5400000">
            <a:off x="7239000" y="40005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5" name="!!qam-qam-modulate-g2-r0-axis-line">
            <a:extLst xmlns:a="http://schemas.openxmlformats.org/drawingml/2006/main">
              <a:ext uri="{FF2B5EF4-FFF2-40B4-BE49-F238E27FC236}">
                <a16:creationId xmlns:a16="http://schemas.microsoft.com/office/drawing/2014/main" id="{D4097581-8A34-423D-8FED-43433318C0C3}"/>
              </a:ext>
            </a:extLst>
          </p:cNvPr>
          <p:cNvSpPr>
            <a:spLocks xmlns:a="http://schemas.openxmlformats.org/drawingml/2006/main" noGrp="1"/>
          </p:cNvSpPr>
          <p:nvPr/>
        </p:nvSpPr>
        <p:spPr>
          <a:xfrm xmlns:a="http://schemas.openxmlformats.org/drawingml/2006/main">
            <a:off x="8572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qam-qam-modulate-g2-r0-axis-head">
            <a:extLst xmlns:a="http://schemas.openxmlformats.org/drawingml/2006/main">
              <a:ext uri="{FF2B5EF4-FFF2-40B4-BE49-F238E27FC236}">
                <a16:creationId xmlns:a16="http://schemas.microsoft.com/office/drawing/2014/main" id="{8F19C0F3-E5FE-4895-B565-EEDB2FBB832A}"/>
              </a:ext>
            </a:extLst>
          </p:cNvPr>
          <p:cNvSpPr>
            <a:spLocks xmlns:a="http://schemas.openxmlformats.org/drawingml/2006/main" noGrp="1"/>
          </p:cNvSpPr>
          <p:nvPr/>
        </p:nvSpPr>
        <p:spPr>
          <a:xfrm xmlns:a="http://schemas.openxmlformats.org/drawingml/2006/main" rot="5400000">
            <a:off x="11239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7" name="!!qam-qam-modulate-g0-r0-wave">
            <a:extLst xmlns:a="http://schemas.openxmlformats.org/drawingml/2006/main">
              <a:ext uri="{FF2B5EF4-FFF2-40B4-BE49-F238E27FC236}">
                <a16:creationId xmlns:a16="http://schemas.microsoft.com/office/drawing/2014/main" id="{CE85D84E-71AD-46ED-B2C7-A087FA800E0A}"/>
              </a:ext>
            </a:extLst>
          </p:cNvPr>
          <p:cNvSpPr>
            <a:spLocks xmlns:a="http://schemas.openxmlformats.org/drawingml/2006/main" noGrp="1"/>
          </p:cNvSpPr>
          <p:nvPr/>
        </p:nvSpPr>
        <p:spPr>
          <a:xfrm xmlns:a="http://schemas.openxmlformats.org/drawingml/2006/main">
            <a:off x="571500" y="2414588"/>
            <a:ext cx="2781300" cy="366713"/>
          </a:xfrm>
          <a:custGeom xmlns:a="http://schemas.openxmlformats.org/drawingml/2006/main">
            <a:pathLst>
              <a:path w="2781300" h="366713">
                <a:moveTo>
                  <a:pt x="0" y="366713"/>
                </a:moveTo>
                <a:lnTo>
                  <a:pt x="3477" y="366710"/>
                </a:lnTo>
                <a:lnTo>
                  <a:pt x="6953" y="366703"/>
                </a:lnTo>
                <a:lnTo>
                  <a:pt x="10430" y="366692"/>
                </a:lnTo>
                <a:lnTo>
                  <a:pt x="13907" y="366675"/>
                </a:lnTo>
                <a:lnTo>
                  <a:pt x="17383" y="366654"/>
                </a:lnTo>
                <a:lnTo>
                  <a:pt x="20860" y="366628"/>
                </a:lnTo>
                <a:lnTo>
                  <a:pt x="24336" y="366598"/>
                </a:lnTo>
                <a:lnTo>
                  <a:pt x="27813" y="366563"/>
                </a:lnTo>
                <a:lnTo>
                  <a:pt x="31290" y="366523"/>
                </a:lnTo>
                <a:lnTo>
                  <a:pt x="34766" y="366479"/>
                </a:lnTo>
                <a:lnTo>
                  <a:pt x="38243" y="366431"/>
                </a:lnTo>
                <a:lnTo>
                  <a:pt x="41719" y="366378"/>
                </a:lnTo>
                <a:lnTo>
                  <a:pt x="45196" y="366321"/>
                </a:lnTo>
                <a:lnTo>
                  <a:pt x="48673" y="366260"/>
                </a:lnTo>
                <a:lnTo>
                  <a:pt x="52149" y="366196"/>
                </a:lnTo>
                <a:lnTo>
                  <a:pt x="55626" y="366128"/>
                </a:lnTo>
                <a:lnTo>
                  <a:pt x="59103" y="366056"/>
                </a:lnTo>
                <a:lnTo>
                  <a:pt x="62579" y="365981"/>
                </a:lnTo>
                <a:lnTo>
                  <a:pt x="66056" y="365904"/>
                </a:lnTo>
                <a:lnTo>
                  <a:pt x="69532" y="365824"/>
                </a:lnTo>
                <a:lnTo>
                  <a:pt x="73009" y="365741"/>
                </a:lnTo>
                <a:lnTo>
                  <a:pt x="76486" y="365656"/>
                </a:lnTo>
                <a:lnTo>
                  <a:pt x="79962" y="365569"/>
                </a:lnTo>
                <a:lnTo>
                  <a:pt x="83439" y="365481"/>
                </a:lnTo>
                <a:lnTo>
                  <a:pt x="86916" y="365391"/>
                </a:lnTo>
                <a:lnTo>
                  <a:pt x="90392" y="365301"/>
                </a:lnTo>
                <a:lnTo>
                  <a:pt x="93869" y="365210"/>
                </a:lnTo>
                <a:lnTo>
                  <a:pt x="97345" y="365118"/>
                </a:lnTo>
                <a:lnTo>
                  <a:pt x="100822" y="365027"/>
                </a:lnTo>
                <a:lnTo>
                  <a:pt x="104299" y="364936"/>
                </a:lnTo>
                <a:lnTo>
                  <a:pt x="107775" y="364846"/>
                </a:lnTo>
                <a:lnTo>
                  <a:pt x="111252" y="364757"/>
                </a:lnTo>
                <a:lnTo>
                  <a:pt x="114729" y="364669"/>
                </a:lnTo>
                <a:lnTo>
                  <a:pt x="118205" y="364583"/>
                </a:lnTo>
                <a:lnTo>
                  <a:pt x="121682" y="364498"/>
                </a:lnTo>
                <a:lnTo>
                  <a:pt x="125159" y="364417"/>
                </a:lnTo>
                <a:lnTo>
                  <a:pt x="128635" y="364337"/>
                </a:lnTo>
                <a:lnTo>
                  <a:pt x="132112" y="364261"/>
                </a:lnTo>
                <a:lnTo>
                  <a:pt x="135588" y="364189"/>
                </a:lnTo>
                <a:lnTo>
                  <a:pt x="139065" y="364119"/>
                </a:lnTo>
                <a:lnTo>
                  <a:pt x="142542" y="364054"/>
                </a:lnTo>
                <a:lnTo>
                  <a:pt x="146018" y="363993"/>
                </a:lnTo>
                <a:lnTo>
                  <a:pt x="149495" y="363936"/>
                </a:lnTo>
                <a:lnTo>
                  <a:pt x="152972" y="363884"/>
                </a:lnTo>
                <a:lnTo>
                  <a:pt x="156448" y="363836"/>
                </a:lnTo>
                <a:lnTo>
                  <a:pt x="159925" y="363794"/>
                </a:lnTo>
                <a:lnTo>
                  <a:pt x="163401" y="363757"/>
                </a:lnTo>
                <a:lnTo>
                  <a:pt x="166878" y="363726"/>
                </a:lnTo>
                <a:lnTo>
                  <a:pt x="170355" y="363700"/>
                </a:lnTo>
                <a:lnTo>
                  <a:pt x="173831" y="363679"/>
                </a:lnTo>
                <a:lnTo>
                  <a:pt x="177308" y="363665"/>
                </a:lnTo>
                <a:lnTo>
                  <a:pt x="180785" y="363657"/>
                </a:lnTo>
                <a:lnTo>
                  <a:pt x="184261" y="363654"/>
                </a:lnTo>
                <a:lnTo>
                  <a:pt x="187738" y="363658"/>
                </a:lnTo>
                <a:lnTo>
                  <a:pt x="191214" y="363667"/>
                </a:lnTo>
                <a:lnTo>
                  <a:pt x="194691" y="363683"/>
                </a:lnTo>
                <a:lnTo>
                  <a:pt x="198168" y="363705"/>
                </a:lnTo>
                <a:lnTo>
                  <a:pt x="201644" y="363732"/>
                </a:lnTo>
                <a:lnTo>
                  <a:pt x="205121" y="363766"/>
                </a:lnTo>
                <a:lnTo>
                  <a:pt x="208598" y="363805"/>
                </a:lnTo>
                <a:lnTo>
                  <a:pt x="212074" y="363850"/>
                </a:lnTo>
                <a:lnTo>
                  <a:pt x="215551" y="363901"/>
                </a:lnTo>
                <a:lnTo>
                  <a:pt x="219027" y="363957"/>
                </a:lnTo>
                <a:lnTo>
                  <a:pt x="222504" y="364018"/>
                </a:lnTo>
                <a:lnTo>
                  <a:pt x="225981" y="364084"/>
                </a:lnTo>
                <a:lnTo>
                  <a:pt x="229457" y="364155"/>
                </a:lnTo>
                <a:lnTo>
                  <a:pt x="232934" y="364230"/>
                </a:lnTo>
                <a:lnTo>
                  <a:pt x="236410" y="364309"/>
                </a:lnTo>
                <a:lnTo>
                  <a:pt x="239887" y="364393"/>
                </a:lnTo>
                <a:lnTo>
                  <a:pt x="243364" y="364479"/>
                </a:lnTo>
                <a:lnTo>
                  <a:pt x="246840" y="364569"/>
                </a:lnTo>
                <a:lnTo>
                  <a:pt x="250317" y="364662"/>
                </a:lnTo>
                <a:lnTo>
                  <a:pt x="253794" y="364757"/>
                </a:lnTo>
                <a:lnTo>
                  <a:pt x="257270" y="364855"/>
                </a:lnTo>
                <a:lnTo>
                  <a:pt x="260747" y="364954"/>
                </a:lnTo>
                <a:lnTo>
                  <a:pt x="264223" y="365054"/>
                </a:lnTo>
                <a:lnTo>
                  <a:pt x="267700" y="365155"/>
                </a:lnTo>
                <a:lnTo>
                  <a:pt x="271177" y="365256"/>
                </a:lnTo>
                <a:lnTo>
                  <a:pt x="274653" y="365358"/>
                </a:lnTo>
                <a:lnTo>
                  <a:pt x="278130" y="365459"/>
                </a:lnTo>
                <a:lnTo>
                  <a:pt x="281607" y="365559"/>
                </a:lnTo>
                <a:lnTo>
                  <a:pt x="285083" y="365658"/>
                </a:lnTo>
                <a:lnTo>
                  <a:pt x="288560" y="365754"/>
                </a:lnTo>
                <a:lnTo>
                  <a:pt x="292036" y="365849"/>
                </a:lnTo>
                <a:lnTo>
                  <a:pt x="295513" y="365941"/>
                </a:lnTo>
                <a:lnTo>
                  <a:pt x="298990" y="366029"/>
                </a:lnTo>
                <a:lnTo>
                  <a:pt x="302466" y="366114"/>
                </a:lnTo>
                <a:lnTo>
                  <a:pt x="305943" y="366195"/>
                </a:lnTo>
                <a:lnTo>
                  <a:pt x="309420" y="366272"/>
                </a:lnTo>
                <a:lnTo>
                  <a:pt x="312896" y="366343"/>
                </a:lnTo>
                <a:lnTo>
                  <a:pt x="316373" y="366410"/>
                </a:lnTo>
                <a:lnTo>
                  <a:pt x="319850" y="366470"/>
                </a:lnTo>
                <a:lnTo>
                  <a:pt x="323326" y="366525"/>
                </a:lnTo>
                <a:lnTo>
                  <a:pt x="326803" y="366573"/>
                </a:lnTo>
                <a:lnTo>
                  <a:pt x="330279" y="366615"/>
                </a:lnTo>
                <a:lnTo>
                  <a:pt x="333756" y="366649"/>
                </a:lnTo>
                <a:lnTo>
                  <a:pt x="337233" y="366677"/>
                </a:lnTo>
                <a:lnTo>
                  <a:pt x="340709" y="366696"/>
                </a:lnTo>
                <a:lnTo>
                  <a:pt x="344186" y="366708"/>
                </a:lnTo>
                <a:lnTo>
                  <a:pt x="347663" y="366713"/>
                </a:lnTo>
                <a:lnTo>
                  <a:pt x="351139" y="366708"/>
                </a:lnTo>
                <a:lnTo>
                  <a:pt x="354616" y="366696"/>
                </a:lnTo>
                <a:lnTo>
                  <a:pt x="358092" y="366675"/>
                </a:lnTo>
                <a:lnTo>
                  <a:pt x="361569" y="366646"/>
                </a:lnTo>
                <a:lnTo>
                  <a:pt x="365046" y="366608"/>
                </a:lnTo>
                <a:lnTo>
                  <a:pt x="368522" y="366562"/>
                </a:lnTo>
                <a:lnTo>
                  <a:pt x="371999" y="366507"/>
                </a:lnTo>
                <a:lnTo>
                  <a:pt x="375476" y="366443"/>
                </a:lnTo>
                <a:lnTo>
                  <a:pt x="378952" y="366371"/>
                </a:lnTo>
                <a:lnTo>
                  <a:pt x="382429" y="366291"/>
                </a:lnTo>
                <a:lnTo>
                  <a:pt x="385905" y="366202"/>
                </a:lnTo>
                <a:lnTo>
                  <a:pt x="389382" y="366105"/>
                </a:lnTo>
                <a:lnTo>
                  <a:pt x="392859" y="366001"/>
                </a:lnTo>
                <a:lnTo>
                  <a:pt x="396335" y="365889"/>
                </a:lnTo>
                <a:lnTo>
                  <a:pt x="399812" y="365770"/>
                </a:lnTo>
                <a:lnTo>
                  <a:pt x="403289" y="365643"/>
                </a:lnTo>
                <a:lnTo>
                  <a:pt x="406765" y="365510"/>
                </a:lnTo>
                <a:lnTo>
                  <a:pt x="410242" y="365371"/>
                </a:lnTo>
                <a:lnTo>
                  <a:pt x="413718" y="365226"/>
                </a:lnTo>
                <a:lnTo>
                  <a:pt x="417195" y="365075"/>
                </a:lnTo>
                <a:lnTo>
                  <a:pt x="420672" y="364919"/>
                </a:lnTo>
                <a:lnTo>
                  <a:pt x="424148" y="364759"/>
                </a:lnTo>
                <a:lnTo>
                  <a:pt x="427625" y="364595"/>
                </a:lnTo>
                <a:lnTo>
                  <a:pt x="431101" y="364427"/>
                </a:lnTo>
                <a:lnTo>
                  <a:pt x="434578" y="364256"/>
                </a:lnTo>
                <a:lnTo>
                  <a:pt x="438055" y="364083"/>
                </a:lnTo>
                <a:lnTo>
                  <a:pt x="441531" y="363907"/>
                </a:lnTo>
                <a:lnTo>
                  <a:pt x="445008" y="363731"/>
                </a:lnTo>
                <a:lnTo>
                  <a:pt x="448485" y="363554"/>
                </a:lnTo>
                <a:lnTo>
                  <a:pt x="451961" y="363377"/>
                </a:lnTo>
                <a:lnTo>
                  <a:pt x="455438" y="363200"/>
                </a:lnTo>
                <a:lnTo>
                  <a:pt x="458915" y="363025"/>
                </a:lnTo>
                <a:lnTo>
                  <a:pt x="462391" y="362851"/>
                </a:lnTo>
                <a:lnTo>
                  <a:pt x="465868" y="362680"/>
                </a:lnTo>
                <a:lnTo>
                  <a:pt x="469344" y="362512"/>
                </a:lnTo>
                <a:lnTo>
                  <a:pt x="472821" y="362348"/>
                </a:lnTo>
                <a:lnTo>
                  <a:pt x="476298" y="362188"/>
                </a:lnTo>
                <a:lnTo>
                  <a:pt x="479774" y="362033"/>
                </a:lnTo>
                <a:lnTo>
                  <a:pt x="483251" y="361884"/>
                </a:lnTo>
                <a:lnTo>
                  <a:pt x="486727" y="361741"/>
                </a:lnTo>
                <a:lnTo>
                  <a:pt x="490204" y="361605"/>
                </a:lnTo>
                <a:lnTo>
                  <a:pt x="493681" y="361476"/>
                </a:lnTo>
                <a:lnTo>
                  <a:pt x="497157" y="361355"/>
                </a:lnTo>
                <a:lnTo>
                  <a:pt x="500634" y="361242"/>
                </a:lnTo>
                <a:lnTo>
                  <a:pt x="504111" y="361138"/>
                </a:lnTo>
                <a:lnTo>
                  <a:pt x="507587" y="361044"/>
                </a:lnTo>
                <a:lnTo>
                  <a:pt x="511064" y="360959"/>
                </a:lnTo>
                <a:lnTo>
                  <a:pt x="514541" y="360885"/>
                </a:lnTo>
                <a:lnTo>
                  <a:pt x="518017" y="360821"/>
                </a:lnTo>
                <a:lnTo>
                  <a:pt x="521494" y="360768"/>
                </a:lnTo>
                <a:lnTo>
                  <a:pt x="524970" y="360726"/>
                </a:lnTo>
                <a:lnTo>
                  <a:pt x="528447" y="360695"/>
                </a:lnTo>
                <a:lnTo>
                  <a:pt x="531924" y="360676"/>
                </a:lnTo>
                <a:lnTo>
                  <a:pt x="535400" y="360669"/>
                </a:lnTo>
                <a:lnTo>
                  <a:pt x="538877" y="360674"/>
                </a:lnTo>
                <a:lnTo>
                  <a:pt x="542354" y="360691"/>
                </a:lnTo>
                <a:lnTo>
                  <a:pt x="545830" y="360720"/>
                </a:lnTo>
                <a:lnTo>
                  <a:pt x="549307" y="360760"/>
                </a:lnTo>
                <a:lnTo>
                  <a:pt x="552783" y="360813"/>
                </a:lnTo>
                <a:lnTo>
                  <a:pt x="556260" y="360878"/>
                </a:lnTo>
                <a:lnTo>
                  <a:pt x="559737" y="360954"/>
                </a:lnTo>
                <a:lnTo>
                  <a:pt x="563213" y="361042"/>
                </a:lnTo>
                <a:lnTo>
                  <a:pt x="566690" y="361141"/>
                </a:lnTo>
                <a:lnTo>
                  <a:pt x="570167" y="361251"/>
                </a:lnTo>
                <a:lnTo>
                  <a:pt x="573643" y="361371"/>
                </a:lnTo>
                <a:lnTo>
                  <a:pt x="577120" y="361502"/>
                </a:lnTo>
                <a:lnTo>
                  <a:pt x="580596" y="361642"/>
                </a:lnTo>
                <a:lnTo>
                  <a:pt x="584073" y="361791"/>
                </a:lnTo>
                <a:lnTo>
                  <a:pt x="587550" y="361949"/>
                </a:lnTo>
                <a:lnTo>
                  <a:pt x="591026" y="362115"/>
                </a:lnTo>
                <a:lnTo>
                  <a:pt x="594503" y="362289"/>
                </a:lnTo>
                <a:lnTo>
                  <a:pt x="597980" y="362469"/>
                </a:lnTo>
                <a:lnTo>
                  <a:pt x="601456" y="362655"/>
                </a:lnTo>
                <a:lnTo>
                  <a:pt x="604933" y="362847"/>
                </a:lnTo>
                <a:lnTo>
                  <a:pt x="608409" y="363043"/>
                </a:lnTo>
                <a:lnTo>
                  <a:pt x="611886" y="363242"/>
                </a:lnTo>
                <a:lnTo>
                  <a:pt x="615363" y="363445"/>
                </a:lnTo>
                <a:lnTo>
                  <a:pt x="618839" y="363649"/>
                </a:lnTo>
                <a:lnTo>
                  <a:pt x="622316" y="363855"/>
                </a:lnTo>
                <a:lnTo>
                  <a:pt x="625793" y="364060"/>
                </a:lnTo>
                <a:lnTo>
                  <a:pt x="629269" y="364265"/>
                </a:lnTo>
                <a:lnTo>
                  <a:pt x="632746" y="364468"/>
                </a:lnTo>
                <a:lnTo>
                  <a:pt x="636222" y="364668"/>
                </a:lnTo>
                <a:lnTo>
                  <a:pt x="639699" y="364864"/>
                </a:lnTo>
                <a:lnTo>
                  <a:pt x="643176" y="365056"/>
                </a:lnTo>
                <a:lnTo>
                  <a:pt x="646652" y="365242"/>
                </a:lnTo>
                <a:lnTo>
                  <a:pt x="650129" y="365421"/>
                </a:lnTo>
                <a:lnTo>
                  <a:pt x="653606" y="365592"/>
                </a:lnTo>
                <a:lnTo>
                  <a:pt x="657082" y="365755"/>
                </a:lnTo>
                <a:lnTo>
                  <a:pt x="660559" y="365908"/>
                </a:lnTo>
                <a:lnTo>
                  <a:pt x="664035" y="366050"/>
                </a:lnTo>
                <a:lnTo>
                  <a:pt x="667512" y="366181"/>
                </a:lnTo>
                <a:lnTo>
                  <a:pt x="670989" y="366300"/>
                </a:lnTo>
                <a:lnTo>
                  <a:pt x="674465" y="366405"/>
                </a:lnTo>
                <a:lnTo>
                  <a:pt x="677942" y="366496"/>
                </a:lnTo>
                <a:lnTo>
                  <a:pt x="681419" y="366572"/>
                </a:lnTo>
                <a:lnTo>
                  <a:pt x="684895" y="366633"/>
                </a:lnTo>
                <a:lnTo>
                  <a:pt x="688372" y="366677"/>
                </a:lnTo>
                <a:lnTo>
                  <a:pt x="691848" y="366703"/>
                </a:lnTo>
                <a:lnTo>
                  <a:pt x="695325" y="366713"/>
                </a:lnTo>
                <a:lnTo>
                  <a:pt x="698802" y="366703"/>
                </a:lnTo>
                <a:lnTo>
                  <a:pt x="702278" y="366675"/>
                </a:lnTo>
                <a:lnTo>
                  <a:pt x="705755" y="366628"/>
                </a:lnTo>
                <a:lnTo>
                  <a:pt x="709231" y="366561"/>
                </a:lnTo>
                <a:lnTo>
                  <a:pt x="712708" y="366473"/>
                </a:lnTo>
                <a:lnTo>
                  <a:pt x="716185" y="366366"/>
                </a:lnTo>
                <a:lnTo>
                  <a:pt x="719661" y="366238"/>
                </a:lnTo>
                <a:lnTo>
                  <a:pt x="723138" y="366089"/>
                </a:lnTo>
                <a:lnTo>
                  <a:pt x="726615" y="365920"/>
                </a:lnTo>
                <a:lnTo>
                  <a:pt x="730091" y="365730"/>
                </a:lnTo>
                <a:lnTo>
                  <a:pt x="733568" y="365519"/>
                </a:lnTo>
                <a:lnTo>
                  <a:pt x="737045" y="365288"/>
                </a:lnTo>
                <a:lnTo>
                  <a:pt x="740521" y="365037"/>
                </a:lnTo>
                <a:lnTo>
                  <a:pt x="743998" y="364765"/>
                </a:lnTo>
                <a:lnTo>
                  <a:pt x="747474" y="364475"/>
                </a:lnTo>
                <a:lnTo>
                  <a:pt x="750951" y="364165"/>
                </a:lnTo>
                <a:lnTo>
                  <a:pt x="754428" y="363838"/>
                </a:lnTo>
                <a:lnTo>
                  <a:pt x="757904" y="363492"/>
                </a:lnTo>
                <a:lnTo>
                  <a:pt x="761381" y="363129"/>
                </a:lnTo>
                <a:lnTo>
                  <a:pt x="764858" y="362750"/>
                </a:lnTo>
                <a:lnTo>
                  <a:pt x="768334" y="362356"/>
                </a:lnTo>
                <a:lnTo>
                  <a:pt x="771811" y="361948"/>
                </a:lnTo>
                <a:lnTo>
                  <a:pt x="775287" y="361526"/>
                </a:lnTo>
                <a:lnTo>
                  <a:pt x="778764" y="361092"/>
                </a:lnTo>
                <a:lnTo>
                  <a:pt x="782241" y="360646"/>
                </a:lnTo>
                <a:lnTo>
                  <a:pt x="785717" y="360191"/>
                </a:lnTo>
                <a:lnTo>
                  <a:pt x="789194" y="359727"/>
                </a:lnTo>
                <a:lnTo>
                  <a:pt x="792671" y="359256"/>
                </a:lnTo>
                <a:lnTo>
                  <a:pt x="796147" y="358779"/>
                </a:lnTo>
                <a:lnTo>
                  <a:pt x="799624" y="358298"/>
                </a:lnTo>
                <a:lnTo>
                  <a:pt x="803100" y="357813"/>
                </a:lnTo>
                <a:lnTo>
                  <a:pt x="806577" y="357328"/>
                </a:lnTo>
                <a:lnTo>
                  <a:pt x="810054" y="356842"/>
                </a:lnTo>
                <a:lnTo>
                  <a:pt x="813530" y="356358"/>
                </a:lnTo>
                <a:lnTo>
                  <a:pt x="817007" y="355878"/>
                </a:lnTo>
                <a:lnTo>
                  <a:pt x="820483" y="355402"/>
                </a:lnTo>
                <a:lnTo>
                  <a:pt x="823960" y="354934"/>
                </a:lnTo>
                <a:lnTo>
                  <a:pt x="827437" y="354473"/>
                </a:lnTo>
                <a:lnTo>
                  <a:pt x="830913" y="354023"/>
                </a:lnTo>
                <a:lnTo>
                  <a:pt x="834390" y="353584"/>
                </a:lnTo>
                <a:lnTo>
                  <a:pt x="837867" y="353159"/>
                </a:lnTo>
                <a:lnTo>
                  <a:pt x="841343" y="352749"/>
                </a:lnTo>
                <a:lnTo>
                  <a:pt x="844820" y="352356"/>
                </a:lnTo>
                <a:lnTo>
                  <a:pt x="848297" y="351981"/>
                </a:lnTo>
                <a:lnTo>
                  <a:pt x="851773" y="351626"/>
                </a:lnTo>
                <a:lnTo>
                  <a:pt x="855250" y="351292"/>
                </a:lnTo>
                <a:lnTo>
                  <a:pt x="858726" y="350981"/>
                </a:lnTo>
                <a:lnTo>
                  <a:pt x="862203" y="350694"/>
                </a:lnTo>
                <a:lnTo>
                  <a:pt x="865680" y="350433"/>
                </a:lnTo>
                <a:lnTo>
                  <a:pt x="869156" y="350199"/>
                </a:lnTo>
                <a:lnTo>
                  <a:pt x="872633" y="349993"/>
                </a:lnTo>
                <a:lnTo>
                  <a:pt x="876110" y="349816"/>
                </a:lnTo>
                <a:lnTo>
                  <a:pt x="879586" y="349670"/>
                </a:lnTo>
                <a:lnTo>
                  <a:pt x="883063" y="349555"/>
                </a:lnTo>
                <a:lnTo>
                  <a:pt x="886539" y="349473"/>
                </a:lnTo>
                <a:lnTo>
                  <a:pt x="890016" y="349423"/>
                </a:lnTo>
                <a:lnTo>
                  <a:pt x="893493" y="349407"/>
                </a:lnTo>
                <a:lnTo>
                  <a:pt x="896969" y="349425"/>
                </a:lnTo>
                <a:lnTo>
                  <a:pt x="900446" y="349478"/>
                </a:lnTo>
                <a:lnTo>
                  <a:pt x="903923" y="349566"/>
                </a:lnTo>
                <a:lnTo>
                  <a:pt x="907399" y="349688"/>
                </a:lnTo>
                <a:lnTo>
                  <a:pt x="910876" y="349846"/>
                </a:lnTo>
                <a:lnTo>
                  <a:pt x="914352" y="350039"/>
                </a:lnTo>
                <a:lnTo>
                  <a:pt x="917829" y="350266"/>
                </a:lnTo>
                <a:lnTo>
                  <a:pt x="921306" y="350527"/>
                </a:lnTo>
                <a:lnTo>
                  <a:pt x="924782" y="350822"/>
                </a:lnTo>
                <a:lnTo>
                  <a:pt x="928259" y="351150"/>
                </a:lnTo>
                <a:lnTo>
                  <a:pt x="931735" y="351511"/>
                </a:lnTo>
                <a:lnTo>
                  <a:pt x="935212" y="351902"/>
                </a:lnTo>
                <a:lnTo>
                  <a:pt x="938689" y="352323"/>
                </a:lnTo>
                <a:lnTo>
                  <a:pt x="942165" y="352772"/>
                </a:lnTo>
                <a:lnTo>
                  <a:pt x="945642" y="353249"/>
                </a:lnTo>
                <a:lnTo>
                  <a:pt x="949119" y="353751"/>
                </a:lnTo>
                <a:lnTo>
                  <a:pt x="952595" y="354276"/>
                </a:lnTo>
                <a:lnTo>
                  <a:pt x="956072" y="354823"/>
                </a:lnTo>
                <a:lnTo>
                  <a:pt x="959549" y="355389"/>
                </a:lnTo>
                <a:lnTo>
                  <a:pt x="963025" y="355972"/>
                </a:lnTo>
                <a:lnTo>
                  <a:pt x="966502" y="356570"/>
                </a:lnTo>
                <a:lnTo>
                  <a:pt x="969978" y="357179"/>
                </a:lnTo>
                <a:lnTo>
                  <a:pt x="973455" y="357798"/>
                </a:lnTo>
                <a:lnTo>
                  <a:pt x="976932" y="358423"/>
                </a:lnTo>
                <a:lnTo>
                  <a:pt x="980408" y="359051"/>
                </a:lnTo>
                <a:lnTo>
                  <a:pt x="983885" y="359679"/>
                </a:lnTo>
                <a:lnTo>
                  <a:pt x="987362" y="360304"/>
                </a:lnTo>
                <a:lnTo>
                  <a:pt x="990838" y="360922"/>
                </a:lnTo>
                <a:lnTo>
                  <a:pt x="994315" y="361529"/>
                </a:lnTo>
                <a:lnTo>
                  <a:pt x="997791" y="362123"/>
                </a:lnTo>
                <a:lnTo>
                  <a:pt x="1001268" y="362698"/>
                </a:lnTo>
                <a:lnTo>
                  <a:pt x="1004745" y="363252"/>
                </a:lnTo>
                <a:lnTo>
                  <a:pt x="1008221" y="363780"/>
                </a:lnTo>
                <a:lnTo>
                  <a:pt x="1011698" y="364278"/>
                </a:lnTo>
                <a:lnTo>
                  <a:pt x="1015174" y="364742"/>
                </a:lnTo>
                <a:lnTo>
                  <a:pt x="1018651" y="365168"/>
                </a:lnTo>
                <a:lnTo>
                  <a:pt x="1022128" y="365551"/>
                </a:lnTo>
                <a:lnTo>
                  <a:pt x="1025604" y="365888"/>
                </a:lnTo>
                <a:lnTo>
                  <a:pt x="1029081" y="366173"/>
                </a:lnTo>
                <a:lnTo>
                  <a:pt x="1032558" y="366402"/>
                </a:lnTo>
                <a:lnTo>
                  <a:pt x="1036034" y="366572"/>
                </a:lnTo>
                <a:lnTo>
                  <a:pt x="1039511" y="366677"/>
                </a:lnTo>
                <a:lnTo>
                  <a:pt x="1042988" y="366713"/>
                </a:lnTo>
                <a:lnTo>
                  <a:pt x="1046464" y="366675"/>
                </a:lnTo>
                <a:lnTo>
                  <a:pt x="1049941" y="366560"/>
                </a:lnTo>
                <a:lnTo>
                  <a:pt x="1053417" y="366363"/>
                </a:lnTo>
                <a:lnTo>
                  <a:pt x="1056894" y="366079"/>
                </a:lnTo>
                <a:lnTo>
                  <a:pt x="1060371" y="365705"/>
                </a:lnTo>
                <a:lnTo>
                  <a:pt x="1063847" y="365236"/>
                </a:lnTo>
                <a:lnTo>
                  <a:pt x="1067324" y="364668"/>
                </a:lnTo>
                <a:lnTo>
                  <a:pt x="1070801" y="363998"/>
                </a:lnTo>
                <a:lnTo>
                  <a:pt x="1074277" y="363220"/>
                </a:lnTo>
                <a:lnTo>
                  <a:pt x="1077754" y="362332"/>
                </a:lnTo>
                <a:lnTo>
                  <a:pt x="1081230" y="361330"/>
                </a:lnTo>
                <a:lnTo>
                  <a:pt x="1084707" y="360210"/>
                </a:lnTo>
                <a:lnTo>
                  <a:pt x="1088184" y="358970"/>
                </a:lnTo>
                <a:lnTo>
                  <a:pt x="1091660" y="357605"/>
                </a:lnTo>
                <a:lnTo>
                  <a:pt x="1095137" y="356113"/>
                </a:lnTo>
                <a:lnTo>
                  <a:pt x="1098614" y="354491"/>
                </a:lnTo>
                <a:lnTo>
                  <a:pt x="1102090" y="352737"/>
                </a:lnTo>
                <a:lnTo>
                  <a:pt x="1105567" y="350847"/>
                </a:lnTo>
                <a:lnTo>
                  <a:pt x="1109043" y="348821"/>
                </a:lnTo>
                <a:lnTo>
                  <a:pt x="1112520" y="346655"/>
                </a:lnTo>
                <a:lnTo>
                  <a:pt x="1115997" y="344348"/>
                </a:lnTo>
                <a:lnTo>
                  <a:pt x="1119473" y="341899"/>
                </a:lnTo>
                <a:lnTo>
                  <a:pt x="1122950" y="339306"/>
                </a:lnTo>
                <a:lnTo>
                  <a:pt x="1126427" y="336568"/>
                </a:lnTo>
                <a:lnTo>
                  <a:pt x="1129903" y="333685"/>
                </a:lnTo>
                <a:lnTo>
                  <a:pt x="1133380" y="330656"/>
                </a:lnTo>
                <a:lnTo>
                  <a:pt x="1136856" y="327481"/>
                </a:lnTo>
                <a:lnTo>
                  <a:pt x="1140333" y="324160"/>
                </a:lnTo>
                <a:lnTo>
                  <a:pt x="1143810" y="320694"/>
                </a:lnTo>
                <a:lnTo>
                  <a:pt x="1147286" y="317082"/>
                </a:lnTo>
                <a:lnTo>
                  <a:pt x="1150763" y="313327"/>
                </a:lnTo>
                <a:lnTo>
                  <a:pt x="1154240" y="309429"/>
                </a:lnTo>
                <a:lnTo>
                  <a:pt x="1157716" y="305390"/>
                </a:lnTo>
                <a:lnTo>
                  <a:pt x="1161193" y="301211"/>
                </a:lnTo>
                <a:lnTo>
                  <a:pt x="1164669" y="296896"/>
                </a:lnTo>
                <a:lnTo>
                  <a:pt x="1168146" y="292445"/>
                </a:lnTo>
                <a:lnTo>
                  <a:pt x="1171623" y="287863"/>
                </a:lnTo>
                <a:lnTo>
                  <a:pt x="1175099" y="283152"/>
                </a:lnTo>
                <a:lnTo>
                  <a:pt x="1178576" y="278316"/>
                </a:lnTo>
                <a:lnTo>
                  <a:pt x="1182053" y="273358"/>
                </a:lnTo>
                <a:lnTo>
                  <a:pt x="1185529" y="268282"/>
                </a:lnTo>
                <a:lnTo>
                  <a:pt x="1189006" y="263092"/>
                </a:lnTo>
                <a:lnTo>
                  <a:pt x="1192482" y="257794"/>
                </a:lnTo>
                <a:lnTo>
                  <a:pt x="1195959" y="252391"/>
                </a:lnTo>
                <a:lnTo>
                  <a:pt x="1199436" y="246889"/>
                </a:lnTo>
                <a:lnTo>
                  <a:pt x="1202912" y="241294"/>
                </a:lnTo>
                <a:lnTo>
                  <a:pt x="1206389" y="235610"/>
                </a:lnTo>
                <a:lnTo>
                  <a:pt x="1209865" y="229844"/>
                </a:lnTo>
                <a:lnTo>
                  <a:pt x="1213342" y="224002"/>
                </a:lnTo>
                <a:lnTo>
                  <a:pt x="1216819" y="218090"/>
                </a:lnTo>
                <a:lnTo>
                  <a:pt x="1220295" y="212114"/>
                </a:lnTo>
                <a:lnTo>
                  <a:pt x="1223772" y="206082"/>
                </a:lnTo>
                <a:lnTo>
                  <a:pt x="1227249" y="200001"/>
                </a:lnTo>
                <a:lnTo>
                  <a:pt x="1230725" y="193877"/>
                </a:lnTo>
                <a:lnTo>
                  <a:pt x="1234202" y="187718"/>
                </a:lnTo>
                <a:lnTo>
                  <a:pt x="1237679" y="181531"/>
                </a:lnTo>
                <a:lnTo>
                  <a:pt x="1241155" y="175325"/>
                </a:lnTo>
                <a:lnTo>
                  <a:pt x="1244632" y="169106"/>
                </a:lnTo>
                <a:lnTo>
                  <a:pt x="1248108" y="162883"/>
                </a:lnTo>
                <a:lnTo>
                  <a:pt x="1251585" y="156664"/>
                </a:lnTo>
                <a:lnTo>
                  <a:pt x="1255062" y="150458"/>
                </a:lnTo>
                <a:lnTo>
                  <a:pt x="1258538" y="144271"/>
                </a:lnTo>
                <a:lnTo>
                  <a:pt x="1262015" y="138113"/>
                </a:lnTo>
                <a:lnTo>
                  <a:pt x="1265492" y="131991"/>
                </a:lnTo>
                <a:lnTo>
                  <a:pt x="1268968" y="125915"/>
                </a:lnTo>
                <a:lnTo>
                  <a:pt x="1272445" y="119892"/>
                </a:lnTo>
                <a:lnTo>
                  <a:pt x="1275921" y="113932"/>
                </a:lnTo>
                <a:lnTo>
                  <a:pt x="1279398" y="108041"/>
                </a:lnTo>
                <a:lnTo>
                  <a:pt x="1282875" y="102229"/>
                </a:lnTo>
                <a:lnTo>
                  <a:pt x="1286351" y="96504"/>
                </a:lnTo>
                <a:lnTo>
                  <a:pt x="1289828" y="90874"/>
                </a:lnTo>
                <a:lnTo>
                  <a:pt x="1293305" y="85347"/>
                </a:lnTo>
                <a:lnTo>
                  <a:pt x="1296781" y="79932"/>
                </a:lnTo>
                <a:lnTo>
                  <a:pt x="1300258" y="74636"/>
                </a:lnTo>
                <a:lnTo>
                  <a:pt x="1303734" y="69467"/>
                </a:lnTo>
                <a:lnTo>
                  <a:pt x="1307211" y="64432"/>
                </a:lnTo>
                <a:lnTo>
                  <a:pt x="1310688" y="59540"/>
                </a:lnTo>
                <a:lnTo>
                  <a:pt x="1314164" y="54797"/>
                </a:lnTo>
                <a:lnTo>
                  <a:pt x="1317641" y="50210"/>
                </a:lnTo>
                <a:lnTo>
                  <a:pt x="1321118" y="45788"/>
                </a:lnTo>
                <a:lnTo>
                  <a:pt x="1324594" y="41535"/>
                </a:lnTo>
                <a:lnTo>
                  <a:pt x="1328071" y="37459"/>
                </a:lnTo>
                <a:lnTo>
                  <a:pt x="1331547" y="33567"/>
                </a:lnTo>
                <a:lnTo>
                  <a:pt x="1335024" y="29863"/>
                </a:lnTo>
                <a:lnTo>
                  <a:pt x="1338501" y="26354"/>
                </a:lnTo>
                <a:lnTo>
                  <a:pt x="1341977" y="23045"/>
                </a:lnTo>
                <a:lnTo>
                  <a:pt x="1345454" y="19941"/>
                </a:lnTo>
                <a:lnTo>
                  <a:pt x="1348931" y="17047"/>
                </a:lnTo>
                <a:lnTo>
                  <a:pt x="1352407" y="14367"/>
                </a:lnTo>
                <a:lnTo>
                  <a:pt x="1355884" y="11907"/>
                </a:lnTo>
                <a:lnTo>
                  <a:pt x="1359360" y="9669"/>
                </a:lnTo>
                <a:lnTo>
                  <a:pt x="1362837" y="7656"/>
                </a:lnTo>
                <a:lnTo>
                  <a:pt x="1366314" y="5874"/>
                </a:lnTo>
                <a:lnTo>
                  <a:pt x="1369790" y="4323"/>
                </a:lnTo>
                <a:lnTo>
                  <a:pt x="1373267" y="3006"/>
                </a:lnTo>
                <a:lnTo>
                  <a:pt x="1376744" y="1926"/>
                </a:lnTo>
                <a:lnTo>
                  <a:pt x="1380220" y="1085"/>
                </a:lnTo>
                <a:lnTo>
                  <a:pt x="1383697" y="482"/>
                </a:lnTo>
                <a:lnTo>
                  <a:pt x="1387173" y="121"/>
                </a:lnTo>
                <a:lnTo>
                  <a:pt x="1390650" y="0"/>
                </a:lnTo>
                <a:lnTo>
                  <a:pt x="1394127" y="121"/>
                </a:lnTo>
                <a:lnTo>
                  <a:pt x="1397603" y="482"/>
                </a:lnTo>
                <a:lnTo>
                  <a:pt x="1401080" y="1085"/>
                </a:lnTo>
                <a:lnTo>
                  <a:pt x="1404557" y="1926"/>
                </a:lnTo>
                <a:lnTo>
                  <a:pt x="1408033" y="3006"/>
                </a:lnTo>
                <a:lnTo>
                  <a:pt x="1411510" y="4323"/>
                </a:lnTo>
                <a:lnTo>
                  <a:pt x="1414986" y="5874"/>
                </a:lnTo>
                <a:lnTo>
                  <a:pt x="1418463" y="7656"/>
                </a:lnTo>
                <a:lnTo>
                  <a:pt x="1421940" y="9669"/>
                </a:lnTo>
                <a:lnTo>
                  <a:pt x="1425416" y="11907"/>
                </a:lnTo>
                <a:lnTo>
                  <a:pt x="1428893" y="14367"/>
                </a:lnTo>
                <a:lnTo>
                  <a:pt x="1432370" y="17047"/>
                </a:lnTo>
                <a:lnTo>
                  <a:pt x="1435846" y="19941"/>
                </a:lnTo>
                <a:lnTo>
                  <a:pt x="1439323" y="23045"/>
                </a:lnTo>
                <a:lnTo>
                  <a:pt x="1442799" y="26354"/>
                </a:lnTo>
                <a:lnTo>
                  <a:pt x="1446276" y="29863"/>
                </a:lnTo>
                <a:lnTo>
                  <a:pt x="1449753" y="33567"/>
                </a:lnTo>
                <a:lnTo>
                  <a:pt x="1453229" y="37459"/>
                </a:lnTo>
                <a:lnTo>
                  <a:pt x="1456706" y="41535"/>
                </a:lnTo>
                <a:lnTo>
                  <a:pt x="1460183" y="45788"/>
                </a:lnTo>
                <a:lnTo>
                  <a:pt x="1463659" y="50210"/>
                </a:lnTo>
                <a:lnTo>
                  <a:pt x="1467136" y="54797"/>
                </a:lnTo>
                <a:lnTo>
                  <a:pt x="1470612" y="59540"/>
                </a:lnTo>
                <a:lnTo>
                  <a:pt x="1474089" y="64432"/>
                </a:lnTo>
                <a:lnTo>
                  <a:pt x="1477566" y="69467"/>
                </a:lnTo>
                <a:lnTo>
                  <a:pt x="1481042" y="74636"/>
                </a:lnTo>
                <a:lnTo>
                  <a:pt x="1484519" y="79932"/>
                </a:lnTo>
                <a:lnTo>
                  <a:pt x="1487996" y="85347"/>
                </a:lnTo>
                <a:lnTo>
                  <a:pt x="1491472" y="90874"/>
                </a:lnTo>
                <a:lnTo>
                  <a:pt x="1494949" y="96504"/>
                </a:lnTo>
                <a:lnTo>
                  <a:pt x="1498425" y="102229"/>
                </a:lnTo>
                <a:lnTo>
                  <a:pt x="1501902" y="108041"/>
                </a:lnTo>
                <a:lnTo>
                  <a:pt x="1505379" y="113932"/>
                </a:lnTo>
                <a:lnTo>
                  <a:pt x="1508855" y="119892"/>
                </a:lnTo>
                <a:lnTo>
                  <a:pt x="1512332" y="125915"/>
                </a:lnTo>
                <a:lnTo>
                  <a:pt x="1515808" y="131991"/>
                </a:lnTo>
                <a:lnTo>
                  <a:pt x="1519285" y="138113"/>
                </a:lnTo>
                <a:lnTo>
                  <a:pt x="1522762" y="144271"/>
                </a:lnTo>
                <a:lnTo>
                  <a:pt x="1526238" y="150458"/>
                </a:lnTo>
                <a:lnTo>
                  <a:pt x="1529715" y="156664"/>
                </a:lnTo>
                <a:lnTo>
                  <a:pt x="1533192" y="162883"/>
                </a:lnTo>
                <a:lnTo>
                  <a:pt x="1536668" y="169106"/>
                </a:lnTo>
                <a:lnTo>
                  <a:pt x="1540145" y="175325"/>
                </a:lnTo>
                <a:lnTo>
                  <a:pt x="1543622" y="181531"/>
                </a:lnTo>
                <a:lnTo>
                  <a:pt x="1547098" y="187718"/>
                </a:lnTo>
                <a:lnTo>
                  <a:pt x="1550575" y="193877"/>
                </a:lnTo>
                <a:lnTo>
                  <a:pt x="1554051" y="200001"/>
                </a:lnTo>
                <a:lnTo>
                  <a:pt x="1557528" y="206082"/>
                </a:lnTo>
                <a:lnTo>
                  <a:pt x="1561005" y="212114"/>
                </a:lnTo>
                <a:lnTo>
                  <a:pt x="1564481" y="218090"/>
                </a:lnTo>
                <a:lnTo>
                  <a:pt x="1567958" y="224002"/>
                </a:lnTo>
                <a:lnTo>
                  <a:pt x="1571435" y="229844"/>
                </a:lnTo>
                <a:lnTo>
                  <a:pt x="1574911" y="235610"/>
                </a:lnTo>
                <a:lnTo>
                  <a:pt x="1578388" y="241294"/>
                </a:lnTo>
                <a:lnTo>
                  <a:pt x="1581864" y="246889"/>
                </a:lnTo>
                <a:lnTo>
                  <a:pt x="1585341" y="252391"/>
                </a:lnTo>
                <a:lnTo>
                  <a:pt x="1588818" y="257794"/>
                </a:lnTo>
                <a:lnTo>
                  <a:pt x="1592294" y="263092"/>
                </a:lnTo>
                <a:lnTo>
                  <a:pt x="1595771" y="268282"/>
                </a:lnTo>
                <a:lnTo>
                  <a:pt x="1599248" y="273358"/>
                </a:lnTo>
                <a:lnTo>
                  <a:pt x="1602724" y="278316"/>
                </a:lnTo>
                <a:lnTo>
                  <a:pt x="1606201" y="283152"/>
                </a:lnTo>
                <a:lnTo>
                  <a:pt x="1609677" y="287863"/>
                </a:lnTo>
                <a:lnTo>
                  <a:pt x="1613154" y="292445"/>
                </a:lnTo>
                <a:lnTo>
                  <a:pt x="1616631" y="296896"/>
                </a:lnTo>
                <a:lnTo>
                  <a:pt x="1620107" y="301211"/>
                </a:lnTo>
                <a:lnTo>
                  <a:pt x="1623584" y="305390"/>
                </a:lnTo>
                <a:lnTo>
                  <a:pt x="1627061" y="309429"/>
                </a:lnTo>
                <a:lnTo>
                  <a:pt x="1630537" y="313327"/>
                </a:lnTo>
                <a:lnTo>
                  <a:pt x="1634014" y="317082"/>
                </a:lnTo>
                <a:lnTo>
                  <a:pt x="1637490" y="320694"/>
                </a:lnTo>
                <a:lnTo>
                  <a:pt x="1640967" y="324160"/>
                </a:lnTo>
                <a:lnTo>
                  <a:pt x="1644444" y="327481"/>
                </a:lnTo>
                <a:lnTo>
                  <a:pt x="1647920" y="330656"/>
                </a:lnTo>
                <a:lnTo>
                  <a:pt x="1651397" y="333685"/>
                </a:lnTo>
                <a:lnTo>
                  <a:pt x="1654874" y="336568"/>
                </a:lnTo>
                <a:lnTo>
                  <a:pt x="1658350" y="339306"/>
                </a:lnTo>
                <a:lnTo>
                  <a:pt x="1661827" y="341899"/>
                </a:lnTo>
                <a:lnTo>
                  <a:pt x="1665303" y="344348"/>
                </a:lnTo>
                <a:lnTo>
                  <a:pt x="1668780" y="346655"/>
                </a:lnTo>
                <a:lnTo>
                  <a:pt x="1672257" y="348821"/>
                </a:lnTo>
                <a:lnTo>
                  <a:pt x="1675733" y="350847"/>
                </a:lnTo>
                <a:lnTo>
                  <a:pt x="1679210" y="352737"/>
                </a:lnTo>
                <a:lnTo>
                  <a:pt x="1682687" y="354491"/>
                </a:lnTo>
                <a:lnTo>
                  <a:pt x="1686163" y="356113"/>
                </a:lnTo>
                <a:lnTo>
                  <a:pt x="1689640" y="357605"/>
                </a:lnTo>
                <a:lnTo>
                  <a:pt x="1693116" y="358970"/>
                </a:lnTo>
                <a:lnTo>
                  <a:pt x="1696593" y="360210"/>
                </a:lnTo>
                <a:lnTo>
                  <a:pt x="1700070" y="361330"/>
                </a:lnTo>
                <a:lnTo>
                  <a:pt x="1703546" y="362332"/>
                </a:lnTo>
                <a:lnTo>
                  <a:pt x="1707023" y="363220"/>
                </a:lnTo>
                <a:lnTo>
                  <a:pt x="1710500" y="363998"/>
                </a:lnTo>
                <a:lnTo>
                  <a:pt x="1713976" y="364668"/>
                </a:lnTo>
                <a:lnTo>
                  <a:pt x="1717453" y="365236"/>
                </a:lnTo>
                <a:lnTo>
                  <a:pt x="1720929" y="365705"/>
                </a:lnTo>
                <a:lnTo>
                  <a:pt x="1724406" y="366079"/>
                </a:lnTo>
                <a:lnTo>
                  <a:pt x="1727883" y="366363"/>
                </a:lnTo>
                <a:lnTo>
                  <a:pt x="1731359" y="366560"/>
                </a:lnTo>
                <a:lnTo>
                  <a:pt x="1734836" y="366675"/>
                </a:lnTo>
                <a:lnTo>
                  <a:pt x="1738313" y="366713"/>
                </a:lnTo>
                <a:lnTo>
                  <a:pt x="1741789" y="366677"/>
                </a:lnTo>
                <a:lnTo>
                  <a:pt x="1745266" y="366572"/>
                </a:lnTo>
                <a:lnTo>
                  <a:pt x="1748742" y="366402"/>
                </a:lnTo>
                <a:lnTo>
                  <a:pt x="1752219" y="366173"/>
                </a:lnTo>
                <a:lnTo>
                  <a:pt x="1755696" y="365888"/>
                </a:lnTo>
                <a:lnTo>
                  <a:pt x="1759172" y="365551"/>
                </a:lnTo>
                <a:lnTo>
                  <a:pt x="1762649" y="365168"/>
                </a:lnTo>
                <a:lnTo>
                  <a:pt x="1766125" y="364742"/>
                </a:lnTo>
                <a:lnTo>
                  <a:pt x="1769602" y="364278"/>
                </a:lnTo>
                <a:lnTo>
                  <a:pt x="1773079" y="363780"/>
                </a:lnTo>
                <a:lnTo>
                  <a:pt x="1776555" y="363252"/>
                </a:lnTo>
                <a:lnTo>
                  <a:pt x="1780032" y="362698"/>
                </a:lnTo>
                <a:lnTo>
                  <a:pt x="1783509" y="362123"/>
                </a:lnTo>
                <a:lnTo>
                  <a:pt x="1786985" y="361529"/>
                </a:lnTo>
                <a:lnTo>
                  <a:pt x="1790462" y="360922"/>
                </a:lnTo>
                <a:lnTo>
                  <a:pt x="1793939" y="360304"/>
                </a:lnTo>
                <a:lnTo>
                  <a:pt x="1797415" y="359679"/>
                </a:lnTo>
                <a:lnTo>
                  <a:pt x="1800892" y="359051"/>
                </a:lnTo>
                <a:lnTo>
                  <a:pt x="1804368" y="358423"/>
                </a:lnTo>
                <a:lnTo>
                  <a:pt x="1807845" y="357798"/>
                </a:lnTo>
                <a:lnTo>
                  <a:pt x="1811322" y="357179"/>
                </a:lnTo>
                <a:lnTo>
                  <a:pt x="1814798" y="356570"/>
                </a:lnTo>
                <a:lnTo>
                  <a:pt x="1818275" y="355972"/>
                </a:lnTo>
                <a:lnTo>
                  <a:pt x="1821752" y="355389"/>
                </a:lnTo>
                <a:lnTo>
                  <a:pt x="1825228" y="354823"/>
                </a:lnTo>
                <a:lnTo>
                  <a:pt x="1828705" y="354276"/>
                </a:lnTo>
                <a:lnTo>
                  <a:pt x="1832181" y="353751"/>
                </a:lnTo>
                <a:lnTo>
                  <a:pt x="1835658" y="353249"/>
                </a:lnTo>
                <a:lnTo>
                  <a:pt x="1839135" y="352772"/>
                </a:lnTo>
                <a:lnTo>
                  <a:pt x="1842611" y="352323"/>
                </a:lnTo>
                <a:lnTo>
                  <a:pt x="1846088" y="351902"/>
                </a:lnTo>
                <a:lnTo>
                  <a:pt x="1849565" y="351511"/>
                </a:lnTo>
                <a:lnTo>
                  <a:pt x="1853041" y="351150"/>
                </a:lnTo>
                <a:lnTo>
                  <a:pt x="1856518" y="350822"/>
                </a:lnTo>
                <a:lnTo>
                  <a:pt x="1859994" y="350527"/>
                </a:lnTo>
                <a:lnTo>
                  <a:pt x="1863471" y="350266"/>
                </a:lnTo>
                <a:lnTo>
                  <a:pt x="1866948" y="350039"/>
                </a:lnTo>
                <a:lnTo>
                  <a:pt x="1870424" y="349846"/>
                </a:lnTo>
                <a:lnTo>
                  <a:pt x="1873901" y="349688"/>
                </a:lnTo>
                <a:lnTo>
                  <a:pt x="1877378" y="349566"/>
                </a:lnTo>
                <a:lnTo>
                  <a:pt x="1880854" y="349478"/>
                </a:lnTo>
                <a:lnTo>
                  <a:pt x="1884331" y="349425"/>
                </a:lnTo>
                <a:lnTo>
                  <a:pt x="1887807" y="349407"/>
                </a:lnTo>
                <a:lnTo>
                  <a:pt x="1891284" y="349423"/>
                </a:lnTo>
                <a:lnTo>
                  <a:pt x="1894761" y="349473"/>
                </a:lnTo>
                <a:lnTo>
                  <a:pt x="1898237" y="349555"/>
                </a:lnTo>
                <a:lnTo>
                  <a:pt x="1901714" y="349670"/>
                </a:lnTo>
                <a:lnTo>
                  <a:pt x="1905190" y="349816"/>
                </a:lnTo>
                <a:lnTo>
                  <a:pt x="1908667" y="349993"/>
                </a:lnTo>
                <a:lnTo>
                  <a:pt x="1912144" y="350199"/>
                </a:lnTo>
                <a:lnTo>
                  <a:pt x="1915620" y="350433"/>
                </a:lnTo>
                <a:lnTo>
                  <a:pt x="1919097" y="350694"/>
                </a:lnTo>
                <a:lnTo>
                  <a:pt x="1922574" y="350981"/>
                </a:lnTo>
                <a:lnTo>
                  <a:pt x="1926050" y="351292"/>
                </a:lnTo>
                <a:lnTo>
                  <a:pt x="1929527" y="351626"/>
                </a:lnTo>
                <a:lnTo>
                  <a:pt x="1933004" y="351981"/>
                </a:lnTo>
                <a:lnTo>
                  <a:pt x="1936480" y="352356"/>
                </a:lnTo>
                <a:lnTo>
                  <a:pt x="1939957" y="352749"/>
                </a:lnTo>
                <a:lnTo>
                  <a:pt x="1943433" y="353159"/>
                </a:lnTo>
                <a:lnTo>
                  <a:pt x="1946910" y="353584"/>
                </a:lnTo>
                <a:lnTo>
                  <a:pt x="1950387" y="354023"/>
                </a:lnTo>
                <a:lnTo>
                  <a:pt x="1953863" y="354473"/>
                </a:lnTo>
                <a:lnTo>
                  <a:pt x="1957340" y="354934"/>
                </a:lnTo>
                <a:lnTo>
                  <a:pt x="1960817" y="355402"/>
                </a:lnTo>
                <a:lnTo>
                  <a:pt x="1964293" y="355878"/>
                </a:lnTo>
                <a:lnTo>
                  <a:pt x="1967770" y="356358"/>
                </a:lnTo>
                <a:lnTo>
                  <a:pt x="1971246" y="356842"/>
                </a:lnTo>
                <a:lnTo>
                  <a:pt x="1974723" y="357328"/>
                </a:lnTo>
                <a:lnTo>
                  <a:pt x="1978200" y="357813"/>
                </a:lnTo>
                <a:lnTo>
                  <a:pt x="1981676" y="358298"/>
                </a:lnTo>
                <a:lnTo>
                  <a:pt x="1985153" y="358779"/>
                </a:lnTo>
                <a:lnTo>
                  <a:pt x="1988629" y="359256"/>
                </a:lnTo>
                <a:lnTo>
                  <a:pt x="1992106" y="359727"/>
                </a:lnTo>
                <a:lnTo>
                  <a:pt x="1995583" y="360191"/>
                </a:lnTo>
                <a:lnTo>
                  <a:pt x="1999059" y="360646"/>
                </a:lnTo>
                <a:lnTo>
                  <a:pt x="2002536" y="361092"/>
                </a:lnTo>
                <a:lnTo>
                  <a:pt x="2006013" y="361526"/>
                </a:lnTo>
                <a:lnTo>
                  <a:pt x="2009489" y="361948"/>
                </a:lnTo>
                <a:lnTo>
                  <a:pt x="2012966" y="362356"/>
                </a:lnTo>
                <a:lnTo>
                  <a:pt x="2016443" y="362750"/>
                </a:lnTo>
                <a:lnTo>
                  <a:pt x="2019919" y="363129"/>
                </a:lnTo>
                <a:lnTo>
                  <a:pt x="2023396" y="363492"/>
                </a:lnTo>
                <a:lnTo>
                  <a:pt x="2026872" y="363838"/>
                </a:lnTo>
                <a:lnTo>
                  <a:pt x="2030349" y="364165"/>
                </a:lnTo>
                <a:lnTo>
                  <a:pt x="2033826" y="364475"/>
                </a:lnTo>
                <a:lnTo>
                  <a:pt x="2037302" y="364765"/>
                </a:lnTo>
                <a:lnTo>
                  <a:pt x="2040779" y="365037"/>
                </a:lnTo>
                <a:lnTo>
                  <a:pt x="2044256" y="365288"/>
                </a:lnTo>
                <a:lnTo>
                  <a:pt x="2047732" y="365519"/>
                </a:lnTo>
                <a:lnTo>
                  <a:pt x="2051209" y="365730"/>
                </a:lnTo>
                <a:lnTo>
                  <a:pt x="2054685" y="365920"/>
                </a:lnTo>
                <a:lnTo>
                  <a:pt x="2058162" y="366089"/>
                </a:lnTo>
                <a:lnTo>
                  <a:pt x="2061639" y="366238"/>
                </a:lnTo>
                <a:lnTo>
                  <a:pt x="2065115" y="366366"/>
                </a:lnTo>
                <a:lnTo>
                  <a:pt x="2068592" y="366473"/>
                </a:lnTo>
                <a:lnTo>
                  <a:pt x="2072068" y="366561"/>
                </a:lnTo>
                <a:lnTo>
                  <a:pt x="2075545" y="366628"/>
                </a:lnTo>
                <a:lnTo>
                  <a:pt x="2079022" y="366675"/>
                </a:lnTo>
                <a:lnTo>
                  <a:pt x="2082498" y="366703"/>
                </a:lnTo>
                <a:lnTo>
                  <a:pt x="2085975" y="366713"/>
                </a:lnTo>
                <a:lnTo>
                  <a:pt x="2089452" y="366703"/>
                </a:lnTo>
                <a:lnTo>
                  <a:pt x="2092928" y="366677"/>
                </a:lnTo>
                <a:lnTo>
                  <a:pt x="2096405" y="366633"/>
                </a:lnTo>
                <a:lnTo>
                  <a:pt x="2099882" y="366572"/>
                </a:lnTo>
                <a:lnTo>
                  <a:pt x="2103358" y="366496"/>
                </a:lnTo>
                <a:lnTo>
                  <a:pt x="2106835" y="366405"/>
                </a:lnTo>
                <a:lnTo>
                  <a:pt x="2110311" y="366300"/>
                </a:lnTo>
                <a:lnTo>
                  <a:pt x="2113788" y="366181"/>
                </a:lnTo>
                <a:lnTo>
                  <a:pt x="2117265" y="366050"/>
                </a:lnTo>
                <a:lnTo>
                  <a:pt x="2120741" y="365908"/>
                </a:lnTo>
                <a:lnTo>
                  <a:pt x="2124218" y="365755"/>
                </a:lnTo>
                <a:lnTo>
                  <a:pt x="2127695" y="365592"/>
                </a:lnTo>
                <a:lnTo>
                  <a:pt x="2131171" y="365421"/>
                </a:lnTo>
                <a:lnTo>
                  <a:pt x="2134648" y="365242"/>
                </a:lnTo>
                <a:lnTo>
                  <a:pt x="2138124" y="365056"/>
                </a:lnTo>
                <a:lnTo>
                  <a:pt x="2141601" y="364864"/>
                </a:lnTo>
                <a:lnTo>
                  <a:pt x="2145078" y="364668"/>
                </a:lnTo>
                <a:lnTo>
                  <a:pt x="2148554" y="364468"/>
                </a:lnTo>
                <a:lnTo>
                  <a:pt x="2152031" y="364265"/>
                </a:lnTo>
                <a:lnTo>
                  <a:pt x="2155508" y="364060"/>
                </a:lnTo>
                <a:lnTo>
                  <a:pt x="2158984" y="363855"/>
                </a:lnTo>
                <a:lnTo>
                  <a:pt x="2162461" y="363649"/>
                </a:lnTo>
                <a:lnTo>
                  <a:pt x="2165937" y="363445"/>
                </a:lnTo>
                <a:lnTo>
                  <a:pt x="2169414" y="363242"/>
                </a:lnTo>
                <a:lnTo>
                  <a:pt x="2172891" y="363043"/>
                </a:lnTo>
                <a:lnTo>
                  <a:pt x="2176367" y="362847"/>
                </a:lnTo>
                <a:lnTo>
                  <a:pt x="2179844" y="362655"/>
                </a:lnTo>
                <a:lnTo>
                  <a:pt x="2183321" y="362469"/>
                </a:lnTo>
                <a:lnTo>
                  <a:pt x="2186797" y="362289"/>
                </a:lnTo>
                <a:lnTo>
                  <a:pt x="2190274" y="362115"/>
                </a:lnTo>
                <a:lnTo>
                  <a:pt x="2193750" y="361949"/>
                </a:lnTo>
                <a:lnTo>
                  <a:pt x="2197227" y="361791"/>
                </a:lnTo>
                <a:lnTo>
                  <a:pt x="2200704" y="361642"/>
                </a:lnTo>
                <a:lnTo>
                  <a:pt x="2204180" y="361502"/>
                </a:lnTo>
                <a:lnTo>
                  <a:pt x="2207657" y="361371"/>
                </a:lnTo>
                <a:lnTo>
                  <a:pt x="2211134" y="361251"/>
                </a:lnTo>
                <a:lnTo>
                  <a:pt x="2214610" y="361141"/>
                </a:lnTo>
                <a:lnTo>
                  <a:pt x="2218087" y="361042"/>
                </a:lnTo>
                <a:lnTo>
                  <a:pt x="2221563" y="360954"/>
                </a:lnTo>
                <a:lnTo>
                  <a:pt x="2225040" y="360878"/>
                </a:lnTo>
                <a:lnTo>
                  <a:pt x="2228517" y="360813"/>
                </a:lnTo>
                <a:lnTo>
                  <a:pt x="2231993" y="360760"/>
                </a:lnTo>
                <a:lnTo>
                  <a:pt x="2235470" y="360720"/>
                </a:lnTo>
                <a:lnTo>
                  <a:pt x="2238947" y="360691"/>
                </a:lnTo>
                <a:lnTo>
                  <a:pt x="2242423" y="360674"/>
                </a:lnTo>
                <a:lnTo>
                  <a:pt x="2245900" y="360669"/>
                </a:lnTo>
                <a:lnTo>
                  <a:pt x="2249376" y="360676"/>
                </a:lnTo>
                <a:lnTo>
                  <a:pt x="2252853" y="360695"/>
                </a:lnTo>
                <a:lnTo>
                  <a:pt x="2256330" y="360726"/>
                </a:lnTo>
                <a:lnTo>
                  <a:pt x="2259806" y="360768"/>
                </a:lnTo>
                <a:lnTo>
                  <a:pt x="2263283" y="360821"/>
                </a:lnTo>
                <a:lnTo>
                  <a:pt x="2266760" y="360885"/>
                </a:lnTo>
                <a:lnTo>
                  <a:pt x="2270236" y="360959"/>
                </a:lnTo>
                <a:lnTo>
                  <a:pt x="2273713" y="361044"/>
                </a:lnTo>
                <a:lnTo>
                  <a:pt x="2277189" y="361138"/>
                </a:lnTo>
                <a:lnTo>
                  <a:pt x="2280666" y="361242"/>
                </a:lnTo>
                <a:lnTo>
                  <a:pt x="2284143" y="361355"/>
                </a:lnTo>
                <a:lnTo>
                  <a:pt x="2287619" y="361476"/>
                </a:lnTo>
                <a:lnTo>
                  <a:pt x="2291096" y="361605"/>
                </a:lnTo>
                <a:lnTo>
                  <a:pt x="2294573" y="361741"/>
                </a:lnTo>
                <a:lnTo>
                  <a:pt x="2298049" y="361884"/>
                </a:lnTo>
                <a:lnTo>
                  <a:pt x="2301526" y="362033"/>
                </a:lnTo>
                <a:lnTo>
                  <a:pt x="2305002" y="362188"/>
                </a:lnTo>
                <a:lnTo>
                  <a:pt x="2308479" y="362348"/>
                </a:lnTo>
                <a:lnTo>
                  <a:pt x="2311956" y="362512"/>
                </a:lnTo>
                <a:lnTo>
                  <a:pt x="2315432" y="362680"/>
                </a:lnTo>
                <a:lnTo>
                  <a:pt x="2318909" y="362851"/>
                </a:lnTo>
                <a:lnTo>
                  <a:pt x="2322386" y="363025"/>
                </a:lnTo>
                <a:lnTo>
                  <a:pt x="2325862" y="363200"/>
                </a:lnTo>
                <a:lnTo>
                  <a:pt x="2329339" y="363377"/>
                </a:lnTo>
                <a:lnTo>
                  <a:pt x="2332815" y="363554"/>
                </a:lnTo>
                <a:lnTo>
                  <a:pt x="2336292" y="363731"/>
                </a:lnTo>
                <a:lnTo>
                  <a:pt x="2339769" y="363907"/>
                </a:lnTo>
                <a:lnTo>
                  <a:pt x="2343245" y="364083"/>
                </a:lnTo>
                <a:lnTo>
                  <a:pt x="2346722" y="364256"/>
                </a:lnTo>
                <a:lnTo>
                  <a:pt x="2350199" y="364427"/>
                </a:lnTo>
                <a:lnTo>
                  <a:pt x="2353675" y="364595"/>
                </a:lnTo>
                <a:lnTo>
                  <a:pt x="2357152" y="364759"/>
                </a:lnTo>
                <a:lnTo>
                  <a:pt x="2360628" y="364919"/>
                </a:lnTo>
                <a:lnTo>
                  <a:pt x="2364105" y="365075"/>
                </a:lnTo>
                <a:lnTo>
                  <a:pt x="2367582" y="365226"/>
                </a:lnTo>
                <a:lnTo>
                  <a:pt x="2371058" y="365371"/>
                </a:lnTo>
                <a:lnTo>
                  <a:pt x="2374535" y="365510"/>
                </a:lnTo>
                <a:lnTo>
                  <a:pt x="2378011" y="365643"/>
                </a:lnTo>
                <a:lnTo>
                  <a:pt x="2381488" y="365770"/>
                </a:lnTo>
                <a:lnTo>
                  <a:pt x="2384965" y="365889"/>
                </a:lnTo>
                <a:lnTo>
                  <a:pt x="2388441" y="366001"/>
                </a:lnTo>
                <a:lnTo>
                  <a:pt x="2391918" y="366105"/>
                </a:lnTo>
                <a:lnTo>
                  <a:pt x="2395395" y="366202"/>
                </a:lnTo>
                <a:lnTo>
                  <a:pt x="2398871" y="366291"/>
                </a:lnTo>
                <a:lnTo>
                  <a:pt x="2402348" y="366371"/>
                </a:lnTo>
                <a:lnTo>
                  <a:pt x="2405825" y="366443"/>
                </a:lnTo>
                <a:lnTo>
                  <a:pt x="2409301" y="366507"/>
                </a:lnTo>
                <a:lnTo>
                  <a:pt x="2412778" y="366562"/>
                </a:lnTo>
                <a:lnTo>
                  <a:pt x="2416254" y="366608"/>
                </a:lnTo>
                <a:lnTo>
                  <a:pt x="2419731" y="366646"/>
                </a:lnTo>
                <a:lnTo>
                  <a:pt x="2423208" y="366675"/>
                </a:lnTo>
                <a:lnTo>
                  <a:pt x="2426684" y="366696"/>
                </a:lnTo>
                <a:lnTo>
                  <a:pt x="2430161" y="366708"/>
                </a:lnTo>
                <a:lnTo>
                  <a:pt x="2433638" y="366713"/>
                </a:lnTo>
                <a:lnTo>
                  <a:pt x="2437114" y="366708"/>
                </a:lnTo>
                <a:lnTo>
                  <a:pt x="2440591" y="366696"/>
                </a:lnTo>
                <a:lnTo>
                  <a:pt x="2444067" y="366677"/>
                </a:lnTo>
                <a:lnTo>
                  <a:pt x="2447544" y="366649"/>
                </a:lnTo>
                <a:lnTo>
                  <a:pt x="2451021" y="366615"/>
                </a:lnTo>
                <a:lnTo>
                  <a:pt x="2454497" y="366573"/>
                </a:lnTo>
                <a:lnTo>
                  <a:pt x="2457974" y="366525"/>
                </a:lnTo>
                <a:lnTo>
                  <a:pt x="2461451" y="366470"/>
                </a:lnTo>
                <a:lnTo>
                  <a:pt x="2464927" y="366410"/>
                </a:lnTo>
                <a:lnTo>
                  <a:pt x="2468404" y="366343"/>
                </a:lnTo>
                <a:lnTo>
                  <a:pt x="2471880" y="366272"/>
                </a:lnTo>
                <a:lnTo>
                  <a:pt x="2475357" y="366195"/>
                </a:lnTo>
                <a:lnTo>
                  <a:pt x="2478834" y="366114"/>
                </a:lnTo>
                <a:lnTo>
                  <a:pt x="2482310" y="366029"/>
                </a:lnTo>
                <a:lnTo>
                  <a:pt x="2485787" y="365941"/>
                </a:lnTo>
                <a:lnTo>
                  <a:pt x="2489263" y="365849"/>
                </a:lnTo>
                <a:lnTo>
                  <a:pt x="2492740" y="365754"/>
                </a:lnTo>
                <a:lnTo>
                  <a:pt x="2496217" y="365658"/>
                </a:lnTo>
                <a:lnTo>
                  <a:pt x="2499693" y="365559"/>
                </a:lnTo>
                <a:lnTo>
                  <a:pt x="2503170" y="365459"/>
                </a:lnTo>
                <a:lnTo>
                  <a:pt x="2506647" y="365358"/>
                </a:lnTo>
                <a:lnTo>
                  <a:pt x="2510123" y="365256"/>
                </a:lnTo>
                <a:lnTo>
                  <a:pt x="2513600" y="365155"/>
                </a:lnTo>
                <a:lnTo>
                  <a:pt x="2517077" y="365054"/>
                </a:lnTo>
                <a:lnTo>
                  <a:pt x="2520553" y="364954"/>
                </a:lnTo>
                <a:lnTo>
                  <a:pt x="2524030" y="364855"/>
                </a:lnTo>
                <a:lnTo>
                  <a:pt x="2527506" y="364757"/>
                </a:lnTo>
                <a:lnTo>
                  <a:pt x="2530983" y="364662"/>
                </a:lnTo>
                <a:lnTo>
                  <a:pt x="2534460" y="364569"/>
                </a:lnTo>
                <a:lnTo>
                  <a:pt x="2537936" y="364479"/>
                </a:lnTo>
                <a:lnTo>
                  <a:pt x="2541413" y="364393"/>
                </a:lnTo>
                <a:lnTo>
                  <a:pt x="2544890" y="364309"/>
                </a:lnTo>
                <a:lnTo>
                  <a:pt x="2548366" y="364230"/>
                </a:lnTo>
                <a:lnTo>
                  <a:pt x="2551843" y="364155"/>
                </a:lnTo>
                <a:lnTo>
                  <a:pt x="2555319" y="364084"/>
                </a:lnTo>
                <a:lnTo>
                  <a:pt x="2558796" y="364018"/>
                </a:lnTo>
                <a:lnTo>
                  <a:pt x="2562273" y="363957"/>
                </a:lnTo>
                <a:lnTo>
                  <a:pt x="2565749" y="363901"/>
                </a:lnTo>
                <a:lnTo>
                  <a:pt x="2569226" y="363850"/>
                </a:lnTo>
                <a:lnTo>
                  <a:pt x="2572703" y="363805"/>
                </a:lnTo>
                <a:lnTo>
                  <a:pt x="2576179" y="363766"/>
                </a:lnTo>
                <a:lnTo>
                  <a:pt x="2579656" y="363732"/>
                </a:lnTo>
                <a:lnTo>
                  <a:pt x="2583132" y="363705"/>
                </a:lnTo>
                <a:lnTo>
                  <a:pt x="2586609" y="363683"/>
                </a:lnTo>
                <a:lnTo>
                  <a:pt x="2590086" y="363667"/>
                </a:lnTo>
                <a:lnTo>
                  <a:pt x="2593562" y="363658"/>
                </a:lnTo>
                <a:lnTo>
                  <a:pt x="2597039" y="363654"/>
                </a:lnTo>
                <a:lnTo>
                  <a:pt x="2600516" y="363657"/>
                </a:lnTo>
                <a:lnTo>
                  <a:pt x="2603992" y="363665"/>
                </a:lnTo>
                <a:lnTo>
                  <a:pt x="2607469" y="363679"/>
                </a:lnTo>
                <a:lnTo>
                  <a:pt x="2610945" y="363700"/>
                </a:lnTo>
                <a:lnTo>
                  <a:pt x="2614422" y="363726"/>
                </a:lnTo>
                <a:lnTo>
                  <a:pt x="2617899" y="363757"/>
                </a:lnTo>
                <a:lnTo>
                  <a:pt x="2621375" y="363794"/>
                </a:lnTo>
                <a:lnTo>
                  <a:pt x="2624852" y="363836"/>
                </a:lnTo>
                <a:lnTo>
                  <a:pt x="2628329" y="363884"/>
                </a:lnTo>
                <a:lnTo>
                  <a:pt x="2631805" y="363936"/>
                </a:lnTo>
                <a:lnTo>
                  <a:pt x="2635282" y="363993"/>
                </a:lnTo>
                <a:lnTo>
                  <a:pt x="2638758" y="364054"/>
                </a:lnTo>
                <a:lnTo>
                  <a:pt x="2642235" y="364119"/>
                </a:lnTo>
                <a:lnTo>
                  <a:pt x="2645712" y="364189"/>
                </a:lnTo>
                <a:lnTo>
                  <a:pt x="2649188" y="364261"/>
                </a:lnTo>
                <a:lnTo>
                  <a:pt x="2652665" y="364337"/>
                </a:lnTo>
                <a:lnTo>
                  <a:pt x="2656142" y="364417"/>
                </a:lnTo>
                <a:lnTo>
                  <a:pt x="2659618" y="364498"/>
                </a:lnTo>
                <a:lnTo>
                  <a:pt x="2663095" y="364583"/>
                </a:lnTo>
                <a:lnTo>
                  <a:pt x="2666571" y="364669"/>
                </a:lnTo>
                <a:lnTo>
                  <a:pt x="2670048" y="364757"/>
                </a:lnTo>
                <a:lnTo>
                  <a:pt x="2673525" y="364846"/>
                </a:lnTo>
                <a:lnTo>
                  <a:pt x="2677001" y="364936"/>
                </a:lnTo>
                <a:lnTo>
                  <a:pt x="2680478" y="365027"/>
                </a:lnTo>
                <a:lnTo>
                  <a:pt x="2683954" y="365118"/>
                </a:lnTo>
                <a:lnTo>
                  <a:pt x="2687431" y="365210"/>
                </a:lnTo>
                <a:lnTo>
                  <a:pt x="2690908" y="365301"/>
                </a:lnTo>
                <a:lnTo>
                  <a:pt x="2694384" y="365391"/>
                </a:lnTo>
                <a:lnTo>
                  <a:pt x="2697861" y="365481"/>
                </a:lnTo>
                <a:lnTo>
                  <a:pt x="2701338" y="365569"/>
                </a:lnTo>
                <a:lnTo>
                  <a:pt x="2704814" y="365656"/>
                </a:lnTo>
                <a:lnTo>
                  <a:pt x="2708291" y="365741"/>
                </a:lnTo>
                <a:lnTo>
                  <a:pt x="2711768" y="365824"/>
                </a:lnTo>
                <a:lnTo>
                  <a:pt x="2715244" y="365904"/>
                </a:lnTo>
                <a:lnTo>
                  <a:pt x="2718721" y="365981"/>
                </a:lnTo>
                <a:lnTo>
                  <a:pt x="2722197" y="366056"/>
                </a:lnTo>
                <a:lnTo>
                  <a:pt x="2725674" y="366128"/>
                </a:lnTo>
                <a:lnTo>
                  <a:pt x="2729151" y="366196"/>
                </a:lnTo>
                <a:lnTo>
                  <a:pt x="2732627" y="366260"/>
                </a:lnTo>
                <a:lnTo>
                  <a:pt x="2736104" y="366321"/>
                </a:lnTo>
                <a:lnTo>
                  <a:pt x="2739581" y="366378"/>
                </a:lnTo>
                <a:lnTo>
                  <a:pt x="2743057" y="366431"/>
                </a:lnTo>
                <a:lnTo>
                  <a:pt x="2746534" y="366479"/>
                </a:lnTo>
                <a:lnTo>
                  <a:pt x="2750010" y="366523"/>
                </a:lnTo>
                <a:lnTo>
                  <a:pt x="2753487" y="366563"/>
                </a:lnTo>
                <a:lnTo>
                  <a:pt x="2756964" y="366598"/>
                </a:lnTo>
                <a:lnTo>
                  <a:pt x="2760440" y="366628"/>
                </a:lnTo>
                <a:lnTo>
                  <a:pt x="2763917" y="366654"/>
                </a:lnTo>
                <a:lnTo>
                  <a:pt x="2767394" y="366675"/>
                </a:lnTo>
                <a:lnTo>
                  <a:pt x="2770870" y="366692"/>
                </a:lnTo>
                <a:lnTo>
                  <a:pt x="2774347" y="366703"/>
                </a:lnTo>
                <a:lnTo>
                  <a:pt x="2777823" y="366710"/>
                </a:lnTo>
                <a:lnTo>
                  <a:pt x="2781300" y="366713"/>
                </a:lnTo>
              </a:path>
            </a:pathLst>
          </a:custGeom>
          <a:noFill xmlns:a="http://schemas.openxmlformats.org/drawingml/2006/main"/>
          <a:ln xmlns:a="http://schemas.openxmlformats.org/drawingml/2006/main" w="15240">
            <a:solidFill>
              <a:srgbClr val="202020"/>
            </a:solidFill>
          </a:ln>
        </p:spPr>
      </p:sp>
      <p:sp>
        <p:nvSpPr>
          <p:cNvPr id="18" name="!!qam-qam-modulate-g0-r1-wave">
            <a:extLst xmlns:a="http://schemas.openxmlformats.org/drawingml/2006/main">
              <a:ext uri="{FF2B5EF4-FFF2-40B4-BE49-F238E27FC236}">
                <a16:creationId xmlns:a16="http://schemas.microsoft.com/office/drawing/2014/main" id="{3F98FCFE-5A14-4627-AD38-7B689E333A2C}"/>
              </a:ext>
            </a:extLst>
          </p:cNvPr>
          <p:cNvSpPr>
            <a:spLocks xmlns:a="http://schemas.openxmlformats.org/drawingml/2006/main" noGrp="1"/>
          </p:cNvSpPr>
          <p:nvPr/>
        </p:nvSpPr>
        <p:spPr>
          <a:xfrm xmlns:a="http://schemas.openxmlformats.org/drawingml/2006/main">
            <a:off x="571500" y="3842766"/>
            <a:ext cx="2781300" cy="205359"/>
          </a:xfrm>
          <a:custGeom xmlns:a="http://schemas.openxmlformats.org/drawingml/2006/main">
            <a:pathLst>
              <a:path w="2781300" h="205359">
                <a:moveTo>
                  <a:pt x="0" y="204442"/>
                </a:moveTo>
                <a:lnTo>
                  <a:pt x="3477" y="204381"/>
                </a:lnTo>
                <a:lnTo>
                  <a:pt x="6953" y="204319"/>
                </a:lnTo>
                <a:lnTo>
                  <a:pt x="10430" y="204256"/>
                </a:lnTo>
                <a:lnTo>
                  <a:pt x="13907" y="204192"/>
                </a:lnTo>
                <a:lnTo>
                  <a:pt x="17383" y="204126"/>
                </a:lnTo>
                <a:lnTo>
                  <a:pt x="20860" y="204060"/>
                </a:lnTo>
                <a:lnTo>
                  <a:pt x="24336" y="203993"/>
                </a:lnTo>
                <a:lnTo>
                  <a:pt x="27813" y="203925"/>
                </a:lnTo>
                <a:lnTo>
                  <a:pt x="31290" y="203857"/>
                </a:lnTo>
                <a:lnTo>
                  <a:pt x="34766" y="203788"/>
                </a:lnTo>
                <a:lnTo>
                  <a:pt x="38243" y="203719"/>
                </a:lnTo>
                <a:lnTo>
                  <a:pt x="41719" y="203650"/>
                </a:lnTo>
                <a:lnTo>
                  <a:pt x="45196" y="203580"/>
                </a:lnTo>
                <a:lnTo>
                  <a:pt x="48673" y="203511"/>
                </a:lnTo>
                <a:lnTo>
                  <a:pt x="52149" y="203441"/>
                </a:lnTo>
                <a:lnTo>
                  <a:pt x="55626" y="203372"/>
                </a:lnTo>
                <a:lnTo>
                  <a:pt x="59103" y="203304"/>
                </a:lnTo>
                <a:lnTo>
                  <a:pt x="62579" y="203235"/>
                </a:lnTo>
                <a:lnTo>
                  <a:pt x="66056" y="203168"/>
                </a:lnTo>
                <a:lnTo>
                  <a:pt x="69532" y="203101"/>
                </a:lnTo>
                <a:lnTo>
                  <a:pt x="73009" y="203035"/>
                </a:lnTo>
                <a:lnTo>
                  <a:pt x="76486" y="202970"/>
                </a:lnTo>
                <a:lnTo>
                  <a:pt x="79962" y="202906"/>
                </a:lnTo>
                <a:lnTo>
                  <a:pt x="83439" y="202843"/>
                </a:lnTo>
                <a:lnTo>
                  <a:pt x="86916" y="202782"/>
                </a:lnTo>
                <a:lnTo>
                  <a:pt x="90392" y="202722"/>
                </a:lnTo>
                <a:lnTo>
                  <a:pt x="93869" y="202663"/>
                </a:lnTo>
                <a:lnTo>
                  <a:pt x="97345" y="202607"/>
                </a:lnTo>
                <a:lnTo>
                  <a:pt x="100822" y="202552"/>
                </a:lnTo>
                <a:lnTo>
                  <a:pt x="104299" y="202499"/>
                </a:lnTo>
                <a:lnTo>
                  <a:pt x="107775" y="202448"/>
                </a:lnTo>
                <a:lnTo>
                  <a:pt x="111252" y="202399"/>
                </a:lnTo>
                <a:lnTo>
                  <a:pt x="114729" y="202352"/>
                </a:lnTo>
                <a:lnTo>
                  <a:pt x="118205" y="202308"/>
                </a:lnTo>
                <a:lnTo>
                  <a:pt x="121682" y="202266"/>
                </a:lnTo>
                <a:lnTo>
                  <a:pt x="125159" y="202226"/>
                </a:lnTo>
                <a:lnTo>
                  <a:pt x="128635" y="202190"/>
                </a:lnTo>
                <a:lnTo>
                  <a:pt x="132112" y="202155"/>
                </a:lnTo>
                <a:lnTo>
                  <a:pt x="135588" y="202124"/>
                </a:lnTo>
                <a:lnTo>
                  <a:pt x="139065" y="202095"/>
                </a:lnTo>
                <a:lnTo>
                  <a:pt x="142542" y="202070"/>
                </a:lnTo>
                <a:lnTo>
                  <a:pt x="146018" y="202047"/>
                </a:lnTo>
                <a:lnTo>
                  <a:pt x="149495" y="202027"/>
                </a:lnTo>
                <a:lnTo>
                  <a:pt x="152972" y="202011"/>
                </a:lnTo>
                <a:lnTo>
                  <a:pt x="156448" y="201997"/>
                </a:lnTo>
                <a:lnTo>
                  <a:pt x="159925" y="201987"/>
                </a:lnTo>
                <a:lnTo>
                  <a:pt x="163401" y="201979"/>
                </a:lnTo>
                <a:lnTo>
                  <a:pt x="166878" y="201976"/>
                </a:lnTo>
                <a:lnTo>
                  <a:pt x="170355" y="201975"/>
                </a:lnTo>
                <a:lnTo>
                  <a:pt x="173831" y="201977"/>
                </a:lnTo>
                <a:lnTo>
                  <a:pt x="177308" y="201983"/>
                </a:lnTo>
                <a:lnTo>
                  <a:pt x="180785" y="201992"/>
                </a:lnTo>
                <a:lnTo>
                  <a:pt x="184261" y="202005"/>
                </a:lnTo>
                <a:lnTo>
                  <a:pt x="187738" y="202021"/>
                </a:lnTo>
                <a:lnTo>
                  <a:pt x="191214" y="202040"/>
                </a:lnTo>
                <a:lnTo>
                  <a:pt x="194691" y="202062"/>
                </a:lnTo>
                <a:lnTo>
                  <a:pt x="198168" y="202088"/>
                </a:lnTo>
                <a:lnTo>
                  <a:pt x="201644" y="202116"/>
                </a:lnTo>
                <a:lnTo>
                  <a:pt x="205121" y="202148"/>
                </a:lnTo>
                <a:lnTo>
                  <a:pt x="208598" y="202183"/>
                </a:lnTo>
                <a:lnTo>
                  <a:pt x="212074" y="202222"/>
                </a:lnTo>
                <a:lnTo>
                  <a:pt x="215551" y="202263"/>
                </a:lnTo>
                <a:lnTo>
                  <a:pt x="219027" y="202307"/>
                </a:lnTo>
                <a:lnTo>
                  <a:pt x="222504" y="202354"/>
                </a:lnTo>
                <a:lnTo>
                  <a:pt x="225981" y="202404"/>
                </a:lnTo>
                <a:lnTo>
                  <a:pt x="229457" y="202456"/>
                </a:lnTo>
                <a:lnTo>
                  <a:pt x="232934" y="202511"/>
                </a:lnTo>
                <a:lnTo>
                  <a:pt x="236410" y="202569"/>
                </a:lnTo>
                <a:lnTo>
                  <a:pt x="239887" y="202629"/>
                </a:lnTo>
                <a:lnTo>
                  <a:pt x="243364" y="202692"/>
                </a:lnTo>
                <a:lnTo>
                  <a:pt x="246840" y="202756"/>
                </a:lnTo>
                <a:lnTo>
                  <a:pt x="250317" y="202823"/>
                </a:lnTo>
                <a:lnTo>
                  <a:pt x="253794" y="202892"/>
                </a:lnTo>
                <a:lnTo>
                  <a:pt x="257270" y="202962"/>
                </a:lnTo>
                <a:lnTo>
                  <a:pt x="260747" y="203034"/>
                </a:lnTo>
                <a:lnTo>
                  <a:pt x="264223" y="203108"/>
                </a:lnTo>
                <a:lnTo>
                  <a:pt x="267700" y="203183"/>
                </a:lnTo>
                <a:lnTo>
                  <a:pt x="271177" y="203260"/>
                </a:lnTo>
                <a:lnTo>
                  <a:pt x="274653" y="203337"/>
                </a:lnTo>
                <a:lnTo>
                  <a:pt x="278130" y="203416"/>
                </a:lnTo>
                <a:lnTo>
                  <a:pt x="281607" y="203495"/>
                </a:lnTo>
                <a:lnTo>
                  <a:pt x="285083" y="203575"/>
                </a:lnTo>
                <a:lnTo>
                  <a:pt x="288560" y="203655"/>
                </a:lnTo>
                <a:lnTo>
                  <a:pt x="292036" y="203736"/>
                </a:lnTo>
                <a:lnTo>
                  <a:pt x="295513" y="203816"/>
                </a:lnTo>
                <a:lnTo>
                  <a:pt x="298990" y="203897"/>
                </a:lnTo>
                <a:lnTo>
                  <a:pt x="302466" y="203977"/>
                </a:lnTo>
                <a:lnTo>
                  <a:pt x="305943" y="204057"/>
                </a:lnTo>
                <a:lnTo>
                  <a:pt x="309420" y="204136"/>
                </a:lnTo>
                <a:lnTo>
                  <a:pt x="312896" y="204214"/>
                </a:lnTo>
                <a:lnTo>
                  <a:pt x="316373" y="204291"/>
                </a:lnTo>
                <a:lnTo>
                  <a:pt x="319850" y="204367"/>
                </a:lnTo>
                <a:lnTo>
                  <a:pt x="323326" y="204442"/>
                </a:lnTo>
                <a:lnTo>
                  <a:pt x="326803" y="204515"/>
                </a:lnTo>
                <a:lnTo>
                  <a:pt x="330279" y="204586"/>
                </a:lnTo>
                <a:lnTo>
                  <a:pt x="333756" y="204655"/>
                </a:lnTo>
                <a:lnTo>
                  <a:pt x="337233" y="204722"/>
                </a:lnTo>
                <a:lnTo>
                  <a:pt x="340709" y="204787"/>
                </a:lnTo>
                <a:lnTo>
                  <a:pt x="344186" y="204849"/>
                </a:lnTo>
                <a:lnTo>
                  <a:pt x="347663" y="204908"/>
                </a:lnTo>
                <a:lnTo>
                  <a:pt x="351139" y="204965"/>
                </a:lnTo>
                <a:lnTo>
                  <a:pt x="354616" y="205018"/>
                </a:lnTo>
                <a:lnTo>
                  <a:pt x="358092" y="205069"/>
                </a:lnTo>
                <a:lnTo>
                  <a:pt x="361569" y="205115"/>
                </a:lnTo>
                <a:lnTo>
                  <a:pt x="365046" y="205158"/>
                </a:lnTo>
                <a:lnTo>
                  <a:pt x="368522" y="205198"/>
                </a:lnTo>
                <a:lnTo>
                  <a:pt x="371999" y="205233"/>
                </a:lnTo>
                <a:lnTo>
                  <a:pt x="375476" y="205264"/>
                </a:lnTo>
                <a:lnTo>
                  <a:pt x="378952" y="205292"/>
                </a:lnTo>
                <a:lnTo>
                  <a:pt x="382429" y="205314"/>
                </a:lnTo>
                <a:lnTo>
                  <a:pt x="385905" y="205333"/>
                </a:lnTo>
                <a:lnTo>
                  <a:pt x="389382" y="205346"/>
                </a:lnTo>
                <a:lnTo>
                  <a:pt x="392859" y="205355"/>
                </a:lnTo>
                <a:lnTo>
                  <a:pt x="396335" y="205359"/>
                </a:lnTo>
                <a:lnTo>
                  <a:pt x="399812" y="205358"/>
                </a:lnTo>
                <a:lnTo>
                  <a:pt x="403289" y="205352"/>
                </a:lnTo>
                <a:lnTo>
                  <a:pt x="406765" y="205340"/>
                </a:lnTo>
                <a:lnTo>
                  <a:pt x="410242" y="205323"/>
                </a:lnTo>
                <a:lnTo>
                  <a:pt x="413718" y="205301"/>
                </a:lnTo>
                <a:lnTo>
                  <a:pt x="417195" y="205274"/>
                </a:lnTo>
                <a:lnTo>
                  <a:pt x="420672" y="205241"/>
                </a:lnTo>
                <a:lnTo>
                  <a:pt x="424148" y="205202"/>
                </a:lnTo>
                <a:lnTo>
                  <a:pt x="427625" y="205158"/>
                </a:lnTo>
                <a:lnTo>
                  <a:pt x="431101" y="205108"/>
                </a:lnTo>
                <a:lnTo>
                  <a:pt x="434578" y="205053"/>
                </a:lnTo>
                <a:lnTo>
                  <a:pt x="438055" y="204992"/>
                </a:lnTo>
                <a:lnTo>
                  <a:pt x="441531" y="204925"/>
                </a:lnTo>
                <a:lnTo>
                  <a:pt x="445008" y="204853"/>
                </a:lnTo>
                <a:lnTo>
                  <a:pt x="448485" y="204774"/>
                </a:lnTo>
                <a:lnTo>
                  <a:pt x="451961" y="204691"/>
                </a:lnTo>
                <a:lnTo>
                  <a:pt x="455438" y="204601"/>
                </a:lnTo>
                <a:lnTo>
                  <a:pt x="458915" y="204506"/>
                </a:lnTo>
                <a:lnTo>
                  <a:pt x="462391" y="204406"/>
                </a:lnTo>
                <a:lnTo>
                  <a:pt x="465868" y="204300"/>
                </a:lnTo>
                <a:lnTo>
                  <a:pt x="469344" y="204189"/>
                </a:lnTo>
                <a:lnTo>
                  <a:pt x="472821" y="204072"/>
                </a:lnTo>
                <a:lnTo>
                  <a:pt x="476298" y="203950"/>
                </a:lnTo>
                <a:lnTo>
                  <a:pt x="479774" y="203824"/>
                </a:lnTo>
                <a:lnTo>
                  <a:pt x="483251" y="203692"/>
                </a:lnTo>
                <a:lnTo>
                  <a:pt x="486727" y="203555"/>
                </a:lnTo>
                <a:lnTo>
                  <a:pt x="490204" y="203414"/>
                </a:lnTo>
                <a:lnTo>
                  <a:pt x="493681" y="203269"/>
                </a:lnTo>
                <a:lnTo>
                  <a:pt x="497157" y="203119"/>
                </a:lnTo>
                <a:lnTo>
                  <a:pt x="500634" y="202964"/>
                </a:lnTo>
                <a:lnTo>
                  <a:pt x="504111" y="202806"/>
                </a:lnTo>
                <a:lnTo>
                  <a:pt x="507587" y="202644"/>
                </a:lnTo>
                <a:lnTo>
                  <a:pt x="511064" y="202478"/>
                </a:lnTo>
                <a:lnTo>
                  <a:pt x="514541" y="202309"/>
                </a:lnTo>
                <a:lnTo>
                  <a:pt x="518017" y="202137"/>
                </a:lnTo>
                <a:lnTo>
                  <a:pt x="521494" y="201962"/>
                </a:lnTo>
                <a:lnTo>
                  <a:pt x="524970" y="201784"/>
                </a:lnTo>
                <a:lnTo>
                  <a:pt x="528447" y="201604"/>
                </a:lnTo>
                <a:lnTo>
                  <a:pt x="531924" y="201421"/>
                </a:lnTo>
                <a:lnTo>
                  <a:pt x="535400" y="201236"/>
                </a:lnTo>
                <a:lnTo>
                  <a:pt x="538877" y="201050"/>
                </a:lnTo>
                <a:lnTo>
                  <a:pt x="542354" y="200863"/>
                </a:lnTo>
                <a:lnTo>
                  <a:pt x="545830" y="200674"/>
                </a:lnTo>
                <a:lnTo>
                  <a:pt x="549307" y="200484"/>
                </a:lnTo>
                <a:lnTo>
                  <a:pt x="552783" y="200294"/>
                </a:lnTo>
                <a:lnTo>
                  <a:pt x="556260" y="200103"/>
                </a:lnTo>
                <a:lnTo>
                  <a:pt x="559737" y="199913"/>
                </a:lnTo>
                <a:lnTo>
                  <a:pt x="563213" y="199723"/>
                </a:lnTo>
                <a:lnTo>
                  <a:pt x="566690" y="199534"/>
                </a:lnTo>
                <a:lnTo>
                  <a:pt x="570167" y="199345"/>
                </a:lnTo>
                <a:lnTo>
                  <a:pt x="573643" y="199158"/>
                </a:lnTo>
                <a:lnTo>
                  <a:pt x="577120" y="198972"/>
                </a:lnTo>
                <a:lnTo>
                  <a:pt x="580596" y="198789"/>
                </a:lnTo>
                <a:lnTo>
                  <a:pt x="584073" y="198608"/>
                </a:lnTo>
                <a:lnTo>
                  <a:pt x="587550" y="198429"/>
                </a:lnTo>
                <a:lnTo>
                  <a:pt x="591026" y="198253"/>
                </a:lnTo>
                <a:lnTo>
                  <a:pt x="594503" y="198080"/>
                </a:lnTo>
                <a:lnTo>
                  <a:pt x="597980" y="197911"/>
                </a:lnTo>
                <a:lnTo>
                  <a:pt x="601456" y="197746"/>
                </a:lnTo>
                <a:lnTo>
                  <a:pt x="604933" y="197585"/>
                </a:lnTo>
                <a:lnTo>
                  <a:pt x="608409" y="197428"/>
                </a:lnTo>
                <a:lnTo>
                  <a:pt x="611886" y="197276"/>
                </a:lnTo>
                <a:lnTo>
                  <a:pt x="615363" y="197130"/>
                </a:lnTo>
                <a:lnTo>
                  <a:pt x="618839" y="196988"/>
                </a:lnTo>
                <a:lnTo>
                  <a:pt x="622316" y="196853"/>
                </a:lnTo>
                <a:lnTo>
                  <a:pt x="625793" y="196723"/>
                </a:lnTo>
                <a:lnTo>
                  <a:pt x="629269" y="196600"/>
                </a:lnTo>
                <a:lnTo>
                  <a:pt x="632746" y="196483"/>
                </a:lnTo>
                <a:lnTo>
                  <a:pt x="636222" y="196373"/>
                </a:lnTo>
                <a:lnTo>
                  <a:pt x="639699" y="196270"/>
                </a:lnTo>
                <a:lnTo>
                  <a:pt x="643176" y="196175"/>
                </a:lnTo>
                <a:lnTo>
                  <a:pt x="646652" y="196087"/>
                </a:lnTo>
                <a:lnTo>
                  <a:pt x="650129" y="196007"/>
                </a:lnTo>
                <a:lnTo>
                  <a:pt x="653606" y="195935"/>
                </a:lnTo>
                <a:lnTo>
                  <a:pt x="657082" y="195871"/>
                </a:lnTo>
                <a:lnTo>
                  <a:pt x="660559" y="195815"/>
                </a:lnTo>
                <a:lnTo>
                  <a:pt x="664035" y="195768"/>
                </a:lnTo>
                <a:lnTo>
                  <a:pt x="667512" y="195730"/>
                </a:lnTo>
                <a:lnTo>
                  <a:pt x="670989" y="195701"/>
                </a:lnTo>
                <a:lnTo>
                  <a:pt x="674465" y="195681"/>
                </a:lnTo>
                <a:lnTo>
                  <a:pt x="677942" y="195670"/>
                </a:lnTo>
                <a:lnTo>
                  <a:pt x="681419" y="195669"/>
                </a:lnTo>
                <a:lnTo>
                  <a:pt x="684895" y="195676"/>
                </a:lnTo>
                <a:lnTo>
                  <a:pt x="688372" y="195694"/>
                </a:lnTo>
                <a:lnTo>
                  <a:pt x="691848" y="195720"/>
                </a:lnTo>
                <a:lnTo>
                  <a:pt x="695325" y="195757"/>
                </a:lnTo>
                <a:lnTo>
                  <a:pt x="698802" y="195803"/>
                </a:lnTo>
                <a:lnTo>
                  <a:pt x="702278" y="195858"/>
                </a:lnTo>
                <a:lnTo>
                  <a:pt x="705755" y="195924"/>
                </a:lnTo>
                <a:lnTo>
                  <a:pt x="709231" y="195998"/>
                </a:lnTo>
                <a:lnTo>
                  <a:pt x="712708" y="196083"/>
                </a:lnTo>
                <a:lnTo>
                  <a:pt x="716185" y="196177"/>
                </a:lnTo>
                <a:lnTo>
                  <a:pt x="719661" y="196280"/>
                </a:lnTo>
                <a:lnTo>
                  <a:pt x="723138" y="196392"/>
                </a:lnTo>
                <a:lnTo>
                  <a:pt x="726615" y="196514"/>
                </a:lnTo>
                <a:lnTo>
                  <a:pt x="730091" y="196644"/>
                </a:lnTo>
                <a:lnTo>
                  <a:pt x="733568" y="196784"/>
                </a:lnTo>
                <a:lnTo>
                  <a:pt x="737045" y="196931"/>
                </a:lnTo>
                <a:lnTo>
                  <a:pt x="740521" y="197088"/>
                </a:lnTo>
                <a:lnTo>
                  <a:pt x="743998" y="197252"/>
                </a:lnTo>
                <a:lnTo>
                  <a:pt x="747474" y="197425"/>
                </a:lnTo>
                <a:lnTo>
                  <a:pt x="750951" y="197605"/>
                </a:lnTo>
                <a:lnTo>
                  <a:pt x="754428" y="197792"/>
                </a:lnTo>
                <a:lnTo>
                  <a:pt x="757904" y="197986"/>
                </a:lnTo>
                <a:lnTo>
                  <a:pt x="761381" y="198187"/>
                </a:lnTo>
                <a:lnTo>
                  <a:pt x="764858" y="198394"/>
                </a:lnTo>
                <a:lnTo>
                  <a:pt x="768334" y="198608"/>
                </a:lnTo>
                <a:lnTo>
                  <a:pt x="771811" y="198826"/>
                </a:lnTo>
                <a:lnTo>
                  <a:pt x="775287" y="199050"/>
                </a:lnTo>
                <a:lnTo>
                  <a:pt x="778764" y="199278"/>
                </a:lnTo>
                <a:lnTo>
                  <a:pt x="782241" y="199511"/>
                </a:lnTo>
                <a:lnTo>
                  <a:pt x="785717" y="199747"/>
                </a:lnTo>
                <a:lnTo>
                  <a:pt x="789194" y="199986"/>
                </a:lnTo>
                <a:lnTo>
                  <a:pt x="792671" y="200228"/>
                </a:lnTo>
                <a:lnTo>
                  <a:pt x="796147" y="200472"/>
                </a:lnTo>
                <a:lnTo>
                  <a:pt x="799624" y="200717"/>
                </a:lnTo>
                <a:lnTo>
                  <a:pt x="803100" y="200963"/>
                </a:lnTo>
                <a:lnTo>
                  <a:pt x="806577" y="201209"/>
                </a:lnTo>
                <a:lnTo>
                  <a:pt x="810054" y="201455"/>
                </a:lnTo>
                <a:lnTo>
                  <a:pt x="813530" y="201700"/>
                </a:lnTo>
                <a:lnTo>
                  <a:pt x="817007" y="201944"/>
                </a:lnTo>
                <a:lnTo>
                  <a:pt x="820483" y="202185"/>
                </a:lnTo>
                <a:lnTo>
                  <a:pt x="823960" y="202423"/>
                </a:lnTo>
                <a:lnTo>
                  <a:pt x="827437" y="202657"/>
                </a:lnTo>
                <a:lnTo>
                  <a:pt x="830913" y="202887"/>
                </a:lnTo>
                <a:lnTo>
                  <a:pt x="834390" y="203111"/>
                </a:lnTo>
                <a:lnTo>
                  <a:pt x="837867" y="203330"/>
                </a:lnTo>
                <a:lnTo>
                  <a:pt x="841343" y="203541"/>
                </a:lnTo>
                <a:lnTo>
                  <a:pt x="844820" y="203746"/>
                </a:lnTo>
                <a:lnTo>
                  <a:pt x="848297" y="203942"/>
                </a:lnTo>
                <a:lnTo>
                  <a:pt x="851773" y="204128"/>
                </a:lnTo>
                <a:lnTo>
                  <a:pt x="855250" y="204305"/>
                </a:lnTo>
                <a:lnTo>
                  <a:pt x="858726" y="204471"/>
                </a:lnTo>
                <a:lnTo>
                  <a:pt x="862203" y="204626"/>
                </a:lnTo>
                <a:lnTo>
                  <a:pt x="865680" y="204768"/>
                </a:lnTo>
                <a:lnTo>
                  <a:pt x="869156" y="204897"/>
                </a:lnTo>
                <a:lnTo>
                  <a:pt x="872633" y="205012"/>
                </a:lnTo>
                <a:lnTo>
                  <a:pt x="876110" y="205112"/>
                </a:lnTo>
                <a:lnTo>
                  <a:pt x="879586" y="205196"/>
                </a:lnTo>
                <a:lnTo>
                  <a:pt x="883063" y="205264"/>
                </a:lnTo>
                <a:lnTo>
                  <a:pt x="886539" y="205314"/>
                </a:lnTo>
                <a:lnTo>
                  <a:pt x="890016" y="205346"/>
                </a:lnTo>
                <a:lnTo>
                  <a:pt x="893493" y="205359"/>
                </a:lnTo>
                <a:lnTo>
                  <a:pt x="896969" y="205352"/>
                </a:lnTo>
                <a:lnTo>
                  <a:pt x="900446" y="205323"/>
                </a:lnTo>
                <a:lnTo>
                  <a:pt x="903923" y="205274"/>
                </a:lnTo>
                <a:lnTo>
                  <a:pt x="907399" y="205201"/>
                </a:lnTo>
                <a:lnTo>
                  <a:pt x="910876" y="205106"/>
                </a:lnTo>
                <a:lnTo>
                  <a:pt x="914352" y="204986"/>
                </a:lnTo>
                <a:lnTo>
                  <a:pt x="917829" y="204841"/>
                </a:lnTo>
                <a:lnTo>
                  <a:pt x="921306" y="204670"/>
                </a:lnTo>
                <a:lnTo>
                  <a:pt x="924782" y="204473"/>
                </a:lnTo>
                <a:lnTo>
                  <a:pt x="928259" y="204249"/>
                </a:lnTo>
                <a:lnTo>
                  <a:pt x="931735" y="203996"/>
                </a:lnTo>
                <a:lnTo>
                  <a:pt x="935212" y="203714"/>
                </a:lnTo>
                <a:lnTo>
                  <a:pt x="938689" y="203403"/>
                </a:lnTo>
                <a:lnTo>
                  <a:pt x="942165" y="203062"/>
                </a:lnTo>
                <a:lnTo>
                  <a:pt x="945642" y="202689"/>
                </a:lnTo>
                <a:lnTo>
                  <a:pt x="949119" y="202285"/>
                </a:lnTo>
                <a:lnTo>
                  <a:pt x="952595" y="201849"/>
                </a:lnTo>
                <a:lnTo>
                  <a:pt x="956072" y="201379"/>
                </a:lnTo>
                <a:lnTo>
                  <a:pt x="959549" y="200876"/>
                </a:lnTo>
                <a:lnTo>
                  <a:pt x="963025" y="200338"/>
                </a:lnTo>
                <a:lnTo>
                  <a:pt x="966502" y="199766"/>
                </a:lnTo>
                <a:lnTo>
                  <a:pt x="969978" y="199159"/>
                </a:lnTo>
                <a:lnTo>
                  <a:pt x="973455" y="198515"/>
                </a:lnTo>
                <a:lnTo>
                  <a:pt x="976932" y="197835"/>
                </a:lnTo>
                <a:lnTo>
                  <a:pt x="980408" y="197118"/>
                </a:lnTo>
                <a:lnTo>
                  <a:pt x="983885" y="196364"/>
                </a:lnTo>
                <a:lnTo>
                  <a:pt x="987362" y="195573"/>
                </a:lnTo>
                <a:lnTo>
                  <a:pt x="990838" y="194743"/>
                </a:lnTo>
                <a:lnTo>
                  <a:pt x="994315" y="193875"/>
                </a:lnTo>
                <a:lnTo>
                  <a:pt x="997791" y="192968"/>
                </a:lnTo>
                <a:lnTo>
                  <a:pt x="1001268" y="192022"/>
                </a:lnTo>
                <a:lnTo>
                  <a:pt x="1004745" y="191036"/>
                </a:lnTo>
                <a:lnTo>
                  <a:pt x="1008221" y="190011"/>
                </a:lnTo>
                <a:lnTo>
                  <a:pt x="1011698" y="188947"/>
                </a:lnTo>
                <a:lnTo>
                  <a:pt x="1015174" y="187842"/>
                </a:lnTo>
                <a:lnTo>
                  <a:pt x="1018651" y="186698"/>
                </a:lnTo>
                <a:lnTo>
                  <a:pt x="1022128" y="185513"/>
                </a:lnTo>
                <a:lnTo>
                  <a:pt x="1025604" y="184289"/>
                </a:lnTo>
                <a:lnTo>
                  <a:pt x="1029081" y="183024"/>
                </a:lnTo>
                <a:lnTo>
                  <a:pt x="1032558" y="181719"/>
                </a:lnTo>
                <a:lnTo>
                  <a:pt x="1036034" y="180375"/>
                </a:lnTo>
                <a:lnTo>
                  <a:pt x="1039511" y="178990"/>
                </a:lnTo>
                <a:lnTo>
                  <a:pt x="1042988" y="177566"/>
                </a:lnTo>
                <a:lnTo>
                  <a:pt x="1046464" y="176102"/>
                </a:lnTo>
                <a:lnTo>
                  <a:pt x="1049941" y="174599"/>
                </a:lnTo>
                <a:lnTo>
                  <a:pt x="1053417" y="173058"/>
                </a:lnTo>
                <a:lnTo>
                  <a:pt x="1056894" y="171477"/>
                </a:lnTo>
                <a:lnTo>
                  <a:pt x="1060371" y="169858"/>
                </a:lnTo>
                <a:lnTo>
                  <a:pt x="1063847" y="168201"/>
                </a:lnTo>
                <a:lnTo>
                  <a:pt x="1067324" y="166507"/>
                </a:lnTo>
                <a:lnTo>
                  <a:pt x="1070801" y="164775"/>
                </a:lnTo>
                <a:lnTo>
                  <a:pt x="1074277" y="163007"/>
                </a:lnTo>
                <a:lnTo>
                  <a:pt x="1077754" y="161203"/>
                </a:lnTo>
                <a:lnTo>
                  <a:pt x="1081230" y="159364"/>
                </a:lnTo>
                <a:lnTo>
                  <a:pt x="1084707" y="157490"/>
                </a:lnTo>
                <a:lnTo>
                  <a:pt x="1088184" y="155582"/>
                </a:lnTo>
                <a:lnTo>
                  <a:pt x="1091660" y="153641"/>
                </a:lnTo>
                <a:lnTo>
                  <a:pt x="1095137" y="151667"/>
                </a:lnTo>
                <a:lnTo>
                  <a:pt x="1098614" y="149662"/>
                </a:lnTo>
                <a:lnTo>
                  <a:pt x="1102090" y="147625"/>
                </a:lnTo>
                <a:lnTo>
                  <a:pt x="1105567" y="145559"/>
                </a:lnTo>
                <a:lnTo>
                  <a:pt x="1109043" y="143463"/>
                </a:lnTo>
                <a:lnTo>
                  <a:pt x="1112520" y="141339"/>
                </a:lnTo>
                <a:lnTo>
                  <a:pt x="1115997" y="139188"/>
                </a:lnTo>
                <a:lnTo>
                  <a:pt x="1119473" y="137011"/>
                </a:lnTo>
                <a:lnTo>
                  <a:pt x="1122950" y="134808"/>
                </a:lnTo>
                <a:lnTo>
                  <a:pt x="1126427" y="132582"/>
                </a:lnTo>
                <a:lnTo>
                  <a:pt x="1129903" y="130333"/>
                </a:lnTo>
                <a:lnTo>
                  <a:pt x="1133380" y="128062"/>
                </a:lnTo>
                <a:lnTo>
                  <a:pt x="1136856" y="125770"/>
                </a:lnTo>
                <a:lnTo>
                  <a:pt x="1140333" y="123459"/>
                </a:lnTo>
                <a:lnTo>
                  <a:pt x="1143810" y="121130"/>
                </a:lnTo>
                <a:lnTo>
                  <a:pt x="1147286" y="118784"/>
                </a:lnTo>
                <a:lnTo>
                  <a:pt x="1150763" y="116422"/>
                </a:lnTo>
                <a:lnTo>
                  <a:pt x="1154240" y="114047"/>
                </a:lnTo>
                <a:lnTo>
                  <a:pt x="1157716" y="111658"/>
                </a:lnTo>
                <a:lnTo>
                  <a:pt x="1161193" y="109258"/>
                </a:lnTo>
                <a:lnTo>
                  <a:pt x="1164669" y="106849"/>
                </a:lnTo>
                <a:lnTo>
                  <a:pt x="1168146" y="104430"/>
                </a:lnTo>
                <a:lnTo>
                  <a:pt x="1171623" y="102004"/>
                </a:lnTo>
                <a:lnTo>
                  <a:pt x="1175099" y="99573"/>
                </a:lnTo>
                <a:lnTo>
                  <a:pt x="1178576" y="97138"/>
                </a:lnTo>
                <a:lnTo>
                  <a:pt x="1182053" y="94699"/>
                </a:lnTo>
                <a:lnTo>
                  <a:pt x="1185529" y="92260"/>
                </a:lnTo>
                <a:lnTo>
                  <a:pt x="1189006" y="89821"/>
                </a:lnTo>
                <a:lnTo>
                  <a:pt x="1192482" y="87384"/>
                </a:lnTo>
                <a:lnTo>
                  <a:pt x="1195959" y="84951"/>
                </a:lnTo>
                <a:lnTo>
                  <a:pt x="1199436" y="82522"/>
                </a:lnTo>
                <a:lnTo>
                  <a:pt x="1202912" y="80101"/>
                </a:lnTo>
                <a:lnTo>
                  <a:pt x="1206389" y="77687"/>
                </a:lnTo>
                <a:lnTo>
                  <a:pt x="1209865" y="75284"/>
                </a:lnTo>
                <a:lnTo>
                  <a:pt x="1213342" y="72892"/>
                </a:lnTo>
                <a:lnTo>
                  <a:pt x="1216819" y="70513"/>
                </a:lnTo>
                <a:lnTo>
                  <a:pt x="1220295" y="68148"/>
                </a:lnTo>
                <a:lnTo>
                  <a:pt x="1223772" y="65800"/>
                </a:lnTo>
                <a:lnTo>
                  <a:pt x="1227249" y="63470"/>
                </a:lnTo>
                <a:lnTo>
                  <a:pt x="1230725" y="61159"/>
                </a:lnTo>
                <a:lnTo>
                  <a:pt x="1234202" y="58870"/>
                </a:lnTo>
                <a:lnTo>
                  <a:pt x="1237679" y="56603"/>
                </a:lnTo>
                <a:lnTo>
                  <a:pt x="1241155" y="54361"/>
                </a:lnTo>
                <a:lnTo>
                  <a:pt x="1244632" y="52144"/>
                </a:lnTo>
                <a:lnTo>
                  <a:pt x="1248108" y="49955"/>
                </a:lnTo>
                <a:lnTo>
                  <a:pt x="1251585" y="47795"/>
                </a:lnTo>
                <a:lnTo>
                  <a:pt x="1255062" y="45665"/>
                </a:lnTo>
                <a:lnTo>
                  <a:pt x="1258538" y="43567"/>
                </a:lnTo>
                <a:lnTo>
                  <a:pt x="1262015" y="41503"/>
                </a:lnTo>
                <a:lnTo>
                  <a:pt x="1265492" y="39474"/>
                </a:lnTo>
                <a:lnTo>
                  <a:pt x="1268968" y="37482"/>
                </a:lnTo>
                <a:lnTo>
                  <a:pt x="1272445" y="35527"/>
                </a:lnTo>
                <a:lnTo>
                  <a:pt x="1275921" y="33612"/>
                </a:lnTo>
                <a:lnTo>
                  <a:pt x="1279398" y="31738"/>
                </a:lnTo>
                <a:lnTo>
                  <a:pt x="1282875" y="29906"/>
                </a:lnTo>
                <a:lnTo>
                  <a:pt x="1286351" y="28118"/>
                </a:lnTo>
                <a:lnTo>
                  <a:pt x="1289828" y="26374"/>
                </a:lnTo>
                <a:lnTo>
                  <a:pt x="1293305" y="24677"/>
                </a:lnTo>
                <a:lnTo>
                  <a:pt x="1296781" y="23027"/>
                </a:lnTo>
                <a:lnTo>
                  <a:pt x="1300258" y="21426"/>
                </a:lnTo>
                <a:lnTo>
                  <a:pt x="1303734" y="19874"/>
                </a:lnTo>
                <a:lnTo>
                  <a:pt x="1307211" y="18374"/>
                </a:lnTo>
                <a:lnTo>
                  <a:pt x="1310688" y="16926"/>
                </a:lnTo>
                <a:lnTo>
                  <a:pt x="1314164" y="15531"/>
                </a:lnTo>
                <a:lnTo>
                  <a:pt x="1317641" y="14190"/>
                </a:lnTo>
                <a:lnTo>
                  <a:pt x="1321118" y="12905"/>
                </a:lnTo>
                <a:lnTo>
                  <a:pt x="1324594" y="11676"/>
                </a:lnTo>
                <a:lnTo>
                  <a:pt x="1328071" y="10504"/>
                </a:lnTo>
                <a:lnTo>
                  <a:pt x="1331547" y="9391"/>
                </a:lnTo>
                <a:lnTo>
                  <a:pt x="1335024" y="8336"/>
                </a:lnTo>
                <a:lnTo>
                  <a:pt x="1338501" y="7341"/>
                </a:lnTo>
                <a:lnTo>
                  <a:pt x="1341977" y="6407"/>
                </a:lnTo>
                <a:lnTo>
                  <a:pt x="1345454" y="5534"/>
                </a:lnTo>
                <a:lnTo>
                  <a:pt x="1348931" y="4723"/>
                </a:lnTo>
                <a:lnTo>
                  <a:pt x="1352407" y="3975"/>
                </a:lnTo>
                <a:lnTo>
                  <a:pt x="1355884" y="3289"/>
                </a:lnTo>
                <a:lnTo>
                  <a:pt x="1359360" y="2668"/>
                </a:lnTo>
                <a:lnTo>
                  <a:pt x="1362837" y="2110"/>
                </a:lnTo>
                <a:lnTo>
                  <a:pt x="1366314" y="1617"/>
                </a:lnTo>
                <a:lnTo>
                  <a:pt x="1369790" y="1189"/>
                </a:lnTo>
                <a:lnTo>
                  <a:pt x="1373267" y="826"/>
                </a:lnTo>
                <a:lnTo>
                  <a:pt x="1376744" y="529"/>
                </a:lnTo>
                <a:lnTo>
                  <a:pt x="1380220" y="298"/>
                </a:lnTo>
                <a:lnTo>
                  <a:pt x="1383697" y="132"/>
                </a:lnTo>
                <a:lnTo>
                  <a:pt x="1387173" y="33"/>
                </a:lnTo>
                <a:lnTo>
                  <a:pt x="1390650" y="0"/>
                </a:lnTo>
                <a:lnTo>
                  <a:pt x="1394127" y="33"/>
                </a:lnTo>
                <a:lnTo>
                  <a:pt x="1397603" y="132"/>
                </a:lnTo>
                <a:lnTo>
                  <a:pt x="1401080" y="298"/>
                </a:lnTo>
                <a:lnTo>
                  <a:pt x="1404557" y="529"/>
                </a:lnTo>
                <a:lnTo>
                  <a:pt x="1408033" y="826"/>
                </a:lnTo>
                <a:lnTo>
                  <a:pt x="1411510" y="1189"/>
                </a:lnTo>
                <a:lnTo>
                  <a:pt x="1414986" y="1617"/>
                </a:lnTo>
                <a:lnTo>
                  <a:pt x="1418463" y="2110"/>
                </a:lnTo>
                <a:lnTo>
                  <a:pt x="1421940" y="2668"/>
                </a:lnTo>
                <a:lnTo>
                  <a:pt x="1425416" y="3289"/>
                </a:lnTo>
                <a:lnTo>
                  <a:pt x="1428893" y="3975"/>
                </a:lnTo>
                <a:lnTo>
                  <a:pt x="1432370" y="4723"/>
                </a:lnTo>
                <a:lnTo>
                  <a:pt x="1435846" y="5534"/>
                </a:lnTo>
                <a:lnTo>
                  <a:pt x="1439323" y="6407"/>
                </a:lnTo>
                <a:lnTo>
                  <a:pt x="1442799" y="7341"/>
                </a:lnTo>
                <a:lnTo>
                  <a:pt x="1446276" y="8336"/>
                </a:lnTo>
                <a:lnTo>
                  <a:pt x="1449753" y="9391"/>
                </a:lnTo>
                <a:lnTo>
                  <a:pt x="1453229" y="10504"/>
                </a:lnTo>
                <a:lnTo>
                  <a:pt x="1456706" y="11676"/>
                </a:lnTo>
                <a:lnTo>
                  <a:pt x="1460183" y="12905"/>
                </a:lnTo>
                <a:lnTo>
                  <a:pt x="1463659" y="14190"/>
                </a:lnTo>
                <a:lnTo>
                  <a:pt x="1467136" y="15531"/>
                </a:lnTo>
                <a:lnTo>
                  <a:pt x="1470612" y="16926"/>
                </a:lnTo>
                <a:lnTo>
                  <a:pt x="1474089" y="18374"/>
                </a:lnTo>
                <a:lnTo>
                  <a:pt x="1477566" y="19874"/>
                </a:lnTo>
                <a:lnTo>
                  <a:pt x="1481042" y="21426"/>
                </a:lnTo>
                <a:lnTo>
                  <a:pt x="1484519" y="23027"/>
                </a:lnTo>
                <a:lnTo>
                  <a:pt x="1487996" y="24677"/>
                </a:lnTo>
                <a:lnTo>
                  <a:pt x="1491472" y="26374"/>
                </a:lnTo>
                <a:lnTo>
                  <a:pt x="1494949" y="28118"/>
                </a:lnTo>
                <a:lnTo>
                  <a:pt x="1498425" y="29906"/>
                </a:lnTo>
                <a:lnTo>
                  <a:pt x="1501902" y="31738"/>
                </a:lnTo>
                <a:lnTo>
                  <a:pt x="1505379" y="33612"/>
                </a:lnTo>
                <a:lnTo>
                  <a:pt x="1508855" y="35527"/>
                </a:lnTo>
                <a:lnTo>
                  <a:pt x="1512332" y="37482"/>
                </a:lnTo>
                <a:lnTo>
                  <a:pt x="1515808" y="39474"/>
                </a:lnTo>
                <a:lnTo>
                  <a:pt x="1519285" y="41503"/>
                </a:lnTo>
                <a:lnTo>
                  <a:pt x="1522762" y="43567"/>
                </a:lnTo>
                <a:lnTo>
                  <a:pt x="1526238" y="45665"/>
                </a:lnTo>
                <a:lnTo>
                  <a:pt x="1529715" y="47795"/>
                </a:lnTo>
                <a:lnTo>
                  <a:pt x="1533192" y="49955"/>
                </a:lnTo>
                <a:lnTo>
                  <a:pt x="1536668" y="52144"/>
                </a:lnTo>
                <a:lnTo>
                  <a:pt x="1540145" y="54361"/>
                </a:lnTo>
                <a:lnTo>
                  <a:pt x="1543622" y="56603"/>
                </a:lnTo>
                <a:lnTo>
                  <a:pt x="1547098" y="58870"/>
                </a:lnTo>
                <a:lnTo>
                  <a:pt x="1550575" y="61159"/>
                </a:lnTo>
                <a:lnTo>
                  <a:pt x="1554051" y="63470"/>
                </a:lnTo>
                <a:lnTo>
                  <a:pt x="1557528" y="65800"/>
                </a:lnTo>
                <a:lnTo>
                  <a:pt x="1561005" y="68148"/>
                </a:lnTo>
                <a:lnTo>
                  <a:pt x="1564481" y="70513"/>
                </a:lnTo>
                <a:lnTo>
                  <a:pt x="1567958" y="72892"/>
                </a:lnTo>
                <a:lnTo>
                  <a:pt x="1571435" y="75284"/>
                </a:lnTo>
                <a:lnTo>
                  <a:pt x="1574911" y="77687"/>
                </a:lnTo>
                <a:lnTo>
                  <a:pt x="1578388" y="80101"/>
                </a:lnTo>
                <a:lnTo>
                  <a:pt x="1581864" y="82522"/>
                </a:lnTo>
                <a:lnTo>
                  <a:pt x="1585341" y="84951"/>
                </a:lnTo>
                <a:lnTo>
                  <a:pt x="1588818" y="87384"/>
                </a:lnTo>
                <a:lnTo>
                  <a:pt x="1592294" y="89821"/>
                </a:lnTo>
                <a:lnTo>
                  <a:pt x="1595771" y="92260"/>
                </a:lnTo>
                <a:lnTo>
                  <a:pt x="1599248" y="94699"/>
                </a:lnTo>
                <a:lnTo>
                  <a:pt x="1602724" y="97138"/>
                </a:lnTo>
                <a:lnTo>
                  <a:pt x="1606201" y="99573"/>
                </a:lnTo>
                <a:lnTo>
                  <a:pt x="1609677" y="102004"/>
                </a:lnTo>
                <a:lnTo>
                  <a:pt x="1613154" y="104430"/>
                </a:lnTo>
                <a:lnTo>
                  <a:pt x="1616631" y="106849"/>
                </a:lnTo>
                <a:lnTo>
                  <a:pt x="1620107" y="109258"/>
                </a:lnTo>
                <a:lnTo>
                  <a:pt x="1623584" y="111658"/>
                </a:lnTo>
                <a:lnTo>
                  <a:pt x="1627061" y="114047"/>
                </a:lnTo>
                <a:lnTo>
                  <a:pt x="1630537" y="116422"/>
                </a:lnTo>
                <a:lnTo>
                  <a:pt x="1634014" y="118784"/>
                </a:lnTo>
                <a:lnTo>
                  <a:pt x="1637490" y="121130"/>
                </a:lnTo>
                <a:lnTo>
                  <a:pt x="1640967" y="123459"/>
                </a:lnTo>
                <a:lnTo>
                  <a:pt x="1644444" y="125770"/>
                </a:lnTo>
                <a:lnTo>
                  <a:pt x="1647920" y="128062"/>
                </a:lnTo>
                <a:lnTo>
                  <a:pt x="1651397" y="130333"/>
                </a:lnTo>
                <a:lnTo>
                  <a:pt x="1654874" y="132582"/>
                </a:lnTo>
                <a:lnTo>
                  <a:pt x="1658350" y="134808"/>
                </a:lnTo>
                <a:lnTo>
                  <a:pt x="1661827" y="137011"/>
                </a:lnTo>
                <a:lnTo>
                  <a:pt x="1665303" y="139188"/>
                </a:lnTo>
                <a:lnTo>
                  <a:pt x="1668780" y="141339"/>
                </a:lnTo>
                <a:lnTo>
                  <a:pt x="1672257" y="143463"/>
                </a:lnTo>
                <a:lnTo>
                  <a:pt x="1675733" y="145559"/>
                </a:lnTo>
                <a:lnTo>
                  <a:pt x="1679210" y="147625"/>
                </a:lnTo>
                <a:lnTo>
                  <a:pt x="1682687" y="149662"/>
                </a:lnTo>
                <a:lnTo>
                  <a:pt x="1686163" y="151667"/>
                </a:lnTo>
                <a:lnTo>
                  <a:pt x="1689640" y="153641"/>
                </a:lnTo>
                <a:lnTo>
                  <a:pt x="1693116" y="155582"/>
                </a:lnTo>
                <a:lnTo>
                  <a:pt x="1696593" y="157490"/>
                </a:lnTo>
                <a:lnTo>
                  <a:pt x="1700070" y="159364"/>
                </a:lnTo>
                <a:lnTo>
                  <a:pt x="1703546" y="161203"/>
                </a:lnTo>
                <a:lnTo>
                  <a:pt x="1707023" y="163007"/>
                </a:lnTo>
                <a:lnTo>
                  <a:pt x="1710500" y="164775"/>
                </a:lnTo>
                <a:lnTo>
                  <a:pt x="1713976" y="166507"/>
                </a:lnTo>
                <a:lnTo>
                  <a:pt x="1717453" y="168201"/>
                </a:lnTo>
                <a:lnTo>
                  <a:pt x="1720929" y="169858"/>
                </a:lnTo>
                <a:lnTo>
                  <a:pt x="1724406" y="171477"/>
                </a:lnTo>
                <a:lnTo>
                  <a:pt x="1727883" y="173058"/>
                </a:lnTo>
                <a:lnTo>
                  <a:pt x="1731359" y="174599"/>
                </a:lnTo>
                <a:lnTo>
                  <a:pt x="1734836" y="176102"/>
                </a:lnTo>
                <a:lnTo>
                  <a:pt x="1738313" y="177566"/>
                </a:lnTo>
                <a:lnTo>
                  <a:pt x="1741789" y="178990"/>
                </a:lnTo>
                <a:lnTo>
                  <a:pt x="1745266" y="180375"/>
                </a:lnTo>
                <a:lnTo>
                  <a:pt x="1748742" y="181719"/>
                </a:lnTo>
                <a:lnTo>
                  <a:pt x="1752219" y="183024"/>
                </a:lnTo>
                <a:lnTo>
                  <a:pt x="1755696" y="184289"/>
                </a:lnTo>
                <a:lnTo>
                  <a:pt x="1759172" y="185513"/>
                </a:lnTo>
                <a:lnTo>
                  <a:pt x="1762649" y="186698"/>
                </a:lnTo>
                <a:lnTo>
                  <a:pt x="1766125" y="187842"/>
                </a:lnTo>
                <a:lnTo>
                  <a:pt x="1769602" y="188947"/>
                </a:lnTo>
                <a:lnTo>
                  <a:pt x="1773079" y="190011"/>
                </a:lnTo>
                <a:lnTo>
                  <a:pt x="1776555" y="191036"/>
                </a:lnTo>
                <a:lnTo>
                  <a:pt x="1780032" y="192022"/>
                </a:lnTo>
                <a:lnTo>
                  <a:pt x="1783509" y="192968"/>
                </a:lnTo>
                <a:lnTo>
                  <a:pt x="1786985" y="193875"/>
                </a:lnTo>
                <a:lnTo>
                  <a:pt x="1790462" y="194743"/>
                </a:lnTo>
                <a:lnTo>
                  <a:pt x="1793939" y="195573"/>
                </a:lnTo>
                <a:lnTo>
                  <a:pt x="1797415" y="196364"/>
                </a:lnTo>
                <a:lnTo>
                  <a:pt x="1800892" y="197118"/>
                </a:lnTo>
                <a:lnTo>
                  <a:pt x="1804368" y="197835"/>
                </a:lnTo>
                <a:lnTo>
                  <a:pt x="1807845" y="198515"/>
                </a:lnTo>
                <a:lnTo>
                  <a:pt x="1811322" y="199159"/>
                </a:lnTo>
                <a:lnTo>
                  <a:pt x="1814798" y="199766"/>
                </a:lnTo>
                <a:lnTo>
                  <a:pt x="1818275" y="200338"/>
                </a:lnTo>
                <a:lnTo>
                  <a:pt x="1821752" y="200876"/>
                </a:lnTo>
                <a:lnTo>
                  <a:pt x="1825228" y="201379"/>
                </a:lnTo>
                <a:lnTo>
                  <a:pt x="1828705" y="201849"/>
                </a:lnTo>
                <a:lnTo>
                  <a:pt x="1832181" y="202285"/>
                </a:lnTo>
                <a:lnTo>
                  <a:pt x="1835658" y="202689"/>
                </a:lnTo>
                <a:lnTo>
                  <a:pt x="1839135" y="203062"/>
                </a:lnTo>
                <a:lnTo>
                  <a:pt x="1842611" y="203403"/>
                </a:lnTo>
                <a:lnTo>
                  <a:pt x="1846088" y="203714"/>
                </a:lnTo>
                <a:lnTo>
                  <a:pt x="1849565" y="203996"/>
                </a:lnTo>
                <a:lnTo>
                  <a:pt x="1853041" y="204249"/>
                </a:lnTo>
                <a:lnTo>
                  <a:pt x="1856518" y="204473"/>
                </a:lnTo>
                <a:lnTo>
                  <a:pt x="1859994" y="204670"/>
                </a:lnTo>
                <a:lnTo>
                  <a:pt x="1863471" y="204841"/>
                </a:lnTo>
                <a:lnTo>
                  <a:pt x="1866948" y="204986"/>
                </a:lnTo>
                <a:lnTo>
                  <a:pt x="1870424" y="205106"/>
                </a:lnTo>
                <a:lnTo>
                  <a:pt x="1873901" y="205201"/>
                </a:lnTo>
                <a:lnTo>
                  <a:pt x="1877378" y="205274"/>
                </a:lnTo>
                <a:lnTo>
                  <a:pt x="1880854" y="205323"/>
                </a:lnTo>
                <a:lnTo>
                  <a:pt x="1884331" y="205352"/>
                </a:lnTo>
                <a:lnTo>
                  <a:pt x="1887807" y="205359"/>
                </a:lnTo>
                <a:lnTo>
                  <a:pt x="1891284" y="205346"/>
                </a:lnTo>
                <a:lnTo>
                  <a:pt x="1894761" y="205314"/>
                </a:lnTo>
                <a:lnTo>
                  <a:pt x="1898237" y="205264"/>
                </a:lnTo>
                <a:lnTo>
                  <a:pt x="1901714" y="205196"/>
                </a:lnTo>
                <a:lnTo>
                  <a:pt x="1905190" y="205112"/>
                </a:lnTo>
                <a:lnTo>
                  <a:pt x="1908667" y="205012"/>
                </a:lnTo>
                <a:lnTo>
                  <a:pt x="1912144" y="204897"/>
                </a:lnTo>
                <a:lnTo>
                  <a:pt x="1915620" y="204768"/>
                </a:lnTo>
                <a:lnTo>
                  <a:pt x="1919097" y="204626"/>
                </a:lnTo>
                <a:lnTo>
                  <a:pt x="1922574" y="204471"/>
                </a:lnTo>
                <a:lnTo>
                  <a:pt x="1926050" y="204305"/>
                </a:lnTo>
                <a:lnTo>
                  <a:pt x="1929527" y="204128"/>
                </a:lnTo>
                <a:lnTo>
                  <a:pt x="1933004" y="203942"/>
                </a:lnTo>
                <a:lnTo>
                  <a:pt x="1936480" y="203746"/>
                </a:lnTo>
                <a:lnTo>
                  <a:pt x="1939957" y="203541"/>
                </a:lnTo>
                <a:lnTo>
                  <a:pt x="1943433" y="203330"/>
                </a:lnTo>
                <a:lnTo>
                  <a:pt x="1946910" y="203111"/>
                </a:lnTo>
                <a:lnTo>
                  <a:pt x="1950387" y="202887"/>
                </a:lnTo>
                <a:lnTo>
                  <a:pt x="1953863" y="202657"/>
                </a:lnTo>
                <a:lnTo>
                  <a:pt x="1957340" y="202423"/>
                </a:lnTo>
                <a:lnTo>
                  <a:pt x="1960817" y="202185"/>
                </a:lnTo>
                <a:lnTo>
                  <a:pt x="1964293" y="201944"/>
                </a:lnTo>
                <a:lnTo>
                  <a:pt x="1967770" y="201700"/>
                </a:lnTo>
                <a:lnTo>
                  <a:pt x="1971246" y="201455"/>
                </a:lnTo>
                <a:lnTo>
                  <a:pt x="1974723" y="201209"/>
                </a:lnTo>
                <a:lnTo>
                  <a:pt x="1978200" y="200963"/>
                </a:lnTo>
                <a:lnTo>
                  <a:pt x="1981676" y="200717"/>
                </a:lnTo>
                <a:lnTo>
                  <a:pt x="1985153" y="200472"/>
                </a:lnTo>
                <a:lnTo>
                  <a:pt x="1988629" y="200228"/>
                </a:lnTo>
                <a:lnTo>
                  <a:pt x="1992106" y="199986"/>
                </a:lnTo>
                <a:lnTo>
                  <a:pt x="1995583" y="199747"/>
                </a:lnTo>
                <a:lnTo>
                  <a:pt x="1999059" y="199511"/>
                </a:lnTo>
                <a:lnTo>
                  <a:pt x="2002536" y="199278"/>
                </a:lnTo>
                <a:lnTo>
                  <a:pt x="2006013" y="199050"/>
                </a:lnTo>
                <a:lnTo>
                  <a:pt x="2009489" y="198826"/>
                </a:lnTo>
                <a:lnTo>
                  <a:pt x="2012966" y="198608"/>
                </a:lnTo>
                <a:lnTo>
                  <a:pt x="2016443" y="198394"/>
                </a:lnTo>
                <a:lnTo>
                  <a:pt x="2019919" y="198187"/>
                </a:lnTo>
                <a:lnTo>
                  <a:pt x="2023396" y="197986"/>
                </a:lnTo>
                <a:lnTo>
                  <a:pt x="2026872" y="197792"/>
                </a:lnTo>
                <a:lnTo>
                  <a:pt x="2030349" y="197605"/>
                </a:lnTo>
                <a:lnTo>
                  <a:pt x="2033826" y="197425"/>
                </a:lnTo>
                <a:lnTo>
                  <a:pt x="2037302" y="197252"/>
                </a:lnTo>
                <a:lnTo>
                  <a:pt x="2040779" y="197088"/>
                </a:lnTo>
                <a:lnTo>
                  <a:pt x="2044256" y="196931"/>
                </a:lnTo>
                <a:lnTo>
                  <a:pt x="2047732" y="196784"/>
                </a:lnTo>
                <a:lnTo>
                  <a:pt x="2051209" y="196644"/>
                </a:lnTo>
                <a:lnTo>
                  <a:pt x="2054685" y="196514"/>
                </a:lnTo>
                <a:lnTo>
                  <a:pt x="2058162" y="196392"/>
                </a:lnTo>
                <a:lnTo>
                  <a:pt x="2061639" y="196280"/>
                </a:lnTo>
                <a:lnTo>
                  <a:pt x="2065115" y="196177"/>
                </a:lnTo>
                <a:lnTo>
                  <a:pt x="2068592" y="196083"/>
                </a:lnTo>
                <a:lnTo>
                  <a:pt x="2072068" y="195998"/>
                </a:lnTo>
                <a:lnTo>
                  <a:pt x="2075545" y="195924"/>
                </a:lnTo>
                <a:lnTo>
                  <a:pt x="2079022" y="195858"/>
                </a:lnTo>
                <a:lnTo>
                  <a:pt x="2082498" y="195803"/>
                </a:lnTo>
                <a:lnTo>
                  <a:pt x="2085975" y="195757"/>
                </a:lnTo>
                <a:lnTo>
                  <a:pt x="2089452" y="195720"/>
                </a:lnTo>
                <a:lnTo>
                  <a:pt x="2092928" y="195694"/>
                </a:lnTo>
                <a:lnTo>
                  <a:pt x="2096405" y="195676"/>
                </a:lnTo>
                <a:lnTo>
                  <a:pt x="2099882" y="195669"/>
                </a:lnTo>
                <a:lnTo>
                  <a:pt x="2103358" y="195670"/>
                </a:lnTo>
                <a:lnTo>
                  <a:pt x="2106835" y="195681"/>
                </a:lnTo>
                <a:lnTo>
                  <a:pt x="2110311" y="195701"/>
                </a:lnTo>
                <a:lnTo>
                  <a:pt x="2113788" y="195730"/>
                </a:lnTo>
                <a:lnTo>
                  <a:pt x="2117265" y="195768"/>
                </a:lnTo>
                <a:lnTo>
                  <a:pt x="2120741" y="195815"/>
                </a:lnTo>
                <a:lnTo>
                  <a:pt x="2124218" y="195871"/>
                </a:lnTo>
                <a:lnTo>
                  <a:pt x="2127695" y="195935"/>
                </a:lnTo>
                <a:lnTo>
                  <a:pt x="2131171" y="196007"/>
                </a:lnTo>
                <a:lnTo>
                  <a:pt x="2134648" y="196087"/>
                </a:lnTo>
                <a:lnTo>
                  <a:pt x="2138124" y="196175"/>
                </a:lnTo>
                <a:lnTo>
                  <a:pt x="2141601" y="196270"/>
                </a:lnTo>
                <a:lnTo>
                  <a:pt x="2145078" y="196373"/>
                </a:lnTo>
                <a:lnTo>
                  <a:pt x="2148554" y="196483"/>
                </a:lnTo>
                <a:lnTo>
                  <a:pt x="2152031" y="196600"/>
                </a:lnTo>
                <a:lnTo>
                  <a:pt x="2155508" y="196723"/>
                </a:lnTo>
                <a:lnTo>
                  <a:pt x="2158984" y="196853"/>
                </a:lnTo>
                <a:lnTo>
                  <a:pt x="2162461" y="196988"/>
                </a:lnTo>
                <a:lnTo>
                  <a:pt x="2165937" y="197130"/>
                </a:lnTo>
                <a:lnTo>
                  <a:pt x="2169414" y="197276"/>
                </a:lnTo>
                <a:lnTo>
                  <a:pt x="2172891" y="197428"/>
                </a:lnTo>
                <a:lnTo>
                  <a:pt x="2176367" y="197585"/>
                </a:lnTo>
                <a:lnTo>
                  <a:pt x="2179844" y="197746"/>
                </a:lnTo>
                <a:lnTo>
                  <a:pt x="2183321" y="197911"/>
                </a:lnTo>
                <a:lnTo>
                  <a:pt x="2186797" y="198080"/>
                </a:lnTo>
                <a:lnTo>
                  <a:pt x="2190274" y="198253"/>
                </a:lnTo>
                <a:lnTo>
                  <a:pt x="2193750" y="198429"/>
                </a:lnTo>
                <a:lnTo>
                  <a:pt x="2197227" y="198608"/>
                </a:lnTo>
                <a:lnTo>
                  <a:pt x="2200704" y="198789"/>
                </a:lnTo>
                <a:lnTo>
                  <a:pt x="2204180" y="198972"/>
                </a:lnTo>
                <a:lnTo>
                  <a:pt x="2207657" y="199158"/>
                </a:lnTo>
                <a:lnTo>
                  <a:pt x="2211134" y="199345"/>
                </a:lnTo>
                <a:lnTo>
                  <a:pt x="2214610" y="199534"/>
                </a:lnTo>
                <a:lnTo>
                  <a:pt x="2218087" y="199723"/>
                </a:lnTo>
                <a:lnTo>
                  <a:pt x="2221563" y="199913"/>
                </a:lnTo>
                <a:lnTo>
                  <a:pt x="2225040" y="200103"/>
                </a:lnTo>
                <a:lnTo>
                  <a:pt x="2228517" y="200294"/>
                </a:lnTo>
                <a:lnTo>
                  <a:pt x="2231993" y="200484"/>
                </a:lnTo>
                <a:lnTo>
                  <a:pt x="2235470" y="200674"/>
                </a:lnTo>
                <a:lnTo>
                  <a:pt x="2238947" y="200863"/>
                </a:lnTo>
                <a:lnTo>
                  <a:pt x="2242423" y="201050"/>
                </a:lnTo>
                <a:lnTo>
                  <a:pt x="2245900" y="201236"/>
                </a:lnTo>
                <a:lnTo>
                  <a:pt x="2249376" y="201421"/>
                </a:lnTo>
                <a:lnTo>
                  <a:pt x="2252853" y="201604"/>
                </a:lnTo>
                <a:lnTo>
                  <a:pt x="2256330" y="201784"/>
                </a:lnTo>
                <a:lnTo>
                  <a:pt x="2259806" y="201962"/>
                </a:lnTo>
                <a:lnTo>
                  <a:pt x="2263283" y="202137"/>
                </a:lnTo>
                <a:lnTo>
                  <a:pt x="2266760" y="202309"/>
                </a:lnTo>
                <a:lnTo>
                  <a:pt x="2270236" y="202478"/>
                </a:lnTo>
                <a:lnTo>
                  <a:pt x="2273713" y="202644"/>
                </a:lnTo>
                <a:lnTo>
                  <a:pt x="2277189" y="202806"/>
                </a:lnTo>
                <a:lnTo>
                  <a:pt x="2280666" y="202964"/>
                </a:lnTo>
                <a:lnTo>
                  <a:pt x="2284143" y="203119"/>
                </a:lnTo>
                <a:lnTo>
                  <a:pt x="2287619" y="203269"/>
                </a:lnTo>
                <a:lnTo>
                  <a:pt x="2291096" y="203414"/>
                </a:lnTo>
                <a:lnTo>
                  <a:pt x="2294573" y="203555"/>
                </a:lnTo>
                <a:lnTo>
                  <a:pt x="2298049" y="203692"/>
                </a:lnTo>
                <a:lnTo>
                  <a:pt x="2301526" y="203824"/>
                </a:lnTo>
                <a:lnTo>
                  <a:pt x="2305002" y="203950"/>
                </a:lnTo>
                <a:lnTo>
                  <a:pt x="2308479" y="204072"/>
                </a:lnTo>
                <a:lnTo>
                  <a:pt x="2311956" y="204189"/>
                </a:lnTo>
                <a:lnTo>
                  <a:pt x="2315432" y="204300"/>
                </a:lnTo>
                <a:lnTo>
                  <a:pt x="2318909" y="204406"/>
                </a:lnTo>
                <a:lnTo>
                  <a:pt x="2322386" y="204506"/>
                </a:lnTo>
                <a:lnTo>
                  <a:pt x="2325862" y="204601"/>
                </a:lnTo>
                <a:lnTo>
                  <a:pt x="2329339" y="204691"/>
                </a:lnTo>
                <a:lnTo>
                  <a:pt x="2332815" y="204774"/>
                </a:lnTo>
                <a:lnTo>
                  <a:pt x="2336292" y="204853"/>
                </a:lnTo>
                <a:lnTo>
                  <a:pt x="2339769" y="204925"/>
                </a:lnTo>
                <a:lnTo>
                  <a:pt x="2343245" y="204992"/>
                </a:lnTo>
                <a:lnTo>
                  <a:pt x="2346722" y="205053"/>
                </a:lnTo>
                <a:lnTo>
                  <a:pt x="2350199" y="205108"/>
                </a:lnTo>
                <a:lnTo>
                  <a:pt x="2353675" y="205158"/>
                </a:lnTo>
                <a:lnTo>
                  <a:pt x="2357152" y="205202"/>
                </a:lnTo>
                <a:lnTo>
                  <a:pt x="2360628" y="205241"/>
                </a:lnTo>
                <a:lnTo>
                  <a:pt x="2364105" y="205274"/>
                </a:lnTo>
                <a:lnTo>
                  <a:pt x="2367582" y="205301"/>
                </a:lnTo>
                <a:lnTo>
                  <a:pt x="2371058" y="205323"/>
                </a:lnTo>
                <a:lnTo>
                  <a:pt x="2374535" y="205340"/>
                </a:lnTo>
                <a:lnTo>
                  <a:pt x="2378011" y="205352"/>
                </a:lnTo>
                <a:lnTo>
                  <a:pt x="2381488" y="205358"/>
                </a:lnTo>
                <a:lnTo>
                  <a:pt x="2384965" y="205359"/>
                </a:lnTo>
                <a:lnTo>
                  <a:pt x="2388441" y="205355"/>
                </a:lnTo>
                <a:lnTo>
                  <a:pt x="2391918" y="205346"/>
                </a:lnTo>
                <a:lnTo>
                  <a:pt x="2395395" y="205333"/>
                </a:lnTo>
                <a:lnTo>
                  <a:pt x="2398871" y="205314"/>
                </a:lnTo>
                <a:lnTo>
                  <a:pt x="2402348" y="205292"/>
                </a:lnTo>
                <a:lnTo>
                  <a:pt x="2405825" y="205264"/>
                </a:lnTo>
                <a:lnTo>
                  <a:pt x="2409301" y="205233"/>
                </a:lnTo>
                <a:lnTo>
                  <a:pt x="2412778" y="205198"/>
                </a:lnTo>
                <a:lnTo>
                  <a:pt x="2416254" y="205158"/>
                </a:lnTo>
                <a:lnTo>
                  <a:pt x="2419731" y="205115"/>
                </a:lnTo>
                <a:lnTo>
                  <a:pt x="2423208" y="205069"/>
                </a:lnTo>
                <a:lnTo>
                  <a:pt x="2426684" y="205018"/>
                </a:lnTo>
                <a:lnTo>
                  <a:pt x="2430161" y="204965"/>
                </a:lnTo>
                <a:lnTo>
                  <a:pt x="2433638" y="204908"/>
                </a:lnTo>
                <a:lnTo>
                  <a:pt x="2437114" y="204849"/>
                </a:lnTo>
                <a:lnTo>
                  <a:pt x="2440591" y="204787"/>
                </a:lnTo>
                <a:lnTo>
                  <a:pt x="2444067" y="204722"/>
                </a:lnTo>
                <a:lnTo>
                  <a:pt x="2447544" y="204655"/>
                </a:lnTo>
                <a:lnTo>
                  <a:pt x="2451021" y="204586"/>
                </a:lnTo>
                <a:lnTo>
                  <a:pt x="2454497" y="204515"/>
                </a:lnTo>
                <a:lnTo>
                  <a:pt x="2457974" y="204442"/>
                </a:lnTo>
                <a:lnTo>
                  <a:pt x="2461451" y="204367"/>
                </a:lnTo>
                <a:lnTo>
                  <a:pt x="2464927" y="204291"/>
                </a:lnTo>
                <a:lnTo>
                  <a:pt x="2468404" y="204214"/>
                </a:lnTo>
                <a:lnTo>
                  <a:pt x="2471880" y="204136"/>
                </a:lnTo>
                <a:lnTo>
                  <a:pt x="2475357" y="204057"/>
                </a:lnTo>
                <a:lnTo>
                  <a:pt x="2478834" y="203977"/>
                </a:lnTo>
                <a:lnTo>
                  <a:pt x="2482310" y="203897"/>
                </a:lnTo>
                <a:lnTo>
                  <a:pt x="2485787" y="203816"/>
                </a:lnTo>
                <a:lnTo>
                  <a:pt x="2489263" y="203736"/>
                </a:lnTo>
                <a:lnTo>
                  <a:pt x="2492740" y="203655"/>
                </a:lnTo>
                <a:lnTo>
                  <a:pt x="2496217" y="203575"/>
                </a:lnTo>
                <a:lnTo>
                  <a:pt x="2499693" y="203495"/>
                </a:lnTo>
                <a:lnTo>
                  <a:pt x="2503170" y="203416"/>
                </a:lnTo>
                <a:lnTo>
                  <a:pt x="2506647" y="203337"/>
                </a:lnTo>
                <a:lnTo>
                  <a:pt x="2510123" y="203260"/>
                </a:lnTo>
                <a:lnTo>
                  <a:pt x="2513600" y="203183"/>
                </a:lnTo>
                <a:lnTo>
                  <a:pt x="2517077" y="203108"/>
                </a:lnTo>
                <a:lnTo>
                  <a:pt x="2520553" y="203034"/>
                </a:lnTo>
                <a:lnTo>
                  <a:pt x="2524030" y="202962"/>
                </a:lnTo>
                <a:lnTo>
                  <a:pt x="2527506" y="202892"/>
                </a:lnTo>
                <a:lnTo>
                  <a:pt x="2530983" y="202823"/>
                </a:lnTo>
                <a:lnTo>
                  <a:pt x="2534460" y="202756"/>
                </a:lnTo>
                <a:lnTo>
                  <a:pt x="2537936" y="202692"/>
                </a:lnTo>
                <a:lnTo>
                  <a:pt x="2541413" y="202629"/>
                </a:lnTo>
                <a:lnTo>
                  <a:pt x="2544890" y="202569"/>
                </a:lnTo>
                <a:lnTo>
                  <a:pt x="2548366" y="202511"/>
                </a:lnTo>
                <a:lnTo>
                  <a:pt x="2551843" y="202456"/>
                </a:lnTo>
                <a:lnTo>
                  <a:pt x="2555319" y="202404"/>
                </a:lnTo>
                <a:lnTo>
                  <a:pt x="2558796" y="202354"/>
                </a:lnTo>
                <a:lnTo>
                  <a:pt x="2562273" y="202307"/>
                </a:lnTo>
                <a:lnTo>
                  <a:pt x="2565749" y="202263"/>
                </a:lnTo>
                <a:lnTo>
                  <a:pt x="2569226" y="202222"/>
                </a:lnTo>
                <a:lnTo>
                  <a:pt x="2572703" y="202183"/>
                </a:lnTo>
                <a:lnTo>
                  <a:pt x="2576179" y="202148"/>
                </a:lnTo>
                <a:lnTo>
                  <a:pt x="2579656" y="202116"/>
                </a:lnTo>
                <a:lnTo>
                  <a:pt x="2583132" y="202088"/>
                </a:lnTo>
                <a:lnTo>
                  <a:pt x="2586609" y="202062"/>
                </a:lnTo>
                <a:lnTo>
                  <a:pt x="2590086" y="202040"/>
                </a:lnTo>
                <a:lnTo>
                  <a:pt x="2593562" y="202021"/>
                </a:lnTo>
                <a:lnTo>
                  <a:pt x="2597039" y="202005"/>
                </a:lnTo>
                <a:lnTo>
                  <a:pt x="2600516" y="201992"/>
                </a:lnTo>
                <a:lnTo>
                  <a:pt x="2603992" y="201983"/>
                </a:lnTo>
                <a:lnTo>
                  <a:pt x="2607469" y="201977"/>
                </a:lnTo>
                <a:lnTo>
                  <a:pt x="2610945" y="201975"/>
                </a:lnTo>
                <a:lnTo>
                  <a:pt x="2614422" y="201976"/>
                </a:lnTo>
                <a:lnTo>
                  <a:pt x="2617899" y="201979"/>
                </a:lnTo>
                <a:lnTo>
                  <a:pt x="2621375" y="201987"/>
                </a:lnTo>
                <a:lnTo>
                  <a:pt x="2624852" y="201997"/>
                </a:lnTo>
                <a:lnTo>
                  <a:pt x="2628329" y="202011"/>
                </a:lnTo>
                <a:lnTo>
                  <a:pt x="2631805" y="202027"/>
                </a:lnTo>
                <a:lnTo>
                  <a:pt x="2635282" y="202047"/>
                </a:lnTo>
                <a:lnTo>
                  <a:pt x="2638758" y="202070"/>
                </a:lnTo>
                <a:lnTo>
                  <a:pt x="2642235" y="202095"/>
                </a:lnTo>
                <a:lnTo>
                  <a:pt x="2645712" y="202124"/>
                </a:lnTo>
                <a:lnTo>
                  <a:pt x="2649188" y="202155"/>
                </a:lnTo>
                <a:lnTo>
                  <a:pt x="2652665" y="202190"/>
                </a:lnTo>
                <a:lnTo>
                  <a:pt x="2656142" y="202226"/>
                </a:lnTo>
                <a:lnTo>
                  <a:pt x="2659618" y="202266"/>
                </a:lnTo>
                <a:lnTo>
                  <a:pt x="2663095" y="202308"/>
                </a:lnTo>
                <a:lnTo>
                  <a:pt x="2666571" y="202352"/>
                </a:lnTo>
                <a:lnTo>
                  <a:pt x="2670048" y="202399"/>
                </a:lnTo>
                <a:lnTo>
                  <a:pt x="2673525" y="202448"/>
                </a:lnTo>
                <a:lnTo>
                  <a:pt x="2677001" y="202499"/>
                </a:lnTo>
                <a:lnTo>
                  <a:pt x="2680478" y="202552"/>
                </a:lnTo>
                <a:lnTo>
                  <a:pt x="2683954" y="202607"/>
                </a:lnTo>
                <a:lnTo>
                  <a:pt x="2687431" y="202663"/>
                </a:lnTo>
                <a:lnTo>
                  <a:pt x="2690908" y="202722"/>
                </a:lnTo>
                <a:lnTo>
                  <a:pt x="2694384" y="202782"/>
                </a:lnTo>
                <a:lnTo>
                  <a:pt x="2697861" y="202843"/>
                </a:lnTo>
                <a:lnTo>
                  <a:pt x="2701338" y="202906"/>
                </a:lnTo>
                <a:lnTo>
                  <a:pt x="2704814" y="202970"/>
                </a:lnTo>
                <a:lnTo>
                  <a:pt x="2708291" y="203035"/>
                </a:lnTo>
                <a:lnTo>
                  <a:pt x="2711768" y="203101"/>
                </a:lnTo>
                <a:lnTo>
                  <a:pt x="2715244" y="203168"/>
                </a:lnTo>
                <a:lnTo>
                  <a:pt x="2718721" y="203235"/>
                </a:lnTo>
                <a:lnTo>
                  <a:pt x="2722197" y="203304"/>
                </a:lnTo>
                <a:lnTo>
                  <a:pt x="2725674" y="203372"/>
                </a:lnTo>
                <a:lnTo>
                  <a:pt x="2729151" y="203441"/>
                </a:lnTo>
                <a:lnTo>
                  <a:pt x="2732627" y="203511"/>
                </a:lnTo>
                <a:lnTo>
                  <a:pt x="2736104" y="203580"/>
                </a:lnTo>
                <a:lnTo>
                  <a:pt x="2739581" y="203650"/>
                </a:lnTo>
                <a:lnTo>
                  <a:pt x="2743057" y="203719"/>
                </a:lnTo>
                <a:lnTo>
                  <a:pt x="2746534" y="203788"/>
                </a:lnTo>
                <a:lnTo>
                  <a:pt x="2750010" y="203857"/>
                </a:lnTo>
                <a:lnTo>
                  <a:pt x="2753487" y="203925"/>
                </a:lnTo>
                <a:lnTo>
                  <a:pt x="2756964" y="203993"/>
                </a:lnTo>
                <a:lnTo>
                  <a:pt x="2760440" y="204060"/>
                </a:lnTo>
                <a:lnTo>
                  <a:pt x="2763917" y="204126"/>
                </a:lnTo>
                <a:lnTo>
                  <a:pt x="2767394" y="204192"/>
                </a:lnTo>
                <a:lnTo>
                  <a:pt x="2770870" y="204256"/>
                </a:lnTo>
                <a:lnTo>
                  <a:pt x="2774347" y="204319"/>
                </a:lnTo>
                <a:lnTo>
                  <a:pt x="2777823" y="204381"/>
                </a:lnTo>
                <a:lnTo>
                  <a:pt x="2781300" y="204442"/>
                </a:lnTo>
              </a:path>
            </a:pathLst>
          </a:custGeom>
          <a:noFill xmlns:a="http://schemas.openxmlformats.org/drawingml/2006/main"/>
          <a:ln xmlns:a="http://schemas.openxmlformats.org/drawingml/2006/main" w="15240">
            <a:solidFill>
              <a:srgbClr val="202020"/>
            </a:solidFill>
          </a:ln>
        </p:spPr>
      </p:sp>
      <p:sp>
        <p:nvSpPr>
          <p:cNvPr id="19" name="!!qam-qam-modulate-arrow-line">
            <a:extLst xmlns:a="http://schemas.openxmlformats.org/drawingml/2006/main">
              <a:ext uri="{FF2B5EF4-FFF2-40B4-BE49-F238E27FC236}">
                <a16:creationId xmlns:a16="http://schemas.microsoft.com/office/drawing/2014/main" id="{1787296C-95B7-4C1D-B653-519ED9AEE451}"/>
              </a:ext>
            </a:extLst>
          </p:cNvPr>
          <p:cNvSpPr>
            <a:spLocks xmlns:a="http://schemas.openxmlformats.org/drawingml/2006/main" noGrp="1"/>
          </p:cNvSpPr>
          <p:nvPr/>
        </p:nvSpPr>
        <p:spPr>
          <a:xfrm xmlns:a="http://schemas.openxmlformats.org/drawingml/2006/main">
            <a:off x="3581400" y="338137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0" name="!!qam-qam-modulate-arrow-head">
            <a:extLst xmlns:a="http://schemas.openxmlformats.org/drawingml/2006/main">
              <a:ext uri="{FF2B5EF4-FFF2-40B4-BE49-F238E27FC236}">
                <a16:creationId xmlns:a16="http://schemas.microsoft.com/office/drawing/2014/main" id="{FDA44CCD-9E18-4E0A-8565-7DEACEA17E0F}"/>
              </a:ext>
            </a:extLst>
          </p:cNvPr>
          <p:cNvSpPr>
            <a:spLocks xmlns:a="http://schemas.openxmlformats.org/drawingml/2006/main" noGrp="1"/>
          </p:cNvSpPr>
          <p:nvPr/>
        </p:nvSpPr>
        <p:spPr>
          <a:xfrm xmlns:a="http://schemas.openxmlformats.org/drawingml/2006/main" rot="5400000">
            <a:off x="4229100" y="3333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1" name="!!qam-qam-modulate-label">
            <a:extLst xmlns:a="http://schemas.openxmlformats.org/drawingml/2006/main">
              <a:ext uri="{FF2B5EF4-FFF2-40B4-BE49-F238E27FC236}">
                <a16:creationId xmlns:a16="http://schemas.microsoft.com/office/drawing/2014/main" id="{69BD22FC-42AC-485B-84AB-EF4821C78CFA}"/>
              </a:ext>
            </a:extLst>
          </p:cNvPr>
          <p:cNvSpPr>
            <a:spLocks xmlns:a="http://schemas.openxmlformats.org/drawingml/2006/main" noGrp="1"/>
          </p:cNvSpPr>
          <p:nvPr/>
        </p:nvSpPr>
        <p:spPr>
          <a:xfrm xmlns:a="http://schemas.openxmlformats.org/drawingml/2006/main">
            <a:off x="3057525" y="30194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cos / sin</a:t>
            </a:r>
          </a:p>
        </p:txBody>
      </p:sp>
      <p:sp>
        <p:nvSpPr>
          <p:cNvPr id="22" name="!!qam-qam-modulate-g1-r0-wave">
            <a:extLst xmlns:a="http://schemas.openxmlformats.org/drawingml/2006/main">
              <a:ext uri="{FF2B5EF4-FFF2-40B4-BE49-F238E27FC236}">
                <a16:creationId xmlns:a16="http://schemas.microsoft.com/office/drawing/2014/main" id="{27221C79-8A94-435F-A7D8-C764A7E1D252}"/>
              </a:ext>
            </a:extLst>
          </p:cNvPr>
          <p:cNvSpPr>
            <a:spLocks xmlns:a="http://schemas.openxmlformats.org/drawingml/2006/main" noGrp="1"/>
          </p:cNvSpPr>
          <p:nvPr/>
        </p:nvSpPr>
        <p:spPr>
          <a:xfrm xmlns:a="http://schemas.openxmlformats.org/drawingml/2006/main">
            <a:off x="4572000" y="2414588"/>
            <a:ext cx="2781300" cy="700906"/>
          </a:xfrm>
          <a:custGeom xmlns:a="http://schemas.openxmlformats.org/drawingml/2006/main">
            <a:pathLst>
              <a:path w="2781300" h="700906">
                <a:moveTo>
                  <a:pt x="0" y="366713"/>
                </a:moveTo>
                <a:lnTo>
                  <a:pt x="3477" y="366710"/>
                </a:lnTo>
                <a:lnTo>
                  <a:pt x="6953" y="366704"/>
                </a:lnTo>
                <a:lnTo>
                  <a:pt x="10430" y="366695"/>
                </a:lnTo>
                <a:lnTo>
                  <a:pt x="13906" y="366685"/>
                </a:lnTo>
                <a:lnTo>
                  <a:pt x="17383" y="366678"/>
                </a:lnTo>
                <a:lnTo>
                  <a:pt x="20860" y="366677"/>
                </a:lnTo>
                <a:lnTo>
                  <a:pt x="24336" y="366684"/>
                </a:lnTo>
                <a:lnTo>
                  <a:pt x="27813" y="366703"/>
                </a:lnTo>
                <a:lnTo>
                  <a:pt x="31290" y="366736"/>
                </a:lnTo>
                <a:lnTo>
                  <a:pt x="34766" y="366785"/>
                </a:lnTo>
                <a:lnTo>
                  <a:pt x="38243" y="366848"/>
                </a:lnTo>
                <a:lnTo>
                  <a:pt x="41719" y="366926"/>
                </a:lnTo>
                <a:lnTo>
                  <a:pt x="45196" y="367014"/>
                </a:lnTo>
                <a:lnTo>
                  <a:pt x="48673" y="367109"/>
                </a:lnTo>
                <a:lnTo>
                  <a:pt x="52149" y="367204"/>
                </a:lnTo>
                <a:lnTo>
                  <a:pt x="55626" y="367293"/>
                </a:lnTo>
                <a:lnTo>
                  <a:pt x="59103" y="367368"/>
                </a:lnTo>
                <a:lnTo>
                  <a:pt x="62579" y="367421"/>
                </a:lnTo>
                <a:lnTo>
                  <a:pt x="66056" y="367444"/>
                </a:lnTo>
                <a:lnTo>
                  <a:pt x="69533" y="367432"/>
                </a:lnTo>
                <a:lnTo>
                  <a:pt x="73009" y="367378"/>
                </a:lnTo>
                <a:lnTo>
                  <a:pt x="76486" y="367279"/>
                </a:lnTo>
                <a:lnTo>
                  <a:pt x="79962" y="367133"/>
                </a:lnTo>
                <a:lnTo>
                  <a:pt x="83439" y="366943"/>
                </a:lnTo>
                <a:lnTo>
                  <a:pt x="86916" y="366713"/>
                </a:lnTo>
                <a:lnTo>
                  <a:pt x="90392" y="366448"/>
                </a:lnTo>
                <a:lnTo>
                  <a:pt x="93869" y="366159"/>
                </a:lnTo>
                <a:lnTo>
                  <a:pt x="97346" y="365858"/>
                </a:lnTo>
                <a:lnTo>
                  <a:pt x="100822" y="365559"/>
                </a:lnTo>
                <a:lnTo>
                  <a:pt x="104299" y="365275"/>
                </a:lnTo>
                <a:lnTo>
                  <a:pt x="107775" y="365023"/>
                </a:lnTo>
                <a:lnTo>
                  <a:pt x="111252" y="364818"/>
                </a:lnTo>
                <a:lnTo>
                  <a:pt x="114729" y="364673"/>
                </a:lnTo>
                <a:lnTo>
                  <a:pt x="118205" y="364599"/>
                </a:lnTo>
                <a:lnTo>
                  <a:pt x="121682" y="364607"/>
                </a:lnTo>
                <a:lnTo>
                  <a:pt x="125158" y="364701"/>
                </a:lnTo>
                <a:lnTo>
                  <a:pt x="128635" y="364883"/>
                </a:lnTo>
                <a:lnTo>
                  <a:pt x="132112" y="365150"/>
                </a:lnTo>
                <a:lnTo>
                  <a:pt x="135588" y="365497"/>
                </a:lnTo>
                <a:lnTo>
                  <a:pt x="139065" y="365911"/>
                </a:lnTo>
                <a:lnTo>
                  <a:pt x="142542" y="366379"/>
                </a:lnTo>
                <a:lnTo>
                  <a:pt x="146018" y="366883"/>
                </a:lnTo>
                <a:lnTo>
                  <a:pt x="149495" y="367403"/>
                </a:lnTo>
                <a:lnTo>
                  <a:pt x="152972" y="367917"/>
                </a:lnTo>
                <a:lnTo>
                  <a:pt x="156448" y="368403"/>
                </a:lnTo>
                <a:lnTo>
                  <a:pt x="159925" y="368840"/>
                </a:lnTo>
                <a:lnTo>
                  <a:pt x="163401" y="369208"/>
                </a:lnTo>
                <a:lnTo>
                  <a:pt x="166878" y="369490"/>
                </a:lnTo>
                <a:lnTo>
                  <a:pt x="170355" y="369672"/>
                </a:lnTo>
                <a:lnTo>
                  <a:pt x="173831" y="369746"/>
                </a:lnTo>
                <a:lnTo>
                  <a:pt x="177308" y="369706"/>
                </a:lnTo>
                <a:lnTo>
                  <a:pt x="180785" y="369554"/>
                </a:lnTo>
                <a:lnTo>
                  <a:pt x="184261" y="369295"/>
                </a:lnTo>
                <a:lnTo>
                  <a:pt x="187738" y="368939"/>
                </a:lnTo>
                <a:lnTo>
                  <a:pt x="191214" y="368502"/>
                </a:lnTo>
                <a:lnTo>
                  <a:pt x="194691" y="368002"/>
                </a:lnTo>
                <a:lnTo>
                  <a:pt x="198168" y="367461"/>
                </a:lnTo>
                <a:lnTo>
                  <a:pt x="201644" y="366900"/>
                </a:lnTo>
                <a:lnTo>
                  <a:pt x="205121" y="366343"/>
                </a:lnTo>
                <a:lnTo>
                  <a:pt x="208597" y="365814"/>
                </a:lnTo>
                <a:lnTo>
                  <a:pt x="212074" y="365334"/>
                </a:lnTo>
                <a:lnTo>
                  <a:pt x="215551" y="364920"/>
                </a:lnTo>
                <a:lnTo>
                  <a:pt x="219027" y="364589"/>
                </a:lnTo>
                <a:lnTo>
                  <a:pt x="222504" y="364351"/>
                </a:lnTo>
                <a:lnTo>
                  <a:pt x="225981" y="364213"/>
                </a:lnTo>
                <a:lnTo>
                  <a:pt x="229457" y="364175"/>
                </a:lnTo>
                <a:lnTo>
                  <a:pt x="232934" y="364235"/>
                </a:lnTo>
                <a:lnTo>
                  <a:pt x="236410" y="364385"/>
                </a:lnTo>
                <a:lnTo>
                  <a:pt x="239887" y="364613"/>
                </a:lnTo>
                <a:lnTo>
                  <a:pt x="243364" y="364906"/>
                </a:lnTo>
                <a:lnTo>
                  <a:pt x="246840" y="365245"/>
                </a:lnTo>
                <a:lnTo>
                  <a:pt x="250317" y="365614"/>
                </a:lnTo>
                <a:lnTo>
                  <a:pt x="253794" y="365993"/>
                </a:lnTo>
                <a:lnTo>
                  <a:pt x="257270" y="366364"/>
                </a:lnTo>
                <a:lnTo>
                  <a:pt x="260747" y="366713"/>
                </a:lnTo>
                <a:lnTo>
                  <a:pt x="264224" y="367023"/>
                </a:lnTo>
                <a:lnTo>
                  <a:pt x="267700" y="367286"/>
                </a:lnTo>
                <a:lnTo>
                  <a:pt x="271177" y="367493"/>
                </a:lnTo>
                <a:lnTo>
                  <a:pt x="274653" y="367640"/>
                </a:lnTo>
                <a:lnTo>
                  <a:pt x="278130" y="367727"/>
                </a:lnTo>
                <a:lnTo>
                  <a:pt x="281607" y="367756"/>
                </a:lnTo>
                <a:lnTo>
                  <a:pt x="285083" y="367734"/>
                </a:lnTo>
                <a:lnTo>
                  <a:pt x="288560" y="367669"/>
                </a:lnTo>
                <a:lnTo>
                  <a:pt x="292037" y="367569"/>
                </a:lnTo>
                <a:lnTo>
                  <a:pt x="295513" y="367447"/>
                </a:lnTo>
                <a:lnTo>
                  <a:pt x="298990" y="367311"/>
                </a:lnTo>
                <a:lnTo>
                  <a:pt x="302466" y="367173"/>
                </a:lnTo>
                <a:lnTo>
                  <a:pt x="305943" y="367042"/>
                </a:lnTo>
                <a:lnTo>
                  <a:pt x="309420" y="366925"/>
                </a:lnTo>
                <a:lnTo>
                  <a:pt x="312896" y="366827"/>
                </a:lnTo>
                <a:lnTo>
                  <a:pt x="316373" y="366750"/>
                </a:lnTo>
                <a:lnTo>
                  <a:pt x="319850" y="366697"/>
                </a:lnTo>
                <a:lnTo>
                  <a:pt x="323326" y="366666"/>
                </a:lnTo>
                <a:lnTo>
                  <a:pt x="326803" y="366653"/>
                </a:lnTo>
                <a:lnTo>
                  <a:pt x="330279" y="366655"/>
                </a:lnTo>
                <a:lnTo>
                  <a:pt x="333756" y="366666"/>
                </a:lnTo>
                <a:lnTo>
                  <a:pt x="337233" y="366682"/>
                </a:lnTo>
                <a:lnTo>
                  <a:pt x="340709" y="366698"/>
                </a:lnTo>
                <a:lnTo>
                  <a:pt x="344186" y="366709"/>
                </a:lnTo>
                <a:lnTo>
                  <a:pt x="347663" y="366713"/>
                </a:lnTo>
                <a:lnTo>
                  <a:pt x="351139" y="366708"/>
                </a:lnTo>
                <a:lnTo>
                  <a:pt x="354616" y="366697"/>
                </a:lnTo>
                <a:lnTo>
                  <a:pt x="358092" y="366681"/>
                </a:lnTo>
                <a:lnTo>
                  <a:pt x="361569" y="366664"/>
                </a:lnTo>
                <a:lnTo>
                  <a:pt x="365046" y="366651"/>
                </a:lnTo>
                <a:lnTo>
                  <a:pt x="368522" y="366648"/>
                </a:lnTo>
                <a:lnTo>
                  <a:pt x="371999" y="366661"/>
                </a:lnTo>
                <a:lnTo>
                  <a:pt x="375475" y="366696"/>
                </a:lnTo>
                <a:lnTo>
                  <a:pt x="378952" y="366755"/>
                </a:lnTo>
                <a:lnTo>
                  <a:pt x="382429" y="366843"/>
                </a:lnTo>
                <a:lnTo>
                  <a:pt x="385905" y="366958"/>
                </a:lnTo>
                <a:lnTo>
                  <a:pt x="389382" y="367099"/>
                </a:lnTo>
                <a:lnTo>
                  <a:pt x="392859" y="367261"/>
                </a:lnTo>
                <a:lnTo>
                  <a:pt x="396335" y="367434"/>
                </a:lnTo>
                <a:lnTo>
                  <a:pt x="399812" y="367609"/>
                </a:lnTo>
                <a:lnTo>
                  <a:pt x="403289" y="367773"/>
                </a:lnTo>
                <a:lnTo>
                  <a:pt x="406765" y="367912"/>
                </a:lnTo>
                <a:lnTo>
                  <a:pt x="410242" y="368012"/>
                </a:lnTo>
                <a:lnTo>
                  <a:pt x="413718" y="368058"/>
                </a:lnTo>
                <a:lnTo>
                  <a:pt x="417195" y="368037"/>
                </a:lnTo>
                <a:lnTo>
                  <a:pt x="420672" y="367940"/>
                </a:lnTo>
                <a:lnTo>
                  <a:pt x="424148" y="367759"/>
                </a:lnTo>
                <a:lnTo>
                  <a:pt x="427625" y="367492"/>
                </a:lnTo>
                <a:lnTo>
                  <a:pt x="431101" y="367141"/>
                </a:lnTo>
                <a:lnTo>
                  <a:pt x="434578" y="366713"/>
                </a:lnTo>
                <a:lnTo>
                  <a:pt x="438055" y="366220"/>
                </a:lnTo>
                <a:lnTo>
                  <a:pt x="441531" y="365680"/>
                </a:lnTo>
                <a:lnTo>
                  <a:pt x="445008" y="365115"/>
                </a:lnTo>
                <a:lnTo>
                  <a:pt x="448485" y="364550"/>
                </a:lnTo>
                <a:lnTo>
                  <a:pt x="451961" y="364014"/>
                </a:lnTo>
                <a:lnTo>
                  <a:pt x="455438" y="363534"/>
                </a:lnTo>
                <a:lnTo>
                  <a:pt x="458914" y="363140"/>
                </a:lnTo>
                <a:lnTo>
                  <a:pt x="462391" y="362859"/>
                </a:lnTo>
                <a:lnTo>
                  <a:pt x="465868" y="362712"/>
                </a:lnTo>
                <a:lnTo>
                  <a:pt x="469344" y="362718"/>
                </a:lnTo>
                <a:lnTo>
                  <a:pt x="472821" y="362888"/>
                </a:lnTo>
                <a:lnTo>
                  <a:pt x="476298" y="363226"/>
                </a:lnTo>
                <a:lnTo>
                  <a:pt x="479774" y="363730"/>
                </a:lnTo>
                <a:lnTo>
                  <a:pt x="483251" y="364386"/>
                </a:lnTo>
                <a:lnTo>
                  <a:pt x="486728" y="365176"/>
                </a:lnTo>
                <a:lnTo>
                  <a:pt x="490204" y="366072"/>
                </a:lnTo>
                <a:lnTo>
                  <a:pt x="493681" y="367041"/>
                </a:lnTo>
                <a:lnTo>
                  <a:pt x="497157" y="368045"/>
                </a:lnTo>
                <a:lnTo>
                  <a:pt x="500634" y="369042"/>
                </a:lnTo>
                <a:lnTo>
                  <a:pt x="504111" y="369989"/>
                </a:lnTo>
                <a:lnTo>
                  <a:pt x="507587" y="370845"/>
                </a:lnTo>
                <a:lnTo>
                  <a:pt x="511064" y="371570"/>
                </a:lnTo>
                <a:lnTo>
                  <a:pt x="514540" y="372131"/>
                </a:lnTo>
                <a:lnTo>
                  <a:pt x="518017" y="372500"/>
                </a:lnTo>
                <a:lnTo>
                  <a:pt x="521494" y="372657"/>
                </a:lnTo>
                <a:lnTo>
                  <a:pt x="524970" y="372593"/>
                </a:lnTo>
                <a:lnTo>
                  <a:pt x="528447" y="372307"/>
                </a:lnTo>
                <a:lnTo>
                  <a:pt x="531924" y="371809"/>
                </a:lnTo>
                <a:lnTo>
                  <a:pt x="535400" y="371118"/>
                </a:lnTo>
                <a:lnTo>
                  <a:pt x="538877" y="370262"/>
                </a:lnTo>
                <a:lnTo>
                  <a:pt x="542354" y="369276"/>
                </a:lnTo>
                <a:lnTo>
                  <a:pt x="545830" y="368203"/>
                </a:lnTo>
                <a:lnTo>
                  <a:pt x="549307" y="367086"/>
                </a:lnTo>
                <a:lnTo>
                  <a:pt x="552783" y="365973"/>
                </a:lnTo>
                <a:lnTo>
                  <a:pt x="556260" y="364909"/>
                </a:lnTo>
                <a:lnTo>
                  <a:pt x="559737" y="363938"/>
                </a:lnTo>
                <a:lnTo>
                  <a:pt x="563213" y="363098"/>
                </a:lnTo>
                <a:lnTo>
                  <a:pt x="566690" y="362419"/>
                </a:lnTo>
                <a:lnTo>
                  <a:pt x="570167" y="361926"/>
                </a:lnTo>
                <a:lnTo>
                  <a:pt x="573643" y="361633"/>
                </a:lnTo>
                <a:lnTo>
                  <a:pt x="577120" y="361543"/>
                </a:lnTo>
                <a:lnTo>
                  <a:pt x="580596" y="361652"/>
                </a:lnTo>
                <a:lnTo>
                  <a:pt x="584073" y="361946"/>
                </a:lnTo>
                <a:lnTo>
                  <a:pt x="587550" y="362403"/>
                </a:lnTo>
                <a:lnTo>
                  <a:pt x="591026" y="362993"/>
                </a:lnTo>
                <a:lnTo>
                  <a:pt x="594503" y="363684"/>
                </a:lnTo>
                <a:lnTo>
                  <a:pt x="597979" y="364439"/>
                </a:lnTo>
                <a:lnTo>
                  <a:pt x="601456" y="365219"/>
                </a:lnTo>
                <a:lnTo>
                  <a:pt x="604933" y="365988"/>
                </a:lnTo>
                <a:lnTo>
                  <a:pt x="608409" y="366713"/>
                </a:lnTo>
                <a:lnTo>
                  <a:pt x="611886" y="367363"/>
                </a:lnTo>
                <a:lnTo>
                  <a:pt x="615363" y="367915"/>
                </a:lnTo>
                <a:lnTo>
                  <a:pt x="618839" y="368354"/>
                </a:lnTo>
                <a:lnTo>
                  <a:pt x="622316" y="368669"/>
                </a:lnTo>
                <a:lnTo>
                  <a:pt x="625793" y="368858"/>
                </a:lnTo>
                <a:lnTo>
                  <a:pt x="629269" y="368927"/>
                </a:lnTo>
                <a:lnTo>
                  <a:pt x="632746" y="368887"/>
                </a:lnTo>
                <a:lnTo>
                  <a:pt x="636222" y="368753"/>
                </a:lnTo>
                <a:lnTo>
                  <a:pt x="639699" y="368546"/>
                </a:lnTo>
                <a:lnTo>
                  <a:pt x="643176" y="368288"/>
                </a:lnTo>
                <a:lnTo>
                  <a:pt x="646652" y="368001"/>
                </a:lnTo>
                <a:lnTo>
                  <a:pt x="650129" y="367708"/>
                </a:lnTo>
                <a:lnTo>
                  <a:pt x="653606" y="367427"/>
                </a:lnTo>
                <a:lnTo>
                  <a:pt x="657082" y="367174"/>
                </a:lnTo>
                <a:lnTo>
                  <a:pt x="660559" y="366961"/>
                </a:lnTo>
                <a:lnTo>
                  <a:pt x="664035" y="366795"/>
                </a:lnTo>
                <a:lnTo>
                  <a:pt x="667512" y="366679"/>
                </a:lnTo>
                <a:lnTo>
                  <a:pt x="670989" y="366610"/>
                </a:lnTo>
                <a:lnTo>
                  <a:pt x="674465" y="366582"/>
                </a:lnTo>
                <a:lnTo>
                  <a:pt x="677942" y="366585"/>
                </a:lnTo>
                <a:lnTo>
                  <a:pt x="681418" y="366610"/>
                </a:lnTo>
                <a:lnTo>
                  <a:pt x="684895" y="366645"/>
                </a:lnTo>
                <a:lnTo>
                  <a:pt x="688372" y="366679"/>
                </a:lnTo>
                <a:lnTo>
                  <a:pt x="691848" y="366704"/>
                </a:lnTo>
                <a:lnTo>
                  <a:pt x="695325" y="366713"/>
                </a:lnTo>
                <a:lnTo>
                  <a:pt x="698802" y="366703"/>
                </a:lnTo>
                <a:lnTo>
                  <a:pt x="702278" y="366678"/>
                </a:lnTo>
                <a:lnTo>
                  <a:pt x="705755" y="366641"/>
                </a:lnTo>
                <a:lnTo>
                  <a:pt x="709232" y="366602"/>
                </a:lnTo>
                <a:lnTo>
                  <a:pt x="712708" y="366572"/>
                </a:lnTo>
                <a:lnTo>
                  <a:pt x="716185" y="366565"/>
                </a:lnTo>
                <a:lnTo>
                  <a:pt x="719661" y="366594"/>
                </a:lnTo>
                <a:lnTo>
                  <a:pt x="723138" y="366673"/>
                </a:lnTo>
                <a:lnTo>
                  <a:pt x="726615" y="366812"/>
                </a:lnTo>
                <a:lnTo>
                  <a:pt x="730091" y="367016"/>
                </a:lnTo>
                <a:lnTo>
                  <a:pt x="733568" y="367287"/>
                </a:lnTo>
                <a:lnTo>
                  <a:pt x="737045" y="367621"/>
                </a:lnTo>
                <a:lnTo>
                  <a:pt x="740521" y="368004"/>
                </a:lnTo>
                <a:lnTo>
                  <a:pt x="743998" y="368419"/>
                </a:lnTo>
                <a:lnTo>
                  <a:pt x="747474" y="368841"/>
                </a:lnTo>
                <a:lnTo>
                  <a:pt x="750951" y="369239"/>
                </a:lnTo>
                <a:lnTo>
                  <a:pt x="754428" y="369582"/>
                </a:lnTo>
                <a:lnTo>
                  <a:pt x="757904" y="369832"/>
                </a:lnTo>
                <a:lnTo>
                  <a:pt x="761381" y="369955"/>
                </a:lnTo>
                <a:lnTo>
                  <a:pt x="764857" y="369918"/>
                </a:lnTo>
                <a:lnTo>
                  <a:pt x="768334" y="369695"/>
                </a:lnTo>
                <a:lnTo>
                  <a:pt x="771811" y="369266"/>
                </a:lnTo>
                <a:lnTo>
                  <a:pt x="775287" y="368622"/>
                </a:lnTo>
                <a:lnTo>
                  <a:pt x="778764" y="367766"/>
                </a:lnTo>
                <a:lnTo>
                  <a:pt x="782241" y="366713"/>
                </a:lnTo>
                <a:lnTo>
                  <a:pt x="785717" y="365490"/>
                </a:lnTo>
                <a:lnTo>
                  <a:pt x="789194" y="364141"/>
                </a:lnTo>
                <a:lnTo>
                  <a:pt x="792671" y="362717"/>
                </a:lnTo>
                <a:lnTo>
                  <a:pt x="796147" y="361282"/>
                </a:lnTo>
                <a:lnTo>
                  <a:pt x="799624" y="359905"/>
                </a:lnTo>
                <a:lnTo>
                  <a:pt x="803100" y="358660"/>
                </a:lnTo>
                <a:lnTo>
                  <a:pt x="806577" y="357622"/>
                </a:lnTo>
                <a:lnTo>
                  <a:pt x="810054" y="356861"/>
                </a:lnTo>
                <a:lnTo>
                  <a:pt x="813530" y="356440"/>
                </a:lnTo>
                <a:lnTo>
                  <a:pt x="817007" y="356408"/>
                </a:lnTo>
                <a:lnTo>
                  <a:pt x="820483" y="356801"/>
                </a:lnTo>
                <a:lnTo>
                  <a:pt x="823960" y="357637"/>
                </a:lnTo>
                <a:lnTo>
                  <a:pt x="827437" y="358911"/>
                </a:lnTo>
                <a:lnTo>
                  <a:pt x="830913" y="360599"/>
                </a:lnTo>
                <a:lnTo>
                  <a:pt x="834390" y="362656"/>
                </a:lnTo>
                <a:lnTo>
                  <a:pt x="837867" y="365014"/>
                </a:lnTo>
                <a:lnTo>
                  <a:pt x="841343" y="367589"/>
                </a:lnTo>
                <a:lnTo>
                  <a:pt x="844820" y="370283"/>
                </a:lnTo>
                <a:lnTo>
                  <a:pt x="848296" y="372985"/>
                </a:lnTo>
                <a:lnTo>
                  <a:pt x="851773" y="375580"/>
                </a:lnTo>
                <a:lnTo>
                  <a:pt x="855250" y="377954"/>
                </a:lnTo>
                <a:lnTo>
                  <a:pt x="858726" y="379995"/>
                </a:lnTo>
                <a:lnTo>
                  <a:pt x="862203" y="381606"/>
                </a:lnTo>
                <a:lnTo>
                  <a:pt x="865680" y="382704"/>
                </a:lnTo>
                <a:lnTo>
                  <a:pt x="869156" y="383226"/>
                </a:lnTo>
                <a:lnTo>
                  <a:pt x="872633" y="383136"/>
                </a:lnTo>
                <a:lnTo>
                  <a:pt x="876110" y="382422"/>
                </a:lnTo>
                <a:lnTo>
                  <a:pt x="879586" y="381102"/>
                </a:lnTo>
                <a:lnTo>
                  <a:pt x="883063" y="379219"/>
                </a:lnTo>
                <a:lnTo>
                  <a:pt x="886539" y="376846"/>
                </a:lnTo>
                <a:lnTo>
                  <a:pt x="890016" y="374074"/>
                </a:lnTo>
                <a:lnTo>
                  <a:pt x="893493" y="371016"/>
                </a:lnTo>
                <a:lnTo>
                  <a:pt x="896969" y="367798"/>
                </a:lnTo>
                <a:lnTo>
                  <a:pt x="900446" y="364552"/>
                </a:lnTo>
                <a:lnTo>
                  <a:pt x="903922" y="361414"/>
                </a:lnTo>
                <a:lnTo>
                  <a:pt x="907399" y="358511"/>
                </a:lnTo>
                <a:lnTo>
                  <a:pt x="910876" y="355961"/>
                </a:lnTo>
                <a:lnTo>
                  <a:pt x="914352" y="353865"/>
                </a:lnTo>
                <a:lnTo>
                  <a:pt x="917829" y="352300"/>
                </a:lnTo>
                <a:lnTo>
                  <a:pt x="921306" y="351319"/>
                </a:lnTo>
                <a:lnTo>
                  <a:pt x="924782" y="350948"/>
                </a:lnTo>
                <a:lnTo>
                  <a:pt x="928259" y="351181"/>
                </a:lnTo>
                <a:lnTo>
                  <a:pt x="931735" y="351988"/>
                </a:lnTo>
                <a:lnTo>
                  <a:pt x="935212" y="353311"/>
                </a:lnTo>
                <a:lnTo>
                  <a:pt x="938689" y="355071"/>
                </a:lnTo>
                <a:lnTo>
                  <a:pt x="942165" y="357170"/>
                </a:lnTo>
                <a:lnTo>
                  <a:pt x="945642" y="359498"/>
                </a:lnTo>
                <a:lnTo>
                  <a:pt x="949119" y="361941"/>
                </a:lnTo>
                <a:lnTo>
                  <a:pt x="952595" y="364382"/>
                </a:lnTo>
                <a:lnTo>
                  <a:pt x="956072" y="366713"/>
                </a:lnTo>
                <a:lnTo>
                  <a:pt x="959549" y="368834"/>
                </a:lnTo>
                <a:lnTo>
                  <a:pt x="963025" y="370666"/>
                </a:lnTo>
                <a:lnTo>
                  <a:pt x="966502" y="372147"/>
                </a:lnTo>
                <a:lnTo>
                  <a:pt x="969978" y="373239"/>
                </a:lnTo>
                <a:lnTo>
                  <a:pt x="973455" y="373925"/>
                </a:lnTo>
                <a:lnTo>
                  <a:pt x="976932" y="374213"/>
                </a:lnTo>
                <a:lnTo>
                  <a:pt x="980408" y="374133"/>
                </a:lnTo>
                <a:lnTo>
                  <a:pt x="983885" y="373732"/>
                </a:lnTo>
                <a:lnTo>
                  <a:pt x="987361" y="373071"/>
                </a:lnTo>
                <a:lnTo>
                  <a:pt x="990838" y="372220"/>
                </a:lnTo>
                <a:lnTo>
                  <a:pt x="994315" y="371254"/>
                </a:lnTo>
                <a:lnTo>
                  <a:pt x="997791" y="370249"/>
                </a:lnTo>
                <a:lnTo>
                  <a:pt x="1001268" y="369271"/>
                </a:lnTo>
                <a:lnTo>
                  <a:pt x="1004745" y="368379"/>
                </a:lnTo>
                <a:lnTo>
                  <a:pt x="1008221" y="367619"/>
                </a:lnTo>
                <a:lnTo>
                  <a:pt x="1011698" y="367018"/>
                </a:lnTo>
                <a:lnTo>
                  <a:pt x="1015175" y="366589"/>
                </a:lnTo>
                <a:lnTo>
                  <a:pt x="1018651" y="366328"/>
                </a:lnTo>
                <a:lnTo>
                  <a:pt x="1022128" y="366218"/>
                </a:lnTo>
                <a:lnTo>
                  <a:pt x="1025604" y="366228"/>
                </a:lnTo>
                <a:lnTo>
                  <a:pt x="1029081" y="366319"/>
                </a:lnTo>
                <a:lnTo>
                  <a:pt x="1032558" y="366451"/>
                </a:lnTo>
                <a:lnTo>
                  <a:pt x="1036034" y="366582"/>
                </a:lnTo>
                <a:lnTo>
                  <a:pt x="1039511" y="366677"/>
                </a:lnTo>
                <a:lnTo>
                  <a:pt x="1042988" y="366713"/>
                </a:lnTo>
                <a:lnTo>
                  <a:pt x="1046464" y="366676"/>
                </a:lnTo>
                <a:lnTo>
                  <a:pt x="1049941" y="366571"/>
                </a:lnTo>
                <a:lnTo>
                  <a:pt x="1053417" y="366417"/>
                </a:lnTo>
                <a:lnTo>
                  <a:pt x="1056894" y="366251"/>
                </a:lnTo>
                <a:lnTo>
                  <a:pt x="1060371" y="366120"/>
                </a:lnTo>
                <a:lnTo>
                  <a:pt x="1063847" y="366084"/>
                </a:lnTo>
                <a:lnTo>
                  <a:pt x="1067324" y="366204"/>
                </a:lnTo>
                <a:lnTo>
                  <a:pt x="1070800" y="366542"/>
                </a:lnTo>
                <a:lnTo>
                  <a:pt x="1074277" y="367150"/>
                </a:lnTo>
                <a:lnTo>
                  <a:pt x="1077754" y="368066"/>
                </a:lnTo>
                <a:lnTo>
                  <a:pt x="1081230" y="369305"/>
                </a:lnTo>
                <a:lnTo>
                  <a:pt x="1084707" y="370857"/>
                </a:lnTo>
                <a:lnTo>
                  <a:pt x="1088184" y="372678"/>
                </a:lnTo>
                <a:lnTo>
                  <a:pt x="1091660" y="374693"/>
                </a:lnTo>
                <a:lnTo>
                  <a:pt x="1095137" y="376793"/>
                </a:lnTo>
                <a:lnTo>
                  <a:pt x="1098614" y="378837"/>
                </a:lnTo>
                <a:lnTo>
                  <a:pt x="1102090" y="380661"/>
                </a:lnTo>
                <a:lnTo>
                  <a:pt x="1105567" y="382079"/>
                </a:lnTo>
                <a:lnTo>
                  <a:pt x="1109043" y="382902"/>
                </a:lnTo>
                <a:lnTo>
                  <a:pt x="1112520" y="382940"/>
                </a:lnTo>
                <a:lnTo>
                  <a:pt x="1115997" y="382022"/>
                </a:lnTo>
                <a:lnTo>
                  <a:pt x="1119473" y="380008"/>
                </a:lnTo>
                <a:lnTo>
                  <a:pt x="1122950" y="376802"/>
                </a:lnTo>
                <a:lnTo>
                  <a:pt x="1126427" y="372361"/>
                </a:lnTo>
                <a:lnTo>
                  <a:pt x="1129903" y="366713"/>
                </a:lnTo>
                <a:lnTo>
                  <a:pt x="1133380" y="359956"/>
                </a:lnTo>
                <a:lnTo>
                  <a:pt x="1136856" y="352271"/>
                </a:lnTo>
                <a:lnTo>
                  <a:pt x="1140333" y="343912"/>
                </a:lnTo>
                <a:lnTo>
                  <a:pt x="1143810" y="335211"/>
                </a:lnTo>
                <a:lnTo>
                  <a:pt x="1147286" y="326561"/>
                </a:lnTo>
                <a:lnTo>
                  <a:pt x="1150763" y="318408"/>
                </a:lnTo>
                <a:lnTo>
                  <a:pt x="1154240" y="311229"/>
                </a:lnTo>
                <a:lnTo>
                  <a:pt x="1157716" y="305511"/>
                </a:lnTo>
                <a:lnTo>
                  <a:pt x="1161193" y="301728"/>
                </a:lnTo>
                <a:lnTo>
                  <a:pt x="1164669" y="300313"/>
                </a:lnTo>
                <a:lnTo>
                  <a:pt x="1168146" y="301632"/>
                </a:lnTo>
                <a:lnTo>
                  <a:pt x="1171623" y="305958"/>
                </a:lnTo>
                <a:lnTo>
                  <a:pt x="1175099" y="313449"/>
                </a:lnTo>
                <a:lnTo>
                  <a:pt x="1178576" y="324127"/>
                </a:lnTo>
                <a:lnTo>
                  <a:pt x="1182053" y="337864"/>
                </a:lnTo>
                <a:lnTo>
                  <a:pt x="1185529" y="354376"/>
                </a:lnTo>
                <a:lnTo>
                  <a:pt x="1189006" y="373219"/>
                </a:lnTo>
                <a:lnTo>
                  <a:pt x="1192482" y="393799"/>
                </a:lnTo>
                <a:lnTo>
                  <a:pt x="1195959" y="415388"/>
                </a:lnTo>
                <a:lnTo>
                  <a:pt x="1199436" y="437143"/>
                </a:lnTo>
                <a:lnTo>
                  <a:pt x="1202912" y="458139"/>
                </a:lnTo>
                <a:lnTo>
                  <a:pt x="1206389" y="477406"/>
                </a:lnTo>
                <a:lnTo>
                  <a:pt x="1209865" y="493970"/>
                </a:lnTo>
                <a:lnTo>
                  <a:pt x="1213342" y="506896"/>
                </a:lnTo>
                <a:lnTo>
                  <a:pt x="1216819" y="515335"/>
                </a:lnTo>
                <a:lnTo>
                  <a:pt x="1220295" y="518573"/>
                </a:lnTo>
                <a:lnTo>
                  <a:pt x="1223772" y="516063"/>
                </a:lnTo>
                <a:lnTo>
                  <a:pt x="1227249" y="507472"/>
                </a:lnTo>
                <a:lnTo>
                  <a:pt x="1230725" y="492704"/>
                </a:lnTo>
                <a:lnTo>
                  <a:pt x="1234202" y="471923"/>
                </a:lnTo>
                <a:lnTo>
                  <a:pt x="1237679" y="445559"/>
                </a:lnTo>
                <a:lnTo>
                  <a:pt x="1241155" y="414309"/>
                </a:lnTo>
                <a:lnTo>
                  <a:pt x="1244632" y="379120"/>
                </a:lnTo>
                <a:lnTo>
                  <a:pt x="1248108" y="341166"/>
                </a:lnTo>
                <a:lnTo>
                  <a:pt x="1251585" y="301804"/>
                </a:lnTo>
                <a:lnTo>
                  <a:pt x="1255062" y="262531"/>
                </a:lnTo>
                <a:lnTo>
                  <a:pt x="1258538" y="224923"/>
                </a:lnTo>
                <a:lnTo>
                  <a:pt x="1262015" y="190573"/>
                </a:lnTo>
                <a:lnTo>
                  <a:pt x="1265492" y="161025"/>
                </a:lnTo>
                <a:lnTo>
                  <a:pt x="1268968" y="137701"/>
                </a:lnTo>
                <a:lnTo>
                  <a:pt x="1272445" y="121839"/>
                </a:lnTo>
                <a:lnTo>
                  <a:pt x="1275921" y="114430"/>
                </a:lnTo>
                <a:lnTo>
                  <a:pt x="1279398" y="116168"/>
                </a:lnTo>
                <a:lnTo>
                  <a:pt x="1282875" y="127401"/>
                </a:lnTo>
                <a:lnTo>
                  <a:pt x="1286351" y="148109"/>
                </a:lnTo>
                <a:lnTo>
                  <a:pt x="1289828" y="177888"/>
                </a:lnTo>
                <a:lnTo>
                  <a:pt x="1293304" y="215950"/>
                </a:lnTo>
                <a:lnTo>
                  <a:pt x="1296781" y="261142"/>
                </a:lnTo>
                <a:lnTo>
                  <a:pt x="1300258" y="311983"/>
                </a:lnTo>
                <a:lnTo>
                  <a:pt x="1303734" y="366713"/>
                </a:lnTo>
                <a:lnTo>
                  <a:pt x="1307211" y="423354"/>
                </a:lnTo>
                <a:lnTo>
                  <a:pt x="1310688" y="479790"/>
                </a:lnTo>
                <a:lnTo>
                  <a:pt x="1314164" y="533845"/>
                </a:lnTo>
                <a:lnTo>
                  <a:pt x="1317641" y="583373"/>
                </a:lnTo>
                <a:lnTo>
                  <a:pt x="1321118" y="626346"/>
                </a:lnTo>
                <a:lnTo>
                  <a:pt x="1324594" y="660942"/>
                </a:lnTo>
                <a:lnTo>
                  <a:pt x="1328071" y="685621"/>
                </a:lnTo>
                <a:lnTo>
                  <a:pt x="1331547" y="699201"/>
                </a:lnTo>
                <a:lnTo>
                  <a:pt x="1335024" y="700906"/>
                </a:lnTo>
                <a:lnTo>
                  <a:pt x="1338501" y="690413"/>
                </a:lnTo>
                <a:lnTo>
                  <a:pt x="1341977" y="667871"/>
                </a:lnTo>
                <a:lnTo>
                  <a:pt x="1345454" y="633905"/>
                </a:lnTo>
                <a:lnTo>
                  <a:pt x="1348931" y="589598"/>
                </a:lnTo>
                <a:lnTo>
                  <a:pt x="1352407" y="536456"/>
                </a:lnTo>
                <a:lnTo>
                  <a:pt x="1355884" y="476354"/>
                </a:lnTo>
                <a:lnTo>
                  <a:pt x="1359360" y="411462"/>
                </a:lnTo>
                <a:lnTo>
                  <a:pt x="1362837" y="344167"/>
                </a:lnTo>
                <a:lnTo>
                  <a:pt x="1366314" y="276976"/>
                </a:lnTo>
                <a:lnTo>
                  <a:pt x="1369790" y="212414"/>
                </a:lnTo>
                <a:lnTo>
                  <a:pt x="1373267" y="152931"/>
                </a:lnTo>
                <a:lnTo>
                  <a:pt x="1376743" y="100795"/>
                </a:lnTo>
                <a:lnTo>
                  <a:pt x="1380220" y="58003"/>
                </a:lnTo>
                <a:lnTo>
                  <a:pt x="1383697" y="26200"/>
                </a:lnTo>
                <a:lnTo>
                  <a:pt x="1387173" y="6614"/>
                </a:lnTo>
                <a:lnTo>
                  <a:pt x="1390650" y="0"/>
                </a:lnTo>
                <a:lnTo>
                  <a:pt x="1394127" y="6614"/>
                </a:lnTo>
                <a:lnTo>
                  <a:pt x="1397603" y="26200"/>
                </a:lnTo>
                <a:lnTo>
                  <a:pt x="1401080" y="58003"/>
                </a:lnTo>
                <a:lnTo>
                  <a:pt x="1404557" y="100795"/>
                </a:lnTo>
                <a:lnTo>
                  <a:pt x="1408033" y="152931"/>
                </a:lnTo>
                <a:lnTo>
                  <a:pt x="1411510" y="212414"/>
                </a:lnTo>
                <a:lnTo>
                  <a:pt x="1414986" y="276976"/>
                </a:lnTo>
                <a:lnTo>
                  <a:pt x="1418463" y="344167"/>
                </a:lnTo>
                <a:lnTo>
                  <a:pt x="1421940" y="411462"/>
                </a:lnTo>
                <a:lnTo>
                  <a:pt x="1425416" y="476354"/>
                </a:lnTo>
                <a:lnTo>
                  <a:pt x="1428893" y="536456"/>
                </a:lnTo>
                <a:lnTo>
                  <a:pt x="1432370" y="589598"/>
                </a:lnTo>
                <a:lnTo>
                  <a:pt x="1435846" y="633905"/>
                </a:lnTo>
                <a:lnTo>
                  <a:pt x="1439323" y="667871"/>
                </a:lnTo>
                <a:lnTo>
                  <a:pt x="1442799" y="690413"/>
                </a:lnTo>
                <a:lnTo>
                  <a:pt x="1446276" y="700906"/>
                </a:lnTo>
                <a:lnTo>
                  <a:pt x="1449753" y="699201"/>
                </a:lnTo>
                <a:lnTo>
                  <a:pt x="1453229" y="685621"/>
                </a:lnTo>
                <a:lnTo>
                  <a:pt x="1456706" y="660942"/>
                </a:lnTo>
                <a:lnTo>
                  <a:pt x="1460182" y="626346"/>
                </a:lnTo>
                <a:lnTo>
                  <a:pt x="1463659" y="583373"/>
                </a:lnTo>
                <a:lnTo>
                  <a:pt x="1467136" y="533845"/>
                </a:lnTo>
                <a:lnTo>
                  <a:pt x="1470612" y="479790"/>
                </a:lnTo>
                <a:lnTo>
                  <a:pt x="1474089" y="423354"/>
                </a:lnTo>
                <a:lnTo>
                  <a:pt x="1477566" y="366713"/>
                </a:lnTo>
                <a:lnTo>
                  <a:pt x="1481042" y="311983"/>
                </a:lnTo>
                <a:lnTo>
                  <a:pt x="1484519" y="261142"/>
                </a:lnTo>
                <a:lnTo>
                  <a:pt x="1487996" y="215950"/>
                </a:lnTo>
                <a:lnTo>
                  <a:pt x="1491472" y="177888"/>
                </a:lnTo>
                <a:lnTo>
                  <a:pt x="1494949" y="148109"/>
                </a:lnTo>
                <a:lnTo>
                  <a:pt x="1498425" y="127401"/>
                </a:lnTo>
                <a:lnTo>
                  <a:pt x="1501902" y="116168"/>
                </a:lnTo>
                <a:lnTo>
                  <a:pt x="1505379" y="114430"/>
                </a:lnTo>
                <a:lnTo>
                  <a:pt x="1508855" y="121839"/>
                </a:lnTo>
                <a:lnTo>
                  <a:pt x="1512332" y="137701"/>
                </a:lnTo>
                <a:lnTo>
                  <a:pt x="1515808" y="161025"/>
                </a:lnTo>
                <a:lnTo>
                  <a:pt x="1519285" y="190573"/>
                </a:lnTo>
                <a:lnTo>
                  <a:pt x="1522762" y="224923"/>
                </a:lnTo>
                <a:lnTo>
                  <a:pt x="1526238" y="262531"/>
                </a:lnTo>
                <a:lnTo>
                  <a:pt x="1529715" y="301804"/>
                </a:lnTo>
                <a:lnTo>
                  <a:pt x="1533192" y="341166"/>
                </a:lnTo>
                <a:lnTo>
                  <a:pt x="1536668" y="379120"/>
                </a:lnTo>
                <a:lnTo>
                  <a:pt x="1540145" y="414309"/>
                </a:lnTo>
                <a:lnTo>
                  <a:pt x="1543621" y="445559"/>
                </a:lnTo>
                <a:lnTo>
                  <a:pt x="1547098" y="471923"/>
                </a:lnTo>
                <a:lnTo>
                  <a:pt x="1550575" y="492704"/>
                </a:lnTo>
                <a:lnTo>
                  <a:pt x="1554051" y="507472"/>
                </a:lnTo>
                <a:lnTo>
                  <a:pt x="1557528" y="516063"/>
                </a:lnTo>
                <a:lnTo>
                  <a:pt x="1561005" y="518573"/>
                </a:lnTo>
                <a:lnTo>
                  <a:pt x="1564481" y="515335"/>
                </a:lnTo>
                <a:lnTo>
                  <a:pt x="1567958" y="506896"/>
                </a:lnTo>
                <a:lnTo>
                  <a:pt x="1571435" y="493970"/>
                </a:lnTo>
                <a:lnTo>
                  <a:pt x="1574911" y="477406"/>
                </a:lnTo>
                <a:lnTo>
                  <a:pt x="1578388" y="458139"/>
                </a:lnTo>
                <a:lnTo>
                  <a:pt x="1581864" y="437143"/>
                </a:lnTo>
                <a:lnTo>
                  <a:pt x="1585341" y="415388"/>
                </a:lnTo>
                <a:lnTo>
                  <a:pt x="1588818" y="393799"/>
                </a:lnTo>
                <a:lnTo>
                  <a:pt x="1592294" y="373219"/>
                </a:lnTo>
                <a:lnTo>
                  <a:pt x="1595771" y="354376"/>
                </a:lnTo>
                <a:lnTo>
                  <a:pt x="1599247" y="337864"/>
                </a:lnTo>
                <a:lnTo>
                  <a:pt x="1602724" y="324127"/>
                </a:lnTo>
                <a:lnTo>
                  <a:pt x="1606201" y="313449"/>
                </a:lnTo>
                <a:lnTo>
                  <a:pt x="1609677" y="305958"/>
                </a:lnTo>
                <a:lnTo>
                  <a:pt x="1613154" y="301632"/>
                </a:lnTo>
                <a:lnTo>
                  <a:pt x="1616631" y="300313"/>
                </a:lnTo>
                <a:lnTo>
                  <a:pt x="1620107" y="301728"/>
                </a:lnTo>
                <a:lnTo>
                  <a:pt x="1623584" y="305511"/>
                </a:lnTo>
                <a:lnTo>
                  <a:pt x="1627060" y="311229"/>
                </a:lnTo>
                <a:lnTo>
                  <a:pt x="1630537" y="318408"/>
                </a:lnTo>
                <a:lnTo>
                  <a:pt x="1634014" y="326561"/>
                </a:lnTo>
                <a:lnTo>
                  <a:pt x="1637490" y="335211"/>
                </a:lnTo>
                <a:lnTo>
                  <a:pt x="1640967" y="343912"/>
                </a:lnTo>
                <a:lnTo>
                  <a:pt x="1644444" y="352271"/>
                </a:lnTo>
                <a:lnTo>
                  <a:pt x="1647920" y="359956"/>
                </a:lnTo>
                <a:lnTo>
                  <a:pt x="1651397" y="366713"/>
                </a:lnTo>
                <a:lnTo>
                  <a:pt x="1654874" y="372361"/>
                </a:lnTo>
                <a:lnTo>
                  <a:pt x="1658350" y="376802"/>
                </a:lnTo>
                <a:lnTo>
                  <a:pt x="1661827" y="380008"/>
                </a:lnTo>
                <a:lnTo>
                  <a:pt x="1665303" y="382022"/>
                </a:lnTo>
                <a:lnTo>
                  <a:pt x="1668780" y="382940"/>
                </a:lnTo>
                <a:lnTo>
                  <a:pt x="1672257" y="382902"/>
                </a:lnTo>
                <a:lnTo>
                  <a:pt x="1675733" y="382079"/>
                </a:lnTo>
                <a:lnTo>
                  <a:pt x="1679210" y="380661"/>
                </a:lnTo>
                <a:lnTo>
                  <a:pt x="1682686" y="378837"/>
                </a:lnTo>
                <a:lnTo>
                  <a:pt x="1686163" y="376793"/>
                </a:lnTo>
                <a:lnTo>
                  <a:pt x="1689640" y="374693"/>
                </a:lnTo>
                <a:lnTo>
                  <a:pt x="1693116" y="372678"/>
                </a:lnTo>
                <a:lnTo>
                  <a:pt x="1696593" y="370857"/>
                </a:lnTo>
                <a:lnTo>
                  <a:pt x="1700070" y="369305"/>
                </a:lnTo>
                <a:lnTo>
                  <a:pt x="1703546" y="368066"/>
                </a:lnTo>
                <a:lnTo>
                  <a:pt x="1707023" y="367150"/>
                </a:lnTo>
                <a:lnTo>
                  <a:pt x="1710500" y="366542"/>
                </a:lnTo>
                <a:lnTo>
                  <a:pt x="1713976" y="366204"/>
                </a:lnTo>
                <a:lnTo>
                  <a:pt x="1717453" y="366084"/>
                </a:lnTo>
                <a:lnTo>
                  <a:pt x="1720929" y="366120"/>
                </a:lnTo>
                <a:lnTo>
                  <a:pt x="1724406" y="366251"/>
                </a:lnTo>
                <a:lnTo>
                  <a:pt x="1727883" y="366417"/>
                </a:lnTo>
                <a:lnTo>
                  <a:pt x="1731359" y="366571"/>
                </a:lnTo>
                <a:lnTo>
                  <a:pt x="1734836" y="366676"/>
                </a:lnTo>
                <a:lnTo>
                  <a:pt x="1738313" y="366713"/>
                </a:lnTo>
                <a:lnTo>
                  <a:pt x="1741789" y="366677"/>
                </a:lnTo>
                <a:lnTo>
                  <a:pt x="1745266" y="366582"/>
                </a:lnTo>
                <a:lnTo>
                  <a:pt x="1748742" y="366451"/>
                </a:lnTo>
                <a:lnTo>
                  <a:pt x="1752219" y="366319"/>
                </a:lnTo>
                <a:lnTo>
                  <a:pt x="1755696" y="366228"/>
                </a:lnTo>
                <a:lnTo>
                  <a:pt x="1759172" y="366218"/>
                </a:lnTo>
                <a:lnTo>
                  <a:pt x="1762649" y="366328"/>
                </a:lnTo>
                <a:lnTo>
                  <a:pt x="1766125" y="366589"/>
                </a:lnTo>
                <a:lnTo>
                  <a:pt x="1769602" y="367018"/>
                </a:lnTo>
                <a:lnTo>
                  <a:pt x="1773079" y="367619"/>
                </a:lnTo>
                <a:lnTo>
                  <a:pt x="1776555" y="368379"/>
                </a:lnTo>
                <a:lnTo>
                  <a:pt x="1780032" y="369271"/>
                </a:lnTo>
                <a:lnTo>
                  <a:pt x="1783509" y="370249"/>
                </a:lnTo>
                <a:lnTo>
                  <a:pt x="1786985" y="371254"/>
                </a:lnTo>
                <a:lnTo>
                  <a:pt x="1790462" y="372220"/>
                </a:lnTo>
                <a:lnTo>
                  <a:pt x="1793939" y="373071"/>
                </a:lnTo>
                <a:lnTo>
                  <a:pt x="1797415" y="373732"/>
                </a:lnTo>
                <a:lnTo>
                  <a:pt x="1800892" y="374133"/>
                </a:lnTo>
                <a:lnTo>
                  <a:pt x="1804368" y="374213"/>
                </a:lnTo>
                <a:lnTo>
                  <a:pt x="1807845" y="373925"/>
                </a:lnTo>
                <a:lnTo>
                  <a:pt x="1811322" y="373239"/>
                </a:lnTo>
                <a:lnTo>
                  <a:pt x="1814798" y="372147"/>
                </a:lnTo>
                <a:lnTo>
                  <a:pt x="1818275" y="370666"/>
                </a:lnTo>
                <a:lnTo>
                  <a:pt x="1821752" y="368834"/>
                </a:lnTo>
                <a:lnTo>
                  <a:pt x="1825228" y="366713"/>
                </a:lnTo>
                <a:lnTo>
                  <a:pt x="1828705" y="364382"/>
                </a:lnTo>
                <a:lnTo>
                  <a:pt x="1832181" y="361941"/>
                </a:lnTo>
                <a:lnTo>
                  <a:pt x="1835658" y="359498"/>
                </a:lnTo>
                <a:lnTo>
                  <a:pt x="1839135" y="357170"/>
                </a:lnTo>
                <a:lnTo>
                  <a:pt x="1842611" y="355071"/>
                </a:lnTo>
                <a:lnTo>
                  <a:pt x="1846088" y="353311"/>
                </a:lnTo>
                <a:lnTo>
                  <a:pt x="1849565" y="351988"/>
                </a:lnTo>
                <a:lnTo>
                  <a:pt x="1853041" y="351181"/>
                </a:lnTo>
                <a:lnTo>
                  <a:pt x="1856518" y="350948"/>
                </a:lnTo>
                <a:lnTo>
                  <a:pt x="1859994" y="351319"/>
                </a:lnTo>
                <a:lnTo>
                  <a:pt x="1863471" y="352300"/>
                </a:lnTo>
                <a:lnTo>
                  <a:pt x="1866948" y="353865"/>
                </a:lnTo>
                <a:lnTo>
                  <a:pt x="1870424" y="355961"/>
                </a:lnTo>
                <a:lnTo>
                  <a:pt x="1873901" y="358511"/>
                </a:lnTo>
                <a:lnTo>
                  <a:pt x="1877378" y="361414"/>
                </a:lnTo>
                <a:lnTo>
                  <a:pt x="1880854" y="364552"/>
                </a:lnTo>
                <a:lnTo>
                  <a:pt x="1884331" y="367798"/>
                </a:lnTo>
                <a:lnTo>
                  <a:pt x="1887807" y="371016"/>
                </a:lnTo>
                <a:lnTo>
                  <a:pt x="1891284" y="374074"/>
                </a:lnTo>
                <a:lnTo>
                  <a:pt x="1894761" y="376846"/>
                </a:lnTo>
                <a:lnTo>
                  <a:pt x="1898237" y="379219"/>
                </a:lnTo>
                <a:lnTo>
                  <a:pt x="1901714" y="381102"/>
                </a:lnTo>
                <a:lnTo>
                  <a:pt x="1905190" y="382422"/>
                </a:lnTo>
                <a:lnTo>
                  <a:pt x="1908667" y="383136"/>
                </a:lnTo>
                <a:lnTo>
                  <a:pt x="1912144" y="383226"/>
                </a:lnTo>
                <a:lnTo>
                  <a:pt x="1915620" y="382704"/>
                </a:lnTo>
                <a:lnTo>
                  <a:pt x="1919097" y="381606"/>
                </a:lnTo>
                <a:lnTo>
                  <a:pt x="1922574" y="379995"/>
                </a:lnTo>
                <a:lnTo>
                  <a:pt x="1926050" y="377954"/>
                </a:lnTo>
                <a:lnTo>
                  <a:pt x="1929527" y="375580"/>
                </a:lnTo>
                <a:lnTo>
                  <a:pt x="1933004" y="372985"/>
                </a:lnTo>
                <a:lnTo>
                  <a:pt x="1936480" y="370283"/>
                </a:lnTo>
                <a:lnTo>
                  <a:pt x="1939957" y="367589"/>
                </a:lnTo>
                <a:lnTo>
                  <a:pt x="1943433" y="365014"/>
                </a:lnTo>
                <a:lnTo>
                  <a:pt x="1946910" y="362656"/>
                </a:lnTo>
                <a:lnTo>
                  <a:pt x="1950387" y="360599"/>
                </a:lnTo>
                <a:lnTo>
                  <a:pt x="1953863" y="358911"/>
                </a:lnTo>
                <a:lnTo>
                  <a:pt x="1957340" y="357637"/>
                </a:lnTo>
                <a:lnTo>
                  <a:pt x="1960817" y="356801"/>
                </a:lnTo>
                <a:lnTo>
                  <a:pt x="1964293" y="356408"/>
                </a:lnTo>
                <a:lnTo>
                  <a:pt x="1967770" y="356440"/>
                </a:lnTo>
                <a:lnTo>
                  <a:pt x="1971246" y="356861"/>
                </a:lnTo>
                <a:lnTo>
                  <a:pt x="1974723" y="357622"/>
                </a:lnTo>
                <a:lnTo>
                  <a:pt x="1978200" y="358660"/>
                </a:lnTo>
                <a:lnTo>
                  <a:pt x="1981676" y="359905"/>
                </a:lnTo>
                <a:lnTo>
                  <a:pt x="1985153" y="361282"/>
                </a:lnTo>
                <a:lnTo>
                  <a:pt x="1988629" y="362717"/>
                </a:lnTo>
                <a:lnTo>
                  <a:pt x="1992106" y="364141"/>
                </a:lnTo>
                <a:lnTo>
                  <a:pt x="1995583" y="365490"/>
                </a:lnTo>
                <a:lnTo>
                  <a:pt x="1999059" y="366713"/>
                </a:lnTo>
                <a:lnTo>
                  <a:pt x="2002536" y="367766"/>
                </a:lnTo>
                <a:lnTo>
                  <a:pt x="2006013" y="368622"/>
                </a:lnTo>
                <a:lnTo>
                  <a:pt x="2009489" y="369266"/>
                </a:lnTo>
                <a:lnTo>
                  <a:pt x="2012966" y="369695"/>
                </a:lnTo>
                <a:lnTo>
                  <a:pt x="2016443" y="369918"/>
                </a:lnTo>
                <a:lnTo>
                  <a:pt x="2019919" y="369955"/>
                </a:lnTo>
                <a:lnTo>
                  <a:pt x="2023396" y="369832"/>
                </a:lnTo>
                <a:lnTo>
                  <a:pt x="2026872" y="369582"/>
                </a:lnTo>
                <a:lnTo>
                  <a:pt x="2030349" y="369239"/>
                </a:lnTo>
                <a:lnTo>
                  <a:pt x="2033826" y="368841"/>
                </a:lnTo>
                <a:lnTo>
                  <a:pt x="2037302" y="368419"/>
                </a:lnTo>
                <a:lnTo>
                  <a:pt x="2040779" y="368004"/>
                </a:lnTo>
                <a:lnTo>
                  <a:pt x="2044256" y="367621"/>
                </a:lnTo>
                <a:lnTo>
                  <a:pt x="2047732" y="367287"/>
                </a:lnTo>
                <a:lnTo>
                  <a:pt x="2051209" y="367016"/>
                </a:lnTo>
                <a:lnTo>
                  <a:pt x="2054685" y="366812"/>
                </a:lnTo>
                <a:lnTo>
                  <a:pt x="2058162" y="366673"/>
                </a:lnTo>
                <a:lnTo>
                  <a:pt x="2061639" y="366594"/>
                </a:lnTo>
                <a:lnTo>
                  <a:pt x="2065115" y="366565"/>
                </a:lnTo>
                <a:lnTo>
                  <a:pt x="2068592" y="366572"/>
                </a:lnTo>
                <a:lnTo>
                  <a:pt x="2072068" y="366602"/>
                </a:lnTo>
                <a:lnTo>
                  <a:pt x="2075545" y="366641"/>
                </a:lnTo>
                <a:lnTo>
                  <a:pt x="2079022" y="366678"/>
                </a:lnTo>
                <a:lnTo>
                  <a:pt x="2082498" y="366703"/>
                </a:lnTo>
                <a:lnTo>
                  <a:pt x="2085975" y="366713"/>
                </a:lnTo>
                <a:lnTo>
                  <a:pt x="2089452" y="366704"/>
                </a:lnTo>
                <a:lnTo>
                  <a:pt x="2092928" y="366679"/>
                </a:lnTo>
                <a:lnTo>
                  <a:pt x="2096405" y="366645"/>
                </a:lnTo>
                <a:lnTo>
                  <a:pt x="2099882" y="366610"/>
                </a:lnTo>
                <a:lnTo>
                  <a:pt x="2103358" y="366585"/>
                </a:lnTo>
                <a:lnTo>
                  <a:pt x="2106835" y="366582"/>
                </a:lnTo>
                <a:lnTo>
                  <a:pt x="2110311" y="366610"/>
                </a:lnTo>
                <a:lnTo>
                  <a:pt x="2113788" y="366679"/>
                </a:lnTo>
                <a:lnTo>
                  <a:pt x="2117265" y="366795"/>
                </a:lnTo>
                <a:lnTo>
                  <a:pt x="2120741" y="366961"/>
                </a:lnTo>
                <a:lnTo>
                  <a:pt x="2124218" y="367174"/>
                </a:lnTo>
                <a:lnTo>
                  <a:pt x="2127695" y="367427"/>
                </a:lnTo>
                <a:lnTo>
                  <a:pt x="2131171" y="367708"/>
                </a:lnTo>
                <a:lnTo>
                  <a:pt x="2134648" y="368001"/>
                </a:lnTo>
                <a:lnTo>
                  <a:pt x="2138124" y="368288"/>
                </a:lnTo>
                <a:lnTo>
                  <a:pt x="2141601" y="368546"/>
                </a:lnTo>
                <a:lnTo>
                  <a:pt x="2145078" y="368753"/>
                </a:lnTo>
                <a:lnTo>
                  <a:pt x="2148554" y="368887"/>
                </a:lnTo>
                <a:lnTo>
                  <a:pt x="2152031" y="368927"/>
                </a:lnTo>
                <a:lnTo>
                  <a:pt x="2155507" y="368858"/>
                </a:lnTo>
                <a:lnTo>
                  <a:pt x="2158984" y="368669"/>
                </a:lnTo>
                <a:lnTo>
                  <a:pt x="2162461" y="368354"/>
                </a:lnTo>
                <a:lnTo>
                  <a:pt x="2165937" y="367915"/>
                </a:lnTo>
                <a:lnTo>
                  <a:pt x="2169414" y="367363"/>
                </a:lnTo>
                <a:lnTo>
                  <a:pt x="2172891" y="366713"/>
                </a:lnTo>
                <a:lnTo>
                  <a:pt x="2176367" y="365988"/>
                </a:lnTo>
                <a:lnTo>
                  <a:pt x="2179844" y="365219"/>
                </a:lnTo>
                <a:lnTo>
                  <a:pt x="2183321" y="364439"/>
                </a:lnTo>
                <a:lnTo>
                  <a:pt x="2186797" y="363684"/>
                </a:lnTo>
                <a:lnTo>
                  <a:pt x="2190274" y="362993"/>
                </a:lnTo>
                <a:lnTo>
                  <a:pt x="2193750" y="362403"/>
                </a:lnTo>
                <a:lnTo>
                  <a:pt x="2197227" y="361946"/>
                </a:lnTo>
                <a:lnTo>
                  <a:pt x="2200704" y="361652"/>
                </a:lnTo>
                <a:lnTo>
                  <a:pt x="2204180" y="361543"/>
                </a:lnTo>
                <a:lnTo>
                  <a:pt x="2207657" y="361633"/>
                </a:lnTo>
                <a:lnTo>
                  <a:pt x="2211134" y="361926"/>
                </a:lnTo>
                <a:lnTo>
                  <a:pt x="2214610" y="362419"/>
                </a:lnTo>
                <a:lnTo>
                  <a:pt x="2218087" y="363098"/>
                </a:lnTo>
                <a:lnTo>
                  <a:pt x="2221563" y="363938"/>
                </a:lnTo>
                <a:lnTo>
                  <a:pt x="2225040" y="364909"/>
                </a:lnTo>
                <a:lnTo>
                  <a:pt x="2228517" y="365973"/>
                </a:lnTo>
                <a:lnTo>
                  <a:pt x="2231993" y="367086"/>
                </a:lnTo>
                <a:lnTo>
                  <a:pt x="2235470" y="368203"/>
                </a:lnTo>
                <a:lnTo>
                  <a:pt x="2238946" y="369276"/>
                </a:lnTo>
                <a:lnTo>
                  <a:pt x="2242423" y="370262"/>
                </a:lnTo>
                <a:lnTo>
                  <a:pt x="2245900" y="371118"/>
                </a:lnTo>
                <a:lnTo>
                  <a:pt x="2249376" y="371809"/>
                </a:lnTo>
                <a:lnTo>
                  <a:pt x="2252853" y="372307"/>
                </a:lnTo>
                <a:lnTo>
                  <a:pt x="2256330" y="372593"/>
                </a:lnTo>
                <a:lnTo>
                  <a:pt x="2259806" y="372657"/>
                </a:lnTo>
                <a:lnTo>
                  <a:pt x="2263283" y="372500"/>
                </a:lnTo>
                <a:lnTo>
                  <a:pt x="2266760" y="372131"/>
                </a:lnTo>
                <a:lnTo>
                  <a:pt x="2270236" y="371570"/>
                </a:lnTo>
                <a:lnTo>
                  <a:pt x="2273713" y="370845"/>
                </a:lnTo>
                <a:lnTo>
                  <a:pt x="2277189" y="369989"/>
                </a:lnTo>
                <a:lnTo>
                  <a:pt x="2280666" y="369042"/>
                </a:lnTo>
                <a:lnTo>
                  <a:pt x="2284143" y="368045"/>
                </a:lnTo>
                <a:lnTo>
                  <a:pt x="2287619" y="367041"/>
                </a:lnTo>
                <a:lnTo>
                  <a:pt x="2291096" y="366072"/>
                </a:lnTo>
                <a:lnTo>
                  <a:pt x="2294573" y="365176"/>
                </a:lnTo>
                <a:lnTo>
                  <a:pt x="2298049" y="364386"/>
                </a:lnTo>
                <a:lnTo>
                  <a:pt x="2301526" y="363730"/>
                </a:lnTo>
                <a:lnTo>
                  <a:pt x="2305002" y="363226"/>
                </a:lnTo>
                <a:lnTo>
                  <a:pt x="2308479" y="362888"/>
                </a:lnTo>
                <a:lnTo>
                  <a:pt x="2311956" y="362718"/>
                </a:lnTo>
                <a:lnTo>
                  <a:pt x="2315432" y="362712"/>
                </a:lnTo>
                <a:lnTo>
                  <a:pt x="2318909" y="362859"/>
                </a:lnTo>
                <a:lnTo>
                  <a:pt x="2322385" y="363140"/>
                </a:lnTo>
                <a:lnTo>
                  <a:pt x="2325862" y="363534"/>
                </a:lnTo>
                <a:lnTo>
                  <a:pt x="2329339" y="364014"/>
                </a:lnTo>
                <a:lnTo>
                  <a:pt x="2332815" y="364550"/>
                </a:lnTo>
                <a:lnTo>
                  <a:pt x="2336292" y="365115"/>
                </a:lnTo>
                <a:lnTo>
                  <a:pt x="2339769" y="365680"/>
                </a:lnTo>
                <a:lnTo>
                  <a:pt x="2343245" y="366220"/>
                </a:lnTo>
                <a:lnTo>
                  <a:pt x="2346722" y="366713"/>
                </a:lnTo>
                <a:lnTo>
                  <a:pt x="2350199" y="367141"/>
                </a:lnTo>
                <a:lnTo>
                  <a:pt x="2353675" y="367492"/>
                </a:lnTo>
                <a:lnTo>
                  <a:pt x="2357152" y="367759"/>
                </a:lnTo>
                <a:lnTo>
                  <a:pt x="2360628" y="367940"/>
                </a:lnTo>
                <a:lnTo>
                  <a:pt x="2364105" y="368037"/>
                </a:lnTo>
                <a:lnTo>
                  <a:pt x="2367582" y="368058"/>
                </a:lnTo>
                <a:lnTo>
                  <a:pt x="2371058" y="368012"/>
                </a:lnTo>
                <a:lnTo>
                  <a:pt x="2374535" y="367912"/>
                </a:lnTo>
                <a:lnTo>
                  <a:pt x="2378011" y="367773"/>
                </a:lnTo>
                <a:lnTo>
                  <a:pt x="2381488" y="367609"/>
                </a:lnTo>
                <a:lnTo>
                  <a:pt x="2384965" y="367434"/>
                </a:lnTo>
                <a:lnTo>
                  <a:pt x="2388441" y="367261"/>
                </a:lnTo>
                <a:lnTo>
                  <a:pt x="2391918" y="367099"/>
                </a:lnTo>
                <a:lnTo>
                  <a:pt x="2395395" y="366958"/>
                </a:lnTo>
                <a:lnTo>
                  <a:pt x="2398871" y="366843"/>
                </a:lnTo>
                <a:lnTo>
                  <a:pt x="2402348" y="366755"/>
                </a:lnTo>
                <a:lnTo>
                  <a:pt x="2405825" y="366696"/>
                </a:lnTo>
                <a:lnTo>
                  <a:pt x="2409301" y="366661"/>
                </a:lnTo>
                <a:lnTo>
                  <a:pt x="2412778" y="366648"/>
                </a:lnTo>
                <a:lnTo>
                  <a:pt x="2416254" y="366651"/>
                </a:lnTo>
                <a:lnTo>
                  <a:pt x="2419731" y="366664"/>
                </a:lnTo>
                <a:lnTo>
                  <a:pt x="2423208" y="366681"/>
                </a:lnTo>
                <a:lnTo>
                  <a:pt x="2426684" y="366697"/>
                </a:lnTo>
                <a:lnTo>
                  <a:pt x="2430161" y="366708"/>
                </a:lnTo>
                <a:lnTo>
                  <a:pt x="2433638" y="366713"/>
                </a:lnTo>
                <a:lnTo>
                  <a:pt x="2437114" y="366709"/>
                </a:lnTo>
                <a:lnTo>
                  <a:pt x="2440591" y="366698"/>
                </a:lnTo>
                <a:lnTo>
                  <a:pt x="2444067" y="366682"/>
                </a:lnTo>
                <a:lnTo>
                  <a:pt x="2447544" y="366666"/>
                </a:lnTo>
                <a:lnTo>
                  <a:pt x="2451021" y="366655"/>
                </a:lnTo>
                <a:lnTo>
                  <a:pt x="2454497" y="366653"/>
                </a:lnTo>
                <a:lnTo>
                  <a:pt x="2457974" y="366666"/>
                </a:lnTo>
                <a:lnTo>
                  <a:pt x="2461451" y="366697"/>
                </a:lnTo>
                <a:lnTo>
                  <a:pt x="2464927" y="366750"/>
                </a:lnTo>
                <a:lnTo>
                  <a:pt x="2468404" y="366827"/>
                </a:lnTo>
                <a:lnTo>
                  <a:pt x="2471880" y="366925"/>
                </a:lnTo>
                <a:lnTo>
                  <a:pt x="2475357" y="367042"/>
                </a:lnTo>
                <a:lnTo>
                  <a:pt x="2478834" y="367173"/>
                </a:lnTo>
                <a:lnTo>
                  <a:pt x="2482310" y="367311"/>
                </a:lnTo>
                <a:lnTo>
                  <a:pt x="2485787" y="367447"/>
                </a:lnTo>
                <a:lnTo>
                  <a:pt x="2489263" y="367569"/>
                </a:lnTo>
                <a:lnTo>
                  <a:pt x="2492740" y="367669"/>
                </a:lnTo>
                <a:lnTo>
                  <a:pt x="2496217" y="367734"/>
                </a:lnTo>
                <a:lnTo>
                  <a:pt x="2499693" y="367756"/>
                </a:lnTo>
                <a:lnTo>
                  <a:pt x="2503170" y="367727"/>
                </a:lnTo>
                <a:lnTo>
                  <a:pt x="2506647" y="367640"/>
                </a:lnTo>
                <a:lnTo>
                  <a:pt x="2510123" y="367493"/>
                </a:lnTo>
                <a:lnTo>
                  <a:pt x="2513600" y="367286"/>
                </a:lnTo>
                <a:lnTo>
                  <a:pt x="2517077" y="367023"/>
                </a:lnTo>
                <a:lnTo>
                  <a:pt x="2520553" y="366713"/>
                </a:lnTo>
                <a:lnTo>
                  <a:pt x="2524030" y="366364"/>
                </a:lnTo>
                <a:lnTo>
                  <a:pt x="2527506" y="365993"/>
                </a:lnTo>
                <a:lnTo>
                  <a:pt x="2530983" y="365614"/>
                </a:lnTo>
                <a:lnTo>
                  <a:pt x="2534460" y="365245"/>
                </a:lnTo>
                <a:lnTo>
                  <a:pt x="2537936" y="364906"/>
                </a:lnTo>
                <a:lnTo>
                  <a:pt x="2541413" y="364613"/>
                </a:lnTo>
                <a:lnTo>
                  <a:pt x="2544890" y="364385"/>
                </a:lnTo>
                <a:lnTo>
                  <a:pt x="2548366" y="364235"/>
                </a:lnTo>
                <a:lnTo>
                  <a:pt x="2551843" y="364175"/>
                </a:lnTo>
                <a:lnTo>
                  <a:pt x="2555319" y="364213"/>
                </a:lnTo>
                <a:lnTo>
                  <a:pt x="2558796" y="364351"/>
                </a:lnTo>
                <a:lnTo>
                  <a:pt x="2562273" y="364589"/>
                </a:lnTo>
                <a:lnTo>
                  <a:pt x="2565749" y="364920"/>
                </a:lnTo>
                <a:lnTo>
                  <a:pt x="2569226" y="365334"/>
                </a:lnTo>
                <a:lnTo>
                  <a:pt x="2572703" y="365814"/>
                </a:lnTo>
                <a:lnTo>
                  <a:pt x="2576179" y="366343"/>
                </a:lnTo>
                <a:lnTo>
                  <a:pt x="2579656" y="366900"/>
                </a:lnTo>
                <a:lnTo>
                  <a:pt x="2583132" y="367461"/>
                </a:lnTo>
                <a:lnTo>
                  <a:pt x="2586609" y="368002"/>
                </a:lnTo>
                <a:lnTo>
                  <a:pt x="2590086" y="368502"/>
                </a:lnTo>
                <a:lnTo>
                  <a:pt x="2593562" y="368939"/>
                </a:lnTo>
                <a:lnTo>
                  <a:pt x="2597039" y="369295"/>
                </a:lnTo>
                <a:lnTo>
                  <a:pt x="2600516" y="369554"/>
                </a:lnTo>
                <a:lnTo>
                  <a:pt x="2603992" y="369706"/>
                </a:lnTo>
                <a:lnTo>
                  <a:pt x="2607469" y="369746"/>
                </a:lnTo>
                <a:lnTo>
                  <a:pt x="2610945" y="369672"/>
                </a:lnTo>
                <a:lnTo>
                  <a:pt x="2614422" y="369490"/>
                </a:lnTo>
                <a:lnTo>
                  <a:pt x="2617899" y="369208"/>
                </a:lnTo>
                <a:lnTo>
                  <a:pt x="2621375" y="368840"/>
                </a:lnTo>
                <a:lnTo>
                  <a:pt x="2624852" y="368403"/>
                </a:lnTo>
                <a:lnTo>
                  <a:pt x="2628329" y="367917"/>
                </a:lnTo>
                <a:lnTo>
                  <a:pt x="2631805" y="367403"/>
                </a:lnTo>
                <a:lnTo>
                  <a:pt x="2635282" y="366883"/>
                </a:lnTo>
                <a:lnTo>
                  <a:pt x="2638758" y="366379"/>
                </a:lnTo>
                <a:lnTo>
                  <a:pt x="2642235" y="365911"/>
                </a:lnTo>
                <a:lnTo>
                  <a:pt x="2645712" y="365497"/>
                </a:lnTo>
                <a:lnTo>
                  <a:pt x="2649188" y="365150"/>
                </a:lnTo>
                <a:lnTo>
                  <a:pt x="2652665" y="364883"/>
                </a:lnTo>
                <a:lnTo>
                  <a:pt x="2656142" y="364701"/>
                </a:lnTo>
                <a:lnTo>
                  <a:pt x="2659618" y="364607"/>
                </a:lnTo>
                <a:lnTo>
                  <a:pt x="2663095" y="364599"/>
                </a:lnTo>
                <a:lnTo>
                  <a:pt x="2666571" y="364673"/>
                </a:lnTo>
                <a:lnTo>
                  <a:pt x="2670048" y="364818"/>
                </a:lnTo>
                <a:lnTo>
                  <a:pt x="2673525" y="365023"/>
                </a:lnTo>
                <a:lnTo>
                  <a:pt x="2677001" y="365275"/>
                </a:lnTo>
                <a:lnTo>
                  <a:pt x="2680478" y="365559"/>
                </a:lnTo>
                <a:lnTo>
                  <a:pt x="2683954" y="365858"/>
                </a:lnTo>
                <a:lnTo>
                  <a:pt x="2687431" y="366159"/>
                </a:lnTo>
                <a:lnTo>
                  <a:pt x="2690908" y="366448"/>
                </a:lnTo>
                <a:lnTo>
                  <a:pt x="2694384" y="366713"/>
                </a:lnTo>
                <a:lnTo>
                  <a:pt x="2697861" y="366943"/>
                </a:lnTo>
                <a:lnTo>
                  <a:pt x="2701338" y="367133"/>
                </a:lnTo>
                <a:lnTo>
                  <a:pt x="2704814" y="367279"/>
                </a:lnTo>
                <a:lnTo>
                  <a:pt x="2708291" y="367378"/>
                </a:lnTo>
                <a:lnTo>
                  <a:pt x="2711768" y="367432"/>
                </a:lnTo>
                <a:lnTo>
                  <a:pt x="2715244" y="367444"/>
                </a:lnTo>
                <a:lnTo>
                  <a:pt x="2718721" y="367421"/>
                </a:lnTo>
                <a:lnTo>
                  <a:pt x="2722197" y="367368"/>
                </a:lnTo>
                <a:lnTo>
                  <a:pt x="2725674" y="367293"/>
                </a:lnTo>
                <a:lnTo>
                  <a:pt x="2729151" y="367204"/>
                </a:lnTo>
                <a:lnTo>
                  <a:pt x="2732627" y="367109"/>
                </a:lnTo>
                <a:lnTo>
                  <a:pt x="2736104" y="367014"/>
                </a:lnTo>
                <a:lnTo>
                  <a:pt x="2739581" y="366926"/>
                </a:lnTo>
                <a:lnTo>
                  <a:pt x="2743057" y="366848"/>
                </a:lnTo>
                <a:lnTo>
                  <a:pt x="2746534" y="366785"/>
                </a:lnTo>
                <a:lnTo>
                  <a:pt x="2750010" y="366736"/>
                </a:lnTo>
                <a:lnTo>
                  <a:pt x="2753487" y="366703"/>
                </a:lnTo>
                <a:lnTo>
                  <a:pt x="2756964" y="366684"/>
                </a:lnTo>
                <a:lnTo>
                  <a:pt x="2760440" y="366677"/>
                </a:lnTo>
                <a:lnTo>
                  <a:pt x="2763917" y="366678"/>
                </a:lnTo>
                <a:lnTo>
                  <a:pt x="2767393" y="366685"/>
                </a:lnTo>
                <a:lnTo>
                  <a:pt x="2770870" y="366695"/>
                </a:lnTo>
                <a:lnTo>
                  <a:pt x="2774347" y="366704"/>
                </a:lnTo>
                <a:lnTo>
                  <a:pt x="2777823" y="366710"/>
                </a:lnTo>
                <a:lnTo>
                  <a:pt x="2781300" y="366713"/>
                </a:lnTo>
              </a:path>
            </a:pathLst>
          </a:custGeom>
          <a:noFill xmlns:a="http://schemas.openxmlformats.org/drawingml/2006/main"/>
          <a:ln xmlns:a="http://schemas.openxmlformats.org/drawingml/2006/main" w="15240">
            <a:solidFill>
              <a:srgbClr val="202020"/>
            </a:solidFill>
          </a:ln>
        </p:spPr>
      </p:sp>
      <p:sp>
        <p:nvSpPr>
          <p:cNvPr id="23" name="!!qam-qam-modulate-g1-r1-wave">
            <a:extLst xmlns:a="http://schemas.openxmlformats.org/drawingml/2006/main">
              <a:ext uri="{FF2B5EF4-FFF2-40B4-BE49-F238E27FC236}">
                <a16:creationId xmlns:a16="http://schemas.microsoft.com/office/drawing/2014/main" id="{BD24C59E-0701-49A9-8007-89C5516932D3}"/>
              </a:ext>
            </a:extLst>
          </p:cNvPr>
          <p:cNvSpPr>
            <a:spLocks xmlns:a="http://schemas.openxmlformats.org/drawingml/2006/main" noGrp="1"/>
          </p:cNvSpPr>
          <p:nvPr/>
        </p:nvSpPr>
        <p:spPr>
          <a:xfrm xmlns:a="http://schemas.openxmlformats.org/drawingml/2006/main">
            <a:off x="4572000" y="3845277"/>
            <a:ext cx="2781300" cy="405696"/>
          </a:xfrm>
          <a:custGeom xmlns:a="http://schemas.openxmlformats.org/drawingml/2006/main">
            <a:pathLst>
              <a:path w="2781300" h="405696">
                <a:moveTo>
                  <a:pt x="0" y="202848"/>
                </a:moveTo>
                <a:lnTo>
                  <a:pt x="3477" y="202665"/>
                </a:lnTo>
                <a:lnTo>
                  <a:pt x="6953" y="202465"/>
                </a:lnTo>
                <a:lnTo>
                  <a:pt x="10430" y="202257"/>
                </a:lnTo>
                <a:lnTo>
                  <a:pt x="13906" y="202049"/>
                </a:lnTo>
                <a:lnTo>
                  <a:pt x="17383" y="201851"/>
                </a:lnTo>
                <a:lnTo>
                  <a:pt x="20860" y="201673"/>
                </a:lnTo>
                <a:lnTo>
                  <a:pt x="24336" y="201525"/>
                </a:lnTo>
                <a:lnTo>
                  <a:pt x="27813" y="201417"/>
                </a:lnTo>
                <a:lnTo>
                  <a:pt x="31290" y="201358"/>
                </a:lnTo>
                <a:lnTo>
                  <a:pt x="34766" y="201354"/>
                </a:lnTo>
                <a:lnTo>
                  <a:pt x="38243" y="201411"/>
                </a:lnTo>
                <a:lnTo>
                  <a:pt x="41719" y="201531"/>
                </a:lnTo>
                <a:lnTo>
                  <a:pt x="45196" y="201714"/>
                </a:lnTo>
                <a:lnTo>
                  <a:pt x="48673" y="201958"/>
                </a:lnTo>
                <a:lnTo>
                  <a:pt x="52149" y="202255"/>
                </a:lnTo>
                <a:lnTo>
                  <a:pt x="55626" y="202599"/>
                </a:lnTo>
                <a:lnTo>
                  <a:pt x="59103" y="202977"/>
                </a:lnTo>
                <a:lnTo>
                  <a:pt x="62579" y="203376"/>
                </a:lnTo>
                <a:lnTo>
                  <a:pt x="66056" y="203781"/>
                </a:lnTo>
                <a:lnTo>
                  <a:pt x="69533" y="204175"/>
                </a:lnTo>
                <a:lnTo>
                  <a:pt x="73009" y="204542"/>
                </a:lnTo>
                <a:lnTo>
                  <a:pt x="76486" y="204865"/>
                </a:lnTo>
                <a:lnTo>
                  <a:pt x="79962" y="205129"/>
                </a:lnTo>
                <a:lnTo>
                  <a:pt x="83439" y="205319"/>
                </a:lnTo>
                <a:lnTo>
                  <a:pt x="86916" y="205425"/>
                </a:lnTo>
                <a:lnTo>
                  <a:pt x="90392" y="205439"/>
                </a:lnTo>
                <a:lnTo>
                  <a:pt x="93869" y="205354"/>
                </a:lnTo>
                <a:lnTo>
                  <a:pt x="97346" y="205172"/>
                </a:lnTo>
                <a:lnTo>
                  <a:pt x="100822" y="204894"/>
                </a:lnTo>
                <a:lnTo>
                  <a:pt x="104299" y="204529"/>
                </a:lnTo>
                <a:lnTo>
                  <a:pt x="107775" y="204088"/>
                </a:lnTo>
                <a:lnTo>
                  <a:pt x="111252" y="203584"/>
                </a:lnTo>
                <a:lnTo>
                  <a:pt x="114729" y="203037"/>
                </a:lnTo>
                <a:lnTo>
                  <a:pt x="118205" y="202466"/>
                </a:lnTo>
                <a:lnTo>
                  <a:pt x="121682" y="201892"/>
                </a:lnTo>
                <a:lnTo>
                  <a:pt x="125158" y="201339"/>
                </a:lnTo>
                <a:lnTo>
                  <a:pt x="128635" y="200828"/>
                </a:lnTo>
                <a:lnTo>
                  <a:pt x="132112" y="200380"/>
                </a:lnTo>
                <a:lnTo>
                  <a:pt x="135588" y="200013"/>
                </a:lnTo>
                <a:lnTo>
                  <a:pt x="139065" y="199744"/>
                </a:lnTo>
                <a:lnTo>
                  <a:pt x="142542" y="199585"/>
                </a:lnTo>
                <a:lnTo>
                  <a:pt x="146018" y="199542"/>
                </a:lnTo>
                <a:lnTo>
                  <a:pt x="149495" y="199621"/>
                </a:lnTo>
                <a:lnTo>
                  <a:pt x="152972" y="199818"/>
                </a:lnTo>
                <a:lnTo>
                  <a:pt x="156448" y="200128"/>
                </a:lnTo>
                <a:lnTo>
                  <a:pt x="159925" y="200539"/>
                </a:lnTo>
                <a:lnTo>
                  <a:pt x="163401" y="201037"/>
                </a:lnTo>
                <a:lnTo>
                  <a:pt x="166878" y="201602"/>
                </a:lnTo>
                <a:lnTo>
                  <a:pt x="170355" y="202214"/>
                </a:lnTo>
                <a:lnTo>
                  <a:pt x="173831" y="202848"/>
                </a:lnTo>
                <a:lnTo>
                  <a:pt x="177308" y="203481"/>
                </a:lnTo>
                <a:lnTo>
                  <a:pt x="180785" y="204087"/>
                </a:lnTo>
                <a:lnTo>
                  <a:pt x="184261" y="204645"/>
                </a:lnTo>
                <a:lnTo>
                  <a:pt x="187738" y="205133"/>
                </a:lnTo>
                <a:lnTo>
                  <a:pt x="191214" y="205533"/>
                </a:lnTo>
                <a:lnTo>
                  <a:pt x="194691" y="205831"/>
                </a:lnTo>
                <a:lnTo>
                  <a:pt x="198168" y="206017"/>
                </a:lnTo>
                <a:lnTo>
                  <a:pt x="201644" y="206084"/>
                </a:lnTo>
                <a:lnTo>
                  <a:pt x="205121" y="206033"/>
                </a:lnTo>
                <a:lnTo>
                  <a:pt x="208597" y="205868"/>
                </a:lnTo>
                <a:lnTo>
                  <a:pt x="212074" y="205597"/>
                </a:lnTo>
                <a:lnTo>
                  <a:pt x="215551" y="205234"/>
                </a:lnTo>
                <a:lnTo>
                  <a:pt x="219027" y="204793"/>
                </a:lnTo>
                <a:lnTo>
                  <a:pt x="222504" y="204296"/>
                </a:lnTo>
                <a:lnTo>
                  <a:pt x="225981" y="203761"/>
                </a:lnTo>
                <a:lnTo>
                  <a:pt x="229457" y="203212"/>
                </a:lnTo>
                <a:lnTo>
                  <a:pt x="232934" y="202669"/>
                </a:lnTo>
                <a:lnTo>
                  <a:pt x="236410" y="202154"/>
                </a:lnTo>
                <a:lnTo>
                  <a:pt x="239887" y="201686"/>
                </a:lnTo>
                <a:lnTo>
                  <a:pt x="243364" y="201280"/>
                </a:lnTo>
                <a:lnTo>
                  <a:pt x="246840" y="200951"/>
                </a:lnTo>
                <a:lnTo>
                  <a:pt x="250317" y="200707"/>
                </a:lnTo>
                <a:lnTo>
                  <a:pt x="253794" y="200554"/>
                </a:lnTo>
                <a:lnTo>
                  <a:pt x="257270" y="200494"/>
                </a:lnTo>
                <a:lnTo>
                  <a:pt x="260747" y="200523"/>
                </a:lnTo>
                <a:lnTo>
                  <a:pt x="264224" y="200637"/>
                </a:lnTo>
                <a:lnTo>
                  <a:pt x="267700" y="200825"/>
                </a:lnTo>
                <a:lnTo>
                  <a:pt x="271177" y="201076"/>
                </a:lnTo>
                <a:lnTo>
                  <a:pt x="274653" y="201374"/>
                </a:lnTo>
                <a:lnTo>
                  <a:pt x="278130" y="201706"/>
                </a:lnTo>
                <a:lnTo>
                  <a:pt x="281607" y="202054"/>
                </a:lnTo>
                <a:lnTo>
                  <a:pt x="285083" y="202404"/>
                </a:lnTo>
                <a:lnTo>
                  <a:pt x="288560" y="202741"/>
                </a:lnTo>
                <a:lnTo>
                  <a:pt x="292037" y="203051"/>
                </a:lnTo>
                <a:lnTo>
                  <a:pt x="295513" y="203325"/>
                </a:lnTo>
                <a:lnTo>
                  <a:pt x="298990" y="203552"/>
                </a:lnTo>
                <a:lnTo>
                  <a:pt x="302466" y="203729"/>
                </a:lnTo>
                <a:lnTo>
                  <a:pt x="305943" y="203851"/>
                </a:lnTo>
                <a:lnTo>
                  <a:pt x="309420" y="203920"/>
                </a:lnTo>
                <a:lnTo>
                  <a:pt x="312896" y="203937"/>
                </a:lnTo>
                <a:lnTo>
                  <a:pt x="316373" y="203907"/>
                </a:lnTo>
                <a:lnTo>
                  <a:pt x="319850" y="203838"/>
                </a:lnTo>
                <a:lnTo>
                  <a:pt x="323326" y="203736"/>
                </a:lnTo>
                <a:lnTo>
                  <a:pt x="326803" y="203612"/>
                </a:lnTo>
                <a:lnTo>
                  <a:pt x="330279" y="203473"/>
                </a:lnTo>
                <a:lnTo>
                  <a:pt x="333756" y="203330"/>
                </a:lnTo>
                <a:lnTo>
                  <a:pt x="337233" y="203189"/>
                </a:lnTo>
                <a:lnTo>
                  <a:pt x="340709" y="203059"/>
                </a:lnTo>
                <a:lnTo>
                  <a:pt x="344186" y="202944"/>
                </a:lnTo>
                <a:lnTo>
                  <a:pt x="347663" y="202848"/>
                </a:lnTo>
                <a:lnTo>
                  <a:pt x="351139" y="202774"/>
                </a:lnTo>
                <a:lnTo>
                  <a:pt x="354616" y="202723"/>
                </a:lnTo>
                <a:lnTo>
                  <a:pt x="358092" y="202692"/>
                </a:lnTo>
                <a:lnTo>
                  <a:pt x="361569" y="202681"/>
                </a:lnTo>
                <a:lnTo>
                  <a:pt x="365046" y="202686"/>
                </a:lnTo>
                <a:lnTo>
                  <a:pt x="368522" y="202702"/>
                </a:lnTo>
                <a:lnTo>
                  <a:pt x="371999" y="202726"/>
                </a:lnTo>
                <a:lnTo>
                  <a:pt x="375475" y="202754"/>
                </a:lnTo>
                <a:lnTo>
                  <a:pt x="378952" y="202781"/>
                </a:lnTo>
                <a:lnTo>
                  <a:pt x="382429" y="202805"/>
                </a:lnTo>
                <a:lnTo>
                  <a:pt x="385905" y="202825"/>
                </a:lnTo>
                <a:lnTo>
                  <a:pt x="389382" y="202838"/>
                </a:lnTo>
                <a:lnTo>
                  <a:pt x="392859" y="202845"/>
                </a:lnTo>
                <a:lnTo>
                  <a:pt x="396335" y="202848"/>
                </a:lnTo>
                <a:lnTo>
                  <a:pt x="399812" y="202848"/>
                </a:lnTo>
                <a:lnTo>
                  <a:pt x="403289" y="202847"/>
                </a:lnTo>
                <a:lnTo>
                  <a:pt x="406765" y="202849"/>
                </a:lnTo>
                <a:lnTo>
                  <a:pt x="410242" y="202857"/>
                </a:lnTo>
                <a:lnTo>
                  <a:pt x="413718" y="202872"/>
                </a:lnTo>
                <a:lnTo>
                  <a:pt x="417195" y="202898"/>
                </a:lnTo>
                <a:lnTo>
                  <a:pt x="420672" y="202934"/>
                </a:lnTo>
                <a:lnTo>
                  <a:pt x="424148" y="202980"/>
                </a:lnTo>
                <a:lnTo>
                  <a:pt x="427625" y="203035"/>
                </a:lnTo>
                <a:lnTo>
                  <a:pt x="431101" y="203094"/>
                </a:lnTo>
                <a:lnTo>
                  <a:pt x="434578" y="203154"/>
                </a:lnTo>
                <a:lnTo>
                  <a:pt x="438055" y="203209"/>
                </a:lnTo>
                <a:lnTo>
                  <a:pt x="441531" y="203251"/>
                </a:lnTo>
                <a:lnTo>
                  <a:pt x="445008" y="203276"/>
                </a:lnTo>
                <a:lnTo>
                  <a:pt x="448485" y="203274"/>
                </a:lnTo>
                <a:lnTo>
                  <a:pt x="451961" y="203241"/>
                </a:lnTo>
                <a:lnTo>
                  <a:pt x="455438" y="203171"/>
                </a:lnTo>
                <a:lnTo>
                  <a:pt x="458914" y="203060"/>
                </a:lnTo>
                <a:lnTo>
                  <a:pt x="462391" y="202908"/>
                </a:lnTo>
                <a:lnTo>
                  <a:pt x="465868" y="202715"/>
                </a:lnTo>
                <a:lnTo>
                  <a:pt x="469344" y="202486"/>
                </a:lnTo>
                <a:lnTo>
                  <a:pt x="472821" y="202228"/>
                </a:lnTo>
                <a:lnTo>
                  <a:pt x="476298" y="201950"/>
                </a:lnTo>
                <a:lnTo>
                  <a:pt x="479774" y="201665"/>
                </a:lnTo>
                <a:lnTo>
                  <a:pt x="483251" y="201387"/>
                </a:lnTo>
                <a:lnTo>
                  <a:pt x="486728" y="201133"/>
                </a:lnTo>
                <a:lnTo>
                  <a:pt x="490204" y="200919"/>
                </a:lnTo>
                <a:lnTo>
                  <a:pt x="493681" y="200762"/>
                </a:lnTo>
                <a:lnTo>
                  <a:pt x="497157" y="200678"/>
                </a:lnTo>
                <a:lnTo>
                  <a:pt x="500634" y="200681"/>
                </a:lnTo>
                <a:lnTo>
                  <a:pt x="504111" y="200783"/>
                </a:lnTo>
                <a:lnTo>
                  <a:pt x="507587" y="200989"/>
                </a:lnTo>
                <a:lnTo>
                  <a:pt x="511064" y="201304"/>
                </a:lnTo>
                <a:lnTo>
                  <a:pt x="514540" y="201725"/>
                </a:lnTo>
                <a:lnTo>
                  <a:pt x="518017" y="202244"/>
                </a:lnTo>
                <a:lnTo>
                  <a:pt x="521494" y="202848"/>
                </a:lnTo>
                <a:lnTo>
                  <a:pt x="524970" y="203518"/>
                </a:lnTo>
                <a:lnTo>
                  <a:pt x="528447" y="204230"/>
                </a:lnTo>
                <a:lnTo>
                  <a:pt x="531924" y="204958"/>
                </a:lnTo>
                <a:lnTo>
                  <a:pt x="535400" y="205670"/>
                </a:lnTo>
                <a:lnTo>
                  <a:pt x="538877" y="206334"/>
                </a:lnTo>
                <a:lnTo>
                  <a:pt x="542354" y="206916"/>
                </a:lnTo>
                <a:lnTo>
                  <a:pt x="545830" y="207386"/>
                </a:lnTo>
                <a:lnTo>
                  <a:pt x="549307" y="207713"/>
                </a:lnTo>
                <a:lnTo>
                  <a:pt x="552783" y="207873"/>
                </a:lnTo>
                <a:lnTo>
                  <a:pt x="556260" y="207846"/>
                </a:lnTo>
                <a:lnTo>
                  <a:pt x="559737" y="207620"/>
                </a:lnTo>
                <a:lnTo>
                  <a:pt x="563213" y="207191"/>
                </a:lnTo>
                <a:lnTo>
                  <a:pt x="566690" y="206561"/>
                </a:lnTo>
                <a:lnTo>
                  <a:pt x="570167" y="205745"/>
                </a:lnTo>
                <a:lnTo>
                  <a:pt x="573643" y="204764"/>
                </a:lnTo>
                <a:lnTo>
                  <a:pt x="577120" y="203648"/>
                </a:lnTo>
                <a:lnTo>
                  <a:pt x="580596" y="202435"/>
                </a:lnTo>
                <a:lnTo>
                  <a:pt x="584073" y="201169"/>
                </a:lnTo>
                <a:lnTo>
                  <a:pt x="587550" y="199897"/>
                </a:lnTo>
                <a:lnTo>
                  <a:pt x="591026" y="198671"/>
                </a:lnTo>
                <a:lnTo>
                  <a:pt x="594503" y="197542"/>
                </a:lnTo>
                <a:lnTo>
                  <a:pt x="597979" y="196560"/>
                </a:lnTo>
                <a:lnTo>
                  <a:pt x="601456" y="195769"/>
                </a:lnTo>
                <a:lnTo>
                  <a:pt x="604933" y="195211"/>
                </a:lnTo>
                <a:lnTo>
                  <a:pt x="608409" y="194917"/>
                </a:lnTo>
                <a:lnTo>
                  <a:pt x="611886" y="194909"/>
                </a:lnTo>
                <a:lnTo>
                  <a:pt x="615363" y="195197"/>
                </a:lnTo>
                <a:lnTo>
                  <a:pt x="618839" y="195780"/>
                </a:lnTo>
                <a:lnTo>
                  <a:pt x="622316" y="196647"/>
                </a:lnTo>
                <a:lnTo>
                  <a:pt x="625793" y="197772"/>
                </a:lnTo>
                <a:lnTo>
                  <a:pt x="629269" y="199119"/>
                </a:lnTo>
                <a:lnTo>
                  <a:pt x="632746" y="200641"/>
                </a:lnTo>
                <a:lnTo>
                  <a:pt x="636222" y="202284"/>
                </a:lnTo>
                <a:lnTo>
                  <a:pt x="639699" y="203987"/>
                </a:lnTo>
                <a:lnTo>
                  <a:pt x="643176" y="205686"/>
                </a:lnTo>
                <a:lnTo>
                  <a:pt x="646652" y="207315"/>
                </a:lnTo>
                <a:lnTo>
                  <a:pt x="650129" y="208809"/>
                </a:lnTo>
                <a:lnTo>
                  <a:pt x="653606" y="210110"/>
                </a:lnTo>
                <a:lnTo>
                  <a:pt x="657082" y="211163"/>
                </a:lnTo>
                <a:lnTo>
                  <a:pt x="660559" y="211925"/>
                </a:lnTo>
                <a:lnTo>
                  <a:pt x="664035" y="212363"/>
                </a:lnTo>
                <a:lnTo>
                  <a:pt x="667512" y="212458"/>
                </a:lnTo>
                <a:lnTo>
                  <a:pt x="670989" y="212202"/>
                </a:lnTo>
                <a:lnTo>
                  <a:pt x="674465" y="211605"/>
                </a:lnTo>
                <a:lnTo>
                  <a:pt x="677942" y="210686"/>
                </a:lnTo>
                <a:lnTo>
                  <a:pt x="681418" y="209482"/>
                </a:lnTo>
                <a:lnTo>
                  <a:pt x="684895" y="208036"/>
                </a:lnTo>
                <a:lnTo>
                  <a:pt x="688372" y="206406"/>
                </a:lnTo>
                <a:lnTo>
                  <a:pt x="691848" y="204654"/>
                </a:lnTo>
                <a:lnTo>
                  <a:pt x="695325" y="202848"/>
                </a:lnTo>
                <a:lnTo>
                  <a:pt x="698802" y="201057"/>
                </a:lnTo>
                <a:lnTo>
                  <a:pt x="702278" y="199351"/>
                </a:lnTo>
                <a:lnTo>
                  <a:pt x="705755" y="197792"/>
                </a:lnTo>
                <a:lnTo>
                  <a:pt x="709232" y="196440"/>
                </a:lnTo>
                <a:lnTo>
                  <a:pt x="712708" y="195343"/>
                </a:lnTo>
                <a:lnTo>
                  <a:pt x="716185" y="194539"/>
                </a:lnTo>
                <a:lnTo>
                  <a:pt x="719661" y="194054"/>
                </a:lnTo>
                <a:lnTo>
                  <a:pt x="723138" y="193899"/>
                </a:lnTo>
                <a:lnTo>
                  <a:pt x="726615" y="194072"/>
                </a:lnTo>
                <a:lnTo>
                  <a:pt x="730091" y="194560"/>
                </a:lnTo>
                <a:lnTo>
                  <a:pt x="733568" y="195333"/>
                </a:lnTo>
                <a:lnTo>
                  <a:pt x="737045" y="196354"/>
                </a:lnTo>
                <a:lnTo>
                  <a:pt x="740521" y="197576"/>
                </a:lnTo>
                <a:lnTo>
                  <a:pt x="743998" y="198943"/>
                </a:lnTo>
                <a:lnTo>
                  <a:pt x="747474" y="200396"/>
                </a:lnTo>
                <a:lnTo>
                  <a:pt x="750951" y="201876"/>
                </a:lnTo>
                <a:lnTo>
                  <a:pt x="754428" y="203323"/>
                </a:lnTo>
                <a:lnTo>
                  <a:pt x="757904" y="204681"/>
                </a:lnTo>
                <a:lnTo>
                  <a:pt x="761381" y="205902"/>
                </a:lnTo>
                <a:lnTo>
                  <a:pt x="764857" y="206942"/>
                </a:lnTo>
                <a:lnTo>
                  <a:pt x="768334" y="207769"/>
                </a:lnTo>
                <a:lnTo>
                  <a:pt x="771811" y="208364"/>
                </a:lnTo>
                <a:lnTo>
                  <a:pt x="775287" y="208714"/>
                </a:lnTo>
                <a:lnTo>
                  <a:pt x="778764" y="208821"/>
                </a:lnTo>
                <a:lnTo>
                  <a:pt x="782241" y="208696"/>
                </a:lnTo>
                <a:lnTo>
                  <a:pt x="785717" y="208361"/>
                </a:lnTo>
                <a:lnTo>
                  <a:pt x="789194" y="207844"/>
                </a:lnTo>
                <a:lnTo>
                  <a:pt x="792671" y="207180"/>
                </a:lnTo>
                <a:lnTo>
                  <a:pt x="796147" y="206411"/>
                </a:lnTo>
                <a:lnTo>
                  <a:pt x="799624" y="205577"/>
                </a:lnTo>
                <a:lnTo>
                  <a:pt x="803100" y="204720"/>
                </a:lnTo>
                <a:lnTo>
                  <a:pt x="806577" y="203880"/>
                </a:lnTo>
                <a:lnTo>
                  <a:pt x="810054" y="203093"/>
                </a:lnTo>
                <a:lnTo>
                  <a:pt x="813530" y="202389"/>
                </a:lnTo>
                <a:lnTo>
                  <a:pt x="817007" y="201793"/>
                </a:lnTo>
                <a:lnTo>
                  <a:pt x="820483" y="201319"/>
                </a:lnTo>
                <a:lnTo>
                  <a:pt x="823960" y="200976"/>
                </a:lnTo>
                <a:lnTo>
                  <a:pt x="827437" y="200766"/>
                </a:lnTo>
                <a:lnTo>
                  <a:pt x="830913" y="200681"/>
                </a:lnTo>
                <a:lnTo>
                  <a:pt x="834390" y="200710"/>
                </a:lnTo>
                <a:lnTo>
                  <a:pt x="837867" y="200835"/>
                </a:lnTo>
                <a:lnTo>
                  <a:pt x="841343" y="201034"/>
                </a:lnTo>
                <a:lnTo>
                  <a:pt x="844820" y="201285"/>
                </a:lnTo>
                <a:lnTo>
                  <a:pt x="848296" y="201565"/>
                </a:lnTo>
                <a:lnTo>
                  <a:pt x="851773" y="201852"/>
                </a:lnTo>
                <a:lnTo>
                  <a:pt x="855250" y="202127"/>
                </a:lnTo>
                <a:lnTo>
                  <a:pt x="858726" y="202372"/>
                </a:lnTo>
                <a:lnTo>
                  <a:pt x="862203" y="202578"/>
                </a:lnTo>
                <a:lnTo>
                  <a:pt x="865680" y="202737"/>
                </a:lnTo>
                <a:lnTo>
                  <a:pt x="869156" y="202848"/>
                </a:lnTo>
                <a:lnTo>
                  <a:pt x="872633" y="202913"/>
                </a:lnTo>
                <a:lnTo>
                  <a:pt x="876110" y="202939"/>
                </a:lnTo>
                <a:lnTo>
                  <a:pt x="879586" y="202935"/>
                </a:lnTo>
                <a:lnTo>
                  <a:pt x="883063" y="202913"/>
                </a:lnTo>
                <a:lnTo>
                  <a:pt x="886539" y="202884"/>
                </a:lnTo>
                <a:lnTo>
                  <a:pt x="890016" y="202860"/>
                </a:lnTo>
                <a:lnTo>
                  <a:pt x="893493" y="202848"/>
                </a:lnTo>
                <a:lnTo>
                  <a:pt x="896969" y="202855"/>
                </a:lnTo>
                <a:lnTo>
                  <a:pt x="900446" y="202883"/>
                </a:lnTo>
                <a:lnTo>
                  <a:pt x="903922" y="202929"/>
                </a:lnTo>
                <a:lnTo>
                  <a:pt x="907399" y="202986"/>
                </a:lnTo>
                <a:lnTo>
                  <a:pt x="910876" y="203043"/>
                </a:lnTo>
                <a:lnTo>
                  <a:pt x="914352" y="203086"/>
                </a:lnTo>
                <a:lnTo>
                  <a:pt x="917829" y="203098"/>
                </a:lnTo>
                <a:lnTo>
                  <a:pt x="921306" y="203061"/>
                </a:lnTo>
                <a:lnTo>
                  <a:pt x="924782" y="202959"/>
                </a:lnTo>
                <a:lnTo>
                  <a:pt x="928259" y="202778"/>
                </a:lnTo>
                <a:lnTo>
                  <a:pt x="931735" y="202509"/>
                </a:lnTo>
                <a:lnTo>
                  <a:pt x="935212" y="202148"/>
                </a:lnTo>
                <a:lnTo>
                  <a:pt x="938689" y="201698"/>
                </a:lnTo>
                <a:lnTo>
                  <a:pt x="942165" y="201173"/>
                </a:lnTo>
                <a:lnTo>
                  <a:pt x="945642" y="200594"/>
                </a:lnTo>
                <a:lnTo>
                  <a:pt x="949119" y="199990"/>
                </a:lnTo>
                <a:lnTo>
                  <a:pt x="952595" y="199400"/>
                </a:lnTo>
                <a:lnTo>
                  <a:pt x="956072" y="198868"/>
                </a:lnTo>
                <a:lnTo>
                  <a:pt x="959549" y="198444"/>
                </a:lnTo>
                <a:lnTo>
                  <a:pt x="963025" y="198180"/>
                </a:lnTo>
                <a:lnTo>
                  <a:pt x="966502" y="198126"/>
                </a:lnTo>
                <a:lnTo>
                  <a:pt x="969978" y="198328"/>
                </a:lnTo>
                <a:lnTo>
                  <a:pt x="973455" y="198825"/>
                </a:lnTo>
                <a:lnTo>
                  <a:pt x="976932" y="199644"/>
                </a:lnTo>
                <a:lnTo>
                  <a:pt x="980408" y="200799"/>
                </a:lnTo>
                <a:lnTo>
                  <a:pt x="983885" y="202283"/>
                </a:lnTo>
                <a:lnTo>
                  <a:pt x="987361" y="204075"/>
                </a:lnTo>
                <a:lnTo>
                  <a:pt x="990838" y="206129"/>
                </a:lnTo>
                <a:lnTo>
                  <a:pt x="994315" y="208381"/>
                </a:lnTo>
                <a:lnTo>
                  <a:pt x="997791" y="210747"/>
                </a:lnTo>
                <a:lnTo>
                  <a:pt x="1001268" y="213125"/>
                </a:lnTo>
                <a:lnTo>
                  <a:pt x="1004745" y="215399"/>
                </a:lnTo>
                <a:lnTo>
                  <a:pt x="1008221" y="217445"/>
                </a:lnTo>
                <a:lnTo>
                  <a:pt x="1011698" y="219131"/>
                </a:lnTo>
                <a:lnTo>
                  <a:pt x="1015175" y="220330"/>
                </a:lnTo>
                <a:lnTo>
                  <a:pt x="1018651" y="220923"/>
                </a:lnTo>
                <a:lnTo>
                  <a:pt x="1022128" y="220805"/>
                </a:lnTo>
                <a:lnTo>
                  <a:pt x="1025604" y="219894"/>
                </a:lnTo>
                <a:lnTo>
                  <a:pt x="1029081" y="218137"/>
                </a:lnTo>
                <a:lnTo>
                  <a:pt x="1032558" y="215515"/>
                </a:lnTo>
                <a:lnTo>
                  <a:pt x="1036034" y="212045"/>
                </a:lnTo>
                <a:lnTo>
                  <a:pt x="1039511" y="207789"/>
                </a:lnTo>
                <a:lnTo>
                  <a:pt x="1042988" y="202848"/>
                </a:lnTo>
                <a:lnTo>
                  <a:pt x="1046464" y="197366"/>
                </a:lnTo>
                <a:lnTo>
                  <a:pt x="1049941" y="191525"/>
                </a:lnTo>
                <a:lnTo>
                  <a:pt x="1053417" y="185540"/>
                </a:lnTo>
                <a:lnTo>
                  <a:pt x="1056894" y="179654"/>
                </a:lnTo>
                <a:lnTo>
                  <a:pt x="1060371" y="174127"/>
                </a:lnTo>
                <a:lnTo>
                  <a:pt x="1063847" y="169226"/>
                </a:lnTo>
                <a:lnTo>
                  <a:pt x="1067324" y="165216"/>
                </a:lnTo>
                <a:lnTo>
                  <a:pt x="1070800" y="162344"/>
                </a:lnTo>
                <a:lnTo>
                  <a:pt x="1074277" y="160830"/>
                </a:lnTo>
                <a:lnTo>
                  <a:pt x="1077754" y="160853"/>
                </a:lnTo>
                <a:lnTo>
                  <a:pt x="1081230" y="162542"/>
                </a:lnTo>
                <a:lnTo>
                  <a:pt x="1084707" y="165964"/>
                </a:lnTo>
                <a:lnTo>
                  <a:pt x="1088184" y="171119"/>
                </a:lnTo>
                <a:lnTo>
                  <a:pt x="1091660" y="177933"/>
                </a:lnTo>
                <a:lnTo>
                  <a:pt x="1095137" y="186256"/>
                </a:lnTo>
                <a:lnTo>
                  <a:pt x="1098614" y="195867"/>
                </a:lnTo>
                <a:lnTo>
                  <a:pt x="1102090" y="206473"/>
                </a:lnTo>
                <a:lnTo>
                  <a:pt x="1105567" y="217720"/>
                </a:lnTo>
                <a:lnTo>
                  <a:pt x="1109043" y="229202"/>
                </a:lnTo>
                <a:lnTo>
                  <a:pt x="1112520" y="240478"/>
                </a:lnTo>
                <a:lnTo>
                  <a:pt x="1115997" y="251085"/>
                </a:lnTo>
                <a:lnTo>
                  <a:pt x="1119473" y="260556"/>
                </a:lnTo>
                <a:lnTo>
                  <a:pt x="1122950" y="268444"/>
                </a:lnTo>
                <a:lnTo>
                  <a:pt x="1126427" y="274336"/>
                </a:lnTo>
                <a:lnTo>
                  <a:pt x="1129903" y="277874"/>
                </a:lnTo>
                <a:lnTo>
                  <a:pt x="1133380" y="278776"/>
                </a:lnTo>
                <a:lnTo>
                  <a:pt x="1136856" y="276848"/>
                </a:lnTo>
                <a:lnTo>
                  <a:pt x="1140333" y="271998"/>
                </a:lnTo>
                <a:lnTo>
                  <a:pt x="1143810" y="264248"/>
                </a:lnTo>
                <a:lnTo>
                  <a:pt x="1147286" y="253736"/>
                </a:lnTo>
                <a:lnTo>
                  <a:pt x="1150763" y="240715"/>
                </a:lnTo>
                <a:lnTo>
                  <a:pt x="1154240" y="225556"/>
                </a:lnTo>
                <a:lnTo>
                  <a:pt x="1157716" y="208731"/>
                </a:lnTo>
                <a:lnTo>
                  <a:pt x="1161193" y="190803"/>
                </a:lnTo>
                <a:lnTo>
                  <a:pt x="1164669" y="172407"/>
                </a:lnTo>
                <a:lnTo>
                  <a:pt x="1168146" y="154225"/>
                </a:lnTo>
                <a:lnTo>
                  <a:pt x="1171623" y="136967"/>
                </a:lnTo>
                <a:lnTo>
                  <a:pt x="1175099" y="121338"/>
                </a:lnTo>
                <a:lnTo>
                  <a:pt x="1178576" y="108013"/>
                </a:lnTo>
                <a:lnTo>
                  <a:pt x="1182053" y="97604"/>
                </a:lnTo>
                <a:lnTo>
                  <a:pt x="1185529" y="90641"/>
                </a:lnTo>
                <a:lnTo>
                  <a:pt x="1189006" y="87538"/>
                </a:lnTo>
                <a:lnTo>
                  <a:pt x="1192482" y="88579"/>
                </a:lnTo>
                <a:lnTo>
                  <a:pt x="1195959" y="93899"/>
                </a:lnTo>
                <a:lnTo>
                  <a:pt x="1199436" y="103471"/>
                </a:lnTo>
                <a:lnTo>
                  <a:pt x="1202912" y="117103"/>
                </a:lnTo>
                <a:lnTo>
                  <a:pt x="1206389" y="134438"/>
                </a:lnTo>
                <a:lnTo>
                  <a:pt x="1209865" y="154964"/>
                </a:lnTo>
                <a:lnTo>
                  <a:pt x="1213342" y="178026"/>
                </a:lnTo>
                <a:lnTo>
                  <a:pt x="1216819" y="202848"/>
                </a:lnTo>
                <a:lnTo>
                  <a:pt x="1220295" y="228559"/>
                </a:lnTo>
                <a:lnTo>
                  <a:pt x="1223772" y="254223"/>
                </a:lnTo>
                <a:lnTo>
                  <a:pt x="1227249" y="278876"/>
                </a:lnTo>
                <a:lnTo>
                  <a:pt x="1230725" y="301559"/>
                </a:lnTo>
                <a:lnTo>
                  <a:pt x="1234202" y="321360"/>
                </a:lnTo>
                <a:lnTo>
                  <a:pt x="1237679" y="337446"/>
                </a:lnTo>
                <a:lnTo>
                  <a:pt x="1241155" y="349102"/>
                </a:lnTo>
                <a:lnTo>
                  <a:pt x="1244632" y="355761"/>
                </a:lnTo>
                <a:lnTo>
                  <a:pt x="1248108" y="357027"/>
                </a:lnTo>
                <a:lnTo>
                  <a:pt x="1251585" y="352701"/>
                </a:lnTo>
                <a:lnTo>
                  <a:pt x="1255062" y="342789"/>
                </a:lnTo>
                <a:lnTo>
                  <a:pt x="1258538" y="327511"/>
                </a:lnTo>
                <a:lnTo>
                  <a:pt x="1262015" y="307294"/>
                </a:lnTo>
                <a:lnTo>
                  <a:pt x="1265492" y="282764"/>
                </a:lnTo>
                <a:lnTo>
                  <a:pt x="1268968" y="254725"/>
                </a:lnTo>
                <a:lnTo>
                  <a:pt x="1272445" y="224134"/>
                </a:lnTo>
                <a:lnTo>
                  <a:pt x="1275921" y="192064"/>
                </a:lnTo>
                <a:lnTo>
                  <a:pt x="1279398" y="159670"/>
                </a:lnTo>
                <a:lnTo>
                  <a:pt x="1282875" y="128144"/>
                </a:lnTo>
                <a:lnTo>
                  <a:pt x="1286351" y="98668"/>
                </a:lnTo>
                <a:lnTo>
                  <a:pt x="1289828" y="72374"/>
                </a:lnTo>
                <a:lnTo>
                  <a:pt x="1293304" y="50293"/>
                </a:lnTo>
                <a:lnTo>
                  <a:pt x="1296781" y="33320"/>
                </a:lnTo>
                <a:lnTo>
                  <a:pt x="1300258" y="22173"/>
                </a:lnTo>
                <a:lnTo>
                  <a:pt x="1303734" y="17363"/>
                </a:lnTo>
                <a:lnTo>
                  <a:pt x="1307211" y="19175"/>
                </a:lnTo>
                <a:lnTo>
                  <a:pt x="1310688" y="27647"/>
                </a:lnTo>
                <a:lnTo>
                  <a:pt x="1314164" y="42571"/>
                </a:lnTo>
                <a:lnTo>
                  <a:pt x="1317641" y="63492"/>
                </a:lnTo>
                <a:lnTo>
                  <a:pt x="1321118" y="89726"/>
                </a:lnTo>
                <a:lnTo>
                  <a:pt x="1324594" y="120382"/>
                </a:lnTo>
                <a:lnTo>
                  <a:pt x="1328071" y="154390"/>
                </a:lnTo>
                <a:lnTo>
                  <a:pt x="1331547" y="190543"/>
                </a:lnTo>
                <a:lnTo>
                  <a:pt x="1335024" y="227541"/>
                </a:lnTo>
                <a:lnTo>
                  <a:pt x="1338501" y="264039"/>
                </a:lnTo>
                <a:lnTo>
                  <a:pt x="1341977" y="298694"/>
                </a:lnTo>
                <a:lnTo>
                  <a:pt x="1345454" y="330221"/>
                </a:lnTo>
                <a:lnTo>
                  <a:pt x="1348931" y="357441"/>
                </a:lnTo>
                <a:lnTo>
                  <a:pt x="1352407" y="379323"/>
                </a:lnTo>
                <a:lnTo>
                  <a:pt x="1355884" y="395028"/>
                </a:lnTo>
                <a:lnTo>
                  <a:pt x="1359360" y="403941"/>
                </a:lnTo>
                <a:lnTo>
                  <a:pt x="1362837" y="405696"/>
                </a:lnTo>
                <a:lnTo>
                  <a:pt x="1366314" y="400189"/>
                </a:lnTo>
                <a:lnTo>
                  <a:pt x="1369790" y="387587"/>
                </a:lnTo>
                <a:lnTo>
                  <a:pt x="1373267" y="368318"/>
                </a:lnTo>
                <a:lnTo>
                  <a:pt x="1376743" y="343064"/>
                </a:lnTo>
                <a:lnTo>
                  <a:pt x="1380220" y="312725"/>
                </a:lnTo>
                <a:lnTo>
                  <a:pt x="1383697" y="278397"/>
                </a:lnTo>
                <a:lnTo>
                  <a:pt x="1387173" y="241322"/>
                </a:lnTo>
                <a:lnTo>
                  <a:pt x="1390650" y="202848"/>
                </a:lnTo>
                <a:lnTo>
                  <a:pt x="1394127" y="164374"/>
                </a:lnTo>
                <a:lnTo>
                  <a:pt x="1397603" y="127299"/>
                </a:lnTo>
                <a:lnTo>
                  <a:pt x="1401080" y="92971"/>
                </a:lnTo>
                <a:lnTo>
                  <a:pt x="1404557" y="62632"/>
                </a:lnTo>
                <a:lnTo>
                  <a:pt x="1408033" y="37378"/>
                </a:lnTo>
                <a:lnTo>
                  <a:pt x="1411510" y="18109"/>
                </a:lnTo>
                <a:lnTo>
                  <a:pt x="1414986" y="5507"/>
                </a:lnTo>
                <a:lnTo>
                  <a:pt x="1418463" y="0"/>
                </a:lnTo>
                <a:lnTo>
                  <a:pt x="1421940" y="1755"/>
                </a:lnTo>
                <a:lnTo>
                  <a:pt x="1425416" y="10668"/>
                </a:lnTo>
                <a:lnTo>
                  <a:pt x="1428893" y="26373"/>
                </a:lnTo>
                <a:lnTo>
                  <a:pt x="1432370" y="48255"/>
                </a:lnTo>
                <a:lnTo>
                  <a:pt x="1435846" y="75475"/>
                </a:lnTo>
                <a:lnTo>
                  <a:pt x="1439323" y="107002"/>
                </a:lnTo>
                <a:lnTo>
                  <a:pt x="1442799" y="141657"/>
                </a:lnTo>
                <a:lnTo>
                  <a:pt x="1446276" y="178154"/>
                </a:lnTo>
                <a:lnTo>
                  <a:pt x="1449753" y="215153"/>
                </a:lnTo>
                <a:lnTo>
                  <a:pt x="1453229" y="251306"/>
                </a:lnTo>
                <a:lnTo>
                  <a:pt x="1456706" y="285314"/>
                </a:lnTo>
                <a:lnTo>
                  <a:pt x="1460182" y="315970"/>
                </a:lnTo>
                <a:lnTo>
                  <a:pt x="1463659" y="342204"/>
                </a:lnTo>
                <a:lnTo>
                  <a:pt x="1467136" y="363125"/>
                </a:lnTo>
                <a:lnTo>
                  <a:pt x="1470612" y="378049"/>
                </a:lnTo>
                <a:lnTo>
                  <a:pt x="1474089" y="386521"/>
                </a:lnTo>
                <a:lnTo>
                  <a:pt x="1477566" y="388333"/>
                </a:lnTo>
                <a:lnTo>
                  <a:pt x="1481042" y="383523"/>
                </a:lnTo>
                <a:lnTo>
                  <a:pt x="1484519" y="372376"/>
                </a:lnTo>
                <a:lnTo>
                  <a:pt x="1487996" y="355403"/>
                </a:lnTo>
                <a:lnTo>
                  <a:pt x="1491472" y="333322"/>
                </a:lnTo>
                <a:lnTo>
                  <a:pt x="1494949" y="307028"/>
                </a:lnTo>
                <a:lnTo>
                  <a:pt x="1498425" y="277552"/>
                </a:lnTo>
                <a:lnTo>
                  <a:pt x="1501902" y="246026"/>
                </a:lnTo>
                <a:lnTo>
                  <a:pt x="1505379" y="213632"/>
                </a:lnTo>
                <a:lnTo>
                  <a:pt x="1508855" y="181562"/>
                </a:lnTo>
                <a:lnTo>
                  <a:pt x="1512332" y="150971"/>
                </a:lnTo>
                <a:lnTo>
                  <a:pt x="1515808" y="122932"/>
                </a:lnTo>
                <a:lnTo>
                  <a:pt x="1519285" y="98402"/>
                </a:lnTo>
                <a:lnTo>
                  <a:pt x="1522762" y="78185"/>
                </a:lnTo>
                <a:lnTo>
                  <a:pt x="1526238" y="62907"/>
                </a:lnTo>
                <a:lnTo>
                  <a:pt x="1529715" y="52995"/>
                </a:lnTo>
                <a:lnTo>
                  <a:pt x="1533192" y="48669"/>
                </a:lnTo>
                <a:lnTo>
                  <a:pt x="1536668" y="49935"/>
                </a:lnTo>
                <a:lnTo>
                  <a:pt x="1540145" y="56593"/>
                </a:lnTo>
                <a:lnTo>
                  <a:pt x="1543621" y="68250"/>
                </a:lnTo>
                <a:lnTo>
                  <a:pt x="1547098" y="84336"/>
                </a:lnTo>
                <a:lnTo>
                  <a:pt x="1550575" y="104137"/>
                </a:lnTo>
                <a:lnTo>
                  <a:pt x="1554051" y="126820"/>
                </a:lnTo>
                <a:lnTo>
                  <a:pt x="1557528" y="151473"/>
                </a:lnTo>
                <a:lnTo>
                  <a:pt x="1561005" y="177137"/>
                </a:lnTo>
                <a:lnTo>
                  <a:pt x="1564481" y="202848"/>
                </a:lnTo>
                <a:lnTo>
                  <a:pt x="1567958" y="227670"/>
                </a:lnTo>
                <a:lnTo>
                  <a:pt x="1571435" y="250732"/>
                </a:lnTo>
                <a:lnTo>
                  <a:pt x="1574911" y="271258"/>
                </a:lnTo>
                <a:lnTo>
                  <a:pt x="1578388" y="288593"/>
                </a:lnTo>
                <a:lnTo>
                  <a:pt x="1581864" y="302225"/>
                </a:lnTo>
                <a:lnTo>
                  <a:pt x="1585341" y="311797"/>
                </a:lnTo>
                <a:lnTo>
                  <a:pt x="1588818" y="317116"/>
                </a:lnTo>
                <a:lnTo>
                  <a:pt x="1592294" y="318158"/>
                </a:lnTo>
                <a:lnTo>
                  <a:pt x="1595771" y="315055"/>
                </a:lnTo>
                <a:lnTo>
                  <a:pt x="1599247" y="308092"/>
                </a:lnTo>
                <a:lnTo>
                  <a:pt x="1602724" y="297683"/>
                </a:lnTo>
                <a:lnTo>
                  <a:pt x="1606201" y="284357"/>
                </a:lnTo>
                <a:lnTo>
                  <a:pt x="1609677" y="268729"/>
                </a:lnTo>
                <a:lnTo>
                  <a:pt x="1613154" y="251471"/>
                </a:lnTo>
                <a:lnTo>
                  <a:pt x="1616631" y="233289"/>
                </a:lnTo>
                <a:lnTo>
                  <a:pt x="1620107" y="214893"/>
                </a:lnTo>
                <a:lnTo>
                  <a:pt x="1623584" y="196964"/>
                </a:lnTo>
                <a:lnTo>
                  <a:pt x="1627060" y="180140"/>
                </a:lnTo>
                <a:lnTo>
                  <a:pt x="1630537" y="164981"/>
                </a:lnTo>
                <a:lnTo>
                  <a:pt x="1634014" y="151960"/>
                </a:lnTo>
                <a:lnTo>
                  <a:pt x="1637490" y="141448"/>
                </a:lnTo>
                <a:lnTo>
                  <a:pt x="1640967" y="133697"/>
                </a:lnTo>
                <a:lnTo>
                  <a:pt x="1644444" y="128848"/>
                </a:lnTo>
                <a:lnTo>
                  <a:pt x="1647920" y="126920"/>
                </a:lnTo>
                <a:lnTo>
                  <a:pt x="1651397" y="127822"/>
                </a:lnTo>
                <a:lnTo>
                  <a:pt x="1654874" y="131360"/>
                </a:lnTo>
                <a:lnTo>
                  <a:pt x="1658350" y="137252"/>
                </a:lnTo>
                <a:lnTo>
                  <a:pt x="1661827" y="145140"/>
                </a:lnTo>
                <a:lnTo>
                  <a:pt x="1665303" y="154611"/>
                </a:lnTo>
                <a:lnTo>
                  <a:pt x="1668780" y="165218"/>
                </a:lnTo>
                <a:lnTo>
                  <a:pt x="1672257" y="176494"/>
                </a:lnTo>
                <a:lnTo>
                  <a:pt x="1675733" y="187976"/>
                </a:lnTo>
                <a:lnTo>
                  <a:pt x="1679210" y="199223"/>
                </a:lnTo>
                <a:lnTo>
                  <a:pt x="1682686" y="209829"/>
                </a:lnTo>
                <a:lnTo>
                  <a:pt x="1686163" y="219440"/>
                </a:lnTo>
                <a:lnTo>
                  <a:pt x="1689640" y="227763"/>
                </a:lnTo>
                <a:lnTo>
                  <a:pt x="1693116" y="234577"/>
                </a:lnTo>
                <a:lnTo>
                  <a:pt x="1696593" y="239731"/>
                </a:lnTo>
                <a:lnTo>
                  <a:pt x="1700070" y="243154"/>
                </a:lnTo>
                <a:lnTo>
                  <a:pt x="1703546" y="244842"/>
                </a:lnTo>
                <a:lnTo>
                  <a:pt x="1707023" y="244866"/>
                </a:lnTo>
                <a:lnTo>
                  <a:pt x="1710500" y="243352"/>
                </a:lnTo>
                <a:lnTo>
                  <a:pt x="1713976" y="240480"/>
                </a:lnTo>
                <a:lnTo>
                  <a:pt x="1717453" y="236470"/>
                </a:lnTo>
                <a:lnTo>
                  <a:pt x="1720929" y="231569"/>
                </a:lnTo>
                <a:lnTo>
                  <a:pt x="1724406" y="226042"/>
                </a:lnTo>
                <a:lnTo>
                  <a:pt x="1727883" y="220156"/>
                </a:lnTo>
                <a:lnTo>
                  <a:pt x="1731359" y="214171"/>
                </a:lnTo>
                <a:lnTo>
                  <a:pt x="1734836" y="208330"/>
                </a:lnTo>
                <a:lnTo>
                  <a:pt x="1738313" y="202848"/>
                </a:lnTo>
                <a:lnTo>
                  <a:pt x="1741789" y="197907"/>
                </a:lnTo>
                <a:lnTo>
                  <a:pt x="1745266" y="193651"/>
                </a:lnTo>
                <a:lnTo>
                  <a:pt x="1748742" y="190181"/>
                </a:lnTo>
                <a:lnTo>
                  <a:pt x="1752219" y="187559"/>
                </a:lnTo>
                <a:lnTo>
                  <a:pt x="1755696" y="185802"/>
                </a:lnTo>
                <a:lnTo>
                  <a:pt x="1759172" y="184891"/>
                </a:lnTo>
                <a:lnTo>
                  <a:pt x="1762649" y="184773"/>
                </a:lnTo>
                <a:lnTo>
                  <a:pt x="1766125" y="185366"/>
                </a:lnTo>
                <a:lnTo>
                  <a:pt x="1769602" y="186565"/>
                </a:lnTo>
                <a:lnTo>
                  <a:pt x="1773079" y="188251"/>
                </a:lnTo>
                <a:lnTo>
                  <a:pt x="1776555" y="190297"/>
                </a:lnTo>
                <a:lnTo>
                  <a:pt x="1780032" y="192571"/>
                </a:lnTo>
                <a:lnTo>
                  <a:pt x="1783509" y="194949"/>
                </a:lnTo>
                <a:lnTo>
                  <a:pt x="1786985" y="197315"/>
                </a:lnTo>
                <a:lnTo>
                  <a:pt x="1790462" y="199567"/>
                </a:lnTo>
                <a:lnTo>
                  <a:pt x="1793939" y="201621"/>
                </a:lnTo>
                <a:lnTo>
                  <a:pt x="1797415" y="203413"/>
                </a:lnTo>
                <a:lnTo>
                  <a:pt x="1800892" y="204897"/>
                </a:lnTo>
                <a:lnTo>
                  <a:pt x="1804368" y="206051"/>
                </a:lnTo>
                <a:lnTo>
                  <a:pt x="1807845" y="206871"/>
                </a:lnTo>
                <a:lnTo>
                  <a:pt x="1811322" y="207368"/>
                </a:lnTo>
                <a:lnTo>
                  <a:pt x="1814798" y="207570"/>
                </a:lnTo>
                <a:lnTo>
                  <a:pt x="1818275" y="207516"/>
                </a:lnTo>
                <a:lnTo>
                  <a:pt x="1821752" y="207252"/>
                </a:lnTo>
                <a:lnTo>
                  <a:pt x="1825228" y="206828"/>
                </a:lnTo>
                <a:lnTo>
                  <a:pt x="1828705" y="206296"/>
                </a:lnTo>
                <a:lnTo>
                  <a:pt x="1832181" y="205706"/>
                </a:lnTo>
                <a:lnTo>
                  <a:pt x="1835658" y="205102"/>
                </a:lnTo>
                <a:lnTo>
                  <a:pt x="1839135" y="204523"/>
                </a:lnTo>
                <a:lnTo>
                  <a:pt x="1842611" y="203998"/>
                </a:lnTo>
                <a:lnTo>
                  <a:pt x="1846088" y="203548"/>
                </a:lnTo>
                <a:lnTo>
                  <a:pt x="1849565" y="203187"/>
                </a:lnTo>
                <a:lnTo>
                  <a:pt x="1853041" y="202918"/>
                </a:lnTo>
                <a:lnTo>
                  <a:pt x="1856518" y="202737"/>
                </a:lnTo>
                <a:lnTo>
                  <a:pt x="1859994" y="202635"/>
                </a:lnTo>
                <a:lnTo>
                  <a:pt x="1863471" y="202598"/>
                </a:lnTo>
                <a:lnTo>
                  <a:pt x="1866948" y="202610"/>
                </a:lnTo>
                <a:lnTo>
                  <a:pt x="1870424" y="202653"/>
                </a:lnTo>
                <a:lnTo>
                  <a:pt x="1873901" y="202710"/>
                </a:lnTo>
                <a:lnTo>
                  <a:pt x="1877378" y="202767"/>
                </a:lnTo>
                <a:lnTo>
                  <a:pt x="1880854" y="202813"/>
                </a:lnTo>
                <a:lnTo>
                  <a:pt x="1884331" y="202840"/>
                </a:lnTo>
                <a:lnTo>
                  <a:pt x="1887807" y="202848"/>
                </a:lnTo>
                <a:lnTo>
                  <a:pt x="1891284" y="202836"/>
                </a:lnTo>
                <a:lnTo>
                  <a:pt x="1894761" y="202812"/>
                </a:lnTo>
                <a:lnTo>
                  <a:pt x="1898237" y="202783"/>
                </a:lnTo>
                <a:lnTo>
                  <a:pt x="1901714" y="202761"/>
                </a:lnTo>
                <a:lnTo>
                  <a:pt x="1905190" y="202757"/>
                </a:lnTo>
                <a:lnTo>
                  <a:pt x="1908667" y="202783"/>
                </a:lnTo>
                <a:lnTo>
                  <a:pt x="1912144" y="202848"/>
                </a:lnTo>
                <a:lnTo>
                  <a:pt x="1915620" y="202959"/>
                </a:lnTo>
                <a:lnTo>
                  <a:pt x="1919097" y="203118"/>
                </a:lnTo>
                <a:lnTo>
                  <a:pt x="1922574" y="203324"/>
                </a:lnTo>
                <a:lnTo>
                  <a:pt x="1926050" y="203569"/>
                </a:lnTo>
                <a:lnTo>
                  <a:pt x="1929527" y="203844"/>
                </a:lnTo>
                <a:lnTo>
                  <a:pt x="1933004" y="204131"/>
                </a:lnTo>
                <a:lnTo>
                  <a:pt x="1936480" y="204411"/>
                </a:lnTo>
                <a:lnTo>
                  <a:pt x="1939957" y="204662"/>
                </a:lnTo>
                <a:lnTo>
                  <a:pt x="1943433" y="204861"/>
                </a:lnTo>
                <a:lnTo>
                  <a:pt x="1946910" y="204986"/>
                </a:lnTo>
                <a:lnTo>
                  <a:pt x="1950387" y="205014"/>
                </a:lnTo>
                <a:lnTo>
                  <a:pt x="1953863" y="204930"/>
                </a:lnTo>
                <a:lnTo>
                  <a:pt x="1957340" y="204720"/>
                </a:lnTo>
                <a:lnTo>
                  <a:pt x="1960817" y="204377"/>
                </a:lnTo>
                <a:lnTo>
                  <a:pt x="1964293" y="203903"/>
                </a:lnTo>
                <a:lnTo>
                  <a:pt x="1967770" y="203306"/>
                </a:lnTo>
                <a:lnTo>
                  <a:pt x="1971246" y="202603"/>
                </a:lnTo>
                <a:lnTo>
                  <a:pt x="1974723" y="201816"/>
                </a:lnTo>
                <a:lnTo>
                  <a:pt x="1978200" y="200976"/>
                </a:lnTo>
                <a:lnTo>
                  <a:pt x="1981676" y="200119"/>
                </a:lnTo>
                <a:lnTo>
                  <a:pt x="1985153" y="199285"/>
                </a:lnTo>
                <a:lnTo>
                  <a:pt x="1988629" y="198515"/>
                </a:lnTo>
                <a:lnTo>
                  <a:pt x="1992106" y="197852"/>
                </a:lnTo>
                <a:lnTo>
                  <a:pt x="1995583" y="197335"/>
                </a:lnTo>
                <a:lnTo>
                  <a:pt x="1999059" y="197000"/>
                </a:lnTo>
                <a:lnTo>
                  <a:pt x="2002536" y="196875"/>
                </a:lnTo>
                <a:lnTo>
                  <a:pt x="2006013" y="196982"/>
                </a:lnTo>
                <a:lnTo>
                  <a:pt x="2009489" y="197332"/>
                </a:lnTo>
                <a:lnTo>
                  <a:pt x="2012966" y="197926"/>
                </a:lnTo>
                <a:lnTo>
                  <a:pt x="2016443" y="198754"/>
                </a:lnTo>
                <a:lnTo>
                  <a:pt x="2019919" y="199794"/>
                </a:lnTo>
                <a:lnTo>
                  <a:pt x="2023396" y="201014"/>
                </a:lnTo>
                <a:lnTo>
                  <a:pt x="2026872" y="202373"/>
                </a:lnTo>
                <a:lnTo>
                  <a:pt x="2030349" y="203820"/>
                </a:lnTo>
                <a:lnTo>
                  <a:pt x="2033826" y="205300"/>
                </a:lnTo>
                <a:lnTo>
                  <a:pt x="2037302" y="206753"/>
                </a:lnTo>
                <a:lnTo>
                  <a:pt x="2040779" y="208120"/>
                </a:lnTo>
                <a:lnTo>
                  <a:pt x="2044256" y="209341"/>
                </a:lnTo>
                <a:lnTo>
                  <a:pt x="2047732" y="210363"/>
                </a:lnTo>
                <a:lnTo>
                  <a:pt x="2051209" y="211136"/>
                </a:lnTo>
                <a:lnTo>
                  <a:pt x="2054685" y="211624"/>
                </a:lnTo>
                <a:lnTo>
                  <a:pt x="2058162" y="211797"/>
                </a:lnTo>
                <a:lnTo>
                  <a:pt x="2061639" y="211642"/>
                </a:lnTo>
                <a:lnTo>
                  <a:pt x="2065115" y="211156"/>
                </a:lnTo>
                <a:lnTo>
                  <a:pt x="2068592" y="210353"/>
                </a:lnTo>
                <a:lnTo>
                  <a:pt x="2072068" y="209256"/>
                </a:lnTo>
                <a:lnTo>
                  <a:pt x="2075545" y="207904"/>
                </a:lnTo>
                <a:lnTo>
                  <a:pt x="2079022" y="206345"/>
                </a:lnTo>
                <a:lnTo>
                  <a:pt x="2082498" y="204639"/>
                </a:lnTo>
                <a:lnTo>
                  <a:pt x="2085975" y="202848"/>
                </a:lnTo>
                <a:lnTo>
                  <a:pt x="2089452" y="201042"/>
                </a:lnTo>
                <a:lnTo>
                  <a:pt x="2092928" y="199290"/>
                </a:lnTo>
                <a:lnTo>
                  <a:pt x="2096405" y="197660"/>
                </a:lnTo>
                <a:lnTo>
                  <a:pt x="2099882" y="196214"/>
                </a:lnTo>
                <a:lnTo>
                  <a:pt x="2103358" y="195010"/>
                </a:lnTo>
                <a:lnTo>
                  <a:pt x="2106835" y="194091"/>
                </a:lnTo>
                <a:lnTo>
                  <a:pt x="2110311" y="193494"/>
                </a:lnTo>
                <a:lnTo>
                  <a:pt x="2113788" y="193238"/>
                </a:lnTo>
                <a:lnTo>
                  <a:pt x="2117265" y="193333"/>
                </a:lnTo>
                <a:lnTo>
                  <a:pt x="2120741" y="193771"/>
                </a:lnTo>
                <a:lnTo>
                  <a:pt x="2124218" y="194533"/>
                </a:lnTo>
                <a:lnTo>
                  <a:pt x="2127695" y="195586"/>
                </a:lnTo>
                <a:lnTo>
                  <a:pt x="2131171" y="196887"/>
                </a:lnTo>
                <a:lnTo>
                  <a:pt x="2134648" y="198381"/>
                </a:lnTo>
                <a:lnTo>
                  <a:pt x="2138124" y="200010"/>
                </a:lnTo>
                <a:lnTo>
                  <a:pt x="2141601" y="201709"/>
                </a:lnTo>
                <a:lnTo>
                  <a:pt x="2145078" y="203412"/>
                </a:lnTo>
                <a:lnTo>
                  <a:pt x="2148554" y="205055"/>
                </a:lnTo>
                <a:lnTo>
                  <a:pt x="2152031" y="206577"/>
                </a:lnTo>
                <a:lnTo>
                  <a:pt x="2155507" y="207924"/>
                </a:lnTo>
                <a:lnTo>
                  <a:pt x="2158984" y="209049"/>
                </a:lnTo>
                <a:lnTo>
                  <a:pt x="2162461" y="209915"/>
                </a:lnTo>
                <a:lnTo>
                  <a:pt x="2165937" y="210499"/>
                </a:lnTo>
                <a:lnTo>
                  <a:pt x="2169414" y="210787"/>
                </a:lnTo>
                <a:lnTo>
                  <a:pt x="2172891" y="210779"/>
                </a:lnTo>
                <a:lnTo>
                  <a:pt x="2176367" y="210484"/>
                </a:lnTo>
                <a:lnTo>
                  <a:pt x="2179844" y="209926"/>
                </a:lnTo>
                <a:lnTo>
                  <a:pt x="2183321" y="209136"/>
                </a:lnTo>
                <a:lnTo>
                  <a:pt x="2186797" y="208154"/>
                </a:lnTo>
                <a:lnTo>
                  <a:pt x="2190274" y="207025"/>
                </a:lnTo>
                <a:lnTo>
                  <a:pt x="2193750" y="205799"/>
                </a:lnTo>
                <a:lnTo>
                  <a:pt x="2197227" y="204527"/>
                </a:lnTo>
                <a:lnTo>
                  <a:pt x="2200704" y="203261"/>
                </a:lnTo>
                <a:lnTo>
                  <a:pt x="2204180" y="202048"/>
                </a:lnTo>
                <a:lnTo>
                  <a:pt x="2207657" y="200932"/>
                </a:lnTo>
                <a:lnTo>
                  <a:pt x="2211134" y="199951"/>
                </a:lnTo>
                <a:lnTo>
                  <a:pt x="2214610" y="199135"/>
                </a:lnTo>
                <a:lnTo>
                  <a:pt x="2218087" y="198505"/>
                </a:lnTo>
                <a:lnTo>
                  <a:pt x="2221563" y="198076"/>
                </a:lnTo>
                <a:lnTo>
                  <a:pt x="2225040" y="197850"/>
                </a:lnTo>
                <a:lnTo>
                  <a:pt x="2228517" y="197823"/>
                </a:lnTo>
                <a:lnTo>
                  <a:pt x="2231993" y="197983"/>
                </a:lnTo>
                <a:lnTo>
                  <a:pt x="2235470" y="198310"/>
                </a:lnTo>
                <a:lnTo>
                  <a:pt x="2238946" y="198779"/>
                </a:lnTo>
                <a:lnTo>
                  <a:pt x="2242423" y="199362"/>
                </a:lnTo>
                <a:lnTo>
                  <a:pt x="2245900" y="200026"/>
                </a:lnTo>
                <a:lnTo>
                  <a:pt x="2249376" y="200738"/>
                </a:lnTo>
                <a:lnTo>
                  <a:pt x="2252853" y="201466"/>
                </a:lnTo>
                <a:lnTo>
                  <a:pt x="2256330" y="202178"/>
                </a:lnTo>
                <a:lnTo>
                  <a:pt x="2259806" y="202848"/>
                </a:lnTo>
                <a:lnTo>
                  <a:pt x="2263283" y="203452"/>
                </a:lnTo>
                <a:lnTo>
                  <a:pt x="2266760" y="203971"/>
                </a:lnTo>
                <a:lnTo>
                  <a:pt x="2270236" y="204391"/>
                </a:lnTo>
                <a:lnTo>
                  <a:pt x="2273713" y="204706"/>
                </a:lnTo>
                <a:lnTo>
                  <a:pt x="2277189" y="204913"/>
                </a:lnTo>
                <a:lnTo>
                  <a:pt x="2280666" y="205015"/>
                </a:lnTo>
                <a:lnTo>
                  <a:pt x="2284143" y="205018"/>
                </a:lnTo>
                <a:lnTo>
                  <a:pt x="2287619" y="204934"/>
                </a:lnTo>
                <a:lnTo>
                  <a:pt x="2291096" y="204777"/>
                </a:lnTo>
                <a:lnTo>
                  <a:pt x="2294573" y="204563"/>
                </a:lnTo>
                <a:lnTo>
                  <a:pt x="2298049" y="204309"/>
                </a:lnTo>
                <a:lnTo>
                  <a:pt x="2301526" y="204031"/>
                </a:lnTo>
                <a:lnTo>
                  <a:pt x="2305002" y="203746"/>
                </a:lnTo>
                <a:lnTo>
                  <a:pt x="2308479" y="203468"/>
                </a:lnTo>
                <a:lnTo>
                  <a:pt x="2311956" y="203210"/>
                </a:lnTo>
                <a:lnTo>
                  <a:pt x="2315432" y="202981"/>
                </a:lnTo>
                <a:lnTo>
                  <a:pt x="2318909" y="202788"/>
                </a:lnTo>
                <a:lnTo>
                  <a:pt x="2322385" y="202636"/>
                </a:lnTo>
                <a:lnTo>
                  <a:pt x="2325862" y="202525"/>
                </a:lnTo>
                <a:lnTo>
                  <a:pt x="2329339" y="202455"/>
                </a:lnTo>
                <a:lnTo>
                  <a:pt x="2332815" y="202422"/>
                </a:lnTo>
                <a:lnTo>
                  <a:pt x="2336292" y="202420"/>
                </a:lnTo>
                <a:lnTo>
                  <a:pt x="2339769" y="202445"/>
                </a:lnTo>
                <a:lnTo>
                  <a:pt x="2343245" y="202487"/>
                </a:lnTo>
                <a:lnTo>
                  <a:pt x="2346722" y="202542"/>
                </a:lnTo>
                <a:lnTo>
                  <a:pt x="2350199" y="202602"/>
                </a:lnTo>
                <a:lnTo>
                  <a:pt x="2353675" y="202661"/>
                </a:lnTo>
                <a:lnTo>
                  <a:pt x="2357152" y="202716"/>
                </a:lnTo>
                <a:lnTo>
                  <a:pt x="2360628" y="202762"/>
                </a:lnTo>
                <a:lnTo>
                  <a:pt x="2364105" y="202798"/>
                </a:lnTo>
                <a:lnTo>
                  <a:pt x="2367582" y="202823"/>
                </a:lnTo>
                <a:lnTo>
                  <a:pt x="2371058" y="202839"/>
                </a:lnTo>
                <a:lnTo>
                  <a:pt x="2374535" y="202847"/>
                </a:lnTo>
                <a:lnTo>
                  <a:pt x="2378011" y="202849"/>
                </a:lnTo>
                <a:lnTo>
                  <a:pt x="2381488" y="202848"/>
                </a:lnTo>
                <a:lnTo>
                  <a:pt x="2384965" y="202848"/>
                </a:lnTo>
                <a:lnTo>
                  <a:pt x="2388441" y="202851"/>
                </a:lnTo>
                <a:lnTo>
                  <a:pt x="2391918" y="202858"/>
                </a:lnTo>
                <a:lnTo>
                  <a:pt x="2395395" y="202871"/>
                </a:lnTo>
                <a:lnTo>
                  <a:pt x="2398871" y="202890"/>
                </a:lnTo>
                <a:lnTo>
                  <a:pt x="2402348" y="202915"/>
                </a:lnTo>
                <a:lnTo>
                  <a:pt x="2405825" y="202942"/>
                </a:lnTo>
                <a:lnTo>
                  <a:pt x="2409301" y="202970"/>
                </a:lnTo>
                <a:lnTo>
                  <a:pt x="2412778" y="202994"/>
                </a:lnTo>
                <a:lnTo>
                  <a:pt x="2416254" y="203010"/>
                </a:lnTo>
                <a:lnTo>
                  <a:pt x="2419731" y="203015"/>
                </a:lnTo>
                <a:lnTo>
                  <a:pt x="2423208" y="203004"/>
                </a:lnTo>
                <a:lnTo>
                  <a:pt x="2426684" y="202973"/>
                </a:lnTo>
                <a:lnTo>
                  <a:pt x="2430161" y="202922"/>
                </a:lnTo>
                <a:lnTo>
                  <a:pt x="2433638" y="202848"/>
                </a:lnTo>
                <a:lnTo>
                  <a:pt x="2437114" y="202752"/>
                </a:lnTo>
                <a:lnTo>
                  <a:pt x="2440591" y="202637"/>
                </a:lnTo>
                <a:lnTo>
                  <a:pt x="2444067" y="202507"/>
                </a:lnTo>
                <a:lnTo>
                  <a:pt x="2447544" y="202366"/>
                </a:lnTo>
                <a:lnTo>
                  <a:pt x="2451021" y="202223"/>
                </a:lnTo>
                <a:lnTo>
                  <a:pt x="2454497" y="202084"/>
                </a:lnTo>
                <a:lnTo>
                  <a:pt x="2457974" y="201960"/>
                </a:lnTo>
                <a:lnTo>
                  <a:pt x="2461451" y="201858"/>
                </a:lnTo>
                <a:lnTo>
                  <a:pt x="2464927" y="201789"/>
                </a:lnTo>
                <a:lnTo>
                  <a:pt x="2468404" y="201759"/>
                </a:lnTo>
                <a:lnTo>
                  <a:pt x="2471880" y="201776"/>
                </a:lnTo>
                <a:lnTo>
                  <a:pt x="2475357" y="201845"/>
                </a:lnTo>
                <a:lnTo>
                  <a:pt x="2478834" y="201967"/>
                </a:lnTo>
                <a:lnTo>
                  <a:pt x="2482310" y="202143"/>
                </a:lnTo>
                <a:lnTo>
                  <a:pt x="2485787" y="202371"/>
                </a:lnTo>
                <a:lnTo>
                  <a:pt x="2489263" y="202644"/>
                </a:lnTo>
                <a:lnTo>
                  <a:pt x="2492740" y="202955"/>
                </a:lnTo>
                <a:lnTo>
                  <a:pt x="2496217" y="203292"/>
                </a:lnTo>
                <a:lnTo>
                  <a:pt x="2499693" y="203642"/>
                </a:lnTo>
                <a:lnTo>
                  <a:pt x="2503170" y="203990"/>
                </a:lnTo>
                <a:lnTo>
                  <a:pt x="2506647" y="204322"/>
                </a:lnTo>
                <a:lnTo>
                  <a:pt x="2510123" y="204620"/>
                </a:lnTo>
                <a:lnTo>
                  <a:pt x="2513600" y="204871"/>
                </a:lnTo>
                <a:lnTo>
                  <a:pt x="2517077" y="205059"/>
                </a:lnTo>
                <a:lnTo>
                  <a:pt x="2520553" y="205173"/>
                </a:lnTo>
                <a:lnTo>
                  <a:pt x="2524030" y="205202"/>
                </a:lnTo>
                <a:lnTo>
                  <a:pt x="2527506" y="205142"/>
                </a:lnTo>
                <a:lnTo>
                  <a:pt x="2530983" y="204989"/>
                </a:lnTo>
                <a:lnTo>
                  <a:pt x="2534460" y="204745"/>
                </a:lnTo>
                <a:lnTo>
                  <a:pt x="2537936" y="204416"/>
                </a:lnTo>
                <a:lnTo>
                  <a:pt x="2541413" y="204010"/>
                </a:lnTo>
                <a:lnTo>
                  <a:pt x="2544890" y="203542"/>
                </a:lnTo>
                <a:lnTo>
                  <a:pt x="2548366" y="203027"/>
                </a:lnTo>
                <a:lnTo>
                  <a:pt x="2551843" y="202484"/>
                </a:lnTo>
                <a:lnTo>
                  <a:pt x="2555319" y="201935"/>
                </a:lnTo>
                <a:lnTo>
                  <a:pt x="2558796" y="201400"/>
                </a:lnTo>
                <a:lnTo>
                  <a:pt x="2562273" y="200902"/>
                </a:lnTo>
                <a:lnTo>
                  <a:pt x="2565749" y="200462"/>
                </a:lnTo>
                <a:lnTo>
                  <a:pt x="2569226" y="200099"/>
                </a:lnTo>
                <a:lnTo>
                  <a:pt x="2572703" y="199828"/>
                </a:lnTo>
                <a:lnTo>
                  <a:pt x="2576179" y="199663"/>
                </a:lnTo>
                <a:lnTo>
                  <a:pt x="2579656" y="199612"/>
                </a:lnTo>
                <a:lnTo>
                  <a:pt x="2583132" y="199679"/>
                </a:lnTo>
                <a:lnTo>
                  <a:pt x="2586609" y="199865"/>
                </a:lnTo>
                <a:lnTo>
                  <a:pt x="2590086" y="200163"/>
                </a:lnTo>
                <a:lnTo>
                  <a:pt x="2593562" y="200563"/>
                </a:lnTo>
                <a:lnTo>
                  <a:pt x="2597039" y="201051"/>
                </a:lnTo>
                <a:lnTo>
                  <a:pt x="2600516" y="201609"/>
                </a:lnTo>
                <a:lnTo>
                  <a:pt x="2603992" y="202215"/>
                </a:lnTo>
                <a:lnTo>
                  <a:pt x="2607469" y="202848"/>
                </a:lnTo>
                <a:lnTo>
                  <a:pt x="2610945" y="203482"/>
                </a:lnTo>
                <a:lnTo>
                  <a:pt x="2614422" y="204094"/>
                </a:lnTo>
                <a:lnTo>
                  <a:pt x="2617899" y="204659"/>
                </a:lnTo>
                <a:lnTo>
                  <a:pt x="2621375" y="205157"/>
                </a:lnTo>
                <a:lnTo>
                  <a:pt x="2624852" y="205568"/>
                </a:lnTo>
                <a:lnTo>
                  <a:pt x="2628329" y="205878"/>
                </a:lnTo>
                <a:lnTo>
                  <a:pt x="2631805" y="206075"/>
                </a:lnTo>
                <a:lnTo>
                  <a:pt x="2635282" y="206153"/>
                </a:lnTo>
                <a:lnTo>
                  <a:pt x="2638758" y="206111"/>
                </a:lnTo>
                <a:lnTo>
                  <a:pt x="2642235" y="205952"/>
                </a:lnTo>
                <a:lnTo>
                  <a:pt x="2645712" y="205683"/>
                </a:lnTo>
                <a:lnTo>
                  <a:pt x="2649188" y="205316"/>
                </a:lnTo>
                <a:lnTo>
                  <a:pt x="2652665" y="204868"/>
                </a:lnTo>
                <a:lnTo>
                  <a:pt x="2656142" y="204357"/>
                </a:lnTo>
                <a:lnTo>
                  <a:pt x="2659618" y="203804"/>
                </a:lnTo>
                <a:lnTo>
                  <a:pt x="2663095" y="203230"/>
                </a:lnTo>
                <a:lnTo>
                  <a:pt x="2666571" y="202659"/>
                </a:lnTo>
                <a:lnTo>
                  <a:pt x="2670048" y="202112"/>
                </a:lnTo>
                <a:lnTo>
                  <a:pt x="2673525" y="201608"/>
                </a:lnTo>
                <a:lnTo>
                  <a:pt x="2677001" y="201167"/>
                </a:lnTo>
                <a:lnTo>
                  <a:pt x="2680478" y="200801"/>
                </a:lnTo>
                <a:lnTo>
                  <a:pt x="2683954" y="200524"/>
                </a:lnTo>
                <a:lnTo>
                  <a:pt x="2687431" y="200342"/>
                </a:lnTo>
                <a:lnTo>
                  <a:pt x="2690908" y="200257"/>
                </a:lnTo>
                <a:lnTo>
                  <a:pt x="2694384" y="200271"/>
                </a:lnTo>
                <a:lnTo>
                  <a:pt x="2697861" y="200377"/>
                </a:lnTo>
                <a:lnTo>
                  <a:pt x="2701338" y="200567"/>
                </a:lnTo>
                <a:lnTo>
                  <a:pt x="2704814" y="200831"/>
                </a:lnTo>
                <a:lnTo>
                  <a:pt x="2708291" y="201154"/>
                </a:lnTo>
                <a:lnTo>
                  <a:pt x="2711768" y="201521"/>
                </a:lnTo>
                <a:lnTo>
                  <a:pt x="2715244" y="201915"/>
                </a:lnTo>
                <a:lnTo>
                  <a:pt x="2718721" y="202320"/>
                </a:lnTo>
                <a:lnTo>
                  <a:pt x="2722197" y="202719"/>
                </a:lnTo>
                <a:lnTo>
                  <a:pt x="2725674" y="203097"/>
                </a:lnTo>
                <a:lnTo>
                  <a:pt x="2729151" y="203441"/>
                </a:lnTo>
                <a:lnTo>
                  <a:pt x="2732627" y="203738"/>
                </a:lnTo>
                <a:lnTo>
                  <a:pt x="2736104" y="203982"/>
                </a:lnTo>
                <a:lnTo>
                  <a:pt x="2739581" y="204165"/>
                </a:lnTo>
                <a:lnTo>
                  <a:pt x="2743057" y="204285"/>
                </a:lnTo>
                <a:lnTo>
                  <a:pt x="2746534" y="204342"/>
                </a:lnTo>
                <a:lnTo>
                  <a:pt x="2750010" y="204338"/>
                </a:lnTo>
                <a:lnTo>
                  <a:pt x="2753487" y="204279"/>
                </a:lnTo>
                <a:lnTo>
                  <a:pt x="2756964" y="204171"/>
                </a:lnTo>
                <a:lnTo>
                  <a:pt x="2760440" y="204023"/>
                </a:lnTo>
                <a:lnTo>
                  <a:pt x="2763917" y="203845"/>
                </a:lnTo>
                <a:lnTo>
                  <a:pt x="2767393" y="203647"/>
                </a:lnTo>
                <a:lnTo>
                  <a:pt x="2770870" y="203439"/>
                </a:lnTo>
                <a:lnTo>
                  <a:pt x="2774347" y="203231"/>
                </a:lnTo>
                <a:lnTo>
                  <a:pt x="2777823" y="203031"/>
                </a:lnTo>
                <a:lnTo>
                  <a:pt x="2781300" y="202848"/>
                </a:lnTo>
              </a:path>
            </a:pathLst>
          </a:custGeom>
          <a:noFill xmlns:a="http://schemas.openxmlformats.org/drawingml/2006/main"/>
          <a:ln xmlns:a="http://schemas.openxmlformats.org/drawingml/2006/main" w="15240">
            <a:solidFill>
              <a:srgbClr val="202020"/>
            </a:solidFill>
          </a:ln>
        </p:spPr>
      </p:sp>
      <p:sp>
        <p:nvSpPr>
          <p:cNvPr id="24" name="!!qam-qam-add-arrow-line">
            <a:extLst xmlns:a="http://schemas.openxmlformats.org/drawingml/2006/main">
              <a:ext uri="{FF2B5EF4-FFF2-40B4-BE49-F238E27FC236}">
                <a16:creationId xmlns:a16="http://schemas.microsoft.com/office/drawing/2014/main" id="{39754DAE-115E-49B5-84F1-EF3F18C40852}"/>
              </a:ext>
            </a:extLst>
          </p:cNvPr>
          <p:cNvSpPr>
            <a:spLocks xmlns:a="http://schemas.openxmlformats.org/drawingml/2006/main" noGrp="1"/>
          </p:cNvSpPr>
          <p:nvPr/>
        </p:nvSpPr>
        <p:spPr>
          <a:xfrm xmlns:a="http://schemas.openxmlformats.org/drawingml/2006/main">
            <a:off x="7581900" y="338137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5" name="!!qam-qam-add-arrow-head">
            <a:extLst xmlns:a="http://schemas.openxmlformats.org/drawingml/2006/main">
              <a:ext uri="{FF2B5EF4-FFF2-40B4-BE49-F238E27FC236}">
                <a16:creationId xmlns:a16="http://schemas.microsoft.com/office/drawing/2014/main" id="{A4A89866-FC12-438F-AFCB-C1EF41C3CF83}"/>
              </a:ext>
            </a:extLst>
          </p:cNvPr>
          <p:cNvSpPr>
            <a:spLocks xmlns:a="http://schemas.openxmlformats.org/drawingml/2006/main" noGrp="1"/>
          </p:cNvSpPr>
          <p:nvPr/>
        </p:nvSpPr>
        <p:spPr>
          <a:xfrm xmlns:a="http://schemas.openxmlformats.org/drawingml/2006/main" rot="5400000">
            <a:off x="8229600" y="3333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6" name="!!qam-qam-modulate-g2-r0-wave">
            <a:extLst xmlns:a="http://schemas.openxmlformats.org/drawingml/2006/main">
              <a:ext uri="{FF2B5EF4-FFF2-40B4-BE49-F238E27FC236}">
                <a16:creationId xmlns:a16="http://schemas.microsoft.com/office/drawing/2014/main" id="{43C129F0-4FD0-4B3A-997F-9A6E2325CF60}"/>
              </a:ext>
            </a:extLst>
          </p:cNvPr>
          <p:cNvSpPr>
            <a:spLocks xmlns:a="http://schemas.openxmlformats.org/drawingml/2006/main" noGrp="1"/>
          </p:cNvSpPr>
          <p:nvPr/>
        </p:nvSpPr>
        <p:spPr>
          <a:xfrm xmlns:a="http://schemas.openxmlformats.org/drawingml/2006/main">
            <a:off x="8572500" y="2791338"/>
            <a:ext cx="2781300" cy="815592"/>
          </a:xfrm>
          <a:custGeom xmlns:a="http://schemas.openxmlformats.org/drawingml/2006/main">
            <a:pathLst>
              <a:path w="2781300" h="815592">
                <a:moveTo>
                  <a:pt x="0" y="418587"/>
                </a:moveTo>
                <a:lnTo>
                  <a:pt x="3477" y="418402"/>
                </a:lnTo>
                <a:lnTo>
                  <a:pt x="6953" y="418196"/>
                </a:lnTo>
                <a:lnTo>
                  <a:pt x="10430" y="417979"/>
                </a:lnTo>
                <a:lnTo>
                  <a:pt x="13907" y="417761"/>
                </a:lnTo>
                <a:lnTo>
                  <a:pt x="17383" y="417556"/>
                </a:lnTo>
                <a:lnTo>
                  <a:pt x="20860" y="417376"/>
                </a:lnTo>
                <a:lnTo>
                  <a:pt x="24336" y="417236"/>
                </a:lnTo>
                <a:lnTo>
                  <a:pt x="27813" y="417147"/>
                </a:lnTo>
                <a:lnTo>
                  <a:pt x="31290" y="417121"/>
                </a:lnTo>
                <a:lnTo>
                  <a:pt x="34766" y="417165"/>
                </a:lnTo>
                <a:lnTo>
                  <a:pt x="38243" y="417286"/>
                </a:lnTo>
                <a:lnTo>
                  <a:pt x="41719" y="417483"/>
                </a:lnTo>
                <a:lnTo>
                  <a:pt x="45196" y="417755"/>
                </a:lnTo>
                <a:lnTo>
                  <a:pt x="48673" y="418093"/>
                </a:lnTo>
                <a:lnTo>
                  <a:pt x="52149" y="418486"/>
                </a:lnTo>
                <a:lnTo>
                  <a:pt x="55626" y="418918"/>
                </a:lnTo>
                <a:lnTo>
                  <a:pt x="59103" y="419371"/>
                </a:lnTo>
                <a:lnTo>
                  <a:pt x="62579" y="419823"/>
                </a:lnTo>
                <a:lnTo>
                  <a:pt x="66056" y="420252"/>
                </a:lnTo>
                <a:lnTo>
                  <a:pt x="69532" y="420634"/>
                </a:lnTo>
                <a:lnTo>
                  <a:pt x="73009" y="420947"/>
                </a:lnTo>
                <a:lnTo>
                  <a:pt x="76486" y="421171"/>
                </a:lnTo>
                <a:lnTo>
                  <a:pt x="79962" y="421289"/>
                </a:lnTo>
                <a:lnTo>
                  <a:pt x="83439" y="421289"/>
                </a:lnTo>
                <a:lnTo>
                  <a:pt x="86916" y="421165"/>
                </a:lnTo>
                <a:lnTo>
                  <a:pt x="90392" y="420913"/>
                </a:lnTo>
                <a:lnTo>
                  <a:pt x="93869" y="420541"/>
                </a:lnTo>
                <a:lnTo>
                  <a:pt x="97346" y="420057"/>
                </a:lnTo>
                <a:lnTo>
                  <a:pt x="100822" y="419480"/>
                </a:lnTo>
                <a:lnTo>
                  <a:pt x="104299" y="418831"/>
                </a:lnTo>
                <a:lnTo>
                  <a:pt x="107775" y="418138"/>
                </a:lnTo>
                <a:lnTo>
                  <a:pt x="111252" y="417429"/>
                </a:lnTo>
                <a:lnTo>
                  <a:pt x="114729" y="416736"/>
                </a:lnTo>
                <a:lnTo>
                  <a:pt x="118205" y="416092"/>
                </a:lnTo>
                <a:lnTo>
                  <a:pt x="121682" y="415526"/>
                </a:lnTo>
                <a:lnTo>
                  <a:pt x="125158" y="415066"/>
                </a:lnTo>
                <a:lnTo>
                  <a:pt x="128635" y="414737"/>
                </a:lnTo>
                <a:lnTo>
                  <a:pt x="132112" y="414556"/>
                </a:lnTo>
                <a:lnTo>
                  <a:pt x="135588" y="414536"/>
                </a:lnTo>
                <a:lnTo>
                  <a:pt x="139065" y="414682"/>
                </a:lnTo>
                <a:lnTo>
                  <a:pt x="142542" y="414991"/>
                </a:lnTo>
                <a:lnTo>
                  <a:pt x="146018" y="415452"/>
                </a:lnTo>
                <a:lnTo>
                  <a:pt x="149495" y="416051"/>
                </a:lnTo>
                <a:lnTo>
                  <a:pt x="152971" y="416762"/>
                </a:lnTo>
                <a:lnTo>
                  <a:pt x="156448" y="417558"/>
                </a:lnTo>
                <a:lnTo>
                  <a:pt x="159925" y="418406"/>
                </a:lnTo>
                <a:lnTo>
                  <a:pt x="163401" y="419272"/>
                </a:lnTo>
                <a:lnTo>
                  <a:pt x="166878" y="420119"/>
                </a:lnTo>
                <a:lnTo>
                  <a:pt x="170355" y="420913"/>
                </a:lnTo>
                <a:lnTo>
                  <a:pt x="173831" y="421620"/>
                </a:lnTo>
                <a:lnTo>
                  <a:pt x="177308" y="422213"/>
                </a:lnTo>
                <a:lnTo>
                  <a:pt x="180785" y="422668"/>
                </a:lnTo>
                <a:lnTo>
                  <a:pt x="184261" y="422967"/>
                </a:lnTo>
                <a:lnTo>
                  <a:pt x="187738" y="423099"/>
                </a:lnTo>
                <a:lnTo>
                  <a:pt x="191214" y="423063"/>
                </a:lnTo>
                <a:lnTo>
                  <a:pt x="194691" y="422860"/>
                </a:lnTo>
                <a:lnTo>
                  <a:pt x="198168" y="422504"/>
                </a:lnTo>
                <a:lnTo>
                  <a:pt x="201644" y="422011"/>
                </a:lnTo>
                <a:lnTo>
                  <a:pt x="205121" y="421403"/>
                </a:lnTo>
                <a:lnTo>
                  <a:pt x="208597" y="420709"/>
                </a:lnTo>
                <a:lnTo>
                  <a:pt x="212074" y="419958"/>
                </a:lnTo>
                <a:lnTo>
                  <a:pt x="215551" y="419181"/>
                </a:lnTo>
                <a:lnTo>
                  <a:pt x="219027" y="418409"/>
                </a:lnTo>
                <a:lnTo>
                  <a:pt x="222504" y="417674"/>
                </a:lnTo>
                <a:lnTo>
                  <a:pt x="225981" y="417001"/>
                </a:lnTo>
                <a:lnTo>
                  <a:pt x="229457" y="416414"/>
                </a:lnTo>
                <a:lnTo>
                  <a:pt x="232934" y="415931"/>
                </a:lnTo>
                <a:lnTo>
                  <a:pt x="236411" y="415566"/>
                </a:lnTo>
                <a:lnTo>
                  <a:pt x="239887" y="415326"/>
                </a:lnTo>
                <a:lnTo>
                  <a:pt x="243364" y="415213"/>
                </a:lnTo>
                <a:lnTo>
                  <a:pt x="246840" y="415223"/>
                </a:lnTo>
                <a:lnTo>
                  <a:pt x="250317" y="415347"/>
                </a:lnTo>
                <a:lnTo>
                  <a:pt x="253794" y="415573"/>
                </a:lnTo>
                <a:lnTo>
                  <a:pt x="257270" y="415885"/>
                </a:lnTo>
                <a:lnTo>
                  <a:pt x="260747" y="416263"/>
                </a:lnTo>
                <a:lnTo>
                  <a:pt x="264224" y="416687"/>
                </a:lnTo>
                <a:lnTo>
                  <a:pt x="267700" y="417138"/>
                </a:lnTo>
                <a:lnTo>
                  <a:pt x="271177" y="417595"/>
                </a:lnTo>
                <a:lnTo>
                  <a:pt x="274653" y="418041"/>
                </a:lnTo>
                <a:lnTo>
                  <a:pt x="278130" y="418459"/>
                </a:lnTo>
                <a:lnTo>
                  <a:pt x="281607" y="418837"/>
                </a:lnTo>
                <a:lnTo>
                  <a:pt x="285083" y="419165"/>
                </a:lnTo>
                <a:lnTo>
                  <a:pt x="288560" y="419436"/>
                </a:lnTo>
                <a:lnTo>
                  <a:pt x="292036" y="419647"/>
                </a:lnTo>
                <a:lnTo>
                  <a:pt x="295513" y="419798"/>
                </a:lnTo>
                <a:lnTo>
                  <a:pt x="298990" y="419890"/>
                </a:lnTo>
                <a:lnTo>
                  <a:pt x="302466" y="419929"/>
                </a:lnTo>
                <a:lnTo>
                  <a:pt x="305943" y="419920"/>
                </a:lnTo>
                <a:lnTo>
                  <a:pt x="309420" y="419872"/>
                </a:lnTo>
                <a:lnTo>
                  <a:pt x="312896" y="419790"/>
                </a:lnTo>
                <a:lnTo>
                  <a:pt x="316373" y="419685"/>
                </a:lnTo>
                <a:lnTo>
                  <a:pt x="319850" y="419562"/>
                </a:lnTo>
                <a:lnTo>
                  <a:pt x="323326" y="419429"/>
                </a:lnTo>
                <a:lnTo>
                  <a:pt x="326803" y="419292"/>
                </a:lnTo>
                <a:lnTo>
                  <a:pt x="330279" y="419155"/>
                </a:lnTo>
                <a:lnTo>
                  <a:pt x="333756" y="419023"/>
                </a:lnTo>
                <a:lnTo>
                  <a:pt x="337233" y="418898"/>
                </a:lnTo>
                <a:lnTo>
                  <a:pt x="340709" y="418783"/>
                </a:lnTo>
                <a:lnTo>
                  <a:pt x="344186" y="418679"/>
                </a:lnTo>
                <a:lnTo>
                  <a:pt x="347663" y="418587"/>
                </a:lnTo>
                <a:lnTo>
                  <a:pt x="351139" y="418509"/>
                </a:lnTo>
                <a:lnTo>
                  <a:pt x="354616" y="418446"/>
                </a:lnTo>
                <a:lnTo>
                  <a:pt x="358092" y="418400"/>
                </a:lnTo>
                <a:lnTo>
                  <a:pt x="361569" y="418372"/>
                </a:lnTo>
                <a:lnTo>
                  <a:pt x="365046" y="418363"/>
                </a:lnTo>
                <a:lnTo>
                  <a:pt x="368522" y="418377"/>
                </a:lnTo>
                <a:lnTo>
                  <a:pt x="371999" y="418414"/>
                </a:lnTo>
                <a:lnTo>
                  <a:pt x="375475" y="418476"/>
                </a:lnTo>
                <a:lnTo>
                  <a:pt x="378952" y="418563"/>
                </a:lnTo>
                <a:lnTo>
                  <a:pt x="382429" y="418675"/>
                </a:lnTo>
                <a:lnTo>
                  <a:pt x="385905" y="418810"/>
                </a:lnTo>
                <a:lnTo>
                  <a:pt x="389382" y="418964"/>
                </a:lnTo>
                <a:lnTo>
                  <a:pt x="392859" y="419133"/>
                </a:lnTo>
                <a:lnTo>
                  <a:pt x="396335" y="419309"/>
                </a:lnTo>
                <a:lnTo>
                  <a:pt x="399812" y="419484"/>
                </a:lnTo>
                <a:lnTo>
                  <a:pt x="403289" y="419647"/>
                </a:lnTo>
                <a:lnTo>
                  <a:pt x="406765" y="419788"/>
                </a:lnTo>
                <a:lnTo>
                  <a:pt x="410242" y="419895"/>
                </a:lnTo>
                <a:lnTo>
                  <a:pt x="413718" y="419957"/>
                </a:lnTo>
                <a:lnTo>
                  <a:pt x="417195" y="419962"/>
                </a:lnTo>
                <a:lnTo>
                  <a:pt x="420672" y="419901"/>
                </a:lnTo>
                <a:lnTo>
                  <a:pt x="424148" y="419766"/>
                </a:lnTo>
                <a:lnTo>
                  <a:pt x="427625" y="419554"/>
                </a:lnTo>
                <a:lnTo>
                  <a:pt x="431101" y="419262"/>
                </a:lnTo>
                <a:lnTo>
                  <a:pt x="434578" y="418893"/>
                </a:lnTo>
                <a:lnTo>
                  <a:pt x="438055" y="418455"/>
                </a:lnTo>
                <a:lnTo>
                  <a:pt x="441531" y="417958"/>
                </a:lnTo>
                <a:lnTo>
                  <a:pt x="445008" y="417417"/>
                </a:lnTo>
                <a:lnTo>
                  <a:pt x="448485" y="416851"/>
                </a:lnTo>
                <a:lnTo>
                  <a:pt x="451961" y="416281"/>
                </a:lnTo>
                <a:lnTo>
                  <a:pt x="455438" y="415732"/>
                </a:lnTo>
                <a:lnTo>
                  <a:pt x="458914" y="415227"/>
                </a:lnTo>
                <a:lnTo>
                  <a:pt x="462391" y="414793"/>
                </a:lnTo>
                <a:lnTo>
                  <a:pt x="465868" y="414454"/>
                </a:lnTo>
                <a:lnTo>
                  <a:pt x="469344" y="414231"/>
                </a:lnTo>
                <a:lnTo>
                  <a:pt x="472821" y="414143"/>
                </a:lnTo>
                <a:lnTo>
                  <a:pt x="476298" y="414203"/>
                </a:lnTo>
                <a:lnTo>
                  <a:pt x="479774" y="414422"/>
                </a:lnTo>
                <a:lnTo>
                  <a:pt x="483251" y="414800"/>
                </a:lnTo>
                <a:lnTo>
                  <a:pt x="486728" y="415336"/>
                </a:lnTo>
                <a:lnTo>
                  <a:pt x="490204" y="416018"/>
                </a:lnTo>
                <a:lnTo>
                  <a:pt x="493681" y="416830"/>
                </a:lnTo>
                <a:lnTo>
                  <a:pt x="497157" y="417750"/>
                </a:lnTo>
                <a:lnTo>
                  <a:pt x="500634" y="418750"/>
                </a:lnTo>
                <a:lnTo>
                  <a:pt x="504111" y="419798"/>
                </a:lnTo>
                <a:lnTo>
                  <a:pt x="507587" y="420861"/>
                </a:lnTo>
                <a:lnTo>
                  <a:pt x="511064" y="421901"/>
                </a:lnTo>
                <a:lnTo>
                  <a:pt x="514540" y="422883"/>
                </a:lnTo>
                <a:lnTo>
                  <a:pt x="518017" y="423771"/>
                </a:lnTo>
                <a:lnTo>
                  <a:pt x="521494" y="424532"/>
                </a:lnTo>
                <a:lnTo>
                  <a:pt x="524970" y="425138"/>
                </a:lnTo>
                <a:lnTo>
                  <a:pt x="528447" y="425564"/>
                </a:lnTo>
                <a:lnTo>
                  <a:pt x="531924" y="425794"/>
                </a:lnTo>
                <a:lnTo>
                  <a:pt x="535400" y="425815"/>
                </a:lnTo>
                <a:lnTo>
                  <a:pt x="538877" y="425622"/>
                </a:lnTo>
                <a:lnTo>
                  <a:pt x="542354" y="425220"/>
                </a:lnTo>
                <a:lnTo>
                  <a:pt x="545830" y="424616"/>
                </a:lnTo>
                <a:lnTo>
                  <a:pt x="549307" y="423826"/>
                </a:lnTo>
                <a:lnTo>
                  <a:pt x="552783" y="422873"/>
                </a:lnTo>
                <a:lnTo>
                  <a:pt x="556260" y="421783"/>
                </a:lnTo>
                <a:lnTo>
                  <a:pt x="559737" y="420585"/>
                </a:lnTo>
                <a:lnTo>
                  <a:pt x="563213" y="419315"/>
                </a:lnTo>
                <a:lnTo>
                  <a:pt x="566690" y="418007"/>
                </a:lnTo>
                <a:lnTo>
                  <a:pt x="570167" y="416698"/>
                </a:lnTo>
                <a:lnTo>
                  <a:pt x="573643" y="415424"/>
                </a:lnTo>
                <a:lnTo>
                  <a:pt x="577120" y="414218"/>
                </a:lnTo>
                <a:lnTo>
                  <a:pt x="580596" y="413114"/>
                </a:lnTo>
                <a:lnTo>
                  <a:pt x="584073" y="412142"/>
                </a:lnTo>
                <a:lnTo>
                  <a:pt x="587550" y="411327"/>
                </a:lnTo>
                <a:lnTo>
                  <a:pt x="591026" y="410691"/>
                </a:lnTo>
                <a:lnTo>
                  <a:pt x="594503" y="410253"/>
                </a:lnTo>
                <a:lnTo>
                  <a:pt x="597979" y="410025"/>
                </a:lnTo>
                <a:lnTo>
                  <a:pt x="601456" y="410015"/>
                </a:lnTo>
                <a:lnTo>
                  <a:pt x="604933" y="410226"/>
                </a:lnTo>
                <a:lnTo>
                  <a:pt x="608409" y="410656"/>
                </a:lnTo>
                <a:lnTo>
                  <a:pt x="611886" y="411298"/>
                </a:lnTo>
                <a:lnTo>
                  <a:pt x="615363" y="412139"/>
                </a:lnTo>
                <a:lnTo>
                  <a:pt x="618839" y="413161"/>
                </a:lnTo>
                <a:lnTo>
                  <a:pt x="622316" y="414343"/>
                </a:lnTo>
                <a:lnTo>
                  <a:pt x="625793" y="415657"/>
                </a:lnTo>
                <a:lnTo>
                  <a:pt x="629269" y="417072"/>
                </a:lnTo>
                <a:lnTo>
                  <a:pt x="632746" y="418554"/>
                </a:lnTo>
                <a:lnTo>
                  <a:pt x="636222" y="420064"/>
                </a:lnTo>
                <a:lnTo>
                  <a:pt x="639699" y="421560"/>
                </a:lnTo>
                <a:lnTo>
                  <a:pt x="643176" y="423001"/>
                </a:lnTo>
                <a:lnTo>
                  <a:pt x="646652" y="424343"/>
                </a:lnTo>
                <a:lnTo>
                  <a:pt x="650129" y="425544"/>
                </a:lnTo>
                <a:lnTo>
                  <a:pt x="653606" y="426563"/>
                </a:lnTo>
                <a:lnTo>
                  <a:pt x="657082" y="427363"/>
                </a:lnTo>
                <a:lnTo>
                  <a:pt x="660559" y="427912"/>
                </a:lnTo>
                <a:lnTo>
                  <a:pt x="664035" y="428185"/>
                </a:lnTo>
                <a:lnTo>
                  <a:pt x="667512" y="428164"/>
                </a:lnTo>
                <a:lnTo>
                  <a:pt x="670989" y="427839"/>
                </a:lnTo>
                <a:lnTo>
                  <a:pt x="674465" y="427213"/>
                </a:lnTo>
                <a:lnTo>
                  <a:pt x="677942" y="426299"/>
                </a:lnTo>
                <a:lnTo>
                  <a:pt x="681418" y="425119"/>
                </a:lnTo>
                <a:lnTo>
                  <a:pt x="684895" y="423708"/>
                </a:lnTo>
                <a:lnTo>
                  <a:pt x="688372" y="422112"/>
                </a:lnTo>
                <a:lnTo>
                  <a:pt x="691848" y="420384"/>
                </a:lnTo>
                <a:lnTo>
                  <a:pt x="695325" y="418587"/>
                </a:lnTo>
                <a:lnTo>
                  <a:pt x="698802" y="416787"/>
                </a:lnTo>
                <a:lnTo>
                  <a:pt x="702278" y="415055"/>
                </a:lnTo>
                <a:lnTo>
                  <a:pt x="705755" y="413460"/>
                </a:lnTo>
                <a:lnTo>
                  <a:pt x="709232" y="412069"/>
                </a:lnTo>
                <a:lnTo>
                  <a:pt x="712708" y="410942"/>
                </a:lnTo>
                <a:lnTo>
                  <a:pt x="716185" y="410131"/>
                </a:lnTo>
                <a:lnTo>
                  <a:pt x="719661" y="409675"/>
                </a:lnTo>
                <a:lnTo>
                  <a:pt x="723138" y="409599"/>
                </a:lnTo>
                <a:lnTo>
                  <a:pt x="726615" y="409911"/>
                </a:lnTo>
                <a:lnTo>
                  <a:pt x="730091" y="410603"/>
                </a:lnTo>
                <a:lnTo>
                  <a:pt x="733568" y="411647"/>
                </a:lnTo>
                <a:lnTo>
                  <a:pt x="737045" y="413002"/>
                </a:lnTo>
                <a:lnTo>
                  <a:pt x="740521" y="414606"/>
                </a:lnTo>
                <a:lnTo>
                  <a:pt x="743998" y="416388"/>
                </a:lnTo>
                <a:lnTo>
                  <a:pt x="747474" y="418263"/>
                </a:lnTo>
                <a:lnTo>
                  <a:pt x="750951" y="420142"/>
                </a:lnTo>
                <a:lnTo>
                  <a:pt x="754428" y="421932"/>
                </a:lnTo>
                <a:lnTo>
                  <a:pt x="757904" y="423540"/>
                </a:lnTo>
                <a:lnTo>
                  <a:pt x="761381" y="424883"/>
                </a:lnTo>
                <a:lnTo>
                  <a:pt x="764857" y="425886"/>
                </a:lnTo>
                <a:lnTo>
                  <a:pt x="768334" y="426491"/>
                </a:lnTo>
                <a:lnTo>
                  <a:pt x="771811" y="426656"/>
                </a:lnTo>
                <a:lnTo>
                  <a:pt x="775287" y="426363"/>
                </a:lnTo>
                <a:lnTo>
                  <a:pt x="778764" y="425614"/>
                </a:lnTo>
                <a:lnTo>
                  <a:pt x="782241" y="424436"/>
                </a:lnTo>
                <a:lnTo>
                  <a:pt x="785717" y="422878"/>
                </a:lnTo>
                <a:lnTo>
                  <a:pt x="789194" y="421012"/>
                </a:lnTo>
                <a:lnTo>
                  <a:pt x="792671" y="418924"/>
                </a:lnTo>
                <a:lnTo>
                  <a:pt x="796147" y="416719"/>
                </a:lnTo>
                <a:lnTo>
                  <a:pt x="799624" y="414508"/>
                </a:lnTo>
                <a:lnTo>
                  <a:pt x="803100" y="412407"/>
                </a:lnTo>
                <a:lnTo>
                  <a:pt x="806577" y="410529"/>
                </a:lnTo>
                <a:lnTo>
                  <a:pt x="810054" y="408981"/>
                </a:lnTo>
                <a:lnTo>
                  <a:pt x="813530" y="407856"/>
                </a:lnTo>
                <a:lnTo>
                  <a:pt x="817007" y="407227"/>
                </a:lnTo>
                <a:lnTo>
                  <a:pt x="820483" y="407147"/>
                </a:lnTo>
                <a:lnTo>
                  <a:pt x="823960" y="407640"/>
                </a:lnTo>
                <a:lnTo>
                  <a:pt x="827437" y="408704"/>
                </a:lnTo>
                <a:lnTo>
                  <a:pt x="830913" y="410308"/>
                </a:lnTo>
                <a:lnTo>
                  <a:pt x="834390" y="412393"/>
                </a:lnTo>
                <a:lnTo>
                  <a:pt x="837867" y="414875"/>
                </a:lnTo>
                <a:lnTo>
                  <a:pt x="841343" y="417650"/>
                </a:lnTo>
                <a:lnTo>
                  <a:pt x="844820" y="420595"/>
                </a:lnTo>
                <a:lnTo>
                  <a:pt x="848296" y="423577"/>
                </a:lnTo>
                <a:lnTo>
                  <a:pt x="851773" y="426459"/>
                </a:lnTo>
                <a:lnTo>
                  <a:pt x="855250" y="429107"/>
                </a:lnTo>
                <a:lnTo>
                  <a:pt x="858726" y="431394"/>
                </a:lnTo>
                <a:lnTo>
                  <a:pt x="862203" y="433211"/>
                </a:lnTo>
                <a:lnTo>
                  <a:pt x="865680" y="434468"/>
                </a:lnTo>
                <a:lnTo>
                  <a:pt x="869156" y="435101"/>
                </a:lnTo>
                <a:lnTo>
                  <a:pt x="872633" y="435076"/>
                </a:lnTo>
                <a:lnTo>
                  <a:pt x="876110" y="434388"/>
                </a:lnTo>
                <a:lnTo>
                  <a:pt x="879586" y="433064"/>
                </a:lnTo>
                <a:lnTo>
                  <a:pt x="883063" y="431159"/>
                </a:lnTo>
                <a:lnTo>
                  <a:pt x="886539" y="428757"/>
                </a:lnTo>
                <a:lnTo>
                  <a:pt x="890016" y="425960"/>
                </a:lnTo>
                <a:lnTo>
                  <a:pt x="893493" y="422891"/>
                </a:lnTo>
                <a:lnTo>
                  <a:pt x="896969" y="419680"/>
                </a:lnTo>
                <a:lnTo>
                  <a:pt x="900446" y="416463"/>
                </a:lnTo>
                <a:lnTo>
                  <a:pt x="903922" y="413370"/>
                </a:lnTo>
                <a:lnTo>
                  <a:pt x="907399" y="410524"/>
                </a:lnTo>
                <a:lnTo>
                  <a:pt x="910876" y="408031"/>
                </a:lnTo>
                <a:lnTo>
                  <a:pt x="914352" y="405978"/>
                </a:lnTo>
                <a:lnTo>
                  <a:pt x="917829" y="404424"/>
                </a:lnTo>
                <a:lnTo>
                  <a:pt x="921306" y="403407"/>
                </a:lnTo>
                <a:lnTo>
                  <a:pt x="924782" y="402933"/>
                </a:lnTo>
                <a:lnTo>
                  <a:pt x="928259" y="402986"/>
                </a:lnTo>
                <a:lnTo>
                  <a:pt x="931735" y="403524"/>
                </a:lnTo>
                <a:lnTo>
                  <a:pt x="935212" y="404486"/>
                </a:lnTo>
                <a:lnTo>
                  <a:pt x="938689" y="405796"/>
                </a:lnTo>
                <a:lnTo>
                  <a:pt x="942165" y="407370"/>
                </a:lnTo>
                <a:lnTo>
                  <a:pt x="945642" y="409119"/>
                </a:lnTo>
                <a:lnTo>
                  <a:pt x="949119" y="410958"/>
                </a:lnTo>
                <a:lnTo>
                  <a:pt x="952595" y="412809"/>
                </a:lnTo>
                <a:lnTo>
                  <a:pt x="956072" y="414607"/>
                </a:lnTo>
                <a:lnTo>
                  <a:pt x="959549" y="416305"/>
                </a:lnTo>
                <a:lnTo>
                  <a:pt x="963025" y="417873"/>
                </a:lnTo>
                <a:lnTo>
                  <a:pt x="966502" y="419300"/>
                </a:lnTo>
                <a:lnTo>
                  <a:pt x="969978" y="420593"/>
                </a:lnTo>
                <a:lnTo>
                  <a:pt x="973455" y="421777"/>
                </a:lnTo>
                <a:lnTo>
                  <a:pt x="976932" y="422884"/>
                </a:lnTo>
                <a:lnTo>
                  <a:pt x="980408" y="423959"/>
                </a:lnTo>
                <a:lnTo>
                  <a:pt x="983885" y="425042"/>
                </a:lnTo>
                <a:lnTo>
                  <a:pt x="987361" y="426172"/>
                </a:lnTo>
                <a:lnTo>
                  <a:pt x="990838" y="427375"/>
                </a:lnTo>
                <a:lnTo>
                  <a:pt x="994315" y="428662"/>
                </a:lnTo>
                <a:lnTo>
                  <a:pt x="997791" y="430022"/>
                </a:lnTo>
                <a:lnTo>
                  <a:pt x="1001268" y="431423"/>
                </a:lnTo>
                <a:lnTo>
                  <a:pt x="1004745" y="432805"/>
                </a:lnTo>
                <a:lnTo>
                  <a:pt x="1008221" y="434090"/>
                </a:lnTo>
                <a:lnTo>
                  <a:pt x="1011698" y="435175"/>
                </a:lnTo>
                <a:lnTo>
                  <a:pt x="1015175" y="435946"/>
                </a:lnTo>
                <a:lnTo>
                  <a:pt x="1018651" y="436278"/>
                </a:lnTo>
                <a:lnTo>
                  <a:pt x="1022128" y="436050"/>
                </a:lnTo>
                <a:lnTo>
                  <a:pt x="1025604" y="435149"/>
                </a:lnTo>
                <a:lnTo>
                  <a:pt x="1029081" y="433483"/>
                </a:lnTo>
                <a:lnTo>
                  <a:pt x="1032558" y="430992"/>
                </a:lnTo>
                <a:lnTo>
                  <a:pt x="1036034" y="427654"/>
                </a:lnTo>
                <a:lnTo>
                  <a:pt x="1039511" y="423493"/>
                </a:lnTo>
                <a:lnTo>
                  <a:pt x="1042988" y="418587"/>
                </a:lnTo>
                <a:lnTo>
                  <a:pt x="1046464" y="413068"/>
                </a:lnTo>
                <a:lnTo>
                  <a:pt x="1049941" y="407122"/>
                </a:lnTo>
                <a:lnTo>
                  <a:pt x="1053417" y="400984"/>
                </a:lnTo>
                <a:lnTo>
                  <a:pt x="1056894" y="394932"/>
                </a:lnTo>
                <a:lnTo>
                  <a:pt x="1060371" y="389274"/>
                </a:lnTo>
                <a:lnTo>
                  <a:pt x="1063847" y="384337"/>
                </a:lnTo>
                <a:lnTo>
                  <a:pt x="1067324" y="380447"/>
                </a:lnTo>
                <a:lnTo>
                  <a:pt x="1070800" y="377913"/>
                </a:lnTo>
                <a:lnTo>
                  <a:pt x="1074277" y="377007"/>
                </a:lnTo>
                <a:lnTo>
                  <a:pt x="1077754" y="377946"/>
                </a:lnTo>
                <a:lnTo>
                  <a:pt x="1081230" y="380875"/>
                </a:lnTo>
                <a:lnTo>
                  <a:pt x="1084707" y="385848"/>
                </a:lnTo>
                <a:lnTo>
                  <a:pt x="1088184" y="392824"/>
                </a:lnTo>
                <a:lnTo>
                  <a:pt x="1091660" y="401653"/>
                </a:lnTo>
                <a:lnTo>
                  <a:pt x="1095137" y="412076"/>
                </a:lnTo>
                <a:lnTo>
                  <a:pt x="1098614" y="423731"/>
                </a:lnTo>
                <a:lnTo>
                  <a:pt x="1102090" y="436161"/>
                </a:lnTo>
                <a:lnTo>
                  <a:pt x="1105567" y="448826"/>
                </a:lnTo>
                <a:lnTo>
                  <a:pt x="1109043" y="461130"/>
                </a:lnTo>
                <a:lnTo>
                  <a:pt x="1112520" y="472444"/>
                </a:lnTo>
                <a:lnTo>
                  <a:pt x="1115997" y="482133"/>
                </a:lnTo>
                <a:lnTo>
                  <a:pt x="1119473" y="489591"/>
                </a:lnTo>
                <a:lnTo>
                  <a:pt x="1122950" y="494273"/>
                </a:lnTo>
                <a:lnTo>
                  <a:pt x="1126427" y="495724"/>
                </a:lnTo>
                <a:lnTo>
                  <a:pt x="1129903" y="493614"/>
                </a:lnTo>
                <a:lnTo>
                  <a:pt x="1133380" y="487759"/>
                </a:lnTo>
                <a:lnTo>
                  <a:pt x="1136856" y="478145"/>
                </a:lnTo>
                <a:lnTo>
                  <a:pt x="1140333" y="464937"/>
                </a:lnTo>
                <a:lnTo>
                  <a:pt x="1143810" y="448486"/>
                </a:lnTo>
                <a:lnTo>
                  <a:pt x="1147286" y="429323"/>
                </a:lnTo>
                <a:lnTo>
                  <a:pt x="1150763" y="408150"/>
                </a:lnTo>
                <a:lnTo>
                  <a:pt x="1154240" y="385812"/>
                </a:lnTo>
                <a:lnTo>
                  <a:pt x="1157716" y="363269"/>
                </a:lnTo>
                <a:lnTo>
                  <a:pt x="1161193" y="341558"/>
                </a:lnTo>
                <a:lnTo>
                  <a:pt x="1164669" y="321746"/>
                </a:lnTo>
                <a:lnTo>
                  <a:pt x="1168146" y="304883"/>
                </a:lnTo>
                <a:lnTo>
                  <a:pt x="1171623" y="291952"/>
                </a:lnTo>
                <a:lnTo>
                  <a:pt x="1175099" y="283814"/>
                </a:lnTo>
                <a:lnTo>
                  <a:pt x="1178576" y="281167"/>
                </a:lnTo>
                <a:lnTo>
                  <a:pt x="1182052" y="284495"/>
                </a:lnTo>
                <a:lnTo>
                  <a:pt x="1185529" y="294043"/>
                </a:lnTo>
                <a:lnTo>
                  <a:pt x="1189006" y="309784"/>
                </a:lnTo>
                <a:lnTo>
                  <a:pt x="1192482" y="331406"/>
                </a:lnTo>
                <a:lnTo>
                  <a:pt x="1195959" y="358314"/>
                </a:lnTo>
                <a:lnTo>
                  <a:pt x="1199436" y="389640"/>
                </a:lnTo>
                <a:lnTo>
                  <a:pt x="1202912" y="424268"/>
                </a:lnTo>
                <a:lnTo>
                  <a:pt x="1206389" y="460871"/>
                </a:lnTo>
                <a:lnTo>
                  <a:pt x="1209865" y="497960"/>
                </a:lnTo>
                <a:lnTo>
                  <a:pt x="1213342" y="533948"/>
                </a:lnTo>
                <a:lnTo>
                  <a:pt x="1216819" y="567210"/>
                </a:lnTo>
                <a:lnTo>
                  <a:pt x="1220295" y="596158"/>
                </a:lnTo>
                <a:lnTo>
                  <a:pt x="1223772" y="619313"/>
                </a:lnTo>
                <a:lnTo>
                  <a:pt x="1227249" y="635375"/>
                </a:lnTo>
                <a:lnTo>
                  <a:pt x="1230725" y="643291"/>
                </a:lnTo>
                <a:lnTo>
                  <a:pt x="1234202" y="642310"/>
                </a:lnTo>
                <a:lnTo>
                  <a:pt x="1237679" y="632032"/>
                </a:lnTo>
                <a:lnTo>
                  <a:pt x="1241155" y="612438"/>
                </a:lnTo>
                <a:lnTo>
                  <a:pt x="1244632" y="583908"/>
                </a:lnTo>
                <a:lnTo>
                  <a:pt x="1248108" y="547219"/>
                </a:lnTo>
                <a:lnTo>
                  <a:pt x="1251585" y="503531"/>
                </a:lnTo>
                <a:lnTo>
                  <a:pt x="1255062" y="454347"/>
                </a:lnTo>
                <a:lnTo>
                  <a:pt x="1258538" y="401460"/>
                </a:lnTo>
                <a:lnTo>
                  <a:pt x="1262015" y="346894"/>
                </a:lnTo>
                <a:lnTo>
                  <a:pt x="1265492" y="292815"/>
                </a:lnTo>
                <a:lnTo>
                  <a:pt x="1268968" y="241452"/>
                </a:lnTo>
                <a:lnTo>
                  <a:pt x="1272445" y="194999"/>
                </a:lnTo>
                <a:lnTo>
                  <a:pt x="1275921" y="155521"/>
                </a:lnTo>
                <a:lnTo>
                  <a:pt x="1279398" y="124865"/>
                </a:lnTo>
                <a:lnTo>
                  <a:pt x="1282875" y="104571"/>
                </a:lnTo>
                <a:lnTo>
                  <a:pt x="1286351" y="95804"/>
                </a:lnTo>
                <a:lnTo>
                  <a:pt x="1289828" y="99289"/>
                </a:lnTo>
                <a:lnTo>
                  <a:pt x="1293304" y="115269"/>
                </a:lnTo>
                <a:lnTo>
                  <a:pt x="1296781" y="143488"/>
                </a:lnTo>
                <a:lnTo>
                  <a:pt x="1300258" y="183182"/>
                </a:lnTo>
                <a:lnTo>
                  <a:pt x="1303734" y="233103"/>
                </a:lnTo>
                <a:lnTo>
                  <a:pt x="1307211" y="291556"/>
                </a:lnTo>
                <a:lnTo>
                  <a:pt x="1310688" y="356464"/>
                </a:lnTo>
                <a:lnTo>
                  <a:pt x="1314164" y="425443"/>
                </a:lnTo>
                <a:lnTo>
                  <a:pt x="1317641" y="495892"/>
                </a:lnTo>
                <a:lnTo>
                  <a:pt x="1321118" y="565099"/>
                </a:lnTo>
                <a:lnTo>
                  <a:pt x="1324594" y="630350"/>
                </a:lnTo>
                <a:lnTo>
                  <a:pt x="1328071" y="689038"/>
                </a:lnTo>
                <a:lnTo>
                  <a:pt x="1331547" y="738771"/>
                </a:lnTo>
                <a:lnTo>
                  <a:pt x="1335024" y="777474"/>
                </a:lnTo>
                <a:lnTo>
                  <a:pt x="1338501" y="803479"/>
                </a:lnTo>
                <a:lnTo>
                  <a:pt x="1341977" y="815592"/>
                </a:lnTo>
                <a:lnTo>
                  <a:pt x="1345454" y="813153"/>
                </a:lnTo>
                <a:lnTo>
                  <a:pt x="1348930" y="796065"/>
                </a:lnTo>
                <a:lnTo>
                  <a:pt x="1352407" y="764805"/>
                </a:lnTo>
                <a:lnTo>
                  <a:pt x="1355884" y="720408"/>
                </a:lnTo>
                <a:lnTo>
                  <a:pt x="1359360" y="664430"/>
                </a:lnTo>
                <a:lnTo>
                  <a:pt x="1362837" y="598890"/>
                </a:lnTo>
                <a:lnTo>
                  <a:pt x="1366314" y="526191"/>
                </a:lnTo>
                <a:lnTo>
                  <a:pt x="1369790" y="449028"/>
                </a:lnTo>
                <a:lnTo>
                  <a:pt x="1373267" y="370276"/>
                </a:lnTo>
                <a:lnTo>
                  <a:pt x="1376743" y="292885"/>
                </a:lnTo>
                <a:lnTo>
                  <a:pt x="1380220" y="219755"/>
                </a:lnTo>
                <a:lnTo>
                  <a:pt x="1383697" y="153624"/>
                </a:lnTo>
                <a:lnTo>
                  <a:pt x="1387173" y="96963"/>
                </a:lnTo>
                <a:lnTo>
                  <a:pt x="1390650" y="51875"/>
                </a:lnTo>
                <a:lnTo>
                  <a:pt x="1394127" y="20014"/>
                </a:lnTo>
                <a:lnTo>
                  <a:pt x="1397603" y="2526"/>
                </a:lnTo>
                <a:lnTo>
                  <a:pt x="1401080" y="0"/>
                </a:lnTo>
                <a:lnTo>
                  <a:pt x="1404557" y="12454"/>
                </a:lnTo>
                <a:lnTo>
                  <a:pt x="1408033" y="39336"/>
                </a:lnTo>
                <a:lnTo>
                  <a:pt x="1411510" y="79551"/>
                </a:lnTo>
                <a:lnTo>
                  <a:pt x="1414986" y="131509"/>
                </a:lnTo>
                <a:lnTo>
                  <a:pt x="1418463" y="193194"/>
                </a:lnTo>
                <a:lnTo>
                  <a:pt x="1421940" y="262243"/>
                </a:lnTo>
                <a:lnTo>
                  <a:pt x="1425416" y="336048"/>
                </a:lnTo>
                <a:lnTo>
                  <a:pt x="1428893" y="411856"/>
                </a:lnTo>
                <a:lnTo>
                  <a:pt x="1432370" y="486880"/>
                </a:lnTo>
                <a:lnTo>
                  <a:pt x="1435846" y="558406"/>
                </a:lnTo>
                <a:lnTo>
                  <a:pt x="1439323" y="623900"/>
                </a:lnTo>
                <a:lnTo>
                  <a:pt x="1442799" y="681097"/>
                </a:lnTo>
                <a:lnTo>
                  <a:pt x="1446276" y="728087"/>
                </a:lnTo>
                <a:lnTo>
                  <a:pt x="1449753" y="763381"/>
                </a:lnTo>
                <a:lnTo>
                  <a:pt x="1453229" y="785955"/>
                </a:lnTo>
                <a:lnTo>
                  <a:pt x="1456706" y="795283"/>
                </a:lnTo>
                <a:lnTo>
                  <a:pt x="1460182" y="791343"/>
                </a:lnTo>
                <a:lnTo>
                  <a:pt x="1463659" y="774604"/>
                </a:lnTo>
                <a:lnTo>
                  <a:pt x="1467136" y="745997"/>
                </a:lnTo>
                <a:lnTo>
                  <a:pt x="1470612" y="706866"/>
                </a:lnTo>
                <a:lnTo>
                  <a:pt x="1474089" y="658902"/>
                </a:lnTo>
                <a:lnTo>
                  <a:pt x="1477566" y="604072"/>
                </a:lnTo>
                <a:lnTo>
                  <a:pt x="1481042" y="544533"/>
                </a:lnTo>
                <a:lnTo>
                  <a:pt x="1484519" y="482544"/>
                </a:lnTo>
                <a:lnTo>
                  <a:pt x="1487996" y="420379"/>
                </a:lnTo>
                <a:lnTo>
                  <a:pt x="1491472" y="360237"/>
                </a:lnTo>
                <a:lnTo>
                  <a:pt x="1494949" y="304164"/>
                </a:lnTo>
                <a:lnTo>
                  <a:pt x="1498425" y="253980"/>
                </a:lnTo>
                <a:lnTo>
                  <a:pt x="1501902" y="211220"/>
                </a:lnTo>
                <a:lnTo>
                  <a:pt x="1505379" y="177089"/>
                </a:lnTo>
                <a:lnTo>
                  <a:pt x="1508855" y="152428"/>
                </a:lnTo>
                <a:lnTo>
                  <a:pt x="1512332" y="137698"/>
                </a:lnTo>
                <a:lnTo>
                  <a:pt x="1515808" y="132984"/>
                </a:lnTo>
                <a:lnTo>
                  <a:pt x="1519285" y="138003"/>
                </a:lnTo>
                <a:lnTo>
                  <a:pt x="1522762" y="152135"/>
                </a:lnTo>
                <a:lnTo>
                  <a:pt x="1526238" y="174465"/>
                </a:lnTo>
                <a:lnTo>
                  <a:pt x="1529715" y="203826"/>
                </a:lnTo>
                <a:lnTo>
                  <a:pt x="1533192" y="238862"/>
                </a:lnTo>
                <a:lnTo>
                  <a:pt x="1536668" y="278082"/>
                </a:lnTo>
                <a:lnTo>
                  <a:pt x="1540145" y="319929"/>
                </a:lnTo>
                <a:lnTo>
                  <a:pt x="1543621" y="362835"/>
                </a:lnTo>
                <a:lnTo>
                  <a:pt x="1547098" y="405286"/>
                </a:lnTo>
                <a:lnTo>
                  <a:pt x="1550575" y="445868"/>
                </a:lnTo>
                <a:lnTo>
                  <a:pt x="1554051" y="483319"/>
                </a:lnTo>
                <a:lnTo>
                  <a:pt x="1557528" y="516563"/>
                </a:lnTo>
                <a:lnTo>
                  <a:pt x="1561005" y="544737"/>
                </a:lnTo>
                <a:lnTo>
                  <a:pt x="1564481" y="567210"/>
                </a:lnTo>
                <a:lnTo>
                  <a:pt x="1567958" y="583592"/>
                </a:lnTo>
                <a:lnTo>
                  <a:pt x="1571435" y="593728"/>
                </a:lnTo>
                <a:lnTo>
                  <a:pt x="1574911" y="597691"/>
                </a:lnTo>
                <a:lnTo>
                  <a:pt x="1578388" y="595759"/>
                </a:lnTo>
                <a:lnTo>
                  <a:pt x="1581864" y="588394"/>
                </a:lnTo>
                <a:lnTo>
                  <a:pt x="1585341" y="576212"/>
                </a:lnTo>
                <a:lnTo>
                  <a:pt x="1588818" y="559943"/>
                </a:lnTo>
                <a:lnTo>
                  <a:pt x="1592294" y="540403"/>
                </a:lnTo>
                <a:lnTo>
                  <a:pt x="1595771" y="518458"/>
                </a:lnTo>
                <a:lnTo>
                  <a:pt x="1599248" y="494983"/>
                </a:lnTo>
                <a:lnTo>
                  <a:pt x="1602724" y="470837"/>
                </a:lnTo>
                <a:lnTo>
                  <a:pt x="1606201" y="446833"/>
                </a:lnTo>
                <a:lnTo>
                  <a:pt x="1609677" y="423713"/>
                </a:lnTo>
                <a:lnTo>
                  <a:pt x="1613154" y="402129"/>
                </a:lnTo>
                <a:lnTo>
                  <a:pt x="1616631" y="382629"/>
                </a:lnTo>
                <a:lnTo>
                  <a:pt x="1620107" y="365647"/>
                </a:lnTo>
                <a:lnTo>
                  <a:pt x="1623584" y="351502"/>
                </a:lnTo>
                <a:lnTo>
                  <a:pt x="1627060" y="340395"/>
                </a:lnTo>
                <a:lnTo>
                  <a:pt x="1630537" y="332415"/>
                </a:lnTo>
                <a:lnTo>
                  <a:pt x="1634014" y="327548"/>
                </a:lnTo>
                <a:lnTo>
                  <a:pt x="1637490" y="325685"/>
                </a:lnTo>
                <a:lnTo>
                  <a:pt x="1640967" y="326636"/>
                </a:lnTo>
                <a:lnTo>
                  <a:pt x="1644444" y="330145"/>
                </a:lnTo>
                <a:lnTo>
                  <a:pt x="1647920" y="335903"/>
                </a:lnTo>
                <a:lnTo>
                  <a:pt x="1651397" y="343561"/>
                </a:lnTo>
                <a:lnTo>
                  <a:pt x="1654874" y="352748"/>
                </a:lnTo>
                <a:lnTo>
                  <a:pt x="1658350" y="363080"/>
                </a:lnTo>
                <a:lnTo>
                  <a:pt x="1661827" y="374175"/>
                </a:lnTo>
                <a:lnTo>
                  <a:pt x="1665303" y="385660"/>
                </a:lnTo>
                <a:lnTo>
                  <a:pt x="1668780" y="397184"/>
                </a:lnTo>
                <a:lnTo>
                  <a:pt x="1672257" y="408422"/>
                </a:lnTo>
                <a:lnTo>
                  <a:pt x="1675733" y="419082"/>
                </a:lnTo>
                <a:lnTo>
                  <a:pt x="1679210" y="428910"/>
                </a:lnTo>
                <a:lnTo>
                  <a:pt x="1682687" y="437693"/>
                </a:lnTo>
                <a:lnTo>
                  <a:pt x="1686163" y="445260"/>
                </a:lnTo>
                <a:lnTo>
                  <a:pt x="1689640" y="451483"/>
                </a:lnTo>
                <a:lnTo>
                  <a:pt x="1693116" y="456282"/>
                </a:lnTo>
                <a:lnTo>
                  <a:pt x="1696593" y="459615"/>
                </a:lnTo>
                <a:lnTo>
                  <a:pt x="1700070" y="461486"/>
                </a:lnTo>
                <a:lnTo>
                  <a:pt x="1703546" y="461935"/>
                </a:lnTo>
                <a:lnTo>
                  <a:pt x="1707023" y="461043"/>
                </a:lnTo>
                <a:lnTo>
                  <a:pt x="1710499" y="458921"/>
                </a:lnTo>
                <a:lnTo>
                  <a:pt x="1713976" y="455711"/>
                </a:lnTo>
                <a:lnTo>
                  <a:pt x="1717453" y="451580"/>
                </a:lnTo>
                <a:lnTo>
                  <a:pt x="1720929" y="446716"/>
                </a:lnTo>
                <a:lnTo>
                  <a:pt x="1724406" y="441319"/>
                </a:lnTo>
                <a:lnTo>
                  <a:pt x="1727883" y="435600"/>
                </a:lnTo>
                <a:lnTo>
                  <a:pt x="1731359" y="429769"/>
                </a:lnTo>
                <a:lnTo>
                  <a:pt x="1734836" y="424033"/>
                </a:lnTo>
                <a:lnTo>
                  <a:pt x="1738313" y="418587"/>
                </a:lnTo>
                <a:lnTo>
                  <a:pt x="1741789" y="413611"/>
                </a:lnTo>
                <a:lnTo>
                  <a:pt x="1745266" y="409259"/>
                </a:lnTo>
                <a:lnTo>
                  <a:pt x="1748742" y="405659"/>
                </a:lnTo>
                <a:lnTo>
                  <a:pt x="1752219" y="402905"/>
                </a:lnTo>
                <a:lnTo>
                  <a:pt x="1755696" y="401056"/>
                </a:lnTo>
                <a:lnTo>
                  <a:pt x="1759172" y="400136"/>
                </a:lnTo>
                <a:lnTo>
                  <a:pt x="1762649" y="400128"/>
                </a:lnTo>
                <a:lnTo>
                  <a:pt x="1766126" y="400981"/>
                </a:lnTo>
                <a:lnTo>
                  <a:pt x="1769602" y="402609"/>
                </a:lnTo>
                <a:lnTo>
                  <a:pt x="1773079" y="404897"/>
                </a:lnTo>
                <a:lnTo>
                  <a:pt x="1776555" y="407703"/>
                </a:lnTo>
                <a:lnTo>
                  <a:pt x="1780032" y="410869"/>
                </a:lnTo>
                <a:lnTo>
                  <a:pt x="1783509" y="414225"/>
                </a:lnTo>
                <a:lnTo>
                  <a:pt x="1786985" y="417597"/>
                </a:lnTo>
                <a:lnTo>
                  <a:pt x="1790462" y="420814"/>
                </a:lnTo>
                <a:lnTo>
                  <a:pt x="1793938" y="423719"/>
                </a:lnTo>
                <a:lnTo>
                  <a:pt x="1797415" y="426171"/>
                </a:lnTo>
                <a:lnTo>
                  <a:pt x="1800892" y="428057"/>
                </a:lnTo>
                <a:lnTo>
                  <a:pt x="1804368" y="429291"/>
                </a:lnTo>
                <a:lnTo>
                  <a:pt x="1807845" y="429822"/>
                </a:lnTo>
                <a:lnTo>
                  <a:pt x="1811322" y="429633"/>
                </a:lnTo>
                <a:lnTo>
                  <a:pt x="1814798" y="428744"/>
                </a:lnTo>
                <a:lnTo>
                  <a:pt x="1818275" y="427209"/>
                </a:lnTo>
                <a:lnTo>
                  <a:pt x="1821752" y="425113"/>
                </a:lnTo>
                <a:lnTo>
                  <a:pt x="1825228" y="422567"/>
                </a:lnTo>
                <a:lnTo>
                  <a:pt x="1828705" y="419705"/>
                </a:lnTo>
                <a:lnTo>
                  <a:pt x="1832181" y="416674"/>
                </a:lnTo>
                <a:lnTo>
                  <a:pt x="1835658" y="413627"/>
                </a:lnTo>
                <a:lnTo>
                  <a:pt x="1839135" y="410719"/>
                </a:lnTo>
                <a:lnTo>
                  <a:pt x="1842611" y="408095"/>
                </a:lnTo>
                <a:lnTo>
                  <a:pt x="1846088" y="405886"/>
                </a:lnTo>
                <a:lnTo>
                  <a:pt x="1849565" y="404202"/>
                </a:lnTo>
                <a:lnTo>
                  <a:pt x="1853041" y="403126"/>
                </a:lnTo>
                <a:lnTo>
                  <a:pt x="1856518" y="402711"/>
                </a:lnTo>
                <a:lnTo>
                  <a:pt x="1859994" y="402981"/>
                </a:lnTo>
                <a:lnTo>
                  <a:pt x="1863471" y="403925"/>
                </a:lnTo>
                <a:lnTo>
                  <a:pt x="1866948" y="405502"/>
                </a:lnTo>
                <a:lnTo>
                  <a:pt x="1870424" y="407641"/>
                </a:lnTo>
                <a:lnTo>
                  <a:pt x="1873901" y="410248"/>
                </a:lnTo>
                <a:lnTo>
                  <a:pt x="1877377" y="413207"/>
                </a:lnTo>
                <a:lnTo>
                  <a:pt x="1880854" y="416392"/>
                </a:lnTo>
                <a:lnTo>
                  <a:pt x="1884331" y="419665"/>
                </a:lnTo>
                <a:lnTo>
                  <a:pt x="1887807" y="422891"/>
                </a:lnTo>
                <a:lnTo>
                  <a:pt x="1891284" y="425937"/>
                </a:lnTo>
                <a:lnTo>
                  <a:pt x="1894761" y="428684"/>
                </a:lnTo>
                <a:lnTo>
                  <a:pt x="1898237" y="431029"/>
                </a:lnTo>
                <a:lnTo>
                  <a:pt x="1901714" y="432889"/>
                </a:lnTo>
                <a:lnTo>
                  <a:pt x="1905190" y="434206"/>
                </a:lnTo>
                <a:lnTo>
                  <a:pt x="1908667" y="434946"/>
                </a:lnTo>
                <a:lnTo>
                  <a:pt x="1912144" y="435101"/>
                </a:lnTo>
                <a:lnTo>
                  <a:pt x="1915620" y="434689"/>
                </a:lnTo>
                <a:lnTo>
                  <a:pt x="1919097" y="433751"/>
                </a:lnTo>
                <a:lnTo>
                  <a:pt x="1922574" y="432346"/>
                </a:lnTo>
                <a:lnTo>
                  <a:pt x="1926050" y="430550"/>
                </a:lnTo>
                <a:lnTo>
                  <a:pt x="1929527" y="428451"/>
                </a:lnTo>
                <a:lnTo>
                  <a:pt x="1933004" y="426142"/>
                </a:lnTo>
                <a:lnTo>
                  <a:pt x="1936480" y="423720"/>
                </a:lnTo>
                <a:lnTo>
                  <a:pt x="1939957" y="421278"/>
                </a:lnTo>
                <a:lnTo>
                  <a:pt x="1943433" y="418902"/>
                </a:lnTo>
                <a:lnTo>
                  <a:pt x="1946910" y="416668"/>
                </a:lnTo>
                <a:lnTo>
                  <a:pt x="1950387" y="414641"/>
                </a:lnTo>
                <a:lnTo>
                  <a:pt x="1953863" y="412868"/>
                </a:lnTo>
                <a:lnTo>
                  <a:pt x="1957340" y="411383"/>
                </a:lnTo>
                <a:lnTo>
                  <a:pt x="1960817" y="410205"/>
                </a:lnTo>
                <a:lnTo>
                  <a:pt x="1964293" y="409338"/>
                </a:lnTo>
                <a:lnTo>
                  <a:pt x="1967770" y="408773"/>
                </a:lnTo>
                <a:lnTo>
                  <a:pt x="1971246" y="408491"/>
                </a:lnTo>
                <a:lnTo>
                  <a:pt x="1974723" y="408465"/>
                </a:lnTo>
                <a:lnTo>
                  <a:pt x="1978200" y="408663"/>
                </a:lnTo>
                <a:lnTo>
                  <a:pt x="1981676" y="409051"/>
                </a:lnTo>
                <a:lnTo>
                  <a:pt x="1985153" y="409594"/>
                </a:lnTo>
                <a:lnTo>
                  <a:pt x="1988629" y="410259"/>
                </a:lnTo>
                <a:lnTo>
                  <a:pt x="1992106" y="411020"/>
                </a:lnTo>
                <a:lnTo>
                  <a:pt x="1995583" y="411852"/>
                </a:lnTo>
                <a:lnTo>
                  <a:pt x="1999059" y="412739"/>
                </a:lnTo>
                <a:lnTo>
                  <a:pt x="2002536" y="413667"/>
                </a:lnTo>
                <a:lnTo>
                  <a:pt x="2006013" y="414631"/>
                </a:lnTo>
                <a:lnTo>
                  <a:pt x="2009489" y="415625"/>
                </a:lnTo>
                <a:lnTo>
                  <a:pt x="2012966" y="416648"/>
                </a:lnTo>
                <a:lnTo>
                  <a:pt x="2016443" y="417699"/>
                </a:lnTo>
                <a:lnTo>
                  <a:pt x="2019919" y="418776"/>
                </a:lnTo>
                <a:lnTo>
                  <a:pt x="2023396" y="419873"/>
                </a:lnTo>
                <a:lnTo>
                  <a:pt x="2026872" y="420981"/>
                </a:lnTo>
                <a:lnTo>
                  <a:pt x="2030349" y="422086"/>
                </a:lnTo>
                <a:lnTo>
                  <a:pt x="2033826" y="423167"/>
                </a:lnTo>
                <a:lnTo>
                  <a:pt x="2037302" y="424199"/>
                </a:lnTo>
                <a:lnTo>
                  <a:pt x="2040779" y="425151"/>
                </a:lnTo>
                <a:lnTo>
                  <a:pt x="2044255" y="425989"/>
                </a:lnTo>
                <a:lnTo>
                  <a:pt x="2047732" y="426677"/>
                </a:lnTo>
                <a:lnTo>
                  <a:pt x="2051209" y="427179"/>
                </a:lnTo>
                <a:lnTo>
                  <a:pt x="2054685" y="427462"/>
                </a:lnTo>
                <a:lnTo>
                  <a:pt x="2058162" y="427497"/>
                </a:lnTo>
                <a:lnTo>
                  <a:pt x="2061639" y="427263"/>
                </a:lnTo>
                <a:lnTo>
                  <a:pt x="2065115" y="426748"/>
                </a:lnTo>
                <a:lnTo>
                  <a:pt x="2068592" y="425951"/>
                </a:lnTo>
                <a:lnTo>
                  <a:pt x="2072068" y="424884"/>
                </a:lnTo>
                <a:lnTo>
                  <a:pt x="2075545" y="423571"/>
                </a:lnTo>
                <a:lnTo>
                  <a:pt x="2079022" y="422050"/>
                </a:lnTo>
                <a:lnTo>
                  <a:pt x="2082498" y="420369"/>
                </a:lnTo>
                <a:lnTo>
                  <a:pt x="2085975" y="418587"/>
                </a:lnTo>
                <a:lnTo>
                  <a:pt x="2089452" y="416772"/>
                </a:lnTo>
                <a:lnTo>
                  <a:pt x="2092928" y="414996"/>
                </a:lnTo>
                <a:lnTo>
                  <a:pt x="2096405" y="413332"/>
                </a:lnTo>
                <a:lnTo>
                  <a:pt x="2099882" y="411851"/>
                </a:lnTo>
                <a:lnTo>
                  <a:pt x="2103358" y="410622"/>
                </a:lnTo>
                <a:lnTo>
                  <a:pt x="2106835" y="409699"/>
                </a:lnTo>
                <a:lnTo>
                  <a:pt x="2110311" y="409130"/>
                </a:lnTo>
                <a:lnTo>
                  <a:pt x="2113788" y="408944"/>
                </a:lnTo>
                <a:lnTo>
                  <a:pt x="2117265" y="409155"/>
                </a:lnTo>
                <a:lnTo>
                  <a:pt x="2120741" y="409759"/>
                </a:lnTo>
                <a:lnTo>
                  <a:pt x="2124218" y="410734"/>
                </a:lnTo>
                <a:lnTo>
                  <a:pt x="2127695" y="412040"/>
                </a:lnTo>
                <a:lnTo>
                  <a:pt x="2131171" y="413621"/>
                </a:lnTo>
                <a:lnTo>
                  <a:pt x="2134648" y="415409"/>
                </a:lnTo>
                <a:lnTo>
                  <a:pt x="2138124" y="417325"/>
                </a:lnTo>
                <a:lnTo>
                  <a:pt x="2141601" y="419282"/>
                </a:lnTo>
                <a:lnTo>
                  <a:pt x="2145078" y="421192"/>
                </a:lnTo>
                <a:lnTo>
                  <a:pt x="2148554" y="422969"/>
                </a:lnTo>
                <a:lnTo>
                  <a:pt x="2152031" y="424531"/>
                </a:lnTo>
                <a:lnTo>
                  <a:pt x="2155507" y="425809"/>
                </a:lnTo>
                <a:lnTo>
                  <a:pt x="2158984" y="426744"/>
                </a:lnTo>
                <a:lnTo>
                  <a:pt x="2162461" y="427296"/>
                </a:lnTo>
                <a:lnTo>
                  <a:pt x="2165937" y="427441"/>
                </a:lnTo>
                <a:lnTo>
                  <a:pt x="2169414" y="427177"/>
                </a:lnTo>
                <a:lnTo>
                  <a:pt x="2172891" y="426518"/>
                </a:lnTo>
                <a:lnTo>
                  <a:pt x="2176367" y="425499"/>
                </a:lnTo>
                <a:lnTo>
                  <a:pt x="2179844" y="424172"/>
                </a:lnTo>
                <a:lnTo>
                  <a:pt x="2183321" y="422602"/>
                </a:lnTo>
                <a:lnTo>
                  <a:pt x="2186797" y="420865"/>
                </a:lnTo>
                <a:lnTo>
                  <a:pt x="2190274" y="419045"/>
                </a:lnTo>
                <a:lnTo>
                  <a:pt x="2193750" y="417228"/>
                </a:lnTo>
                <a:lnTo>
                  <a:pt x="2197227" y="415500"/>
                </a:lnTo>
                <a:lnTo>
                  <a:pt x="2200704" y="413939"/>
                </a:lnTo>
                <a:lnTo>
                  <a:pt x="2204180" y="412617"/>
                </a:lnTo>
                <a:lnTo>
                  <a:pt x="2207657" y="411591"/>
                </a:lnTo>
                <a:lnTo>
                  <a:pt x="2211133" y="410904"/>
                </a:lnTo>
                <a:lnTo>
                  <a:pt x="2214610" y="410581"/>
                </a:lnTo>
                <a:lnTo>
                  <a:pt x="2218087" y="410630"/>
                </a:lnTo>
                <a:lnTo>
                  <a:pt x="2221563" y="411041"/>
                </a:lnTo>
                <a:lnTo>
                  <a:pt x="2225040" y="411786"/>
                </a:lnTo>
                <a:lnTo>
                  <a:pt x="2228517" y="412823"/>
                </a:lnTo>
                <a:lnTo>
                  <a:pt x="2231993" y="414096"/>
                </a:lnTo>
                <a:lnTo>
                  <a:pt x="2235470" y="415540"/>
                </a:lnTo>
                <a:lnTo>
                  <a:pt x="2238946" y="417083"/>
                </a:lnTo>
                <a:lnTo>
                  <a:pt x="2242423" y="418651"/>
                </a:lnTo>
                <a:lnTo>
                  <a:pt x="2245900" y="420171"/>
                </a:lnTo>
                <a:lnTo>
                  <a:pt x="2249376" y="421574"/>
                </a:lnTo>
                <a:lnTo>
                  <a:pt x="2252853" y="422800"/>
                </a:lnTo>
                <a:lnTo>
                  <a:pt x="2256330" y="423798"/>
                </a:lnTo>
                <a:lnTo>
                  <a:pt x="2259806" y="424532"/>
                </a:lnTo>
                <a:lnTo>
                  <a:pt x="2263283" y="424978"/>
                </a:lnTo>
                <a:lnTo>
                  <a:pt x="2266760" y="425128"/>
                </a:lnTo>
                <a:lnTo>
                  <a:pt x="2270236" y="424988"/>
                </a:lnTo>
                <a:lnTo>
                  <a:pt x="2273713" y="424578"/>
                </a:lnTo>
                <a:lnTo>
                  <a:pt x="2277189" y="423929"/>
                </a:lnTo>
                <a:lnTo>
                  <a:pt x="2280666" y="423083"/>
                </a:lnTo>
                <a:lnTo>
                  <a:pt x="2284143" y="422090"/>
                </a:lnTo>
                <a:lnTo>
                  <a:pt x="2287619" y="421002"/>
                </a:lnTo>
                <a:lnTo>
                  <a:pt x="2291096" y="419876"/>
                </a:lnTo>
                <a:lnTo>
                  <a:pt x="2294573" y="418766"/>
                </a:lnTo>
                <a:lnTo>
                  <a:pt x="2298049" y="417722"/>
                </a:lnTo>
                <a:lnTo>
                  <a:pt x="2301526" y="416788"/>
                </a:lnTo>
                <a:lnTo>
                  <a:pt x="2305002" y="415999"/>
                </a:lnTo>
                <a:lnTo>
                  <a:pt x="2308479" y="415382"/>
                </a:lnTo>
                <a:lnTo>
                  <a:pt x="2311956" y="414954"/>
                </a:lnTo>
                <a:lnTo>
                  <a:pt x="2315432" y="414719"/>
                </a:lnTo>
                <a:lnTo>
                  <a:pt x="2318909" y="414674"/>
                </a:lnTo>
                <a:lnTo>
                  <a:pt x="2322385" y="414803"/>
                </a:lnTo>
                <a:lnTo>
                  <a:pt x="2325862" y="415086"/>
                </a:lnTo>
                <a:lnTo>
                  <a:pt x="2329339" y="415496"/>
                </a:lnTo>
                <a:lnTo>
                  <a:pt x="2332815" y="415999"/>
                </a:lnTo>
                <a:lnTo>
                  <a:pt x="2336292" y="416562"/>
                </a:lnTo>
                <a:lnTo>
                  <a:pt x="2339769" y="417151"/>
                </a:lnTo>
                <a:lnTo>
                  <a:pt x="2343245" y="417734"/>
                </a:lnTo>
                <a:lnTo>
                  <a:pt x="2346722" y="418281"/>
                </a:lnTo>
                <a:lnTo>
                  <a:pt x="2350199" y="418769"/>
                </a:lnTo>
                <a:lnTo>
                  <a:pt x="2353675" y="419180"/>
                </a:lnTo>
                <a:lnTo>
                  <a:pt x="2357152" y="419502"/>
                </a:lnTo>
                <a:lnTo>
                  <a:pt x="2360628" y="419729"/>
                </a:lnTo>
                <a:lnTo>
                  <a:pt x="2364105" y="419862"/>
                </a:lnTo>
                <a:lnTo>
                  <a:pt x="2367582" y="419908"/>
                </a:lnTo>
                <a:lnTo>
                  <a:pt x="2371058" y="419878"/>
                </a:lnTo>
                <a:lnTo>
                  <a:pt x="2374535" y="419786"/>
                </a:lnTo>
                <a:lnTo>
                  <a:pt x="2378012" y="419649"/>
                </a:lnTo>
                <a:lnTo>
                  <a:pt x="2381488" y="419484"/>
                </a:lnTo>
                <a:lnTo>
                  <a:pt x="2384965" y="419309"/>
                </a:lnTo>
                <a:lnTo>
                  <a:pt x="2388441" y="419138"/>
                </a:lnTo>
                <a:lnTo>
                  <a:pt x="2391918" y="418984"/>
                </a:lnTo>
                <a:lnTo>
                  <a:pt x="2395395" y="418856"/>
                </a:lnTo>
                <a:lnTo>
                  <a:pt x="2398871" y="418760"/>
                </a:lnTo>
                <a:lnTo>
                  <a:pt x="2402348" y="418697"/>
                </a:lnTo>
                <a:lnTo>
                  <a:pt x="2405824" y="418665"/>
                </a:lnTo>
                <a:lnTo>
                  <a:pt x="2409301" y="418658"/>
                </a:lnTo>
                <a:lnTo>
                  <a:pt x="2412778" y="418669"/>
                </a:lnTo>
                <a:lnTo>
                  <a:pt x="2416254" y="418688"/>
                </a:lnTo>
                <a:lnTo>
                  <a:pt x="2419731" y="418706"/>
                </a:lnTo>
                <a:lnTo>
                  <a:pt x="2423208" y="418711"/>
                </a:lnTo>
                <a:lnTo>
                  <a:pt x="2426684" y="418697"/>
                </a:lnTo>
                <a:lnTo>
                  <a:pt x="2430161" y="418657"/>
                </a:lnTo>
                <a:lnTo>
                  <a:pt x="2433638" y="418587"/>
                </a:lnTo>
                <a:lnTo>
                  <a:pt x="2437114" y="418488"/>
                </a:lnTo>
                <a:lnTo>
                  <a:pt x="2440591" y="418362"/>
                </a:lnTo>
                <a:lnTo>
                  <a:pt x="2444067" y="418216"/>
                </a:lnTo>
                <a:lnTo>
                  <a:pt x="2447544" y="418059"/>
                </a:lnTo>
                <a:lnTo>
                  <a:pt x="2451021" y="417904"/>
                </a:lnTo>
                <a:lnTo>
                  <a:pt x="2454497" y="417764"/>
                </a:lnTo>
                <a:lnTo>
                  <a:pt x="2457974" y="417652"/>
                </a:lnTo>
                <a:lnTo>
                  <a:pt x="2461451" y="417582"/>
                </a:lnTo>
                <a:lnTo>
                  <a:pt x="2464927" y="417566"/>
                </a:lnTo>
                <a:lnTo>
                  <a:pt x="2468404" y="417612"/>
                </a:lnTo>
                <a:lnTo>
                  <a:pt x="2471880" y="417728"/>
                </a:lnTo>
                <a:lnTo>
                  <a:pt x="2475357" y="417913"/>
                </a:lnTo>
                <a:lnTo>
                  <a:pt x="2478834" y="418167"/>
                </a:lnTo>
                <a:lnTo>
                  <a:pt x="2482310" y="418481"/>
                </a:lnTo>
                <a:lnTo>
                  <a:pt x="2485787" y="418844"/>
                </a:lnTo>
                <a:lnTo>
                  <a:pt x="2489263" y="419241"/>
                </a:lnTo>
                <a:lnTo>
                  <a:pt x="2492740" y="419650"/>
                </a:lnTo>
                <a:lnTo>
                  <a:pt x="2496217" y="420053"/>
                </a:lnTo>
                <a:lnTo>
                  <a:pt x="2499693" y="420425"/>
                </a:lnTo>
                <a:lnTo>
                  <a:pt x="2503170" y="420744"/>
                </a:lnTo>
                <a:lnTo>
                  <a:pt x="2506647" y="420988"/>
                </a:lnTo>
                <a:lnTo>
                  <a:pt x="2510123" y="421140"/>
                </a:lnTo>
                <a:lnTo>
                  <a:pt x="2513600" y="421183"/>
                </a:lnTo>
                <a:lnTo>
                  <a:pt x="2517077" y="421109"/>
                </a:lnTo>
                <a:lnTo>
                  <a:pt x="2520553" y="420912"/>
                </a:lnTo>
                <a:lnTo>
                  <a:pt x="2524030" y="420593"/>
                </a:lnTo>
                <a:lnTo>
                  <a:pt x="2527506" y="420162"/>
                </a:lnTo>
                <a:lnTo>
                  <a:pt x="2530983" y="419630"/>
                </a:lnTo>
                <a:lnTo>
                  <a:pt x="2534460" y="419017"/>
                </a:lnTo>
                <a:lnTo>
                  <a:pt x="2537936" y="418348"/>
                </a:lnTo>
                <a:lnTo>
                  <a:pt x="2541413" y="417650"/>
                </a:lnTo>
                <a:lnTo>
                  <a:pt x="2544890" y="416953"/>
                </a:lnTo>
                <a:lnTo>
                  <a:pt x="2548366" y="416288"/>
                </a:lnTo>
                <a:lnTo>
                  <a:pt x="2551843" y="415686"/>
                </a:lnTo>
                <a:lnTo>
                  <a:pt x="2555319" y="415174"/>
                </a:lnTo>
                <a:lnTo>
                  <a:pt x="2558796" y="414778"/>
                </a:lnTo>
                <a:lnTo>
                  <a:pt x="2562273" y="414518"/>
                </a:lnTo>
                <a:lnTo>
                  <a:pt x="2565749" y="414409"/>
                </a:lnTo>
                <a:lnTo>
                  <a:pt x="2569226" y="414459"/>
                </a:lnTo>
                <a:lnTo>
                  <a:pt x="2572702" y="414669"/>
                </a:lnTo>
                <a:lnTo>
                  <a:pt x="2576179" y="415033"/>
                </a:lnTo>
                <a:lnTo>
                  <a:pt x="2579656" y="415538"/>
                </a:lnTo>
                <a:lnTo>
                  <a:pt x="2583132" y="416167"/>
                </a:lnTo>
                <a:lnTo>
                  <a:pt x="2586609" y="416894"/>
                </a:lnTo>
                <a:lnTo>
                  <a:pt x="2590086" y="417692"/>
                </a:lnTo>
                <a:lnTo>
                  <a:pt x="2593562" y="418529"/>
                </a:lnTo>
                <a:lnTo>
                  <a:pt x="2597039" y="419372"/>
                </a:lnTo>
                <a:lnTo>
                  <a:pt x="2600516" y="420189"/>
                </a:lnTo>
                <a:lnTo>
                  <a:pt x="2603992" y="420948"/>
                </a:lnTo>
                <a:lnTo>
                  <a:pt x="2607469" y="421620"/>
                </a:lnTo>
                <a:lnTo>
                  <a:pt x="2610945" y="422181"/>
                </a:lnTo>
                <a:lnTo>
                  <a:pt x="2614422" y="422610"/>
                </a:lnTo>
                <a:lnTo>
                  <a:pt x="2617899" y="422893"/>
                </a:lnTo>
                <a:lnTo>
                  <a:pt x="2621375" y="423023"/>
                </a:lnTo>
                <a:lnTo>
                  <a:pt x="2624852" y="422998"/>
                </a:lnTo>
                <a:lnTo>
                  <a:pt x="2628329" y="422821"/>
                </a:lnTo>
                <a:lnTo>
                  <a:pt x="2631805" y="422505"/>
                </a:lnTo>
                <a:lnTo>
                  <a:pt x="2635282" y="422064"/>
                </a:lnTo>
                <a:lnTo>
                  <a:pt x="2638758" y="421517"/>
                </a:lnTo>
                <a:lnTo>
                  <a:pt x="2642235" y="420890"/>
                </a:lnTo>
                <a:lnTo>
                  <a:pt x="2645712" y="420206"/>
                </a:lnTo>
                <a:lnTo>
                  <a:pt x="2649188" y="419493"/>
                </a:lnTo>
                <a:lnTo>
                  <a:pt x="2652665" y="418778"/>
                </a:lnTo>
                <a:lnTo>
                  <a:pt x="2656142" y="418084"/>
                </a:lnTo>
                <a:lnTo>
                  <a:pt x="2659618" y="417437"/>
                </a:lnTo>
                <a:lnTo>
                  <a:pt x="2663095" y="416856"/>
                </a:lnTo>
                <a:lnTo>
                  <a:pt x="2666571" y="416359"/>
                </a:lnTo>
                <a:lnTo>
                  <a:pt x="2670048" y="415957"/>
                </a:lnTo>
                <a:lnTo>
                  <a:pt x="2673525" y="415659"/>
                </a:lnTo>
                <a:lnTo>
                  <a:pt x="2677001" y="415469"/>
                </a:lnTo>
                <a:lnTo>
                  <a:pt x="2680478" y="415387"/>
                </a:lnTo>
                <a:lnTo>
                  <a:pt x="2683954" y="415409"/>
                </a:lnTo>
                <a:lnTo>
                  <a:pt x="2687431" y="415528"/>
                </a:lnTo>
                <a:lnTo>
                  <a:pt x="2690908" y="415732"/>
                </a:lnTo>
                <a:lnTo>
                  <a:pt x="2694384" y="416010"/>
                </a:lnTo>
                <a:lnTo>
                  <a:pt x="2697861" y="416347"/>
                </a:lnTo>
                <a:lnTo>
                  <a:pt x="2701338" y="416727"/>
                </a:lnTo>
                <a:lnTo>
                  <a:pt x="2704814" y="417136"/>
                </a:lnTo>
                <a:lnTo>
                  <a:pt x="2708291" y="417558"/>
                </a:lnTo>
                <a:lnTo>
                  <a:pt x="2711768" y="417979"/>
                </a:lnTo>
                <a:lnTo>
                  <a:pt x="2715244" y="418386"/>
                </a:lnTo>
                <a:lnTo>
                  <a:pt x="2718721" y="418767"/>
                </a:lnTo>
                <a:lnTo>
                  <a:pt x="2722197" y="419113"/>
                </a:lnTo>
                <a:lnTo>
                  <a:pt x="2725674" y="419416"/>
                </a:lnTo>
                <a:lnTo>
                  <a:pt x="2729151" y="419671"/>
                </a:lnTo>
                <a:lnTo>
                  <a:pt x="2732627" y="419874"/>
                </a:lnTo>
                <a:lnTo>
                  <a:pt x="2736104" y="420023"/>
                </a:lnTo>
                <a:lnTo>
                  <a:pt x="2739580" y="420117"/>
                </a:lnTo>
                <a:lnTo>
                  <a:pt x="2743057" y="420160"/>
                </a:lnTo>
                <a:lnTo>
                  <a:pt x="2746534" y="420153"/>
                </a:lnTo>
                <a:lnTo>
                  <a:pt x="2750010" y="420101"/>
                </a:lnTo>
                <a:lnTo>
                  <a:pt x="2753487" y="420009"/>
                </a:lnTo>
                <a:lnTo>
                  <a:pt x="2756964" y="419882"/>
                </a:lnTo>
                <a:lnTo>
                  <a:pt x="2760440" y="419727"/>
                </a:lnTo>
                <a:lnTo>
                  <a:pt x="2763917" y="419550"/>
                </a:lnTo>
                <a:lnTo>
                  <a:pt x="2767393" y="419359"/>
                </a:lnTo>
                <a:lnTo>
                  <a:pt x="2770870" y="419161"/>
                </a:lnTo>
                <a:lnTo>
                  <a:pt x="2774347" y="418961"/>
                </a:lnTo>
                <a:lnTo>
                  <a:pt x="2777823" y="418768"/>
                </a:lnTo>
                <a:lnTo>
                  <a:pt x="2781300" y="418587"/>
                </a:lnTo>
              </a:path>
            </a:pathLst>
          </a:custGeom>
          <a:noFill xmlns:a="http://schemas.openxmlformats.org/drawingml/2006/main"/>
          <a:ln xmlns:a="http://schemas.openxmlformats.org/drawingml/2006/main" w="15240">
            <a:solidFill>
              <a:srgbClr val="202020"/>
            </a:solidFill>
          </a:ln>
        </p:spPr>
      </p:sp>
      <p:pic>
        <p:nvPicPr>
          <p:cNvPr id="70" name="!!qam-route-m" descr="m_1,m_2">
            <ns0:hlinkClick xmlns:ns0="http://schemas.openxmlformats.org/drawingml/2006/main" xmlns:ns1="http://schemas.openxmlformats.org/officeDocument/2006/relationships" ns1:id="rIdmethods_Link16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7db324257f344f90">
            <a:extLst>
              <a:ext uri="{96DAC541-7B7A-43D3-8B79-37D633B846F1}">
                <ns0:svgBlip xmlns:ns0="http://schemas.microsoft.com/office/drawing/2016/SVG/main" r:embed="rIdVectormf00742"/>
              </a:ext>
            </a:extLst>
          </a:blip>
          <a:stretch xmlns:a="http://schemas.openxmlformats.org/drawingml/2006/main"/>
        </p:blipFill>
        <p:spPr>
          <a:xfrm xmlns:a="http://schemas.openxmlformats.org/drawingml/2006/main">
            <a:off x="1985509" y="975360"/>
            <a:ext cx="1267731" cy="240030"/>
          </a:xfrm>
          <a:prstGeom xmlns:a="http://schemas.openxmlformats.org/drawingml/2006/main" prst="rect">
            <a:avLst/>
          </a:prstGeom>
        </p:spPr>
      </p:pic>
      <p:pic>
        <p:nvPicPr>
          <p:cNvPr id="71" name="!!qam-route-s" descr="s(t)">
            <ns0:hlinkClick xmlns:ns0="http://schemas.openxmlformats.org/drawingml/2006/main" xmlns:ns1="http://schemas.openxmlformats.org/officeDocument/2006/relationships" ns1:id="rIdmethods_Link16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b39c31231e540c1">
            <a:extLst>
              <a:ext uri="{96DAC541-7B7A-43D3-8B79-37D633B846F1}">
                <ns1:svgBlip xmlns:ns1="http://schemas.microsoft.com/office/drawing/2016/SVG/main" r:embed="rIdVectormf00743"/>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72" name="!!qam-route-restored" descr="m_1,m_2">
            <ns0:hlinkClick xmlns:ns0="http://schemas.openxmlformats.org/drawingml/2006/main" xmlns:ns1="http://schemas.openxmlformats.org/officeDocument/2006/relationships" ns1:id="rIdmethods_Link16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b5a8c335aded4694">
            <a:extLst>
              <a:ext uri="{96DAC541-7B7A-43D3-8B79-37D633B846F1}">
                <ns2:svgBlip xmlns:ns2="http://schemas.microsoft.com/office/drawing/2016/SVG/main" r:embed="rIdVectormf00744"/>
              </a:ext>
            </a:extLst>
          </a:blip>
          <a:stretch xmlns:a="http://schemas.openxmlformats.org/drawingml/2006/main"/>
        </p:blipFill>
        <p:spPr>
          <a:xfrm xmlns:a="http://schemas.openxmlformats.org/drawingml/2006/main">
            <a:off x="8938759" y="975360"/>
            <a:ext cx="1267731" cy="240030"/>
          </a:xfrm>
          <a:prstGeom xmlns:a="http://schemas.openxmlformats.org/drawingml/2006/main" prst="rect">
            <a:avLst/>
          </a:prstGeom>
        </p:spPr>
      </p:pic>
      <p:pic>
        <p:nvPicPr>
          <p:cNvPr id="73" name="!!qam-qam-modulate-g0-r0-domain" descr="t"/>
          <p:cNvPicPr>
            <a:picLocks xmlns:a="http://schemas.openxmlformats.org/drawingml/2006/main" noChangeAspect="1"/>
          </p:cNvPicPr>
          <p:nvPr/>
        </p:nvPicPr>
        <p:blipFill>
          <a:blip xmlns:r="http://schemas.openxmlformats.org/officeDocument/2006/relationships" xmlns:a="http://schemas.openxmlformats.org/drawingml/2006/main" r:embed="Ra81c464c87f64d3c">
            <a:extLst>
              <a:ext uri="{96DAC541-7B7A-43D3-8B79-37D633B846F1}">
                <ns3:svgBlip xmlns:ns3="http://schemas.microsoft.com/office/drawing/2016/SVG/main" r:embed="rIdVectormf00745"/>
              </a:ext>
            </a:extLst>
          </a:blip>
          <a:stretch xmlns:a="http://schemas.openxmlformats.org/drawingml/2006/main"/>
        </p:blipFill>
        <p:spPr>
          <a:xfrm xmlns:a="http://schemas.openxmlformats.org/drawingml/2006/main">
            <a:off x="3371850" y="2580144"/>
            <a:ext cx="68580" cy="97512"/>
          </a:xfrm>
          <a:prstGeom xmlns:a="http://schemas.openxmlformats.org/drawingml/2006/main" prst="rect">
            <a:avLst/>
          </a:prstGeom>
        </p:spPr>
      </p:pic>
      <p:pic>
        <p:nvPicPr>
          <p:cNvPr id="74" name="!!qam-qam-modulate-g0-r0-label" descr="\textstyle m_1(t)"/>
          <p:cNvPicPr>
            <a:picLocks xmlns:a="http://schemas.openxmlformats.org/drawingml/2006/main" noChangeAspect="1"/>
          </p:cNvPicPr>
          <p:nvPr/>
        </p:nvPicPr>
        <p:blipFill>
          <a:blip xmlns:r="http://schemas.openxmlformats.org/officeDocument/2006/relationships" xmlns:a="http://schemas.openxmlformats.org/drawingml/2006/main" r:embed="R5e30548584834537">
            <a:extLst>
              <a:ext uri="{96DAC541-7B7A-43D3-8B79-37D633B846F1}">
                <ns4:svgBlip xmlns:ns4="http://schemas.microsoft.com/office/drawing/2016/SVG/main" r:embed="rIdVectormf00746"/>
              </a:ext>
            </a:extLst>
          </a:blip>
          <a:stretch xmlns:a="http://schemas.openxmlformats.org/drawingml/2006/main"/>
        </p:blipFill>
        <p:spPr>
          <a:xfrm xmlns:a="http://schemas.openxmlformats.org/drawingml/2006/main">
            <a:off x="571500" y="2081213"/>
            <a:ext cx="586740" cy="209550"/>
          </a:xfrm>
          <a:prstGeom xmlns:a="http://schemas.openxmlformats.org/drawingml/2006/main" prst="rect">
            <a:avLst/>
          </a:prstGeom>
        </p:spPr>
      </p:pic>
      <p:pic>
        <p:nvPicPr>
          <p:cNvPr id="75" name="!!qam-qam-modulate-g0-r1-domain" descr="t"/>
          <p:cNvPicPr>
            <a:picLocks xmlns:a="http://schemas.openxmlformats.org/drawingml/2006/main" noChangeAspect="1"/>
          </p:cNvPicPr>
          <p:nvPr/>
        </p:nvPicPr>
        <p:blipFill>
          <a:blip xmlns:r="http://schemas.openxmlformats.org/officeDocument/2006/relationships" xmlns:a="http://schemas.openxmlformats.org/drawingml/2006/main" r:embed="R708401d57e764c13">
            <a:extLst>
              <a:ext uri="{96DAC541-7B7A-43D3-8B79-37D633B846F1}">
                <ns5:svgBlip xmlns:ns5="http://schemas.microsoft.com/office/drawing/2016/SVG/main" r:embed="rIdVectormf00747"/>
              </a:ext>
            </a:extLst>
          </a:blip>
          <a:stretch xmlns:a="http://schemas.openxmlformats.org/drawingml/2006/main"/>
        </p:blipFill>
        <p:spPr>
          <a:xfrm xmlns:a="http://schemas.openxmlformats.org/drawingml/2006/main">
            <a:off x="3371850" y="3846969"/>
            <a:ext cx="68580" cy="97512"/>
          </a:xfrm>
          <a:prstGeom xmlns:a="http://schemas.openxmlformats.org/drawingml/2006/main" prst="rect">
            <a:avLst/>
          </a:prstGeom>
        </p:spPr>
      </p:pic>
      <p:pic>
        <p:nvPicPr>
          <p:cNvPr id="76" name="!!qam-qam-modulate-g0-r1-label" descr="\textstyle m_2(t)"/>
          <p:cNvPicPr>
            <a:picLocks xmlns:a="http://schemas.openxmlformats.org/drawingml/2006/main" noChangeAspect="1"/>
          </p:cNvPicPr>
          <p:nvPr/>
        </p:nvPicPr>
        <p:blipFill>
          <a:blip xmlns:r="http://schemas.openxmlformats.org/officeDocument/2006/relationships" xmlns:a="http://schemas.openxmlformats.org/drawingml/2006/main" r:embed="Rcc0c7363578a48c8">
            <a:extLst>
              <a:ext uri="{96DAC541-7B7A-43D3-8B79-37D633B846F1}">
                <ns6:svgBlip xmlns:ns6="http://schemas.microsoft.com/office/drawing/2016/SVG/main" r:embed="rIdVectormf00748"/>
              </a:ext>
            </a:extLst>
          </a:blip>
          <a:stretch xmlns:a="http://schemas.openxmlformats.org/drawingml/2006/main"/>
        </p:blipFill>
        <p:spPr>
          <a:xfrm xmlns:a="http://schemas.openxmlformats.org/drawingml/2006/main">
            <a:off x="571500" y="3486150"/>
            <a:ext cx="586740" cy="209550"/>
          </a:xfrm>
          <a:prstGeom xmlns:a="http://schemas.openxmlformats.org/drawingml/2006/main" prst="rect">
            <a:avLst/>
          </a:prstGeom>
        </p:spPr>
      </p:pic>
      <p:pic>
        <p:nvPicPr>
          <p:cNvPr id="77" name="!!qam-qam-modulate-g1-r0-domain" descr="t"/>
          <p:cNvPicPr>
            <a:picLocks xmlns:a="http://schemas.openxmlformats.org/drawingml/2006/main" noChangeAspect="1"/>
          </p:cNvPicPr>
          <p:nvPr/>
        </p:nvPicPr>
        <p:blipFill>
          <a:blip xmlns:r="http://schemas.openxmlformats.org/officeDocument/2006/relationships" xmlns:a="http://schemas.openxmlformats.org/drawingml/2006/main" r:embed="R0e08103e762d4cd0">
            <a:extLst>
              <a:ext uri="{96DAC541-7B7A-43D3-8B79-37D633B846F1}">
                <ns7:svgBlip xmlns:ns7="http://schemas.microsoft.com/office/drawing/2016/SVG/main" r:embed="rIdVectormf00749"/>
              </a:ext>
            </a:extLst>
          </a:blip>
          <a:stretch xmlns:a="http://schemas.openxmlformats.org/drawingml/2006/main"/>
        </p:blipFill>
        <p:spPr>
          <a:xfrm xmlns:a="http://schemas.openxmlformats.org/drawingml/2006/main">
            <a:off x="7372350" y="2580144"/>
            <a:ext cx="68580" cy="97512"/>
          </a:xfrm>
          <a:prstGeom xmlns:a="http://schemas.openxmlformats.org/drawingml/2006/main" prst="rect">
            <a:avLst/>
          </a:prstGeom>
        </p:spPr>
      </p:pic>
      <p:pic>
        <p:nvPicPr>
          <p:cNvPr id="78" name="!!qam-qam-modulate-g1-r0-label" descr="\textstyle A_cm_1(t)\cos(2\pi f_ct)"/>
          <p:cNvPicPr>
            <a:picLocks xmlns:a="http://schemas.openxmlformats.org/drawingml/2006/main" noChangeAspect="1"/>
          </p:cNvPicPr>
          <p:nvPr/>
        </p:nvPicPr>
        <p:blipFill>
          <a:blip xmlns:r="http://schemas.openxmlformats.org/officeDocument/2006/relationships" xmlns:a="http://schemas.openxmlformats.org/drawingml/2006/main" r:embed="R346364b6fb644623">
            <a:extLst>
              <a:ext uri="{96DAC541-7B7A-43D3-8B79-37D633B846F1}">
                <ns8:svgBlip xmlns:ns8="http://schemas.microsoft.com/office/drawing/2016/SVG/main" r:embed="rIdVectormf00750"/>
              </a:ext>
            </a:extLst>
          </a:blip>
          <a:stretch xmlns:a="http://schemas.openxmlformats.org/drawingml/2006/main"/>
        </p:blipFill>
        <p:spPr>
          <a:xfrm xmlns:a="http://schemas.openxmlformats.org/drawingml/2006/main">
            <a:off x="4572000" y="2081867"/>
            <a:ext cx="1927860" cy="208240"/>
          </a:xfrm>
          <a:prstGeom xmlns:a="http://schemas.openxmlformats.org/drawingml/2006/main" prst="rect">
            <a:avLst/>
          </a:prstGeom>
        </p:spPr>
      </p:pic>
      <p:pic>
        <p:nvPicPr>
          <p:cNvPr id="79" name="!!qam-qam-modulate-g1-r1-domain" descr="t"/>
          <p:cNvPicPr>
            <a:picLocks xmlns:a="http://schemas.openxmlformats.org/drawingml/2006/main" noChangeAspect="1"/>
          </p:cNvPicPr>
          <p:nvPr/>
        </p:nvPicPr>
        <p:blipFill>
          <a:blip xmlns:r="http://schemas.openxmlformats.org/officeDocument/2006/relationships" xmlns:a="http://schemas.openxmlformats.org/drawingml/2006/main" r:embed="Rf5b6899cc7924d5b">
            <a:extLst>
              <a:ext uri="{96DAC541-7B7A-43D3-8B79-37D633B846F1}">
                <ns9:svgBlip xmlns:ns9="http://schemas.microsoft.com/office/drawing/2016/SVG/main" r:embed="rIdVectormf00751"/>
              </a:ext>
            </a:extLst>
          </a:blip>
          <a:stretch xmlns:a="http://schemas.openxmlformats.org/drawingml/2006/main"/>
        </p:blipFill>
        <p:spPr>
          <a:xfrm xmlns:a="http://schemas.openxmlformats.org/drawingml/2006/main">
            <a:off x="7372350" y="3846969"/>
            <a:ext cx="68580" cy="97512"/>
          </a:xfrm>
          <a:prstGeom xmlns:a="http://schemas.openxmlformats.org/drawingml/2006/main" prst="rect">
            <a:avLst/>
          </a:prstGeom>
        </p:spPr>
      </p:pic>
      <p:pic>
        <p:nvPicPr>
          <p:cNvPr id="80" name="!!qam-qam-modulate-g1-r1-label" descr="\textstyle A_cm_2(t)\sin(2\pi f_ct)"/>
          <p:cNvPicPr>
            <a:picLocks xmlns:a="http://schemas.openxmlformats.org/drawingml/2006/main" noChangeAspect="1"/>
          </p:cNvPicPr>
          <p:nvPr/>
        </p:nvPicPr>
        <p:blipFill>
          <a:blip xmlns:r="http://schemas.openxmlformats.org/officeDocument/2006/relationships" xmlns:a="http://schemas.openxmlformats.org/drawingml/2006/main" r:embed="R3c5a3fe1ae6442de">
            <a:extLst>
              <a:ext uri="{96DAC541-7B7A-43D3-8B79-37D633B846F1}">
                <ns10:svgBlip xmlns:ns10="http://schemas.microsoft.com/office/drawing/2016/SVG/main" r:embed="rIdVectormf00752"/>
              </a:ext>
            </a:extLst>
          </a:blip>
          <a:stretch xmlns:a="http://schemas.openxmlformats.org/drawingml/2006/main"/>
        </p:blipFill>
        <p:spPr>
          <a:xfrm xmlns:a="http://schemas.openxmlformats.org/drawingml/2006/main">
            <a:off x="4572000" y="3486150"/>
            <a:ext cx="1906905" cy="209550"/>
          </a:xfrm>
          <a:prstGeom xmlns:a="http://schemas.openxmlformats.org/drawingml/2006/main" prst="rect">
            <a:avLst/>
          </a:prstGeom>
        </p:spPr>
      </p:pic>
      <p:pic>
        <p:nvPicPr>
          <p:cNvPr id="81" name="!!qam-qam-modulate-g2-r0-domain" descr="t"/>
          <p:cNvPicPr>
            <a:picLocks xmlns:a="http://schemas.openxmlformats.org/drawingml/2006/main" noChangeAspect="1"/>
          </p:cNvPicPr>
          <p:nvPr/>
        </p:nvPicPr>
        <p:blipFill>
          <a:blip xmlns:r="http://schemas.openxmlformats.org/officeDocument/2006/relationships" xmlns:a="http://schemas.openxmlformats.org/drawingml/2006/main" r:embed="R2ec490a0887c4b2a">
            <a:extLst>
              <a:ext uri="{96DAC541-7B7A-43D3-8B79-37D633B846F1}">
                <ns11:svgBlip xmlns:ns11="http://schemas.microsoft.com/office/drawing/2016/SVG/main" r:embed="rIdVectormf00753"/>
              </a:ext>
            </a:extLst>
          </a:blip>
          <a:stretch xmlns:a="http://schemas.openxmlformats.org/drawingml/2006/main"/>
        </p:blipFill>
        <p:spPr>
          <a:xfrm xmlns:a="http://schemas.openxmlformats.org/drawingml/2006/main">
            <a:off x="11372850" y="3008769"/>
            <a:ext cx="68580" cy="97512"/>
          </a:xfrm>
          <a:prstGeom xmlns:a="http://schemas.openxmlformats.org/drawingml/2006/main" prst="rect">
            <a:avLst/>
          </a:prstGeom>
        </p:spPr>
      </p:pic>
      <p:pic>
        <p:nvPicPr>
          <p:cNvPr id="82" name="!!qam-qam-modulate-g2-r0-label" descr="\textstyle s(t)"/>
          <p:cNvPicPr>
            <a:picLocks xmlns:a="http://schemas.openxmlformats.org/drawingml/2006/main" noChangeAspect="1"/>
          </p:cNvPicPr>
          <p:nvPr/>
        </p:nvPicPr>
        <p:blipFill>
          <a:blip xmlns:r="http://schemas.openxmlformats.org/officeDocument/2006/relationships" xmlns:a="http://schemas.openxmlformats.org/drawingml/2006/main" r:embed="R34e08fb8d2834a94">
            <a:extLst>
              <a:ext uri="{96DAC541-7B7A-43D3-8B79-37D633B846F1}">
                <ns12:svgBlip xmlns:ns12="http://schemas.microsoft.com/office/drawing/2016/SVG/main" r:embed="rIdVectormf00754"/>
              </a:ext>
            </a:extLst>
          </a:blip>
          <a:stretch xmlns:a="http://schemas.openxmlformats.org/drawingml/2006/main"/>
        </p:blipFill>
        <p:spPr>
          <a:xfrm xmlns:a="http://schemas.openxmlformats.org/drawingml/2006/main">
            <a:off x="8572735" y="2381250"/>
            <a:ext cx="376719" cy="209550"/>
          </a:xfrm>
          <a:prstGeom xmlns:a="http://schemas.openxmlformats.org/drawingml/2006/main" prst="rect">
            <a:avLst/>
          </a:prstGeom>
        </p:spPr>
      </p:pic>
      <p:pic>
        <p:nvPicPr>
          <p:cNvPr id="83" name="!!qam-qam-add-math" descr="\textstyle +"/>
          <p:cNvPicPr>
            <a:picLocks xmlns:a="http://schemas.openxmlformats.org/drawingml/2006/main" noChangeAspect="1"/>
          </p:cNvPicPr>
          <p:nvPr/>
        </p:nvPicPr>
        <p:blipFill>
          <a:blip xmlns:r="http://schemas.openxmlformats.org/officeDocument/2006/relationships" xmlns:a="http://schemas.openxmlformats.org/drawingml/2006/main" r:embed="Ree107c015c1f48dc">
            <a:extLst>
              <a:ext uri="{96DAC541-7B7A-43D3-8B79-37D633B846F1}">
                <ns13:svgBlip xmlns:ns13="http://schemas.microsoft.com/office/drawing/2016/SVG/main" r:embed="rIdVectormf00755"/>
              </a:ext>
            </a:extLst>
          </a:blip>
          <a:stretch xmlns:a="http://schemas.openxmlformats.org/drawingml/2006/main"/>
        </p:blipFill>
        <p:spPr>
          <a:xfrm xmlns:a="http://schemas.openxmlformats.org/drawingml/2006/main">
            <a:off x="7860030" y="3064693"/>
            <a:ext cx="205740" cy="176165"/>
          </a:xfrm>
          <a:prstGeom xmlns:a="http://schemas.openxmlformats.org/drawingml/2006/main" prst="rect">
            <a:avLst/>
          </a:prstGeom>
        </p:spPr>
      </p:pic>
      <p:pic>
        <p:nvPicPr>
          <p:cNvPr id="84" name="!!qam-dense-equation-0" descr="\textstyle m_1(t),\quad m_2(t)"/>
          <p:cNvPicPr>
            <a:picLocks xmlns:a="http://schemas.openxmlformats.org/drawingml/2006/main" noChangeAspect="1"/>
          </p:cNvPicPr>
          <p:nvPr/>
        </p:nvPicPr>
        <p:blipFill>
          <a:blip xmlns:r="http://schemas.openxmlformats.org/officeDocument/2006/relationships" xmlns:a="http://schemas.openxmlformats.org/drawingml/2006/main" r:embed="R98d664030da4494b">
            <a:extLst>
              <a:ext uri="{96DAC541-7B7A-43D3-8B79-37D633B846F1}">
                <ns14:svgBlip xmlns:ns14="http://schemas.microsoft.com/office/drawing/2016/SVG/main" r:embed="rIdVectormf00756"/>
              </a:ext>
            </a:extLst>
          </a:blip>
          <a:stretch xmlns:a="http://schemas.openxmlformats.org/drawingml/2006/main"/>
        </p:blipFill>
        <p:spPr>
          <a:xfrm xmlns:a="http://schemas.openxmlformats.org/drawingml/2006/main">
            <a:off x="609600" y="4993285"/>
            <a:ext cx="1783080" cy="246102"/>
          </a:xfrm>
          <a:prstGeom xmlns:a="http://schemas.openxmlformats.org/drawingml/2006/main" prst="rect">
            <a:avLst/>
          </a:prstGeom>
        </p:spPr>
      </p:pic>
      <p:pic>
        <p:nvPicPr>
          <p:cNvPr id="85" name="!!qam-dense-equation-1" descr="\textstyle A_cm_1(t)\cos(2\pi f_ct),\quad A_cm_2(t)\sin(2\pi f_ct)"/>
          <p:cNvPicPr>
            <a:picLocks xmlns:a="http://schemas.openxmlformats.org/drawingml/2006/main" noChangeAspect="1"/>
          </p:cNvPicPr>
          <p:nvPr/>
        </p:nvPicPr>
        <p:blipFill>
          <a:blip xmlns:r="http://schemas.openxmlformats.org/officeDocument/2006/relationships" xmlns:a="http://schemas.openxmlformats.org/drawingml/2006/main" r:embed="Rd84d9bb075f64068">
            <a:extLst>
              <a:ext uri="{96DAC541-7B7A-43D3-8B79-37D633B846F1}">
                <ns15:svgBlip xmlns:ns15="http://schemas.microsoft.com/office/drawing/2016/SVG/main" r:embed="rIdVectormf00757"/>
              </a:ext>
            </a:extLst>
          </a:blip>
          <a:stretch xmlns:a="http://schemas.openxmlformats.org/drawingml/2006/main"/>
        </p:blipFill>
        <p:spPr>
          <a:xfrm xmlns:a="http://schemas.openxmlformats.org/drawingml/2006/main">
            <a:off x="609600" y="5431435"/>
            <a:ext cx="4928235" cy="246102"/>
          </a:xfrm>
          <a:prstGeom xmlns:a="http://schemas.openxmlformats.org/drawingml/2006/main" prst="rect">
            <a:avLst/>
          </a:prstGeom>
        </p:spPr>
      </p:pic>
      <p:pic>
        <p:nvPicPr>
          <p:cNvPr id="86" name="!!qam-dense-equation-2" descr="\textstyle s(t)=A_cm_1(t)\cos(2\pi f_ct)+A_cm_2(t)\sin(2\pi f_ct)"/>
          <p:cNvPicPr>
            <a:picLocks xmlns:a="http://schemas.openxmlformats.org/drawingml/2006/main" noChangeAspect="1"/>
          </p:cNvPicPr>
          <p:nvPr/>
        </p:nvPicPr>
        <p:blipFill>
          <a:blip xmlns:r="http://schemas.openxmlformats.org/officeDocument/2006/relationships" xmlns:a="http://schemas.openxmlformats.org/drawingml/2006/main" r:embed="Rb655a2997c76403c">
            <a:extLst>
              <a:ext uri="{96DAC541-7B7A-43D3-8B79-37D633B846F1}">
                <ns16:svgBlip xmlns:ns16="http://schemas.microsoft.com/office/drawing/2016/SVG/main" r:embed="rIdVectormf00758"/>
              </a:ext>
            </a:extLst>
          </a:blip>
          <a:stretch xmlns:a="http://schemas.openxmlformats.org/drawingml/2006/main"/>
        </p:blipFill>
        <p:spPr>
          <a:xfrm xmlns:a="http://schemas.openxmlformats.org/drawingml/2006/main">
            <a:off x="609600" y="5869585"/>
            <a:ext cx="5695950" cy="246102"/>
          </a:xfrm>
          <a:prstGeom xmlns:a="http://schemas.openxmlformats.org/drawingml/2006/main" prst="rect">
            <a:avLst/>
          </a:prstGeom>
        </p:spPr>
      </p:pic>
    </p:spTree>
    <p:extLst>
      <p:ext uri="{BB962C8B-B14F-4D97-AF65-F5344CB8AC3E}">
        <p14:creationId xmlns:p14="http://schemas.microsoft.com/office/powerpoint/2010/main" val="125480219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400"/>
                                        <p:tgtEl>
                                          <p:spTgt spid="8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400"/>
                                        <p:tgtEl>
                                          <p:spTgt spid="25"/>
                                        </p:tgtEl>
                                      </p:cBhvr>
                                    </p:animEffect>
                                  </p:childTnLst>
                                </p:cTn>
                              </p:par>
                              <p:par>
                                <p:cTn id="31" presetID="10" presetClass="entr" presetSubtype="0" fill="hold" nodeType="withEffect">
                                  <p:stCondLst>
                                    <p:cond delay="0"/>
                                  </p:stCondLst>
                                  <p:childTnLst>
                                    <p:set>
                                      <p:cBhvr>
                                        <p:cTn id="32" dur="1" fill="hold">
                                          <p:stCondLst>
                                            <p:cond delay="0"/>
                                          </p:stCondLst>
                                        </p:cTn>
                                        <p:tgtEl>
                                          <p:spTgt spid="83"/>
                                        </p:tgtEl>
                                        <p:attrNameLst>
                                          <p:attrName>style.visibility</p:attrName>
                                        </p:attrNameLst>
                                      </p:cBhvr>
                                      <p:to>
                                        <p:strVal val="visible"/>
                                      </p:to>
                                    </p:set>
                                    <p:animEffect transition="in" filter="fade">
                                      <p:cBhvr>
                                        <p:cTn id="33" dur="400"/>
                                        <p:tgtEl>
                                          <p:spTgt spid="83"/>
                                        </p:tgtEl>
                                      </p:cBhvr>
                                    </p:animEffect>
                                  </p:childTnLst>
                                </p:cTn>
                              </p:par>
                              <p:par>
                                <p:cTn id="34" presetID="10"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400"/>
                                        <p:tgtEl>
                                          <p:spTgt spid="26"/>
                                        </p:tgtEl>
                                      </p:cBhvr>
                                    </p:animEffect>
                                  </p:childTnLst>
                                </p:cTn>
                              </p:par>
                              <p:par>
                                <p:cTn id="37" presetID="10" presetClass="entr" presetSubtype="0" fill="hold" nodeType="withEffect">
                                  <p:stCondLst>
                                    <p:cond delay="0"/>
                                  </p:stCondLst>
                                  <p:childTnLst>
                                    <p:set>
                                      <p:cBhvr>
                                        <p:cTn id="38" dur="1" fill="hold">
                                          <p:stCondLst>
                                            <p:cond delay="0"/>
                                          </p:stCondLst>
                                        </p:cTn>
                                        <p:tgtEl>
                                          <p:spTgt spid="86"/>
                                        </p:tgtEl>
                                        <p:attrNameLst>
                                          <p:attrName>style.visibility</p:attrName>
                                        </p:attrNameLst>
                                      </p:cBhvr>
                                      <p:to>
                                        <p:strVal val="visible"/>
                                      </p:to>
                                    </p:set>
                                    <p:animEffect transition="in" filter="fade">
                                      <p:cBhvr>
                                        <p:cTn id="39" dur="4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methods_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qam-title">
            <ns0:hlinkClick xmlns:ns0="http://schemas.openxmlformats.org/drawingml/2006/main" xmlns:ns1="http://schemas.openxmlformats.org/officeDocument/2006/relationships" ns1:id="rIdmethods_Link166" action="ppaction://hlinksldjump"/>
            <a:extLst xmlns:a="http://schemas.openxmlformats.org/drawingml/2006/main">
              <a:ext uri="{FF2B5EF4-FFF2-40B4-BE49-F238E27FC236}">
                <a16:creationId xmlns:a16="http://schemas.microsoft.com/office/drawing/2014/main" id="{08DC6D03-0340-46C7-9116-9A21859B5548}"/>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66" action="ppaction://hlinksldjump"/>
              </a:rPr>
              <a:t>QAM</a:t>
            </a:r>
          </a:p>
        </p:txBody>
      </p:sp>
      <p:sp>
        <p:nvSpPr>
          <p:cNvPr id="2" name="!!qam-route-tx-line">
            <a:extLst xmlns:a="http://schemas.openxmlformats.org/drawingml/2006/main">
              <a:ext uri="{FF2B5EF4-FFF2-40B4-BE49-F238E27FC236}">
                <a16:creationId xmlns:a16="http://schemas.microsoft.com/office/drawing/2014/main" id="{A9528AE0-C417-43B3-AC75-C415908E0E52}"/>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qam-route-tx-head">
            <a:extLst xmlns:a="http://schemas.openxmlformats.org/drawingml/2006/main">
              <a:ext uri="{FF2B5EF4-FFF2-40B4-BE49-F238E27FC236}">
                <a16:creationId xmlns:a16="http://schemas.microsoft.com/office/drawing/2014/main" id="{0CCA128B-6EAE-49A8-B396-E5F7E33AA8C1}"/>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qam-route-rx-line">
            <a:extLst xmlns:a="http://schemas.openxmlformats.org/drawingml/2006/main">
              <a:ext uri="{FF2B5EF4-FFF2-40B4-BE49-F238E27FC236}">
                <a16:creationId xmlns:a16="http://schemas.microsoft.com/office/drawing/2014/main" id="{9B44BEF8-8352-4256-A93A-41905B244E90}"/>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qam-route-rx-head">
            <a:extLst xmlns:a="http://schemas.openxmlformats.org/drawingml/2006/main">
              <a:ext uri="{FF2B5EF4-FFF2-40B4-BE49-F238E27FC236}">
                <a16:creationId xmlns:a16="http://schemas.microsoft.com/office/drawing/2014/main" id="{BDBDB668-45DA-4629-B9FB-AF44F833F450}"/>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qam-review-purpose">
            <a:extLst xmlns:a="http://schemas.openxmlformats.org/drawingml/2006/main">
              <a:ext uri="{FF2B5EF4-FFF2-40B4-BE49-F238E27FC236}">
                <a16:creationId xmlns:a16="http://schemas.microsoft.com/office/drawing/2014/main" id="{A2A9062E-41DC-4DB7-96C2-DBC233640499}"/>
              </a:ext>
            </a:extLst>
          </p:cNvPr>
          <p:cNvSpPr>
            <a:spLocks xmlns:a="http://schemas.openxmlformats.org/drawingml/2006/main" noGrp="1"/>
          </p:cNvSpPr>
          <p:nvPr/>
        </p:nvSpPr>
        <p:spPr>
          <a:xfrm xmlns:a="http://schemas.openxmlformats.org/drawingml/2006/main">
            <a:off x="666750" y="1552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Recover the first message using its cosine carrier</a:t>
            </a:r>
          </a:p>
        </p:txBody>
      </p:sp>
      <p:sp>
        <p:nvSpPr>
          <p:cNvPr id="7" name="!!qam-qam-multiply1-g0-r0-axis-line">
            <a:extLst xmlns:a="http://schemas.openxmlformats.org/drawingml/2006/main">
              <a:ext uri="{FF2B5EF4-FFF2-40B4-BE49-F238E27FC236}">
                <a16:creationId xmlns:a16="http://schemas.microsoft.com/office/drawing/2014/main" id="{EC6444C0-535F-43A0-B2E5-FCAD31781F76}"/>
              </a:ext>
            </a:extLst>
          </p:cNvPr>
          <p:cNvSpPr>
            <a:spLocks xmlns:a="http://schemas.openxmlformats.org/drawingml/2006/main" noGrp="1"/>
          </p:cNvSpPr>
          <p:nvPr/>
        </p:nvSpPr>
        <p:spPr>
          <a:xfrm xmlns:a="http://schemas.openxmlformats.org/drawingml/2006/main">
            <a:off x="5715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qam-qam-multiply1-g0-r0-axis-head">
            <a:extLst xmlns:a="http://schemas.openxmlformats.org/drawingml/2006/main">
              <a:ext uri="{FF2B5EF4-FFF2-40B4-BE49-F238E27FC236}">
                <a16:creationId xmlns:a16="http://schemas.microsoft.com/office/drawing/2014/main" id="{CA74EFA2-4D28-4760-B144-79EC85B79433}"/>
              </a:ext>
            </a:extLst>
          </p:cNvPr>
          <p:cNvSpPr>
            <a:spLocks xmlns:a="http://schemas.openxmlformats.org/drawingml/2006/main" noGrp="1"/>
          </p:cNvSpPr>
          <p:nvPr/>
        </p:nvSpPr>
        <p:spPr>
          <a:xfrm xmlns:a="http://schemas.openxmlformats.org/drawingml/2006/main" rot="5400000">
            <a:off x="32385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9" name="!!qam-qam-multiply1-g1-r0-axis-line">
            <a:extLst xmlns:a="http://schemas.openxmlformats.org/drawingml/2006/main">
              <a:ext uri="{FF2B5EF4-FFF2-40B4-BE49-F238E27FC236}">
                <a16:creationId xmlns:a16="http://schemas.microsoft.com/office/drawing/2014/main" id="{43615AB2-4B65-4653-8A87-780A28A4F61D}"/>
              </a:ext>
            </a:extLst>
          </p:cNvPr>
          <p:cNvSpPr>
            <a:spLocks xmlns:a="http://schemas.openxmlformats.org/drawingml/2006/main" noGrp="1"/>
          </p:cNvSpPr>
          <p:nvPr/>
        </p:nvSpPr>
        <p:spPr>
          <a:xfrm xmlns:a="http://schemas.openxmlformats.org/drawingml/2006/main">
            <a:off x="4572000" y="3209925"/>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qam-qam-multiply1-g1-r0-axis-head">
            <a:extLst xmlns:a="http://schemas.openxmlformats.org/drawingml/2006/main">
              <a:ext uri="{FF2B5EF4-FFF2-40B4-BE49-F238E27FC236}">
                <a16:creationId xmlns:a16="http://schemas.microsoft.com/office/drawing/2014/main" id="{81953EC7-97A2-40C3-A7B5-777D43C3D47F}"/>
              </a:ext>
            </a:extLst>
          </p:cNvPr>
          <p:cNvSpPr>
            <a:spLocks xmlns:a="http://schemas.openxmlformats.org/drawingml/2006/main" noGrp="1"/>
          </p:cNvSpPr>
          <p:nvPr/>
        </p:nvSpPr>
        <p:spPr>
          <a:xfrm xmlns:a="http://schemas.openxmlformats.org/drawingml/2006/main" rot="5400000">
            <a:off x="7239000" y="3162300"/>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1" name="!!qam-qam-multiply1-g0-r0-wave">
            <a:extLst xmlns:a="http://schemas.openxmlformats.org/drawingml/2006/main">
              <a:ext uri="{FF2B5EF4-FFF2-40B4-BE49-F238E27FC236}">
                <a16:creationId xmlns:a16="http://schemas.microsoft.com/office/drawing/2014/main" id="{DD3E1E9E-FB9B-42F0-8414-6A4AF898F9EC}"/>
              </a:ext>
            </a:extLst>
          </p:cNvPr>
          <p:cNvSpPr>
            <a:spLocks xmlns:a="http://schemas.openxmlformats.org/drawingml/2006/main" noGrp="1"/>
          </p:cNvSpPr>
          <p:nvPr/>
        </p:nvSpPr>
        <p:spPr>
          <a:xfrm xmlns:a="http://schemas.openxmlformats.org/drawingml/2006/main">
            <a:off x="571500" y="2791338"/>
            <a:ext cx="2781300" cy="815592"/>
          </a:xfrm>
          <a:custGeom xmlns:a="http://schemas.openxmlformats.org/drawingml/2006/main">
            <a:pathLst>
              <a:path w="2781300" h="815592">
                <a:moveTo>
                  <a:pt x="0" y="418587"/>
                </a:moveTo>
                <a:lnTo>
                  <a:pt x="3477" y="418402"/>
                </a:lnTo>
                <a:lnTo>
                  <a:pt x="6953" y="418196"/>
                </a:lnTo>
                <a:lnTo>
                  <a:pt x="10430" y="417979"/>
                </a:lnTo>
                <a:lnTo>
                  <a:pt x="13907" y="417761"/>
                </a:lnTo>
                <a:lnTo>
                  <a:pt x="17383" y="417556"/>
                </a:lnTo>
                <a:lnTo>
                  <a:pt x="20860" y="417376"/>
                </a:lnTo>
                <a:lnTo>
                  <a:pt x="24336" y="417236"/>
                </a:lnTo>
                <a:lnTo>
                  <a:pt x="27813" y="417147"/>
                </a:lnTo>
                <a:lnTo>
                  <a:pt x="31290" y="417121"/>
                </a:lnTo>
                <a:lnTo>
                  <a:pt x="34766" y="417165"/>
                </a:lnTo>
                <a:lnTo>
                  <a:pt x="38243" y="417286"/>
                </a:lnTo>
                <a:lnTo>
                  <a:pt x="41719" y="417483"/>
                </a:lnTo>
                <a:lnTo>
                  <a:pt x="45196" y="417755"/>
                </a:lnTo>
                <a:lnTo>
                  <a:pt x="48673" y="418093"/>
                </a:lnTo>
                <a:lnTo>
                  <a:pt x="52149" y="418486"/>
                </a:lnTo>
                <a:lnTo>
                  <a:pt x="55626" y="418918"/>
                </a:lnTo>
                <a:lnTo>
                  <a:pt x="59103" y="419371"/>
                </a:lnTo>
                <a:lnTo>
                  <a:pt x="62579" y="419823"/>
                </a:lnTo>
                <a:lnTo>
                  <a:pt x="66056" y="420252"/>
                </a:lnTo>
                <a:lnTo>
                  <a:pt x="69532" y="420634"/>
                </a:lnTo>
                <a:lnTo>
                  <a:pt x="73009" y="420947"/>
                </a:lnTo>
                <a:lnTo>
                  <a:pt x="76486" y="421171"/>
                </a:lnTo>
                <a:lnTo>
                  <a:pt x="79962" y="421289"/>
                </a:lnTo>
                <a:lnTo>
                  <a:pt x="83439" y="421289"/>
                </a:lnTo>
                <a:lnTo>
                  <a:pt x="86916" y="421165"/>
                </a:lnTo>
                <a:lnTo>
                  <a:pt x="90392" y="420913"/>
                </a:lnTo>
                <a:lnTo>
                  <a:pt x="93869" y="420541"/>
                </a:lnTo>
                <a:lnTo>
                  <a:pt x="97345" y="420057"/>
                </a:lnTo>
                <a:lnTo>
                  <a:pt x="100822" y="419480"/>
                </a:lnTo>
                <a:lnTo>
                  <a:pt x="104299" y="418831"/>
                </a:lnTo>
                <a:lnTo>
                  <a:pt x="107775" y="418138"/>
                </a:lnTo>
                <a:lnTo>
                  <a:pt x="111252" y="417429"/>
                </a:lnTo>
                <a:lnTo>
                  <a:pt x="114729" y="416736"/>
                </a:lnTo>
                <a:lnTo>
                  <a:pt x="118205" y="416092"/>
                </a:lnTo>
                <a:lnTo>
                  <a:pt x="121682" y="415526"/>
                </a:lnTo>
                <a:lnTo>
                  <a:pt x="125159" y="415066"/>
                </a:lnTo>
                <a:lnTo>
                  <a:pt x="128635" y="414737"/>
                </a:lnTo>
                <a:lnTo>
                  <a:pt x="132112" y="414556"/>
                </a:lnTo>
                <a:lnTo>
                  <a:pt x="135588" y="414536"/>
                </a:lnTo>
                <a:lnTo>
                  <a:pt x="139065" y="414682"/>
                </a:lnTo>
                <a:lnTo>
                  <a:pt x="142542" y="414991"/>
                </a:lnTo>
                <a:lnTo>
                  <a:pt x="146018" y="415452"/>
                </a:lnTo>
                <a:lnTo>
                  <a:pt x="149495" y="416051"/>
                </a:lnTo>
                <a:lnTo>
                  <a:pt x="152972" y="416762"/>
                </a:lnTo>
                <a:lnTo>
                  <a:pt x="156448" y="417558"/>
                </a:lnTo>
                <a:lnTo>
                  <a:pt x="159925" y="418406"/>
                </a:lnTo>
                <a:lnTo>
                  <a:pt x="163401" y="419272"/>
                </a:lnTo>
                <a:lnTo>
                  <a:pt x="166878" y="420119"/>
                </a:lnTo>
                <a:lnTo>
                  <a:pt x="170355" y="420913"/>
                </a:lnTo>
                <a:lnTo>
                  <a:pt x="173831" y="421620"/>
                </a:lnTo>
                <a:lnTo>
                  <a:pt x="177308" y="422213"/>
                </a:lnTo>
                <a:lnTo>
                  <a:pt x="180785" y="422668"/>
                </a:lnTo>
                <a:lnTo>
                  <a:pt x="184261" y="422967"/>
                </a:lnTo>
                <a:lnTo>
                  <a:pt x="187738" y="423099"/>
                </a:lnTo>
                <a:lnTo>
                  <a:pt x="191214" y="423063"/>
                </a:lnTo>
                <a:lnTo>
                  <a:pt x="194691" y="422860"/>
                </a:lnTo>
                <a:lnTo>
                  <a:pt x="198168" y="422504"/>
                </a:lnTo>
                <a:lnTo>
                  <a:pt x="201644" y="422011"/>
                </a:lnTo>
                <a:lnTo>
                  <a:pt x="205121" y="421403"/>
                </a:lnTo>
                <a:lnTo>
                  <a:pt x="208598" y="420709"/>
                </a:lnTo>
                <a:lnTo>
                  <a:pt x="212074" y="419958"/>
                </a:lnTo>
                <a:lnTo>
                  <a:pt x="215551" y="419181"/>
                </a:lnTo>
                <a:lnTo>
                  <a:pt x="219027" y="418409"/>
                </a:lnTo>
                <a:lnTo>
                  <a:pt x="222504" y="417674"/>
                </a:lnTo>
                <a:lnTo>
                  <a:pt x="225981" y="417001"/>
                </a:lnTo>
                <a:lnTo>
                  <a:pt x="229457" y="416414"/>
                </a:lnTo>
                <a:lnTo>
                  <a:pt x="232934" y="415931"/>
                </a:lnTo>
                <a:lnTo>
                  <a:pt x="236410" y="415566"/>
                </a:lnTo>
                <a:lnTo>
                  <a:pt x="239887" y="415326"/>
                </a:lnTo>
                <a:lnTo>
                  <a:pt x="243364" y="415213"/>
                </a:lnTo>
                <a:lnTo>
                  <a:pt x="246840" y="415223"/>
                </a:lnTo>
                <a:lnTo>
                  <a:pt x="250317" y="415347"/>
                </a:lnTo>
                <a:lnTo>
                  <a:pt x="253794" y="415573"/>
                </a:lnTo>
                <a:lnTo>
                  <a:pt x="257270" y="415885"/>
                </a:lnTo>
                <a:lnTo>
                  <a:pt x="260747" y="416263"/>
                </a:lnTo>
                <a:lnTo>
                  <a:pt x="264223" y="416687"/>
                </a:lnTo>
                <a:lnTo>
                  <a:pt x="267700" y="417138"/>
                </a:lnTo>
                <a:lnTo>
                  <a:pt x="271177" y="417595"/>
                </a:lnTo>
                <a:lnTo>
                  <a:pt x="274653" y="418041"/>
                </a:lnTo>
                <a:lnTo>
                  <a:pt x="278130" y="418459"/>
                </a:lnTo>
                <a:lnTo>
                  <a:pt x="281607" y="418837"/>
                </a:lnTo>
                <a:lnTo>
                  <a:pt x="285083" y="419165"/>
                </a:lnTo>
                <a:lnTo>
                  <a:pt x="288560" y="419436"/>
                </a:lnTo>
                <a:lnTo>
                  <a:pt x="292036" y="419647"/>
                </a:lnTo>
                <a:lnTo>
                  <a:pt x="295513" y="419798"/>
                </a:lnTo>
                <a:lnTo>
                  <a:pt x="298990" y="419890"/>
                </a:lnTo>
                <a:lnTo>
                  <a:pt x="302466" y="419929"/>
                </a:lnTo>
                <a:lnTo>
                  <a:pt x="305943" y="419920"/>
                </a:lnTo>
                <a:lnTo>
                  <a:pt x="309420" y="419872"/>
                </a:lnTo>
                <a:lnTo>
                  <a:pt x="312896" y="419790"/>
                </a:lnTo>
                <a:lnTo>
                  <a:pt x="316373" y="419685"/>
                </a:lnTo>
                <a:lnTo>
                  <a:pt x="319850" y="419562"/>
                </a:lnTo>
                <a:lnTo>
                  <a:pt x="323326" y="419429"/>
                </a:lnTo>
                <a:lnTo>
                  <a:pt x="326803" y="419292"/>
                </a:lnTo>
                <a:lnTo>
                  <a:pt x="330279" y="419155"/>
                </a:lnTo>
                <a:lnTo>
                  <a:pt x="333756" y="419023"/>
                </a:lnTo>
                <a:lnTo>
                  <a:pt x="337233" y="418898"/>
                </a:lnTo>
                <a:lnTo>
                  <a:pt x="340709" y="418783"/>
                </a:lnTo>
                <a:lnTo>
                  <a:pt x="344186" y="418679"/>
                </a:lnTo>
                <a:lnTo>
                  <a:pt x="347663" y="418587"/>
                </a:lnTo>
                <a:lnTo>
                  <a:pt x="351139" y="418509"/>
                </a:lnTo>
                <a:lnTo>
                  <a:pt x="354616" y="418446"/>
                </a:lnTo>
                <a:lnTo>
                  <a:pt x="358092" y="418400"/>
                </a:lnTo>
                <a:lnTo>
                  <a:pt x="361569" y="418372"/>
                </a:lnTo>
                <a:lnTo>
                  <a:pt x="365046" y="418363"/>
                </a:lnTo>
                <a:lnTo>
                  <a:pt x="368522" y="418377"/>
                </a:lnTo>
                <a:lnTo>
                  <a:pt x="371999" y="418414"/>
                </a:lnTo>
                <a:lnTo>
                  <a:pt x="375476" y="418476"/>
                </a:lnTo>
                <a:lnTo>
                  <a:pt x="378952" y="418563"/>
                </a:lnTo>
                <a:lnTo>
                  <a:pt x="382429" y="418675"/>
                </a:lnTo>
                <a:lnTo>
                  <a:pt x="385905" y="418810"/>
                </a:lnTo>
                <a:lnTo>
                  <a:pt x="389382" y="418964"/>
                </a:lnTo>
                <a:lnTo>
                  <a:pt x="392859" y="419133"/>
                </a:lnTo>
                <a:lnTo>
                  <a:pt x="396335" y="419309"/>
                </a:lnTo>
                <a:lnTo>
                  <a:pt x="399812" y="419484"/>
                </a:lnTo>
                <a:lnTo>
                  <a:pt x="403289" y="419647"/>
                </a:lnTo>
                <a:lnTo>
                  <a:pt x="406765" y="419788"/>
                </a:lnTo>
                <a:lnTo>
                  <a:pt x="410242" y="419895"/>
                </a:lnTo>
                <a:lnTo>
                  <a:pt x="413718" y="419957"/>
                </a:lnTo>
                <a:lnTo>
                  <a:pt x="417195" y="419962"/>
                </a:lnTo>
                <a:lnTo>
                  <a:pt x="420672" y="419901"/>
                </a:lnTo>
                <a:lnTo>
                  <a:pt x="424148" y="419766"/>
                </a:lnTo>
                <a:lnTo>
                  <a:pt x="427625" y="419554"/>
                </a:lnTo>
                <a:lnTo>
                  <a:pt x="431101" y="419262"/>
                </a:lnTo>
                <a:lnTo>
                  <a:pt x="434578" y="418893"/>
                </a:lnTo>
                <a:lnTo>
                  <a:pt x="438055" y="418455"/>
                </a:lnTo>
                <a:lnTo>
                  <a:pt x="441531" y="417958"/>
                </a:lnTo>
                <a:lnTo>
                  <a:pt x="445008" y="417417"/>
                </a:lnTo>
                <a:lnTo>
                  <a:pt x="448485" y="416851"/>
                </a:lnTo>
                <a:lnTo>
                  <a:pt x="451961" y="416281"/>
                </a:lnTo>
                <a:lnTo>
                  <a:pt x="455438" y="415732"/>
                </a:lnTo>
                <a:lnTo>
                  <a:pt x="458915" y="415227"/>
                </a:lnTo>
                <a:lnTo>
                  <a:pt x="462391" y="414793"/>
                </a:lnTo>
                <a:lnTo>
                  <a:pt x="465868" y="414454"/>
                </a:lnTo>
                <a:lnTo>
                  <a:pt x="469344" y="414231"/>
                </a:lnTo>
                <a:lnTo>
                  <a:pt x="472821" y="414143"/>
                </a:lnTo>
                <a:lnTo>
                  <a:pt x="476298" y="414203"/>
                </a:lnTo>
                <a:lnTo>
                  <a:pt x="479774" y="414422"/>
                </a:lnTo>
                <a:lnTo>
                  <a:pt x="483251" y="414800"/>
                </a:lnTo>
                <a:lnTo>
                  <a:pt x="486727" y="415336"/>
                </a:lnTo>
                <a:lnTo>
                  <a:pt x="490204" y="416018"/>
                </a:lnTo>
                <a:lnTo>
                  <a:pt x="493681" y="416830"/>
                </a:lnTo>
                <a:lnTo>
                  <a:pt x="497157" y="417750"/>
                </a:lnTo>
                <a:lnTo>
                  <a:pt x="500634" y="418750"/>
                </a:lnTo>
                <a:lnTo>
                  <a:pt x="504111" y="419798"/>
                </a:lnTo>
                <a:lnTo>
                  <a:pt x="507587" y="420861"/>
                </a:lnTo>
                <a:lnTo>
                  <a:pt x="511064" y="421901"/>
                </a:lnTo>
                <a:lnTo>
                  <a:pt x="514541" y="422883"/>
                </a:lnTo>
                <a:lnTo>
                  <a:pt x="518017" y="423771"/>
                </a:lnTo>
                <a:lnTo>
                  <a:pt x="521494" y="424532"/>
                </a:lnTo>
                <a:lnTo>
                  <a:pt x="524970" y="425138"/>
                </a:lnTo>
                <a:lnTo>
                  <a:pt x="528447" y="425564"/>
                </a:lnTo>
                <a:lnTo>
                  <a:pt x="531924" y="425794"/>
                </a:lnTo>
                <a:lnTo>
                  <a:pt x="535400" y="425815"/>
                </a:lnTo>
                <a:lnTo>
                  <a:pt x="538877" y="425622"/>
                </a:lnTo>
                <a:lnTo>
                  <a:pt x="542354" y="425220"/>
                </a:lnTo>
                <a:lnTo>
                  <a:pt x="545830" y="424616"/>
                </a:lnTo>
                <a:lnTo>
                  <a:pt x="549307" y="423826"/>
                </a:lnTo>
                <a:lnTo>
                  <a:pt x="552783" y="422873"/>
                </a:lnTo>
                <a:lnTo>
                  <a:pt x="556260" y="421783"/>
                </a:lnTo>
                <a:lnTo>
                  <a:pt x="559737" y="420585"/>
                </a:lnTo>
                <a:lnTo>
                  <a:pt x="563213" y="419315"/>
                </a:lnTo>
                <a:lnTo>
                  <a:pt x="566690" y="418007"/>
                </a:lnTo>
                <a:lnTo>
                  <a:pt x="570167" y="416698"/>
                </a:lnTo>
                <a:lnTo>
                  <a:pt x="573643" y="415424"/>
                </a:lnTo>
                <a:lnTo>
                  <a:pt x="577120" y="414218"/>
                </a:lnTo>
                <a:lnTo>
                  <a:pt x="580596" y="413114"/>
                </a:lnTo>
                <a:lnTo>
                  <a:pt x="584073" y="412142"/>
                </a:lnTo>
                <a:lnTo>
                  <a:pt x="587550" y="411327"/>
                </a:lnTo>
                <a:lnTo>
                  <a:pt x="591026" y="410691"/>
                </a:lnTo>
                <a:lnTo>
                  <a:pt x="594503" y="410253"/>
                </a:lnTo>
                <a:lnTo>
                  <a:pt x="597980" y="410025"/>
                </a:lnTo>
                <a:lnTo>
                  <a:pt x="601456" y="410015"/>
                </a:lnTo>
                <a:lnTo>
                  <a:pt x="604933" y="410226"/>
                </a:lnTo>
                <a:lnTo>
                  <a:pt x="608409" y="410656"/>
                </a:lnTo>
                <a:lnTo>
                  <a:pt x="611886" y="411298"/>
                </a:lnTo>
                <a:lnTo>
                  <a:pt x="615363" y="412139"/>
                </a:lnTo>
                <a:lnTo>
                  <a:pt x="618839" y="413161"/>
                </a:lnTo>
                <a:lnTo>
                  <a:pt x="622316" y="414343"/>
                </a:lnTo>
                <a:lnTo>
                  <a:pt x="625793" y="415657"/>
                </a:lnTo>
                <a:lnTo>
                  <a:pt x="629269" y="417072"/>
                </a:lnTo>
                <a:lnTo>
                  <a:pt x="632746" y="418554"/>
                </a:lnTo>
                <a:lnTo>
                  <a:pt x="636222" y="420064"/>
                </a:lnTo>
                <a:lnTo>
                  <a:pt x="639699" y="421560"/>
                </a:lnTo>
                <a:lnTo>
                  <a:pt x="643176" y="423001"/>
                </a:lnTo>
                <a:lnTo>
                  <a:pt x="646652" y="424343"/>
                </a:lnTo>
                <a:lnTo>
                  <a:pt x="650129" y="425544"/>
                </a:lnTo>
                <a:lnTo>
                  <a:pt x="653606" y="426563"/>
                </a:lnTo>
                <a:lnTo>
                  <a:pt x="657082" y="427363"/>
                </a:lnTo>
                <a:lnTo>
                  <a:pt x="660559" y="427912"/>
                </a:lnTo>
                <a:lnTo>
                  <a:pt x="664035" y="428185"/>
                </a:lnTo>
                <a:lnTo>
                  <a:pt x="667512" y="428164"/>
                </a:lnTo>
                <a:lnTo>
                  <a:pt x="670989" y="427839"/>
                </a:lnTo>
                <a:lnTo>
                  <a:pt x="674465" y="427213"/>
                </a:lnTo>
                <a:lnTo>
                  <a:pt x="677942" y="426299"/>
                </a:lnTo>
                <a:lnTo>
                  <a:pt x="681419" y="425119"/>
                </a:lnTo>
                <a:lnTo>
                  <a:pt x="684895" y="423708"/>
                </a:lnTo>
                <a:lnTo>
                  <a:pt x="688372" y="422112"/>
                </a:lnTo>
                <a:lnTo>
                  <a:pt x="691848" y="420384"/>
                </a:lnTo>
                <a:lnTo>
                  <a:pt x="695325" y="418587"/>
                </a:lnTo>
                <a:lnTo>
                  <a:pt x="698802" y="416787"/>
                </a:lnTo>
                <a:lnTo>
                  <a:pt x="702278" y="415055"/>
                </a:lnTo>
                <a:lnTo>
                  <a:pt x="705755" y="413460"/>
                </a:lnTo>
                <a:lnTo>
                  <a:pt x="709231" y="412069"/>
                </a:lnTo>
                <a:lnTo>
                  <a:pt x="712708" y="410942"/>
                </a:lnTo>
                <a:lnTo>
                  <a:pt x="716185" y="410131"/>
                </a:lnTo>
                <a:lnTo>
                  <a:pt x="719661" y="409675"/>
                </a:lnTo>
                <a:lnTo>
                  <a:pt x="723138" y="409599"/>
                </a:lnTo>
                <a:lnTo>
                  <a:pt x="726615" y="409911"/>
                </a:lnTo>
                <a:lnTo>
                  <a:pt x="730091" y="410603"/>
                </a:lnTo>
                <a:lnTo>
                  <a:pt x="733568" y="411647"/>
                </a:lnTo>
                <a:lnTo>
                  <a:pt x="737045" y="413002"/>
                </a:lnTo>
                <a:lnTo>
                  <a:pt x="740521" y="414606"/>
                </a:lnTo>
                <a:lnTo>
                  <a:pt x="743998" y="416388"/>
                </a:lnTo>
                <a:lnTo>
                  <a:pt x="747474" y="418263"/>
                </a:lnTo>
                <a:lnTo>
                  <a:pt x="750951" y="420142"/>
                </a:lnTo>
                <a:lnTo>
                  <a:pt x="754428" y="421932"/>
                </a:lnTo>
                <a:lnTo>
                  <a:pt x="757904" y="423540"/>
                </a:lnTo>
                <a:lnTo>
                  <a:pt x="761381" y="424883"/>
                </a:lnTo>
                <a:lnTo>
                  <a:pt x="764858" y="425886"/>
                </a:lnTo>
                <a:lnTo>
                  <a:pt x="768334" y="426491"/>
                </a:lnTo>
                <a:lnTo>
                  <a:pt x="771811" y="426656"/>
                </a:lnTo>
                <a:lnTo>
                  <a:pt x="775287" y="426363"/>
                </a:lnTo>
                <a:lnTo>
                  <a:pt x="778764" y="425614"/>
                </a:lnTo>
                <a:lnTo>
                  <a:pt x="782241" y="424436"/>
                </a:lnTo>
                <a:lnTo>
                  <a:pt x="785717" y="422878"/>
                </a:lnTo>
                <a:lnTo>
                  <a:pt x="789194" y="421012"/>
                </a:lnTo>
                <a:lnTo>
                  <a:pt x="792671" y="418924"/>
                </a:lnTo>
                <a:lnTo>
                  <a:pt x="796147" y="416719"/>
                </a:lnTo>
                <a:lnTo>
                  <a:pt x="799624" y="414508"/>
                </a:lnTo>
                <a:lnTo>
                  <a:pt x="803100" y="412407"/>
                </a:lnTo>
                <a:lnTo>
                  <a:pt x="806577" y="410529"/>
                </a:lnTo>
                <a:lnTo>
                  <a:pt x="810054" y="408981"/>
                </a:lnTo>
                <a:lnTo>
                  <a:pt x="813530" y="407856"/>
                </a:lnTo>
                <a:lnTo>
                  <a:pt x="817007" y="407227"/>
                </a:lnTo>
                <a:lnTo>
                  <a:pt x="820483" y="407147"/>
                </a:lnTo>
                <a:lnTo>
                  <a:pt x="823960" y="407640"/>
                </a:lnTo>
                <a:lnTo>
                  <a:pt x="827437" y="408704"/>
                </a:lnTo>
                <a:lnTo>
                  <a:pt x="830913" y="410308"/>
                </a:lnTo>
                <a:lnTo>
                  <a:pt x="834390" y="412393"/>
                </a:lnTo>
                <a:lnTo>
                  <a:pt x="837867" y="414875"/>
                </a:lnTo>
                <a:lnTo>
                  <a:pt x="841343" y="417650"/>
                </a:lnTo>
                <a:lnTo>
                  <a:pt x="844820" y="420595"/>
                </a:lnTo>
                <a:lnTo>
                  <a:pt x="848297" y="423577"/>
                </a:lnTo>
                <a:lnTo>
                  <a:pt x="851773" y="426459"/>
                </a:lnTo>
                <a:lnTo>
                  <a:pt x="855250" y="429107"/>
                </a:lnTo>
                <a:lnTo>
                  <a:pt x="858726" y="431394"/>
                </a:lnTo>
                <a:lnTo>
                  <a:pt x="862203" y="433211"/>
                </a:lnTo>
                <a:lnTo>
                  <a:pt x="865680" y="434468"/>
                </a:lnTo>
                <a:lnTo>
                  <a:pt x="869156" y="435101"/>
                </a:lnTo>
                <a:lnTo>
                  <a:pt x="872633" y="435076"/>
                </a:lnTo>
                <a:lnTo>
                  <a:pt x="876110" y="434388"/>
                </a:lnTo>
                <a:lnTo>
                  <a:pt x="879586" y="433064"/>
                </a:lnTo>
                <a:lnTo>
                  <a:pt x="883063" y="431159"/>
                </a:lnTo>
                <a:lnTo>
                  <a:pt x="886539" y="428757"/>
                </a:lnTo>
                <a:lnTo>
                  <a:pt x="890016" y="425960"/>
                </a:lnTo>
                <a:lnTo>
                  <a:pt x="893493" y="422891"/>
                </a:lnTo>
                <a:lnTo>
                  <a:pt x="896969" y="419680"/>
                </a:lnTo>
                <a:lnTo>
                  <a:pt x="900446" y="416463"/>
                </a:lnTo>
                <a:lnTo>
                  <a:pt x="903923" y="413370"/>
                </a:lnTo>
                <a:lnTo>
                  <a:pt x="907399" y="410524"/>
                </a:lnTo>
                <a:lnTo>
                  <a:pt x="910876" y="408031"/>
                </a:lnTo>
                <a:lnTo>
                  <a:pt x="914352" y="405978"/>
                </a:lnTo>
                <a:lnTo>
                  <a:pt x="917829" y="404424"/>
                </a:lnTo>
                <a:lnTo>
                  <a:pt x="921306" y="403407"/>
                </a:lnTo>
                <a:lnTo>
                  <a:pt x="924782" y="402933"/>
                </a:lnTo>
                <a:lnTo>
                  <a:pt x="928259" y="402986"/>
                </a:lnTo>
                <a:lnTo>
                  <a:pt x="931735" y="403524"/>
                </a:lnTo>
                <a:lnTo>
                  <a:pt x="935212" y="404486"/>
                </a:lnTo>
                <a:lnTo>
                  <a:pt x="938689" y="405796"/>
                </a:lnTo>
                <a:lnTo>
                  <a:pt x="942165" y="407370"/>
                </a:lnTo>
                <a:lnTo>
                  <a:pt x="945642" y="409119"/>
                </a:lnTo>
                <a:lnTo>
                  <a:pt x="949119" y="410958"/>
                </a:lnTo>
                <a:lnTo>
                  <a:pt x="952595" y="412809"/>
                </a:lnTo>
                <a:lnTo>
                  <a:pt x="956072" y="414607"/>
                </a:lnTo>
                <a:lnTo>
                  <a:pt x="959549" y="416305"/>
                </a:lnTo>
                <a:lnTo>
                  <a:pt x="963025" y="417873"/>
                </a:lnTo>
                <a:lnTo>
                  <a:pt x="966502" y="419300"/>
                </a:lnTo>
                <a:lnTo>
                  <a:pt x="969978" y="420593"/>
                </a:lnTo>
                <a:lnTo>
                  <a:pt x="973455" y="421777"/>
                </a:lnTo>
                <a:lnTo>
                  <a:pt x="976932" y="422884"/>
                </a:lnTo>
                <a:lnTo>
                  <a:pt x="980408" y="423959"/>
                </a:lnTo>
                <a:lnTo>
                  <a:pt x="983885" y="425042"/>
                </a:lnTo>
                <a:lnTo>
                  <a:pt x="987362" y="426172"/>
                </a:lnTo>
                <a:lnTo>
                  <a:pt x="990838" y="427375"/>
                </a:lnTo>
                <a:lnTo>
                  <a:pt x="994315" y="428662"/>
                </a:lnTo>
                <a:lnTo>
                  <a:pt x="997791" y="430022"/>
                </a:lnTo>
                <a:lnTo>
                  <a:pt x="1001268" y="431423"/>
                </a:lnTo>
                <a:lnTo>
                  <a:pt x="1004745" y="432805"/>
                </a:lnTo>
                <a:lnTo>
                  <a:pt x="1008221" y="434090"/>
                </a:lnTo>
                <a:lnTo>
                  <a:pt x="1011698" y="435175"/>
                </a:lnTo>
                <a:lnTo>
                  <a:pt x="1015174" y="435946"/>
                </a:lnTo>
                <a:lnTo>
                  <a:pt x="1018651" y="436278"/>
                </a:lnTo>
                <a:lnTo>
                  <a:pt x="1022128" y="436050"/>
                </a:lnTo>
                <a:lnTo>
                  <a:pt x="1025604" y="435149"/>
                </a:lnTo>
                <a:lnTo>
                  <a:pt x="1029081" y="433483"/>
                </a:lnTo>
                <a:lnTo>
                  <a:pt x="1032558" y="430992"/>
                </a:lnTo>
                <a:lnTo>
                  <a:pt x="1036034" y="427654"/>
                </a:lnTo>
                <a:lnTo>
                  <a:pt x="1039511" y="423493"/>
                </a:lnTo>
                <a:lnTo>
                  <a:pt x="1042988" y="418587"/>
                </a:lnTo>
                <a:lnTo>
                  <a:pt x="1046464" y="413068"/>
                </a:lnTo>
                <a:lnTo>
                  <a:pt x="1049941" y="407122"/>
                </a:lnTo>
                <a:lnTo>
                  <a:pt x="1053417" y="400984"/>
                </a:lnTo>
                <a:lnTo>
                  <a:pt x="1056894" y="394932"/>
                </a:lnTo>
                <a:lnTo>
                  <a:pt x="1060371" y="389274"/>
                </a:lnTo>
                <a:lnTo>
                  <a:pt x="1063847" y="384337"/>
                </a:lnTo>
                <a:lnTo>
                  <a:pt x="1067324" y="380447"/>
                </a:lnTo>
                <a:lnTo>
                  <a:pt x="1070801" y="377913"/>
                </a:lnTo>
                <a:lnTo>
                  <a:pt x="1074277" y="377007"/>
                </a:lnTo>
                <a:lnTo>
                  <a:pt x="1077754" y="377946"/>
                </a:lnTo>
                <a:lnTo>
                  <a:pt x="1081230" y="380875"/>
                </a:lnTo>
                <a:lnTo>
                  <a:pt x="1084707" y="385848"/>
                </a:lnTo>
                <a:lnTo>
                  <a:pt x="1088184" y="392824"/>
                </a:lnTo>
                <a:lnTo>
                  <a:pt x="1091660" y="401653"/>
                </a:lnTo>
                <a:lnTo>
                  <a:pt x="1095137" y="412076"/>
                </a:lnTo>
                <a:lnTo>
                  <a:pt x="1098614" y="423731"/>
                </a:lnTo>
                <a:lnTo>
                  <a:pt x="1102090" y="436161"/>
                </a:lnTo>
                <a:lnTo>
                  <a:pt x="1105567" y="448826"/>
                </a:lnTo>
                <a:lnTo>
                  <a:pt x="1109043" y="461130"/>
                </a:lnTo>
                <a:lnTo>
                  <a:pt x="1112520" y="472444"/>
                </a:lnTo>
                <a:lnTo>
                  <a:pt x="1115997" y="482133"/>
                </a:lnTo>
                <a:lnTo>
                  <a:pt x="1119473" y="489591"/>
                </a:lnTo>
                <a:lnTo>
                  <a:pt x="1122950" y="494273"/>
                </a:lnTo>
                <a:lnTo>
                  <a:pt x="1126427" y="495724"/>
                </a:lnTo>
                <a:lnTo>
                  <a:pt x="1129903" y="493614"/>
                </a:lnTo>
                <a:lnTo>
                  <a:pt x="1133380" y="487759"/>
                </a:lnTo>
                <a:lnTo>
                  <a:pt x="1136856" y="478145"/>
                </a:lnTo>
                <a:lnTo>
                  <a:pt x="1140333" y="464937"/>
                </a:lnTo>
                <a:lnTo>
                  <a:pt x="1143810" y="448486"/>
                </a:lnTo>
                <a:lnTo>
                  <a:pt x="1147286" y="429323"/>
                </a:lnTo>
                <a:lnTo>
                  <a:pt x="1150763" y="408150"/>
                </a:lnTo>
                <a:lnTo>
                  <a:pt x="1154240" y="385812"/>
                </a:lnTo>
                <a:lnTo>
                  <a:pt x="1157716" y="363269"/>
                </a:lnTo>
                <a:lnTo>
                  <a:pt x="1161193" y="341558"/>
                </a:lnTo>
                <a:lnTo>
                  <a:pt x="1164669" y="321746"/>
                </a:lnTo>
                <a:lnTo>
                  <a:pt x="1168146" y="304883"/>
                </a:lnTo>
                <a:lnTo>
                  <a:pt x="1171623" y="291952"/>
                </a:lnTo>
                <a:lnTo>
                  <a:pt x="1175099" y="283814"/>
                </a:lnTo>
                <a:lnTo>
                  <a:pt x="1178576" y="281167"/>
                </a:lnTo>
                <a:lnTo>
                  <a:pt x="1182053" y="284495"/>
                </a:lnTo>
                <a:lnTo>
                  <a:pt x="1185529" y="294043"/>
                </a:lnTo>
                <a:lnTo>
                  <a:pt x="1189006" y="309784"/>
                </a:lnTo>
                <a:lnTo>
                  <a:pt x="1192482" y="331406"/>
                </a:lnTo>
                <a:lnTo>
                  <a:pt x="1195959" y="358314"/>
                </a:lnTo>
                <a:lnTo>
                  <a:pt x="1199436" y="389640"/>
                </a:lnTo>
                <a:lnTo>
                  <a:pt x="1202912" y="424268"/>
                </a:lnTo>
                <a:lnTo>
                  <a:pt x="1206389" y="460871"/>
                </a:lnTo>
                <a:lnTo>
                  <a:pt x="1209865" y="497960"/>
                </a:lnTo>
                <a:lnTo>
                  <a:pt x="1213342" y="533948"/>
                </a:lnTo>
                <a:lnTo>
                  <a:pt x="1216819" y="567210"/>
                </a:lnTo>
                <a:lnTo>
                  <a:pt x="1220295" y="596158"/>
                </a:lnTo>
                <a:lnTo>
                  <a:pt x="1223772" y="619313"/>
                </a:lnTo>
                <a:lnTo>
                  <a:pt x="1227249" y="635375"/>
                </a:lnTo>
                <a:lnTo>
                  <a:pt x="1230725" y="643291"/>
                </a:lnTo>
                <a:lnTo>
                  <a:pt x="1234202" y="642310"/>
                </a:lnTo>
                <a:lnTo>
                  <a:pt x="1237679" y="632032"/>
                </a:lnTo>
                <a:lnTo>
                  <a:pt x="1241155" y="612438"/>
                </a:lnTo>
                <a:lnTo>
                  <a:pt x="1244632" y="583908"/>
                </a:lnTo>
                <a:lnTo>
                  <a:pt x="1248108" y="547219"/>
                </a:lnTo>
                <a:lnTo>
                  <a:pt x="1251585" y="503531"/>
                </a:lnTo>
                <a:lnTo>
                  <a:pt x="1255062" y="454347"/>
                </a:lnTo>
                <a:lnTo>
                  <a:pt x="1258538" y="401460"/>
                </a:lnTo>
                <a:lnTo>
                  <a:pt x="1262015" y="346894"/>
                </a:lnTo>
                <a:lnTo>
                  <a:pt x="1265492" y="292815"/>
                </a:lnTo>
                <a:lnTo>
                  <a:pt x="1268968" y="241452"/>
                </a:lnTo>
                <a:lnTo>
                  <a:pt x="1272445" y="194999"/>
                </a:lnTo>
                <a:lnTo>
                  <a:pt x="1275921" y="155521"/>
                </a:lnTo>
                <a:lnTo>
                  <a:pt x="1279398" y="124865"/>
                </a:lnTo>
                <a:lnTo>
                  <a:pt x="1282875" y="104571"/>
                </a:lnTo>
                <a:lnTo>
                  <a:pt x="1286351" y="95804"/>
                </a:lnTo>
                <a:lnTo>
                  <a:pt x="1289828" y="99289"/>
                </a:lnTo>
                <a:lnTo>
                  <a:pt x="1293305" y="115269"/>
                </a:lnTo>
                <a:lnTo>
                  <a:pt x="1296781" y="143488"/>
                </a:lnTo>
                <a:lnTo>
                  <a:pt x="1300258" y="183182"/>
                </a:lnTo>
                <a:lnTo>
                  <a:pt x="1303734" y="233103"/>
                </a:lnTo>
                <a:lnTo>
                  <a:pt x="1307211" y="291556"/>
                </a:lnTo>
                <a:lnTo>
                  <a:pt x="1310688" y="356464"/>
                </a:lnTo>
                <a:lnTo>
                  <a:pt x="1314164" y="425443"/>
                </a:lnTo>
                <a:lnTo>
                  <a:pt x="1317641" y="495892"/>
                </a:lnTo>
                <a:lnTo>
                  <a:pt x="1321118" y="565099"/>
                </a:lnTo>
                <a:lnTo>
                  <a:pt x="1324594" y="630350"/>
                </a:lnTo>
                <a:lnTo>
                  <a:pt x="1328071" y="689038"/>
                </a:lnTo>
                <a:lnTo>
                  <a:pt x="1331547" y="738771"/>
                </a:lnTo>
                <a:lnTo>
                  <a:pt x="1335024" y="777474"/>
                </a:lnTo>
                <a:lnTo>
                  <a:pt x="1338501" y="803479"/>
                </a:lnTo>
                <a:lnTo>
                  <a:pt x="1341977" y="815592"/>
                </a:lnTo>
                <a:lnTo>
                  <a:pt x="1345454" y="813153"/>
                </a:lnTo>
                <a:lnTo>
                  <a:pt x="1348931" y="796065"/>
                </a:lnTo>
                <a:lnTo>
                  <a:pt x="1352407" y="764805"/>
                </a:lnTo>
                <a:lnTo>
                  <a:pt x="1355884" y="720408"/>
                </a:lnTo>
                <a:lnTo>
                  <a:pt x="1359360" y="664430"/>
                </a:lnTo>
                <a:lnTo>
                  <a:pt x="1362837" y="598890"/>
                </a:lnTo>
                <a:lnTo>
                  <a:pt x="1366314" y="526191"/>
                </a:lnTo>
                <a:lnTo>
                  <a:pt x="1369790" y="449028"/>
                </a:lnTo>
                <a:lnTo>
                  <a:pt x="1373267" y="370276"/>
                </a:lnTo>
                <a:lnTo>
                  <a:pt x="1376744" y="292885"/>
                </a:lnTo>
                <a:lnTo>
                  <a:pt x="1380220" y="219755"/>
                </a:lnTo>
                <a:lnTo>
                  <a:pt x="1383697" y="153624"/>
                </a:lnTo>
                <a:lnTo>
                  <a:pt x="1387173" y="96963"/>
                </a:lnTo>
                <a:lnTo>
                  <a:pt x="1390650" y="51875"/>
                </a:lnTo>
                <a:lnTo>
                  <a:pt x="1394127" y="20014"/>
                </a:lnTo>
                <a:lnTo>
                  <a:pt x="1397603" y="2526"/>
                </a:lnTo>
                <a:lnTo>
                  <a:pt x="1401080" y="0"/>
                </a:lnTo>
                <a:lnTo>
                  <a:pt x="1404557" y="12454"/>
                </a:lnTo>
                <a:lnTo>
                  <a:pt x="1408033" y="39336"/>
                </a:lnTo>
                <a:lnTo>
                  <a:pt x="1411510" y="79551"/>
                </a:lnTo>
                <a:lnTo>
                  <a:pt x="1414986" y="131509"/>
                </a:lnTo>
                <a:lnTo>
                  <a:pt x="1418463" y="193194"/>
                </a:lnTo>
                <a:lnTo>
                  <a:pt x="1421940" y="262243"/>
                </a:lnTo>
                <a:lnTo>
                  <a:pt x="1425416" y="336048"/>
                </a:lnTo>
                <a:lnTo>
                  <a:pt x="1428893" y="411856"/>
                </a:lnTo>
                <a:lnTo>
                  <a:pt x="1432370" y="486880"/>
                </a:lnTo>
                <a:lnTo>
                  <a:pt x="1435846" y="558406"/>
                </a:lnTo>
                <a:lnTo>
                  <a:pt x="1439323" y="623900"/>
                </a:lnTo>
                <a:lnTo>
                  <a:pt x="1442799" y="681097"/>
                </a:lnTo>
                <a:lnTo>
                  <a:pt x="1446276" y="728087"/>
                </a:lnTo>
                <a:lnTo>
                  <a:pt x="1449753" y="763381"/>
                </a:lnTo>
                <a:lnTo>
                  <a:pt x="1453229" y="785955"/>
                </a:lnTo>
                <a:lnTo>
                  <a:pt x="1456706" y="795283"/>
                </a:lnTo>
                <a:lnTo>
                  <a:pt x="1460183" y="791343"/>
                </a:lnTo>
                <a:lnTo>
                  <a:pt x="1463659" y="774604"/>
                </a:lnTo>
                <a:lnTo>
                  <a:pt x="1467136" y="745997"/>
                </a:lnTo>
                <a:lnTo>
                  <a:pt x="1470612" y="706866"/>
                </a:lnTo>
                <a:lnTo>
                  <a:pt x="1474089" y="658902"/>
                </a:lnTo>
                <a:lnTo>
                  <a:pt x="1477566" y="604072"/>
                </a:lnTo>
                <a:lnTo>
                  <a:pt x="1481042" y="544533"/>
                </a:lnTo>
                <a:lnTo>
                  <a:pt x="1484519" y="482544"/>
                </a:lnTo>
                <a:lnTo>
                  <a:pt x="1487996" y="420379"/>
                </a:lnTo>
                <a:lnTo>
                  <a:pt x="1491472" y="360237"/>
                </a:lnTo>
                <a:lnTo>
                  <a:pt x="1494949" y="304164"/>
                </a:lnTo>
                <a:lnTo>
                  <a:pt x="1498425" y="253980"/>
                </a:lnTo>
                <a:lnTo>
                  <a:pt x="1501902" y="211220"/>
                </a:lnTo>
                <a:lnTo>
                  <a:pt x="1505379" y="177089"/>
                </a:lnTo>
                <a:lnTo>
                  <a:pt x="1508855" y="152428"/>
                </a:lnTo>
                <a:lnTo>
                  <a:pt x="1512332" y="137698"/>
                </a:lnTo>
                <a:lnTo>
                  <a:pt x="1515808" y="132984"/>
                </a:lnTo>
                <a:lnTo>
                  <a:pt x="1519285" y="138003"/>
                </a:lnTo>
                <a:lnTo>
                  <a:pt x="1522762" y="152135"/>
                </a:lnTo>
                <a:lnTo>
                  <a:pt x="1526238" y="174465"/>
                </a:lnTo>
                <a:lnTo>
                  <a:pt x="1529715" y="203826"/>
                </a:lnTo>
                <a:lnTo>
                  <a:pt x="1533192" y="238862"/>
                </a:lnTo>
                <a:lnTo>
                  <a:pt x="1536668" y="278082"/>
                </a:lnTo>
                <a:lnTo>
                  <a:pt x="1540145" y="319929"/>
                </a:lnTo>
                <a:lnTo>
                  <a:pt x="1543622" y="362835"/>
                </a:lnTo>
                <a:lnTo>
                  <a:pt x="1547098" y="405286"/>
                </a:lnTo>
                <a:lnTo>
                  <a:pt x="1550575" y="445868"/>
                </a:lnTo>
                <a:lnTo>
                  <a:pt x="1554051" y="483319"/>
                </a:lnTo>
                <a:lnTo>
                  <a:pt x="1557528" y="516563"/>
                </a:lnTo>
                <a:lnTo>
                  <a:pt x="1561005" y="544737"/>
                </a:lnTo>
                <a:lnTo>
                  <a:pt x="1564481" y="567210"/>
                </a:lnTo>
                <a:lnTo>
                  <a:pt x="1567958" y="583592"/>
                </a:lnTo>
                <a:lnTo>
                  <a:pt x="1571435" y="593728"/>
                </a:lnTo>
                <a:lnTo>
                  <a:pt x="1574911" y="597691"/>
                </a:lnTo>
                <a:lnTo>
                  <a:pt x="1578388" y="595759"/>
                </a:lnTo>
                <a:lnTo>
                  <a:pt x="1581864" y="588394"/>
                </a:lnTo>
                <a:lnTo>
                  <a:pt x="1585341" y="576212"/>
                </a:lnTo>
                <a:lnTo>
                  <a:pt x="1588818" y="559943"/>
                </a:lnTo>
                <a:lnTo>
                  <a:pt x="1592294" y="540403"/>
                </a:lnTo>
                <a:lnTo>
                  <a:pt x="1595771" y="518458"/>
                </a:lnTo>
                <a:lnTo>
                  <a:pt x="1599248" y="494983"/>
                </a:lnTo>
                <a:lnTo>
                  <a:pt x="1602724" y="470837"/>
                </a:lnTo>
                <a:lnTo>
                  <a:pt x="1606201" y="446833"/>
                </a:lnTo>
                <a:lnTo>
                  <a:pt x="1609677" y="423713"/>
                </a:lnTo>
                <a:lnTo>
                  <a:pt x="1613154" y="402129"/>
                </a:lnTo>
                <a:lnTo>
                  <a:pt x="1616631" y="382629"/>
                </a:lnTo>
                <a:lnTo>
                  <a:pt x="1620107" y="365647"/>
                </a:lnTo>
                <a:lnTo>
                  <a:pt x="1623584" y="351502"/>
                </a:lnTo>
                <a:lnTo>
                  <a:pt x="1627061" y="340395"/>
                </a:lnTo>
                <a:lnTo>
                  <a:pt x="1630537" y="332415"/>
                </a:lnTo>
                <a:lnTo>
                  <a:pt x="1634014" y="327548"/>
                </a:lnTo>
                <a:lnTo>
                  <a:pt x="1637490" y="325685"/>
                </a:lnTo>
                <a:lnTo>
                  <a:pt x="1640967" y="326636"/>
                </a:lnTo>
                <a:lnTo>
                  <a:pt x="1644444" y="330145"/>
                </a:lnTo>
                <a:lnTo>
                  <a:pt x="1647920" y="335903"/>
                </a:lnTo>
                <a:lnTo>
                  <a:pt x="1651397" y="343561"/>
                </a:lnTo>
                <a:lnTo>
                  <a:pt x="1654874" y="352748"/>
                </a:lnTo>
                <a:lnTo>
                  <a:pt x="1658350" y="363080"/>
                </a:lnTo>
                <a:lnTo>
                  <a:pt x="1661827" y="374175"/>
                </a:lnTo>
                <a:lnTo>
                  <a:pt x="1665303" y="385660"/>
                </a:lnTo>
                <a:lnTo>
                  <a:pt x="1668780" y="397184"/>
                </a:lnTo>
                <a:lnTo>
                  <a:pt x="1672257" y="408422"/>
                </a:lnTo>
                <a:lnTo>
                  <a:pt x="1675733" y="419082"/>
                </a:lnTo>
                <a:lnTo>
                  <a:pt x="1679210" y="428910"/>
                </a:lnTo>
                <a:lnTo>
                  <a:pt x="1682687" y="437693"/>
                </a:lnTo>
                <a:lnTo>
                  <a:pt x="1686163" y="445260"/>
                </a:lnTo>
                <a:lnTo>
                  <a:pt x="1689640" y="451483"/>
                </a:lnTo>
                <a:lnTo>
                  <a:pt x="1693116" y="456282"/>
                </a:lnTo>
                <a:lnTo>
                  <a:pt x="1696593" y="459615"/>
                </a:lnTo>
                <a:lnTo>
                  <a:pt x="1700070" y="461486"/>
                </a:lnTo>
                <a:lnTo>
                  <a:pt x="1703546" y="461935"/>
                </a:lnTo>
                <a:lnTo>
                  <a:pt x="1707023" y="461043"/>
                </a:lnTo>
                <a:lnTo>
                  <a:pt x="1710500" y="458921"/>
                </a:lnTo>
                <a:lnTo>
                  <a:pt x="1713976" y="455711"/>
                </a:lnTo>
                <a:lnTo>
                  <a:pt x="1717453" y="451580"/>
                </a:lnTo>
                <a:lnTo>
                  <a:pt x="1720929" y="446716"/>
                </a:lnTo>
                <a:lnTo>
                  <a:pt x="1724406" y="441319"/>
                </a:lnTo>
                <a:lnTo>
                  <a:pt x="1727883" y="435600"/>
                </a:lnTo>
                <a:lnTo>
                  <a:pt x="1731359" y="429769"/>
                </a:lnTo>
                <a:lnTo>
                  <a:pt x="1734836" y="424033"/>
                </a:lnTo>
                <a:lnTo>
                  <a:pt x="1738313" y="418587"/>
                </a:lnTo>
                <a:lnTo>
                  <a:pt x="1741789" y="413611"/>
                </a:lnTo>
                <a:lnTo>
                  <a:pt x="1745266" y="409259"/>
                </a:lnTo>
                <a:lnTo>
                  <a:pt x="1748742" y="405659"/>
                </a:lnTo>
                <a:lnTo>
                  <a:pt x="1752219" y="402905"/>
                </a:lnTo>
                <a:lnTo>
                  <a:pt x="1755696" y="401056"/>
                </a:lnTo>
                <a:lnTo>
                  <a:pt x="1759172" y="400136"/>
                </a:lnTo>
                <a:lnTo>
                  <a:pt x="1762649" y="400128"/>
                </a:lnTo>
                <a:lnTo>
                  <a:pt x="1766125" y="400981"/>
                </a:lnTo>
                <a:lnTo>
                  <a:pt x="1769602" y="402609"/>
                </a:lnTo>
                <a:lnTo>
                  <a:pt x="1773079" y="404897"/>
                </a:lnTo>
                <a:lnTo>
                  <a:pt x="1776555" y="407703"/>
                </a:lnTo>
                <a:lnTo>
                  <a:pt x="1780032" y="410869"/>
                </a:lnTo>
                <a:lnTo>
                  <a:pt x="1783509" y="414225"/>
                </a:lnTo>
                <a:lnTo>
                  <a:pt x="1786985" y="417597"/>
                </a:lnTo>
                <a:lnTo>
                  <a:pt x="1790462" y="420814"/>
                </a:lnTo>
                <a:lnTo>
                  <a:pt x="1793939" y="423719"/>
                </a:lnTo>
                <a:lnTo>
                  <a:pt x="1797415" y="426171"/>
                </a:lnTo>
                <a:lnTo>
                  <a:pt x="1800892" y="428057"/>
                </a:lnTo>
                <a:lnTo>
                  <a:pt x="1804368" y="429291"/>
                </a:lnTo>
                <a:lnTo>
                  <a:pt x="1807845" y="429822"/>
                </a:lnTo>
                <a:lnTo>
                  <a:pt x="1811322" y="429633"/>
                </a:lnTo>
                <a:lnTo>
                  <a:pt x="1814798" y="428744"/>
                </a:lnTo>
                <a:lnTo>
                  <a:pt x="1818275" y="427209"/>
                </a:lnTo>
                <a:lnTo>
                  <a:pt x="1821752" y="425113"/>
                </a:lnTo>
                <a:lnTo>
                  <a:pt x="1825228" y="422567"/>
                </a:lnTo>
                <a:lnTo>
                  <a:pt x="1828705" y="419705"/>
                </a:lnTo>
                <a:lnTo>
                  <a:pt x="1832181" y="416674"/>
                </a:lnTo>
                <a:lnTo>
                  <a:pt x="1835658" y="413627"/>
                </a:lnTo>
                <a:lnTo>
                  <a:pt x="1839135" y="410719"/>
                </a:lnTo>
                <a:lnTo>
                  <a:pt x="1842611" y="408095"/>
                </a:lnTo>
                <a:lnTo>
                  <a:pt x="1846088" y="405886"/>
                </a:lnTo>
                <a:lnTo>
                  <a:pt x="1849565" y="404202"/>
                </a:lnTo>
                <a:lnTo>
                  <a:pt x="1853041" y="403126"/>
                </a:lnTo>
                <a:lnTo>
                  <a:pt x="1856518" y="402711"/>
                </a:lnTo>
                <a:lnTo>
                  <a:pt x="1859994" y="402981"/>
                </a:lnTo>
                <a:lnTo>
                  <a:pt x="1863471" y="403925"/>
                </a:lnTo>
                <a:lnTo>
                  <a:pt x="1866948" y="405502"/>
                </a:lnTo>
                <a:lnTo>
                  <a:pt x="1870424" y="407641"/>
                </a:lnTo>
                <a:lnTo>
                  <a:pt x="1873901" y="410248"/>
                </a:lnTo>
                <a:lnTo>
                  <a:pt x="1877378" y="413207"/>
                </a:lnTo>
                <a:lnTo>
                  <a:pt x="1880854" y="416392"/>
                </a:lnTo>
                <a:lnTo>
                  <a:pt x="1884331" y="419665"/>
                </a:lnTo>
                <a:lnTo>
                  <a:pt x="1887807" y="422891"/>
                </a:lnTo>
                <a:lnTo>
                  <a:pt x="1891284" y="425937"/>
                </a:lnTo>
                <a:lnTo>
                  <a:pt x="1894761" y="428684"/>
                </a:lnTo>
                <a:lnTo>
                  <a:pt x="1898237" y="431029"/>
                </a:lnTo>
                <a:lnTo>
                  <a:pt x="1901714" y="432889"/>
                </a:lnTo>
                <a:lnTo>
                  <a:pt x="1905190" y="434206"/>
                </a:lnTo>
                <a:lnTo>
                  <a:pt x="1908667" y="434946"/>
                </a:lnTo>
                <a:lnTo>
                  <a:pt x="1912144" y="435101"/>
                </a:lnTo>
                <a:lnTo>
                  <a:pt x="1915620" y="434689"/>
                </a:lnTo>
                <a:lnTo>
                  <a:pt x="1919097" y="433751"/>
                </a:lnTo>
                <a:lnTo>
                  <a:pt x="1922574" y="432346"/>
                </a:lnTo>
                <a:lnTo>
                  <a:pt x="1926050" y="430550"/>
                </a:lnTo>
                <a:lnTo>
                  <a:pt x="1929527" y="428451"/>
                </a:lnTo>
                <a:lnTo>
                  <a:pt x="1933004" y="426142"/>
                </a:lnTo>
                <a:lnTo>
                  <a:pt x="1936480" y="423720"/>
                </a:lnTo>
                <a:lnTo>
                  <a:pt x="1939957" y="421278"/>
                </a:lnTo>
                <a:lnTo>
                  <a:pt x="1943433" y="418902"/>
                </a:lnTo>
                <a:lnTo>
                  <a:pt x="1946910" y="416668"/>
                </a:lnTo>
                <a:lnTo>
                  <a:pt x="1950387" y="414641"/>
                </a:lnTo>
                <a:lnTo>
                  <a:pt x="1953863" y="412868"/>
                </a:lnTo>
                <a:lnTo>
                  <a:pt x="1957340" y="411383"/>
                </a:lnTo>
                <a:lnTo>
                  <a:pt x="1960817" y="410205"/>
                </a:lnTo>
                <a:lnTo>
                  <a:pt x="1964293" y="409338"/>
                </a:lnTo>
                <a:lnTo>
                  <a:pt x="1967770" y="408773"/>
                </a:lnTo>
                <a:lnTo>
                  <a:pt x="1971246" y="408491"/>
                </a:lnTo>
                <a:lnTo>
                  <a:pt x="1974723" y="408465"/>
                </a:lnTo>
                <a:lnTo>
                  <a:pt x="1978200" y="408663"/>
                </a:lnTo>
                <a:lnTo>
                  <a:pt x="1981676" y="409051"/>
                </a:lnTo>
                <a:lnTo>
                  <a:pt x="1985153" y="409594"/>
                </a:lnTo>
                <a:lnTo>
                  <a:pt x="1988629" y="410259"/>
                </a:lnTo>
                <a:lnTo>
                  <a:pt x="1992106" y="411020"/>
                </a:lnTo>
                <a:lnTo>
                  <a:pt x="1995583" y="411852"/>
                </a:lnTo>
                <a:lnTo>
                  <a:pt x="1999059" y="412739"/>
                </a:lnTo>
                <a:lnTo>
                  <a:pt x="2002536" y="413667"/>
                </a:lnTo>
                <a:lnTo>
                  <a:pt x="2006013" y="414631"/>
                </a:lnTo>
                <a:lnTo>
                  <a:pt x="2009489" y="415625"/>
                </a:lnTo>
                <a:lnTo>
                  <a:pt x="2012966" y="416648"/>
                </a:lnTo>
                <a:lnTo>
                  <a:pt x="2016443" y="417699"/>
                </a:lnTo>
                <a:lnTo>
                  <a:pt x="2019919" y="418776"/>
                </a:lnTo>
                <a:lnTo>
                  <a:pt x="2023396" y="419873"/>
                </a:lnTo>
                <a:lnTo>
                  <a:pt x="2026872" y="420981"/>
                </a:lnTo>
                <a:lnTo>
                  <a:pt x="2030349" y="422086"/>
                </a:lnTo>
                <a:lnTo>
                  <a:pt x="2033826" y="423167"/>
                </a:lnTo>
                <a:lnTo>
                  <a:pt x="2037302" y="424199"/>
                </a:lnTo>
                <a:lnTo>
                  <a:pt x="2040779" y="425151"/>
                </a:lnTo>
                <a:lnTo>
                  <a:pt x="2044256" y="425989"/>
                </a:lnTo>
                <a:lnTo>
                  <a:pt x="2047732" y="426677"/>
                </a:lnTo>
                <a:lnTo>
                  <a:pt x="2051209" y="427179"/>
                </a:lnTo>
                <a:lnTo>
                  <a:pt x="2054685" y="427462"/>
                </a:lnTo>
                <a:lnTo>
                  <a:pt x="2058162" y="427497"/>
                </a:lnTo>
                <a:lnTo>
                  <a:pt x="2061639" y="427263"/>
                </a:lnTo>
                <a:lnTo>
                  <a:pt x="2065115" y="426748"/>
                </a:lnTo>
                <a:lnTo>
                  <a:pt x="2068592" y="425951"/>
                </a:lnTo>
                <a:lnTo>
                  <a:pt x="2072068" y="424884"/>
                </a:lnTo>
                <a:lnTo>
                  <a:pt x="2075545" y="423571"/>
                </a:lnTo>
                <a:lnTo>
                  <a:pt x="2079022" y="422050"/>
                </a:lnTo>
                <a:lnTo>
                  <a:pt x="2082498" y="420369"/>
                </a:lnTo>
                <a:lnTo>
                  <a:pt x="2085975" y="418587"/>
                </a:lnTo>
                <a:lnTo>
                  <a:pt x="2089452" y="416772"/>
                </a:lnTo>
                <a:lnTo>
                  <a:pt x="2092928" y="414996"/>
                </a:lnTo>
                <a:lnTo>
                  <a:pt x="2096405" y="413332"/>
                </a:lnTo>
                <a:lnTo>
                  <a:pt x="2099882" y="411851"/>
                </a:lnTo>
                <a:lnTo>
                  <a:pt x="2103358" y="410622"/>
                </a:lnTo>
                <a:lnTo>
                  <a:pt x="2106835" y="409699"/>
                </a:lnTo>
                <a:lnTo>
                  <a:pt x="2110311" y="409130"/>
                </a:lnTo>
                <a:lnTo>
                  <a:pt x="2113788" y="408944"/>
                </a:lnTo>
                <a:lnTo>
                  <a:pt x="2117265" y="409155"/>
                </a:lnTo>
                <a:lnTo>
                  <a:pt x="2120741" y="409759"/>
                </a:lnTo>
                <a:lnTo>
                  <a:pt x="2124218" y="410734"/>
                </a:lnTo>
                <a:lnTo>
                  <a:pt x="2127695" y="412040"/>
                </a:lnTo>
                <a:lnTo>
                  <a:pt x="2131171" y="413621"/>
                </a:lnTo>
                <a:lnTo>
                  <a:pt x="2134648" y="415409"/>
                </a:lnTo>
                <a:lnTo>
                  <a:pt x="2138124" y="417325"/>
                </a:lnTo>
                <a:lnTo>
                  <a:pt x="2141601" y="419282"/>
                </a:lnTo>
                <a:lnTo>
                  <a:pt x="2145078" y="421192"/>
                </a:lnTo>
                <a:lnTo>
                  <a:pt x="2148554" y="422969"/>
                </a:lnTo>
                <a:lnTo>
                  <a:pt x="2152031" y="424531"/>
                </a:lnTo>
                <a:lnTo>
                  <a:pt x="2155508" y="425809"/>
                </a:lnTo>
                <a:lnTo>
                  <a:pt x="2158984" y="426744"/>
                </a:lnTo>
                <a:lnTo>
                  <a:pt x="2162461" y="427296"/>
                </a:lnTo>
                <a:lnTo>
                  <a:pt x="2165937" y="427441"/>
                </a:lnTo>
                <a:lnTo>
                  <a:pt x="2169414" y="427177"/>
                </a:lnTo>
                <a:lnTo>
                  <a:pt x="2172891" y="426518"/>
                </a:lnTo>
                <a:lnTo>
                  <a:pt x="2176367" y="425499"/>
                </a:lnTo>
                <a:lnTo>
                  <a:pt x="2179844" y="424172"/>
                </a:lnTo>
                <a:lnTo>
                  <a:pt x="2183321" y="422602"/>
                </a:lnTo>
                <a:lnTo>
                  <a:pt x="2186797" y="420865"/>
                </a:lnTo>
                <a:lnTo>
                  <a:pt x="2190274" y="419045"/>
                </a:lnTo>
                <a:lnTo>
                  <a:pt x="2193750" y="417228"/>
                </a:lnTo>
                <a:lnTo>
                  <a:pt x="2197227" y="415500"/>
                </a:lnTo>
                <a:lnTo>
                  <a:pt x="2200704" y="413939"/>
                </a:lnTo>
                <a:lnTo>
                  <a:pt x="2204180" y="412617"/>
                </a:lnTo>
                <a:lnTo>
                  <a:pt x="2207657" y="411591"/>
                </a:lnTo>
                <a:lnTo>
                  <a:pt x="2211134" y="410904"/>
                </a:lnTo>
                <a:lnTo>
                  <a:pt x="2214610" y="410581"/>
                </a:lnTo>
                <a:lnTo>
                  <a:pt x="2218087" y="410630"/>
                </a:lnTo>
                <a:lnTo>
                  <a:pt x="2221563" y="411041"/>
                </a:lnTo>
                <a:lnTo>
                  <a:pt x="2225040" y="411786"/>
                </a:lnTo>
                <a:lnTo>
                  <a:pt x="2228517" y="412823"/>
                </a:lnTo>
                <a:lnTo>
                  <a:pt x="2231993" y="414096"/>
                </a:lnTo>
                <a:lnTo>
                  <a:pt x="2235470" y="415540"/>
                </a:lnTo>
                <a:lnTo>
                  <a:pt x="2238947" y="417083"/>
                </a:lnTo>
                <a:lnTo>
                  <a:pt x="2242423" y="418651"/>
                </a:lnTo>
                <a:lnTo>
                  <a:pt x="2245900" y="420171"/>
                </a:lnTo>
                <a:lnTo>
                  <a:pt x="2249376" y="421574"/>
                </a:lnTo>
                <a:lnTo>
                  <a:pt x="2252853" y="422800"/>
                </a:lnTo>
                <a:lnTo>
                  <a:pt x="2256330" y="423798"/>
                </a:lnTo>
                <a:lnTo>
                  <a:pt x="2259806" y="424532"/>
                </a:lnTo>
                <a:lnTo>
                  <a:pt x="2263283" y="424978"/>
                </a:lnTo>
                <a:lnTo>
                  <a:pt x="2266760" y="425128"/>
                </a:lnTo>
                <a:lnTo>
                  <a:pt x="2270236" y="424988"/>
                </a:lnTo>
                <a:lnTo>
                  <a:pt x="2273713" y="424578"/>
                </a:lnTo>
                <a:lnTo>
                  <a:pt x="2277189" y="423929"/>
                </a:lnTo>
                <a:lnTo>
                  <a:pt x="2280666" y="423083"/>
                </a:lnTo>
                <a:lnTo>
                  <a:pt x="2284143" y="422090"/>
                </a:lnTo>
                <a:lnTo>
                  <a:pt x="2287619" y="421002"/>
                </a:lnTo>
                <a:lnTo>
                  <a:pt x="2291096" y="419876"/>
                </a:lnTo>
                <a:lnTo>
                  <a:pt x="2294573" y="418766"/>
                </a:lnTo>
                <a:lnTo>
                  <a:pt x="2298049" y="417722"/>
                </a:lnTo>
                <a:lnTo>
                  <a:pt x="2301526" y="416788"/>
                </a:lnTo>
                <a:lnTo>
                  <a:pt x="2305002" y="415999"/>
                </a:lnTo>
                <a:lnTo>
                  <a:pt x="2308479" y="415382"/>
                </a:lnTo>
                <a:lnTo>
                  <a:pt x="2311956" y="414954"/>
                </a:lnTo>
                <a:lnTo>
                  <a:pt x="2315432" y="414719"/>
                </a:lnTo>
                <a:lnTo>
                  <a:pt x="2318909" y="414674"/>
                </a:lnTo>
                <a:lnTo>
                  <a:pt x="2322386" y="414803"/>
                </a:lnTo>
                <a:lnTo>
                  <a:pt x="2325862" y="415086"/>
                </a:lnTo>
                <a:lnTo>
                  <a:pt x="2329339" y="415496"/>
                </a:lnTo>
                <a:lnTo>
                  <a:pt x="2332815" y="415999"/>
                </a:lnTo>
                <a:lnTo>
                  <a:pt x="2336292" y="416562"/>
                </a:lnTo>
                <a:lnTo>
                  <a:pt x="2339769" y="417151"/>
                </a:lnTo>
                <a:lnTo>
                  <a:pt x="2343245" y="417734"/>
                </a:lnTo>
                <a:lnTo>
                  <a:pt x="2346722" y="418281"/>
                </a:lnTo>
                <a:lnTo>
                  <a:pt x="2350199" y="418769"/>
                </a:lnTo>
                <a:lnTo>
                  <a:pt x="2353675" y="419180"/>
                </a:lnTo>
                <a:lnTo>
                  <a:pt x="2357152" y="419502"/>
                </a:lnTo>
                <a:lnTo>
                  <a:pt x="2360628" y="419729"/>
                </a:lnTo>
                <a:lnTo>
                  <a:pt x="2364105" y="419862"/>
                </a:lnTo>
                <a:lnTo>
                  <a:pt x="2367582" y="419908"/>
                </a:lnTo>
                <a:lnTo>
                  <a:pt x="2371058" y="419878"/>
                </a:lnTo>
                <a:lnTo>
                  <a:pt x="2374535" y="419786"/>
                </a:lnTo>
                <a:lnTo>
                  <a:pt x="2378011" y="419649"/>
                </a:lnTo>
                <a:lnTo>
                  <a:pt x="2381488" y="419484"/>
                </a:lnTo>
                <a:lnTo>
                  <a:pt x="2384965" y="419309"/>
                </a:lnTo>
                <a:lnTo>
                  <a:pt x="2388441" y="419138"/>
                </a:lnTo>
                <a:lnTo>
                  <a:pt x="2391918" y="418984"/>
                </a:lnTo>
                <a:lnTo>
                  <a:pt x="2395395" y="418856"/>
                </a:lnTo>
                <a:lnTo>
                  <a:pt x="2398871" y="418760"/>
                </a:lnTo>
                <a:lnTo>
                  <a:pt x="2402348" y="418697"/>
                </a:lnTo>
                <a:lnTo>
                  <a:pt x="2405825" y="418665"/>
                </a:lnTo>
                <a:lnTo>
                  <a:pt x="2409301" y="418658"/>
                </a:lnTo>
                <a:lnTo>
                  <a:pt x="2412778" y="418669"/>
                </a:lnTo>
                <a:lnTo>
                  <a:pt x="2416254" y="418688"/>
                </a:lnTo>
                <a:lnTo>
                  <a:pt x="2419731" y="418706"/>
                </a:lnTo>
                <a:lnTo>
                  <a:pt x="2423208" y="418711"/>
                </a:lnTo>
                <a:lnTo>
                  <a:pt x="2426684" y="418697"/>
                </a:lnTo>
                <a:lnTo>
                  <a:pt x="2430161" y="418657"/>
                </a:lnTo>
                <a:lnTo>
                  <a:pt x="2433638" y="418587"/>
                </a:lnTo>
                <a:lnTo>
                  <a:pt x="2437114" y="418488"/>
                </a:lnTo>
                <a:lnTo>
                  <a:pt x="2440591" y="418362"/>
                </a:lnTo>
                <a:lnTo>
                  <a:pt x="2444067" y="418216"/>
                </a:lnTo>
                <a:lnTo>
                  <a:pt x="2447544" y="418059"/>
                </a:lnTo>
                <a:lnTo>
                  <a:pt x="2451021" y="417904"/>
                </a:lnTo>
                <a:lnTo>
                  <a:pt x="2454497" y="417764"/>
                </a:lnTo>
                <a:lnTo>
                  <a:pt x="2457974" y="417652"/>
                </a:lnTo>
                <a:lnTo>
                  <a:pt x="2461451" y="417582"/>
                </a:lnTo>
                <a:lnTo>
                  <a:pt x="2464927" y="417566"/>
                </a:lnTo>
                <a:lnTo>
                  <a:pt x="2468404" y="417612"/>
                </a:lnTo>
                <a:lnTo>
                  <a:pt x="2471880" y="417728"/>
                </a:lnTo>
                <a:lnTo>
                  <a:pt x="2475357" y="417913"/>
                </a:lnTo>
                <a:lnTo>
                  <a:pt x="2478834" y="418167"/>
                </a:lnTo>
                <a:lnTo>
                  <a:pt x="2482310" y="418481"/>
                </a:lnTo>
                <a:lnTo>
                  <a:pt x="2485787" y="418844"/>
                </a:lnTo>
                <a:lnTo>
                  <a:pt x="2489263" y="419241"/>
                </a:lnTo>
                <a:lnTo>
                  <a:pt x="2492740" y="419650"/>
                </a:lnTo>
                <a:lnTo>
                  <a:pt x="2496217" y="420053"/>
                </a:lnTo>
                <a:lnTo>
                  <a:pt x="2499693" y="420425"/>
                </a:lnTo>
                <a:lnTo>
                  <a:pt x="2503170" y="420744"/>
                </a:lnTo>
                <a:lnTo>
                  <a:pt x="2506647" y="420988"/>
                </a:lnTo>
                <a:lnTo>
                  <a:pt x="2510123" y="421140"/>
                </a:lnTo>
                <a:lnTo>
                  <a:pt x="2513600" y="421183"/>
                </a:lnTo>
                <a:lnTo>
                  <a:pt x="2517077" y="421109"/>
                </a:lnTo>
                <a:lnTo>
                  <a:pt x="2520553" y="420912"/>
                </a:lnTo>
                <a:lnTo>
                  <a:pt x="2524030" y="420593"/>
                </a:lnTo>
                <a:lnTo>
                  <a:pt x="2527506" y="420162"/>
                </a:lnTo>
                <a:lnTo>
                  <a:pt x="2530983" y="419630"/>
                </a:lnTo>
                <a:lnTo>
                  <a:pt x="2534460" y="419017"/>
                </a:lnTo>
                <a:lnTo>
                  <a:pt x="2537936" y="418348"/>
                </a:lnTo>
                <a:lnTo>
                  <a:pt x="2541413" y="417650"/>
                </a:lnTo>
                <a:lnTo>
                  <a:pt x="2544890" y="416953"/>
                </a:lnTo>
                <a:lnTo>
                  <a:pt x="2548366" y="416288"/>
                </a:lnTo>
                <a:lnTo>
                  <a:pt x="2551843" y="415686"/>
                </a:lnTo>
                <a:lnTo>
                  <a:pt x="2555319" y="415174"/>
                </a:lnTo>
                <a:lnTo>
                  <a:pt x="2558796" y="414778"/>
                </a:lnTo>
                <a:lnTo>
                  <a:pt x="2562273" y="414518"/>
                </a:lnTo>
                <a:lnTo>
                  <a:pt x="2565749" y="414409"/>
                </a:lnTo>
                <a:lnTo>
                  <a:pt x="2569226" y="414459"/>
                </a:lnTo>
                <a:lnTo>
                  <a:pt x="2572703" y="414669"/>
                </a:lnTo>
                <a:lnTo>
                  <a:pt x="2576179" y="415033"/>
                </a:lnTo>
                <a:lnTo>
                  <a:pt x="2579656" y="415538"/>
                </a:lnTo>
                <a:lnTo>
                  <a:pt x="2583132" y="416167"/>
                </a:lnTo>
                <a:lnTo>
                  <a:pt x="2586609" y="416894"/>
                </a:lnTo>
                <a:lnTo>
                  <a:pt x="2590086" y="417692"/>
                </a:lnTo>
                <a:lnTo>
                  <a:pt x="2593562" y="418529"/>
                </a:lnTo>
                <a:lnTo>
                  <a:pt x="2597039" y="419372"/>
                </a:lnTo>
                <a:lnTo>
                  <a:pt x="2600516" y="420189"/>
                </a:lnTo>
                <a:lnTo>
                  <a:pt x="2603992" y="420948"/>
                </a:lnTo>
                <a:lnTo>
                  <a:pt x="2607469" y="421620"/>
                </a:lnTo>
                <a:lnTo>
                  <a:pt x="2610945" y="422181"/>
                </a:lnTo>
                <a:lnTo>
                  <a:pt x="2614422" y="422610"/>
                </a:lnTo>
                <a:lnTo>
                  <a:pt x="2617899" y="422893"/>
                </a:lnTo>
                <a:lnTo>
                  <a:pt x="2621375" y="423023"/>
                </a:lnTo>
                <a:lnTo>
                  <a:pt x="2624852" y="422998"/>
                </a:lnTo>
                <a:lnTo>
                  <a:pt x="2628329" y="422821"/>
                </a:lnTo>
                <a:lnTo>
                  <a:pt x="2631805" y="422505"/>
                </a:lnTo>
                <a:lnTo>
                  <a:pt x="2635282" y="422064"/>
                </a:lnTo>
                <a:lnTo>
                  <a:pt x="2638758" y="421517"/>
                </a:lnTo>
                <a:lnTo>
                  <a:pt x="2642235" y="420890"/>
                </a:lnTo>
                <a:lnTo>
                  <a:pt x="2645712" y="420206"/>
                </a:lnTo>
                <a:lnTo>
                  <a:pt x="2649188" y="419493"/>
                </a:lnTo>
                <a:lnTo>
                  <a:pt x="2652665" y="418778"/>
                </a:lnTo>
                <a:lnTo>
                  <a:pt x="2656142" y="418084"/>
                </a:lnTo>
                <a:lnTo>
                  <a:pt x="2659618" y="417437"/>
                </a:lnTo>
                <a:lnTo>
                  <a:pt x="2663095" y="416856"/>
                </a:lnTo>
                <a:lnTo>
                  <a:pt x="2666571" y="416359"/>
                </a:lnTo>
                <a:lnTo>
                  <a:pt x="2670048" y="415957"/>
                </a:lnTo>
                <a:lnTo>
                  <a:pt x="2673525" y="415659"/>
                </a:lnTo>
                <a:lnTo>
                  <a:pt x="2677001" y="415469"/>
                </a:lnTo>
                <a:lnTo>
                  <a:pt x="2680478" y="415387"/>
                </a:lnTo>
                <a:lnTo>
                  <a:pt x="2683954" y="415409"/>
                </a:lnTo>
                <a:lnTo>
                  <a:pt x="2687431" y="415528"/>
                </a:lnTo>
                <a:lnTo>
                  <a:pt x="2690908" y="415732"/>
                </a:lnTo>
                <a:lnTo>
                  <a:pt x="2694384" y="416010"/>
                </a:lnTo>
                <a:lnTo>
                  <a:pt x="2697861" y="416347"/>
                </a:lnTo>
                <a:lnTo>
                  <a:pt x="2701338" y="416727"/>
                </a:lnTo>
                <a:lnTo>
                  <a:pt x="2704814" y="417136"/>
                </a:lnTo>
                <a:lnTo>
                  <a:pt x="2708291" y="417558"/>
                </a:lnTo>
                <a:lnTo>
                  <a:pt x="2711768" y="417979"/>
                </a:lnTo>
                <a:lnTo>
                  <a:pt x="2715244" y="418386"/>
                </a:lnTo>
                <a:lnTo>
                  <a:pt x="2718721" y="418767"/>
                </a:lnTo>
                <a:lnTo>
                  <a:pt x="2722197" y="419113"/>
                </a:lnTo>
                <a:lnTo>
                  <a:pt x="2725674" y="419416"/>
                </a:lnTo>
                <a:lnTo>
                  <a:pt x="2729151" y="419671"/>
                </a:lnTo>
                <a:lnTo>
                  <a:pt x="2732627" y="419874"/>
                </a:lnTo>
                <a:lnTo>
                  <a:pt x="2736104" y="420023"/>
                </a:lnTo>
                <a:lnTo>
                  <a:pt x="2739581" y="420117"/>
                </a:lnTo>
                <a:lnTo>
                  <a:pt x="2743057" y="420160"/>
                </a:lnTo>
                <a:lnTo>
                  <a:pt x="2746534" y="420153"/>
                </a:lnTo>
                <a:lnTo>
                  <a:pt x="2750010" y="420101"/>
                </a:lnTo>
                <a:lnTo>
                  <a:pt x="2753487" y="420009"/>
                </a:lnTo>
                <a:lnTo>
                  <a:pt x="2756964" y="419882"/>
                </a:lnTo>
                <a:lnTo>
                  <a:pt x="2760440" y="419727"/>
                </a:lnTo>
                <a:lnTo>
                  <a:pt x="2763917" y="419550"/>
                </a:lnTo>
                <a:lnTo>
                  <a:pt x="2767394" y="419359"/>
                </a:lnTo>
                <a:lnTo>
                  <a:pt x="2770870" y="419161"/>
                </a:lnTo>
                <a:lnTo>
                  <a:pt x="2774347" y="418961"/>
                </a:lnTo>
                <a:lnTo>
                  <a:pt x="2777823" y="418768"/>
                </a:lnTo>
                <a:lnTo>
                  <a:pt x="2781300" y="418587"/>
                </a:lnTo>
              </a:path>
            </a:pathLst>
          </a:custGeom>
          <a:noFill xmlns:a="http://schemas.openxmlformats.org/drawingml/2006/main"/>
          <a:ln xmlns:a="http://schemas.openxmlformats.org/drawingml/2006/main" w="15240">
            <a:solidFill>
              <a:srgbClr val="202020"/>
            </a:solidFill>
          </a:ln>
        </p:spPr>
      </p:sp>
      <p:sp>
        <p:nvSpPr>
          <p:cNvPr id="12" name="!!qam-qam-multiply1-arrow-line">
            <a:extLst xmlns:a="http://schemas.openxmlformats.org/drawingml/2006/main">
              <a:ext uri="{FF2B5EF4-FFF2-40B4-BE49-F238E27FC236}">
                <a16:creationId xmlns:a16="http://schemas.microsoft.com/office/drawing/2014/main" id="{4C284219-45F3-4A4C-838F-A285A972458D}"/>
              </a:ext>
            </a:extLst>
          </p:cNvPr>
          <p:cNvSpPr>
            <a:spLocks xmlns:a="http://schemas.openxmlformats.org/drawingml/2006/main" noGrp="1"/>
          </p:cNvSpPr>
          <p:nvPr/>
        </p:nvSpPr>
        <p:spPr>
          <a:xfrm xmlns:a="http://schemas.openxmlformats.org/drawingml/2006/main">
            <a:off x="3581400" y="2409825"/>
            <a:ext cx="6667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3" name="!!qam-qam-multiply1-arrow-head">
            <a:extLst xmlns:a="http://schemas.openxmlformats.org/drawingml/2006/main">
              <a:ext uri="{FF2B5EF4-FFF2-40B4-BE49-F238E27FC236}">
                <a16:creationId xmlns:a16="http://schemas.microsoft.com/office/drawing/2014/main" id="{927C312A-2AF4-4726-9F38-9B53314EF5A6}"/>
              </a:ext>
            </a:extLst>
          </p:cNvPr>
          <p:cNvSpPr>
            <a:spLocks xmlns:a="http://schemas.openxmlformats.org/drawingml/2006/main" noGrp="1"/>
          </p:cNvSpPr>
          <p:nvPr/>
        </p:nvSpPr>
        <p:spPr>
          <a:xfrm xmlns:a="http://schemas.openxmlformats.org/drawingml/2006/main" rot="5400000">
            <a:off x="4229100" y="23622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4" name="!!qam-qam-multiply1-g1-r0-wave">
            <a:extLst xmlns:a="http://schemas.openxmlformats.org/drawingml/2006/main">
              <a:ext uri="{FF2B5EF4-FFF2-40B4-BE49-F238E27FC236}">
                <a16:creationId xmlns:a16="http://schemas.microsoft.com/office/drawing/2014/main" id="{0D1DD606-A87F-4BF7-9947-5F5727624605}"/>
              </a:ext>
            </a:extLst>
          </p:cNvPr>
          <p:cNvSpPr>
            <a:spLocks xmlns:a="http://schemas.openxmlformats.org/drawingml/2006/main" noGrp="1"/>
          </p:cNvSpPr>
          <p:nvPr/>
        </p:nvSpPr>
        <p:spPr>
          <a:xfrm xmlns:a="http://schemas.openxmlformats.org/drawingml/2006/main">
            <a:off x="4572000" y="2426899"/>
            <a:ext cx="2781300" cy="836546"/>
          </a:xfrm>
          <a:custGeom xmlns:a="http://schemas.openxmlformats.org/drawingml/2006/main">
            <a:pathLst>
              <a:path w="2781300" h="836546">
                <a:moveTo>
                  <a:pt x="0" y="783026"/>
                </a:moveTo>
                <a:lnTo>
                  <a:pt x="3477" y="782662"/>
                </a:lnTo>
                <a:lnTo>
                  <a:pt x="6953" y="782298"/>
                </a:lnTo>
                <a:lnTo>
                  <a:pt x="10430" y="781998"/>
                </a:lnTo>
                <a:lnTo>
                  <a:pt x="13906" y="781821"/>
                </a:lnTo>
                <a:lnTo>
                  <a:pt x="17383" y="781813"/>
                </a:lnTo>
                <a:lnTo>
                  <a:pt x="20860" y="781995"/>
                </a:lnTo>
                <a:lnTo>
                  <a:pt x="24336" y="782354"/>
                </a:lnTo>
                <a:lnTo>
                  <a:pt x="27813" y="782845"/>
                </a:lnTo>
                <a:lnTo>
                  <a:pt x="31290" y="783393"/>
                </a:lnTo>
                <a:lnTo>
                  <a:pt x="34766" y="783905"/>
                </a:lnTo>
                <a:lnTo>
                  <a:pt x="38243" y="784280"/>
                </a:lnTo>
                <a:lnTo>
                  <a:pt x="41719" y="784433"/>
                </a:lnTo>
                <a:lnTo>
                  <a:pt x="45196" y="784309"/>
                </a:lnTo>
                <a:lnTo>
                  <a:pt x="48673" y="783892"/>
                </a:lnTo>
                <a:lnTo>
                  <a:pt x="52149" y="783218"/>
                </a:lnTo>
                <a:lnTo>
                  <a:pt x="55626" y="782369"/>
                </a:lnTo>
                <a:lnTo>
                  <a:pt x="59103" y="781461"/>
                </a:lnTo>
                <a:lnTo>
                  <a:pt x="62579" y="780631"/>
                </a:lnTo>
                <a:lnTo>
                  <a:pt x="66056" y="780013"/>
                </a:lnTo>
                <a:lnTo>
                  <a:pt x="69533" y="779714"/>
                </a:lnTo>
                <a:lnTo>
                  <a:pt x="73009" y="779796"/>
                </a:lnTo>
                <a:lnTo>
                  <a:pt x="76486" y="780257"/>
                </a:lnTo>
                <a:lnTo>
                  <a:pt x="79962" y="781037"/>
                </a:lnTo>
                <a:lnTo>
                  <a:pt x="83439" y="782013"/>
                </a:lnTo>
                <a:lnTo>
                  <a:pt x="86916" y="783026"/>
                </a:lnTo>
                <a:lnTo>
                  <a:pt x="90392" y="783898"/>
                </a:lnTo>
                <a:lnTo>
                  <a:pt x="93869" y="784464"/>
                </a:lnTo>
                <a:lnTo>
                  <a:pt x="97346" y="784601"/>
                </a:lnTo>
                <a:lnTo>
                  <a:pt x="100822" y="784248"/>
                </a:lnTo>
                <a:lnTo>
                  <a:pt x="104299" y="783421"/>
                </a:lnTo>
                <a:lnTo>
                  <a:pt x="107775" y="782213"/>
                </a:lnTo>
                <a:lnTo>
                  <a:pt x="111252" y="780782"/>
                </a:lnTo>
                <a:lnTo>
                  <a:pt x="114729" y="779331"/>
                </a:lnTo>
                <a:lnTo>
                  <a:pt x="118205" y="778074"/>
                </a:lnTo>
                <a:lnTo>
                  <a:pt x="121682" y="777202"/>
                </a:lnTo>
                <a:lnTo>
                  <a:pt x="125158" y="776855"/>
                </a:lnTo>
                <a:lnTo>
                  <a:pt x="128635" y="777093"/>
                </a:lnTo>
                <a:lnTo>
                  <a:pt x="132112" y="777887"/>
                </a:lnTo>
                <a:lnTo>
                  <a:pt x="135588" y="779123"/>
                </a:lnTo>
                <a:lnTo>
                  <a:pt x="139065" y="780612"/>
                </a:lnTo>
                <a:lnTo>
                  <a:pt x="142542" y="782124"/>
                </a:lnTo>
                <a:lnTo>
                  <a:pt x="146018" y="783420"/>
                </a:lnTo>
                <a:lnTo>
                  <a:pt x="149495" y="784288"/>
                </a:lnTo>
                <a:lnTo>
                  <a:pt x="152972" y="784580"/>
                </a:lnTo>
                <a:lnTo>
                  <a:pt x="156448" y="784236"/>
                </a:lnTo>
                <a:lnTo>
                  <a:pt x="159925" y="783290"/>
                </a:lnTo>
                <a:lnTo>
                  <a:pt x="163401" y="781870"/>
                </a:lnTo>
                <a:lnTo>
                  <a:pt x="166878" y="780178"/>
                </a:lnTo>
                <a:lnTo>
                  <a:pt x="170355" y="778457"/>
                </a:lnTo>
                <a:lnTo>
                  <a:pt x="173831" y="776960"/>
                </a:lnTo>
                <a:lnTo>
                  <a:pt x="177308" y="775902"/>
                </a:lnTo>
                <a:lnTo>
                  <a:pt x="180785" y="775438"/>
                </a:lnTo>
                <a:lnTo>
                  <a:pt x="184261" y="775630"/>
                </a:lnTo>
                <a:lnTo>
                  <a:pt x="187738" y="776447"/>
                </a:lnTo>
                <a:lnTo>
                  <a:pt x="191214" y="777765"/>
                </a:lnTo>
                <a:lnTo>
                  <a:pt x="194691" y="779387"/>
                </a:lnTo>
                <a:lnTo>
                  <a:pt x="198168" y="781078"/>
                </a:lnTo>
                <a:lnTo>
                  <a:pt x="201644" y="782596"/>
                </a:lnTo>
                <a:lnTo>
                  <a:pt x="205121" y="783732"/>
                </a:lnTo>
                <a:lnTo>
                  <a:pt x="208597" y="784337"/>
                </a:lnTo>
                <a:lnTo>
                  <a:pt x="212074" y="784346"/>
                </a:lnTo>
                <a:lnTo>
                  <a:pt x="215551" y="783783"/>
                </a:lnTo>
                <a:lnTo>
                  <a:pt x="219027" y="782752"/>
                </a:lnTo>
                <a:lnTo>
                  <a:pt x="222504" y="781425"/>
                </a:lnTo>
                <a:lnTo>
                  <a:pt x="225981" y="780008"/>
                </a:lnTo>
                <a:lnTo>
                  <a:pt x="229457" y="778713"/>
                </a:lnTo>
                <a:lnTo>
                  <a:pt x="232934" y="777724"/>
                </a:lnTo>
                <a:lnTo>
                  <a:pt x="236410" y="777173"/>
                </a:lnTo>
                <a:lnTo>
                  <a:pt x="239887" y="777124"/>
                </a:lnTo>
                <a:lnTo>
                  <a:pt x="243364" y="777566"/>
                </a:lnTo>
                <a:lnTo>
                  <a:pt x="246840" y="778420"/>
                </a:lnTo>
                <a:lnTo>
                  <a:pt x="250317" y="779554"/>
                </a:lnTo>
                <a:lnTo>
                  <a:pt x="253794" y="780807"/>
                </a:lnTo>
                <a:lnTo>
                  <a:pt x="257270" y="782013"/>
                </a:lnTo>
                <a:lnTo>
                  <a:pt x="260747" y="783026"/>
                </a:lnTo>
                <a:lnTo>
                  <a:pt x="264224" y="783738"/>
                </a:lnTo>
                <a:lnTo>
                  <a:pt x="267700" y="784093"/>
                </a:lnTo>
                <a:lnTo>
                  <a:pt x="271177" y="784089"/>
                </a:lnTo>
                <a:lnTo>
                  <a:pt x="274653" y="783774"/>
                </a:lnTo>
                <a:lnTo>
                  <a:pt x="278130" y="783233"/>
                </a:lnTo>
                <a:lnTo>
                  <a:pt x="281607" y="782573"/>
                </a:lnTo>
                <a:lnTo>
                  <a:pt x="285083" y="781906"/>
                </a:lnTo>
                <a:lnTo>
                  <a:pt x="288560" y="781331"/>
                </a:lnTo>
                <a:lnTo>
                  <a:pt x="292037" y="780922"/>
                </a:lnTo>
                <a:lnTo>
                  <a:pt x="295513" y="780723"/>
                </a:lnTo>
                <a:lnTo>
                  <a:pt x="298990" y="780742"/>
                </a:lnTo>
                <a:lnTo>
                  <a:pt x="302466" y="780958"/>
                </a:lnTo>
                <a:lnTo>
                  <a:pt x="305943" y="781326"/>
                </a:lnTo>
                <a:lnTo>
                  <a:pt x="309420" y="781788"/>
                </a:lnTo>
                <a:lnTo>
                  <a:pt x="312896" y="782282"/>
                </a:lnTo>
                <a:lnTo>
                  <a:pt x="316373" y="782751"/>
                </a:lnTo>
                <a:lnTo>
                  <a:pt x="319850" y="783148"/>
                </a:lnTo>
                <a:lnTo>
                  <a:pt x="323326" y="783445"/>
                </a:lnTo>
                <a:lnTo>
                  <a:pt x="326803" y="783626"/>
                </a:lnTo>
                <a:lnTo>
                  <a:pt x="330279" y="783694"/>
                </a:lnTo>
                <a:lnTo>
                  <a:pt x="333756" y="783661"/>
                </a:lnTo>
                <a:lnTo>
                  <a:pt x="337233" y="783551"/>
                </a:lnTo>
                <a:lnTo>
                  <a:pt x="340709" y="783390"/>
                </a:lnTo>
                <a:lnTo>
                  <a:pt x="344186" y="783206"/>
                </a:lnTo>
                <a:lnTo>
                  <a:pt x="347663" y="783026"/>
                </a:lnTo>
                <a:lnTo>
                  <a:pt x="351139" y="782873"/>
                </a:lnTo>
                <a:lnTo>
                  <a:pt x="354616" y="782764"/>
                </a:lnTo>
                <a:lnTo>
                  <a:pt x="358092" y="782710"/>
                </a:lnTo>
                <a:lnTo>
                  <a:pt x="361569" y="782712"/>
                </a:lnTo>
                <a:lnTo>
                  <a:pt x="365046" y="782763"/>
                </a:lnTo>
                <a:lnTo>
                  <a:pt x="368522" y="782847"/>
                </a:lnTo>
                <a:lnTo>
                  <a:pt x="371999" y="782940"/>
                </a:lnTo>
                <a:lnTo>
                  <a:pt x="375475" y="783012"/>
                </a:lnTo>
                <a:lnTo>
                  <a:pt x="378952" y="783032"/>
                </a:lnTo>
                <a:lnTo>
                  <a:pt x="382429" y="782972"/>
                </a:lnTo>
                <a:lnTo>
                  <a:pt x="385905" y="782811"/>
                </a:lnTo>
                <a:lnTo>
                  <a:pt x="389382" y="782545"/>
                </a:lnTo>
                <a:lnTo>
                  <a:pt x="392859" y="782185"/>
                </a:lnTo>
                <a:lnTo>
                  <a:pt x="396335" y="781761"/>
                </a:lnTo>
                <a:lnTo>
                  <a:pt x="399812" y="781321"/>
                </a:lnTo>
                <a:lnTo>
                  <a:pt x="403289" y="780923"/>
                </a:lnTo>
                <a:lnTo>
                  <a:pt x="406765" y="780629"/>
                </a:lnTo>
                <a:lnTo>
                  <a:pt x="410242" y="780492"/>
                </a:lnTo>
                <a:lnTo>
                  <a:pt x="413718" y="780547"/>
                </a:lnTo>
                <a:lnTo>
                  <a:pt x="417195" y="780802"/>
                </a:lnTo>
                <a:lnTo>
                  <a:pt x="420672" y="781228"/>
                </a:lnTo>
                <a:lnTo>
                  <a:pt x="424148" y="781762"/>
                </a:lnTo>
                <a:lnTo>
                  <a:pt x="427625" y="782314"/>
                </a:lnTo>
                <a:lnTo>
                  <a:pt x="431101" y="782773"/>
                </a:lnTo>
                <a:lnTo>
                  <a:pt x="434578" y="783026"/>
                </a:lnTo>
                <a:lnTo>
                  <a:pt x="438055" y="782976"/>
                </a:lnTo>
                <a:lnTo>
                  <a:pt x="441531" y="782563"/>
                </a:lnTo>
                <a:lnTo>
                  <a:pt x="445008" y="781772"/>
                </a:lnTo>
                <a:lnTo>
                  <a:pt x="448485" y="780649"/>
                </a:lnTo>
                <a:lnTo>
                  <a:pt x="451961" y="779295"/>
                </a:lnTo>
                <a:lnTo>
                  <a:pt x="455438" y="777858"/>
                </a:lnTo>
                <a:lnTo>
                  <a:pt x="458914" y="776517"/>
                </a:lnTo>
                <a:lnTo>
                  <a:pt x="462391" y="775453"/>
                </a:lnTo>
                <a:lnTo>
                  <a:pt x="465868" y="774824"/>
                </a:lnTo>
                <a:lnTo>
                  <a:pt x="469344" y="774739"/>
                </a:lnTo>
                <a:lnTo>
                  <a:pt x="472821" y="775236"/>
                </a:lnTo>
                <a:lnTo>
                  <a:pt x="476298" y="776270"/>
                </a:lnTo>
                <a:lnTo>
                  <a:pt x="479774" y="777715"/>
                </a:lnTo>
                <a:lnTo>
                  <a:pt x="483251" y="779377"/>
                </a:lnTo>
                <a:lnTo>
                  <a:pt x="486728" y="781016"/>
                </a:lnTo>
                <a:lnTo>
                  <a:pt x="490204" y="782382"/>
                </a:lnTo>
                <a:lnTo>
                  <a:pt x="493681" y="783247"/>
                </a:lnTo>
                <a:lnTo>
                  <a:pt x="497157" y="783442"/>
                </a:lnTo>
                <a:lnTo>
                  <a:pt x="500634" y="782888"/>
                </a:lnTo>
                <a:lnTo>
                  <a:pt x="504111" y="781602"/>
                </a:lnTo>
                <a:lnTo>
                  <a:pt x="507587" y="779711"/>
                </a:lnTo>
                <a:lnTo>
                  <a:pt x="511064" y="777429"/>
                </a:lnTo>
                <a:lnTo>
                  <a:pt x="514540" y="775037"/>
                </a:lnTo>
                <a:lnTo>
                  <a:pt x="518017" y="772842"/>
                </a:lnTo>
                <a:lnTo>
                  <a:pt x="521494" y="771136"/>
                </a:lnTo>
                <a:lnTo>
                  <a:pt x="524970" y="770157"/>
                </a:lnTo>
                <a:lnTo>
                  <a:pt x="528447" y="770051"/>
                </a:lnTo>
                <a:lnTo>
                  <a:pt x="531924" y="770856"/>
                </a:lnTo>
                <a:lnTo>
                  <a:pt x="535400" y="772489"/>
                </a:lnTo>
                <a:lnTo>
                  <a:pt x="538877" y="774755"/>
                </a:lnTo>
                <a:lnTo>
                  <a:pt x="542354" y="777378"/>
                </a:lnTo>
                <a:lnTo>
                  <a:pt x="545830" y="780027"/>
                </a:lnTo>
                <a:lnTo>
                  <a:pt x="549307" y="782368"/>
                </a:lnTo>
                <a:lnTo>
                  <a:pt x="552783" y="784100"/>
                </a:lnTo>
                <a:lnTo>
                  <a:pt x="556260" y="785001"/>
                </a:lnTo>
                <a:lnTo>
                  <a:pt x="559737" y="784951"/>
                </a:lnTo>
                <a:lnTo>
                  <a:pt x="563213" y="783954"/>
                </a:lnTo>
                <a:lnTo>
                  <a:pt x="566690" y="782132"/>
                </a:lnTo>
                <a:lnTo>
                  <a:pt x="570167" y="779715"/>
                </a:lnTo>
                <a:lnTo>
                  <a:pt x="573643" y="777008"/>
                </a:lnTo>
                <a:lnTo>
                  <a:pt x="577120" y="774356"/>
                </a:lnTo>
                <a:lnTo>
                  <a:pt x="580596" y="772101"/>
                </a:lnTo>
                <a:lnTo>
                  <a:pt x="584073" y="770540"/>
                </a:lnTo>
                <a:lnTo>
                  <a:pt x="587550" y="769887"/>
                </a:lnTo>
                <a:lnTo>
                  <a:pt x="591026" y="770250"/>
                </a:lnTo>
                <a:lnTo>
                  <a:pt x="594503" y="771616"/>
                </a:lnTo>
                <a:lnTo>
                  <a:pt x="597979" y="773850"/>
                </a:lnTo>
                <a:lnTo>
                  <a:pt x="601456" y="776715"/>
                </a:lnTo>
                <a:lnTo>
                  <a:pt x="604933" y="779893"/>
                </a:lnTo>
                <a:lnTo>
                  <a:pt x="608409" y="783026"/>
                </a:lnTo>
                <a:lnTo>
                  <a:pt x="611886" y="785758"/>
                </a:lnTo>
                <a:lnTo>
                  <a:pt x="615363" y="787774"/>
                </a:lnTo>
                <a:lnTo>
                  <a:pt x="618839" y="788841"/>
                </a:lnTo>
                <a:lnTo>
                  <a:pt x="622316" y="788837"/>
                </a:lnTo>
                <a:lnTo>
                  <a:pt x="625793" y="787767"/>
                </a:lnTo>
                <a:lnTo>
                  <a:pt x="629269" y="785767"/>
                </a:lnTo>
                <a:lnTo>
                  <a:pt x="632746" y="783090"/>
                </a:lnTo>
                <a:lnTo>
                  <a:pt x="636222" y="780079"/>
                </a:lnTo>
                <a:lnTo>
                  <a:pt x="639699" y="777127"/>
                </a:lnTo>
                <a:lnTo>
                  <a:pt x="643176" y="774631"/>
                </a:lnTo>
                <a:lnTo>
                  <a:pt x="646652" y="772938"/>
                </a:lnTo>
                <a:lnTo>
                  <a:pt x="650129" y="772306"/>
                </a:lnTo>
                <a:lnTo>
                  <a:pt x="653606" y="772858"/>
                </a:lnTo>
                <a:lnTo>
                  <a:pt x="657082" y="774570"/>
                </a:lnTo>
                <a:lnTo>
                  <a:pt x="660559" y="777263"/>
                </a:lnTo>
                <a:lnTo>
                  <a:pt x="664035" y="780620"/>
                </a:lnTo>
                <a:lnTo>
                  <a:pt x="667512" y="784228"/>
                </a:lnTo>
                <a:lnTo>
                  <a:pt x="670989" y="787628"/>
                </a:lnTo>
                <a:lnTo>
                  <a:pt x="674465" y="790371"/>
                </a:lnTo>
                <a:lnTo>
                  <a:pt x="677942" y="792091"/>
                </a:lnTo>
                <a:lnTo>
                  <a:pt x="681418" y="792548"/>
                </a:lnTo>
                <a:lnTo>
                  <a:pt x="684895" y="791673"/>
                </a:lnTo>
                <a:lnTo>
                  <a:pt x="688372" y="789580"/>
                </a:lnTo>
                <a:lnTo>
                  <a:pt x="691848" y="786557"/>
                </a:lnTo>
                <a:lnTo>
                  <a:pt x="695325" y="783026"/>
                </a:lnTo>
                <a:lnTo>
                  <a:pt x="698802" y="779490"/>
                </a:lnTo>
                <a:lnTo>
                  <a:pt x="702278" y="776458"/>
                </a:lnTo>
                <a:lnTo>
                  <a:pt x="705755" y="774368"/>
                </a:lnTo>
                <a:lnTo>
                  <a:pt x="709232" y="773522"/>
                </a:lnTo>
                <a:lnTo>
                  <a:pt x="712708" y="774038"/>
                </a:lnTo>
                <a:lnTo>
                  <a:pt x="716185" y="775825"/>
                </a:lnTo>
                <a:lnTo>
                  <a:pt x="719661" y="778593"/>
                </a:lnTo>
                <a:lnTo>
                  <a:pt x="723138" y="781897"/>
                </a:lnTo>
                <a:lnTo>
                  <a:pt x="726615" y="785201"/>
                </a:lnTo>
                <a:lnTo>
                  <a:pt x="730091" y="787961"/>
                </a:lnTo>
                <a:lnTo>
                  <a:pt x="733568" y="789712"/>
                </a:lnTo>
                <a:lnTo>
                  <a:pt x="737045" y="790146"/>
                </a:lnTo>
                <a:lnTo>
                  <a:pt x="740521" y="789161"/>
                </a:lnTo>
                <a:lnTo>
                  <a:pt x="743998" y="786880"/>
                </a:lnTo>
                <a:lnTo>
                  <a:pt x="747474" y="783642"/>
                </a:lnTo>
                <a:lnTo>
                  <a:pt x="750951" y="779940"/>
                </a:lnTo>
                <a:lnTo>
                  <a:pt x="754428" y="776350"/>
                </a:lnTo>
                <a:lnTo>
                  <a:pt x="757904" y="773431"/>
                </a:lnTo>
                <a:lnTo>
                  <a:pt x="761381" y="771633"/>
                </a:lnTo>
                <a:lnTo>
                  <a:pt x="764857" y="771216"/>
                </a:lnTo>
                <a:lnTo>
                  <a:pt x="768334" y="772205"/>
                </a:lnTo>
                <a:lnTo>
                  <a:pt x="771811" y="774379"/>
                </a:lnTo>
                <a:lnTo>
                  <a:pt x="775287" y="777301"/>
                </a:lnTo>
                <a:lnTo>
                  <a:pt x="778764" y="780393"/>
                </a:lnTo>
                <a:lnTo>
                  <a:pt x="782241" y="783026"/>
                </a:lnTo>
                <a:lnTo>
                  <a:pt x="785717" y="784634"/>
                </a:lnTo>
                <a:lnTo>
                  <a:pt x="789194" y="784811"/>
                </a:lnTo>
                <a:lnTo>
                  <a:pt x="792671" y="783387"/>
                </a:lnTo>
                <a:lnTo>
                  <a:pt x="796147" y="780468"/>
                </a:lnTo>
                <a:lnTo>
                  <a:pt x="799624" y="776426"/>
                </a:lnTo>
                <a:lnTo>
                  <a:pt x="803100" y="771841"/>
                </a:lnTo>
                <a:lnTo>
                  <a:pt x="806577" y="767416"/>
                </a:lnTo>
                <a:lnTo>
                  <a:pt x="810054" y="763852"/>
                </a:lnTo>
                <a:lnTo>
                  <a:pt x="813530" y="761733"/>
                </a:lnTo>
                <a:lnTo>
                  <a:pt x="817007" y="761418"/>
                </a:lnTo>
                <a:lnTo>
                  <a:pt x="820483" y="762975"/>
                </a:lnTo>
                <a:lnTo>
                  <a:pt x="823960" y="766156"/>
                </a:lnTo>
                <a:lnTo>
                  <a:pt x="827437" y="770426"/>
                </a:lnTo>
                <a:lnTo>
                  <a:pt x="830913" y="775048"/>
                </a:lnTo>
                <a:lnTo>
                  <a:pt x="834390" y="779197"/>
                </a:lnTo>
                <a:lnTo>
                  <a:pt x="837867" y="782095"/>
                </a:lnTo>
                <a:lnTo>
                  <a:pt x="841343" y="783144"/>
                </a:lnTo>
                <a:lnTo>
                  <a:pt x="844820" y="782027"/>
                </a:lnTo>
                <a:lnTo>
                  <a:pt x="848296" y="778777"/>
                </a:lnTo>
                <a:lnTo>
                  <a:pt x="851773" y="773771"/>
                </a:lnTo>
                <a:lnTo>
                  <a:pt x="855250" y="767688"/>
                </a:lnTo>
                <a:lnTo>
                  <a:pt x="858726" y="761399"/>
                </a:lnTo>
                <a:lnTo>
                  <a:pt x="862203" y="755832"/>
                </a:lnTo>
                <a:lnTo>
                  <a:pt x="865680" y="751827"/>
                </a:lnTo>
                <a:lnTo>
                  <a:pt x="869156" y="749999"/>
                </a:lnTo>
                <a:lnTo>
                  <a:pt x="872633" y="750633"/>
                </a:lnTo>
                <a:lnTo>
                  <a:pt x="876110" y="753644"/>
                </a:lnTo>
                <a:lnTo>
                  <a:pt x="879586" y="758580"/>
                </a:lnTo>
                <a:lnTo>
                  <a:pt x="883063" y="764697"/>
                </a:lnTo>
                <a:lnTo>
                  <a:pt x="886539" y="771071"/>
                </a:lnTo>
                <a:lnTo>
                  <a:pt x="890016" y="776747"/>
                </a:lnTo>
                <a:lnTo>
                  <a:pt x="893493" y="780885"/>
                </a:lnTo>
                <a:lnTo>
                  <a:pt x="896969" y="782889"/>
                </a:lnTo>
                <a:lnTo>
                  <a:pt x="900446" y="782493"/>
                </a:lnTo>
                <a:lnTo>
                  <a:pt x="903922" y="779801"/>
                </a:lnTo>
                <a:lnTo>
                  <a:pt x="907399" y="775257"/>
                </a:lnTo>
                <a:lnTo>
                  <a:pt x="910876" y="769569"/>
                </a:lnTo>
                <a:lnTo>
                  <a:pt x="914352" y="763594"/>
                </a:lnTo>
                <a:lnTo>
                  <a:pt x="917829" y="758204"/>
                </a:lnTo>
                <a:lnTo>
                  <a:pt x="921306" y="754151"/>
                </a:lnTo>
                <a:lnTo>
                  <a:pt x="924782" y="751965"/>
                </a:lnTo>
                <a:lnTo>
                  <a:pt x="928259" y="751885"/>
                </a:lnTo>
                <a:lnTo>
                  <a:pt x="931735" y="753846"/>
                </a:lnTo>
                <a:lnTo>
                  <a:pt x="935212" y="757507"/>
                </a:lnTo>
                <a:lnTo>
                  <a:pt x="938689" y="762329"/>
                </a:lnTo>
                <a:lnTo>
                  <a:pt x="942165" y="767668"/>
                </a:lnTo>
                <a:lnTo>
                  <a:pt x="945642" y="772879"/>
                </a:lnTo>
                <a:lnTo>
                  <a:pt x="949119" y="777409"/>
                </a:lnTo>
                <a:lnTo>
                  <a:pt x="952595" y="780860"/>
                </a:lnTo>
                <a:lnTo>
                  <a:pt x="956072" y="783026"/>
                </a:lnTo>
                <a:lnTo>
                  <a:pt x="959549" y="783881"/>
                </a:lnTo>
                <a:lnTo>
                  <a:pt x="963025" y="783552"/>
                </a:lnTo>
                <a:lnTo>
                  <a:pt x="966502" y="782262"/>
                </a:lnTo>
                <a:lnTo>
                  <a:pt x="969978" y="780279"/>
                </a:lnTo>
                <a:lnTo>
                  <a:pt x="973455" y="777866"/>
                </a:lnTo>
                <a:lnTo>
                  <a:pt x="976932" y="775249"/>
                </a:lnTo>
                <a:lnTo>
                  <a:pt x="980408" y="772621"/>
                </a:lnTo>
                <a:lnTo>
                  <a:pt x="983885" y="770142"/>
                </a:lnTo>
                <a:lnTo>
                  <a:pt x="987361" y="767976"/>
                </a:lnTo>
                <a:lnTo>
                  <a:pt x="990838" y="766311"/>
                </a:lnTo>
                <a:lnTo>
                  <a:pt x="994315" y="765369"/>
                </a:lnTo>
                <a:lnTo>
                  <a:pt x="997791" y="765404"/>
                </a:lnTo>
                <a:lnTo>
                  <a:pt x="1001268" y="766663"/>
                </a:lnTo>
                <a:lnTo>
                  <a:pt x="1004745" y="769327"/>
                </a:lnTo>
                <a:lnTo>
                  <a:pt x="1008221" y="773445"/>
                </a:lnTo>
                <a:lnTo>
                  <a:pt x="1011698" y="778868"/>
                </a:lnTo>
                <a:lnTo>
                  <a:pt x="1015175" y="785206"/>
                </a:lnTo>
                <a:lnTo>
                  <a:pt x="1018651" y="791825"/>
                </a:lnTo>
                <a:lnTo>
                  <a:pt x="1022128" y="797896"/>
                </a:lnTo>
                <a:lnTo>
                  <a:pt x="1025604" y="802495"/>
                </a:lnTo>
                <a:lnTo>
                  <a:pt x="1029081" y="804743"/>
                </a:lnTo>
                <a:lnTo>
                  <a:pt x="1032558" y="803973"/>
                </a:lnTo>
                <a:lnTo>
                  <a:pt x="1036034" y="799885"/>
                </a:lnTo>
                <a:lnTo>
                  <a:pt x="1039511" y="792663"/>
                </a:lnTo>
                <a:lnTo>
                  <a:pt x="1042988" y="783026"/>
                </a:lnTo>
                <a:lnTo>
                  <a:pt x="1046464" y="772184"/>
                </a:lnTo>
                <a:lnTo>
                  <a:pt x="1049941" y="761706"/>
                </a:lnTo>
                <a:lnTo>
                  <a:pt x="1053417" y="753300"/>
                </a:lnTo>
                <a:lnTo>
                  <a:pt x="1056894" y="748538"/>
                </a:lnTo>
                <a:lnTo>
                  <a:pt x="1060371" y="748566"/>
                </a:lnTo>
                <a:lnTo>
                  <a:pt x="1063847" y="753860"/>
                </a:lnTo>
                <a:lnTo>
                  <a:pt x="1067324" y="764056"/>
                </a:lnTo>
                <a:lnTo>
                  <a:pt x="1070800" y="777918"/>
                </a:lnTo>
                <a:lnTo>
                  <a:pt x="1074277" y="793449"/>
                </a:lnTo>
                <a:lnTo>
                  <a:pt x="1077754" y="808143"/>
                </a:lnTo>
                <a:lnTo>
                  <a:pt x="1081230" y="819362"/>
                </a:lnTo>
                <a:lnTo>
                  <a:pt x="1084707" y="824763"/>
                </a:lnTo>
                <a:lnTo>
                  <a:pt x="1088184" y="822727"/>
                </a:lnTo>
                <a:lnTo>
                  <a:pt x="1091660" y="812705"/>
                </a:lnTo>
                <a:lnTo>
                  <a:pt x="1095137" y="795411"/>
                </a:lnTo>
                <a:lnTo>
                  <a:pt x="1098614" y="772819"/>
                </a:lnTo>
                <a:lnTo>
                  <a:pt x="1102090" y="747949"/>
                </a:lnTo>
                <a:lnTo>
                  <a:pt x="1105567" y="724449"/>
                </a:lnTo>
                <a:lnTo>
                  <a:pt x="1109043" y="706037"/>
                </a:lnTo>
                <a:lnTo>
                  <a:pt x="1112520" y="695883"/>
                </a:lnTo>
                <a:lnTo>
                  <a:pt x="1115997" y="696025"/>
                </a:lnTo>
                <a:lnTo>
                  <a:pt x="1119473" y="706934"/>
                </a:lnTo>
                <a:lnTo>
                  <a:pt x="1122950" y="727303"/>
                </a:lnTo>
                <a:lnTo>
                  <a:pt x="1126427" y="754118"/>
                </a:lnTo>
                <a:lnTo>
                  <a:pt x="1129903" y="783026"/>
                </a:lnTo>
                <a:lnTo>
                  <a:pt x="1133380" y="808949"/>
                </a:lnTo>
                <a:lnTo>
                  <a:pt x="1136856" y="826875"/>
                </a:lnTo>
                <a:lnTo>
                  <a:pt x="1140333" y="832697"/>
                </a:lnTo>
                <a:lnTo>
                  <a:pt x="1143810" y="823960"/>
                </a:lnTo>
                <a:lnTo>
                  <a:pt x="1147286" y="800397"/>
                </a:lnTo>
                <a:lnTo>
                  <a:pt x="1150763" y="764138"/>
                </a:lnTo>
                <a:lnTo>
                  <a:pt x="1154240" y="719534"/>
                </a:lnTo>
                <a:lnTo>
                  <a:pt x="1157716" y="672608"/>
                </a:lnTo>
                <a:lnTo>
                  <a:pt x="1161193" y="630182"/>
                </a:lnTo>
                <a:lnTo>
                  <a:pt x="1164669" y="598823"/>
                </a:lnTo>
                <a:lnTo>
                  <a:pt x="1168146" y="583747"/>
                </a:lnTo>
                <a:lnTo>
                  <a:pt x="1171623" y="587878"/>
                </a:lnTo>
                <a:lnTo>
                  <a:pt x="1175099" y="611211"/>
                </a:lnTo>
                <a:lnTo>
                  <a:pt x="1178576" y="650620"/>
                </a:lnTo>
                <a:lnTo>
                  <a:pt x="1182053" y="700153"/>
                </a:lnTo>
                <a:lnTo>
                  <a:pt x="1185529" y="751807"/>
                </a:lnTo>
                <a:lnTo>
                  <a:pt x="1189006" y="796690"/>
                </a:lnTo>
                <a:lnTo>
                  <a:pt x="1192482" y="826388"/>
                </a:lnTo>
                <a:lnTo>
                  <a:pt x="1195959" y="834352"/>
                </a:lnTo>
                <a:lnTo>
                  <a:pt x="1199436" y="817055"/>
                </a:lnTo>
                <a:lnTo>
                  <a:pt x="1202912" y="774743"/>
                </a:lnTo>
                <a:lnTo>
                  <a:pt x="1206389" y="711624"/>
                </a:lnTo>
                <a:lnTo>
                  <a:pt x="1209865" y="635427"/>
                </a:lnTo>
                <a:lnTo>
                  <a:pt x="1213342" y="556390"/>
                </a:lnTo>
                <a:lnTo>
                  <a:pt x="1216819" y="485780"/>
                </a:lnTo>
                <a:lnTo>
                  <a:pt x="1220295" y="434175"/>
                </a:lnTo>
                <a:lnTo>
                  <a:pt x="1223772" y="409766"/>
                </a:lnTo>
                <a:lnTo>
                  <a:pt x="1227249" y="416946"/>
                </a:lnTo>
                <a:lnTo>
                  <a:pt x="1230725" y="455422"/>
                </a:lnTo>
                <a:lnTo>
                  <a:pt x="1234202" y="520024"/>
                </a:lnTo>
                <a:lnTo>
                  <a:pt x="1237679" y="601265"/>
                </a:lnTo>
                <a:lnTo>
                  <a:pt x="1241155" y="686608"/>
                </a:lnTo>
                <a:lnTo>
                  <a:pt x="1244632" y="762265"/>
                </a:lnTo>
                <a:lnTo>
                  <a:pt x="1248108" y="815270"/>
                </a:lnTo>
                <a:lnTo>
                  <a:pt x="1251585" y="835524"/>
                </a:lnTo>
                <a:lnTo>
                  <a:pt x="1255062" y="817480"/>
                </a:lnTo>
                <a:lnTo>
                  <a:pt x="1258538" y="761192"/>
                </a:lnTo>
                <a:lnTo>
                  <a:pt x="1262015" y="672544"/>
                </a:lnTo>
                <a:lnTo>
                  <a:pt x="1265492" y="562596"/>
                </a:lnTo>
                <a:lnTo>
                  <a:pt x="1268968" y="446095"/>
                </a:lnTo>
                <a:lnTo>
                  <a:pt x="1272445" y="339376"/>
                </a:lnTo>
                <a:lnTo>
                  <a:pt x="1275921" y="257932"/>
                </a:lnTo>
                <a:lnTo>
                  <a:pt x="1279398" y="214037"/>
                </a:lnTo>
                <a:lnTo>
                  <a:pt x="1282875" y="214766"/>
                </a:lnTo>
                <a:lnTo>
                  <a:pt x="1286351" y="260752"/>
                </a:lnTo>
                <a:lnTo>
                  <a:pt x="1289828" y="345876"/>
                </a:lnTo>
                <a:lnTo>
                  <a:pt x="1293304" y="457974"/>
                </a:lnTo>
                <a:lnTo>
                  <a:pt x="1296781" y="580484"/>
                </a:lnTo>
                <a:lnTo>
                  <a:pt x="1300258" y="694805"/>
                </a:lnTo>
                <a:lnTo>
                  <a:pt x="1303734" y="783026"/>
                </a:lnTo>
                <a:lnTo>
                  <a:pt x="1307211" y="830632"/>
                </a:lnTo>
                <a:lnTo>
                  <a:pt x="1310688" y="828764"/>
                </a:lnTo>
                <a:lnTo>
                  <a:pt x="1314164" y="775679"/>
                </a:lnTo>
                <a:lnTo>
                  <a:pt x="1317641" y="677189"/>
                </a:lnTo>
                <a:lnTo>
                  <a:pt x="1321118" y="545964"/>
                </a:lnTo>
                <a:lnTo>
                  <a:pt x="1324594" y="399808"/>
                </a:lnTo>
                <a:lnTo>
                  <a:pt x="1328071" y="259118"/>
                </a:lnTo>
                <a:lnTo>
                  <a:pt x="1331547" y="143923"/>
                </a:lnTo>
                <a:lnTo>
                  <a:pt x="1335024" y="70912"/>
                </a:lnTo>
                <a:lnTo>
                  <a:pt x="1338501" y="50919"/>
                </a:lnTo>
                <a:lnTo>
                  <a:pt x="1341977" y="87231"/>
                </a:lnTo>
                <a:lnTo>
                  <a:pt x="1345454" y="174990"/>
                </a:lnTo>
                <a:lnTo>
                  <a:pt x="1348931" y="301799"/>
                </a:lnTo>
                <a:lnTo>
                  <a:pt x="1352407" y="449442"/>
                </a:lnTo>
                <a:lnTo>
                  <a:pt x="1355884" y="596490"/>
                </a:lnTo>
                <a:lnTo>
                  <a:pt x="1359360" y="721401"/>
                </a:lnTo>
                <a:lnTo>
                  <a:pt x="1362837" y="805668"/>
                </a:lnTo>
                <a:lnTo>
                  <a:pt x="1366314" y="836546"/>
                </a:lnTo>
                <a:lnTo>
                  <a:pt x="1369790" y="808948"/>
                </a:lnTo>
                <a:lnTo>
                  <a:pt x="1373267" y="726233"/>
                </a:lnTo>
                <a:lnTo>
                  <a:pt x="1376743" y="599760"/>
                </a:lnTo>
                <a:lnTo>
                  <a:pt x="1380220" y="447266"/>
                </a:lnTo>
                <a:lnTo>
                  <a:pt x="1383697" y="290313"/>
                </a:lnTo>
                <a:lnTo>
                  <a:pt x="1387173" y="151171"/>
                </a:lnTo>
                <a:lnTo>
                  <a:pt x="1390650" y="49601"/>
                </a:lnTo>
                <a:lnTo>
                  <a:pt x="1394127" y="0"/>
                </a:lnTo>
                <a:lnTo>
                  <a:pt x="1397603" y="9338"/>
                </a:lnTo>
                <a:lnTo>
                  <a:pt x="1401080" y="76176"/>
                </a:lnTo>
                <a:lnTo>
                  <a:pt x="1404557" y="190909"/>
                </a:lnTo>
                <a:lnTo>
                  <a:pt x="1408033" y="337189"/>
                </a:lnTo>
                <a:lnTo>
                  <a:pt x="1411510" y="494316"/>
                </a:lnTo>
                <a:lnTo>
                  <a:pt x="1414986" y="640239"/>
                </a:lnTo>
                <a:lnTo>
                  <a:pt x="1418463" y="754721"/>
                </a:lnTo>
                <a:lnTo>
                  <a:pt x="1421940" y="822216"/>
                </a:lnTo>
                <a:lnTo>
                  <a:pt x="1425416" y="834038"/>
                </a:lnTo>
                <a:lnTo>
                  <a:pt x="1428893" y="789511"/>
                </a:lnTo>
                <a:lnTo>
                  <a:pt x="1432370" y="695963"/>
                </a:lnTo>
                <a:lnTo>
                  <a:pt x="1435846" y="567561"/>
                </a:lnTo>
                <a:lnTo>
                  <a:pt x="1439323" y="423192"/>
                </a:lnTo>
                <a:lnTo>
                  <a:pt x="1442799" y="283703"/>
                </a:lnTo>
                <a:lnTo>
                  <a:pt x="1446276" y="168907"/>
                </a:lnTo>
                <a:lnTo>
                  <a:pt x="1449753" y="94800"/>
                </a:lnTo>
                <a:lnTo>
                  <a:pt x="1453229" y="71374"/>
                </a:lnTo>
                <a:lnTo>
                  <a:pt x="1456706" y="101337"/>
                </a:lnTo>
                <a:lnTo>
                  <a:pt x="1460182" y="179895"/>
                </a:lnTo>
                <a:lnTo>
                  <a:pt x="1463659" y="295606"/>
                </a:lnTo>
                <a:lnTo>
                  <a:pt x="1467136" y="432156"/>
                </a:lnTo>
                <a:lnTo>
                  <a:pt x="1470612" y="570781"/>
                </a:lnTo>
                <a:lnTo>
                  <a:pt x="1474089" y="692965"/>
                </a:lnTo>
                <a:lnTo>
                  <a:pt x="1477566" y="783026"/>
                </a:lnTo>
                <a:lnTo>
                  <a:pt x="1481042" y="830226"/>
                </a:lnTo>
                <a:lnTo>
                  <a:pt x="1484519" y="830114"/>
                </a:lnTo>
                <a:lnTo>
                  <a:pt x="1487996" y="784946"/>
                </a:lnTo>
                <a:lnTo>
                  <a:pt x="1491472" y="703139"/>
                </a:lnTo>
                <a:lnTo>
                  <a:pt x="1494949" y="597885"/>
                </a:lnTo>
                <a:lnTo>
                  <a:pt x="1498425" y="485143"/>
                </a:lnTo>
                <a:lnTo>
                  <a:pt x="1501902" y="381322"/>
                </a:lnTo>
                <a:lnTo>
                  <a:pt x="1505379" y="300983"/>
                </a:lnTo>
                <a:lnTo>
                  <a:pt x="1508855" y="254905"/>
                </a:lnTo>
                <a:lnTo>
                  <a:pt x="1512332" y="248744"/>
                </a:lnTo>
                <a:lnTo>
                  <a:pt x="1515808" y="282474"/>
                </a:lnTo>
                <a:lnTo>
                  <a:pt x="1519285" y="350637"/>
                </a:lnTo>
                <a:lnTo>
                  <a:pt x="1522762" y="443340"/>
                </a:lnTo>
                <a:lnTo>
                  <a:pt x="1526238" y="547812"/>
                </a:lnTo>
                <a:lnTo>
                  <a:pt x="1529715" y="650296"/>
                </a:lnTo>
                <a:lnTo>
                  <a:pt x="1533192" y="737975"/>
                </a:lnTo>
                <a:lnTo>
                  <a:pt x="1536668" y="800671"/>
                </a:lnTo>
                <a:lnTo>
                  <a:pt x="1540145" y="832096"/>
                </a:lnTo>
                <a:lnTo>
                  <a:pt x="1543621" y="830502"/>
                </a:lnTo>
                <a:lnTo>
                  <a:pt x="1547098" y="798663"/>
                </a:lnTo>
                <a:lnTo>
                  <a:pt x="1550575" y="743253"/>
                </a:lnTo>
                <a:lnTo>
                  <a:pt x="1554051" y="673716"/>
                </a:lnTo>
                <a:lnTo>
                  <a:pt x="1557528" y="600836"/>
                </a:lnTo>
                <a:lnTo>
                  <a:pt x="1561005" y="535196"/>
                </a:lnTo>
                <a:lnTo>
                  <a:pt x="1564481" y="485780"/>
                </a:lnTo>
                <a:lnTo>
                  <a:pt x="1567958" y="458861"/>
                </a:lnTo>
                <a:lnTo>
                  <a:pt x="1571435" y="457342"/>
                </a:lnTo>
                <a:lnTo>
                  <a:pt x="1574911" y="480582"/>
                </a:lnTo>
                <a:lnTo>
                  <a:pt x="1578388" y="524721"/>
                </a:lnTo>
                <a:lnTo>
                  <a:pt x="1581864" y="583406"/>
                </a:lnTo>
                <a:lnTo>
                  <a:pt x="1585341" y="648800"/>
                </a:lnTo>
                <a:lnTo>
                  <a:pt x="1588818" y="712719"/>
                </a:lnTo>
                <a:lnTo>
                  <a:pt x="1592294" y="767728"/>
                </a:lnTo>
                <a:lnTo>
                  <a:pt x="1595771" y="808060"/>
                </a:lnTo>
                <a:lnTo>
                  <a:pt x="1599247" y="830241"/>
                </a:lnTo>
                <a:lnTo>
                  <a:pt x="1602724" y="833369"/>
                </a:lnTo>
                <a:lnTo>
                  <a:pt x="1606201" y="819035"/>
                </a:lnTo>
                <a:lnTo>
                  <a:pt x="1609677" y="790926"/>
                </a:lnTo>
                <a:lnTo>
                  <a:pt x="1613154" y="754181"/>
                </a:lnTo>
                <a:lnTo>
                  <a:pt x="1616631" y="714629"/>
                </a:lnTo>
                <a:lnTo>
                  <a:pt x="1620107" y="677980"/>
                </a:lnTo>
                <a:lnTo>
                  <a:pt x="1623584" y="649120"/>
                </a:lnTo>
                <a:lnTo>
                  <a:pt x="1627060" y="631554"/>
                </a:lnTo>
                <a:lnTo>
                  <a:pt x="1630537" y="627084"/>
                </a:lnTo>
                <a:lnTo>
                  <a:pt x="1634014" y="635721"/>
                </a:lnTo>
                <a:lnTo>
                  <a:pt x="1637490" y="655834"/>
                </a:lnTo>
                <a:lnTo>
                  <a:pt x="1640967" y="684486"/>
                </a:lnTo>
                <a:lnTo>
                  <a:pt x="1644444" y="717911"/>
                </a:lnTo>
                <a:lnTo>
                  <a:pt x="1647920" y="752039"/>
                </a:lnTo>
                <a:lnTo>
                  <a:pt x="1651397" y="783026"/>
                </a:lnTo>
                <a:lnTo>
                  <a:pt x="1654874" y="807700"/>
                </a:lnTo>
                <a:lnTo>
                  <a:pt x="1658350" y="823893"/>
                </a:lnTo>
                <a:lnTo>
                  <a:pt x="1661827" y="830621"/>
                </a:lnTo>
                <a:lnTo>
                  <a:pt x="1665303" y="828106"/>
                </a:lnTo>
                <a:lnTo>
                  <a:pt x="1668780" y="817656"/>
                </a:lnTo>
                <a:lnTo>
                  <a:pt x="1672257" y="801421"/>
                </a:lnTo>
                <a:lnTo>
                  <a:pt x="1675733" y="782067"/>
                </a:lnTo>
                <a:lnTo>
                  <a:pt x="1679210" y="762420"/>
                </a:lnTo>
                <a:lnTo>
                  <a:pt x="1682686" y="745116"/>
                </a:lnTo>
                <a:lnTo>
                  <a:pt x="1686163" y="732292"/>
                </a:lnTo>
                <a:lnTo>
                  <a:pt x="1689640" y="725371"/>
                </a:lnTo>
                <a:lnTo>
                  <a:pt x="1693116" y="724937"/>
                </a:lnTo>
                <a:lnTo>
                  <a:pt x="1696593" y="730721"/>
                </a:lnTo>
                <a:lnTo>
                  <a:pt x="1700070" y="741693"/>
                </a:lnTo>
                <a:lnTo>
                  <a:pt x="1703546" y="756235"/>
                </a:lnTo>
                <a:lnTo>
                  <a:pt x="1707023" y="772384"/>
                </a:lnTo>
                <a:lnTo>
                  <a:pt x="1710500" y="788091"/>
                </a:lnTo>
                <a:lnTo>
                  <a:pt x="1713976" y="801490"/>
                </a:lnTo>
                <a:lnTo>
                  <a:pt x="1717453" y="811121"/>
                </a:lnTo>
                <a:lnTo>
                  <a:pt x="1720929" y="816093"/>
                </a:lnTo>
                <a:lnTo>
                  <a:pt x="1724406" y="816168"/>
                </a:lnTo>
                <a:lnTo>
                  <a:pt x="1727883" y="811754"/>
                </a:lnTo>
                <a:lnTo>
                  <a:pt x="1731359" y="803818"/>
                </a:lnTo>
                <a:lnTo>
                  <a:pt x="1734836" y="793724"/>
                </a:lnTo>
                <a:lnTo>
                  <a:pt x="1738313" y="783026"/>
                </a:lnTo>
                <a:lnTo>
                  <a:pt x="1741789" y="773250"/>
                </a:lnTo>
                <a:lnTo>
                  <a:pt x="1745266" y="765680"/>
                </a:lnTo>
                <a:lnTo>
                  <a:pt x="1748742" y="761194"/>
                </a:lnTo>
                <a:lnTo>
                  <a:pt x="1752219" y="760162"/>
                </a:lnTo>
                <a:lnTo>
                  <a:pt x="1755696" y="762417"/>
                </a:lnTo>
                <a:lnTo>
                  <a:pt x="1759172" y="767314"/>
                </a:lnTo>
                <a:lnTo>
                  <a:pt x="1762649" y="773845"/>
                </a:lnTo>
                <a:lnTo>
                  <a:pt x="1766125" y="780815"/>
                </a:lnTo>
                <a:lnTo>
                  <a:pt x="1769602" y="787031"/>
                </a:lnTo>
                <a:lnTo>
                  <a:pt x="1773079" y="791487"/>
                </a:lnTo>
                <a:lnTo>
                  <a:pt x="1776555" y="793513"/>
                </a:lnTo>
                <a:lnTo>
                  <a:pt x="1780032" y="792865"/>
                </a:lnTo>
                <a:lnTo>
                  <a:pt x="1783509" y="789748"/>
                </a:lnTo>
                <a:lnTo>
                  <a:pt x="1786985" y="784762"/>
                </a:lnTo>
                <a:lnTo>
                  <a:pt x="1790462" y="778791"/>
                </a:lnTo>
                <a:lnTo>
                  <a:pt x="1793939" y="772844"/>
                </a:lnTo>
                <a:lnTo>
                  <a:pt x="1797415" y="767887"/>
                </a:lnTo>
                <a:lnTo>
                  <a:pt x="1800892" y="764681"/>
                </a:lnTo>
                <a:lnTo>
                  <a:pt x="1804368" y="763655"/>
                </a:lnTo>
                <a:lnTo>
                  <a:pt x="1807845" y="764848"/>
                </a:lnTo>
                <a:lnTo>
                  <a:pt x="1811322" y="767903"/>
                </a:lnTo>
                <a:lnTo>
                  <a:pt x="1814798" y="772141"/>
                </a:lnTo>
                <a:lnTo>
                  <a:pt x="1818275" y="776678"/>
                </a:lnTo>
                <a:lnTo>
                  <a:pt x="1821752" y="780580"/>
                </a:lnTo>
                <a:lnTo>
                  <a:pt x="1825228" y="783026"/>
                </a:lnTo>
                <a:lnTo>
                  <a:pt x="1828705" y="783445"/>
                </a:lnTo>
                <a:lnTo>
                  <a:pt x="1832181" y="781617"/>
                </a:lnTo>
                <a:lnTo>
                  <a:pt x="1835658" y="777710"/>
                </a:lnTo>
                <a:lnTo>
                  <a:pt x="1839135" y="772254"/>
                </a:lnTo>
                <a:lnTo>
                  <a:pt x="1842611" y="766049"/>
                </a:lnTo>
                <a:lnTo>
                  <a:pt x="1846088" y="760041"/>
                </a:lnTo>
                <a:lnTo>
                  <a:pt x="1849565" y="755159"/>
                </a:lnTo>
                <a:lnTo>
                  <a:pt x="1853041" y="752164"/>
                </a:lnTo>
                <a:lnTo>
                  <a:pt x="1856518" y="751524"/>
                </a:lnTo>
                <a:lnTo>
                  <a:pt x="1859994" y="753342"/>
                </a:lnTo>
                <a:lnTo>
                  <a:pt x="1863471" y="757329"/>
                </a:lnTo>
                <a:lnTo>
                  <a:pt x="1866948" y="762861"/>
                </a:lnTo>
                <a:lnTo>
                  <a:pt x="1870424" y="769071"/>
                </a:lnTo>
                <a:lnTo>
                  <a:pt x="1873901" y="774991"/>
                </a:lnTo>
                <a:lnTo>
                  <a:pt x="1877378" y="779701"/>
                </a:lnTo>
                <a:lnTo>
                  <a:pt x="1880854" y="782476"/>
                </a:lnTo>
                <a:lnTo>
                  <a:pt x="1884331" y="782891"/>
                </a:lnTo>
                <a:lnTo>
                  <a:pt x="1887807" y="780885"/>
                </a:lnTo>
                <a:lnTo>
                  <a:pt x="1891284" y="776767"/>
                </a:lnTo>
                <a:lnTo>
                  <a:pt x="1894761" y="771156"/>
                </a:lnTo>
                <a:lnTo>
                  <a:pt x="1898237" y="764886"/>
                </a:lnTo>
                <a:lnTo>
                  <a:pt x="1901714" y="758875"/>
                </a:lnTo>
                <a:lnTo>
                  <a:pt x="1905190" y="753982"/>
                </a:lnTo>
                <a:lnTo>
                  <a:pt x="1908667" y="750889"/>
                </a:lnTo>
                <a:lnTo>
                  <a:pt x="1912144" y="749999"/>
                </a:lnTo>
                <a:lnTo>
                  <a:pt x="1915620" y="751392"/>
                </a:lnTo>
                <a:lnTo>
                  <a:pt x="1919097" y="754829"/>
                </a:lnTo>
                <a:lnTo>
                  <a:pt x="1922574" y="759793"/>
                </a:lnTo>
                <a:lnTo>
                  <a:pt x="1926050" y="765585"/>
                </a:lnTo>
                <a:lnTo>
                  <a:pt x="1929527" y="771431"/>
                </a:lnTo>
                <a:lnTo>
                  <a:pt x="1933004" y="776592"/>
                </a:lnTo>
                <a:lnTo>
                  <a:pt x="1936480" y="780473"/>
                </a:lnTo>
                <a:lnTo>
                  <a:pt x="1939957" y="782688"/>
                </a:lnTo>
                <a:lnTo>
                  <a:pt x="1943433" y="783105"/>
                </a:lnTo>
                <a:lnTo>
                  <a:pt x="1946910" y="781840"/>
                </a:lnTo>
                <a:lnTo>
                  <a:pt x="1950387" y="779223"/>
                </a:lnTo>
                <a:lnTo>
                  <a:pt x="1953863" y="775734"/>
                </a:lnTo>
                <a:lnTo>
                  <a:pt x="1957340" y="771924"/>
                </a:lnTo>
                <a:lnTo>
                  <a:pt x="1960817" y="768335"/>
                </a:lnTo>
                <a:lnTo>
                  <a:pt x="1964293" y="765433"/>
                </a:lnTo>
                <a:lnTo>
                  <a:pt x="1967770" y="763552"/>
                </a:lnTo>
                <a:lnTo>
                  <a:pt x="1971246" y="762873"/>
                </a:lnTo>
                <a:lnTo>
                  <a:pt x="1974723" y="763418"/>
                </a:lnTo>
                <a:lnTo>
                  <a:pt x="1978200" y="765067"/>
                </a:lnTo>
                <a:lnTo>
                  <a:pt x="1981676" y="767596"/>
                </a:lnTo>
                <a:lnTo>
                  <a:pt x="1985153" y="770713"/>
                </a:lnTo>
                <a:lnTo>
                  <a:pt x="1988629" y="774101"/>
                </a:lnTo>
                <a:lnTo>
                  <a:pt x="1992106" y="777455"/>
                </a:lnTo>
                <a:lnTo>
                  <a:pt x="1995583" y="780502"/>
                </a:lnTo>
                <a:lnTo>
                  <a:pt x="1999059" y="783026"/>
                </a:lnTo>
                <a:lnTo>
                  <a:pt x="2002536" y="784870"/>
                </a:lnTo>
                <a:lnTo>
                  <a:pt x="2006013" y="785939"/>
                </a:lnTo>
                <a:lnTo>
                  <a:pt x="2009489" y="786201"/>
                </a:lnTo>
                <a:lnTo>
                  <a:pt x="2012966" y="785681"/>
                </a:lnTo>
                <a:lnTo>
                  <a:pt x="2016443" y="784463"/>
                </a:lnTo>
                <a:lnTo>
                  <a:pt x="2019919" y="782685"/>
                </a:lnTo>
                <a:lnTo>
                  <a:pt x="2023396" y="780535"/>
                </a:lnTo>
                <a:lnTo>
                  <a:pt x="2026872" y="778247"/>
                </a:lnTo>
                <a:lnTo>
                  <a:pt x="2030349" y="776083"/>
                </a:lnTo>
                <a:lnTo>
                  <a:pt x="2033826" y="774314"/>
                </a:lnTo>
                <a:lnTo>
                  <a:pt x="2037302" y="773191"/>
                </a:lnTo>
                <a:lnTo>
                  <a:pt x="2040779" y="772911"/>
                </a:lnTo>
                <a:lnTo>
                  <a:pt x="2044256" y="773590"/>
                </a:lnTo>
                <a:lnTo>
                  <a:pt x="2047732" y="775231"/>
                </a:lnTo>
                <a:lnTo>
                  <a:pt x="2051209" y="777716"/>
                </a:lnTo>
                <a:lnTo>
                  <a:pt x="2054685" y="780801"/>
                </a:lnTo>
                <a:lnTo>
                  <a:pt x="2058162" y="784145"/>
                </a:lnTo>
                <a:lnTo>
                  <a:pt x="2061639" y="787341"/>
                </a:lnTo>
                <a:lnTo>
                  <a:pt x="2065115" y="789975"/>
                </a:lnTo>
                <a:lnTo>
                  <a:pt x="2068592" y="791683"/>
                </a:lnTo>
                <a:lnTo>
                  <a:pt x="2072068" y="792206"/>
                </a:lnTo>
                <a:lnTo>
                  <a:pt x="2075545" y="791442"/>
                </a:lnTo>
                <a:lnTo>
                  <a:pt x="2079022" y="789465"/>
                </a:lnTo>
                <a:lnTo>
                  <a:pt x="2082498" y="786526"/>
                </a:lnTo>
                <a:lnTo>
                  <a:pt x="2085975" y="783026"/>
                </a:lnTo>
                <a:lnTo>
                  <a:pt x="2089452" y="779460"/>
                </a:lnTo>
                <a:lnTo>
                  <a:pt x="2092928" y="776347"/>
                </a:lnTo>
                <a:lnTo>
                  <a:pt x="2096405" y="774151"/>
                </a:lnTo>
                <a:lnTo>
                  <a:pt x="2099882" y="773205"/>
                </a:lnTo>
                <a:lnTo>
                  <a:pt x="2103358" y="773662"/>
                </a:lnTo>
                <a:lnTo>
                  <a:pt x="2106835" y="775457"/>
                </a:lnTo>
                <a:lnTo>
                  <a:pt x="2110311" y="778322"/>
                </a:lnTo>
                <a:lnTo>
                  <a:pt x="2113788" y="781815"/>
                </a:lnTo>
                <a:lnTo>
                  <a:pt x="2117265" y="785390"/>
                </a:lnTo>
                <a:lnTo>
                  <a:pt x="2120741" y="788482"/>
                </a:lnTo>
                <a:lnTo>
                  <a:pt x="2124218" y="790593"/>
                </a:lnTo>
                <a:lnTo>
                  <a:pt x="2127695" y="791373"/>
                </a:lnTo>
                <a:lnTo>
                  <a:pt x="2131171" y="790679"/>
                </a:lnTo>
                <a:lnTo>
                  <a:pt x="2134648" y="788596"/>
                </a:lnTo>
                <a:lnTo>
                  <a:pt x="2138124" y="785427"/>
                </a:lnTo>
                <a:lnTo>
                  <a:pt x="2141601" y="781648"/>
                </a:lnTo>
                <a:lnTo>
                  <a:pt x="2145078" y="777827"/>
                </a:lnTo>
                <a:lnTo>
                  <a:pt x="2148554" y="774538"/>
                </a:lnTo>
                <a:lnTo>
                  <a:pt x="2152031" y="772269"/>
                </a:lnTo>
                <a:lnTo>
                  <a:pt x="2155507" y="771341"/>
                </a:lnTo>
                <a:lnTo>
                  <a:pt x="2158984" y="771858"/>
                </a:lnTo>
                <a:lnTo>
                  <a:pt x="2162461" y="773693"/>
                </a:lnTo>
                <a:lnTo>
                  <a:pt x="2165937" y="776507"/>
                </a:lnTo>
                <a:lnTo>
                  <a:pt x="2169414" y="779807"/>
                </a:lnTo>
                <a:lnTo>
                  <a:pt x="2172891" y="783026"/>
                </a:lnTo>
                <a:lnTo>
                  <a:pt x="2176367" y="785616"/>
                </a:lnTo>
                <a:lnTo>
                  <a:pt x="2179844" y="787138"/>
                </a:lnTo>
                <a:lnTo>
                  <a:pt x="2183321" y="787328"/>
                </a:lnTo>
                <a:lnTo>
                  <a:pt x="2186797" y="786144"/>
                </a:lnTo>
                <a:lnTo>
                  <a:pt x="2190274" y="783766"/>
                </a:lnTo>
                <a:lnTo>
                  <a:pt x="2193750" y="780566"/>
                </a:lnTo>
                <a:lnTo>
                  <a:pt x="2197227" y="777045"/>
                </a:lnTo>
                <a:lnTo>
                  <a:pt x="2200704" y="773748"/>
                </a:lnTo>
                <a:lnTo>
                  <a:pt x="2204180" y="771180"/>
                </a:lnTo>
                <a:lnTo>
                  <a:pt x="2207657" y="769718"/>
                </a:lnTo>
                <a:lnTo>
                  <a:pt x="2211134" y="769560"/>
                </a:lnTo>
                <a:lnTo>
                  <a:pt x="2214610" y="770688"/>
                </a:lnTo>
                <a:lnTo>
                  <a:pt x="2218087" y="772882"/>
                </a:lnTo>
                <a:lnTo>
                  <a:pt x="2221563" y="775755"/>
                </a:lnTo>
                <a:lnTo>
                  <a:pt x="2225040" y="778822"/>
                </a:lnTo>
                <a:lnTo>
                  <a:pt x="2228517" y="781581"/>
                </a:lnTo>
                <a:lnTo>
                  <a:pt x="2231993" y="783590"/>
                </a:lnTo>
                <a:lnTo>
                  <a:pt x="2235470" y="784542"/>
                </a:lnTo>
                <a:lnTo>
                  <a:pt x="2238946" y="784307"/>
                </a:lnTo>
                <a:lnTo>
                  <a:pt x="2242423" y="782951"/>
                </a:lnTo>
                <a:lnTo>
                  <a:pt x="2245900" y="780717"/>
                </a:lnTo>
                <a:lnTo>
                  <a:pt x="2249376" y="777983"/>
                </a:lnTo>
                <a:lnTo>
                  <a:pt x="2252853" y="775193"/>
                </a:lnTo>
                <a:lnTo>
                  <a:pt x="2256330" y="772789"/>
                </a:lnTo>
                <a:lnTo>
                  <a:pt x="2259806" y="771136"/>
                </a:lnTo>
                <a:lnTo>
                  <a:pt x="2263283" y="770470"/>
                </a:lnTo>
                <a:lnTo>
                  <a:pt x="2266760" y="770862"/>
                </a:lnTo>
                <a:lnTo>
                  <a:pt x="2270236" y="772216"/>
                </a:lnTo>
                <a:lnTo>
                  <a:pt x="2273713" y="774292"/>
                </a:lnTo>
                <a:lnTo>
                  <a:pt x="2277189" y="776746"/>
                </a:lnTo>
                <a:lnTo>
                  <a:pt x="2280666" y="779197"/>
                </a:lnTo>
                <a:lnTo>
                  <a:pt x="2284143" y="781284"/>
                </a:lnTo>
                <a:lnTo>
                  <a:pt x="2287619" y="782723"/>
                </a:lnTo>
                <a:lnTo>
                  <a:pt x="2291096" y="783349"/>
                </a:lnTo>
                <a:lnTo>
                  <a:pt x="2294573" y="783136"/>
                </a:lnTo>
                <a:lnTo>
                  <a:pt x="2298049" y="782192"/>
                </a:lnTo>
                <a:lnTo>
                  <a:pt x="2301526" y="780732"/>
                </a:lnTo>
                <a:lnTo>
                  <a:pt x="2305002" y="779037"/>
                </a:lnTo>
                <a:lnTo>
                  <a:pt x="2308479" y="777409"/>
                </a:lnTo>
                <a:lnTo>
                  <a:pt x="2311956" y="776115"/>
                </a:lnTo>
                <a:lnTo>
                  <a:pt x="2315432" y="775351"/>
                </a:lnTo>
                <a:lnTo>
                  <a:pt x="2318909" y="775214"/>
                </a:lnTo>
                <a:lnTo>
                  <a:pt x="2322385" y="775695"/>
                </a:lnTo>
                <a:lnTo>
                  <a:pt x="2325862" y="776691"/>
                </a:lnTo>
                <a:lnTo>
                  <a:pt x="2329339" y="778023"/>
                </a:lnTo>
                <a:lnTo>
                  <a:pt x="2332815" y="779482"/>
                </a:lnTo>
                <a:lnTo>
                  <a:pt x="2336292" y="780856"/>
                </a:lnTo>
                <a:lnTo>
                  <a:pt x="2339769" y="781969"/>
                </a:lnTo>
                <a:lnTo>
                  <a:pt x="2343245" y="782706"/>
                </a:lnTo>
                <a:lnTo>
                  <a:pt x="2346722" y="783026"/>
                </a:lnTo>
                <a:lnTo>
                  <a:pt x="2350199" y="782958"/>
                </a:lnTo>
                <a:lnTo>
                  <a:pt x="2353675" y="782589"/>
                </a:lnTo>
                <a:lnTo>
                  <a:pt x="2357152" y="782046"/>
                </a:lnTo>
                <a:lnTo>
                  <a:pt x="2360628" y="781463"/>
                </a:lnTo>
                <a:lnTo>
                  <a:pt x="2364105" y="780963"/>
                </a:lnTo>
                <a:lnTo>
                  <a:pt x="2367582" y="780636"/>
                </a:lnTo>
                <a:lnTo>
                  <a:pt x="2371058" y="780526"/>
                </a:lnTo>
                <a:lnTo>
                  <a:pt x="2374535" y="780633"/>
                </a:lnTo>
                <a:lnTo>
                  <a:pt x="2378011" y="780919"/>
                </a:lnTo>
                <a:lnTo>
                  <a:pt x="2381488" y="781320"/>
                </a:lnTo>
                <a:lnTo>
                  <a:pt x="2384965" y="781761"/>
                </a:lnTo>
                <a:lnTo>
                  <a:pt x="2388441" y="782177"/>
                </a:lnTo>
                <a:lnTo>
                  <a:pt x="2391918" y="782520"/>
                </a:lnTo>
                <a:lnTo>
                  <a:pt x="2395395" y="782767"/>
                </a:lnTo>
                <a:lnTo>
                  <a:pt x="2398871" y="782919"/>
                </a:lnTo>
                <a:lnTo>
                  <a:pt x="2402348" y="782998"/>
                </a:lnTo>
                <a:lnTo>
                  <a:pt x="2405825" y="783036"/>
                </a:lnTo>
                <a:lnTo>
                  <a:pt x="2409301" y="783061"/>
                </a:lnTo>
                <a:lnTo>
                  <a:pt x="2412778" y="783095"/>
                </a:lnTo>
                <a:lnTo>
                  <a:pt x="2416254" y="783145"/>
                </a:lnTo>
                <a:lnTo>
                  <a:pt x="2419731" y="783198"/>
                </a:lnTo>
                <a:lnTo>
                  <a:pt x="2423208" y="783236"/>
                </a:lnTo>
                <a:lnTo>
                  <a:pt x="2426684" y="783231"/>
                </a:lnTo>
                <a:lnTo>
                  <a:pt x="2430161" y="783163"/>
                </a:lnTo>
                <a:lnTo>
                  <a:pt x="2433638" y="783026"/>
                </a:lnTo>
                <a:lnTo>
                  <a:pt x="2437114" y="782830"/>
                </a:lnTo>
                <a:lnTo>
                  <a:pt x="2440591" y="782606"/>
                </a:lnTo>
                <a:lnTo>
                  <a:pt x="2444067" y="782399"/>
                </a:lnTo>
                <a:lnTo>
                  <a:pt x="2447544" y="782256"/>
                </a:lnTo>
                <a:lnTo>
                  <a:pt x="2451021" y="782223"/>
                </a:lnTo>
                <a:lnTo>
                  <a:pt x="2454497" y="782325"/>
                </a:lnTo>
                <a:lnTo>
                  <a:pt x="2457974" y="782561"/>
                </a:lnTo>
                <a:lnTo>
                  <a:pt x="2461451" y="782900"/>
                </a:lnTo>
                <a:lnTo>
                  <a:pt x="2464927" y="783282"/>
                </a:lnTo>
                <a:lnTo>
                  <a:pt x="2468404" y="783628"/>
                </a:lnTo>
                <a:lnTo>
                  <a:pt x="2471880" y="783854"/>
                </a:lnTo>
                <a:lnTo>
                  <a:pt x="2475357" y="783885"/>
                </a:lnTo>
                <a:lnTo>
                  <a:pt x="2478834" y="783673"/>
                </a:lnTo>
                <a:lnTo>
                  <a:pt x="2482310" y="783211"/>
                </a:lnTo>
                <a:lnTo>
                  <a:pt x="2485787" y="782537"/>
                </a:lnTo>
                <a:lnTo>
                  <a:pt x="2489263" y="781730"/>
                </a:lnTo>
                <a:lnTo>
                  <a:pt x="2492740" y="780904"/>
                </a:lnTo>
                <a:lnTo>
                  <a:pt x="2496217" y="780187"/>
                </a:lnTo>
                <a:lnTo>
                  <a:pt x="2499693" y="779701"/>
                </a:lnTo>
                <a:lnTo>
                  <a:pt x="2503170" y="779537"/>
                </a:lnTo>
                <a:lnTo>
                  <a:pt x="2506647" y="779739"/>
                </a:lnTo>
                <a:lnTo>
                  <a:pt x="2510123" y="780290"/>
                </a:lnTo>
                <a:lnTo>
                  <a:pt x="2513600" y="781114"/>
                </a:lnTo>
                <a:lnTo>
                  <a:pt x="2517077" y="782081"/>
                </a:lnTo>
                <a:lnTo>
                  <a:pt x="2520553" y="783026"/>
                </a:lnTo>
                <a:lnTo>
                  <a:pt x="2524030" y="783778"/>
                </a:lnTo>
                <a:lnTo>
                  <a:pt x="2527506" y="784185"/>
                </a:lnTo>
                <a:lnTo>
                  <a:pt x="2530983" y="784143"/>
                </a:lnTo>
                <a:lnTo>
                  <a:pt x="2534460" y="783615"/>
                </a:lnTo>
                <a:lnTo>
                  <a:pt x="2537936" y="782640"/>
                </a:lnTo>
                <a:lnTo>
                  <a:pt x="2541413" y="781331"/>
                </a:lnTo>
                <a:lnTo>
                  <a:pt x="2544890" y="779861"/>
                </a:lnTo>
                <a:lnTo>
                  <a:pt x="2548366" y="778437"/>
                </a:lnTo>
                <a:lnTo>
                  <a:pt x="2551843" y="777269"/>
                </a:lnTo>
                <a:lnTo>
                  <a:pt x="2555319" y="776534"/>
                </a:lnTo>
                <a:lnTo>
                  <a:pt x="2558796" y="776350"/>
                </a:lnTo>
                <a:lnTo>
                  <a:pt x="2562273" y="776756"/>
                </a:lnTo>
                <a:lnTo>
                  <a:pt x="2565749" y="777700"/>
                </a:lnTo>
                <a:lnTo>
                  <a:pt x="2569226" y="779048"/>
                </a:lnTo>
                <a:lnTo>
                  <a:pt x="2572703" y="780604"/>
                </a:lnTo>
                <a:lnTo>
                  <a:pt x="2576179" y="782135"/>
                </a:lnTo>
                <a:lnTo>
                  <a:pt x="2579656" y="783409"/>
                </a:lnTo>
                <a:lnTo>
                  <a:pt x="2583132" y="784230"/>
                </a:lnTo>
                <a:lnTo>
                  <a:pt x="2586609" y="784468"/>
                </a:lnTo>
                <a:lnTo>
                  <a:pt x="2590086" y="784078"/>
                </a:lnTo>
                <a:lnTo>
                  <a:pt x="2593562" y="783111"/>
                </a:lnTo>
                <a:lnTo>
                  <a:pt x="2597039" y="781700"/>
                </a:lnTo>
                <a:lnTo>
                  <a:pt x="2600516" y="780047"/>
                </a:lnTo>
                <a:lnTo>
                  <a:pt x="2603992" y="778388"/>
                </a:lnTo>
                <a:lnTo>
                  <a:pt x="2607469" y="776960"/>
                </a:lnTo>
                <a:lnTo>
                  <a:pt x="2610945" y="775966"/>
                </a:lnTo>
                <a:lnTo>
                  <a:pt x="2614422" y="775545"/>
                </a:lnTo>
                <a:lnTo>
                  <a:pt x="2617899" y="775754"/>
                </a:lnTo>
                <a:lnTo>
                  <a:pt x="2621375" y="776559"/>
                </a:lnTo>
                <a:lnTo>
                  <a:pt x="2624852" y="777841"/>
                </a:lnTo>
                <a:lnTo>
                  <a:pt x="2628329" y="779420"/>
                </a:lnTo>
                <a:lnTo>
                  <a:pt x="2631805" y="781077"/>
                </a:lnTo>
                <a:lnTo>
                  <a:pt x="2635282" y="782589"/>
                </a:lnTo>
                <a:lnTo>
                  <a:pt x="2638758" y="783760"/>
                </a:lnTo>
                <a:lnTo>
                  <a:pt x="2642235" y="784449"/>
                </a:lnTo>
                <a:lnTo>
                  <a:pt x="2645712" y="784586"/>
                </a:lnTo>
                <a:lnTo>
                  <a:pt x="2649188" y="784181"/>
                </a:lnTo>
                <a:lnTo>
                  <a:pt x="2652665" y="783319"/>
                </a:lnTo>
                <a:lnTo>
                  <a:pt x="2656142" y="782145"/>
                </a:lnTo>
                <a:lnTo>
                  <a:pt x="2659618" y="780839"/>
                </a:lnTo>
                <a:lnTo>
                  <a:pt x="2663095" y="779592"/>
                </a:lnTo>
                <a:lnTo>
                  <a:pt x="2666571" y="778578"/>
                </a:lnTo>
                <a:lnTo>
                  <a:pt x="2670048" y="777930"/>
                </a:lnTo>
                <a:lnTo>
                  <a:pt x="2673525" y="777726"/>
                </a:lnTo>
                <a:lnTo>
                  <a:pt x="2677001" y="777980"/>
                </a:lnTo>
                <a:lnTo>
                  <a:pt x="2680478" y="778644"/>
                </a:lnTo>
                <a:lnTo>
                  <a:pt x="2683954" y="779620"/>
                </a:lnTo>
                <a:lnTo>
                  <a:pt x="2687431" y="780773"/>
                </a:lnTo>
                <a:lnTo>
                  <a:pt x="2690908" y="781956"/>
                </a:lnTo>
                <a:lnTo>
                  <a:pt x="2694384" y="783026"/>
                </a:lnTo>
                <a:lnTo>
                  <a:pt x="2697861" y="783866"/>
                </a:lnTo>
                <a:lnTo>
                  <a:pt x="2701338" y="784395"/>
                </a:lnTo>
                <a:lnTo>
                  <a:pt x="2704814" y="784581"/>
                </a:lnTo>
                <a:lnTo>
                  <a:pt x="2708291" y="784435"/>
                </a:lnTo>
                <a:lnTo>
                  <a:pt x="2711768" y="784010"/>
                </a:lnTo>
                <a:lnTo>
                  <a:pt x="2715244" y="783390"/>
                </a:lnTo>
                <a:lnTo>
                  <a:pt x="2718721" y="782677"/>
                </a:lnTo>
                <a:lnTo>
                  <a:pt x="2722197" y="781976"/>
                </a:lnTo>
                <a:lnTo>
                  <a:pt x="2725674" y="781381"/>
                </a:lnTo>
                <a:lnTo>
                  <a:pt x="2729151" y="780964"/>
                </a:lnTo>
                <a:lnTo>
                  <a:pt x="2732627" y="780771"/>
                </a:lnTo>
                <a:lnTo>
                  <a:pt x="2736104" y="780814"/>
                </a:lnTo>
                <a:lnTo>
                  <a:pt x="2739581" y="781075"/>
                </a:lnTo>
                <a:lnTo>
                  <a:pt x="2743057" y="781510"/>
                </a:lnTo>
                <a:lnTo>
                  <a:pt x="2746534" y="782058"/>
                </a:lnTo>
                <a:lnTo>
                  <a:pt x="2750010" y="782646"/>
                </a:lnTo>
                <a:lnTo>
                  <a:pt x="2753487" y="783204"/>
                </a:lnTo>
                <a:lnTo>
                  <a:pt x="2756964" y="783670"/>
                </a:lnTo>
                <a:lnTo>
                  <a:pt x="2760440" y="783996"/>
                </a:lnTo>
                <a:lnTo>
                  <a:pt x="2763917" y="784158"/>
                </a:lnTo>
                <a:lnTo>
                  <a:pt x="2767393" y="784151"/>
                </a:lnTo>
                <a:lnTo>
                  <a:pt x="2770870" y="783994"/>
                </a:lnTo>
                <a:lnTo>
                  <a:pt x="2774347" y="783722"/>
                </a:lnTo>
                <a:lnTo>
                  <a:pt x="2777823" y="783381"/>
                </a:lnTo>
                <a:lnTo>
                  <a:pt x="2781300" y="783026"/>
                </a:lnTo>
              </a:path>
            </a:pathLst>
          </a:custGeom>
          <a:noFill xmlns:a="http://schemas.openxmlformats.org/drawingml/2006/main"/>
          <a:ln xmlns:a="http://schemas.openxmlformats.org/drawingml/2006/main" w="15240">
            <a:solidFill>
              <a:srgbClr val="202020"/>
            </a:solidFill>
          </a:ln>
        </p:spPr>
      </p:sp>
      <p:pic>
        <p:nvPicPr>
          <p:cNvPr id="40" name="!!qam-route-m" descr="m_1,m_2">
            <ns0:hlinkClick xmlns:ns0="http://schemas.openxmlformats.org/drawingml/2006/main" xmlns:ns1="http://schemas.openxmlformats.org/officeDocument/2006/relationships" ns1:id="rIdmethods_Link16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84ab11307af441db">
            <a:extLst>
              <a:ext uri="{96DAC541-7B7A-43D3-8B79-37D633B846F1}">
                <ns0:svgBlip xmlns:ns0="http://schemas.microsoft.com/office/drawing/2016/SVG/main" r:embed="rIdVectormf00759"/>
              </a:ext>
            </a:extLst>
          </a:blip>
          <a:stretch xmlns:a="http://schemas.openxmlformats.org/drawingml/2006/main"/>
        </p:blipFill>
        <p:spPr>
          <a:xfrm xmlns:a="http://schemas.openxmlformats.org/drawingml/2006/main">
            <a:off x="1985509" y="975360"/>
            <a:ext cx="1267731" cy="240030"/>
          </a:xfrm>
          <a:prstGeom xmlns:a="http://schemas.openxmlformats.org/drawingml/2006/main" prst="rect">
            <a:avLst/>
          </a:prstGeom>
        </p:spPr>
      </p:pic>
      <p:pic>
        <p:nvPicPr>
          <p:cNvPr id="41" name="!!qam-route-s" descr="s(t)">
            <ns0:hlinkClick xmlns:ns0="http://schemas.openxmlformats.org/drawingml/2006/main" xmlns:ns1="http://schemas.openxmlformats.org/officeDocument/2006/relationships" ns1:id="rIdmethods_Link168"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7d524ee23fd43e0">
            <a:extLst>
              <a:ext uri="{96DAC541-7B7A-43D3-8B79-37D633B846F1}">
                <ns1:svgBlip xmlns:ns1="http://schemas.microsoft.com/office/drawing/2016/SVG/main" r:embed="rIdVectormf00760"/>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42" name="!!qam-route-restored" descr="m_1,m_2">
            <ns0:hlinkClick xmlns:ns0="http://schemas.openxmlformats.org/drawingml/2006/main" xmlns:ns1="http://schemas.openxmlformats.org/officeDocument/2006/relationships" ns1:id="rIdmethods_Link16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fb9786bfe50e477e">
            <a:extLst>
              <a:ext uri="{96DAC541-7B7A-43D3-8B79-37D633B846F1}">
                <ns2:svgBlip xmlns:ns2="http://schemas.microsoft.com/office/drawing/2016/SVG/main" r:embed="rIdVectormf00761"/>
              </a:ext>
            </a:extLst>
          </a:blip>
          <a:stretch xmlns:a="http://schemas.openxmlformats.org/drawingml/2006/main"/>
        </p:blipFill>
        <p:spPr>
          <a:xfrm xmlns:a="http://schemas.openxmlformats.org/drawingml/2006/main">
            <a:off x="8938759" y="975360"/>
            <a:ext cx="1267731" cy="240030"/>
          </a:xfrm>
          <a:prstGeom xmlns:a="http://schemas.openxmlformats.org/drawingml/2006/main" prst="rect">
            <a:avLst/>
          </a:prstGeom>
        </p:spPr>
      </p:pic>
      <p:pic>
        <p:nvPicPr>
          <p:cNvPr id="43" name="!!qam-qam-multiply1-g0-r0-domain" descr="t"/>
          <p:cNvPicPr>
            <a:picLocks xmlns:a="http://schemas.openxmlformats.org/drawingml/2006/main" noChangeAspect="1"/>
          </p:cNvPicPr>
          <p:nvPr/>
        </p:nvPicPr>
        <p:blipFill>
          <a:blip xmlns:r="http://schemas.openxmlformats.org/officeDocument/2006/relationships" xmlns:a="http://schemas.openxmlformats.org/drawingml/2006/main" r:embed="R04938d4f7f8b40ab">
            <a:extLst>
              <a:ext uri="{96DAC541-7B7A-43D3-8B79-37D633B846F1}">
                <ns3:svgBlip xmlns:ns3="http://schemas.microsoft.com/office/drawing/2016/SVG/main" r:embed="rIdVectormf00762"/>
              </a:ext>
            </a:extLst>
          </a:blip>
          <a:stretch xmlns:a="http://schemas.openxmlformats.org/drawingml/2006/main"/>
        </p:blipFill>
        <p:spPr>
          <a:xfrm xmlns:a="http://schemas.openxmlformats.org/drawingml/2006/main">
            <a:off x="3371850" y="3008769"/>
            <a:ext cx="68580" cy="97512"/>
          </a:xfrm>
          <a:prstGeom xmlns:a="http://schemas.openxmlformats.org/drawingml/2006/main" prst="rect">
            <a:avLst/>
          </a:prstGeom>
        </p:spPr>
      </p:pic>
      <p:pic>
        <p:nvPicPr>
          <p:cNvPr id="44" name="!!qam-qam-multiply1-g0-r0-label" descr="\textstyle s(t)"/>
          <p:cNvPicPr>
            <a:picLocks xmlns:a="http://schemas.openxmlformats.org/drawingml/2006/main" noChangeAspect="1"/>
          </p:cNvPicPr>
          <p:nvPr/>
        </p:nvPicPr>
        <p:blipFill>
          <a:blip xmlns:r="http://schemas.openxmlformats.org/officeDocument/2006/relationships" xmlns:a="http://schemas.openxmlformats.org/drawingml/2006/main" r:embed="Rcef5974e62454276">
            <a:extLst>
              <a:ext uri="{96DAC541-7B7A-43D3-8B79-37D633B846F1}">
                <ns4:svgBlip xmlns:ns4="http://schemas.microsoft.com/office/drawing/2016/SVG/main" r:embed="rIdVectormf00763"/>
              </a:ext>
            </a:extLst>
          </a:blip>
          <a:stretch xmlns:a="http://schemas.openxmlformats.org/drawingml/2006/main"/>
        </p:blipFill>
        <p:spPr>
          <a:xfrm xmlns:a="http://schemas.openxmlformats.org/drawingml/2006/main">
            <a:off x="571735" y="2381250"/>
            <a:ext cx="376719" cy="209550"/>
          </a:xfrm>
          <a:prstGeom xmlns:a="http://schemas.openxmlformats.org/drawingml/2006/main" prst="rect">
            <a:avLst/>
          </a:prstGeom>
        </p:spPr>
      </p:pic>
      <p:pic>
        <p:nvPicPr>
          <p:cNvPr id="45" name="!!qam-qam-multiply1-g1-r0-domain" descr="t"/>
          <p:cNvPicPr>
            <a:picLocks xmlns:a="http://schemas.openxmlformats.org/drawingml/2006/main" noChangeAspect="1"/>
          </p:cNvPicPr>
          <p:nvPr/>
        </p:nvPicPr>
        <p:blipFill>
          <a:blip xmlns:r="http://schemas.openxmlformats.org/officeDocument/2006/relationships" xmlns:a="http://schemas.openxmlformats.org/drawingml/2006/main" r:embed="R376e415180874ca5">
            <a:extLst>
              <a:ext uri="{96DAC541-7B7A-43D3-8B79-37D633B846F1}">
                <ns5:svgBlip xmlns:ns5="http://schemas.microsoft.com/office/drawing/2016/SVG/main" r:embed="rIdVectormf00764"/>
              </a:ext>
            </a:extLst>
          </a:blip>
          <a:stretch xmlns:a="http://schemas.openxmlformats.org/drawingml/2006/main"/>
        </p:blipFill>
        <p:spPr>
          <a:xfrm xmlns:a="http://schemas.openxmlformats.org/drawingml/2006/main">
            <a:off x="7372350" y="3008769"/>
            <a:ext cx="68580" cy="97512"/>
          </a:xfrm>
          <a:prstGeom xmlns:a="http://schemas.openxmlformats.org/drawingml/2006/main" prst="rect">
            <a:avLst/>
          </a:prstGeom>
        </p:spPr>
      </p:pic>
      <p:pic>
        <p:nvPicPr>
          <p:cNvPr id="46" name="!!qam-qam-multiply1-g1-r0-label" descr="\textstyle u_1(t)"/>
          <p:cNvPicPr>
            <a:picLocks xmlns:a="http://schemas.openxmlformats.org/drawingml/2006/main" noChangeAspect="1"/>
          </p:cNvPicPr>
          <p:nvPr/>
        </p:nvPicPr>
        <p:blipFill>
          <a:blip xmlns:r="http://schemas.openxmlformats.org/officeDocument/2006/relationships" xmlns:a="http://schemas.openxmlformats.org/drawingml/2006/main" r:embed="R50284b9dcf6c4ea7">
            <a:extLst>
              <a:ext uri="{96DAC541-7B7A-43D3-8B79-37D633B846F1}">
                <ns6:svgBlip xmlns:ns6="http://schemas.microsoft.com/office/drawing/2016/SVG/main" r:embed="rIdVectormf00765"/>
              </a:ext>
            </a:extLst>
          </a:blip>
          <a:stretch xmlns:a="http://schemas.openxmlformats.org/drawingml/2006/main"/>
        </p:blipFill>
        <p:spPr>
          <a:xfrm xmlns:a="http://schemas.openxmlformats.org/drawingml/2006/main">
            <a:off x="4878427" y="2093524"/>
            <a:ext cx="520621" cy="209550"/>
          </a:xfrm>
          <a:prstGeom xmlns:a="http://schemas.openxmlformats.org/drawingml/2006/main" prst="rect">
            <a:avLst/>
          </a:prstGeom>
        </p:spPr>
      </p:pic>
      <p:pic>
        <p:nvPicPr>
          <p:cNvPr id="47" name="!!qam-qam-multiply1-math" descr="\textstyle \times2\cos(2\pi f_ct)"/>
          <p:cNvPicPr>
            <a:picLocks xmlns:a="http://schemas.openxmlformats.org/drawingml/2006/main" noChangeAspect="1"/>
          </p:cNvPicPr>
          <p:nvPr/>
        </p:nvPicPr>
        <p:blipFill>
          <a:blip xmlns:r="http://schemas.openxmlformats.org/officeDocument/2006/relationships" xmlns:a="http://schemas.openxmlformats.org/drawingml/2006/main" r:embed="R7580386805cc4af5">
            <a:extLst>
              <a:ext uri="{96DAC541-7B7A-43D3-8B79-37D633B846F1}">
                <ns7:svgBlip xmlns:ns7="http://schemas.microsoft.com/office/drawing/2016/SVG/main" r:embed="rIdVectormf00766"/>
              </a:ext>
            </a:extLst>
          </a:blip>
          <a:stretch xmlns:a="http://schemas.openxmlformats.org/drawingml/2006/main"/>
        </p:blipFill>
        <p:spPr>
          <a:xfrm xmlns:a="http://schemas.openxmlformats.org/drawingml/2006/main">
            <a:off x="3208020" y="2066925"/>
            <a:ext cx="1508760" cy="228600"/>
          </a:xfrm>
          <a:prstGeom xmlns:a="http://schemas.openxmlformats.org/drawingml/2006/main" prst="rect">
            <a:avLst/>
          </a:prstGeom>
        </p:spPr>
      </p:pic>
      <p:pic>
        <p:nvPicPr>
          <p:cNvPr id="48" name="!!qam-qam-multiply1-condition" descr="f_{LO}=f_c,\ \upphi=0"/>
          <p:cNvPicPr>
            <a:picLocks xmlns:a="http://schemas.openxmlformats.org/drawingml/2006/main" noChangeAspect="1"/>
          </p:cNvPicPr>
          <p:nvPr/>
        </p:nvPicPr>
        <p:blipFill>
          <a:blip xmlns:r="http://schemas.openxmlformats.org/officeDocument/2006/relationships" xmlns:a="http://schemas.openxmlformats.org/drawingml/2006/main" r:embed="R79b85149e06a40b4">
            <a:extLst>
              <a:ext uri="{96DAC541-7B7A-43D3-8B79-37D633B846F1}">
                <ns8:svgBlip xmlns:ns8="http://schemas.microsoft.com/office/drawing/2016/SVG/main" r:embed="rIdVectormf00767"/>
              </a:ext>
            </a:extLst>
          </a:blip>
          <a:stretch xmlns:a="http://schemas.openxmlformats.org/drawingml/2006/main"/>
        </p:blipFill>
        <p:spPr>
          <a:xfrm xmlns:a="http://schemas.openxmlformats.org/drawingml/2006/main">
            <a:off x="609600" y="2015639"/>
            <a:ext cx="1560195" cy="178772"/>
          </a:xfrm>
          <a:prstGeom xmlns:a="http://schemas.openxmlformats.org/drawingml/2006/main" prst="rect">
            <a:avLst/>
          </a:prstGeom>
        </p:spPr>
      </p:pic>
      <p:pic>
        <p:nvPicPr>
          <p:cNvPr id="49" name="!!qam-dense-equation-0" descr="\textstyle s(t)=A_cm_1(t)\cos(2\pi f_ct)+A_cm_2(t)\sin(2\pi f_ct)"/>
          <p:cNvPicPr>
            <a:picLocks xmlns:a="http://schemas.openxmlformats.org/drawingml/2006/main" noChangeAspect="1"/>
          </p:cNvPicPr>
          <p:nvPr/>
        </p:nvPicPr>
        <p:blipFill>
          <a:blip xmlns:r="http://schemas.openxmlformats.org/officeDocument/2006/relationships" xmlns:a="http://schemas.openxmlformats.org/drawingml/2006/main" r:embed="R96c986b548cd4f06">
            <a:extLst>
              <a:ext uri="{96DAC541-7B7A-43D3-8B79-37D633B846F1}">
                <ns9:svgBlip xmlns:ns9="http://schemas.microsoft.com/office/drawing/2016/SVG/main" r:embed="rIdVectormf00768"/>
              </a:ext>
            </a:extLst>
          </a:blip>
          <a:stretch xmlns:a="http://schemas.openxmlformats.org/drawingml/2006/main"/>
        </p:blipFill>
        <p:spPr>
          <a:xfrm xmlns:a="http://schemas.openxmlformats.org/drawingml/2006/main">
            <a:off x="609600" y="4890339"/>
            <a:ext cx="5695950" cy="246102"/>
          </a:xfrm>
          <a:prstGeom xmlns:a="http://schemas.openxmlformats.org/drawingml/2006/main" prst="rect">
            <a:avLst/>
          </a:prstGeom>
        </p:spPr>
      </p:pic>
      <p:pic>
        <p:nvPicPr>
          <p:cNvPr id="50" name="!!qam-dense-equation-1" descr="\textstyle u_1(t)=2s(t)\cos(2\pi f_ct)"/>
          <p:cNvPicPr>
            <a:picLocks xmlns:a="http://schemas.openxmlformats.org/drawingml/2006/main" noChangeAspect="1"/>
          </p:cNvPicPr>
          <p:nvPr/>
        </p:nvPicPr>
        <p:blipFill>
          <a:blip xmlns:r="http://schemas.openxmlformats.org/officeDocument/2006/relationships" xmlns:a="http://schemas.openxmlformats.org/drawingml/2006/main" r:embed="R150471aba57f4c49">
            <a:extLst>
              <a:ext uri="{96DAC541-7B7A-43D3-8B79-37D633B846F1}">
                <ns10:svgBlip xmlns:ns10="http://schemas.microsoft.com/office/drawing/2016/SVG/main" r:embed="rIdVectormf00769"/>
              </a:ext>
            </a:extLst>
          </a:blip>
          <a:stretch xmlns:a="http://schemas.openxmlformats.org/drawingml/2006/main"/>
        </p:blipFill>
        <p:spPr>
          <a:xfrm xmlns:a="http://schemas.openxmlformats.org/drawingml/2006/main">
            <a:off x="609600" y="5327715"/>
            <a:ext cx="2847975" cy="247650"/>
          </a:xfrm>
          <a:prstGeom xmlns:a="http://schemas.openxmlformats.org/drawingml/2006/main" prst="rect">
            <a:avLst/>
          </a:prstGeom>
        </p:spPr>
      </p:pic>
    </p:spTree>
    <p:extLst>
      <p:ext uri="{BB962C8B-B14F-4D97-AF65-F5344CB8AC3E}">
        <p14:creationId xmlns:p14="http://schemas.microsoft.com/office/powerpoint/2010/main" val="171769841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400"/>
                                        <p:tgtEl>
                                          <p:spTgt spid="47"/>
                                        </p:tgtEl>
                                      </p:cBhvr>
                                    </p:animEffect>
                                  </p:childTnLst>
                                </p:cTn>
                              </p:par>
                              <p:par>
                                <p:cTn id="14" presetID="10" presetClass="entr" presetSubtype="0" fill="hold"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400"/>
                                        <p:tgtEl>
                                          <p:spTgt spid="48"/>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qam-title">
            <ns0:hlinkClick xmlns:ns0="http://schemas.openxmlformats.org/drawingml/2006/main" xmlns:ns1="http://schemas.openxmlformats.org/officeDocument/2006/relationships" ns1:id="rIdmethods_Link170" action="ppaction://hlinksldjump"/>
            <a:extLst xmlns:a="http://schemas.openxmlformats.org/drawingml/2006/main">
              <a:ext uri="{FF2B5EF4-FFF2-40B4-BE49-F238E27FC236}">
                <a16:creationId xmlns:a16="http://schemas.microsoft.com/office/drawing/2014/main" id="{0D965F1D-EDE0-4F9B-BAE4-4998E87E4BA7}"/>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70" action="ppaction://hlinksldjump"/>
              </a:rPr>
              <a:t>QAM</a:t>
            </a:r>
          </a:p>
        </p:txBody>
      </p:sp>
      <p:sp>
        <p:nvSpPr>
          <p:cNvPr id="2" name="!!qam-route-tx-line">
            <a:extLst xmlns:a="http://schemas.openxmlformats.org/drawingml/2006/main">
              <a:ext uri="{FF2B5EF4-FFF2-40B4-BE49-F238E27FC236}">
                <a16:creationId xmlns:a16="http://schemas.microsoft.com/office/drawing/2014/main" id="{830EFC91-7334-4AD0-B0A8-1298401D4E4F}"/>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qam-route-tx-head">
            <a:extLst xmlns:a="http://schemas.openxmlformats.org/drawingml/2006/main">
              <a:ext uri="{FF2B5EF4-FFF2-40B4-BE49-F238E27FC236}">
                <a16:creationId xmlns:a16="http://schemas.microsoft.com/office/drawing/2014/main" id="{713EBB37-1086-4504-819D-79DB243304ED}"/>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qam-route-rx-line">
            <a:extLst xmlns:a="http://schemas.openxmlformats.org/drawingml/2006/main">
              <a:ext uri="{FF2B5EF4-FFF2-40B4-BE49-F238E27FC236}">
                <a16:creationId xmlns:a16="http://schemas.microsoft.com/office/drawing/2014/main" id="{336FF943-7224-4521-BEC0-E87F245DB1F3}"/>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qam-route-rx-head">
            <a:extLst xmlns:a="http://schemas.openxmlformats.org/drawingml/2006/main">
              <a:ext uri="{FF2B5EF4-FFF2-40B4-BE49-F238E27FC236}">
                <a16:creationId xmlns:a16="http://schemas.microsoft.com/office/drawing/2014/main" id="{6105AD1B-17BB-48FA-AAF2-772A99E7B60D}"/>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qam-purpose">
            <a:extLst xmlns:a="http://schemas.openxmlformats.org/drawingml/2006/main">
              <a:ext uri="{FF2B5EF4-FFF2-40B4-BE49-F238E27FC236}">
                <a16:creationId xmlns:a16="http://schemas.microsoft.com/office/drawing/2014/main" id="{B675A687-1274-4E25-BCB3-17B1373BAF3B}"/>
              </a:ext>
            </a:extLst>
          </p:cNvPr>
          <p:cNvSpPr>
            <a:spLocks xmlns:a="http://schemas.openxmlformats.org/drawingml/2006/main" noGrp="1"/>
          </p:cNvSpPr>
          <p:nvPr/>
        </p:nvSpPr>
        <p:spPr>
          <a:xfrm xmlns:a="http://schemas.openxmlformats.org/drawingml/2006/main">
            <a:off x="666750" y="15525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Multiplying by cosine makes one low-frequency term</a:t>
            </a:r>
          </a:p>
        </p:txBody>
      </p:sp>
      <p:sp>
        <p:nvSpPr>
          <p:cNvPr id="7" name="!!qam-bands">
            <a:extLst xmlns:a="http://schemas.openxmlformats.org/drawingml/2006/main">
              <a:ext uri="{FF2B5EF4-FFF2-40B4-BE49-F238E27FC236}">
                <a16:creationId xmlns:a16="http://schemas.microsoft.com/office/drawing/2014/main" id="{EFF4B5A3-C0BB-495E-B16D-53BD9B1B2283}"/>
              </a:ext>
            </a:extLst>
          </p:cNvPr>
          <p:cNvSpPr>
            <a:spLocks xmlns:a="http://schemas.openxmlformats.org/drawingml/2006/main" noGrp="1"/>
          </p:cNvSpPr>
          <p:nvPr/>
        </p:nvSpPr>
        <p:spPr>
          <a:xfrm xmlns:a="http://schemas.openxmlformats.org/drawingml/2006/main">
            <a:off x="666750" y="20097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Occupied bands of the three terms</a:t>
            </a:r>
          </a:p>
        </p:txBody>
      </p:sp>
      <p:sp>
        <p:nvSpPr>
          <p:cNvPr id="8" name="!!qam-term0-r0-axis-line">
            <a:extLst xmlns:a="http://schemas.openxmlformats.org/drawingml/2006/main">
              <a:ext uri="{FF2B5EF4-FFF2-40B4-BE49-F238E27FC236}">
                <a16:creationId xmlns:a16="http://schemas.microsoft.com/office/drawing/2014/main" id="{5F97A7E2-C76F-47DD-AEB4-41798E5F80E4}"/>
              </a:ext>
            </a:extLst>
          </p:cNvPr>
          <p:cNvSpPr>
            <a:spLocks xmlns:a="http://schemas.openxmlformats.org/drawingml/2006/main" noGrp="1"/>
          </p:cNvSpPr>
          <p:nvPr/>
        </p:nvSpPr>
        <p:spPr>
          <a:xfrm xmlns:a="http://schemas.openxmlformats.org/drawingml/2006/main">
            <a:off x="571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qam-term0-r0-axis-head">
            <a:extLst xmlns:a="http://schemas.openxmlformats.org/drawingml/2006/main">
              <a:ext uri="{FF2B5EF4-FFF2-40B4-BE49-F238E27FC236}">
                <a16:creationId xmlns:a16="http://schemas.microsoft.com/office/drawing/2014/main" id="{620A6D3B-1CCD-4490-A214-CF3C3E5CF34C}"/>
              </a:ext>
            </a:extLst>
          </p:cNvPr>
          <p:cNvSpPr>
            <a:spLocks xmlns:a="http://schemas.openxmlformats.org/drawingml/2006/main" noGrp="1"/>
          </p:cNvSpPr>
          <p:nvPr/>
        </p:nvSpPr>
        <p:spPr>
          <a:xfrm xmlns:a="http://schemas.openxmlformats.org/drawingml/2006/main" rot="5400000">
            <a:off x="3238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0" name="!!qam-term0-r0-tick0">
            <a:extLst xmlns:a="http://schemas.openxmlformats.org/drawingml/2006/main">
              <a:ext uri="{FF2B5EF4-FFF2-40B4-BE49-F238E27FC236}">
                <a16:creationId xmlns:a16="http://schemas.microsoft.com/office/drawing/2014/main" id="{54E4DD30-3EC8-426F-A66F-3C1E082EF061}"/>
              </a:ext>
            </a:extLst>
          </p:cNvPr>
          <p:cNvSpPr>
            <a:spLocks xmlns:a="http://schemas.openxmlformats.org/drawingml/2006/main" noGrp="1"/>
          </p:cNvSpPr>
          <p:nvPr/>
        </p:nvSpPr>
        <p:spPr>
          <a:xfrm xmlns:a="http://schemas.openxmlformats.org/drawingml/2006/main">
            <a:off x="17883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qam-term0-r0-tick1">
            <a:extLst xmlns:a="http://schemas.openxmlformats.org/drawingml/2006/main">
              <a:ext uri="{FF2B5EF4-FFF2-40B4-BE49-F238E27FC236}">
                <a16:creationId xmlns:a16="http://schemas.microsoft.com/office/drawing/2014/main" id="{CD4898CD-8B49-4AD8-8C98-5067148E5CBE}"/>
              </a:ext>
            </a:extLst>
          </p:cNvPr>
          <p:cNvSpPr>
            <a:spLocks xmlns:a="http://schemas.openxmlformats.org/drawingml/2006/main" noGrp="1"/>
          </p:cNvSpPr>
          <p:nvPr/>
        </p:nvSpPr>
        <p:spPr>
          <a:xfrm xmlns:a="http://schemas.openxmlformats.org/drawingml/2006/main">
            <a:off x="1962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qam-term0-r0-tick2">
            <a:extLst xmlns:a="http://schemas.openxmlformats.org/drawingml/2006/main">
              <a:ext uri="{FF2B5EF4-FFF2-40B4-BE49-F238E27FC236}">
                <a16:creationId xmlns:a16="http://schemas.microsoft.com/office/drawing/2014/main" id="{E00F9857-5262-4937-93B4-E649FD851EDC}"/>
              </a:ext>
            </a:extLst>
          </p:cNvPr>
          <p:cNvSpPr>
            <a:spLocks xmlns:a="http://schemas.openxmlformats.org/drawingml/2006/main" noGrp="1"/>
          </p:cNvSpPr>
          <p:nvPr/>
        </p:nvSpPr>
        <p:spPr>
          <a:xfrm xmlns:a="http://schemas.openxmlformats.org/drawingml/2006/main">
            <a:off x="21359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qam-band00">
            <a:extLst xmlns:a="http://schemas.openxmlformats.org/drawingml/2006/main">
              <a:ext uri="{FF2B5EF4-FFF2-40B4-BE49-F238E27FC236}">
                <a16:creationId xmlns:a16="http://schemas.microsoft.com/office/drawing/2014/main" id="{6A2570CA-3DD9-482B-A5CA-0CF93823119B}"/>
              </a:ext>
            </a:extLst>
          </p:cNvPr>
          <p:cNvSpPr>
            <a:spLocks xmlns:a="http://schemas.openxmlformats.org/drawingml/2006/main" noGrp="1"/>
          </p:cNvSpPr>
          <p:nvPr/>
        </p:nvSpPr>
        <p:spPr>
          <a:xfrm xmlns:a="http://schemas.openxmlformats.org/drawingml/2006/main">
            <a:off x="1788319"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535353"/>
          </a:solidFill>
          <a:ln xmlns:a="http://schemas.openxmlformats.org/drawingml/2006/main" w="10478">
            <a:solidFill>
              <a:srgbClr val="202020"/>
            </a:solidFill>
          </a:ln>
        </p:spPr>
      </p:sp>
      <p:sp>
        <p:nvSpPr>
          <p:cNvPr id="14" name="!!qam-term1-r0-axis-line">
            <a:extLst xmlns:a="http://schemas.openxmlformats.org/drawingml/2006/main">
              <a:ext uri="{FF2B5EF4-FFF2-40B4-BE49-F238E27FC236}">
                <a16:creationId xmlns:a16="http://schemas.microsoft.com/office/drawing/2014/main" id="{5C672197-B40E-4663-B66D-992D8C0C6F9F}"/>
              </a:ext>
            </a:extLst>
          </p:cNvPr>
          <p:cNvSpPr>
            <a:spLocks xmlns:a="http://schemas.openxmlformats.org/drawingml/2006/main" noGrp="1"/>
          </p:cNvSpPr>
          <p:nvPr/>
        </p:nvSpPr>
        <p:spPr>
          <a:xfrm xmlns:a="http://schemas.openxmlformats.org/drawingml/2006/main">
            <a:off x="45720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qam-term1-r0-axis-head">
            <a:extLst xmlns:a="http://schemas.openxmlformats.org/drawingml/2006/main">
              <a:ext uri="{FF2B5EF4-FFF2-40B4-BE49-F238E27FC236}">
                <a16:creationId xmlns:a16="http://schemas.microsoft.com/office/drawing/2014/main" id="{F56725C1-57E7-4494-AEF9-6DF7D723FFE0}"/>
              </a:ext>
            </a:extLst>
          </p:cNvPr>
          <p:cNvSpPr>
            <a:spLocks xmlns:a="http://schemas.openxmlformats.org/drawingml/2006/main" noGrp="1"/>
          </p:cNvSpPr>
          <p:nvPr/>
        </p:nvSpPr>
        <p:spPr>
          <a:xfrm xmlns:a="http://schemas.openxmlformats.org/drawingml/2006/main" rot="5400000">
            <a:off x="72390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6" name="!!qam-term1-r0-tick0">
            <a:extLst xmlns:a="http://schemas.openxmlformats.org/drawingml/2006/main">
              <a:ext uri="{FF2B5EF4-FFF2-40B4-BE49-F238E27FC236}">
                <a16:creationId xmlns:a16="http://schemas.microsoft.com/office/drawing/2014/main" id="{B80CB4BD-140F-4108-AED2-3E1C300B2FF0}"/>
              </a:ext>
            </a:extLst>
          </p:cNvPr>
          <p:cNvSpPr>
            <a:spLocks xmlns:a="http://schemas.openxmlformats.org/drawingml/2006/main" noGrp="1"/>
          </p:cNvSpPr>
          <p:nvPr/>
        </p:nvSpPr>
        <p:spPr>
          <a:xfrm xmlns:a="http://schemas.openxmlformats.org/drawingml/2006/main">
            <a:off x="4919663"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qam-term1-r0-tick1">
            <a:extLst xmlns:a="http://schemas.openxmlformats.org/drawingml/2006/main">
              <a:ext uri="{FF2B5EF4-FFF2-40B4-BE49-F238E27FC236}">
                <a16:creationId xmlns:a16="http://schemas.microsoft.com/office/drawing/2014/main" id="{E75A4DA4-5B15-4B32-A13E-8C454214AD42}"/>
              </a:ext>
            </a:extLst>
          </p:cNvPr>
          <p:cNvSpPr>
            <a:spLocks xmlns:a="http://schemas.openxmlformats.org/drawingml/2006/main" noGrp="1"/>
          </p:cNvSpPr>
          <p:nvPr/>
        </p:nvSpPr>
        <p:spPr>
          <a:xfrm xmlns:a="http://schemas.openxmlformats.org/drawingml/2006/main">
            <a:off x="59626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qam-term1-r0-tick2">
            <a:extLst xmlns:a="http://schemas.openxmlformats.org/drawingml/2006/main">
              <a:ext uri="{FF2B5EF4-FFF2-40B4-BE49-F238E27FC236}">
                <a16:creationId xmlns:a16="http://schemas.microsoft.com/office/drawing/2014/main" id="{F651035E-124A-4D41-B10B-90965762F900}"/>
              </a:ext>
            </a:extLst>
          </p:cNvPr>
          <p:cNvSpPr>
            <a:spLocks xmlns:a="http://schemas.openxmlformats.org/drawingml/2006/main" noGrp="1"/>
          </p:cNvSpPr>
          <p:nvPr/>
        </p:nvSpPr>
        <p:spPr>
          <a:xfrm xmlns:a="http://schemas.openxmlformats.org/drawingml/2006/main">
            <a:off x="7005638"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qam-band10">
            <a:extLst xmlns:a="http://schemas.openxmlformats.org/drawingml/2006/main">
              <a:ext uri="{FF2B5EF4-FFF2-40B4-BE49-F238E27FC236}">
                <a16:creationId xmlns:a16="http://schemas.microsoft.com/office/drawing/2014/main" id="{3D772AE6-3823-40AD-9346-48C745A90043}"/>
              </a:ext>
            </a:extLst>
          </p:cNvPr>
          <p:cNvSpPr>
            <a:spLocks xmlns:a="http://schemas.openxmlformats.org/drawingml/2006/main" noGrp="1"/>
          </p:cNvSpPr>
          <p:nvPr/>
        </p:nvSpPr>
        <p:spPr>
          <a:xfrm xmlns:a="http://schemas.openxmlformats.org/drawingml/2006/main">
            <a:off x="4745831"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CCCCCC"/>
          </a:solidFill>
          <a:ln xmlns:a="http://schemas.openxmlformats.org/drawingml/2006/main" w="10478">
            <a:solidFill>
              <a:srgbClr val="202020"/>
            </a:solidFill>
          </a:ln>
        </p:spPr>
      </p:sp>
      <p:sp>
        <p:nvSpPr>
          <p:cNvPr id="20" name="!!qam-band11">
            <a:extLst xmlns:a="http://schemas.openxmlformats.org/drawingml/2006/main">
              <a:ext uri="{FF2B5EF4-FFF2-40B4-BE49-F238E27FC236}">
                <a16:creationId xmlns:a16="http://schemas.microsoft.com/office/drawing/2014/main" id="{06DB800B-317D-46C2-9121-A173CC2DFB97}"/>
              </a:ext>
            </a:extLst>
          </p:cNvPr>
          <p:cNvSpPr>
            <a:spLocks xmlns:a="http://schemas.openxmlformats.org/drawingml/2006/main" noGrp="1"/>
          </p:cNvSpPr>
          <p:nvPr/>
        </p:nvSpPr>
        <p:spPr>
          <a:xfrm xmlns:a="http://schemas.openxmlformats.org/drawingml/2006/main">
            <a:off x="6831806"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CCCCCC"/>
          </a:solidFill>
          <a:ln xmlns:a="http://schemas.openxmlformats.org/drawingml/2006/main" w="10478">
            <a:solidFill>
              <a:srgbClr val="202020"/>
            </a:solidFill>
          </a:ln>
        </p:spPr>
      </p:sp>
      <p:sp>
        <p:nvSpPr>
          <p:cNvPr id="21" name="!!qam-term2-r0-axis-line">
            <a:extLst xmlns:a="http://schemas.openxmlformats.org/drawingml/2006/main">
              <a:ext uri="{FF2B5EF4-FFF2-40B4-BE49-F238E27FC236}">
                <a16:creationId xmlns:a16="http://schemas.microsoft.com/office/drawing/2014/main" id="{9ED49CC2-7950-4304-BF10-1513190DF423}"/>
              </a:ext>
            </a:extLst>
          </p:cNvPr>
          <p:cNvSpPr>
            <a:spLocks xmlns:a="http://schemas.openxmlformats.org/drawingml/2006/main" noGrp="1"/>
          </p:cNvSpPr>
          <p:nvPr/>
        </p:nvSpPr>
        <p:spPr>
          <a:xfrm xmlns:a="http://schemas.openxmlformats.org/drawingml/2006/main">
            <a:off x="8572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qam-term2-r0-axis-head">
            <a:extLst xmlns:a="http://schemas.openxmlformats.org/drawingml/2006/main">
              <a:ext uri="{FF2B5EF4-FFF2-40B4-BE49-F238E27FC236}">
                <a16:creationId xmlns:a16="http://schemas.microsoft.com/office/drawing/2014/main" id="{25060826-96C9-47C0-A9BF-4F0E6EB2E879}"/>
              </a:ext>
            </a:extLst>
          </p:cNvPr>
          <p:cNvSpPr>
            <a:spLocks xmlns:a="http://schemas.openxmlformats.org/drawingml/2006/main" noGrp="1"/>
          </p:cNvSpPr>
          <p:nvPr/>
        </p:nvSpPr>
        <p:spPr>
          <a:xfrm xmlns:a="http://schemas.openxmlformats.org/drawingml/2006/main" rot="5400000">
            <a:off x="11239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3" name="!!qam-term2-r0-tick0">
            <a:extLst xmlns:a="http://schemas.openxmlformats.org/drawingml/2006/main">
              <a:ext uri="{FF2B5EF4-FFF2-40B4-BE49-F238E27FC236}">
                <a16:creationId xmlns:a16="http://schemas.microsoft.com/office/drawing/2014/main" id="{95CC9FE0-00A6-4024-B068-6384042DB121}"/>
              </a:ext>
            </a:extLst>
          </p:cNvPr>
          <p:cNvSpPr>
            <a:spLocks xmlns:a="http://schemas.openxmlformats.org/drawingml/2006/main" noGrp="1"/>
          </p:cNvSpPr>
          <p:nvPr/>
        </p:nvSpPr>
        <p:spPr>
          <a:xfrm xmlns:a="http://schemas.openxmlformats.org/drawingml/2006/main">
            <a:off x="8920163"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qam-term2-r0-tick1">
            <a:extLst xmlns:a="http://schemas.openxmlformats.org/drawingml/2006/main">
              <a:ext uri="{FF2B5EF4-FFF2-40B4-BE49-F238E27FC236}">
                <a16:creationId xmlns:a16="http://schemas.microsoft.com/office/drawing/2014/main" id="{593B8383-BB95-4427-A529-441FD398DFB0}"/>
              </a:ext>
            </a:extLst>
          </p:cNvPr>
          <p:cNvSpPr>
            <a:spLocks xmlns:a="http://schemas.openxmlformats.org/drawingml/2006/main" noGrp="1"/>
          </p:cNvSpPr>
          <p:nvPr/>
        </p:nvSpPr>
        <p:spPr>
          <a:xfrm xmlns:a="http://schemas.openxmlformats.org/drawingml/2006/main">
            <a:off x="9963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qam-term2-r0-tick2">
            <a:extLst xmlns:a="http://schemas.openxmlformats.org/drawingml/2006/main">
              <a:ext uri="{FF2B5EF4-FFF2-40B4-BE49-F238E27FC236}">
                <a16:creationId xmlns:a16="http://schemas.microsoft.com/office/drawing/2014/main" id="{9D4E937E-572E-4C3C-ABD5-C20AA3A0A45A}"/>
              </a:ext>
            </a:extLst>
          </p:cNvPr>
          <p:cNvSpPr>
            <a:spLocks xmlns:a="http://schemas.openxmlformats.org/drawingml/2006/main" noGrp="1"/>
          </p:cNvSpPr>
          <p:nvPr/>
        </p:nvSpPr>
        <p:spPr>
          <a:xfrm xmlns:a="http://schemas.openxmlformats.org/drawingml/2006/main">
            <a:off x="11006138"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qam-band20">
            <a:extLst xmlns:a="http://schemas.openxmlformats.org/drawingml/2006/main">
              <a:ext uri="{FF2B5EF4-FFF2-40B4-BE49-F238E27FC236}">
                <a16:creationId xmlns:a16="http://schemas.microsoft.com/office/drawing/2014/main" id="{86081877-34BB-4AE4-A311-7E6866C5AFFB}"/>
              </a:ext>
            </a:extLst>
          </p:cNvPr>
          <p:cNvSpPr>
            <a:spLocks xmlns:a="http://schemas.openxmlformats.org/drawingml/2006/main" noGrp="1"/>
          </p:cNvSpPr>
          <p:nvPr/>
        </p:nvSpPr>
        <p:spPr>
          <a:xfrm xmlns:a="http://schemas.openxmlformats.org/drawingml/2006/main">
            <a:off x="8746331"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CCCCCC"/>
          </a:solidFill>
          <a:ln xmlns:a="http://schemas.openxmlformats.org/drawingml/2006/main" w="10478">
            <a:solidFill>
              <a:srgbClr val="202020"/>
            </a:solidFill>
          </a:ln>
        </p:spPr>
      </p:sp>
      <p:sp>
        <p:nvSpPr>
          <p:cNvPr id="27" name="!!qam-band21">
            <a:extLst xmlns:a="http://schemas.openxmlformats.org/drawingml/2006/main">
              <a:ext uri="{FF2B5EF4-FFF2-40B4-BE49-F238E27FC236}">
                <a16:creationId xmlns:a16="http://schemas.microsoft.com/office/drawing/2014/main" id="{047096EA-D26F-4FB2-8D71-9AC886CE9A04}"/>
              </a:ext>
            </a:extLst>
          </p:cNvPr>
          <p:cNvSpPr>
            <a:spLocks xmlns:a="http://schemas.openxmlformats.org/drawingml/2006/main" noGrp="1"/>
          </p:cNvSpPr>
          <p:nvPr/>
        </p:nvSpPr>
        <p:spPr>
          <a:xfrm xmlns:a="http://schemas.openxmlformats.org/drawingml/2006/main">
            <a:off x="10832306"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CCCCCC"/>
          </a:solidFill>
          <a:ln xmlns:a="http://schemas.openxmlformats.org/drawingml/2006/main" w="10478">
            <a:solidFill>
              <a:srgbClr val="202020"/>
            </a:solidFill>
          </a:ln>
        </p:spPr>
      </p:sp>
      <p:pic>
        <p:nvPicPr>
          <p:cNvPr id="79" name="!!qam-route-m" descr="m_1,m_2">
            <ns0:hlinkClick xmlns:ns0="http://schemas.openxmlformats.org/drawingml/2006/main" xmlns:ns1="http://schemas.openxmlformats.org/officeDocument/2006/relationships" ns1:id="rIdmethods_Link17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11fca6577dc84787">
            <a:extLst>
              <a:ext uri="{96DAC541-7B7A-43D3-8B79-37D633B846F1}">
                <ns0:svgBlip xmlns:ns0="http://schemas.microsoft.com/office/drawing/2016/SVG/main" r:embed="rIdVectormf00770"/>
              </a:ext>
            </a:extLst>
          </a:blip>
          <a:stretch xmlns:a="http://schemas.openxmlformats.org/drawingml/2006/main"/>
        </p:blipFill>
        <p:spPr>
          <a:xfrm xmlns:a="http://schemas.openxmlformats.org/drawingml/2006/main">
            <a:off x="1985509" y="975360"/>
            <a:ext cx="1267731" cy="240030"/>
          </a:xfrm>
          <a:prstGeom xmlns:a="http://schemas.openxmlformats.org/drawingml/2006/main" prst="rect">
            <a:avLst/>
          </a:prstGeom>
        </p:spPr>
      </p:pic>
      <p:pic>
        <p:nvPicPr>
          <p:cNvPr id="80" name="!!qam-route-s" descr="s(t)">
            <ns0:hlinkClick xmlns:ns0="http://schemas.openxmlformats.org/drawingml/2006/main" xmlns:ns1="http://schemas.openxmlformats.org/officeDocument/2006/relationships" ns1:id="rIdmethods_Link172"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28caf3bb32124325">
            <a:extLst>
              <a:ext uri="{96DAC541-7B7A-43D3-8B79-37D633B846F1}">
                <ns1:svgBlip xmlns:ns1="http://schemas.microsoft.com/office/drawing/2016/SVG/main" r:embed="rIdVectormf00771"/>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81" name="!!qam-route-restored" descr="m_1,m_2">
            <ns0:hlinkClick xmlns:ns0="http://schemas.openxmlformats.org/drawingml/2006/main" xmlns:ns1="http://schemas.openxmlformats.org/officeDocument/2006/relationships" ns1:id="rIdmethods_Link17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f06ed03c5624495f">
            <a:extLst>
              <a:ext uri="{96DAC541-7B7A-43D3-8B79-37D633B846F1}">
                <ns2:svgBlip xmlns:ns2="http://schemas.microsoft.com/office/drawing/2016/SVG/main" r:embed="rIdVectormf00772"/>
              </a:ext>
            </a:extLst>
          </a:blip>
          <a:stretch xmlns:a="http://schemas.openxmlformats.org/drawingml/2006/main"/>
        </p:blipFill>
        <p:spPr>
          <a:xfrm xmlns:a="http://schemas.openxmlformats.org/drawingml/2006/main">
            <a:off x="8938759" y="975360"/>
            <a:ext cx="1267731" cy="240030"/>
          </a:xfrm>
          <a:prstGeom xmlns:a="http://schemas.openxmlformats.org/drawingml/2006/main" prst="rect">
            <a:avLst/>
          </a:prstGeom>
        </p:spPr>
      </p:pic>
      <p:pic>
        <p:nvPicPr>
          <p:cNvPr id="82" name="!!qam-condition" descr="f_c&gt;W"/>
          <p:cNvPicPr>
            <a:picLocks xmlns:a="http://schemas.openxmlformats.org/drawingml/2006/main" noChangeAspect="1"/>
          </p:cNvPicPr>
          <p:nvPr/>
        </p:nvPicPr>
        <p:blipFill>
          <a:blip xmlns:r="http://schemas.openxmlformats.org/officeDocument/2006/relationships" xmlns:a="http://schemas.openxmlformats.org/drawingml/2006/main" r:embed="R8956c5a4741b4939">
            <a:extLst>
              <a:ext uri="{96DAC541-7B7A-43D3-8B79-37D633B846F1}">
                <ns3:svgBlip xmlns:ns3="http://schemas.microsoft.com/office/drawing/2016/SVG/main" r:embed="rIdVectormf00773"/>
              </a:ext>
            </a:extLst>
          </a:blip>
          <a:stretch xmlns:a="http://schemas.openxmlformats.org/drawingml/2006/main"/>
        </p:blipFill>
        <p:spPr>
          <a:xfrm xmlns:a="http://schemas.openxmlformats.org/drawingml/2006/main">
            <a:off x="9444789" y="2056448"/>
            <a:ext cx="770021" cy="182880"/>
          </a:xfrm>
          <a:prstGeom xmlns:a="http://schemas.openxmlformats.org/drawingml/2006/main" prst="rect">
            <a:avLst/>
          </a:prstGeom>
        </p:spPr>
      </p:pic>
      <p:pic>
        <p:nvPicPr>
          <p:cNvPr id="83" name="!!qam-term0-r0-domain" descr="f"/>
          <p:cNvPicPr>
            <a:picLocks xmlns:a="http://schemas.openxmlformats.org/drawingml/2006/main" noChangeAspect="1"/>
          </p:cNvPicPr>
          <p:nvPr/>
        </p:nvPicPr>
        <p:blipFill>
          <a:blip xmlns:r="http://schemas.openxmlformats.org/officeDocument/2006/relationships" xmlns:a="http://schemas.openxmlformats.org/drawingml/2006/main" r:embed="R40ca386abffe4800">
            <a:extLst>
              <a:ext uri="{96DAC541-7B7A-43D3-8B79-37D633B846F1}">
                <ns4:svgBlip xmlns:ns4="http://schemas.microsoft.com/office/drawing/2016/SVG/main" r:embed="rIdVectormf00774"/>
              </a:ext>
            </a:extLst>
          </a:blip>
          <a:stretch xmlns:a="http://schemas.openxmlformats.org/drawingml/2006/main"/>
        </p:blipFill>
        <p:spPr>
          <a:xfrm xmlns:a="http://schemas.openxmlformats.org/drawingml/2006/main">
            <a:off x="3374873" y="3311843"/>
            <a:ext cx="79678" cy="120015"/>
          </a:xfrm>
          <a:prstGeom xmlns:a="http://schemas.openxmlformats.org/drawingml/2006/main" prst="rect">
            <a:avLst/>
          </a:prstGeom>
        </p:spPr>
      </p:pic>
      <p:pic>
        <p:nvPicPr>
          <p:cNvPr id="84" name="!!qam-term0-r0-ticklabel0" descr="-W"/>
          <p:cNvPicPr>
            <a:picLocks xmlns:a="http://schemas.openxmlformats.org/drawingml/2006/main" noChangeAspect="1"/>
          </p:cNvPicPr>
          <p:nvPr/>
        </p:nvPicPr>
        <p:blipFill>
          <a:blip xmlns:r="http://schemas.openxmlformats.org/officeDocument/2006/relationships" xmlns:a="http://schemas.openxmlformats.org/drawingml/2006/main" r:embed="R0637e14e7ea84ef2">
            <a:extLst>
              <a:ext uri="{96DAC541-7B7A-43D3-8B79-37D633B846F1}">
                <ns5:svgBlip xmlns:ns5="http://schemas.microsoft.com/office/drawing/2016/SVG/main" r:embed="rIdVectormf00775"/>
              </a:ext>
            </a:extLst>
          </a:blip>
          <a:stretch xmlns:a="http://schemas.openxmlformats.org/drawingml/2006/main"/>
        </p:blipFill>
        <p:spPr>
          <a:xfrm xmlns:a="http://schemas.openxmlformats.org/drawingml/2006/main">
            <a:off x="1612419" y="3646170"/>
            <a:ext cx="351800" cy="137160"/>
          </a:xfrm>
          <a:prstGeom xmlns:a="http://schemas.openxmlformats.org/drawingml/2006/main" prst="rect">
            <a:avLst/>
          </a:prstGeom>
        </p:spPr>
      </p:pic>
      <p:pic>
        <p:nvPicPr>
          <p:cNvPr id="85" name="!!qam-term0-r0-ticklabel1" descr="0"/>
          <p:cNvPicPr>
            <a:picLocks xmlns:a="http://schemas.openxmlformats.org/drawingml/2006/main" noChangeAspect="1"/>
          </p:cNvPicPr>
          <p:nvPr/>
        </p:nvPicPr>
        <p:blipFill>
          <a:blip xmlns:r="http://schemas.openxmlformats.org/officeDocument/2006/relationships" xmlns:a="http://schemas.openxmlformats.org/drawingml/2006/main" r:embed="R6c85d15cb7204a4c">
            <a:extLst>
              <a:ext uri="{96DAC541-7B7A-43D3-8B79-37D633B846F1}">
                <ns6:svgBlip xmlns:ns6="http://schemas.microsoft.com/office/drawing/2016/SVG/main" r:embed="rIdVectormf00776"/>
              </a:ext>
            </a:extLst>
          </a:blip>
          <a:stretch xmlns:a="http://schemas.openxmlformats.org/drawingml/2006/main"/>
        </p:blipFill>
        <p:spPr>
          <a:xfrm xmlns:a="http://schemas.openxmlformats.org/drawingml/2006/main">
            <a:off x="1916175" y="3863340"/>
            <a:ext cx="91951" cy="102870"/>
          </a:xfrm>
          <a:prstGeom xmlns:a="http://schemas.openxmlformats.org/drawingml/2006/main" prst="rect">
            <a:avLst/>
          </a:prstGeom>
        </p:spPr>
      </p:pic>
      <p:pic>
        <p:nvPicPr>
          <p:cNvPr id="86" name="!!qam-term0-r0-ticklabel2" descr="W"/>
          <p:cNvPicPr>
            <a:picLocks xmlns:a="http://schemas.openxmlformats.org/drawingml/2006/main" noChangeAspect="1"/>
          </p:cNvPicPr>
          <p:nvPr/>
        </p:nvPicPr>
        <p:blipFill>
          <a:blip xmlns:r="http://schemas.openxmlformats.org/officeDocument/2006/relationships" xmlns:a="http://schemas.openxmlformats.org/drawingml/2006/main" r:embed="R71590cb28977481a">
            <a:extLst>
              <a:ext uri="{96DAC541-7B7A-43D3-8B79-37D633B846F1}">
                <ns7:svgBlip xmlns:ns7="http://schemas.microsoft.com/office/drawing/2016/SVG/main" r:embed="rIdVectormf00777"/>
              </a:ext>
            </a:extLst>
          </a:blip>
          <a:stretch xmlns:a="http://schemas.openxmlformats.org/drawingml/2006/main"/>
        </p:blipFill>
        <p:spPr>
          <a:xfrm xmlns:a="http://schemas.openxmlformats.org/drawingml/2006/main">
            <a:off x="2033111" y="3656243"/>
            <a:ext cx="205740" cy="117015"/>
          </a:xfrm>
          <a:prstGeom xmlns:a="http://schemas.openxmlformats.org/drawingml/2006/main" prst="rect">
            <a:avLst/>
          </a:prstGeom>
        </p:spPr>
      </p:pic>
      <p:pic>
        <p:nvPicPr>
          <p:cNvPr id="87" name="!!qam-term-label0" descr="A_cm_1(t)"/>
          <p:cNvPicPr>
            <a:picLocks xmlns:a="http://schemas.openxmlformats.org/drawingml/2006/main" noChangeAspect="1"/>
          </p:cNvPicPr>
          <p:nvPr/>
        </p:nvPicPr>
        <p:blipFill>
          <a:blip xmlns:r="http://schemas.openxmlformats.org/officeDocument/2006/relationships" xmlns:a="http://schemas.openxmlformats.org/drawingml/2006/main" r:embed="R47263243e7554d98">
            <a:extLst>
              <a:ext uri="{96DAC541-7B7A-43D3-8B79-37D633B846F1}">
                <ns8:svgBlip xmlns:ns8="http://schemas.microsoft.com/office/drawing/2016/SVG/main" r:embed="rIdVectormf00778"/>
              </a:ext>
            </a:extLst>
          </a:blip>
          <a:stretch xmlns:a="http://schemas.openxmlformats.org/drawingml/2006/main"/>
        </p:blipFill>
        <p:spPr>
          <a:xfrm xmlns:a="http://schemas.openxmlformats.org/drawingml/2006/main">
            <a:off x="571500" y="2620060"/>
            <a:ext cx="898208" cy="217706"/>
          </a:xfrm>
          <a:prstGeom xmlns:a="http://schemas.openxmlformats.org/drawingml/2006/main" prst="rect">
            <a:avLst/>
          </a:prstGeom>
        </p:spPr>
      </p:pic>
      <p:pic>
        <p:nvPicPr>
          <p:cNvPr id="88" name="!!qam-term1-r0-domain" descr="f"/>
          <p:cNvPicPr>
            <a:picLocks xmlns:a="http://schemas.openxmlformats.org/drawingml/2006/main" noChangeAspect="1"/>
          </p:cNvPicPr>
          <p:nvPr/>
        </p:nvPicPr>
        <p:blipFill>
          <a:blip xmlns:r="http://schemas.openxmlformats.org/officeDocument/2006/relationships" xmlns:a="http://schemas.openxmlformats.org/drawingml/2006/main" r:embed="R41c7155270de423a">
            <a:extLst>
              <a:ext uri="{96DAC541-7B7A-43D3-8B79-37D633B846F1}">
                <ns9:svgBlip xmlns:ns9="http://schemas.microsoft.com/office/drawing/2016/SVG/main" r:embed="rIdVectormf00779"/>
              </a:ext>
            </a:extLst>
          </a:blip>
          <a:stretch xmlns:a="http://schemas.openxmlformats.org/drawingml/2006/main"/>
        </p:blipFill>
        <p:spPr>
          <a:xfrm xmlns:a="http://schemas.openxmlformats.org/drawingml/2006/main">
            <a:off x="7375373" y="3311843"/>
            <a:ext cx="79678" cy="120015"/>
          </a:xfrm>
          <a:prstGeom xmlns:a="http://schemas.openxmlformats.org/drawingml/2006/main" prst="rect">
            <a:avLst/>
          </a:prstGeom>
        </p:spPr>
      </p:pic>
      <p:pic>
        <p:nvPicPr>
          <p:cNvPr id="89" name="!!qam-term1-r0-ticklabel0" descr="-2f_c"/>
          <p:cNvPicPr>
            <a:picLocks xmlns:a="http://schemas.openxmlformats.org/drawingml/2006/main" noChangeAspect="1"/>
          </p:cNvPicPr>
          <p:nvPr/>
        </p:nvPicPr>
        <p:blipFill>
          <a:blip xmlns:r="http://schemas.openxmlformats.org/officeDocument/2006/relationships" xmlns:a="http://schemas.openxmlformats.org/drawingml/2006/main" r:embed="R70476e641c3041f5">
            <a:extLst>
              <a:ext uri="{96DAC541-7B7A-43D3-8B79-37D633B846F1}">
                <ns10:svgBlip xmlns:ns10="http://schemas.microsoft.com/office/drawing/2016/SVG/main" r:embed="rIdVectormf00780"/>
              </a:ext>
            </a:extLst>
          </a:blip>
          <a:stretch xmlns:a="http://schemas.openxmlformats.org/drawingml/2006/main"/>
        </p:blipFill>
        <p:spPr>
          <a:xfrm xmlns:a="http://schemas.openxmlformats.org/drawingml/2006/main">
            <a:off x="4738158" y="3646170"/>
            <a:ext cx="363010" cy="137160"/>
          </a:xfrm>
          <a:prstGeom xmlns:a="http://schemas.openxmlformats.org/drawingml/2006/main" prst="rect">
            <a:avLst/>
          </a:prstGeom>
        </p:spPr>
      </p:pic>
      <p:pic>
        <p:nvPicPr>
          <p:cNvPr id="90" name="!!qam-term1-r0-ticklabel1" descr="0"/>
          <p:cNvPicPr>
            <a:picLocks xmlns:a="http://schemas.openxmlformats.org/drawingml/2006/main" noChangeAspect="1"/>
          </p:cNvPicPr>
          <p:nvPr/>
        </p:nvPicPr>
        <p:blipFill>
          <a:blip xmlns:r="http://schemas.openxmlformats.org/officeDocument/2006/relationships" xmlns:a="http://schemas.openxmlformats.org/drawingml/2006/main" r:embed="R2c610176d2b14bc7">
            <a:extLst>
              <a:ext uri="{96DAC541-7B7A-43D3-8B79-37D633B846F1}">
                <ns11:svgBlip xmlns:ns11="http://schemas.microsoft.com/office/drawing/2016/SVG/main" r:embed="rIdVectormf00781"/>
              </a:ext>
            </a:extLst>
          </a:blip>
          <a:stretch xmlns:a="http://schemas.openxmlformats.org/drawingml/2006/main"/>
        </p:blipFill>
        <p:spPr>
          <a:xfrm xmlns:a="http://schemas.openxmlformats.org/drawingml/2006/main">
            <a:off x="5916675" y="3663315"/>
            <a:ext cx="91951" cy="102870"/>
          </a:xfrm>
          <a:prstGeom xmlns:a="http://schemas.openxmlformats.org/drawingml/2006/main" prst="rect">
            <a:avLst/>
          </a:prstGeom>
        </p:spPr>
      </p:pic>
      <p:pic>
        <p:nvPicPr>
          <p:cNvPr id="91" name="!!qam-term1-r0-ticklabel2" descr="2f_c"/>
          <p:cNvPicPr>
            <a:picLocks xmlns:a="http://schemas.openxmlformats.org/drawingml/2006/main" noChangeAspect="1"/>
          </p:cNvPicPr>
          <p:nvPr/>
        </p:nvPicPr>
        <p:blipFill>
          <a:blip xmlns:r="http://schemas.openxmlformats.org/officeDocument/2006/relationships" xmlns:a="http://schemas.openxmlformats.org/drawingml/2006/main" r:embed="Rf4772834f0af4a90">
            <a:extLst>
              <a:ext uri="{96DAC541-7B7A-43D3-8B79-37D633B846F1}">
                <ns12:svgBlip xmlns:ns12="http://schemas.microsoft.com/office/drawing/2016/SVG/main" r:embed="rIdVectormf00782"/>
              </a:ext>
            </a:extLst>
          </a:blip>
          <a:stretch xmlns:a="http://schemas.openxmlformats.org/drawingml/2006/main"/>
        </p:blipFill>
        <p:spPr>
          <a:xfrm xmlns:a="http://schemas.openxmlformats.org/drawingml/2006/main">
            <a:off x="6897531" y="3646170"/>
            <a:ext cx="216213" cy="137160"/>
          </a:xfrm>
          <a:prstGeom xmlns:a="http://schemas.openxmlformats.org/drawingml/2006/main" prst="rect">
            <a:avLst/>
          </a:prstGeom>
        </p:spPr>
      </p:pic>
      <p:pic>
        <p:nvPicPr>
          <p:cNvPr id="92" name="!!qam-term-label1" descr="A_cm_1(t)\cos(4\pi f_ct)"/>
          <p:cNvPicPr>
            <a:picLocks xmlns:a="http://schemas.openxmlformats.org/drawingml/2006/main" noChangeAspect="1"/>
          </p:cNvPicPr>
          <p:nvPr/>
        </p:nvPicPr>
        <p:blipFill>
          <a:blip xmlns:r="http://schemas.openxmlformats.org/officeDocument/2006/relationships" xmlns:a="http://schemas.openxmlformats.org/drawingml/2006/main" r:embed="R3e9976d7c3874cda">
            <a:extLst>
              <a:ext uri="{96DAC541-7B7A-43D3-8B79-37D633B846F1}">
                <ns13:svgBlip xmlns:ns13="http://schemas.microsoft.com/office/drawing/2016/SVG/main" r:embed="rIdVectormf00783"/>
              </a:ext>
            </a:extLst>
          </a:blip>
          <a:stretch xmlns:a="http://schemas.openxmlformats.org/drawingml/2006/main"/>
        </p:blipFill>
        <p:spPr>
          <a:xfrm xmlns:a="http://schemas.openxmlformats.org/drawingml/2006/main">
            <a:off x="4572000" y="2620060"/>
            <a:ext cx="2015490" cy="217706"/>
          </a:xfrm>
          <a:prstGeom xmlns:a="http://schemas.openxmlformats.org/drawingml/2006/main" prst="rect">
            <a:avLst/>
          </a:prstGeom>
        </p:spPr>
      </p:pic>
      <p:pic>
        <p:nvPicPr>
          <p:cNvPr id="93" name="!!qam-term2-r0-domain" descr="f"/>
          <p:cNvPicPr>
            <a:picLocks xmlns:a="http://schemas.openxmlformats.org/drawingml/2006/main" noChangeAspect="1"/>
          </p:cNvPicPr>
          <p:nvPr/>
        </p:nvPicPr>
        <p:blipFill>
          <a:blip xmlns:r="http://schemas.openxmlformats.org/officeDocument/2006/relationships" xmlns:a="http://schemas.openxmlformats.org/drawingml/2006/main" r:embed="R87464a84b52846fc">
            <a:extLst>
              <a:ext uri="{96DAC541-7B7A-43D3-8B79-37D633B846F1}">
                <ns14:svgBlip xmlns:ns14="http://schemas.microsoft.com/office/drawing/2016/SVG/main" r:embed="rIdVectormf00784"/>
              </a:ext>
            </a:extLst>
          </a:blip>
          <a:stretch xmlns:a="http://schemas.openxmlformats.org/drawingml/2006/main"/>
        </p:blipFill>
        <p:spPr>
          <a:xfrm xmlns:a="http://schemas.openxmlformats.org/drawingml/2006/main">
            <a:off x="11375873" y="3311843"/>
            <a:ext cx="79678" cy="120015"/>
          </a:xfrm>
          <a:prstGeom xmlns:a="http://schemas.openxmlformats.org/drawingml/2006/main" prst="rect">
            <a:avLst/>
          </a:prstGeom>
        </p:spPr>
      </p:pic>
      <p:pic>
        <p:nvPicPr>
          <p:cNvPr id="94" name="!!qam-term2-r0-ticklabel0" descr="-2f_c"/>
          <p:cNvPicPr>
            <a:picLocks xmlns:a="http://schemas.openxmlformats.org/drawingml/2006/main" noChangeAspect="1"/>
          </p:cNvPicPr>
          <p:nvPr/>
        </p:nvPicPr>
        <p:blipFill>
          <a:blip xmlns:r="http://schemas.openxmlformats.org/officeDocument/2006/relationships" xmlns:a="http://schemas.openxmlformats.org/drawingml/2006/main" r:embed="Rf0c168ecb6e74c1c">
            <a:extLst>
              <a:ext uri="{96DAC541-7B7A-43D3-8B79-37D633B846F1}">
                <ns15:svgBlip xmlns:ns15="http://schemas.microsoft.com/office/drawing/2016/SVG/main" r:embed="rIdVectormf00785"/>
              </a:ext>
            </a:extLst>
          </a:blip>
          <a:stretch xmlns:a="http://schemas.openxmlformats.org/drawingml/2006/main"/>
        </p:blipFill>
        <p:spPr>
          <a:xfrm xmlns:a="http://schemas.openxmlformats.org/drawingml/2006/main">
            <a:off x="8738658" y="3646170"/>
            <a:ext cx="363010" cy="137160"/>
          </a:xfrm>
          <a:prstGeom xmlns:a="http://schemas.openxmlformats.org/drawingml/2006/main" prst="rect">
            <a:avLst/>
          </a:prstGeom>
        </p:spPr>
      </p:pic>
      <p:pic>
        <p:nvPicPr>
          <p:cNvPr id="95" name="!!qam-term2-r0-ticklabel1" descr="0"/>
          <p:cNvPicPr>
            <a:picLocks xmlns:a="http://schemas.openxmlformats.org/drawingml/2006/main" noChangeAspect="1"/>
          </p:cNvPicPr>
          <p:nvPr/>
        </p:nvPicPr>
        <p:blipFill>
          <a:blip xmlns:r="http://schemas.openxmlformats.org/officeDocument/2006/relationships" xmlns:a="http://schemas.openxmlformats.org/drawingml/2006/main" r:embed="Rbd3761ec8ce24b94">
            <a:extLst>
              <a:ext uri="{96DAC541-7B7A-43D3-8B79-37D633B846F1}">
                <ns16:svgBlip xmlns:ns16="http://schemas.microsoft.com/office/drawing/2016/SVG/main" r:embed="rIdVectormf00786"/>
              </a:ext>
            </a:extLst>
          </a:blip>
          <a:stretch xmlns:a="http://schemas.openxmlformats.org/drawingml/2006/main"/>
        </p:blipFill>
        <p:spPr>
          <a:xfrm xmlns:a="http://schemas.openxmlformats.org/drawingml/2006/main">
            <a:off x="9917175" y="3663315"/>
            <a:ext cx="91951" cy="102870"/>
          </a:xfrm>
          <a:prstGeom xmlns:a="http://schemas.openxmlformats.org/drawingml/2006/main" prst="rect">
            <a:avLst/>
          </a:prstGeom>
        </p:spPr>
      </p:pic>
      <p:pic>
        <p:nvPicPr>
          <p:cNvPr id="96" name="!!qam-term2-r0-ticklabel2" descr="2f_c"/>
          <p:cNvPicPr>
            <a:picLocks xmlns:a="http://schemas.openxmlformats.org/drawingml/2006/main" noChangeAspect="1"/>
          </p:cNvPicPr>
          <p:nvPr/>
        </p:nvPicPr>
        <p:blipFill>
          <a:blip xmlns:r="http://schemas.openxmlformats.org/officeDocument/2006/relationships" xmlns:a="http://schemas.openxmlformats.org/drawingml/2006/main" r:embed="R6dcc4cdff4434195">
            <a:extLst>
              <a:ext uri="{96DAC541-7B7A-43D3-8B79-37D633B846F1}">
                <ns17:svgBlip xmlns:ns17="http://schemas.microsoft.com/office/drawing/2016/SVG/main" r:embed="rIdVectormf00787"/>
              </a:ext>
            </a:extLst>
          </a:blip>
          <a:stretch xmlns:a="http://schemas.openxmlformats.org/drawingml/2006/main"/>
        </p:blipFill>
        <p:spPr>
          <a:xfrm xmlns:a="http://schemas.openxmlformats.org/drawingml/2006/main">
            <a:off x="10898031" y="3646170"/>
            <a:ext cx="216213" cy="137160"/>
          </a:xfrm>
          <a:prstGeom xmlns:a="http://schemas.openxmlformats.org/drawingml/2006/main" prst="rect">
            <a:avLst/>
          </a:prstGeom>
        </p:spPr>
      </p:pic>
      <p:pic>
        <p:nvPicPr>
          <p:cNvPr id="97" name="!!qam-term-label2" descr="A_cm_2(t)\sin(4\pi f_ct)"/>
          <p:cNvPicPr>
            <a:picLocks xmlns:a="http://schemas.openxmlformats.org/drawingml/2006/main" noChangeAspect="1"/>
          </p:cNvPicPr>
          <p:nvPr/>
        </p:nvPicPr>
        <p:blipFill>
          <a:blip xmlns:r="http://schemas.openxmlformats.org/officeDocument/2006/relationships" xmlns:a="http://schemas.openxmlformats.org/drawingml/2006/main" r:embed="R8ba3f1c0ca0c4993">
            <a:extLst>
              <a:ext uri="{96DAC541-7B7A-43D3-8B79-37D633B846F1}">
                <ns18:svgBlip xmlns:ns18="http://schemas.microsoft.com/office/drawing/2016/SVG/main" r:embed="rIdVectormf00788"/>
              </a:ext>
            </a:extLst>
          </a:blip>
          <a:stretch xmlns:a="http://schemas.openxmlformats.org/drawingml/2006/main"/>
        </p:blipFill>
        <p:spPr>
          <a:xfrm xmlns:a="http://schemas.openxmlformats.org/drawingml/2006/main">
            <a:off x="8572500" y="2619375"/>
            <a:ext cx="1993582" cy="219075"/>
          </a:xfrm>
          <a:prstGeom xmlns:a="http://schemas.openxmlformats.org/drawingml/2006/main" prst="rect">
            <a:avLst/>
          </a:prstGeom>
        </p:spPr>
      </p:pic>
      <p:pic>
        <p:nvPicPr>
          <p:cNvPr id="98" name="!!qam-dense-equation-0" descr="\textstyle s(t)=A_cm_1(t)\cos(2\pi f_ct)+A_cm_2(t)\sin(2\pi f_ct)"/>
          <p:cNvPicPr>
            <a:picLocks xmlns:a="http://schemas.openxmlformats.org/drawingml/2006/main" noChangeAspect="1"/>
          </p:cNvPicPr>
          <p:nvPr/>
        </p:nvPicPr>
        <p:blipFill>
          <a:blip xmlns:r="http://schemas.openxmlformats.org/officeDocument/2006/relationships" xmlns:a="http://schemas.openxmlformats.org/drawingml/2006/main" r:embed="Ra988acc0b93844af">
            <a:extLst>
              <a:ext uri="{96DAC541-7B7A-43D3-8B79-37D633B846F1}">
                <ns19:svgBlip xmlns:ns19="http://schemas.microsoft.com/office/drawing/2016/SVG/main" r:embed="rIdVectormf00789"/>
              </a:ext>
            </a:extLst>
          </a:blip>
          <a:stretch xmlns:a="http://schemas.openxmlformats.org/drawingml/2006/main"/>
        </p:blipFill>
        <p:spPr>
          <a:xfrm xmlns:a="http://schemas.openxmlformats.org/drawingml/2006/main">
            <a:off x="609600" y="4983301"/>
            <a:ext cx="5695950" cy="246102"/>
          </a:xfrm>
          <a:prstGeom xmlns:a="http://schemas.openxmlformats.org/drawingml/2006/main" prst="rect">
            <a:avLst/>
          </a:prstGeom>
        </p:spPr>
      </p:pic>
      <p:pic>
        <p:nvPicPr>
          <p:cNvPr id="99" name="!!qam-dense-equation-1" descr="\textstyle u_1(t)=2s(t)\cos(2\pi f_ct)"/>
          <p:cNvPicPr>
            <a:picLocks xmlns:a="http://schemas.openxmlformats.org/drawingml/2006/main" noChangeAspect="1"/>
          </p:cNvPicPr>
          <p:nvPr/>
        </p:nvPicPr>
        <p:blipFill>
          <a:blip xmlns:r="http://schemas.openxmlformats.org/officeDocument/2006/relationships" xmlns:a="http://schemas.openxmlformats.org/drawingml/2006/main" r:embed="R69544d70febd4e8a">
            <a:extLst>
              <a:ext uri="{96DAC541-7B7A-43D3-8B79-37D633B846F1}">
                <ns20:svgBlip xmlns:ns20="http://schemas.microsoft.com/office/drawing/2016/SVG/main" r:embed="rIdVectormf00790"/>
              </a:ext>
            </a:extLst>
          </a:blip>
          <a:stretch xmlns:a="http://schemas.openxmlformats.org/drawingml/2006/main"/>
        </p:blipFill>
        <p:spPr>
          <a:xfrm xmlns:a="http://schemas.openxmlformats.org/drawingml/2006/main">
            <a:off x="609600" y="5420678"/>
            <a:ext cx="2847975" cy="247650"/>
          </a:xfrm>
          <a:prstGeom xmlns:a="http://schemas.openxmlformats.org/drawingml/2006/main" prst="rect">
            <a:avLst/>
          </a:prstGeom>
        </p:spPr>
      </p:pic>
      <p:pic>
        <p:nvPicPr>
          <p:cNvPr id="100" name="!!qam-dense-equation-2" descr="\textstyle \phantom{u_1(t)}=2A_cm_1(t)\cos^2(2\pi f_ct)+2A_cm_2(t)\sin(2\pi f_ct)\cos(2\pi f_ct)"/>
          <p:cNvPicPr>
            <a:picLocks xmlns:a="http://schemas.openxmlformats.org/drawingml/2006/main" noChangeAspect="1"/>
          </p:cNvPicPr>
          <p:nvPr/>
        </p:nvPicPr>
        <p:blipFill>
          <a:blip xmlns:r="http://schemas.openxmlformats.org/officeDocument/2006/relationships" xmlns:a="http://schemas.openxmlformats.org/drawingml/2006/main" r:embed="R77449c9089204d28">
            <a:extLst>
              <a:ext uri="{96DAC541-7B7A-43D3-8B79-37D633B846F1}">
                <ns21:svgBlip xmlns:ns21="http://schemas.microsoft.com/office/drawing/2016/SVG/main" r:embed="rIdVectormf00791"/>
              </a:ext>
            </a:extLst>
          </a:blip>
          <a:stretch xmlns:a="http://schemas.openxmlformats.org/drawingml/2006/main"/>
        </p:blipFill>
        <p:spPr>
          <a:xfrm xmlns:a="http://schemas.openxmlformats.org/drawingml/2006/main">
            <a:off x="1303510" y="5851862"/>
            <a:ext cx="6835140" cy="261580"/>
          </a:xfrm>
          <a:prstGeom xmlns:a="http://schemas.openxmlformats.org/drawingml/2006/main" prst="rect">
            <a:avLst/>
          </a:prstGeom>
        </p:spPr>
      </p:pic>
      <p:pic>
        <p:nvPicPr>
          <p:cNvPr id="101" name="!!qam-dense-equation-3" descr="\textstyle \phantom{u_1(t)}=A_cm_1(t)+A_cm_1(t)\cos(4\pi f_ct)+A_cm_2(t)\sin(4\pi f_ct)"/>
          <p:cNvPicPr>
            <a:picLocks xmlns:a="http://schemas.openxmlformats.org/drawingml/2006/main" noChangeAspect="1"/>
          </p:cNvPicPr>
          <p:nvPr/>
        </p:nvPicPr>
        <p:blipFill>
          <a:blip xmlns:r="http://schemas.openxmlformats.org/officeDocument/2006/relationships" xmlns:a="http://schemas.openxmlformats.org/drawingml/2006/main" r:embed="R266fc6e27b7a4a65">
            <a:extLst>
              <a:ext uri="{96DAC541-7B7A-43D3-8B79-37D633B846F1}">
                <ns22:svgBlip xmlns:ns22="http://schemas.microsoft.com/office/drawing/2016/SVG/main" r:embed="rIdVectormf00792"/>
              </a:ext>
            </a:extLst>
          </a:blip>
          <a:stretch xmlns:a="http://schemas.openxmlformats.org/drawingml/2006/main"/>
        </p:blipFill>
        <p:spPr>
          <a:xfrm xmlns:a="http://schemas.openxmlformats.org/drawingml/2006/main">
            <a:off x="1303510" y="6297751"/>
            <a:ext cx="6537960" cy="246102"/>
          </a:xfrm>
          <a:prstGeom xmlns:a="http://schemas.openxmlformats.org/drawingml/2006/main" prst="rect">
            <a:avLst/>
          </a:prstGeom>
        </p:spPr>
      </p:pic>
      <p:pic>
        <p:nvPicPr>
          <p:cNvPr id="102" name="!!qam-identities" descr="2\cos^2 x=1+\cos2x,\quad2\sin x\cos x=\sin2x"/>
          <p:cNvPicPr>
            <a:picLocks xmlns:a="http://schemas.openxmlformats.org/drawingml/2006/main" noChangeAspect="1"/>
          </p:cNvPicPr>
          <p:nvPr/>
        </p:nvPicPr>
        <p:blipFill>
          <a:blip xmlns:r="http://schemas.openxmlformats.org/officeDocument/2006/relationships" xmlns:a="http://schemas.openxmlformats.org/drawingml/2006/main" r:embed="Refd31b71be584e41">
            <a:extLst>
              <a:ext uri="{96DAC541-7B7A-43D3-8B79-37D633B846F1}">
                <ns23:svgBlip xmlns:ns23="http://schemas.microsoft.com/office/drawing/2016/SVG/main" r:embed="rIdVectormf00793"/>
              </a:ext>
            </a:extLst>
          </a:blip>
          <a:stretch xmlns:a="http://schemas.openxmlformats.org/drawingml/2006/main"/>
        </p:blipFill>
        <p:spPr>
          <a:xfrm xmlns:a="http://schemas.openxmlformats.org/drawingml/2006/main">
            <a:off x="666750" y="4423410"/>
            <a:ext cx="4892040" cy="240030"/>
          </a:xfrm>
          <a:prstGeom xmlns:a="http://schemas.openxmlformats.org/drawingml/2006/main" prst="rect">
            <a:avLst/>
          </a:prstGeom>
        </p:spPr>
      </p:pic>
    </p:spTree>
    <p:extLst>
      <p:ext uri="{BB962C8B-B14F-4D97-AF65-F5344CB8AC3E}">
        <p14:creationId xmlns:p14="http://schemas.microsoft.com/office/powerpoint/2010/main" val="63754523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400"/>
                                        <p:tgtEl>
                                          <p:spTgt spid="10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7"/>
                                        </p:tgtEl>
                                        <p:attrNameLst>
                                          <p:attrName>style.visibility</p:attrName>
                                        </p:attrNameLst>
                                      </p:cBhvr>
                                      <p:to>
                                        <p:strVal val="visible"/>
                                      </p:to>
                                    </p:set>
                                    <p:animEffect transition="in" filter="fade">
                                      <p:cBhvr>
                                        <p:cTn id="15" dur="400"/>
                                        <p:tgtEl>
                                          <p:spTgt spid="87"/>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92"/>
                                        </p:tgtEl>
                                        <p:attrNameLst>
                                          <p:attrName>style.visibility</p:attrName>
                                        </p:attrNameLst>
                                      </p:cBhvr>
                                      <p:to>
                                        <p:strVal val="visible"/>
                                      </p:to>
                                    </p:set>
                                    <p:animEffect transition="in" filter="fade">
                                      <p:cBhvr>
                                        <p:cTn id="21" dur="400"/>
                                        <p:tgtEl>
                                          <p:spTgt spid="92"/>
                                        </p:tgtEl>
                                      </p:cBhvr>
                                    </p:animEffect>
                                  </p:childTnLst>
                                </p:cTn>
                              </p:par>
                              <p:par>
                                <p:cTn id="22" presetID="10"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00"/>
                                        <p:tgtEl>
                                          <p:spTgt spid="19"/>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97"/>
                                        </p:tgtEl>
                                        <p:attrNameLst>
                                          <p:attrName>style.visibility</p:attrName>
                                        </p:attrNameLst>
                                      </p:cBhvr>
                                      <p:to>
                                        <p:strVal val="visible"/>
                                      </p:to>
                                    </p:set>
                                    <p:animEffect transition="in" filter="fade">
                                      <p:cBhvr>
                                        <p:cTn id="30" dur="400"/>
                                        <p:tgtEl>
                                          <p:spTgt spid="97"/>
                                        </p:tgtEl>
                                      </p:cBhvr>
                                    </p:animEffect>
                                  </p:childTnLst>
                                </p:cTn>
                              </p:par>
                              <p:par>
                                <p:cTn id="31" presetID="10"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400"/>
                                        <p:tgtEl>
                                          <p:spTgt spid="26"/>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400"/>
                                        <p:tgtEl>
                                          <p:spTgt spid="27"/>
                                        </p:tgtEl>
                                      </p:cBhvr>
                                    </p:animEffect>
                                  </p:childTnLst>
                                </p:cTn>
                              </p:par>
                              <p:par>
                                <p:cTn id="37" presetID="10" presetClass="entr" presetSubtype="0" fill="hold" nodeType="withEffect">
                                  <p:stCondLst>
                                    <p:cond delay="0"/>
                                  </p:stCondLst>
                                  <p:childTnLst>
                                    <p:set>
                                      <p:cBhvr>
                                        <p:cTn id="38" dur="1" fill="hold">
                                          <p:stCondLst>
                                            <p:cond delay="0"/>
                                          </p:stCondLst>
                                        </p:cTn>
                                        <p:tgtEl>
                                          <p:spTgt spid="101"/>
                                        </p:tgtEl>
                                        <p:attrNameLst>
                                          <p:attrName>style.visibility</p:attrName>
                                        </p:attrNameLst>
                                      </p:cBhvr>
                                      <p:to>
                                        <p:strVal val="visible"/>
                                      </p:to>
                                    </p:set>
                                    <p:animEffect transition="in" filter="fade">
                                      <p:cBhvr>
                                        <p:cTn id="39" dur="4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methods_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 name="!!qam-title">
            <ns0:hlinkClick xmlns:ns0="http://schemas.openxmlformats.org/drawingml/2006/main" xmlns:ns1="http://schemas.openxmlformats.org/officeDocument/2006/relationships" ns1:id="rIdmethods_Link174" action="ppaction://hlinksldjump"/>
            <a:extLst xmlns:a="http://schemas.openxmlformats.org/drawingml/2006/main">
              <a:ext uri="{FF2B5EF4-FFF2-40B4-BE49-F238E27FC236}">
                <a16:creationId xmlns:a16="http://schemas.microsoft.com/office/drawing/2014/main" id="{98CB0536-BB97-4FCB-9176-32DD4F24BFD4}"/>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74" action="ppaction://hlinksldjump"/>
              </a:rPr>
              <a:t>QAM</a:t>
            </a:r>
          </a:p>
        </p:txBody>
      </p:sp>
      <p:sp>
        <p:nvSpPr>
          <p:cNvPr id="2" name="!!qam-route-tx-line">
            <a:extLst xmlns:a="http://schemas.openxmlformats.org/drawingml/2006/main">
              <a:ext uri="{FF2B5EF4-FFF2-40B4-BE49-F238E27FC236}">
                <a16:creationId xmlns:a16="http://schemas.microsoft.com/office/drawing/2014/main" id="{368C8FDB-1A03-429F-83FD-1E1085572F92}"/>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qam-route-tx-head">
            <a:extLst xmlns:a="http://schemas.openxmlformats.org/drawingml/2006/main">
              <a:ext uri="{FF2B5EF4-FFF2-40B4-BE49-F238E27FC236}">
                <a16:creationId xmlns:a16="http://schemas.microsoft.com/office/drawing/2014/main" id="{33D4E7D1-5B59-4A9E-B128-AB3348B89DEF}"/>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qam-route-rx-line">
            <a:extLst xmlns:a="http://schemas.openxmlformats.org/drawingml/2006/main">
              <a:ext uri="{FF2B5EF4-FFF2-40B4-BE49-F238E27FC236}">
                <a16:creationId xmlns:a16="http://schemas.microsoft.com/office/drawing/2014/main" id="{395A6ABA-3CEA-4F25-AD5D-BCBEF18BE8FF}"/>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qam-route-rx-head">
            <a:extLst xmlns:a="http://schemas.openxmlformats.org/drawingml/2006/main">
              <a:ext uri="{FF2B5EF4-FFF2-40B4-BE49-F238E27FC236}">
                <a16:creationId xmlns:a16="http://schemas.microsoft.com/office/drawing/2014/main" id="{A1684058-74CB-44DA-B6F1-B160006B7B8B}"/>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qam-purpose">
            <a:extLst xmlns:a="http://schemas.openxmlformats.org/drawingml/2006/main">
              <a:ext uri="{FF2B5EF4-FFF2-40B4-BE49-F238E27FC236}">
                <a16:creationId xmlns:a16="http://schemas.microsoft.com/office/drawing/2014/main" id="{1A3DC8C4-0A21-4D41-93C6-AD2437513A72}"/>
              </a:ext>
            </a:extLst>
          </p:cNvPr>
          <p:cNvSpPr>
            <a:spLocks xmlns:a="http://schemas.openxmlformats.org/drawingml/2006/main" noGrp="1"/>
          </p:cNvSpPr>
          <p:nvPr/>
        </p:nvSpPr>
        <p:spPr>
          <a:xfrm xmlns:a="http://schemas.openxmlformats.org/drawingml/2006/main">
            <a:off x="666750" y="15525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LPF keeps the first term; the other two become zero</a:t>
            </a:r>
          </a:p>
        </p:txBody>
      </p:sp>
      <p:sp>
        <p:nvSpPr>
          <p:cNvPr id="7" name="!!qam-bands">
            <a:extLst xmlns:a="http://schemas.openxmlformats.org/drawingml/2006/main">
              <a:ext uri="{FF2B5EF4-FFF2-40B4-BE49-F238E27FC236}">
                <a16:creationId xmlns:a16="http://schemas.microsoft.com/office/drawing/2014/main" id="{5E3D4F8E-BD65-4ECE-BA2F-72EEE3AF4C67}"/>
              </a:ext>
            </a:extLst>
          </p:cNvPr>
          <p:cNvSpPr>
            <a:spLocks xmlns:a="http://schemas.openxmlformats.org/drawingml/2006/main" noGrp="1"/>
          </p:cNvSpPr>
          <p:nvPr/>
        </p:nvSpPr>
        <p:spPr>
          <a:xfrm xmlns:a="http://schemas.openxmlformats.org/drawingml/2006/main">
            <a:off x="666750" y="20097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Occupied bands of the three terms</a:t>
            </a:r>
          </a:p>
        </p:txBody>
      </p:sp>
      <p:sp>
        <p:nvSpPr>
          <p:cNvPr id="8" name="!!qam-term0-r0-axis-line">
            <a:extLst xmlns:a="http://schemas.openxmlformats.org/drawingml/2006/main">
              <a:ext uri="{FF2B5EF4-FFF2-40B4-BE49-F238E27FC236}">
                <a16:creationId xmlns:a16="http://schemas.microsoft.com/office/drawing/2014/main" id="{710F96A7-7CB2-43E1-9257-E280576405AB}"/>
              </a:ext>
            </a:extLst>
          </p:cNvPr>
          <p:cNvSpPr>
            <a:spLocks xmlns:a="http://schemas.openxmlformats.org/drawingml/2006/main" noGrp="1"/>
          </p:cNvSpPr>
          <p:nvPr/>
        </p:nvSpPr>
        <p:spPr>
          <a:xfrm xmlns:a="http://schemas.openxmlformats.org/drawingml/2006/main">
            <a:off x="571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qam-term0-r0-axis-head">
            <a:extLst xmlns:a="http://schemas.openxmlformats.org/drawingml/2006/main">
              <a:ext uri="{FF2B5EF4-FFF2-40B4-BE49-F238E27FC236}">
                <a16:creationId xmlns:a16="http://schemas.microsoft.com/office/drawing/2014/main" id="{412BE41E-3441-41FF-99A6-5AD4B15FFF09}"/>
              </a:ext>
            </a:extLst>
          </p:cNvPr>
          <p:cNvSpPr>
            <a:spLocks xmlns:a="http://schemas.openxmlformats.org/drawingml/2006/main" noGrp="1"/>
          </p:cNvSpPr>
          <p:nvPr/>
        </p:nvSpPr>
        <p:spPr>
          <a:xfrm xmlns:a="http://schemas.openxmlformats.org/drawingml/2006/main" rot="5400000">
            <a:off x="3238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0" name="!!qam-term0-r0-tick0">
            <a:extLst xmlns:a="http://schemas.openxmlformats.org/drawingml/2006/main">
              <a:ext uri="{FF2B5EF4-FFF2-40B4-BE49-F238E27FC236}">
                <a16:creationId xmlns:a16="http://schemas.microsoft.com/office/drawing/2014/main" id="{2B70536E-CC0E-4DD7-9FFE-372AE045FD9B}"/>
              </a:ext>
            </a:extLst>
          </p:cNvPr>
          <p:cNvSpPr>
            <a:spLocks xmlns:a="http://schemas.openxmlformats.org/drawingml/2006/main" noGrp="1"/>
          </p:cNvSpPr>
          <p:nvPr/>
        </p:nvSpPr>
        <p:spPr>
          <a:xfrm xmlns:a="http://schemas.openxmlformats.org/drawingml/2006/main">
            <a:off x="1788319"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qam-term0-r0-tick1">
            <a:extLst xmlns:a="http://schemas.openxmlformats.org/drawingml/2006/main">
              <a:ext uri="{FF2B5EF4-FFF2-40B4-BE49-F238E27FC236}">
                <a16:creationId xmlns:a16="http://schemas.microsoft.com/office/drawing/2014/main" id="{F55B2523-CE67-40C0-94FB-538782214F2C}"/>
              </a:ext>
            </a:extLst>
          </p:cNvPr>
          <p:cNvSpPr>
            <a:spLocks xmlns:a="http://schemas.openxmlformats.org/drawingml/2006/main" noGrp="1"/>
          </p:cNvSpPr>
          <p:nvPr/>
        </p:nvSpPr>
        <p:spPr>
          <a:xfrm xmlns:a="http://schemas.openxmlformats.org/drawingml/2006/main">
            <a:off x="1962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qam-term0-r0-tick2">
            <a:extLst xmlns:a="http://schemas.openxmlformats.org/drawingml/2006/main">
              <a:ext uri="{FF2B5EF4-FFF2-40B4-BE49-F238E27FC236}">
                <a16:creationId xmlns:a16="http://schemas.microsoft.com/office/drawing/2014/main" id="{81DD93C5-9C8C-4F2D-AC39-89272F1BB80B}"/>
              </a:ext>
            </a:extLst>
          </p:cNvPr>
          <p:cNvSpPr>
            <a:spLocks xmlns:a="http://schemas.openxmlformats.org/drawingml/2006/main" noGrp="1"/>
          </p:cNvSpPr>
          <p:nvPr/>
        </p:nvSpPr>
        <p:spPr>
          <a:xfrm xmlns:a="http://schemas.openxmlformats.org/drawingml/2006/main">
            <a:off x="2135981"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qam-band00">
            <a:extLst xmlns:a="http://schemas.openxmlformats.org/drawingml/2006/main">
              <a:ext uri="{FF2B5EF4-FFF2-40B4-BE49-F238E27FC236}">
                <a16:creationId xmlns:a16="http://schemas.microsoft.com/office/drawing/2014/main" id="{36248499-2D34-44DF-848A-D5C34AD6F80C}"/>
              </a:ext>
            </a:extLst>
          </p:cNvPr>
          <p:cNvSpPr>
            <a:spLocks xmlns:a="http://schemas.openxmlformats.org/drawingml/2006/main" noGrp="1"/>
          </p:cNvSpPr>
          <p:nvPr/>
        </p:nvSpPr>
        <p:spPr>
          <a:xfrm xmlns:a="http://schemas.openxmlformats.org/drawingml/2006/main">
            <a:off x="1788319"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535353"/>
          </a:solidFill>
          <a:ln xmlns:a="http://schemas.openxmlformats.org/drawingml/2006/main" w="10478">
            <a:solidFill>
              <a:srgbClr val="202020"/>
            </a:solidFill>
          </a:ln>
        </p:spPr>
      </p:sp>
      <p:sp>
        <p:nvSpPr>
          <p:cNvPr id="14" name="!!qam-lpf0">
            <a:extLst xmlns:a="http://schemas.openxmlformats.org/drawingml/2006/main">
              <a:ext uri="{FF2B5EF4-FFF2-40B4-BE49-F238E27FC236}">
                <a16:creationId xmlns:a16="http://schemas.microsoft.com/office/drawing/2014/main" id="{98AC8D53-6990-4D56-8E20-53D5CDDBF706}"/>
              </a:ext>
            </a:extLst>
          </p:cNvPr>
          <p:cNvSpPr>
            <a:spLocks xmlns:a="http://schemas.openxmlformats.org/drawingml/2006/main" noGrp="1"/>
          </p:cNvSpPr>
          <p:nvPr/>
        </p:nvSpPr>
        <p:spPr>
          <a:xfrm xmlns:a="http://schemas.openxmlformats.org/drawingml/2006/main">
            <a:off x="1788319" y="2914650"/>
            <a:ext cx="347663" cy="666750"/>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5" name="!!qam-lpf-label0">
            <a:extLst xmlns:a="http://schemas.openxmlformats.org/drawingml/2006/main">
              <a:ext uri="{FF2B5EF4-FFF2-40B4-BE49-F238E27FC236}">
                <a16:creationId xmlns:a16="http://schemas.microsoft.com/office/drawing/2014/main" id="{F9A3C8E8-0C13-4D96-85C0-80E97173A6CC}"/>
              </a:ext>
            </a:extLst>
          </p:cNvPr>
          <p:cNvSpPr>
            <a:spLocks xmlns:a="http://schemas.openxmlformats.org/drawingml/2006/main" noGrp="1"/>
          </p:cNvSpPr>
          <p:nvPr/>
        </p:nvSpPr>
        <p:spPr>
          <a:xfrm xmlns:a="http://schemas.openxmlformats.org/drawingml/2006/main">
            <a:off x="571500" y="4067175"/>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LPF: keep this term</a:t>
            </a:r>
          </a:p>
        </p:txBody>
      </p:sp>
      <p:sp>
        <p:nvSpPr>
          <p:cNvPr id="16" name="!!qam-term1-r0-axis-line">
            <a:extLst xmlns:a="http://schemas.openxmlformats.org/drawingml/2006/main">
              <a:ext uri="{FF2B5EF4-FFF2-40B4-BE49-F238E27FC236}">
                <a16:creationId xmlns:a16="http://schemas.microsoft.com/office/drawing/2014/main" id="{9CB413CC-B66A-4F2F-BBBB-A0206368BCA8}"/>
              </a:ext>
            </a:extLst>
          </p:cNvPr>
          <p:cNvSpPr>
            <a:spLocks xmlns:a="http://schemas.openxmlformats.org/drawingml/2006/main" noGrp="1"/>
          </p:cNvSpPr>
          <p:nvPr/>
        </p:nvSpPr>
        <p:spPr>
          <a:xfrm xmlns:a="http://schemas.openxmlformats.org/drawingml/2006/main">
            <a:off x="45720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qam-term1-r0-axis-head">
            <a:extLst xmlns:a="http://schemas.openxmlformats.org/drawingml/2006/main">
              <a:ext uri="{FF2B5EF4-FFF2-40B4-BE49-F238E27FC236}">
                <a16:creationId xmlns:a16="http://schemas.microsoft.com/office/drawing/2014/main" id="{A084E006-38D2-433C-AAAF-7F7DC5DEB1F2}"/>
              </a:ext>
            </a:extLst>
          </p:cNvPr>
          <p:cNvSpPr>
            <a:spLocks xmlns:a="http://schemas.openxmlformats.org/drawingml/2006/main" noGrp="1"/>
          </p:cNvSpPr>
          <p:nvPr/>
        </p:nvSpPr>
        <p:spPr>
          <a:xfrm xmlns:a="http://schemas.openxmlformats.org/drawingml/2006/main" rot="5400000">
            <a:off x="72390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8" name="!!qam-term1-r0-tick0">
            <a:extLst xmlns:a="http://schemas.openxmlformats.org/drawingml/2006/main">
              <a:ext uri="{FF2B5EF4-FFF2-40B4-BE49-F238E27FC236}">
                <a16:creationId xmlns:a16="http://schemas.microsoft.com/office/drawing/2014/main" id="{A8D5558B-345F-4E4D-B3CA-EC6055176155}"/>
              </a:ext>
            </a:extLst>
          </p:cNvPr>
          <p:cNvSpPr>
            <a:spLocks xmlns:a="http://schemas.openxmlformats.org/drawingml/2006/main" noGrp="1"/>
          </p:cNvSpPr>
          <p:nvPr/>
        </p:nvSpPr>
        <p:spPr>
          <a:xfrm xmlns:a="http://schemas.openxmlformats.org/drawingml/2006/main">
            <a:off x="4919663"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qam-term1-r0-tick1">
            <a:extLst xmlns:a="http://schemas.openxmlformats.org/drawingml/2006/main">
              <a:ext uri="{FF2B5EF4-FFF2-40B4-BE49-F238E27FC236}">
                <a16:creationId xmlns:a16="http://schemas.microsoft.com/office/drawing/2014/main" id="{2F9604E0-BAFC-4BDD-A435-3F9958CFD6CC}"/>
              </a:ext>
            </a:extLst>
          </p:cNvPr>
          <p:cNvSpPr>
            <a:spLocks xmlns:a="http://schemas.openxmlformats.org/drawingml/2006/main" noGrp="1"/>
          </p:cNvSpPr>
          <p:nvPr/>
        </p:nvSpPr>
        <p:spPr>
          <a:xfrm xmlns:a="http://schemas.openxmlformats.org/drawingml/2006/main">
            <a:off x="59626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qam-term1-r0-tick2">
            <a:extLst xmlns:a="http://schemas.openxmlformats.org/drawingml/2006/main">
              <a:ext uri="{FF2B5EF4-FFF2-40B4-BE49-F238E27FC236}">
                <a16:creationId xmlns:a16="http://schemas.microsoft.com/office/drawing/2014/main" id="{97C02E6A-CEA8-4FEC-A63E-741E0B840BB2}"/>
              </a:ext>
            </a:extLst>
          </p:cNvPr>
          <p:cNvSpPr>
            <a:spLocks xmlns:a="http://schemas.openxmlformats.org/drawingml/2006/main" noGrp="1"/>
          </p:cNvSpPr>
          <p:nvPr/>
        </p:nvSpPr>
        <p:spPr>
          <a:xfrm xmlns:a="http://schemas.openxmlformats.org/drawingml/2006/main">
            <a:off x="7005638"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qam-band10">
            <a:extLst xmlns:a="http://schemas.openxmlformats.org/drawingml/2006/main">
              <a:ext uri="{FF2B5EF4-FFF2-40B4-BE49-F238E27FC236}">
                <a16:creationId xmlns:a16="http://schemas.microsoft.com/office/drawing/2014/main" id="{E0D94701-3DA5-4BAD-91F0-9967A2F6956F}"/>
              </a:ext>
            </a:extLst>
          </p:cNvPr>
          <p:cNvSpPr>
            <a:spLocks xmlns:a="http://schemas.openxmlformats.org/drawingml/2006/main" noGrp="1"/>
          </p:cNvSpPr>
          <p:nvPr/>
        </p:nvSpPr>
        <p:spPr>
          <a:xfrm xmlns:a="http://schemas.openxmlformats.org/drawingml/2006/main">
            <a:off x="4745831"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CCCCCC"/>
          </a:solidFill>
          <a:ln xmlns:a="http://schemas.openxmlformats.org/drawingml/2006/main" w="10478">
            <a:solidFill>
              <a:srgbClr val="202020"/>
            </a:solidFill>
          </a:ln>
        </p:spPr>
      </p:sp>
      <p:sp>
        <p:nvSpPr>
          <p:cNvPr id="22" name="!!qam-band11">
            <a:extLst xmlns:a="http://schemas.openxmlformats.org/drawingml/2006/main">
              <a:ext uri="{FF2B5EF4-FFF2-40B4-BE49-F238E27FC236}">
                <a16:creationId xmlns:a16="http://schemas.microsoft.com/office/drawing/2014/main" id="{A2BCB4B1-42B6-4ED2-9083-C18BFD8A91D6}"/>
              </a:ext>
            </a:extLst>
          </p:cNvPr>
          <p:cNvSpPr>
            <a:spLocks xmlns:a="http://schemas.openxmlformats.org/drawingml/2006/main" noGrp="1"/>
          </p:cNvSpPr>
          <p:nvPr/>
        </p:nvSpPr>
        <p:spPr>
          <a:xfrm xmlns:a="http://schemas.openxmlformats.org/drawingml/2006/main">
            <a:off x="6831806"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CCCCCC"/>
          </a:solidFill>
          <a:ln xmlns:a="http://schemas.openxmlformats.org/drawingml/2006/main" w="10478">
            <a:solidFill>
              <a:srgbClr val="202020"/>
            </a:solidFill>
          </a:ln>
        </p:spPr>
      </p:sp>
      <p:sp>
        <p:nvSpPr>
          <p:cNvPr id="23" name="!!qam-lpf1">
            <a:extLst xmlns:a="http://schemas.openxmlformats.org/drawingml/2006/main">
              <a:ext uri="{FF2B5EF4-FFF2-40B4-BE49-F238E27FC236}">
                <a16:creationId xmlns:a16="http://schemas.microsoft.com/office/drawing/2014/main" id="{7488D8C0-486E-487E-81A7-19B575728514}"/>
              </a:ext>
            </a:extLst>
          </p:cNvPr>
          <p:cNvSpPr>
            <a:spLocks xmlns:a="http://schemas.openxmlformats.org/drawingml/2006/main" noGrp="1"/>
          </p:cNvSpPr>
          <p:nvPr/>
        </p:nvSpPr>
        <p:spPr>
          <a:xfrm xmlns:a="http://schemas.openxmlformats.org/drawingml/2006/main">
            <a:off x="5788819" y="2914650"/>
            <a:ext cx="347663" cy="666750"/>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24" name="!!qam-lpf-label1">
            <a:extLst xmlns:a="http://schemas.openxmlformats.org/drawingml/2006/main">
              <a:ext uri="{FF2B5EF4-FFF2-40B4-BE49-F238E27FC236}">
                <a16:creationId xmlns:a16="http://schemas.microsoft.com/office/drawing/2014/main" id="{9DB3DB53-D505-49F3-B30D-1D032C041E9C}"/>
              </a:ext>
            </a:extLst>
          </p:cNvPr>
          <p:cNvSpPr>
            <a:spLocks xmlns:a="http://schemas.openxmlformats.org/drawingml/2006/main" noGrp="1"/>
          </p:cNvSpPr>
          <p:nvPr/>
        </p:nvSpPr>
        <p:spPr>
          <a:xfrm xmlns:a="http://schemas.openxmlformats.org/drawingml/2006/main">
            <a:off x="4572000" y="4067175"/>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LPF: no term remains</a:t>
            </a:r>
          </a:p>
        </p:txBody>
      </p:sp>
      <p:sp>
        <p:nvSpPr>
          <p:cNvPr id="25" name="!!qam-term2-r0-axis-line">
            <a:extLst xmlns:a="http://schemas.openxmlformats.org/drawingml/2006/main">
              <a:ext uri="{FF2B5EF4-FFF2-40B4-BE49-F238E27FC236}">
                <a16:creationId xmlns:a16="http://schemas.microsoft.com/office/drawing/2014/main" id="{1B117D80-F9BB-427F-AE0D-7B67F2C54623}"/>
              </a:ext>
            </a:extLst>
          </p:cNvPr>
          <p:cNvSpPr>
            <a:spLocks xmlns:a="http://schemas.openxmlformats.org/drawingml/2006/main" noGrp="1"/>
          </p:cNvSpPr>
          <p:nvPr/>
        </p:nvSpPr>
        <p:spPr>
          <a:xfrm xmlns:a="http://schemas.openxmlformats.org/drawingml/2006/main">
            <a:off x="8572500" y="3524250"/>
            <a:ext cx="2686050" cy="190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qam-term2-r0-axis-head">
            <a:extLst xmlns:a="http://schemas.openxmlformats.org/drawingml/2006/main">
              <a:ext uri="{FF2B5EF4-FFF2-40B4-BE49-F238E27FC236}">
                <a16:creationId xmlns:a16="http://schemas.microsoft.com/office/drawing/2014/main" id="{58BADF84-C5F3-4EB0-A1A5-30CEDFBFAE5D}"/>
              </a:ext>
            </a:extLst>
          </p:cNvPr>
          <p:cNvSpPr>
            <a:spLocks xmlns:a="http://schemas.openxmlformats.org/drawingml/2006/main" noGrp="1"/>
          </p:cNvSpPr>
          <p:nvPr/>
        </p:nvSpPr>
        <p:spPr>
          <a:xfrm xmlns:a="http://schemas.openxmlformats.org/drawingml/2006/main" rot="5400000">
            <a:off x="11239500" y="3476625"/>
            <a:ext cx="114300" cy="114300"/>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7" name="!!qam-term2-r0-tick0">
            <a:extLst xmlns:a="http://schemas.openxmlformats.org/drawingml/2006/main">
              <a:ext uri="{FF2B5EF4-FFF2-40B4-BE49-F238E27FC236}">
                <a16:creationId xmlns:a16="http://schemas.microsoft.com/office/drawing/2014/main" id="{1EB6DCB1-7847-40C2-BB9C-46985C412C86}"/>
              </a:ext>
            </a:extLst>
          </p:cNvPr>
          <p:cNvSpPr>
            <a:spLocks xmlns:a="http://schemas.openxmlformats.org/drawingml/2006/main" noGrp="1"/>
          </p:cNvSpPr>
          <p:nvPr/>
        </p:nvSpPr>
        <p:spPr>
          <a:xfrm xmlns:a="http://schemas.openxmlformats.org/drawingml/2006/main">
            <a:off x="8920163"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qam-term2-r0-tick1">
            <a:extLst xmlns:a="http://schemas.openxmlformats.org/drawingml/2006/main">
              <a:ext uri="{FF2B5EF4-FFF2-40B4-BE49-F238E27FC236}">
                <a16:creationId xmlns:a16="http://schemas.microsoft.com/office/drawing/2014/main" id="{26C19959-2446-4743-B25B-EC33BFEEEB33}"/>
              </a:ext>
            </a:extLst>
          </p:cNvPr>
          <p:cNvSpPr>
            <a:spLocks xmlns:a="http://schemas.openxmlformats.org/drawingml/2006/main" noGrp="1"/>
          </p:cNvSpPr>
          <p:nvPr/>
        </p:nvSpPr>
        <p:spPr>
          <a:xfrm xmlns:a="http://schemas.openxmlformats.org/drawingml/2006/main">
            <a:off x="9963150"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qam-term2-r0-tick2">
            <a:extLst xmlns:a="http://schemas.openxmlformats.org/drawingml/2006/main">
              <a:ext uri="{FF2B5EF4-FFF2-40B4-BE49-F238E27FC236}">
                <a16:creationId xmlns:a16="http://schemas.microsoft.com/office/drawing/2014/main" id="{275CAEE9-26D6-4CC6-883F-CCD744E893E6}"/>
              </a:ext>
            </a:extLst>
          </p:cNvPr>
          <p:cNvSpPr>
            <a:spLocks xmlns:a="http://schemas.openxmlformats.org/drawingml/2006/main" noGrp="1"/>
          </p:cNvSpPr>
          <p:nvPr/>
        </p:nvSpPr>
        <p:spPr>
          <a:xfrm xmlns:a="http://schemas.openxmlformats.org/drawingml/2006/main">
            <a:off x="11006138" y="3524250"/>
            <a:ext cx="952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qam-band20">
            <a:extLst xmlns:a="http://schemas.openxmlformats.org/drawingml/2006/main">
              <a:ext uri="{FF2B5EF4-FFF2-40B4-BE49-F238E27FC236}">
                <a16:creationId xmlns:a16="http://schemas.microsoft.com/office/drawing/2014/main" id="{01ECE778-173E-45E6-AC19-0083FC166D63}"/>
              </a:ext>
            </a:extLst>
          </p:cNvPr>
          <p:cNvSpPr>
            <a:spLocks xmlns:a="http://schemas.openxmlformats.org/drawingml/2006/main" noGrp="1"/>
          </p:cNvSpPr>
          <p:nvPr/>
        </p:nvSpPr>
        <p:spPr>
          <a:xfrm xmlns:a="http://schemas.openxmlformats.org/drawingml/2006/main">
            <a:off x="8746331"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CCCCCC"/>
          </a:solidFill>
          <a:ln xmlns:a="http://schemas.openxmlformats.org/drawingml/2006/main" w="10478">
            <a:solidFill>
              <a:srgbClr val="202020"/>
            </a:solidFill>
          </a:ln>
        </p:spPr>
      </p:sp>
      <p:sp>
        <p:nvSpPr>
          <p:cNvPr id="31" name="!!qam-band21">
            <a:extLst xmlns:a="http://schemas.openxmlformats.org/drawingml/2006/main">
              <a:ext uri="{FF2B5EF4-FFF2-40B4-BE49-F238E27FC236}">
                <a16:creationId xmlns:a16="http://schemas.microsoft.com/office/drawing/2014/main" id="{A661672A-3531-4BBD-886A-E7B419500ACE}"/>
              </a:ext>
            </a:extLst>
          </p:cNvPr>
          <p:cNvSpPr>
            <a:spLocks xmlns:a="http://schemas.openxmlformats.org/drawingml/2006/main" noGrp="1"/>
          </p:cNvSpPr>
          <p:nvPr/>
        </p:nvSpPr>
        <p:spPr>
          <a:xfrm xmlns:a="http://schemas.openxmlformats.org/drawingml/2006/main">
            <a:off x="10832306" y="3048000"/>
            <a:ext cx="347663" cy="476250"/>
          </a:xfrm>
          <a:custGeom xmlns:a="http://schemas.openxmlformats.org/drawingml/2006/main">
            <a:pathLst>
              <a:path w="347663" h="476250">
                <a:moveTo>
                  <a:pt x="0" y="476250"/>
                </a:moveTo>
                <a:lnTo>
                  <a:pt x="0" y="0"/>
                </a:lnTo>
                <a:lnTo>
                  <a:pt x="347663" y="0"/>
                </a:lnTo>
                <a:lnTo>
                  <a:pt x="347663" y="476250"/>
                </a:lnTo>
                <a:close/>
              </a:path>
            </a:pathLst>
          </a:custGeom>
          <a:solidFill xmlns:a="http://schemas.openxmlformats.org/drawingml/2006/main">
            <a:srgbClr val="CCCCCC"/>
          </a:solidFill>
          <a:ln xmlns:a="http://schemas.openxmlformats.org/drawingml/2006/main" w="10478">
            <a:solidFill>
              <a:srgbClr val="202020"/>
            </a:solidFill>
          </a:ln>
        </p:spPr>
      </p:sp>
      <p:sp>
        <p:nvSpPr>
          <p:cNvPr id="32" name="!!qam-lpf2">
            <a:extLst xmlns:a="http://schemas.openxmlformats.org/drawingml/2006/main">
              <a:ext uri="{FF2B5EF4-FFF2-40B4-BE49-F238E27FC236}">
                <a16:creationId xmlns:a16="http://schemas.microsoft.com/office/drawing/2014/main" id="{69144B28-B439-4E05-BE17-7E2D7AA9BA15}"/>
              </a:ext>
            </a:extLst>
          </p:cNvPr>
          <p:cNvSpPr>
            <a:spLocks xmlns:a="http://schemas.openxmlformats.org/drawingml/2006/main" noGrp="1"/>
          </p:cNvSpPr>
          <p:nvPr/>
        </p:nvSpPr>
        <p:spPr>
          <a:xfrm xmlns:a="http://schemas.openxmlformats.org/drawingml/2006/main">
            <a:off x="9789319" y="2914650"/>
            <a:ext cx="347663" cy="666750"/>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3" name="!!qam-lpf-label2">
            <a:extLst xmlns:a="http://schemas.openxmlformats.org/drawingml/2006/main">
              <a:ext uri="{FF2B5EF4-FFF2-40B4-BE49-F238E27FC236}">
                <a16:creationId xmlns:a16="http://schemas.microsoft.com/office/drawing/2014/main" id="{84216D8F-7BE3-42E5-99DB-A1E0D0AD0B45}"/>
              </a:ext>
            </a:extLst>
          </p:cNvPr>
          <p:cNvSpPr>
            <a:spLocks xmlns:a="http://schemas.openxmlformats.org/drawingml/2006/main" noGrp="1"/>
          </p:cNvSpPr>
          <p:nvPr/>
        </p:nvSpPr>
        <p:spPr>
          <a:xfrm xmlns:a="http://schemas.openxmlformats.org/drawingml/2006/main">
            <a:off x="8572500" y="4067175"/>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LPF: no term remains</a:t>
            </a:r>
          </a:p>
        </p:txBody>
      </p:sp>
      <p:pic>
        <p:nvPicPr>
          <p:cNvPr id="91" name="!!qam-route-m" descr="m_1,m_2">
            <ns0:hlinkClick xmlns:ns0="http://schemas.openxmlformats.org/drawingml/2006/main" xmlns:ns1="http://schemas.openxmlformats.org/officeDocument/2006/relationships" ns1:id="rIdmethods_Link17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8b05bb2ac45049ee">
            <a:extLst>
              <a:ext uri="{96DAC541-7B7A-43D3-8B79-37D633B846F1}">
                <ns0:svgBlip xmlns:ns0="http://schemas.microsoft.com/office/drawing/2016/SVG/main" r:embed="rIdVectormf00794"/>
              </a:ext>
            </a:extLst>
          </a:blip>
          <a:stretch xmlns:a="http://schemas.openxmlformats.org/drawingml/2006/main"/>
        </p:blipFill>
        <p:spPr>
          <a:xfrm xmlns:a="http://schemas.openxmlformats.org/drawingml/2006/main">
            <a:off x="1985509" y="975360"/>
            <a:ext cx="1267731" cy="240030"/>
          </a:xfrm>
          <a:prstGeom xmlns:a="http://schemas.openxmlformats.org/drawingml/2006/main" prst="rect">
            <a:avLst/>
          </a:prstGeom>
        </p:spPr>
      </p:pic>
      <p:pic>
        <p:nvPicPr>
          <p:cNvPr id="92" name="!!qam-route-s" descr="s(t)">
            <ns0:hlinkClick xmlns:ns0="http://schemas.openxmlformats.org/drawingml/2006/main" xmlns:ns1="http://schemas.openxmlformats.org/officeDocument/2006/relationships" ns1:id="rIdmethods_Link176"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0ef710c899854387">
            <a:extLst>
              <a:ext uri="{96DAC541-7B7A-43D3-8B79-37D633B846F1}">
                <ns1:svgBlip xmlns:ns1="http://schemas.microsoft.com/office/drawing/2016/SVG/main" r:embed="rIdVectormf00795"/>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93" name="!!qam-route-restored" descr="m_1,m_2">
            <ns0:hlinkClick xmlns:ns0="http://schemas.openxmlformats.org/drawingml/2006/main" xmlns:ns1="http://schemas.openxmlformats.org/officeDocument/2006/relationships" ns1:id="rIdmethods_Link177"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31c94d8ad2e34ec4">
            <a:extLst>
              <a:ext uri="{96DAC541-7B7A-43D3-8B79-37D633B846F1}">
                <ns2:svgBlip xmlns:ns2="http://schemas.microsoft.com/office/drawing/2016/SVG/main" r:embed="rIdVectormf00796"/>
              </a:ext>
            </a:extLst>
          </a:blip>
          <a:stretch xmlns:a="http://schemas.openxmlformats.org/drawingml/2006/main"/>
        </p:blipFill>
        <p:spPr>
          <a:xfrm xmlns:a="http://schemas.openxmlformats.org/drawingml/2006/main">
            <a:off x="8938759" y="975360"/>
            <a:ext cx="1267731" cy="240030"/>
          </a:xfrm>
          <a:prstGeom xmlns:a="http://schemas.openxmlformats.org/drawingml/2006/main" prst="rect">
            <a:avLst/>
          </a:prstGeom>
        </p:spPr>
      </p:pic>
      <p:pic>
        <p:nvPicPr>
          <p:cNvPr id="94" name="!!qam-passband" descr="\text{LPF: }|f|\leq W"/>
          <p:cNvPicPr>
            <a:picLocks xmlns:a="http://schemas.openxmlformats.org/drawingml/2006/main" noChangeAspect="1"/>
          </p:cNvPicPr>
          <p:nvPr/>
        </p:nvPicPr>
        <p:blipFill>
          <a:blip xmlns:r="http://schemas.openxmlformats.org/officeDocument/2006/relationships" xmlns:a="http://schemas.openxmlformats.org/drawingml/2006/main" r:embed="R4e91d69ccb694aa4">
            <a:extLst>
              <a:ext uri="{96DAC541-7B7A-43D3-8B79-37D633B846F1}">
                <ns3:svgBlip xmlns:ns3="http://schemas.microsoft.com/office/drawing/2016/SVG/main" r:embed="rIdVectormf00797"/>
              </a:ext>
            </a:extLst>
          </a:blip>
          <a:stretch xmlns:a="http://schemas.openxmlformats.org/drawingml/2006/main"/>
        </p:blipFill>
        <p:spPr>
          <a:xfrm xmlns:a="http://schemas.openxmlformats.org/drawingml/2006/main">
            <a:off x="6657975" y="2034302"/>
            <a:ext cx="1531620" cy="227171"/>
          </a:xfrm>
          <a:prstGeom xmlns:a="http://schemas.openxmlformats.org/drawingml/2006/main" prst="rect">
            <a:avLst/>
          </a:prstGeom>
        </p:spPr>
      </p:pic>
      <p:pic>
        <p:nvPicPr>
          <p:cNvPr id="95" name="!!qam-condition" descr="f_c&gt;W"/>
          <p:cNvPicPr>
            <a:picLocks xmlns:a="http://schemas.openxmlformats.org/drawingml/2006/main" noChangeAspect="1"/>
          </p:cNvPicPr>
          <p:nvPr/>
        </p:nvPicPr>
        <p:blipFill>
          <a:blip xmlns:r="http://schemas.openxmlformats.org/officeDocument/2006/relationships" xmlns:a="http://schemas.openxmlformats.org/drawingml/2006/main" r:embed="Rdbc60e7d2dac4e2c">
            <a:extLst>
              <a:ext uri="{96DAC541-7B7A-43D3-8B79-37D633B846F1}">
                <ns4:svgBlip xmlns:ns4="http://schemas.microsoft.com/office/drawing/2016/SVG/main" r:embed="rIdVectormf00798"/>
              </a:ext>
            </a:extLst>
          </a:blip>
          <a:stretch xmlns:a="http://schemas.openxmlformats.org/drawingml/2006/main"/>
        </p:blipFill>
        <p:spPr>
          <a:xfrm xmlns:a="http://schemas.openxmlformats.org/drawingml/2006/main">
            <a:off x="9444789" y="2056448"/>
            <a:ext cx="770021" cy="182880"/>
          </a:xfrm>
          <a:prstGeom xmlns:a="http://schemas.openxmlformats.org/drawingml/2006/main" prst="rect">
            <a:avLst/>
          </a:prstGeom>
        </p:spPr>
      </p:pic>
      <p:pic>
        <p:nvPicPr>
          <p:cNvPr id="96" name="!!qam-term0-r0-domain" descr="f"/>
          <p:cNvPicPr>
            <a:picLocks xmlns:a="http://schemas.openxmlformats.org/drawingml/2006/main" noChangeAspect="1"/>
          </p:cNvPicPr>
          <p:nvPr/>
        </p:nvPicPr>
        <p:blipFill>
          <a:blip xmlns:r="http://schemas.openxmlformats.org/officeDocument/2006/relationships" xmlns:a="http://schemas.openxmlformats.org/drawingml/2006/main" r:embed="R3583e7facd8d402c">
            <a:extLst>
              <a:ext uri="{96DAC541-7B7A-43D3-8B79-37D633B846F1}">
                <ns5:svgBlip xmlns:ns5="http://schemas.microsoft.com/office/drawing/2016/SVG/main" r:embed="rIdVectormf00799"/>
              </a:ext>
            </a:extLst>
          </a:blip>
          <a:stretch xmlns:a="http://schemas.openxmlformats.org/drawingml/2006/main"/>
        </p:blipFill>
        <p:spPr>
          <a:xfrm xmlns:a="http://schemas.openxmlformats.org/drawingml/2006/main">
            <a:off x="3374873" y="3311843"/>
            <a:ext cx="79678" cy="120015"/>
          </a:xfrm>
          <a:prstGeom xmlns:a="http://schemas.openxmlformats.org/drawingml/2006/main" prst="rect">
            <a:avLst/>
          </a:prstGeom>
        </p:spPr>
      </p:pic>
      <p:pic>
        <p:nvPicPr>
          <p:cNvPr id="97" name="!!qam-term0-r0-ticklabel0" descr="-W"/>
          <p:cNvPicPr>
            <a:picLocks xmlns:a="http://schemas.openxmlformats.org/drawingml/2006/main" noChangeAspect="1"/>
          </p:cNvPicPr>
          <p:nvPr/>
        </p:nvPicPr>
        <p:blipFill>
          <a:blip xmlns:r="http://schemas.openxmlformats.org/officeDocument/2006/relationships" xmlns:a="http://schemas.openxmlformats.org/drawingml/2006/main" r:embed="Raeebb2c434be409f">
            <a:extLst>
              <a:ext uri="{96DAC541-7B7A-43D3-8B79-37D633B846F1}">
                <ns6:svgBlip xmlns:ns6="http://schemas.microsoft.com/office/drawing/2016/SVG/main" r:embed="rIdVectormf00800"/>
              </a:ext>
            </a:extLst>
          </a:blip>
          <a:stretch xmlns:a="http://schemas.openxmlformats.org/drawingml/2006/main"/>
        </p:blipFill>
        <p:spPr>
          <a:xfrm xmlns:a="http://schemas.openxmlformats.org/drawingml/2006/main">
            <a:off x="1612419" y="3646170"/>
            <a:ext cx="351800" cy="137160"/>
          </a:xfrm>
          <a:prstGeom xmlns:a="http://schemas.openxmlformats.org/drawingml/2006/main" prst="rect">
            <a:avLst/>
          </a:prstGeom>
        </p:spPr>
      </p:pic>
      <p:pic>
        <p:nvPicPr>
          <p:cNvPr id="98" name="!!qam-term0-r0-ticklabel1" descr="0"/>
          <p:cNvPicPr>
            <a:picLocks xmlns:a="http://schemas.openxmlformats.org/drawingml/2006/main" noChangeAspect="1"/>
          </p:cNvPicPr>
          <p:nvPr/>
        </p:nvPicPr>
        <p:blipFill>
          <a:blip xmlns:r="http://schemas.openxmlformats.org/officeDocument/2006/relationships" xmlns:a="http://schemas.openxmlformats.org/drawingml/2006/main" r:embed="R095e197d32e442d7">
            <a:extLst>
              <a:ext uri="{96DAC541-7B7A-43D3-8B79-37D633B846F1}">
                <ns7:svgBlip xmlns:ns7="http://schemas.microsoft.com/office/drawing/2016/SVG/main" r:embed="rIdVectormf00801"/>
              </a:ext>
            </a:extLst>
          </a:blip>
          <a:stretch xmlns:a="http://schemas.openxmlformats.org/drawingml/2006/main"/>
        </p:blipFill>
        <p:spPr>
          <a:xfrm xmlns:a="http://schemas.openxmlformats.org/drawingml/2006/main">
            <a:off x="1916175" y="3863340"/>
            <a:ext cx="91951" cy="102870"/>
          </a:xfrm>
          <a:prstGeom xmlns:a="http://schemas.openxmlformats.org/drawingml/2006/main" prst="rect">
            <a:avLst/>
          </a:prstGeom>
        </p:spPr>
      </p:pic>
      <p:pic>
        <p:nvPicPr>
          <p:cNvPr id="99" name="!!qam-term0-r0-ticklabel2" descr="W"/>
          <p:cNvPicPr>
            <a:picLocks xmlns:a="http://schemas.openxmlformats.org/drawingml/2006/main" noChangeAspect="1"/>
          </p:cNvPicPr>
          <p:nvPr/>
        </p:nvPicPr>
        <p:blipFill>
          <a:blip xmlns:r="http://schemas.openxmlformats.org/officeDocument/2006/relationships" xmlns:a="http://schemas.openxmlformats.org/drawingml/2006/main" r:embed="Rcf04dd3d57ba489f">
            <a:extLst>
              <a:ext uri="{96DAC541-7B7A-43D3-8B79-37D633B846F1}">
                <ns8:svgBlip xmlns:ns8="http://schemas.microsoft.com/office/drawing/2016/SVG/main" r:embed="rIdVectormf00802"/>
              </a:ext>
            </a:extLst>
          </a:blip>
          <a:stretch xmlns:a="http://schemas.openxmlformats.org/drawingml/2006/main"/>
        </p:blipFill>
        <p:spPr>
          <a:xfrm xmlns:a="http://schemas.openxmlformats.org/drawingml/2006/main">
            <a:off x="2033111" y="3656243"/>
            <a:ext cx="205740" cy="117015"/>
          </a:xfrm>
          <a:prstGeom xmlns:a="http://schemas.openxmlformats.org/drawingml/2006/main" prst="rect">
            <a:avLst/>
          </a:prstGeom>
        </p:spPr>
      </p:pic>
      <p:pic>
        <p:nvPicPr>
          <p:cNvPr id="100" name="!!qam-term-label0" descr="A_cm_1(t)"/>
          <p:cNvPicPr>
            <a:picLocks xmlns:a="http://schemas.openxmlformats.org/drawingml/2006/main" noChangeAspect="1"/>
          </p:cNvPicPr>
          <p:nvPr/>
        </p:nvPicPr>
        <p:blipFill>
          <a:blip xmlns:r="http://schemas.openxmlformats.org/officeDocument/2006/relationships" xmlns:a="http://schemas.openxmlformats.org/drawingml/2006/main" r:embed="Rdd9968a798e94389">
            <a:extLst>
              <a:ext uri="{96DAC541-7B7A-43D3-8B79-37D633B846F1}">
                <ns9:svgBlip xmlns:ns9="http://schemas.microsoft.com/office/drawing/2016/SVG/main" r:embed="rIdVectormf00803"/>
              </a:ext>
            </a:extLst>
          </a:blip>
          <a:stretch xmlns:a="http://schemas.openxmlformats.org/drawingml/2006/main"/>
        </p:blipFill>
        <p:spPr>
          <a:xfrm xmlns:a="http://schemas.openxmlformats.org/drawingml/2006/main">
            <a:off x="571500" y="2620060"/>
            <a:ext cx="898208" cy="217706"/>
          </a:xfrm>
          <a:prstGeom xmlns:a="http://schemas.openxmlformats.org/drawingml/2006/main" prst="rect">
            <a:avLst/>
          </a:prstGeom>
        </p:spPr>
      </p:pic>
      <p:pic>
        <p:nvPicPr>
          <p:cNvPr id="101" name="!!qam-term1-r0-domain" descr="f"/>
          <p:cNvPicPr>
            <a:picLocks xmlns:a="http://schemas.openxmlformats.org/drawingml/2006/main" noChangeAspect="1"/>
          </p:cNvPicPr>
          <p:nvPr/>
        </p:nvPicPr>
        <p:blipFill>
          <a:blip xmlns:r="http://schemas.openxmlformats.org/officeDocument/2006/relationships" xmlns:a="http://schemas.openxmlformats.org/drawingml/2006/main" r:embed="R9e00ab5dd0964660">
            <a:extLst>
              <a:ext uri="{96DAC541-7B7A-43D3-8B79-37D633B846F1}">
                <ns10:svgBlip xmlns:ns10="http://schemas.microsoft.com/office/drawing/2016/SVG/main" r:embed="rIdVectormf00804"/>
              </a:ext>
            </a:extLst>
          </a:blip>
          <a:stretch xmlns:a="http://schemas.openxmlformats.org/drawingml/2006/main"/>
        </p:blipFill>
        <p:spPr>
          <a:xfrm xmlns:a="http://schemas.openxmlformats.org/drawingml/2006/main">
            <a:off x="7375373" y="3311843"/>
            <a:ext cx="79678" cy="120015"/>
          </a:xfrm>
          <a:prstGeom xmlns:a="http://schemas.openxmlformats.org/drawingml/2006/main" prst="rect">
            <a:avLst/>
          </a:prstGeom>
        </p:spPr>
      </p:pic>
      <p:pic>
        <p:nvPicPr>
          <p:cNvPr id="102" name="!!qam-term1-r0-ticklabel0" descr="-2f_c"/>
          <p:cNvPicPr>
            <a:picLocks xmlns:a="http://schemas.openxmlformats.org/drawingml/2006/main" noChangeAspect="1"/>
          </p:cNvPicPr>
          <p:nvPr/>
        </p:nvPicPr>
        <p:blipFill>
          <a:blip xmlns:r="http://schemas.openxmlformats.org/officeDocument/2006/relationships" xmlns:a="http://schemas.openxmlformats.org/drawingml/2006/main" r:embed="R6966fcf34a8c4042">
            <a:extLst>
              <a:ext uri="{96DAC541-7B7A-43D3-8B79-37D633B846F1}">
                <ns11:svgBlip xmlns:ns11="http://schemas.microsoft.com/office/drawing/2016/SVG/main" r:embed="rIdVectormf00805"/>
              </a:ext>
            </a:extLst>
          </a:blip>
          <a:stretch xmlns:a="http://schemas.openxmlformats.org/drawingml/2006/main"/>
        </p:blipFill>
        <p:spPr>
          <a:xfrm xmlns:a="http://schemas.openxmlformats.org/drawingml/2006/main">
            <a:off x="4738158" y="3646170"/>
            <a:ext cx="363010" cy="137160"/>
          </a:xfrm>
          <a:prstGeom xmlns:a="http://schemas.openxmlformats.org/drawingml/2006/main" prst="rect">
            <a:avLst/>
          </a:prstGeom>
        </p:spPr>
      </p:pic>
      <p:pic>
        <p:nvPicPr>
          <p:cNvPr id="103" name="!!qam-term1-r0-ticklabel1" descr="0"/>
          <p:cNvPicPr>
            <a:picLocks xmlns:a="http://schemas.openxmlformats.org/drawingml/2006/main" noChangeAspect="1"/>
          </p:cNvPicPr>
          <p:nvPr/>
        </p:nvPicPr>
        <p:blipFill>
          <a:blip xmlns:r="http://schemas.openxmlformats.org/officeDocument/2006/relationships" xmlns:a="http://schemas.openxmlformats.org/drawingml/2006/main" r:embed="Re67f1cc334c349d8">
            <a:extLst>
              <a:ext uri="{96DAC541-7B7A-43D3-8B79-37D633B846F1}">
                <ns12:svgBlip xmlns:ns12="http://schemas.microsoft.com/office/drawing/2016/SVG/main" r:embed="rIdVectormf00806"/>
              </a:ext>
            </a:extLst>
          </a:blip>
          <a:stretch xmlns:a="http://schemas.openxmlformats.org/drawingml/2006/main"/>
        </p:blipFill>
        <p:spPr>
          <a:xfrm xmlns:a="http://schemas.openxmlformats.org/drawingml/2006/main">
            <a:off x="5916675" y="3663315"/>
            <a:ext cx="91951" cy="102870"/>
          </a:xfrm>
          <a:prstGeom xmlns:a="http://schemas.openxmlformats.org/drawingml/2006/main" prst="rect">
            <a:avLst/>
          </a:prstGeom>
        </p:spPr>
      </p:pic>
      <p:pic>
        <p:nvPicPr>
          <p:cNvPr id="104" name="!!qam-term1-r0-ticklabel2" descr="2f_c"/>
          <p:cNvPicPr>
            <a:picLocks xmlns:a="http://schemas.openxmlformats.org/drawingml/2006/main" noChangeAspect="1"/>
          </p:cNvPicPr>
          <p:nvPr/>
        </p:nvPicPr>
        <p:blipFill>
          <a:blip xmlns:r="http://schemas.openxmlformats.org/officeDocument/2006/relationships" xmlns:a="http://schemas.openxmlformats.org/drawingml/2006/main" r:embed="R3593c356dedd4b9c">
            <a:extLst>
              <a:ext uri="{96DAC541-7B7A-43D3-8B79-37D633B846F1}">
                <ns13:svgBlip xmlns:ns13="http://schemas.microsoft.com/office/drawing/2016/SVG/main" r:embed="rIdVectormf00807"/>
              </a:ext>
            </a:extLst>
          </a:blip>
          <a:stretch xmlns:a="http://schemas.openxmlformats.org/drawingml/2006/main"/>
        </p:blipFill>
        <p:spPr>
          <a:xfrm xmlns:a="http://schemas.openxmlformats.org/drawingml/2006/main">
            <a:off x="6897531" y="3646170"/>
            <a:ext cx="216213" cy="137160"/>
          </a:xfrm>
          <a:prstGeom xmlns:a="http://schemas.openxmlformats.org/drawingml/2006/main" prst="rect">
            <a:avLst/>
          </a:prstGeom>
        </p:spPr>
      </p:pic>
      <p:pic>
        <p:nvPicPr>
          <p:cNvPr id="105" name="!!qam-term-label1" descr="A_cm_1(t)\cos(4\pi f_ct)"/>
          <p:cNvPicPr>
            <a:picLocks xmlns:a="http://schemas.openxmlformats.org/drawingml/2006/main" noChangeAspect="1"/>
          </p:cNvPicPr>
          <p:nvPr/>
        </p:nvPicPr>
        <p:blipFill>
          <a:blip xmlns:r="http://schemas.openxmlformats.org/officeDocument/2006/relationships" xmlns:a="http://schemas.openxmlformats.org/drawingml/2006/main" r:embed="Rc03124b660fd4857">
            <a:extLst>
              <a:ext uri="{96DAC541-7B7A-43D3-8B79-37D633B846F1}">
                <ns14:svgBlip xmlns:ns14="http://schemas.microsoft.com/office/drawing/2016/SVG/main" r:embed="rIdVectormf00808"/>
              </a:ext>
            </a:extLst>
          </a:blip>
          <a:stretch xmlns:a="http://schemas.openxmlformats.org/drawingml/2006/main"/>
        </p:blipFill>
        <p:spPr>
          <a:xfrm xmlns:a="http://schemas.openxmlformats.org/drawingml/2006/main">
            <a:off x="4572000" y="2620060"/>
            <a:ext cx="2015490" cy="217706"/>
          </a:xfrm>
          <a:prstGeom xmlns:a="http://schemas.openxmlformats.org/drawingml/2006/main" prst="rect">
            <a:avLst/>
          </a:prstGeom>
        </p:spPr>
      </p:pic>
      <p:pic>
        <p:nvPicPr>
          <p:cNvPr id="106" name="!!qam-term2-r0-domain" descr="f"/>
          <p:cNvPicPr>
            <a:picLocks xmlns:a="http://schemas.openxmlformats.org/drawingml/2006/main" noChangeAspect="1"/>
          </p:cNvPicPr>
          <p:nvPr/>
        </p:nvPicPr>
        <p:blipFill>
          <a:blip xmlns:r="http://schemas.openxmlformats.org/officeDocument/2006/relationships" xmlns:a="http://schemas.openxmlformats.org/drawingml/2006/main" r:embed="Rd28c3b7025fd41cb">
            <a:extLst>
              <a:ext uri="{96DAC541-7B7A-43D3-8B79-37D633B846F1}">
                <ns15:svgBlip xmlns:ns15="http://schemas.microsoft.com/office/drawing/2016/SVG/main" r:embed="rIdVectormf00809"/>
              </a:ext>
            </a:extLst>
          </a:blip>
          <a:stretch xmlns:a="http://schemas.openxmlformats.org/drawingml/2006/main"/>
        </p:blipFill>
        <p:spPr>
          <a:xfrm xmlns:a="http://schemas.openxmlformats.org/drawingml/2006/main">
            <a:off x="11375873" y="3311843"/>
            <a:ext cx="79678" cy="120015"/>
          </a:xfrm>
          <a:prstGeom xmlns:a="http://schemas.openxmlformats.org/drawingml/2006/main" prst="rect">
            <a:avLst/>
          </a:prstGeom>
        </p:spPr>
      </p:pic>
      <p:pic>
        <p:nvPicPr>
          <p:cNvPr id="107" name="!!qam-term2-r0-ticklabel0" descr="-2f_c"/>
          <p:cNvPicPr>
            <a:picLocks xmlns:a="http://schemas.openxmlformats.org/drawingml/2006/main" noChangeAspect="1"/>
          </p:cNvPicPr>
          <p:nvPr/>
        </p:nvPicPr>
        <p:blipFill>
          <a:blip xmlns:r="http://schemas.openxmlformats.org/officeDocument/2006/relationships" xmlns:a="http://schemas.openxmlformats.org/drawingml/2006/main" r:embed="R7906a66f4d0d4cb5">
            <a:extLst>
              <a:ext uri="{96DAC541-7B7A-43D3-8B79-37D633B846F1}">
                <ns16:svgBlip xmlns:ns16="http://schemas.microsoft.com/office/drawing/2016/SVG/main" r:embed="rIdVectormf00810"/>
              </a:ext>
            </a:extLst>
          </a:blip>
          <a:stretch xmlns:a="http://schemas.openxmlformats.org/drawingml/2006/main"/>
        </p:blipFill>
        <p:spPr>
          <a:xfrm xmlns:a="http://schemas.openxmlformats.org/drawingml/2006/main">
            <a:off x="8738658" y="3646170"/>
            <a:ext cx="363010" cy="137160"/>
          </a:xfrm>
          <a:prstGeom xmlns:a="http://schemas.openxmlformats.org/drawingml/2006/main" prst="rect">
            <a:avLst/>
          </a:prstGeom>
        </p:spPr>
      </p:pic>
      <p:pic>
        <p:nvPicPr>
          <p:cNvPr id="108" name="!!qam-term2-r0-ticklabel1" descr="0"/>
          <p:cNvPicPr>
            <a:picLocks xmlns:a="http://schemas.openxmlformats.org/drawingml/2006/main" noChangeAspect="1"/>
          </p:cNvPicPr>
          <p:nvPr/>
        </p:nvPicPr>
        <p:blipFill>
          <a:blip xmlns:r="http://schemas.openxmlformats.org/officeDocument/2006/relationships" xmlns:a="http://schemas.openxmlformats.org/drawingml/2006/main" r:embed="Raefb8399a4bf4736">
            <a:extLst>
              <a:ext uri="{96DAC541-7B7A-43D3-8B79-37D633B846F1}">
                <ns17:svgBlip xmlns:ns17="http://schemas.microsoft.com/office/drawing/2016/SVG/main" r:embed="rIdVectormf00811"/>
              </a:ext>
            </a:extLst>
          </a:blip>
          <a:stretch xmlns:a="http://schemas.openxmlformats.org/drawingml/2006/main"/>
        </p:blipFill>
        <p:spPr>
          <a:xfrm xmlns:a="http://schemas.openxmlformats.org/drawingml/2006/main">
            <a:off x="9917175" y="3663315"/>
            <a:ext cx="91951" cy="102870"/>
          </a:xfrm>
          <a:prstGeom xmlns:a="http://schemas.openxmlformats.org/drawingml/2006/main" prst="rect">
            <a:avLst/>
          </a:prstGeom>
        </p:spPr>
      </p:pic>
      <p:pic>
        <p:nvPicPr>
          <p:cNvPr id="109" name="!!qam-term2-r0-ticklabel2" descr="2f_c"/>
          <p:cNvPicPr>
            <a:picLocks xmlns:a="http://schemas.openxmlformats.org/drawingml/2006/main" noChangeAspect="1"/>
          </p:cNvPicPr>
          <p:nvPr/>
        </p:nvPicPr>
        <p:blipFill>
          <a:blip xmlns:r="http://schemas.openxmlformats.org/officeDocument/2006/relationships" xmlns:a="http://schemas.openxmlformats.org/drawingml/2006/main" r:embed="Rde0da5a0bfb248d9">
            <a:extLst>
              <a:ext uri="{96DAC541-7B7A-43D3-8B79-37D633B846F1}">
                <ns18:svgBlip xmlns:ns18="http://schemas.microsoft.com/office/drawing/2016/SVG/main" r:embed="rIdVectormf00812"/>
              </a:ext>
            </a:extLst>
          </a:blip>
          <a:stretch xmlns:a="http://schemas.openxmlformats.org/drawingml/2006/main"/>
        </p:blipFill>
        <p:spPr>
          <a:xfrm xmlns:a="http://schemas.openxmlformats.org/drawingml/2006/main">
            <a:off x="10898031" y="3646170"/>
            <a:ext cx="216213" cy="137160"/>
          </a:xfrm>
          <a:prstGeom xmlns:a="http://schemas.openxmlformats.org/drawingml/2006/main" prst="rect">
            <a:avLst/>
          </a:prstGeom>
        </p:spPr>
      </p:pic>
      <p:pic>
        <p:nvPicPr>
          <p:cNvPr id="110" name="!!qam-term-label2" descr="A_cm_2(t)\sin(4\pi f_ct)"/>
          <p:cNvPicPr>
            <a:picLocks xmlns:a="http://schemas.openxmlformats.org/drawingml/2006/main" noChangeAspect="1"/>
          </p:cNvPicPr>
          <p:nvPr/>
        </p:nvPicPr>
        <p:blipFill>
          <a:blip xmlns:r="http://schemas.openxmlformats.org/officeDocument/2006/relationships" xmlns:a="http://schemas.openxmlformats.org/drawingml/2006/main" r:embed="Rce2a03b1f8524593">
            <a:extLst>
              <a:ext uri="{96DAC541-7B7A-43D3-8B79-37D633B846F1}">
                <ns19:svgBlip xmlns:ns19="http://schemas.microsoft.com/office/drawing/2016/SVG/main" r:embed="rIdVectormf00813"/>
              </a:ext>
            </a:extLst>
          </a:blip>
          <a:stretch xmlns:a="http://schemas.openxmlformats.org/drawingml/2006/main"/>
        </p:blipFill>
        <p:spPr>
          <a:xfrm xmlns:a="http://schemas.openxmlformats.org/drawingml/2006/main">
            <a:off x="8572500" y="2619375"/>
            <a:ext cx="1993582" cy="219075"/>
          </a:xfrm>
          <a:prstGeom xmlns:a="http://schemas.openxmlformats.org/drawingml/2006/main" prst="rect">
            <a:avLst/>
          </a:prstGeom>
        </p:spPr>
      </p:pic>
      <p:pic>
        <p:nvPicPr>
          <p:cNvPr id="111" name="!!qam-dense-equation-0" descr="\textstyle u_1(t)=A_cm_1(t)+A_cm_1(t)\cos(4\pi f_ct)+A_cm_2(t)\sin(4\pi f_ct)"/>
          <p:cNvPicPr>
            <a:picLocks xmlns:a="http://schemas.openxmlformats.org/drawingml/2006/main" noChangeAspect="1"/>
          </p:cNvPicPr>
          <p:nvPr/>
        </p:nvPicPr>
        <p:blipFill>
          <a:blip xmlns:r="http://schemas.openxmlformats.org/officeDocument/2006/relationships" xmlns:a="http://schemas.openxmlformats.org/drawingml/2006/main" r:embed="R6f6d031ee2ff46b9">
            <a:extLst>
              <a:ext uri="{96DAC541-7B7A-43D3-8B79-37D633B846F1}">
                <ns20:svgBlip xmlns:ns20="http://schemas.microsoft.com/office/drawing/2016/SVG/main" r:embed="rIdVectormf00814"/>
              </a:ext>
            </a:extLst>
          </a:blip>
          <a:stretch xmlns:a="http://schemas.openxmlformats.org/drawingml/2006/main"/>
        </p:blipFill>
        <p:spPr>
          <a:xfrm xmlns:a="http://schemas.openxmlformats.org/drawingml/2006/main">
            <a:off x="609600" y="4815661"/>
            <a:ext cx="7231380" cy="246102"/>
          </a:xfrm>
          <a:prstGeom xmlns:a="http://schemas.openxmlformats.org/drawingml/2006/main" prst="rect">
            <a:avLst/>
          </a:prstGeom>
        </p:spPr>
      </p:pic>
      <p:pic>
        <p:nvPicPr>
          <p:cNvPr id="112" name="!!qam-dense-equation-1" descr="\textstyle 2f_c-W&gt;W\quad\Rightarrow\quad\text{both shifted terms lie outside the LPF}"/>
          <p:cNvPicPr>
            <a:picLocks xmlns:a="http://schemas.openxmlformats.org/drawingml/2006/main" noChangeAspect="1"/>
          </p:cNvPicPr>
          <p:nvPr/>
        </p:nvPicPr>
        <p:blipFill>
          <a:blip xmlns:r="http://schemas.openxmlformats.org/officeDocument/2006/relationships" xmlns:a="http://schemas.openxmlformats.org/drawingml/2006/main" r:embed="Rbec1f6982d434af0">
            <a:extLst>
              <a:ext uri="{96DAC541-7B7A-43D3-8B79-37D633B846F1}">
                <ns21:svgBlip xmlns:ns21="http://schemas.microsoft.com/office/drawing/2016/SVG/main" r:embed="rIdVectormf00815"/>
              </a:ext>
            </a:extLst>
          </a:blip>
          <a:stretch xmlns:a="http://schemas.openxmlformats.org/drawingml/2006/main"/>
        </p:blipFill>
        <p:spPr>
          <a:xfrm xmlns:a="http://schemas.openxmlformats.org/drawingml/2006/main">
            <a:off x="803501" y="5277803"/>
            <a:ext cx="7091228" cy="198120"/>
          </a:xfrm>
          <a:prstGeom xmlns:a="http://schemas.openxmlformats.org/drawingml/2006/main" prst="rect">
            <a:avLst/>
          </a:prstGeom>
        </p:spPr>
      </p:pic>
      <p:pic>
        <p:nvPicPr>
          <p:cNvPr id="113" name="!!qam-dense-equation-2" descr="\textstyle v_1(t)=\mathrm{LPF}\{u_1(t)\}=A_cm_1(t)+0+0"/>
          <p:cNvPicPr>
            <a:picLocks xmlns:a="http://schemas.openxmlformats.org/drawingml/2006/main" noChangeAspect="1"/>
          </p:cNvPicPr>
          <p:nvPr/>
        </p:nvPicPr>
        <p:blipFill>
          <a:blip xmlns:r="http://schemas.openxmlformats.org/officeDocument/2006/relationships" xmlns:a="http://schemas.openxmlformats.org/drawingml/2006/main" r:embed="Rb8a3efae0eb146f1">
            <a:extLst>
              <a:ext uri="{96DAC541-7B7A-43D3-8B79-37D633B846F1}">
                <ns22:svgBlip xmlns:ns22="http://schemas.microsoft.com/office/drawing/2016/SVG/main" r:embed="rIdVectormf00816"/>
              </a:ext>
            </a:extLst>
          </a:blip>
          <a:stretch xmlns:a="http://schemas.openxmlformats.org/drawingml/2006/main"/>
        </p:blipFill>
        <p:spPr>
          <a:xfrm xmlns:a="http://schemas.openxmlformats.org/drawingml/2006/main">
            <a:off x="609600" y="5691188"/>
            <a:ext cx="4804410" cy="247650"/>
          </a:xfrm>
          <a:prstGeom xmlns:a="http://schemas.openxmlformats.org/drawingml/2006/main" prst="rect">
            <a:avLst/>
          </a:prstGeom>
        </p:spPr>
      </p:pic>
      <p:pic>
        <p:nvPicPr>
          <p:cNvPr id="114" name="!!qam-dense-equation-3" descr="\textstyle m_1(t)=v_1(t)/A_c"/>
          <p:cNvPicPr>
            <a:picLocks xmlns:a="http://schemas.openxmlformats.org/drawingml/2006/main" noChangeAspect="1"/>
          </p:cNvPicPr>
          <p:nvPr/>
        </p:nvPicPr>
        <p:blipFill>
          <a:blip xmlns:r="http://schemas.openxmlformats.org/officeDocument/2006/relationships" xmlns:a="http://schemas.openxmlformats.org/drawingml/2006/main" r:embed="Rd3bb05be4cea437c">
            <a:extLst>
              <a:ext uri="{96DAC541-7B7A-43D3-8B79-37D633B846F1}">
                <ns23:svgBlip xmlns:ns23="http://schemas.microsoft.com/office/drawing/2016/SVG/main" r:embed="rIdVectormf00817"/>
              </a:ext>
            </a:extLst>
          </a:blip>
          <a:stretch xmlns:a="http://schemas.openxmlformats.org/drawingml/2006/main"/>
        </p:blipFill>
        <p:spPr>
          <a:xfrm xmlns:a="http://schemas.openxmlformats.org/drawingml/2006/main">
            <a:off x="609600" y="6130111"/>
            <a:ext cx="2129790" cy="246102"/>
          </a:xfrm>
          <a:prstGeom xmlns:a="http://schemas.openxmlformats.org/drawingml/2006/main" prst="rect">
            <a:avLst/>
          </a:prstGeom>
        </p:spPr>
      </p:pic>
    </p:spTree>
    <p:extLst>
      <p:ext uri="{BB962C8B-B14F-4D97-AF65-F5344CB8AC3E}">
        <p14:creationId xmlns:p14="http://schemas.microsoft.com/office/powerpoint/2010/main" val="129068367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400"/>
                                        <p:tgtEl>
                                          <p:spTgt spid="32"/>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par>
                                <p:cTn id="23" presetID="10" presetClass="entr" presetSubtype="0" fill="hold" nodeType="withEffect">
                                  <p:stCondLst>
                                    <p:cond delay="0"/>
                                  </p:stCondLst>
                                  <p:childTnLst>
                                    <p:set>
                                      <p:cBhvr>
                                        <p:cTn id="24" dur="1" fill="hold">
                                          <p:stCondLst>
                                            <p:cond delay="0"/>
                                          </p:stCondLst>
                                        </p:cTn>
                                        <p:tgtEl>
                                          <p:spTgt spid="112"/>
                                        </p:tgtEl>
                                        <p:attrNameLst>
                                          <p:attrName>style.visibility</p:attrName>
                                        </p:attrNameLst>
                                      </p:cBhvr>
                                      <p:to>
                                        <p:strVal val="visible"/>
                                      </p:to>
                                    </p:set>
                                    <p:animEffect transition="in" filter="fade">
                                      <p:cBhvr>
                                        <p:cTn id="25" dur="400"/>
                                        <p:tgtEl>
                                          <p:spTgt spid="1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3"/>
                                        </p:tgtEl>
                                        <p:attrNameLst>
                                          <p:attrName>style.visibility</p:attrName>
                                        </p:attrNameLst>
                                      </p:cBhvr>
                                      <p:to>
                                        <p:strVal val="visible"/>
                                      </p:to>
                                    </p:set>
                                    <p:animEffect transition="in" filter="fade">
                                      <p:cBhvr>
                                        <p:cTn id="30" dur="400"/>
                                        <p:tgtEl>
                                          <p:spTgt spid="113"/>
                                        </p:tgtEl>
                                      </p:cBhvr>
                                    </p:animEffect>
                                  </p:childTnLst>
                                </p:cTn>
                              </p:par>
                              <p:par>
                                <p:cTn id="31" presetID="10" presetClass="entr" presetSubtype="0" fill="hold" nodeType="withEffect">
                                  <p:stCondLst>
                                    <p:cond delay="0"/>
                                  </p:stCondLst>
                                  <p:childTnLst>
                                    <p:set>
                                      <p:cBhvr>
                                        <p:cTn id="32" dur="1" fill="hold">
                                          <p:stCondLst>
                                            <p:cond delay="0"/>
                                          </p:stCondLst>
                                        </p:cTn>
                                        <p:tgtEl>
                                          <p:spTgt spid="114"/>
                                        </p:tgtEl>
                                        <p:attrNameLst>
                                          <p:attrName>style.visibility</p:attrName>
                                        </p:attrNameLst>
                                      </p:cBhvr>
                                      <p:to>
                                        <p:strVal val="visible"/>
                                      </p:to>
                                    </p:set>
                                    <p:animEffect transition="in" filter="fade">
                                      <p:cBhvr>
                                        <p:cTn id="33" dur="4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4" grpId="0" animBg="1"/>
      <p:bldP spid="33" grpId="0" animBg="1"/>
    </p:bldLst>
  </p:timing>
</p:sld>
</file>

<file path=ppt/slides/methods_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qam-title">
            <ns0:hlinkClick xmlns:ns0="http://schemas.openxmlformats.org/drawingml/2006/main" xmlns:ns1="http://schemas.openxmlformats.org/officeDocument/2006/relationships" ns1:id="rIdmethods_Link178" action="ppaction://hlinksldjump"/>
            <a:extLst xmlns:a="http://schemas.openxmlformats.org/drawingml/2006/main">
              <a:ext uri="{FF2B5EF4-FFF2-40B4-BE49-F238E27FC236}">
                <a16:creationId xmlns:a16="http://schemas.microsoft.com/office/drawing/2014/main" id="{3294F971-54DE-485B-881A-14BC15FA6781}"/>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78" action="ppaction://hlinksldjump"/>
              </a:rPr>
              <a:t>QAM</a:t>
            </a:r>
          </a:p>
        </p:txBody>
      </p:sp>
      <p:sp>
        <p:nvSpPr>
          <p:cNvPr id="2" name="!!qam-route-tx-line">
            <a:extLst xmlns:a="http://schemas.openxmlformats.org/drawingml/2006/main">
              <a:ext uri="{FF2B5EF4-FFF2-40B4-BE49-F238E27FC236}">
                <a16:creationId xmlns:a16="http://schemas.microsoft.com/office/drawing/2014/main" id="{6F7F4DD3-B6D4-45C9-83BE-9705081E122A}"/>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qam-route-tx-head">
            <a:extLst xmlns:a="http://schemas.openxmlformats.org/drawingml/2006/main">
              <a:ext uri="{FF2B5EF4-FFF2-40B4-BE49-F238E27FC236}">
                <a16:creationId xmlns:a16="http://schemas.microsoft.com/office/drawing/2014/main" id="{0CA2DF73-CF62-4D1F-A3D3-56FD0267A769}"/>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qam-route-rx-line">
            <a:extLst xmlns:a="http://schemas.openxmlformats.org/drawingml/2006/main">
              <a:ext uri="{FF2B5EF4-FFF2-40B4-BE49-F238E27FC236}">
                <a16:creationId xmlns:a16="http://schemas.microsoft.com/office/drawing/2014/main" id="{D148CEC4-C96B-444B-92FA-AE08FACCB375}"/>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qam-route-rx-head">
            <a:extLst xmlns:a="http://schemas.openxmlformats.org/drawingml/2006/main">
              <a:ext uri="{FF2B5EF4-FFF2-40B4-BE49-F238E27FC236}">
                <a16:creationId xmlns:a16="http://schemas.microsoft.com/office/drawing/2014/main" id="{BDB9BD7B-35A0-4732-ABD1-55938C337F13}"/>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qam-question">
            <a:extLst xmlns:a="http://schemas.openxmlformats.org/drawingml/2006/main">
              <a:ext uri="{FF2B5EF4-FFF2-40B4-BE49-F238E27FC236}">
                <a16:creationId xmlns:a16="http://schemas.microsoft.com/office/drawing/2014/main" id="{B29213C1-45A6-401D-8DF4-D11573E654C5}"/>
              </a:ext>
            </a:extLst>
          </p:cNvPr>
          <p:cNvSpPr>
            <a:spLocks xmlns:a="http://schemas.openxmlformats.org/drawingml/2006/main" noGrp="1"/>
          </p:cNvSpPr>
          <p:nvPr/>
        </p:nvSpPr>
        <p:spPr>
          <a:xfrm xmlns:a="http://schemas.openxmlformats.org/drawingml/2006/main">
            <a:off x="666750" y="14287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Recover the other message.</a:t>
            </a:r>
          </a:p>
        </p:txBody>
      </p:sp>
      <p:sp>
        <p:nvSpPr>
          <p:cNvPr id="7" name="!!qam-persistent-task">
            <a:extLst xmlns:a="http://schemas.openxmlformats.org/drawingml/2006/main">
              <a:ext uri="{FF2B5EF4-FFF2-40B4-BE49-F238E27FC236}">
                <a16:creationId xmlns:a16="http://schemas.microsoft.com/office/drawing/2014/main" id="{3FB078E1-4C28-4CC4-A9F6-9FE6B89229AB}"/>
              </a:ext>
            </a:extLst>
          </p:cNvPr>
          <p:cNvSpPr>
            <a:spLocks xmlns:a="http://schemas.openxmlformats.org/drawingml/2006/main" noGrp="1"/>
          </p:cNvSpPr>
          <p:nvPr/>
        </p:nvSpPr>
        <p:spPr>
          <a:xfrm xmlns:a="http://schemas.openxmlformats.org/drawingml/2006/main">
            <a:off x="666750" y="18859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Calculate: the mixing signal, u2, v2, and the recovered message.</a:t>
            </a:r>
          </a:p>
        </p:txBody>
      </p:sp>
      <p:sp>
        <p:nvSpPr>
          <p:cNvPr id="8" name="!!qam-top-mult">
            <a:extLst xmlns:a="http://schemas.openxmlformats.org/drawingml/2006/main">
              <a:ext uri="{FF2B5EF4-FFF2-40B4-BE49-F238E27FC236}">
                <a16:creationId xmlns:a16="http://schemas.microsoft.com/office/drawing/2014/main" id="{E44209D2-9BA5-4B24-B097-5D60AAE3A90A}"/>
              </a:ext>
            </a:extLst>
          </p:cNvPr>
          <p:cNvSpPr>
            <a:spLocks xmlns:a="http://schemas.openxmlformats.org/drawingml/2006/main" noGrp="1"/>
          </p:cNvSpPr>
          <p:nvPr/>
        </p:nvSpPr>
        <p:spPr>
          <a:xfrm xmlns:a="http://schemas.openxmlformats.org/drawingml/2006/main">
            <a:off x="2762250" y="2667000"/>
            <a:ext cx="2524125" cy="609600"/>
          </a:xfrm>
          <a:prstGeom xmlns:a="http://schemas.openxmlformats.org/drawingml/2006/main" prst="rect">
            <a:avLst/>
          </a:prstGeom>
          <a:noFill xmlns:a="http://schemas.openxmlformats.org/drawingml/2006/main"/>
          <a:ln xmlns:a="http://schemas.openxmlformats.org/drawingml/2006/main" w="12383">
            <a:solidFill>
              <a:srgbClr val="555555"/>
            </a:solidFill>
          </a:ln>
        </p:spPr>
      </p:sp>
      <p:sp>
        <p:nvSpPr>
          <p:cNvPr id="9" name="!!qam-top-to-filter-line">
            <a:extLst xmlns:a="http://schemas.openxmlformats.org/drawingml/2006/main">
              <a:ext uri="{FF2B5EF4-FFF2-40B4-BE49-F238E27FC236}">
                <a16:creationId xmlns:a16="http://schemas.microsoft.com/office/drawing/2014/main" id="{559B7272-E5FA-46D7-912F-85F2ACDABCA4}"/>
              </a:ext>
            </a:extLst>
          </p:cNvPr>
          <p:cNvSpPr>
            <a:spLocks xmlns:a="http://schemas.openxmlformats.org/drawingml/2006/main" noGrp="1"/>
          </p:cNvSpPr>
          <p:nvPr/>
        </p:nvSpPr>
        <p:spPr>
          <a:xfrm xmlns:a="http://schemas.openxmlformats.org/drawingml/2006/main">
            <a:off x="5286375" y="2971800"/>
            <a:ext cx="52387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qam-top-to-filter-head">
            <a:extLst xmlns:a="http://schemas.openxmlformats.org/drawingml/2006/main">
              <a:ext uri="{FF2B5EF4-FFF2-40B4-BE49-F238E27FC236}">
                <a16:creationId xmlns:a16="http://schemas.microsoft.com/office/drawing/2014/main" id="{E3EAAFBB-B33C-4CE0-979C-239DE6A6B725}"/>
              </a:ext>
            </a:extLst>
          </p:cNvPr>
          <p:cNvSpPr>
            <a:spLocks xmlns:a="http://schemas.openxmlformats.org/drawingml/2006/main" noGrp="1"/>
          </p:cNvSpPr>
          <p:nvPr/>
        </p:nvSpPr>
        <p:spPr>
          <a:xfrm xmlns:a="http://schemas.openxmlformats.org/drawingml/2006/main" rot="5400000">
            <a:off x="5791200" y="2924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qam-top-filter">
            <a:extLst xmlns:a="http://schemas.openxmlformats.org/drawingml/2006/main">
              <a:ext uri="{FF2B5EF4-FFF2-40B4-BE49-F238E27FC236}">
                <a16:creationId xmlns:a16="http://schemas.microsoft.com/office/drawing/2014/main" id="{2621830E-3FA9-4AA1-B1DE-F05B2079CAE8}"/>
              </a:ext>
            </a:extLst>
          </p:cNvPr>
          <p:cNvSpPr>
            <a:spLocks xmlns:a="http://schemas.openxmlformats.org/drawingml/2006/main" noGrp="1"/>
          </p:cNvSpPr>
          <p:nvPr/>
        </p:nvSpPr>
        <p:spPr>
          <a:xfrm xmlns:a="http://schemas.openxmlformats.org/drawingml/2006/main">
            <a:off x="5905500" y="2667000"/>
            <a:ext cx="857250" cy="609600"/>
          </a:xfrm>
          <a:prstGeom xmlns:a="http://schemas.openxmlformats.org/drawingml/2006/main" prst="rect">
            <a:avLst/>
          </a:prstGeom>
          <a:noFill xmlns:a="http://schemas.openxmlformats.org/drawingml/2006/main"/>
          <a:ln xmlns:a="http://schemas.openxmlformats.org/drawingml/2006/main" w="12383">
            <a:solidFill>
              <a:srgbClr val="555555"/>
            </a:solidFill>
          </a:ln>
        </p:spPr>
      </p:sp>
      <p:sp>
        <p:nvSpPr>
          <p:cNvPr id="12" name="!!qam-top-lpf">
            <a:extLst xmlns:a="http://schemas.openxmlformats.org/drawingml/2006/main">
              <a:ext uri="{FF2B5EF4-FFF2-40B4-BE49-F238E27FC236}">
                <a16:creationId xmlns:a16="http://schemas.microsoft.com/office/drawing/2014/main" id="{3DDC74D7-734E-49EA-8299-70D41E95AE71}"/>
              </a:ext>
            </a:extLst>
          </p:cNvPr>
          <p:cNvSpPr>
            <a:spLocks xmlns:a="http://schemas.openxmlformats.org/drawingml/2006/main" noGrp="1"/>
          </p:cNvSpPr>
          <p:nvPr/>
        </p:nvSpPr>
        <p:spPr>
          <a:xfrm xmlns:a="http://schemas.openxmlformats.org/drawingml/2006/main">
            <a:off x="5943600" y="2762250"/>
            <a:ext cx="781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LPF</a:t>
            </a:r>
          </a:p>
        </p:txBody>
      </p:sp>
      <p:sp>
        <p:nvSpPr>
          <p:cNvPr id="13" name="!!qam-top-output-arrow-line">
            <a:extLst xmlns:a="http://schemas.openxmlformats.org/drawingml/2006/main">
              <a:ext uri="{FF2B5EF4-FFF2-40B4-BE49-F238E27FC236}">
                <a16:creationId xmlns:a16="http://schemas.microsoft.com/office/drawing/2014/main" id="{C7BD4443-9C31-407D-BE97-4EF3509C5DB2}"/>
              </a:ext>
            </a:extLst>
          </p:cNvPr>
          <p:cNvSpPr>
            <a:spLocks xmlns:a="http://schemas.openxmlformats.org/drawingml/2006/main" noGrp="1"/>
          </p:cNvSpPr>
          <p:nvPr/>
        </p:nvSpPr>
        <p:spPr>
          <a:xfrm xmlns:a="http://schemas.openxmlformats.org/drawingml/2006/main">
            <a:off x="6762750" y="2971800"/>
            <a:ext cx="3810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qam-top-output-arrow-head">
            <a:extLst xmlns:a="http://schemas.openxmlformats.org/drawingml/2006/main">
              <a:ext uri="{FF2B5EF4-FFF2-40B4-BE49-F238E27FC236}">
                <a16:creationId xmlns:a16="http://schemas.microsoft.com/office/drawing/2014/main" id="{91E2603E-EC61-44BB-A1C0-AD46C7A0A199}"/>
              </a:ext>
            </a:extLst>
          </p:cNvPr>
          <p:cNvSpPr>
            <a:spLocks xmlns:a="http://schemas.openxmlformats.org/drawingml/2006/main" noGrp="1"/>
          </p:cNvSpPr>
          <p:nvPr/>
        </p:nvSpPr>
        <p:spPr>
          <a:xfrm xmlns:a="http://schemas.openxmlformats.org/drawingml/2006/main" rot="5400000">
            <a:off x="7124700" y="2924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qam-top-normalize-line">
            <a:extLst xmlns:a="http://schemas.openxmlformats.org/drawingml/2006/main">
              <a:ext uri="{FF2B5EF4-FFF2-40B4-BE49-F238E27FC236}">
                <a16:creationId xmlns:a16="http://schemas.microsoft.com/office/drawing/2014/main" id="{51E635AB-3B86-4A31-A888-B6A6F4804E4A}"/>
              </a:ext>
            </a:extLst>
          </p:cNvPr>
          <p:cNvSpPr>
            <a:spLocks xmlns:a="http://schemas.openxmlformats.org/drawingml/2006/main" noGrp="1"/>
          </p:cNvSpPr>
          <p:nvPr/>
        </p:nvSpPr>
        <p:spPr>
          <a:xfrm xmlns:a="http://schemas.openxmlformats.org/drawingml/2006/main">
            <a:off x="9220200" y="2971800"/>
            <a:ext cx="4762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6" name="!!qam-top-normalize-head">
            <a:extLst xmlns:a="http://schemas.openxmlformats.org/drawingml/2006/main">
              <a:ext uri="{FF2B5EF4-FFF2-40B4-BE49-F238E27FC236}">
                <a16:creationId xmlns:a16="http://schemas.microsoft.com/office/drawing/2014/main" id="{6D24B081-8D19-4E20-949E-EEA9DBEE450D}"/>
              </a:ext>
            </a:extLst>
          </p:cNvPr>
          <p:cNvSpPr>
            <a:spLocks xmlns:a="http://schemas.openxmlformats.org/drawingml/2006/main" noGrp="1"/>
          </p:cNvSpPr>
          <p:nvPr/>
        </p:nvSpPr>
        <p:spPr>
          <a:xfrm xmlns:a="http://schemas.openxmlformats.org/drawingml/2006/main" rot="5400000">
            <a:off x="9677400" y="2924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7" name="!!qam-bottom-mult">
            <a:extLst xmlns:a="http://schemas.openxmlformats.org/drawingml/2006/main">
              <a:ext uri="{FF2B5EF4-FFF2-40B4-BE49-F238E27FC236}">
                <a16:creationId xmlns:a16="http://schemas.microsoft.com/office/drawing/2014/main" id="{64FDCFDA-B34D-41F5-AEF9-CCE2F1657FCF}"/>
              </a:ext>
            </a:extLst>
          </p:cNvPr>
          <p:cNvSpPr>
            <a:spLocks xmlns:a="http://schemas.openxmlformats.org/drawingml/2006/main" noGrp="1"/>
          </p:cNvSpPr>
          <p:nvPr/>
        </p:nvSpPr>
        <p:spPr>
          <a:xfrm xmlns:a="http://schemas.openxmlformats.org/drawingml/2006/main">
            <a:off x="2762250" y="3924300"/>
            <a:ext cx="2524125" cy="609600"/>
          </a:xfrm>
          <a:prstGeom xmlns:a="http://schemas.openxmlformats.org/drawingml/2006/main" prst="rect">
            <a:avLst/>
          </a:prstGeom>
          <a:noFill xmlns:a="http://schemas.openxmlformats.org/drawingml/2006/main"/>
          <a:ln xmlns:a="http://schemas.openxmlformats.org/drawingml/2006/main" w="12383">
            <a:solidFill>
              <a:srgbClr val="555555"/>
            </a:solidFill>
          </a:ln>
        </p:spPr>
      </p:sp>
      <p:sp>
        <p:nvSpPr>
          <p:cNvPr id="18" name="!!qam-bottom-to-filter-line">
            <a:extLst xmlns:a="http://schemas.openxmlformats.org/drawingml/2006/main">
              <a:ext uri="{FF2B5EF4-FFF2-40B4-BE49-F238E27FC236}">
                <a16:creationId xmlns:a16="http://schemas.microsoft.com/office/drawing/2014/main" id="{CAE4893F-638B-4C74-916F-5C01F5215782}"/>
              </a:ext>
            </a:extLst>
          </p:cNvPr>
          <p:cNvSpPr>
            <a:spLocks xmlns:a="http://schemas.openxmlformats.org/drawingml/2006/main" noGrp="1"/>
          </p:cNvSpPr>
          <p:nvPr/>
        </p:nvSpPr>
        <p:spPr>
          <a:xfrm xmlns:a="http://schemas.openxmlformats.org/drawingml/2006/main">
            <a:off x="5286375" y="4229100"/>
            <a:ext cx="52387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qam-bottom-to-filter-head">
            <a:extLst xmlns:a="http://schemas.openxmlformats.org/drawingml/2006/main">
              <a:ext uri="{FF2B5EF4-FFF2-40B4-BE49-F238E27FC236}">
                <a16:creationId xmlns:a16="http://schemas.microsoft.com/office/drawing/2014/main" id="{F3412CBE-9D95-463A-B1DA-9AD1BAB77896}"/>
              </a:ext>
            </a:extLst>
          </p:cNvPr>
          <p:cNvSpPr>
            <a:spLocks xmlns:a="http://schemas.openxmlformats.org/drawingml/2006/main" noGrp="1"/>
          </p:cNvSpPr>
          <p:nvPr/>
        </p:nvSpPr>
        <p:spPr>
          <a:xfrm xmlns:a="http://schemas.openxmlformats.org/drawingml/2006/main" rot="5400000">
            <a:off x="5791200" y="4181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0" name="!!qam-bottom-filter">
            <a:extLst xmlns:a="http://schemas.openxmlformats.org/drawingml/2006/main">
              <a:ext uri="{FF2B5EF4-FFF2-40B4-BE49-F238E27FC236}">
                <a16:creationId xmlns:a16="http://schemas.microsoft.com/office/drawing/2014/main" id="{E03E5935-6496-43E5-828C-ADC48C2FC1F5}"/>
              </a:ext>
            </a:extLst>
          </p:cNvPr>
          <p:cNvSpPr>
            <a:spLocks xmlns:a="http://schemas.openxmlformats.org/drawingml/2006/main" noGrp="1"/>
          </p:cNvSpPr>
          <p:nvPr/>
        </p:nvSpPr>
        <p:spPr>
          <a:xfrm xmlns:a="http://schemas.openxmlformats.org/drawingml/2006/main">
            <a:off x="5905500" y="3924300"/>
            <a:ext cx="857250" cy="609600"/>
          </a:xfrm>
          <a:prstGeom xmlns:a="http://schemas.openxmlformats.org/drawingml/2006/main" prst="rect">
            <a:avLst/>
          </a:prstGeom>
          <a:noFill xmlns:a="http://schemas.openxmlformats.org/drawingml/2006/main"/>
          <a:ln xmlns:a="http://schemas.openxmlformats.org/drawingml/2006/main" w="12383">
            <a:solidFill>
              <a:srgbClr val="555555"/>
            </a:solidFill>
          </a:ln>
        </p:spPr>
      </p:sp>
      <p:sp>
        <p:nvSpPr>
          <p:cNvPr id="21" name="!!qam-bottom-lpf">
            <a:extLst xmlns:a="http://schemas.openxmlformats.org/drawingml/2006/main">
              <a:ext uri="{FF2B5EF4-FFF2-40B4-BE49-F238E27FC236}">
                <a16:creationId xmlns:a16="http://schemas.microsoft.com/office/drawing/2014/main" id="{33AE780C-8F58-486E-8EA5-B323985080EA}"/>
              </a:ext>
            </a:extLst>
          </p:cNvPr>
          <p:cNvSpPr>
            <a:spLocks xmlns:a="http://schemas.openxmlformats.org/drawingml/2006/main" noGrp="1"/>
          </p:cNvSpPr>
          <p:nvPr/>
        </p:nvSpPr>
        <p:spPr>
          <a:xfrm xmlns:a="http://schemas.openxmlformats.org/drawingml/2006/main">
            <a:off x="5943600" y="4019550"/>
            <a:ext cx="781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LPF</a:t>
            </a:r>
          </a:p>
        </p:txBody>
      </p:sp>
      <p:sp>
        <p:nvSpPr>
          <p:cNvPr id="22" name="!!qam-bottom-output-arrow-line">
            <a:extLst xmlns:a="http://schemas.openxmlformats.org/drawingml/2006/main">
              <a:ext uri="{FF2B5EF4-FFF2-40B4-BE49-F238E27FC236}">
                <a16:creationId xmlns:a16="http://schemas.microsoft.com/office/drawing/2014/main" id="{EB5463F2-F69E-4C1C-ADF2-3D8BB69CE04B}"/>
              </a:ext>
            </a:extLst>
          </p:cNvPr>
          <p:cNvSpPr>
            <a:spLocks xmlns:a="http://schemas.openxmlformats.org/drawingml/2006/main" noGrp="1"/>
          </p:cNvSpPr>
          <p:nvPr/>
        </p:nvSpPr>
        <p:spPr>
          <a:xfrm xmlns:a="http://schemas.openxmlformats.org/drawingml/2006/main">
            <a:off x="6762750" y="4229100"/>
            <a:ext cx="3810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3" name="!!qam-bottom-output-arrow-head">
            <a:extLst xmlns:a="http://schemas.openxmlformats.org/drawingml/2006/main">
              <a:ext uri="{FF2B5EF4-FFF2-40B4-BE49-F238E27FC236}">
                <a16:creationId xmlns:a16="http://schemas.microsoft.com/office/drawing/2014/main" id="{2D9BD4DA-5BE7-499C-A42E-C3BBE4044554}"/>
              </a:ext>
            </a:extLst>
          </p:cNvPr>
          <p:cNvSpPr>
            <a:spLocks xmlns:a="http://schemas.openxmlformats.org/drawingml/2006/main" noGrp="1"/>
          </p:cNvSpPr>
          <p:nvPr/>
        </p:nvSpPr>
        <p:spPr>
          <a:xfrm xmlns:a="http://schemas.openxmlformats.org/drawingml/2006/main" rot="5400000">
            <a:off x="7124700" y="4181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4" name="!!qam-split">
            <a:extLst xmlns:a="http://schemas.openxmlformats.org/drawingml/2006/main">
              <a:ext uri="{FF2B5EF4-FFF2-40B4-BE49-F238E27FC236}">
                <a16:creationId xmlns:a16="http://schemas.microsoft.com/office/drawing/2014/main" id="{26BE72C5-83AB-4302-9774-8A3979DB8E53}"/>
              </a:ext>
            </a:extLst>
          </p:cNvPr>
          <p:cNvSpPr>
            <a:spLocks xmlns:a="http://schemas.openxmlformats.org/drawingml/2006/main" noGrp="1"/>
          </p:cNvSpPr>
          <p:nvPr/>
        </p:nvSpPr>
        <p:spPr>
          <a:xfrm xmlns:a="http://schemas.openxmlformats.org/drawingml/2006/main">
            <a:off x="2190750" y="2962275"/>
            <a:ext cx="19050" cy="1285875"/>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5" name="!!qam-input-arrow-line">
            <a:extLst xmlns:a="http://schemas.openxmlformats.org/drawingml/2006/main">
              <a:ext uri="{FF2B5EF4-FFF2-40B4-BE49-F238E27FC236}">
                <a16:creationId xmlns:a16="http://schemas.microsoft.com/office/drawing/2014/main" id="{4FA718F0-A558-448E-BBED-72D405C6047D}"/>
              </a:ext>
            </a:extLst>
          </p:cNvPr>
          <p:cNvSpPr>
            <a:spLocks xmlns:a="http://schemas.openxmlformats.org/drawingml/2006/main" noGrp="1"/>
          </p:cNvSpPr>
          <p:nvPr/>
        </p:nvSpPr>
        <p:spPr>
          <a:xfrm xmlns:a="http://schemas.openxmlformats.org/drawingml/2006/main">
            <a:off x="1800225" y="3400425"/>
            <a:ext cx="31432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6" name="!!qam-input-arrow-head">
            <a:extLst xmlns:a="http://schemas.openxmlformats.org/drawingml/2006/main">
              <a:ext uri="{FF2B5EF4-FFF2-40B4-BE49-F238E27FC236}">
                <a16:creationId xmlns:a16="http://schemas.microsoft.com/office/drawing/2014/main" id="{FD79357C-CF90-4DD5-9DAE-CF70A03808C1}"/>
              </a:ext>
            </a:extLst>
          </p:cNvPr>
          <p:cNvSpPr>
            <a:spLocks xmlns:a="http://schemas.openxmlformats.org/drawingml/2006/main" noGrp="1"/>
          </p:cNvSpPr>
          <p:nvPr/>
        </p:nvSpPr>
        <p:spPr>
          <a:xfrm xmlns:a="http://schemas.openxmlformats.org/drawingml/2006/main" rot="5400000">
            <a:off x="2095500" y="33528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7" name="!!qam-upper-arrow-line">
            <a:extLst xmlns:a="http://schemas.openxmlformats.org/drawingml/2006/main">
              <a:ext uri="{FF2B5EF4-FFF2-40B4-BE49-F238E27FC236}">
                <a16:creationId xmlns:a16="http://schemas.microsoft.com/office/drawing/2014/main" id="{D7FCF600-2ECD-4E6B-8E5D-6B65C5180DA4}"/>
              </a:ext>
            </a:extLst>
          </p:cNvPr>
          <p:cNvSpPr>
            <a:spLocks xmlns:a="http://schemas.openxmlformats.org/drawingml/2006/main" noGrp="1"/>
          </p:cNvSpPr>
          <p:nvPr/>
        </p:nvSpPr>
        <p:spPr>
          <a:xfrm xmlns:a="http://schemas.openxmlformats.org/drawingml/2006/main">
            <a:off x="2200275" y="2962275"/>
            <a:ext cx="4762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8" name="!!qam-upper-arrow-head">
            <a:extLst xmlns:a="http://schemas.openxmlformats.org/drawingml/2006/main">
              <a:ext uri="{FF2B5EF4-FFF2-40B4-BE49-F238E27FC236}">
                <a16:creationId xmlns:a16="http://schemas.microsoft.com/office/drawing/2014/main" id="{C92BCE8E-0721-43F6-B43E-F4B9774D42F3}"/>
              </a:ext>
            </a:extLst>
          </p:cNvPr>
          <p:cNvSpPr>
            <a:spLocks xmlns:a="http://schemas.openxmlformats.org/drawingml/2006/main" noGrp="1"/>
          </p:cNvSpPr>
          <p:nvPr/>
        </p:nvSpPr>
        <p:spPr>
          <a:xfrm xmlns:a="http://schemas.openxmlformats.org/drawingml/2006/main" rot="5400000">
            <a:off x="2657475" y="29146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9" name="!!qam-lower-arrow-line">
            <a:extLst xmlns:a="http://schemas.openxmlformats.org/drawingml/2006/main">
              <a:ext uri="{FF2B5EF4-FFF2-40B4-BE49-F238E27FC236}">
                <a16:creationId xmlns:a16="http://schemas.microsoft.com/office/drawing/2014/main" id="{E8193B01-BFE1-4C7B-A76B-B0F190193BA7}"/>
              </a:ext>
            </a:extLst>
          </p:cNvPr>
          <p:cNvSpPr>
            <a:spLocks xmlns:a="http://schemas.openxmlformats.org/drawingml/2006/main" noGrp="1"/>
          </p:cNvSpPr>
          <p:nvPr/>
        </p:nvSpPr>
        <p:spPr>
          <a:xfrm xmlns:a="http://schemas.openxmlformats.org/drawingml/2006/main">
            <a:off x="2200275" y="4229100"/>
            <a:ext cx="4762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0" name="!!qam-lower-arrow-head">
            <a:extLst xmlns:a="http://schemas.openxmlformats.org/drawingml/2006/main">
              <a:ext uri="{FF2B5EF4-FFF2-40B4-BE49-F238E27FC236}">
                <a16:creationId xmlns:a16="http://schemas.microsoft.com/office/drawing/2014/main" id="{72409F29-53B3-4986-94F2-7C4BFA22C525}"/>
              </a:ext>
            </a:extLst>
          </p:cNvPr>
          <p:cNvSpPr>
            <a:spLocks xmlns:a="http://schemas.openxmlformats.org/drawingml/2006/main" noGrp="1"/>
          </p:cNvSpPr>
          <p:nvPr/>
        </p:nvSpPr>
        <p:spPr>
          <a:xfrm xmlns:a="http://schemas.openxmlformats.org/drawingml/2006/main" rot="5400000">
            <a:off x="2657475" y="4181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pic>
        <p:nvPicPr>
          <p:cNvPr id="74" name="!!qam-route-m" descr="m_1,m_2">
            <ns0:hlinkClick xmlns:ns0="http://schemas.openxmlformats.org/drawingml/2006/main" xmlns:ns1="http://schemas.openxmlformats.org/officeDocument/2006/relationships" ns1:id="rIdmethods_Link179"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67f65d77aff4a3a">
            <a:extLst>
              <a:ext uri="{96DAC541-7B7A-43D3-8B79-37D633B846F1}">
                <ns0:svgBlip xmlns:ns0="http://schemas.microsoft.com/office/drawing/2016/SVG/main" r:embed="rIdVectormf00818"/>
              </a:ext>
            </a:extLst>
          </a:blip>
          <a:stretch xmlns:a="http://schemas.openxmlformats.org/drawingml/2006/main"/>
        </p:blipFill>
        <p:spPr>
          <a:xfrm xmlns:a="http://schemas.openxmlformats.org/drawingml/2006/main">
            <a:off x="1985509" y="975360"/>
            <a:ext cx="1267731" cy="240030"/>
          </a:xfrm>
          <a:prstGeom xmlns:a="http://schemas.openxmlformats.org/drawingml/2006/main" prst="rect">
            <a:avLst/>
          </a:prstGeom>
        </p:spPr>
      </p:pic>
      <p:pic>
        <p:nvPicPr>
          <p:cNvPr id="75" name="!!qam-route-s" descr="s(t)">
            <ns0:hlinkClick xmlns:ns0="http://schemas.openxmlformats.org/drawingml/2006/main" xmlns:ns1="http://schemas.openxmlformats.org/officeDocument/2006/relationships" ns1:id="rIdmethods_Link180"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d47cc360f5044569">
            <a:extLst>
              <a:ext uri="{96DAC541-7B7A-43D3-8B79-37D633B846F1}">
                <ns1:svgBlip xmlns:ns1="http://schemas.microsoft.com/office/drawing/2016/SVG/main" r:embed="rIdVectormf00819"/>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76" name="!!qam-route-restored" descr="m_1,m_2">
            <ns0:hlinkClick xmlns:ns0="http://schemas.openxmlformats.org/drawingml/2006/main" xmlns:ns1="http://schemas.openxmlformats.org/officeDocument/2006/relationships" ns1:id="rIdmethods_Link18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000958c52d8242b7">
            <a:extLst>
              <a:ext uri="{96DAC541-7B7A-43D3-8B79-37D633B846F1}">
                <ns2:svgBlip xmlns:ns2="http://schemas.microsoft.com/office/drawing/2016/SVG/main" r:embed="rIdVectormf00820"/>
              </a:ext>
            </a:extLst>
          </a:blip>
          <a:stretch xmlns:a="http://schemas.openxmlformats.org/drawingml/2006/main"/>
        </p:blipFill>
        <p:spPr>
          <a:xfrm xmlns:a="http://schemas.openxmlformats.org/drawingml/2006/main">
            <a:off x="8938759" y="975360"/>
            <a:ext cx="1267731" cy="240030"/>
          </a:xfrm>
          <a:prstGeom xmlns:a="http://schemas.openxmlformats.org/drawingml/2006/main" prst="rect">
            <a:avLst/>
          </a:prstGeom>
        </p:spPr>
      </p:pic>
      <p:pic>
        <p:nvPicPr>
          <p:cNvPr id="77" name="!!qam-persistent-givens" descr="s(t)=A_cm_1(t)\cos(2\pi f_ct)+A_cm_2(t)\sin(2\pi f_ct)"/>
          <p:cNvPicPr>
            <a:picLocks xmlns:a="http://schemas.openxmlformats.org/drawingml/2006/main" noChangeAspect="1"/>
          </p:cNvPicPr>
          <p:nvPr/>
        </p:nvPicPr>
        <p:blipFill>
          <a:blip xmlns:r="http://schemas.openxmlformats.org/officeDocument/2006/relationships" xmlns:a="http://schemas.openxmlformats.org/drawingml/2006/main" r:embed="R47a06a7776a94d60">
            <a:extLst>
              <a:ext uri="{96DAC541-7B7A-43D3-8B79-37D633B846F1}">
                <ns3:svgBlip xmlns:ns3="http://schemas.microsoft.com/office/drawing/2016/SVG/main" r:embed="rIdVectormf00821"/>
              </a:ext>
            </a:extLst>
          </a:blip>
          <a:stretch xmlns:a="http://schemas.openxmlformats.org/drawingml/2006/main"/>
        </p:blipFill>
        <p:spPr>
          <a:xfrm xmlns:a="http://schemas.openxmlformats.org/drawingml/2006/main">
            <a:off x="666750" y="2296239"/>
            <a:ext cx="5257800" cy="227171"/>
          </a:xfrm>
          <a:prstGeom xmlns:a="http://schemas.openxmlformats.org/drawingml/2006/main" prst="rect">
            <a:avLst/>
          </a:prstGeom>
        </p:spPr>
      </p:pic>
      <p:pic>
        <p:nvPicPr>
          <p:cNvPr id="78" name="!!qam-input" descr="s(t)"/>
          <p:cNvPicPr>
            <a:picLocks xmlns:a="http://schemas.openxmlformats.org/drawingml/2006/main" noChangeAspect="1"/>
          </p:cNvPicPr>
          <p:nvPr/>
        </p:nvPicPr>
        <p:blipFill>
          <a:blip xmlns:r="http://schemas.openxmlformats.org/officeDocument/2006/relationships" xmlns:a="http://schemas.openxmlformats.org/drawingml/2006/main" r:embed="R4e745f9c48f24909">
            <a:extLst>
              <a:ext uri="{96DAC541-7B7A-43D3-8B79-37D633B846F1}">
                <ns4:svgBlip xmlns:ns4="http://schemas.microsoft.com/office/drawing/2016/SVG/main" r:embed="rIdVectormf00822"/>
              </a:ext>
            </a:extLst>
          </a:blip>
          <a:stretch xmlns:a="http://schemas.openxmlformats.org/drawingml/2006/main"/>
        </p:blipFill>
        <p:spPr>
          <a:xfrm xmlns:a="http://schemas.openxmlformats.org/drawingml/2006/main">
            <a:off x="724296" y="3205163"/>
            <a:ext cx="633573" cy="352425"/>
          </a:xfrm>
          <a:prstGeom xmlns:a="http://schemas.openxmlformats.org/drawingml/2006/main" prst="rect">
            <a:avLst/>
          </a:prstGeom>
        </p:spPr>
      </p:pic>
      <p:pic>
        <p:nvPicPr>
          <p:cNvPr id="79" name="!!qam-top-mixed" descr="u_1"/>
          <p:cNvPicPr>
            <a:picLocks xmlns:a="http://schemas.openxmlformats.org/drawingml/2006/main" noChangeAspect="1"/>
          </p:cNvPicPr>
          <p:nvPr/>
        </p:nvPicPr>
        <p:blipFill>
          <a:blip xmlns:r="http://schemas.openxmlformats.org/officeDocument/2006/relationships" xmlns:a="http://schemas.openxmlformats.org/drawingml/2006/main" r:embed="Rfb0428d12ef2479f">
            <a:extLst>
              <a:ext uri="{96DAC541-7B7A-43D3-8B79-37D633B846F1}">
                <ns5:svgBlip xmlns:ns5="http://schemas.microsoft.com/office/drawing/2016/SVG/main" r:embed="rIdVectormf00823"/>
              </a:ext>
            </a:extLst>
          </a:blip>
          <a:stretch xmlns:a="http://schemas.openxmlformats.org/drawingml/2006/main"/>
        </p:blipFill>
        <p:spPr>
          <a:xfrm xmlns:a="http://schemas.openxmlformats.org/drawingml/2006/main">
            <a:off x="5485924" y="2697668"/>
            <a:ext cx="220028" cy="119640"/>
          </a:xfrm>
          <a:prstGeom xmlns:a="http://schemas.openxmlformats.org/drawingml/2006/main" prst="rect">
            <a:avLst/>
          </a:prstGeom>
        </p:spPr>
      </p:pic>
      <p:pic>
        <p:nvPicPr>
          <p:cNvPr id="80" name="!!qam-top-carrier" descr="\times2\cos(2\pi f_ct)"/>
          <p:cNvPicPr>
            <a:picLocks xmlns:a="http://schemas.openxmlformats.org/drawingml/2006/main" noChangeAspect="1"/>
          </p:cNvPicPr>
          <p:nvPr/>
        </p:nvPicPr>
        <p:blipFill>
          <a:blip xmlns:r="http://schemas.openxmlformats.org/officeDocument/2006/relationships" xmlns:a="http://schemas.openxmlformats.org/drawingml/2006/main" r:embed="Rbdfc46b0ae0e4a38">
            <a:extLst>
              <a:ext uri="{96DAC541-7B7A-43D3-8B79-37D633B846F1}">
                <ns6:svgBlip xmlns:ns6="http://schemas.microsoft.com/office/drawing/2016/SVG/main" r:embed="rIdVectormf00824"/>
              </a:ext>
            </a:extLst>
          </a:blip>
          <a:stretch xmlns:a="http://schemas.openxmlformats.org/drawingml/2006/main"/>
        </p:blipFill>
        <p:spPr>
          <a:xfrm xmlns:a="http://schemas.openxmlformats.org/drawingml/2006/main">
            <a:off x="3238500" y="2843213"/>
            <a:ext cx="1571625" cy="238125"/>
          </a:xfrm>
          <a:prstGeom xmlns:a="http://schemas.openxmlformats.org/drawingml/2006/main" prst="rect">
            <a:avLst/>
          </a:prstGeom>
        </p:spPr>
      </p:pic>
      <p:pic>
        <p:nvPicPr>
          <p:cNvPr id="81" name="!!qam-top-output" descr="v_1(t)=A_cm_1(t)"/>
          <p:cNvPicPr>
            <a:picLocks xmlns:a="http://schemas.openxmlformats.org/drawingml/2006/main" noChangeAspect="1"/>
          </p:cNvPicPr>
          <p:nvPr/>
        </p:nvPicPr>
        <p:blipFill>
          <a:blip xmlns:r="http://schemas.openxmlformats.org/officeDocument/2006/relationships" xmlns:a="http://schemas.openxmlformats.org/drawingml/2006/main" r:embed="Rd195d338a6374d15">
            <a:extLst>
              <a:ext uri="{96DAC541-7B7A-43D3-8B79-37D633B846F1}">
                <ns7:svgBlip xmlns:ns7="http://schemas.microsoft.com/office/drawing/2016/SVG/main" r:embed="rIdVectormf00825"/>
              </a:ext>
            </a:extLst>
          </a:blip>
          <a:stretch xmlns:a="http://schemas.openxmlformats.org/drawingml/2006/main"/>
        </p:blipFill>
        <p:spPr>
          <a:xfrm xmlns:a="http://schemas.openxmlformats.org/drawingml/2006/main">
            <a:off x="7334250" y="2847622"/>
            <a:ext cx="1857375" cy="229306"/>
          </a:xfrm>
          <a:prstGeom xmlns:a="http://schemas.openxmlformats.org/drawingml/2006/main" prst="rect">
            <a:avLst/>
          </a:prstGeom>
        </p:spPr>
      </p:pic>
      <p:pic>
        <p:nvPicPr>
          <p:cNvPr id="82" name="!!qam-top-gain" descr="\div A_c"/>
          <p:cNvPicPr>
            <a:picLocks xmlns:a="http://schemas.openxmlformats.org/drawingml/2006/main" noChangeAspect="1"/>
          </p:cNvPicPr>
          <p:nvPr/>
        </p:nvPicPr>
        <p:blipFill>
          <a:blip xmlns:r="http://schemas.openxmlformats.org/officeDocument/2006/relationships" xmlns:a="http://schemas.openxmlformats.org/drawingml/2006/main" r:embed="Rea9fc841205a4b5a">
            <a:extLst>
              <a:ext uri="{96DAC541-7B7A-43D3-8B79-37D633B846F1}">
                <ns8:svgBlip xmlns:ns8="http://schemas.microsoft.com/office/drawing/2016/SVG/main" r:embed="rIdVectormf00826"/>
              </a:ext>
            </a:extLst>
          </a:blip>
          <a:stretch xmlns:a="http://schemas.openxmlformats.org/drawingml/2006/main"/>
        </p:blipFill>
        <p:spPr>
          <a:xfrm xmlns:a="http://schemas.openxmlformats.org/drawingml/2006/main">
            <a:off x="9269954" y="2664143"/>
            <a:ext cx="433892" cy="167640"/>
          </a:xfrm>
          <a:prstGeom xmlns:a="http://schemas.openxmlformats.org/drawingml/2006/main" prst="rect">
            <a:avLst/>
          </a:prstGeom>
        </p:spPr>
      </p:pic>
      <p:pic>
        <p:nvPicPr>
          <p:cNvPr id="83" name="!!qam-top-message" descr="m_1(t)"/>
          <p:cNvPicPr>
            <a:picLocks xmlns:a="http://schemas.openxmlformats.org/drawingml/2006/main" noChangeAspect="1"/>
          </p:cNvPicPr>
          <p:nvPr/>
        </p:nvPicPr>
        <p:blipFill>
          <a:blip xmlns:r="http://schemas.openxmlformats.org/officeDocument/2006/relationships" xmlns:a="http://schemas.openxmlformats.org/drawingml/2006/main" r:embed="R63c554bed02540a9">
            <a:extLst>
              <a:ext uri="{96DAC541-7B7A-43D3-8B79-37D633B846F1}">
                <ns9:svgBlip xmlns:ns9="http://schemas.microsoft.com/office/drawing/2016/SVG/main" r:embed="rIdVectormf00827"/>
              </a:ext>
            </a:extLst>
          </a:blip>
          <a:stretch xmlns:a="http://schemas.openxmlformats.org/drawingml/2006/main"/>
        </p:blipFill>
        <p:spPr>
          <a:xfrm xmlns:a="http://schemas.openxmlformats.org/drawingml/2006/main">
            <a:off x="9944100" y="2828925"/>
            <a:ext cx="746760" cy="266700"/>
          </a:xfrm>
          <a:prstGeom xmlns:a="http://schemas.openxmlformats.org/drawingml/2006/main" prst="rect">
            <a:avLst/>
          </a:prstGeom>
        </p:spPr>
      </p:pic>
      <p:pic>
        <p:nvPicPr>
          <p:cNvPr id="84" name="!!qam-bottom-mixed" descr="u_2"/>
          <p:cNvPicPr>
            <a:picLocks xmlns:a="http://schemas.openxmlformats.org/drawingml/2006/main" noChangeAspect="1"/>
          </p:cNvPicPr>
          <p:nvPr/>
        </p:nvPicPr>
        <p:blipFill>
          <a:blip xmlns:r="http://schemas.openxmlformats.org/officeDocument/2006/relationships" xmlns:a="http://schemas.openxmlformats.org/drawingml/2006/main" r:embed="R16bdf88d77674eec">
            <a:extLst>
              <a:ext uri="{96DAC541-7B7A-43D3-8B79-37D633B846F1}">
                <ns10:svgBlip xmlns:ns10="http://schemas.microsoft.com/office/drawing/2016/SVG/main" r:embed="rIdVectormf00828"/>
              </a:ext>
            </a:extLst>
          </a:blip>
          <a:stretch xmlns:a="http://schemas.openxmlformats.org/drawingml/2006/main"/>
        </p:blipFill>
        <p:spPr>
          <a:xfrm xmlns:a="http://schemas.openxmlformats.org/drawingml/2006/main">
            <a:off x="5485924" y="3954968"/>
            <a:ext cx="220028" cy="119640"/>
          </a:xfrm>
          <a:prstGeom xmlns:a="http://schemas.openxmlformats.org/drawingml/2006/main" prst="rect">
            <a:avLst/>
          </a:prstGeom>
        </p:spPr>
      </p:pic>
      <p:pic>
        <p:nvPicPr>
          <p:cNvPr id="85" name="!!qam-bottom-output-variable" descr="v_2(t)"/>
          <p:cNvPicPr>
            <a:picLocks xmlns:a="http://schemas.openxmlformats.org/drawingml/2006/main" noChangeAspect="1"/>
          </p:cNvPicPr>
          <p:nvPr/>
        </p:nvPicPr>
        <p:blipFill>
          <a:blip xmlns:r="http://schemas.openxmlformats.org/officeDocument/2006/relationships" xmlns:a="http://schemas.openxmlformats.org/drawingml/2006/main" r:embed="Rc718bccace044690">
            <a:extLst>
              <a:ext uri="{96DAC541-7B7A-43D3-8B79-37D633B846F1}">
                <ns11:svgBlip xmlns:ns11="http://schemas.microsoft.com/office/drawing/2016/SVG/main" r:embed="rIdVectormf00829"/>
              </a:ext>
            </a:extLst>
          </a:blip>
          <a:stretch xmlns:a="http://schemas.openxmlformats.org/drawingml/2006/main"/>
        </p:blipFill>
        <p:spPr>
          <a:xfrm xmlns:a="http://schemas.openxmlformats.org/drawingml/2006/main">
            <a:off x="7334250" y="4102745"/>
            <a:ext cx="571500" cy="233660"/>
          </a:xfrm>
          <a:prstGeom xmlns:a="http://schemas.openxmlformats.org/drawingml/2006/main" prst="rect">
            <a:avLst/>
          </a:prstGeom>
        </p:spPr>
      </p:pic>
      <p:pic>
        <p:nvPicPr>
          <p:cNvPr id="86" name="!!qam-dense-equation-0" descr="\textstyle u_1(t)=2s(t)\cos(2\pi f_ct),\qquad v_1(t)=A_cm_1(t)"/>
          <p:cNvPicPr>
            <a:picLocks xmlns:a="http://schemas.openxmlformats.org/drawingml/2006/main" noChangeAspect="1"/>
          </p:cNvPicPr>
          <p:nvPr/>
        </p:nvPicPr>
        <p:blipFill>
          <a:blip xmlns:r="http://schemas.openxmlformats.org/officeDocument/2006/relationships" xmlns:a="http://schemas.openxmlformats.org/drawingml/2006/main" r:embed="Re42d72e52e8d4f6f">
            <a:extLst>
              <a:ext uri="{96DAC541-7B7A-43D3-8B79-37D633B846F1}">
                <ns12:svgBlip xmlns:ns12="http://schemas.microsoft.com/office/drawing/2016/SVG/main" r:embed="rIdVectormf00830"/>
              </a:ext>
            </a:extLst>
          </a:blip>
          <a:stretch xmlns:a="http://schemas.openxmlformats.org/drawingml/2006/main"/>
        </p:blipFill>
        <p:spPr>
          <a:xfrm xmlns:a="http://schemas.openxmlformats.org/drawingml/2006/main">
            <a:off x="609600" y="4696599"/>
            <a:ext cx="5522595" cy="246102"/>
          </a:xfrm>
          <a:prstGeom xmlns:a="http://schemas.openxmlformats.org/drawingml/2006/main" prst="rect">
            <a:avLst/>
          </a:prstGeom>
        </p:spPr>
      </p:pic>
    </p:spTree>
    <p:extLst>
      <p:ext uri="{BB962C8B-B14F-4D97-AF65-F5344CB8AC3E}">
        <p14:creationId xmlns:p14="http://schemas.microsoft.com/office/powerpoint/2010/main" val="1006410145"/>
      </p:ext>
    </p:extLst>
  </p:cSld>
</p:sld>
</file>

<file path=ppt/slides/methods_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qam-title">
            <ns0:hlinkClick xmlns:ns0="http://schemas.openxmlformats.org/drawingml/2006/main" xmlns:ns1="http://schemas.openxmlformats.org/officeDocument/2006/relationships" ns1:id="rIdmethods_Link182" action="ppaction://hlinksldjump"/>
            <a:extLst xmlns:a="http://schemas.openxmlformats.org/drawingml/2006/main">
              <a:ext uri="{FF2B5EF4-FFF2-40B4-BE49-F238E27FC236}">
                <a16:creationId xmlns:a16="http://schemas.microsoft.com/office/drawing/2014/main" id="{F37C41B8-9552-4ADD-8333-24DA479ECEF4}"/>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hlinkClick xmlns:ns1="http://schemas.openxmlformats.org/officeDocument/2006/relationships" ns1:id="rIdmethods_Link182" action="ppaction://hlinksldjump"/>
              </a:rPr>
              <a:t>QAM</a:t>
            </a:r>
          </a:p>
        </p:txBody>
      </p:sp>
      <p:sp>
        <p:nvSpPr>
          <p:cNvPr id="2" name="!!qam-route-tx-line">
            <a:extLst xmlns:a="http://schemas.openxmlformats.org/drawingml/2006/main">
              <a:ext uri="{FF2B5EF4-FFF2-40B4-BE49-F238E27FC236}">
                <a16:creationId xmlns:a16="http://schemas.microsoft.com/office/drawing/2014/main" id="{D9021083-CECF-471C-B0B2-123E9EEBF7C4}"/>
              </a:ext>
            </a:extLst>
          </p:cNvPr>
          <p:cNvSpPr>
            <a:spLocks xmlns:a="http://schemas.openxmlformats.org/drawingml/2006/main" noGrp="1"/>
          </p:cNvSpPr>
          <p:nvPr/>
        </p:nvSpPr>
        <p:spPr>
          <a:xfrm xmlns:a="http://schemas.openxmlformats.org/drawingml/2006/main">
            <a:off x="3619500" y="1095375"/>
            <a:ext cx="1333500" cy="19050"/>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3" name="!!qam-route-tx-head">
            <a:extLst xmlns:a="http://schemas.openxmlformats.org/drawingml/2006/main">
              <a:ext uri="{FF2B5EF4-FFF2-40B4-BE49-F238E27FC236}">
                <a16:creationId xmlns:a16="http://schemas.microsoft.com/office/drawing/2014/main" id="{9FA392EF-2619-4E9F-BCAA-3A3D9245DEBE}"/>
              </a:ext>
            </a:extLst>
          </p:cNvPr>
          <p:cNvSpPr>
            <a:spLocks xmlns:a="http://schemas.openxmlformats.org/drawingml/2006/main" noGrp="1"/>
          </p:cNvSpPr>
          <p:nvPr/>
        </p:nvSpPr>
        <p:spPr>
          <a:xfrm xmlns:a="http://schemas.openxmlformats.org/drawingml/2006/main" rot="5400000">
            <a:off x="4933950" y="1047750"/>
            <a:ext cx="114300" cy="114300"/>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4" name="!!qam-route-rx-line">
            <a:extLst xmlns:a="http://schemas.openxmlformats.org/drawingml/2006/main">
              <a:ext uri="{FF2B5EF4-FFF2-40B4-BE49-F238E27FC236}">
                <a16:creationId xmlns:a16="http://schemas.microsoft.com/office/drawing/2014/main" id="{6D916F68-DDD5-443D-AB7D-3A31E76A4EDB}"/>
              </a:ext>
            </a:extLst>
          </p:cNvPr>
          <p:cNvSpPr>
            <a:spLocks xmlns:a="http://schemas.openxmlformats.org/drawingml/2006/main" noGrp="1"/>
          </p:cNvSpPr>
          <p:nvPr/>
        </p:nvSpPr>
        <p:spPr>
          <a:xfrm xmlns:a="http://schemas.openxmlformats.org/drawingml/2006/main">
            <a:off x="7096125" y="1095375"/>
            <a:ext cx="13335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qam-route-rx-head">
            <a:extLst xmlns:a="http://schemas.openxmlformats.org/drawingml/2006/main">
              <a:ext uri="{FF2B5EF4-FFF2-40B4-BE49-F238E27FC236}">
                <a16:creationId xmlns:a16="http://schemas.microsoft.com/office/drawing/2014/main" id="{6DE8B052-CDE3-44BC-A382-72E84A37D8D6}"/>
              </a:ext>
            </a:extLst>
          </p:cNvPr>
          <p:cNvSpPr>
            <a:spLocks xmlns:a="http://schemas.openxmlformats.org/drawingml/2006/main" noGrp="1"/>
          </p:cNvSpPr>
          <p:nvPr/>
        </p:nvSpPr>
        <p:spPr>
          <a:xfrm xmlns:a="http://schemas.openxmlformats.org/drawingml/2006/main" rot="5400000">
            <a:off x="8410575" y="10477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qam-question">
            <a:extLst xmlns:a="http://schemas.openxmlformats.org/drawingml/2006/main">
              <a:ext uri="{FF2B5EF4-FFF2-40B4-BE49-F238E27FC236}">
                <a16:creationId xmlns:a16="http://schemas.microsoft.com/office/drawing/2014/main" id="{AE1C3470-DEEE-49B6-A67D-BEB0B0BA62C8}"/>
              </a:ext>
            </a:extLst>
          </p:cNvPr>
          <p:cNvSpPr>
            <a:spLocks xmlns:a="http://schemas.openxmlformats.org/drawingml/2006/main" noGrp="1"/>
          </p:cNvSpPr>
          <p:nvPr/>
        </p:nvSpPr>
        <p:spPr>
          <a:xfrm xmlns:a="http://schemas.openxmlformats.org/drawingml/2006/main">
            <a:off x="666750" y="14287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Recover the other message.</a:t>
            </a:r>
          </a:p>
        </p:txBody>
      </p:sp>
      <p:sp>
        <p:nvSpPr>
          <p:cNvPr id="7" name="!!qam-persistent-task">
            <a:extLst xmlns:a="http://schemas.openxmlformats.org/drawingml/2006/main">
              <a:ext uri="{FF2B5EF4-FFF2-40B4-BE49-F238E27FC236}">
                <a16:creationId xmlns:a16="http://schemas.microsoft.com/office/drawing/2014/main" id="{2674DAE1-073F-49F5-BF2C-ACDC6B48772A}"/>
              </a:ext>
            </a:extLst>
          </p:cNvPr>
          <p:cNvSpPr>
            <a:spLocks xmlns:a="http://schemas.openxmlformats.org/drawingml/2006/main" noGrp="1"/>
          </p:cNvSpPr>
          <p:nvPr/>
        </p:nvSpPr>
        <p:spPr>
          <a:xfrm xmlns:a="http://schemas.openxmlformats.org/drawingml/2006/main">
            <a:off x="666750" y="18859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Calculate: the mixing signal, u2, v2, and the recovered message.</a:t>
            </a:r>
          </a:p>
        </p:txBody>
      </p:sp>
      <p:sp>
        <p:nvSpPr>
          <p:cNvPr id="8" name="!!qam-top-mult">
            <a:extLst xmlns:a="http://schemas.openxmlformats.org/drawingml/2006/main">
              <a:ext uri="{FF2B5EF4-FFF2-40B4-BE49-F238E27FC236}">
                <a16:creationId xmlns:a16="http://schemas.microsoft.com/office/drawing/2014/main" id="{6D50CD10-0A2B-443C-A6CE-5FBA2AD310C8}"/>
              </a:ext>
            </a:extLst>
          </p:cNvPr>
          <p:cNvSpPr>
            <a:spLocks xmlns:a="http://schemas.openxmlformats.org/drawingml/2006/main" noGrp="1"/>
          </p:cNvSpPr>
          <p:nvPr/>
        </p:nvSpPr>
        <p:spPr>
          <a:xfrm xmlns:a="http://schemas.openxmlformats.org/drawingml/2006/main">
            <a:off x="2762250" y="2667000"/>
            <a:ext cx="2524125" cy="609600"/>
          </a:xfrm>
          <a:prstGeom xmlns:a="http://schemas.openxmlformats.org/drawingml/2006/main" prst="rect">
            <a:avLst/>
          </a:prstGeom>
          <a:noFill xmlns:a="http://schemas.openxmlformats.org/drawingml/2006/main"/>
          <a:ln xmlns:a="http://schemas.openxmlformats.org/drawingml/2006/main" w="12383">
            <a:solidFill>
              <a:srgbClr val="555555"/>
            </a:solidFill>
          </a:ln>
        </p:spPr>
      </p:sp>
      <p:sp>
        <p:nvSpPr>
          <p:cNvPr id="9" name="!!qam-top-to-filter-line">
            <a:extLst xmlns:a="http://schemas.openxmlformats.org/drawingml/2006/main">
              <a:ext uri="{FF2B5EF4-FFF2-40B4-BE49-F238E27FC236}">
                <a16:creationId xmlns:a16="http://schemas.microsoft.com/office/drawing/2014/main" id="{209852EA-3672-4525-BFE7-4A9A66A309F4}"/>
              </a:ext>
            </a:extLst>
          </p:cNvPr>
          <p:cNvSpPr>
            <a:spLocks xmlns:a="http://schemas.openxmlformats.org/drawingml/2006/main" noGrp="1"/>
          </p:cNvSpPr>
          <p:nvPr/>
        </p:nvSpPr>
        <p:spPr>
          <a:xfrm xmlns:a="http://schemas.openxmlformats.org/drawingml/2006/main">
            <a:off x="5286375" y="2971800"/>
            <a:ext cx="52387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qam-top-to-filter-head">
            <a:extLst xmlns:a="http://schemas.openxmlformats.org/drawingml/2006/main">
              <a:ext uri="{FF2B5EF4-FFF2-40B4-BE49-F238E27FC236}">
                <a16:creationId xmlns:a16="http://schemas.microsoft.com/office/drawing/2014/main" id="{6A51590D-41DC-4DD6-ADD9-E19B60AD2CEC}"/>
              </a:ext>
            </a:extLst>
          </p:cNvPr>
          <p:cNvSpPr>
            <a:spLocks xmlns:a="http://schemas.openxmlformats.org/drawingml/2006/main" noGrp="1"/>
          </p:cNvSpPr>
          <p:nvPr/>
        </p:nvSpPr>
        <p:spPr>
          <a:xfrm xmlns:a="http://schemas.openxmlformats.org/drawingml/2006/main" rot="5400000">
            <a:off x="5791200" y="2924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qam-top-filter">
            <a:extLst xmlns:a="http://schemas.openxmlformats.org/drawingml/2006/main">
              <a:ext uri="{FF2B5EF4-FFF2-40B4-BE49-F238E27FC236}">
                <a16:creationId xmlns:a16="http://schemas.microsoft.com/office/drawing/2014/main" id="{FC60221C-206B-44C5-9875-5B46548C1A87}"/>
              </a:ext>
            </a:extLst>
          </p:cNvPr>
          <p:cNvSpPr>
            <a:spLocks xmlns:a="http://schemas.openxmlformats.org/drawingml/2006/main" noGrp="1"/>
          </p:cNvSpPr>
          <p:nvPr/>
        </p:nvSpPr>
        <p:spPr>
          <a:xfrm xmlns:a="http://schemas.openxmlformats.org/drawingml/2006/main">
            <a:off x="5905500" y="2667000"/>
            <a:ext cx="857250" cy="609600"/>
          </a:xfrm>
          <a:prstGeom xmlns:a="http://schemas.openxmlformats.org/drawingml/2006/main" prst="rect">
            <a:avLst/>
          </a:prstGeom>
          <a:noFill xmlns:a="http://schemas.openxmlformats.org/drawingml/2006/main"/>
          <a:ln xmlns:a="http://schemas.openxmlformats.org/drawingml/2006/main" w="12383">
            <a:solidFill>
              <a:srgbClr val="555555"/>
            </a:solidFill>
          </a:ln>
        </p:spPr>
      </p:sp>
      <p:sp>
        <p:nvSpPr>
          <p:cNvPr id="12" name="!!qam-top-lpf">
            <a:extLst xmlns:a="http://schemas.openxmlformats.org/drawingml/2006/main">
              <a:ext uri="{FF2B5EF4-FFF2-40B4-BE49-F238E27FC236}">
                <a16:creationId xmlns:a16="http://schemas.microsoft.com/office/drawing/2014/main" id="{5940117D-2205-490C-A956-386ABA2BD166}"/>
              </a:ext>
            </a:extLst>
          </p:cNvPr>
          <p:cNvSpPr>
            <a:spLocks xmlns:a="http://schemas.openxmlformats.org/drawingml/2006/main" noGrp="1"/>
          </p:cNvSpPr>
          <p:nvPr/>
        </p:nvSpPr>
        <p:spPr>
          <a:xfrm xmlns:a="http://schemas.openxmlformats.org/drawingml/2006/main">
            <a:off x="5943600" y="2762250"/>
            <a:ext cx="781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LPF</a:t>
            </a:r>
          </a:p>
        </p:txBody>
      </p:sp>
      <p:sp>
        <p:nvSpPr>
          <p:cNvPr id="13" name="!!qam-top-output-arrow-line">
            <a:extLst xmlns:a="http://schemas.openxmlformats.org/drawingml/2006/main">
              <a:ext uri="{FF2B5EF4-FFF2-40B4-BE49-F238E27FC236}">
                <a16:creationId xmlns:a16="http://schemas.microsoft.com/office/drawing/2014/main" id="{DD14409F-1D5D-4140-BCD2-28097322FE69}"/>
              </a:ext>
            </a:extLst>
          </p:cNvPr>
          <p:cNvSpPr>
            <a:spLocks xmlns:a="http://schemas.openxmlformats.org/drawingml/2006/main" noGrp="1"/>
          </p:cNvSpPr>
          <p:nvPr/>
        </p:nvSpPr>
        <p:spPr>
          <a:xfrm xmlns:a="http://schemas.openxmlformats.org/drawingml/2006/main">
            <a:off x="6762750" y="2971800"/>
            <a:ext cx="3810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qam-top-output-arrow-head">
            <a:extLst xmlns:a="http://schemas.openxmlformats.org/drawingml/2006/main">
              <a:ext uri="{FF2B5EF4-FFF2-40B4-BE49-F238E27FC236}">
                <a16:creationId xmlns:a16="http://schemas.microsoft.com/office/drawing/2014/main" id="{EA59BB88-4099-4B7E-88D6-051B1C952BF9}"/>
              </a:ext>
            </a:extLst>
          </p:cNvPr>
          <p:cNvSpPr>
            <a:spLocks xmlns:a="http://schemas.openxmlformats.org/drawingml/2006/main" noGrp="1"/>
          </p:cNvSpPr>
          <p:nvPr/>
        </p:nvSpPr>
        <p:spPr>
          <a:xfrm xmlns:a="http://schemas.openxmlformats.org/drawingml/2006/main" rot="5400000">
            <a:off x="7124700" y="2924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qam-top-normalize-line">
            <a:extLst xmlns:a="http://schemas.openxmlformats.org/drawingml/2006/main">
              <a:ext uri="{FF2B5EF4-FFF2-40B4-BE49-F238E27FC236}">
                <a16:creationId xmlns:a16="http://schemas.microsoft.com/office/drawing/2014/main" id="{D0B610EC-8A62-4357-A17E-77E9F8381BD7}"/>
              </a:ext>
            </a:extLst>
          </p:cNvPr>
          <p:cNvSpPr>
            <a:spLocks xmlns:a="http://schemas.openxmlformats.org/drawingml/2006/main" noGrp="1"/>
          </p:cNvSpPr>
          <p:nvPr/>
        </p:nvSpPr>
        <p:spPr>
          <a:xfrm xmlns:a="http://schemas.openxmlformats.org/drawingml/2006/main">
            <a:off x="9220200" y="2971800"/>
            <a:ext cx="4762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6" name="!!qam-top-normalize-head">
            <a:extLst xmlns:a="http://schemas.openxmlformats.org/drawingml/2006/main">
              <a:ext uri="{FF2B5EF4-FFF2-40B4-BE49-F238E27FC236}">
                <a16:creationId xmlns:a16="http://schemas.microsoft.com/office/drawing/2014/main" id="{335500F0-BC50-4907-9FF8-0542672B9344}"/>
              </a:ext>
            </a:extLst>
          </p:cNvPr>
          <p:cNvSpPr>
            <a:spLocks xmlns:a="http://schemas.openxmlformats.org/drawingml/2006/main" noGrp="1"/>
          </p:cNvSpPr>
          <p:nvPr/>
        </p:nvSpPr>
        <p:spPr>
          <a:xfrm xmlns:a="http://schemas.openxmlformats.org/drawingml/2006/main" rot="5400000">
            <a:off x="9677400" y="29241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7" name="!!qam-bottom-mult">
            <a:extLst xmlns:a="http://schemas.openxmlformats.org/drawingml/2006/main">
              <a:ext uri="{FF2B5EF4-FFF2-40B4-BE49-F238E27FC236}">
                <a16:creationId xmlns:a16="http://schemas.microsoft.com/office/drawing/2014/main" id="{A7A2E7AF-A83A-44BE-B2D7-FB2D451B1488}"/>
              </a:ext>
            </a:extLst>
          </p:cNvPr>
          <p:cNvSpPr>
            <a:spLocks xmlns:a="http://schemas.openxmlformats.org/drawingml/2006/main" noGrp="1"/>
          </p:cNvSpPr>
          <p:nvPr/>
        </p:nvSpPr>
        <p:spPr>
          <a:xfrm xmlns:a="http://schemas.openxmlformats.org/drawingml/2006/main">
            <a:off x="2762250" y="3924300"/>
            <a:ext cx="2524125" cy="609600"/>
          </a:xfrm>
          <a:prstGeom xmlns:a="http://schemas.openxmlformats.org/drawingml/2006/main" prst="rect">
            <a:avLst/>
          </a:prstGeom>
          <a:noFill xmlns:a="http://schemas.openxmlformats.org/drawingml/2006/main"/>
          <a:ln xmlns:a="http://schemas.openxmlformats.org/drawingml/2006/main" w="12383">
            <a:solidFill>
              <a:srgbClr val="555555"/>
            </a:solidFill>
          </a:ln>
        </p:spPr>
      </p:sp>
      <p:sp>
        <p:nvSpPr>
          <p:cNvPr id="18" name="!!qam-bottom-to-filter-line">
            <a:extLst xmlns:a="http://schemas.openxmlformats.org/drawingml/2006/main">
              <a:ext uri="{FF2B5EF4-FFF2-40B4-BE49-F238E27FC236}">
                <a16:creationId xmlns:a16="http://schemas.microsoft.com/office/drawing/2014/main" id="{E5769115-5449-49EB-9CAA-55F7D27EF619}"/>
              </a:ext>
            </a:extLst>
          </p:cNvPr>
          <p:cNvSpPr>
            <a:spLocks xmlns:a="http://schemas.openxmlformats.org/drawingml/2006/main" noGrp="1"/>
          </p:cNvSpPr>
          <p:nvPr/>
        </p:nvSpPr>
        <p:spPr>
          <a:xfrm xmlns:a="http://schemas.openxmlformats.org/drawingml/2006/main">
            <a:off x="5286375" y="4229100"/>
            <a:ext cx="52387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qam-bottom-to-filter-head">
            <a:extLst xmlns:a="http://schemas.openxmlformats.org/drawingml/2006/main">
              <a:ext uri="{FF2B5EF4-FFF2-40B4-BE49-F238E27FC236}">
                <a16:creationId xmlns:a16="http://schemas.microsoft.com/office/drawing/2014/main" id="{D14D6FD2-496A-4CF8-A6E6-37A7DC0160FA}"/>
              </a:ext>
            </a:extLst>
          </p:cNvPr>
          <p:cNvSpPr>
            <a:spLocks xmlns:a="http://schemas.openxmlformats.org/drawingml/2006/main" noGrp="1"/>
          </p:cNvSpPr>
          <p:nvPr/>
        </p:nvSpPr>
        <p:spPr>
          <a:xfrm xmlns:a="http://schemas.openxmlformats.org/drawingml/2006/main" rot="5400000">
            <a:off x="5791200" y="4181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0" name="!!qam-bottom-filter">
            <a:extLst xmlns:a="http://schemas.openxmlformats.org/drawingml/2006/main">
              <a:ext uri="{FF2B5EF4-FFF2-40B4-BE49-F238E27FC236}">
                <a16:creationId xmlns:a16="http://schemas.microsoft.com/office/drawing/2014/main" id="{FC0ED0B9-14C2-41FD-8C97-D01BEECF6CA6}"/>
              </a:ext>
            </a:extLst>
          </p:cNvPr>
          <p:cNvSpPr>
            <a:spLocks xmlns:a="http://schemas.openxmlformats.org/drawingml/2006/main" noGrp="1"/>
          </p:cNvSpPr>
          <p:nvPr/>
        </p:nvSpPr>
        <p:spPr>
          <a:xfrm xmlns:a="http://schemas.openxmlformats.org/drawingml/2006/main">
            <a:off x="5905500" y="3924300"/>
            <a:ext cx="857250" cy="609600"/>
          </a:xfrm>
          <a:prstGeom xmlns:a="http://schemas.openxmlformats.org/drawingml/2006/main" prst="rect">
            <a:avLst/>
          </a:prstGeom>
          <a:noFill xmlns:a="http://schemas.openxmlformats.org/drawingml/2006/main"/>
          <a:ln xmlns:a="http://schemas.openxmlformats.org/drawingml/2006/main" w="12383">
            <a:solidFill>
              <a:srgbClr val="555555"/>
            </a:solidFill>
          </a:ln>
        </p:spPr>
      </p:sp>
      <p:sp>
        <p:nvSpPr>
          <p:cNvPr id="21" name="!!qam-bottom-lpf">
            <a:extLst xmlns:a="http://schemas.openxmlformats.org/drawingml/2006/main">
              <a:ext uri="{FF2B5EF4-FFF2-40B4-BE49-F238E27FC236}">
                <a16:creationId xmlns:a16="http://schemas.microsoft.com/office/drawing/2014/main" id="{89FA8D5B-2071-4D33-86BA-3BC711E9173B}"/>
              </a:ext>
            </a:extLst>
          </p:cNvPr>
          <p:cNvSpPr>
            <a:spLocks xmlns:a="http://schemas.openxmlformats.org/drawingml/2006/main" noGrp="1"/>
          </p:cNvSpPr>
          <p:nvPr/>
        </p:nvSpPr>
        <p:spPr>
          <a:xfrm xmlns:a="http://schemas.openxmlformats.org/drawingml/2006/main">
            <a:off x="5943600" y="4019550"/>
            <a:ext cx="781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LPF</a:t>
            </a:r>
          </a:p>
        </p:txBody>
      </p:sp>
      <p:sp>
        <p:nvSpPr>
          <p:cNvPr id="22" name="!!qam-bottom-output-arrow-line">
            <a:extLst xmlns:a="http://schemas.openxmlformats.org/drawingml/2006/main">
              <a:ext uri="{FF2B5EF4-FFF2-40B4-BE49-F238E27FC236}">
                <a16:creationId xmlns:a16="http://schemas.microsoft.com/office/drawing/2014/main" id="{95E3C842-4919-4CBD-BDE0-76260F541A2C}"/>
              </a:ext>
            </a:extLst>
          </p:cNvPr>
          <p:cNvSpPr>
            <a:spLocks xmlns:a="http://schemas.openxmlformats.org/drawingml/2006/main" noGrp="1"/>
          </p:cNvSpPr>
          <p:nvPr/>
        </p:nvSpPr>
        <p:spPr>
          <a:xfrm xmlns:a="http://schemas.openxmlformats.org/drawingml/2006/main">
            <a:off x="6762750" y="4229100"/>
            <a:ext cx="38100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3" name="!!qam-bottom-output-arrow-head">
            <a:extLst xmlns:a="http://schemas.openxmlformats.org/drawingml/2006/main">
              <a:ext uri="{FF2B5EF4-FFF2-40B4-BE49-F238E27FC236}">
                <a16:creationId xmlns:a16="http://schemas.microsoft.com/office/drawing/2014/main" id="{0BAC4C88-2C38-47F0-AA33-46AA5166149A}"/>
              </a:ext>
            </a:extLst>
          </p:cNvPr>
          <p:cNvSpPr>
            <a:spLocks xmlns:a="http://schemas.openxmlformats.org/drawingml/2006/main" noGrp="1"/>
          </p:cNvSpPr>
          <p:nvPr/>
        </p:nvSpPr>
        <p:spPr>
          <a:xfrm xmlns:a="http://schemas.openxmlformats.org/drawingml/2006/main" rot="5400000">
            <a:off x="7124700" y="4181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4" name="!!qam-bottom-normalize-line">
            <a:extLst xmlns:a="http://schemas.openxmlformats.org/drawingml/2006/main">
              <a:ext uri="{FF2B5EF4-FFF2-40B4-BE49-F238E27FC236}">
                <a16:creationId xmlns:a16="http://schemas.microsoft.com/office/drawing/2014/main" id="{4CA7FA9B-2C87-4964-8DE6-34BBA677F7A3}"/>
              </a:ext>
            </a:extLst>
          </p:cNvPr>
          <p:cNvSpPr>
            <a:spLocks xmlns:a="http://schemas.openxmlformats.org/drawingml/2006/main" noGrp="1"/>
          </p:cNvSpPr>
          <p:nvPr/>
        </p:nvSpPr>
        <p:spPr>
          <a:xfrm xmlns:a="http://schemas.openxmlformats.org/drawingml/2006/main">
            <a:off x="9220200" y="4229100"/>
            <a:ext cx="4762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5" name="!!qam-bottom-normalize-head">
            <a:extLst xmlns:a="http://schemas.openxmlformats.org/drawingml/2006/main">
              <a:ext uri="{FF2B5EF4-FFF2-40B4-BE49-F238E27FC236}">
                <a16:creationId xmlns:a16="http://schemas.microsoft.com/office/drawing/2014/main" id="{E07C49EA-22B0-428F-9F65-A6011A90F316}"/>
              </a:ext>
            </a:extLst>
          </p:cNvPr>
          <p:cNvSpPr>
            <a:spLocks xmlns:a="http://schemas.openxmlformats.org/drawingml/2006/main" noGrp="1"/>
          </p:cNvSpPr>
          <p:nvPr/>
        </p:nvSpPr>
        <p:spPr>
          <a:xfrm xmlns:a="http://schemas.openxmlformats.org/drawingml/2006/main" rot="5400000">
            <a:off x="9677400" y="4181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6" name="!!qam-split">
            <a:extLst xmlns:a="http://schemas.openxmlformats.org/drawingml/2006/main">
              <a:ext uri="{FF2B5EF4-FFF2-40B4-BE49-F238E27FC236}">
                <a16:creationId xmlns:a16="http://schemas.microsoft.com/office/drawing/2014/main" id="{755E8277-4CCE-4353-8F8E-324174A90CFA}"/>
              </a:ext>
            </a:extLst>
          </p:cNvPr>
          <p:cNvSpPr>
            <a:spLocks xmlns:a="http://schemas.openxmlformats.org/drawingml/2006/main" noGrp="1"/>
          </p:cNvSpPr>
          <p:nvPr/>
        </p:nvSpPr>
        <p:spPr>
          <a:xfrm xmlns:a="http://schemas.openxmlformats.org/drawingml/2006/main">
            <a:off x="2190750" y="2962275"/>
            <a:ext cx="19050" cy="1285875"/>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7" name="!!qam-input-arrow-line">
            <a:extLst xmlns:a="http://schemas.openxmlformats.org/drawingml/2006/main">
              <a:ext uri="{FF2B5EF4-FFF2-40B4-BE49-F238E27FC236}">
                <a16:creationId xmlns:a16="http://schemas.microsoft.com/office/drawing/2014/main" id="{ED863461-C142-41A0-B0A6-4F8B77588C41}"/>
              </a:ext>
            </a:extLst>
          </p:cNvPr>
          <p:cNvSpPr>
            <a:spLocks xmlns:a="http://schemas.openxmlformats.org/drawingml/2006/main" noGrp="1"/>
          </p:cNvSpPr>
          <p:nvPr/>
        </p:nvSpPr>
        <p:spPr>
          <a:xfrm xmlns:a="http://schemas.openxmlformats.org/drawingml/2006/main">
            <a:off x="1800225" y="3400425"/>
            <a:ext cx="314325"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8" name="!!qam-input-arrow-head">
            <a:extLst xmlns:a="http://schemas.openxmlformats.org/drawingml/2006/main">
              <a:ext uri="{FF2B5EF4-FFF2-40B4-BE49-F238E27FC236}">
                <a16:creationId xmlns:a16="http://schemas.microsoft.com/office/drawing/2014/main" id="{1E2FC410-804F-4421-8373-C53F041319F1}"/>
              </a:ext>
            </a:extLst>
          </p:cNvPr>
          <p:cNvSpPr>
            <a:spLocks xmlns:a="http://schemas.openxmlformats.org/drawingml/2006/main" noGrp="1"/>
          </p:cNvSpPr>
          <p:nvPr/>
        </p:nvSpPr>
        <p:spPr>
          <a:xfrm xmlns:a="http://schemas.openxmlformats.org/drawingml/2006/main" rot="5400000">
            <a:off x="2095500" y="335280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9" name="!!qam-upper-arrow-line">
            <a:extLst xmlns:a="http://schemas.openxmlformats.org/drawingml/2006/main">
              <a:ext uri="{FF2B5EF4-FFF2-40B4-BE49-F238E27FC236}">
                <a16:creationId xmlns:a16="http://schemas.microsoft.com/office/drawing/2014/main" id="{18E2A58B-6443-4F34-96B3-ACBA9046A5B6}"/>
              </a:ext>
            </a:extLst>
          </p:cNvPr>
          <p:cNvSpPr>
            <a:spLocks xmlns:a="http://schemas.openxmlformats.org/drawingml/2006/main" noGrp="1"/>
          </p:cNvSpPr>
          <p:nvPr/>
        </p:nvSpPr>
        <p:spPr>
          <a:xfrm xmlns:a="http://schemas.openxmlformats.org/drawingml/2006/main">
            <a:off x="2200275" y="2962275"/>
            <a:ext cx="4762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0" name="!!qam-upper-arrow-head">
            <a:extLst xmlns:a="http://schemas.openxmlformats.org/drawingml/2006/main">
              <a:ext uri="{FF2B5EF4-FFF2-40B4-BE49-F238E27FC236}">
                <a16:creationId xmlns:a16="http://schemas.microsoft.com/office/drawing/2014/main" id="{1FEC75F9-15FE-4261-AC61-1EB44662D775}"/>
              </a:ext>
            </a:extLst>
          </p:cNvPr>
          <p:cNvSpPr>
            <a:spLocks xmlns:a="http://schemas.openxmlformats.org/drawingml/2006/main" noGrp="1"/>
          </p:cNvSpPr>
          <p:nvPr/>
        </p:nvSpPr>
        <p:spPr>
          <a:xfrm xmlns:a="http://schemas.openxmlformats.org/drawingml/2006/main" rot="5400000">
            <a:off x="2657475" y="2914650"/>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1" name="!!qam-lower-arrow-line">
            <a:extLst xmlns:a="http://schemas.openxmlformats.org/drawingml/2006/main">
              <a:ext uri="{FF2B5EF4-FFF2-40B4-BE49-F238E27FC236}">
                <a16:creationId xmlns:a16="http://schemas.microsoft.com/office/drawing/2014/main" id="{63B57A4C-B213-4BF7-B128-8DC0AC582550}"/>
              </a:ext>
            </a:extLst>
          </p:cNvPr>
          <p:cNvSpPr>
            <a:spLocks xmlns:a="http://schemas.openxmlformats.org/drawingml/2006/main" noGrp="1"/>
          </p:cNvSpPr>
          <p:nvPr/>
        </p:nvSpPr>
        <p:spPr>
          <a:xfrm xmlns:a="http://schemas.openxmlformats.org/drawingml/2006/main">
            <a:off x="2200275" y="4229100"/>
            <a:ext cx="476250" cy="190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2" name="!!qam-lower-arrow-head">
            <a:extLst xmlns:a="http://schemas.openxmlformats.org/drawingml/2006/main">
              <a:ext uri="{FF2B5EF4-FFF2-40B4-BE49-F238E27FC236}">
                <a16:creationId xmlns:a16="http://schemas.microsoft.com/office/drawing/2014/main" id="{F7A7F5C9-C473-4143-AD92-57351D7F5EBE}"/>
              </a:ext>
            </a:extLst>
          </p:cNvPr>
          <p:cNvSpPr>
            <a:spLocks xmlns:a="http://schemas.openxmlformats.org/drawingml/2006/main" noGrp="1"/>
          </p:cNvSpPr>
          <p:nvPr/>
        </p:nvSpPr>
        <p:spPr>
          <a:xfrm xmlns:a="http://schemas.openxmlformats.org/drawingml/2006/main" rot="5400000">
            <a:off x="2657475" y="4181475"/>
            <a:ext cx="114300" cy="114300"/>
          </a:xfrm>
          <a:prstGeom xmlns:a="http://schemas.openxmlformats.org/drawingml/2006/main" prst="triangle">
            <a:avLst/>
          </a:prstGeom>
          <a:solidFill xmlns:a="http://schemas.openxmlformats.org/drawingml/2006/main">
            <a:srgbClr val="202020"/>
          </a:solidFill>
          <a:ln xmlns:a="http://schemas.openxmlformats.org/drawingml/2006/main" w="0">
            <a:noFill/>
          </a:ln>
        </p:spPr>
      </p:sp>
      <p:pic>
        <p:nvPicPr>
          <p:cNvPr id="86" name="!!qam-route-m" descr="m_1,m_2">
            <ns0:hlinkClick xmlns:ns0="http://schemas.openxmlformats.org/drawingml/2006/main" xmlns:ns1="http://schemas.openxmlformats.org/officeDocument/2006/relationships" ns1:id="rIdmethods_Link183"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b7df3c9ba3b49aa">
            <a:extLst>
              <a:ext uri="{96DAC541-7B7A-43D3-8B79-37D633B846F1}">
                <ns0:svgBlip xmlns:ns0="http://schemas.microsoft.com/office/drawing/2016/SVG/main" r:embed="rIdVectormf00831"/>
              </a:ext>
            </a:extLst>
          </a:blip>
          <a:stretch xmlns:a="http://schemas.openxmlformats.org/drawingml/2006/main"/>
        </p:blipFill>
        <p:spPr>
          <a:xfrm xmlns:a="http://schemas.openxmlformats.org/drawingml/2006/main">
            <a:off x="1985509" y="975360"/>
            <a:ext cx="1267731" cy="240030"/>
          </a:xfrm>
          <a:prstGeom xmlns:a="http://schemas.openxmlformats.org/drawingml/2006/main" prst="rect">
            <a:avLst/>
          </a:prstGeom>
        </p:spPr>
      </p:pic>
      <p:pic>
        <p:nvPicPr>
          <p:cNvPr id="87" name="!!qam-route-s" descr="s(t)">
            <ns0:hlinkClick xmlns:ns0="http://schemas.openxmlformats.org/drawingml/2006/main" xmlns:ns1="http://schemas.openxmlformats.org/officeDocument/2006/relationships" ns1:id="rIdmethods_Link184"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926a0a840f0e428c">
            <a:extLst>
              <a:ext uri="{96DAC541-7B7A-43D3-8B79-37D633B846F1}">
                <ns1:svgBlip xmlns:ns1="http://schemas.microsoft.com/office/drawing/2016/SVG/main" r:embed="rIdVectormf00832"/>
              </a:ext>
            </a:extLst>
          </a:blip>
          <a:stretch xmlns:a="http://schemas.openxmlformats.org/drawingml/2006/main"/>
        </p:blipFill>
        <p:spPr>
          <a:xfrm xmlns:a="http://schemas.openxmlformats.org/drawingml/2006/main">
            <a:off x="5736404" y="895350"/>
            <a:ext cx="719191" cy="400050"/>
          </a:xfrm>
          <a:prstGeom xmlns:a="http://schemas.openxmlformats.org/drawingml/2006/main" prst="rect">
            <a:avLst/>
          </a:prstGeom>
        </p:spPr>
      </p:pic>
      <p:pic>
        <p:nvPicPr>
          <p:cNvPr id="88" name="!!qam-route-restored" descr="m_1,m_2">
            <ns0:hlinkClick xmlns:ns0="http://schemas.openxmlformats.org/drawingml/2006/main" xmlns:ns1="http://schemas.openxmlformats.org/officeDocument/2006/relationships" ns1:id="rIdmethods_Link185"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a2233ed67f1e4a2e">
            <a:extLst>
              <a:ext uri="{96DAC541-7B7A-43D3-8B79-37D633B846F1}">
                <ns2:svgBlip xmlns:ns2="http://schemas.microsoft.com/office/drawing/2016/SVG/main" r:embed="rIdVectormf00833"/>
              </a:ext>
            </a:extLst>
          </a:blip>
          <a:stretch xmlns:a="http://schemas.openxmlformats.org/drawingml/2006/main"/>
        </p:blipFill>
        <p:spPr>
          <a:xfrm xmlns:a="http://schemas.openxmlformats.org/drawingml/2006/main">
            <a:off x="8938759" y="975360"/>
            <a:ext cx="1267731" cy="240030"/>
          </a:xfrm>
          <a:prstGeom xmlns:a="http://schemas.openxmlformats.org/drawingml/2006/main" prst="rect">
            <a:avLst/>
          </a:prstGeom>
        </p:spPr>
      </p:pic>
      <p:pic>
        <p:nvPicPr>
          <p:cNvPr id="89" name="!!qam-persistent-givens" descr="s(t)=A_cm_1(t)\cos(2\pi f_ct)+A_cm_2(t)\sin(2\pi f_ct)"/>
          <p:cNvPicPr>
            <a:picLocks xmlns:a="http://schemas.openxmlformats.org/drawingml/2006/main" noChangeAspect="1"/>
          </p:cNvPicPr>
          <p:nvPr/>
        </p:nvPicPr>
        <p:blipFill>
          <a:blip xmlns:r="http://schemas.openxmlformats.org/officeDocument/2006/relationships" xmlns:a="http://schemas.openxmlformats.org/drawingml/2006/main" r:embed="R9b29f69692ba4d19">
            <a:extLst>
              <a:ext uri="{96DAC541-7B7A-43D3-8B79-37D633B846F1}">
                <ns3:svgBlip xmlns:ns3="http://schemas.microsoft.com/office/drawing/2016/SVG/main" r:embed="rIdVectormf00834"/>
              </a:ext>
            </a:extLst>
          </a:blip>
          <a:stretch xmlns:a="http://schemas.openxmlformats.org/drawingml/2006/main"/>
        </p:blipFill>
        <p:spPr>
          <a:xfrm xmlns:a="http://schemas.openxmlformats.org/drawingml/2006/main">
            <a:off x="666750" y="2296239"/>
            <a:ext cx="5257800" cy="227171"/>
          </a:xfrm>
          <a:prstGeom xmlns:a="http://schemas.openxmlformats.org/drawingml/2006/main" prst="rect">
            <a:avLst/>
          </a:prstGeom>
        </p:spPr>
      </p:pic>
      <p:pic>
        <p:nvPicPr>
          <p:cNvPr id="90" name="!!qam-input" descr="s(t)"/>
          <p:cNvPicPr>
            <a:picLocks xmlns:a="http://schemas.openxmlformats.org/drawingml/2006/main" noChangeAspect="1"/>
          </p:cNvPicPr>
          <p:nvPr/>
        </p:nvPicPr>
        <p:blipFill>
          <a:blip xmlns:r="http://schemas.openxmlformats.org/officeDocument/2006/relationships" xmlns:a="http://schemas.openxmlformats.org/drawingml/2006/main" r:embed="Ra856ffd2f9734228">
            <a:extLst>
              <a:ext uri="{96DAC541-7B7A-43D3-8B79-37D633B846F1}">
                <ns4:svgBlip xmlns:ns4="http://schemas.microsoft.com/office/drawing/2016/SVG/main" r:embed="rIdVectormf00835"/>
              </a:ext>
            </a:extLst>
          </a:blip>
          <a:stretch xmlns:a="http://schemas.openxmlformats.org/drawingml/2006/main"/>
        </p:blipFill>
        <p:spPr>
          <a:xfrm xmlns:a="http://schemas.openxmlformats.org/drawingml/2006/main">
            <a:off x="724296" y="3205163"/>
            <a:ext cx="633573" cy="352425"/>
          </a:xfrm>
          <a:prstGeom xmlns:a="http://schemas.openxmlformats.org/drawingml/2006/main" prst="rect">
            <a:avLst/>
          </a:prstGeom>
        </p:spPr>
      </p:pic>
      <p:pic>
        <p:nvPicPr>
          <p:cNvPr id="91" name="!!qam-top-mixed" descr="u_1"/>
          <p:cNvPicPr>
            <a:picLocks xmlns:a="http://schemas.openxmlformats.org/drawingml/2006/main" noChangeAspect="1"/>
          </p:cNvPicPr>
          <p:nvPr/>
        </p:nvPicPr>
        <p:blipFill>
          <a:blip xmlns:r="http://schemas.openxmlformats.org/officeDocument/2006/relationships" xmlns:a="http://schemas.openxmlformats.org/drawingml/2006/main" r:embed="Rbbc3c27d5605483e">
            <a:extLst>
              <a:ext uri="{96DAC541-7B7A-43D3-8B79-37D633B846F1}">
                <ns5:svgBlip xmlns:ns5="http://schemas.microsoft.com/office/drawing/2016/SVG/main" r:embed="rIdVectormf00836"/>
              </a:ext>
            </a:extLst>
          </a:blip>
          <a:stretch xmlns:a="http://schemas.openxmlformats.org/drawingml/2006/main"/>
        </p:blipFill>
        <p:spPr>
          <a:xfrm xmlns:a="http://schemas.openxmlformats.org/drawingml/2006/main">
            <a:off x="5485924" y="2697668"/>
            <a:ext cx="220028" cy="119640"/>
          </a:xfrm>
          <a:prstGeom xmlns:a="http://schemas.openxmlformats.org/drawingml/2006/main" prst="rect">
            <a:avLst/>
          </a:prstGeom>
        </p:spPr>
      </p:pic>
      <p:pic>
        <p:nvPicPr>
          <p:cNvPr id="92" name="!!qam-top-carrier" descr="\times2\cos(2\pi f_ct)"/>
          <p:cNvPicPr>
            <a:picLocks xmlns:a="http://schemas.openxmlformats.org/drawingml/2006/main" noChangeAspect="1"/>
          </p:cNvPicPr>
          <p:nvPr/>
        </p:nvPicPr>
        <p:blipFill>
          <a:blip xmlns:r="http://schemas.openxmlformats.org/officeDocument/2006/relationships" xmlns:a="http://schemas.openxmlformats.org/drawingml/2006/main" r:embed="R52681288b2564c6b">
            <a:extLst>
              <a:ext uri="{96DAC541-7B7A-43D3-8B79-37D633B846F1}">
                <ns6:svgBlip xmlns:ns6="http://schemas.microsoft.com/office/drawing/2016/SVG/main" r:embed="rIdVectormf00837"/>
              </a:ext>
            </a:extLst>
          </a:blip>
          <a:stretch xmlns:a="http://schemas.openxmlformats.org/drawingml/2006/main"/>
        </p:blipFill>
        <p:spPr>
          <a:xfrm xmlns:a="http://schemas.openxmlformats.org/drawingml/2006/main">
            <a:off x="3238500" y="2843213"/>
            <a:ext cx="1571625" cy="238125"/>
          </a:xfrm>
          <a:prstGeom xmlns:a="http://schemas.openxmlformats.org/drawingml/2006/main" prst="rect">
            <a:avLst/>
          </a:prstGeom>
        </p:spPr>
      </p:pic>
      <p:pic>
        <p:nvPicPr>
          <p:cNvPr id="93" name="!!qam-top-output" descr="v_1(t)=A_cm_1(t)"/>
          <p:cNvPicPr>
            <a:picLocks xmlns:a="http://schemas.openxmlformats.org/drawingml/2006/main" noChangeAspect="1"/>
          </p:cNvPicPr>
          <p:nvPr/>
        </p:nvPicPr>
        <p:blipFill>
          <a:blip xmlns:r="http://schemas.openxmlformats.org/officeDocument/2006/relationships" xmlns:a="http://schemas.openxmlformats.org/drawingml/2006/main" r:embed="Raeccebfdcf284b28">
            <a:extLst>
              <a:ext uri="{96DAC541-7B7A-43D3-8B79-37D633B846F1}">
                <ns7:svgBlip xmlns:ns7="http://schemas.microsoft.com/office/drawing/2016/SVG/main" r:embed="rIdVectormf00838"/>
              </a:ext>
            </a:extLst>
          </a:blip>
          <a:stretch xmlns:a="http://schemas.openxmlformats.org/drawingml/2006/main"/>
        </p:blipFill>
        <p:spPr>
          <a:xfrm xmlns:a="http://schemas.openxmlformats.org/drawingml/2006/main">
            <a:off x="7334250" y="2847622"/>
            <a:ext cx="1857375" cy="229306"/>
          </a:xfrm>
          <a:prstGeom xmlns:a="http://schemas.openxmlformats.org/drawingml/2006/main" prst="rect">
            <a:avLst/>
          </a:prstGeom>
        </p:spPr>
      </p:pic>
      <p:pic>
        <p:nvPicPr>
          <p:cNvPr id="94" name="!!qam-top-gain" descr="\div A_c"/>
          <p:cNvPicPr>
            <a:picLocks xmlns:a="http://schemas.openxmlformats.org/drawingml/2006/main" noChangeAspect="1"/>
          </p:cNvPicPr>
          <p:nvPr/>
        </p:nvPicPr>
        <p:blipFill>
          <a:blip xmlns:r="http://schemas.openxmlformats.org/officeDocument/2006/relationships" xmlns:a="http://schemas.openxmlformats.org/drawingml/2006/main" r:embed="Re44530a92ef54ec2">
            <a:extLst>
              <a:ext uri="{96DAC541-7B7A-43D3-8B79-37D633B846F1}">
                <ns8:svgBlip xmlns:ns8="http://schemas.microsoft.com/office/drawing/2016/SVG/main" r:embed="rIdVectormf00839"/>
              </a:ext>
            </a:extLst>
          </a:blip>
          <a:stretch xmlns:a="http://schemas.openxmlformats.org/drawingml/2006/main"/>
        </p:blipFill>
        <p:spPr>
          <a:xfrm xmlns:a="http://schemas.openxmlformats.org/drawingml/2006/main">
            <a:off x="9269954" y="2664143"/>
            <a:ext cx="433892" cy="167640"/>
          </a:xfrm>
          <a:prstGeom xmlns:a="http://schemas.openxmlformats.org/drawingml/2006/main" prst="rect">
            <a:avLst/>
          </a:prstGeom>
        </p:spPr>
      </p:pic>
      <p:pic>
        <p:nvPicPr>
          <p:cNvPr id="95" name="!!qam-top-message" descr="m_1(t)"/>
          <p:cNvPicPr>
            <a:picLocks xmlns:a="http://schemas.openxmlformats.org/drawingml/2006/main" noChangeAspect="1"/>
          </p:cNvPicPr>
          <p:nvPr/>
        </p:nvPicPr>
        <p:blipFill>
          <a:blip xmlns:r="http://schemas.openxmlformats.org/officeDocument/2006/relationships" xmlns:a="http://schemas.openxmlformats.org/drawingml/2006/main" r:embed="R07df1aaab07648a1">
            <a:extLst>
              <a:ext uri="{96DAC541-7B7A-43D3-8B79-37D633B846F1}">
                <ns9:svgBlip xmlns:ns9="http://schemas.microsoft.com/office/drawing/2016/SVG/main" r:embed="rIdVectormf00840"/>
              </a:ext>
            </a:extLst>
          </a:blip>
          <a:stretch xmlns:a="http://schemas.openxmlformats.org/drawingml/2006/main"/>
        </p:blipFill>
        <p:spPr>
          <a:xfrm xmlns:a="http://schemas.openxmlformats.org/drawingml/2006/main">
            <a:off x="9944100" y="2828925"/>
            <a:ext cx="746760" cy="266700"/>
          </a:xfrm>
          <a:prstGeom xmlns:a="http://schemas.openxmlformats.org/drawingml/2006/main" prst="rect">
            <a:avLst/>
          </a:prstGeom>
        </p:spPr>
      </p:pic>
      <p:pic>
        <p:nvPicPr>
          <p:cNvPr id="96" name="!!qam-bottom-mixed" descr="u_2"/>
          <p:cNvPicPr>
            <a:picLocks xmlns:a="http://schemas.openxmlformats.org/drawingml/2006/main" noChangeAspect="1"/>
          </p:cNvPicPr>
          <p:nvPr/>
        </p:nvPicPr>
        <p:blipFill>
          <a:blip xmlns:r="http://schemas.openxmlformats.org/officeDocument/2006/relationships" xmlns:a="http://schemas.openxmlformats.org/drawingml/2006/main" r:embed="Ra4f65df8bf554f0c">
            <a:extLst>
              <a:ext uri="{96DAC541-7B7A-43D3-8B79-37D633B846F1}">
                <ns10:svgBlip xmlns:ns10="http://schemas.microsoft.com/office/drawing/2016/SVG/main" r:embed="rIdVectormf00841"/>
              </a:ext>
            </a:extLst>
          </a:blip>
          <a:stretch xmlns:a="http://schemas.openxmlformats.org/drawingml/2006/main"/>
        </p:blipFill>
        <p:spPr>
          <a:xfrm xmlns:a="http://schemas.openxmlformats.org/drawingml/2006/main">
            <a:off x="5485924" y="3954968"/>
            <a:ext cx="220028" cy="119640"/>
          </a:xfrm>
          <a:prstGeom xmlns:a="http://schemas.openxmlformats.org/drawingml/2006/main" prst="rect">
            <a:avLst/>
          </a:prstGeom>
        </p:spPr>
      </p:pic>
      <p:pic>
        <p:nvPicPr>
          <p:cNvPr id="97" name="!!qam-bottom-output-variable" descr="v_2(t)"/>
          <p:cNvPicPr>
            <a:picLocks xmlns:a="http://schemas.openxmlformats.org/drawingml/2006/main" noChangeAspect="1"/>
          </p:cNvPicPr>
          <p:nvPr/>
        </p:nvPicPr>
        <p:blipFill>
          <a:blip xmlns:r="http://schemas.openxmlformats.org/officeDocument/2006/relationships" xmlns:a="http://schemas.openxmlformats.org/drawingml/2006/main" r:embed="R3840b1fa38b94452">
            <a:extLst>
              <a:ext uri="{96DAC541-7B7A-43D3-8B79-37D633B846F1}">
                <ns11:svgBlip xmlns:ns11="http://schemas.microsoft.com/office/drawing/2016/SVG/main" r:embed="rIdVectormf00842"/>
              </a:ext>
            </a:extLst>
          </a:blip>
          <a:stretch xmlns:a="http://schemas.openxmlformats.org/drawingml/2006/main"/>
        </p:blipFill>
        <p:spPr>
          <a:xfrm xmlns:a="http://schemas.openxmlformats.org/drawingml/2006/main">
            <a:off x="7334250" y="4102745"/>
            <a:ext cx="571500" cy="233660"/>
          </a:xfrm>
          <a:prstGeom xmlns:a="http://schemas.openxmlformats.org/drawingml/2006/main" prst="rect">
            <a:avLst/>
          </a:prstGeom>
        </p:spPr>
      </p:pic>
      <p:pic>
        <p:nvPicPr>
          <p:cNvPr id="98" name="!!qam-bottom-carrier" descr="\times2\sin(2\pi f_ct)"/>
          <p:cNvPicPr>
            <a:picLocks xmlns:a="http://schemas.openxmlformats.org/drawingml/2006/main" noChangeAspect="1"/>
          </p:cNvPicPr>
          <p:nvPr/>
        </p:nvPicPr>
        <p:blipFill>
          <a:blip xmlns:r="http://schemas.openxmlformats.org/officeDocument/2006/relationships" xmlns:a="http://schemas.openxmlformats.org/drawingml/2006/main" r:embed="Rf3032bd07eba4426">
            <a:extLst>
              <a:ext uri="{96DAC541-7B7A-43D3-8B79-37D633B846F1}">
                <ns12:svgBlip xmlns:ns12="http://schemas.microsoft.com/office/drawing/2016/SVG/main" r:embed="rIdVectormf00843"/>
              </a:ext>
            </a:extLst>
          </a:blip>
          <a:stretch xmlns:a="http://schemas.openxmlformats.org/drawingml/2006/main"/>
        </p:blipFill>
        <p:spPr>
          <a:xfrm xmlns:a="http://schemas.openxmlformats.org/drawingml/2006/main">
            <a:off x="3262313" y="4102001"/>
            <a:ext cx="1524000" cy="235148"/>
          </a:xfrm>
          <a:prstGeom xmlns:a="http://schemas.openxmlformats.org/drawingml/2006/main" prst="rect">
            <a:avLst/>
          </a:prstGeom>
        </p:spPr>
      </p:pic>
      <p:pic>
        <p:nvPicPr>
          <p:cNvPr id="99" name="!!qam-bottom-output" descr="=A_cm_2(t)"/>
          <p:cNvPicPr>
            <a:picLocks xmlns:a="http://schemas.openxmlformats.org/drawingml/2006/main" noChangeAspect="1"/>
          </p:cNvPicPr>
          <p:nvPr/>
        </p:nvPicPr>
        <p:blipFill>
          <a:blip xmlns:r="http://schemas.openxmlformats.org/officeDocument/2006/relationships" xmlns:a="http://schemas.openxmlformats.org/drawingml/2006/main" r:embed="R5fbeba1a427e4b4e">
            <a:extLst>
              <a:ext uri="{96DAC541-7B7A-43D3-8B79-37D633B846F1}">
                <ns13:svgBlip xmlns:ns13="http://schemas.microsoft.com/office/drawing/2016/SVG/main" r:embed="rIdVectormf00844"/>
              </a:ext>
            </a:extLst>
          </a:blip>
          <a:stretch xmlns:a="http://schemas.openxmlformats.org/drawingml/2006/main"/>
        </p:blipFill>
        <p:spPr>
          <a:xfrm xmlns:a="http://schemas.openxmlformats.org/drawingml/2006/main">
            <a:off x="8020050" y="4109740"/>
            <a:ext cx="1171575" cy="219670"/>
          </a:xfrm>
          <a:prstGeom xmlns:a="http://schemas.openxmlformats.org/drawingml/2006/main" prst="rect">
            <a:avLst/>
          </a:prstGeom>
        </p:spPr>
      </p:pic>
      <p:pic>
        <p:nvPicPr>
          <p:cNvPr id="100" name="!!qam-bottom-gain" descr="\div A_c"/>
          <p:cNvPicPr>
            <a:picLocks xmlns:a="http://schemas.openxmlformats.org/drawingml/2006/main" noChangeAspect="1"/>
          </p:cNvPicPr>
          <p:nvPr/>
        </p:nvPicPr>
        <p:blipFill>
          <a:blip xmlns:r="http://schemas.openxmlformats.org/officeDocument/2006/relationships" xmlns:a="http://schemas.openxmlformats.org/drawingml/2006/main" r:embed="R36a5fd1133584689">
            <a:extLst>
              <a:ext uri="{96DAC541-7B7A-43D3-8B79-37D633B846F1}">
                <ns14:svgBlip xmlns:ns14="http://schemas.microsoft.com/office/drawing/2016/SVG/main" r:embed="rIdVectormf00845"/>
              </a:ext>
            </a:extLst>
          </a:blip>
          <a:stretch xmlns:a="http://schemas.openxmlformats.org/drawingml/2006/main"/>
        </p:blipFill>
        <p:spPr>
          <a:xfrm xmlns:a="http://schemas.openxmlformats.org/drawingml/2006/main">
            <a:off x="9269954" y="3921443"/>
            <a:ext cx="433892" cy="167640"/>
          </a:xfrm>
          <a:prstGeom xmlns:a="http://schemas.openxmlformats.org/drawingml/2006/main" prst="rect">
            <a:avLst/>
          </a:prstGeom>
        </p:spPr>
      </p:pic>
      <p:pic>
        <p:nvPicPr>
          <p:cNvPr id="101" name="!!qam-bottom-message" descr="m_2(t)"/>
          <p:cNvPicPr>
            <a:picLocks xmlns:a="http://schemas.openxmlformats.org/drawingml/2006/main" noChangeAspect="1"/>
          </p:cNvPicPr>
          <p:nvPr/>
        </p:nvPicPr>
        <p:blipFill>
          <a:blip xmlns:r="http://schemas.openxmlformats.org/officeDocument/2006/relationships" xmlns:a="http://schemas.openxmlformats.org/drawingml/2006/main" r:embed="R687c48788a6d45dc">
            <a:extLst>
              <a:ext uri="{96DAC541-7B7A-43D3-8B79-37D633B846F1}">
                <ns15:svgBlip xmlns:ns15="http://schemas.microsoft.com/office/drawing/2016/SVG/main" r:embed="rIdVectormf00846"/>
              </a:ext>
            </a:extLst>
          </a:blip>
          <a:stretch xmlns:a="http://schemas.openxmlformats.org/drawingml/2006/main"/>
        </p:blipFill>
        <p:spPr>
          <a:xfrm xmlns:a="http://schemas.openxmlformats.org/drawingml/2006/main">
            <a:off x="9944100" y="4086225"/>
            <a:ext cx="746760" cy="266700"/>
          </a:xfrm>
          <a:prstGeom xmlns:a="http://schemas.openxmlformats.org/drawingml/2006/main" prst="rect">
            <a:avLst/>
          </a:prstGeom>
        </p:spPr>
      </p:pic>
      <p:pic>
        <p:nvPicPr>
          <p:cNvPr id="102" name="!!qam-dense-equation-0" descr="\textstyle u_1(t)=2s(t)\cos(2\pi f_ct),\qquad v_1(t)=A_cm_1(t)"/>
          <p:cNvPicPr>
            <a:picLocks xmlns:a="http://schemas.openxmlformats.org/drawingml/2006/main" noChangeAspect="1"/>
          </p:cNvPicPr>
          <p:nvPr/>
        </p:nvPicPr>
        <p:blipFill>
          <a:blip xmlns:r="http://schemas.openxmlformats.org/officeDocument/2006/relationships" xmlns:a="http://schemas.openxmlformats.org/drawingml/2006/main" r:embed="R547129816c99486f">
            <a:extLst>
              <a:ext uri="{96DAC541-7B7A-43D3-8B79-37D633B846F1}">
                <ns16:svgBlip xmlns:ns16="http://schemas.microsoft.com/office/drawing/2016/SVG/main" r:embed="rIdVectormf00847"/>
              </a:ext>
            </a:extLst>
          </a:blip>
          <a:stretch xmlns:a="http://schemas.openxmlformats.org/drawingml/2006/main"/>
        </p:blipFill>
        <p:spPr>
          <a:xfrm xmlns:a="http://schemas.openxmlformats.org/drawingml/2006/main">
            <a:off x="609600" y="4696599"/>
            <a:ext cx="5522595" cy="246102"/>
          </a:xfrm>
          <a:prstGeom xmlns:a="http://schemas.openxmlformats.org/drawingml/2006/main" prst="rect">
            <a:avLst/>
          </a:prstGeom>
        </p:spPr>
      </p:pic>
      <p:pic>
        <p:nvPicPr>
          <p:cNvPr id="103" name="!!qam-dense-equation-1" descr="\textstyle u_2(t)=2s(t)\sin(2\pi f_ct)"/>
          <p:cNvPicPr>
            <a:picLocks xmlns:a="http://schemas.openxmlformats.org/drawingml/2006/main" noChangeAspect="1"/>
          </p:cNvPicPr>
          <p:nvPr/>
        </p:nvPicPr>
        <p:blipFill>
          <a:blip xmlns:r="http://schemas.openxmlformats.org/officeDocument/2006/relationships" xmlns:a="http://schemas.openxmlformats.org/drawingml/2006/main" r:embed="R1d386be00c8445a6">
            <a:extLst>
              <a:ext uri="{96DAC541-7B7A-43D3-8B79-37D633B846F1}">
                <ns17:svgBlip xmlns:ns17="http://schemas.microsoft.com/office/drawing/2016/SVG/main" r:embed="rIdVectormf00848"/>
              </a:ext>
            </a:extLst>
          </a:blip>
          <a:stretch xmlns:a="http://schemas.openxmlformats.org/drawingml/2006/main"/>
        </p:blipFill>
        <p:spPr>
          <a:xfrm xmlns:a="http://schemas.openxmlformats.org/drawingml/2006/main">
            <a:off x="609600" y="5134749"/>
            <a:ext cx="2798445" cy="246102"/>
          </a:xfrm>
          <a:prstGeom xmlns:a="http://schemas.openxmlformats.org/drawingml/2006/main" prst="rect">
            <a:avLst/>
          </a:prstGeom>
        </p:spPr>
      </p:pic>
      <p:pic>
        <p:nvPicPr>
          <p:cNvPr id="104" name="!!qam-dense-equation-2" descr="\textstyle \phantom{u_2(t)}=2A_cm_1(t)\sin(2\pi f_ct)\cos(2\pi f_ct)+2A_cm_2(t)\sin^2(2\pi f_ct)"/>
          <p:cNvPicPr>
            <a:picLocks xmlns:a="http://schemas.openxmlformats.org/drawingml/2006/main" noChangeAspect="1"/>
          </p:cNvPicPr>
          <p:nvPr/>
        </p:nvPicPr>
        <p:blipFill>
          <a:blip xmlns:r="http://schemas.openxmlformats.org/officeDocument/2006/relationships" xmlns:a="http://schemas.openxmlformats.org/drawingml/2006/main" r:embed="R081ac20824684efc">
            <a:extLst>
              <a:ext uri="{96DAC541-7B7A-43D3-8B79-37D633B846F1}">
                <ns18:svgBlip xmlns:ns18="http://schemas.microsoft.com/office/drawing/2016/SVG/main" r:embed="rIdVectormf00849"/>
              </a:ext>
            </a:extLst>
          </a:blip>
          <a:stretch xmlns:a="http://schemas.openxmlformats.org/drawingml/2006/main"/>
        </p:blipFill>
        <p:spPr>
          <a:xfrm xmlns:a="http://schemas.openxmlformats.org/drawingml/2006/main">
            <a:off x="1429353" y="5559743"/>
            <a:ext cx="6549869" cy="272415"/>
          </a:xfrm>
          <a:prstGeom xmlns:a="http://schemas.openxmlformats.org/drawingml/2006/main" prst="rect">
            <a:avLst/>
          </a:prstGeom>
        </p:spPr>
      </p:pic>
      <p:pic>
        <p:nvPicPr>
          <p:cNvPr id="105" name="!!qam-dense-equation-3" descr="\textstyle \phantom{u_2(t)}=A_cm_2(t)-A_cm_2(t)\cos(4\pi f_ct)+A_cm_1(t)\sin(4\pi f_ct)"/>
          <p:cNvPicPr>
            <a:picLocks xmlns:a="http://schemas.openxmlformats.org/drawingml/2006/main" noChangeAspect="1"/>
          </p:cNvPicPr>
          <p:nvPr/>
        </p:nvPicPr>
        <p:blipFill>
          <a:blip xmlns:r="http://schemas.openxmlformats.org/officeDocument/2006/relationships" xmlns:a="http://schemas.openxmlformats.org/drawingml/2006/main" r:embed="R0c038e502e754c1a">
            <a:extLst>
              <a:ext uri="{96DAC541-7B7A-43D3-8B79-37D633B846F1}">
                <ns19:svgBlip xmlns:ns19="http://schemas.microsoft.com/office/drawing/2016/SVG/main" r:embed="rIdVectormf00850"/>
              </a:ext>
            </a:extLst>
          </a:blip>
          <a:stretch xmlns:a="http://schemas.openxmlformats.org/drawingml/2006/main"/>
        </p:blipFill>
        <p:spPr>
          <a:xfrm xmlns:a="http://schemas.openxmlformats.org/drawingml/2006/main">
            <a:off x="1299100" y="6011049"/>
            <a:ext cx="6537960" cy="246102"/>
          </a:xfrm>
          <a:prstGeom xmlns:a="http://schemas.openxmlformats.org/drawingml/2006/main" prst="rect">
            <a:avLst/>
          </a:prstGeom>
        </p:spPr>
      </p:pic>
      <p:pic>
        <p:nvPicPr>
          <p:cNvPr id="106" name="!!qam-dense-equation-4" descr="\textstyle v_2(t)=\mathrm{LPF}\{u_2(t)\}=A_cm_2(t)-0+0,\quad m_2(t)=v_2(t)/A_c"/>
          <p:cNvPicPr>
            <a:picLocks xmlns:a="http://schemas.openxmlformats.org/drawingml/2006/main" noChangeAspect="1"/>
          </p:cNvPicPr>
          <p:nvPr/>
        </p:nvPicPr>
        <p:blipFill>
          <a:blip xmlns:r="http://schemas.openxmlformats.org/officeDocument/2006/relationships" xmlns:a="http://schemas.openxmlformats.org/drawingml/2006/main" r:embed="Rbe98d06348a04399">
            <a:extLst>
              <a:ext uri="{96DAC541-7B7A-43D3-8B79-37D633B846F1}">
                <ns20:svgBlip xmlns:ns20="http://schemas.microsoft.com/office/drawing/2016/SVG/main" r:embed="rIdVectormf00851"/>
              </a:ext>
            </a:extLst>
          </a:blip>
          <a:stretch xmlns:a="http://schemas.openxmlformats.org/drawingml/2006/main"/>
        </p:blipFill>
        <p:spPr>
          <a:xfrm xmlns:a="http://schemas.openxmlformats.org/drawingml/2006/main">
            <a:off x="609600" y="6449199"/>
            <a:ext cx="7330440" cy="246102"/>
          </a:xfrm>
          <a:prstGeom xmlns:a="http://schemas.openxmlformats.org/drawingml/2006/main" prst="rect">
            <a:avLst/>
          </a:prstGeom>
        </p:spPr>
      </p:pic>
    </p:spTree>
    <p:extLst>
      <p:ext uri="{BB962C8B-B14F-4D97-AF65-F5344CB8AC3E}">
        <p14:creationId xmlns:p14="http://schemas.microsoft.com/office/powerpoint/2010/main" val="60318736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400"/>
                                        <p:tgtEl>
                                          <p:spTgt spid="98"/>
                                        </p:tgtEl>
                                      </p:cBhvr>
                                    </p:animEffect>
                                  </p:childTnLst>
                                </p:cTn>
                              </p:par>
                              <p:par>
                                <p:cTn id="8" presetID="10" presetClass="entr" presetSubtype="0" fill="hold" nodeType="withEffect">
                                  <p:stCondLst>
                                    <p:cond delay="0"/>
                                  </p:stCondLst>
                                  <p:childTnLst>
                                    <p:set>
                                      <p:cBhvr>
                                        <p:cTn id="9" dur="1" fill="hold">
                                          <p:stCondLst>
                                            <p:cond delay="0"/>
                                          </p:stCondLst>
                                        </p:cTn>
                                        <p:tgtEl>
                                          <p:spTgt spid="103"/>
                                        </p:tgtEl>
                                        <p:attrNameLst>
                                          <p:attrName>style.visibility</p:attrName>
                                        </p:attrNameLst>
                                      </p:cBhvr>
                                      <p:to>
                                        <p:strVal val="visible"/>
                                      </p:to>
                                    </p:set>
                                    <p:animEffect transition="in" filter="fade">
                                      <p:cBhvr>
                                        <p:cTn id="10" dur="400"/>
                                        <p:tgtEl>
                                          <p:spTgt spid="103"/>
                                        </p:tgtEl>
                                      </p:cBhvr>
                                    </p:animEffect>
                                  </p:childTnLst>
                                </p:cTn>
                              </p:par>
                              <p:par>
                                <p:cTn id="11" presetID="10" presetClass="entr" presetSubtype="0" fill="hold" nodeType="withEffect">
                                  <p:stCondLst>
                                    <p:cond delay="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400"/>
                                        <p:tgtEl>
                                          <p:spTgt spid="1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5"/>
                                        </p:tgtEl>
                                        <p:attrNameLst>
                                          <p:attrName>style.visibility</p:attrName>
                                        </p:attrNameLst>
                                      </p:cBhvr>
                                      <p:to>
                                        <p:strVal val="visible"/>
                                      </p:to>
                                    </p:set>
                                    <p:animEffect transition="in" filter="fade">
                                      <p:cBhvr>
                                        <p:cTn id="18" dur="400"/>
                                        <p:tgtEl>
                                          <p:spTgt spid="1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9"/>
                                        </p:tgtEl>
                                        <p:attrNameLst>
                                          <p:attrName>style.visibility</p:attrName>
                                        </p:attrNameLst>
                                      </p:cBhvr>
                                      <p:to>
                                        <p:strVal val="visible"/>
                                      </p:to>
                                    </p:set>
                                    <p:animEffect transition="in" filter="fade">
                                      <p:cBhvr>
                                        <p:cTn id="23" dur="400"/>
                                        <p:tgtEl>
                                          <p:spTgt spid="99"/>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nodeType="withEffect">
                                  <p:stCondLst>
                                    <p:cond delay="0"/>
                                  </p:stCondLst>
                                  <p:childTnLst>
                                    <p:set>
                                      <p:cBhvr>
                                        <p:cTn id="31" dur="1" fill="hold">
                                          <p:stCondLst>
                                            <p:cond delay="0"/>
                                          </p:stCondLst>
                                        </p:cTn>
                                        <p:tgtEl>
                                          <p:spTgt spid="100"/>
                                        </p:tgtEl>
                                        <p:attrNameLst>
                                          <p:attrName>style.visibility</p:attrName>
                                        </p:attrNameLst>
                                      </p:cBhvr>
                                      <p:to>
                                        <p:strVal val="visible"/>
                                      </p:to>
                                    </p:set>
                                    <p:animEffect transition="in" filter="fade">
                                      <p:cBhvr>
                                        <p:cTn id="32" dur="400"/>
                                        <p:tgtEl>
                                          <p:spTgt spid="100"/>
                                        </p:tgtEl>
                                      </p:cBhvr>
                                    </p:animEffect>
                                  </p:childTnLst>
                                </p:cTn>
                              </p:par>
                              <p:par>
                                <p:cTn id="33" presetID="10" presetClass="entr" presetSubtype="0" fill="hold" nodeType="withEffect">
                                  <p:stCondLst>
                                    <p:cond delay="0"/>
                                  </p:stCondLst>
                                  <p:childTnLst>
                                    <p:set>
                                      <p:cBhvr>
                                        <p:cTn id="34" dur="1" fill="hold">
                                          <p:stCondLst>
                                            <p:cond delay="0"/>
                                          </p:stCondLst>
                                        </p:cTn>
                                        <p:tgtEl>
                                          <p:spTgt spid="101"/>
                                        </p:tgtEl>
                                        <p:attrNameLst>
                                          <p:attrName>style.visibility</p:attrName>
                                        </p:attrNameLst>
                                      </p:cBhvr>
                                      <p:to>
                                        <p:strVal val="visible"/>
                                      </p:to>
                                    </p:set>
                                    <p:animEffect transition="in" filter="fade">
                                      <p:cBhvr>
                                        <p:cTn id="35" dur="400"/>
                                        <p:tgtEl>
                                          <p:spTgt spid="101"/>
                                        </p:tgtEl>
                                      </p:cBhvr>
                                    </p:animEffect>
                                  </p:childTnLst>
                                </p:cTn>
                              </p:par>
                              <p:par>
                                <p:cTn id="36" presetID="10" presetClass="entr" presetSubtype="0" fill="hold" nodeType="withEffect">
                                  <p:stCondLst>
                                    <p:cond delay="0"/>
                                  </p:stCondLst>
                                  <p:childTnLst>
                                    <p:set>
                                      <p:cBhvr>
                                        <p:cTn id="37" dur="1" fill="hold">
                                          <p:stCondLst>
                                            <p:cond delay="0"/>
                                          </p:stCondLst>
                                        </p:cTn>
                                        <p:tgtEl>
                                          <p:spTgt spid="106"/>
                                        </p:tgtEl>
                                        <p:attrNameLst>
                                          <p:attrName>style.visibility</p:attrName>
                                        </p:attrNameLst>
                                      </p:cBhvr>
                                      <p:to>
                                        <p:strVal val="visible"/>
                                      </p:to>
                                    </p:set>
                                    <p:animEffect transition="in" filter="fade">
                                      <p:cBhvr>
                                        <p:cTn id="38" dur="4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4925c9d800124bea">
            <a:extLst>
              <a:ext uri="{96DAC541-7B7A-43D3-8B79-37D633B846F1}">
                <asvg:svgBlip xmlns:asvg="http://schemas.microsoft.com/office/drawing/2016/SVG/main" r:embed="rIdLatex21"/>
              </a:ext>
            </a:extLst>
          </a:blip>
          <a:stretch xmlns:a="http://schemas.openxmlformats.org/drawingml/2006/main"/>
        </p:blipFill>
        <p:spPr>
          <a:xfrm xmlns:a="http://schemas.openxmlformats.org/drawingml/2006/main">
            <a:off x="83724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92919328109b4ee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43005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bb79f116db4448ec">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69665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13a354839d804482">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1017174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07A2A795-5D68-4292-A836-0BAB9A9ADAA1}"/>
              </a:ext>
            </a:extLst>
          </p:cNvPr>
          <p:cNvSpPr>
            <a:spLocks xmlns:a="http://schemas.openxmlformats.org/drawingml/2006/main" noGrp="1"/>
          </p:cNvSpPr>
          <p:nvPr/>
        </p:nvSpPr>
        <p:spPr>
          <a:xfrm xmlns:a="http://schemas.openxmlformats.org/drawingml/2006/main">
            <a:off x="22383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0755AA5A-86FC-4B1E-B249-69F49048F7DB}"/>
              </a:ext>
            </a:extLst>
          </p:cNvPr>
          <p:cNvSpPr>
            <a:spLocks xmlns:a="http://schemas.openxmlformats.org/drawingml/2006/main" noGrp="1"/>
          </p:cNvSpPr>
          <p:nvPr/>
        </p:nvSpPr>
        <p:spPr>
          <a:xfrm xmlns:a="http://schemas.openxmlformats.org/drawingml/2006/main" rot="5400000">
            <a:off x="3924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channel_shaft">
            <a:extLst xmlns:a="http://schemas.openxmlformats.org/drawingml/2006/main">
              <a:ext uri="{FF2B5EF4-FFF2-40B4-BE49-F238E27FC236}">
                <a16:creationId xmlns:a16="http://schemas.microsoft.com/office/drawing/2014/main" id="{F11663F5-0720-4FBC-BDB7-D4C8B9945B00}"/>
              </a:ext>
            </a:extLst>
          </p:cNvPr>
          <p:cNvSpPr>
            <a:spLocks xmlns:a="http://schemas.openxmlformats.org/drawingml/2006/main" noGrp="1"/>
          </p:cNvSpPr>
          <p:nvPr/>
        </p:nvSpPr>
        <p:spPr>
          <a:xfrm xmlns:a="http://schemas.openxmlformats.org/drawingml/2006/main">
            <a:off x="5505450" y="3429000"/>
            <a:ext cx="111442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channel_head">
            <a:extLst xmlns:a="http://schemas.openxmlformats.org/drawingml/2006/main">
              <a:ext uri="{FF2B5EF4-FFF2-40B4-BE49-F238E27FC236}">
                <a16:creationId xmlns:a16="http://schemas.microsoft.com/office/drawing/2014/main" id="{4AD32299-6BF7-4F88-8D9D-93ADE87DA39A}"/>
              </a:ext>
            </a:extLst>
          </p:cNvPr>
          <p:cNvSpPr>
            <a:spLocks xmlns:a="http://schemas.openxmlformats.org/drawingml/2006/main" noGrp="1"/>
          </p:cNvSpPr>
          <p:nvPr/>
        </p:nvSpPr>
        <p:spPr>
          <a:xfrm xmlns:a="http://schemas.openxmlformats.org/drawingml/2006/main" rot="5400000">
            <a:off x="6591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9" name="!!rx_shaft">
            <a:extLst xmlns:a="http://schemas.openxmlformats.org/drawingml/2006/main">
              <a:ext uri="{FF2B5EF4-FFF2-40B4-BE49-F238E27FC236}">
                <a16:creationId xmlns:a16="http://schemas.microsoft.com/office/drawing/2014/main" id="{BF99EAC6-D117-405F-8E1A-1B346F2FD8E5}"/>
              </a:ext>
            </a:extLst>
          </p:cNvPr>
          <p:cNvSpPr>
            <a:spLocks xmlns:a="http://schemas.openxmlformats.org/drawingml/2006/main" noGrp="1"/>
          </p:cNvSpPr>
          <p:nvPr/>
        </p:nvSpPr>
        <p:spPr>
          <a:xfrm xmlns:a="http://schemas.openxmlformats.org/drawingml/2006/main">
            <a:off x="81438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rx_head">
            <a:extLst xmlns:a="http://schemas.openxmlformats.org/drawingml/2006/main">
              <a:ext uri="{FF2B5EF4-FFF2-40B4-BE49-F238E27FC236}">
                <a16:creationId xmlns:a16="http://schemas.microsoft.com/office/drawing/2014/main" id="{8A4AE472-FB5C-4206-A34C-797EE16DCC26}"/>
              </a:ext>
            </a:extLst>
          </p:cNvPr>
          <p:cNvSpPr>
            <a:spLocks xmlns:a="http://schemas.openxmlformats.org/drawingml/2006/main" noGrp="1"/>
          </p:cNvSpPr>
          <p:nvPr/>
        </p:nvSpPr>
        <p:spPr>
          <a:xfrm xmlns:a="http://schemas.openxmlformats.org/drawingml/2006/main" rot="5400000">
            <a:off x="98298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11" name="!!tx_label">
            <a:extLst xmlns:a="http://schemas.openxmlformats.org/drawingml/2006/main">
              <a:ext uri="{FF2B5EF4-FFF2-40B4-BE49-F238E27FC236}">
                <a16:creationId xmlns:a16="http://schemas.microsoft.com/office/drawing/2014/main" id="{21C29262-F7AE-48E7-8C56-E72BE80A75A2}"/>
              </a:ext>
            </a:extLst>
          </p:cNvPr>
          <p:cNvSpPr>
            <a:spLocks xmlns:a="http://schemas.openxmlformats.org/drawingml/2006/main" noGrp="1"/>
          </p:cNvSpPr>
          <p:nvPr/>
        </p:nvSpPr>
        <p:spPr>
          <a:xfrm xmlns:a="http://schemas.openxmlformats.org/drawingml/2006/main">
            <a:off x="21526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Modulation</a:t>
            </a:r>
          </a:p>
        </p:txBody>
      </p:sp>
      <p:sp>
        <p:nvSpPr>
          <p:cNvPr id="12" name="!!channel_label">
            <a:extLst xmlns:a="http://schemas.openxmlformats.org/drawingml/2006/main">
              <a:ext uri="{FF2B5EF4-FFF2-40B4-BE49-F238E27FC236}">
                <a16:creationId xmlns:a16="http://schemas.microsoft.com/office/drawing/2014/main" id="{5C8C049F-B5EE-474F-A508-1D6310D7F25A}"/>
              </a:ext>
            </a:extLst>
          </p:cNvPr>
          <p:cNvSpPr>
            <a:spLocks xmlns:a="http://schemas.openxmlformats.org/drawingml/2006/main" noGrp="1"/>
          </p:cNvSpPr>
          <p:nvPr/>
        </p:nvSpPr>
        <p:spPr>
          <a:xfrm xmlns:a="http://schemas.openxmlformats.org/drawingml/2006/main">
            <a:off x="5219700" y="2600325"/>
            <a:ext cx="176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Transmission</a:t>
            </a:r>
          </a:p>
        </p:txBody>
      </p:sp>
      <p:sp>
        <p:nvSpPr>
          <p:cNvPr id="13" name="!!rx_label">
            <a:extLst xmlns:a="http://schemas.openxmlformats.org/drawingml/2006/main">
              <a:ext uri="{FF2B5EF4-FFF2-40B4-BE49-F238E27FC236}">
                <a16:creationId xmlns:a16="http://schemas.microsoft.com/office/drawing/2014/main" id="{7674CE2B-C67A-428B-86B2-0DE07245DF50}"/>
              </a:ext>
            </a:extLst>
          </p:cNvPr>
          <p:cNvSpPr>
            <a:spLocks xmlns:a="http://schemas.openxmlformats.org/drawingml/2006/main" noGrp="1"/>
          </p:cNvSpPr>
          <p:nvPr/>
        </p:nvSpPr>
        <p:spPr>
          <a:xfrm xmlns:a="http://schemas.openxmlformats.org/drawingml/2006/main">
            <a:off x="80581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Demodulation</a:t>
            </a:r>
          </a:p>
        </p:txBody>
      </p:sp>
      <p:sp>
        <p:nvSpPr>
          <p:cNvPr id="14" name="!!ideal_label">
            <a:extLst xmlns:a="http://schemas.openxmlformats.org/drawingml/2006/main">
              <a:ext uri="{FF2B5EF4-FFF2-40B4-BE49-F238E27FC236}">
                <a16:creationId xmlns:a16="http://schemas.microsoft.com/office/drawing/2014/main" id="{79178F8B-48AA-443D-AD59-E9CF61B4241C}"/>
              </a:ext>
            </a:extLst>
          </p:cNvPr>
          <p:cNvSpPr>
            <a:spLocks xmlns:a="http://schemas.openxmlformats.org/drawingml/2006/main" noGrp="1"/>
          </p:cNvSpPr>
          <p:nvPr/>
        </p:nvSpPr>
        <p:spPr>
          <a:xfrm xmlns:a="http://schemas.openxmlformats.org/drawingml/2006/main">
            <a:off x="4667250" y="42195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Ideal channel</a:t>
            </a:r>
          </a:p>
        </p:txBody>
      </p:sp>
      <p:pic>
        <p:nvPicPr>
          <p:cNvPr id="15" name="!!ideal_equation" descr="LaTeX formula: !!ideal_equation"/>
          <p:cNvPicPr>
            <a:picLocks xmlns:a="http://schemas.openxmlformats.org/drawingml/2006/main" noChangeAspect="1"/>
          </p:cNvPicPr>
          <p:nvPr/>
        </p:nvPicPr>
        <p:blipFill>
          <a:blip xmlns:r="http://schemas.openxmlformats.org/officeDocument/2006/relationships" xmlns:a="http://schemas.openxmlformats.org/drawingml/2006/main" r:embed="Rc8fa9ac29cd84330">
            <a:extLst>
              <a:ext uri="{96DAC541-7B7A-43D3-8B79-37D633B846F1}">
                <asvg:svgBlip xmlns:asvg="http://schemas.microsoft.com/office/drawing/2016/SVG/main" r:embed="rIdLatex15"/>
              </a:ext>
            </a:extLst>
          </a:blip>
          <a:stretch xmlns:a="http://schemas.openxmlformats.org/drawingml/2006/main"/>
        </p:blipFill>
        <p:spPr>
          <a:xfrm xmlns:a="http://schemas.openxmlformats.org/drawingml/2006/main">
            <a:off x="5075873" y="4745222"/>
            <a:ext cx="2040255" cy="396506"/>
          </a:xfrm>
          <a:prstGeom xmlns:a="http://schemas.openxmlformats.org/drawingml/2006/main" prst="rect">
            <a:avLst/>
          </a:prstGeom>
        </p:spPr>
      </p:pic>
    </p:spTree>
    <p:extLst>
      <p:ext uri="{BB962C8B-B14F-4D97-AF65-F5344CB8AC3E}">
        <p14:creationId xmlns:p14="http://schemas.microsoft.com/office/powerpoint/2010/main" val="8904054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b951595dc83247cb">
            <a:extLst>
              <a:ext uri="{96DAC541-7B7A-43D3-8B79-37D633B846F1}">
                <asvg:svgBlip xmlns:asvg="http://schemas.microsoft.com/office/drawing/2016/SVG/main" r:embed="rIdLatex13"/>
              </a:ext>
            </a:extLst>
          </a:blip>
          <a:stretch xmlns:a="http://schemas.openxmlformats.org/drawingml/2006/main"/>
        </p:blipFill>
        <p:spPr>
          <a:xfrm xmlns:a="http://schemas.openxmlformats.org/drawingml/2006/main">
            <a:off x="169449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6cc5d1d750464093">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6340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8716de019fca4a98">
            <a:alphaModFix amt="0"/>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56330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9494b625df204dcf">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931449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D6D6CE0B-934C-4A3C-9CA9-CDC2400B2F24}"/>
              </a:ext>
            </a:extLst>
          </p:cNvPr>
          <p:cNvSpPr>
            <a:spLocks xmlns:a="http://schemas.openxmlformats.org/drawingml/2006/main" noGrp="1"/>
          </p:cNvSpPr>
          <p:nvPr/>
        </p:nvSpPr>
        <p:spPr>
          <a:xfrm xmlns:a="http://schemas.openxmlformats.org/drawingml/2006/main">
            <a:off x="309562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D592AABA-8118-454C-BF87-5C140D2362D2}"/>
              </a:ext>
            </a:extLst>
          </p:cNvPr>
          <p:cNvSpPr>
            <a:spLocks xmlns:a="http://schemas.openxmlformats.org/drawingml/2006/main" noGrp="1"/>
          </p:cNvSpPr>
          <p:nvPr/>
        </p:nvSpPr>
        <p:spPr>
          <a:xfrm xmlns:a="http://schemas.openxmlformats.org/drawingml/2006/main" rot="5400000">
            <a:off x="526732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rx_shaft">
            <a:extLst xmlns:a="http://schemas.openxmlformats.org/drawingml/2006/main">
              <a:ext uri="{FF2B5EF4-FFF2-40B4-BE49-F238E27FC236}">
                <a16:creationId xmlns:a16="http://schemas.microsoft.com/office/drawing/2014/main" id="{60EA3A3E-A2F5-4E04-BD05-FD6380B6F14F}"/>
              </a:ext>
            </a:extLst>
          </p:cNvPr>
          <p:cNvSpPr>
            <a:spLocks xmlns:a="http://schemas.openxmlformats.org/drawingml/2006/main" noGrp="1"/>
          </p:cNvSpPr>
          <p:nvPr/>
        </p:nvSpPr>
        <p:spPr>
          <a:xfrm xmlns:a="http://schemas.openxmlformats.org/drawingml/2006/main">
            <a:off x="681037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rx_head">
            <a:extLst xmlns:a="http://schemas.openxmlformats.org/drawingml/2006/main">
              <a:ext uri="{FF2B5EF4-FFF2-40B4-BE49-F238E27FC236}">
                <a16:creationId xmlns:a16="http://schemas.microsoft.com/office/drawing/2014/main" id="{14A9C521-E2AB-4017-959F-779B72D9D31F}"/>
              </a:ext>
            </a:extLst>
          </p:cNvPr>
          <p:cNvSpPr>
            <a:spLocks xmlns:a="http://schemas.openxmlformats.org/drawingml/2006/main" noGrp="1"/>
          </p:cNvSpPr>
          <p:nvPr/>
        </p:nvSpPr>
        <p:spPr>
          <a:xfrm xmlns:a="http://schemas.openxmlformats.org/drawingml/2006/main" rot="5400000">
            <a:off x="898207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705811190"/>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detail_"/>
        <p:cNvGrpSpPr/>
        <p:nvPr/>
      </p:nvGrpSpPr>
      <p:grpSpPr>
        <a:xfrm xmlns:a="http://schemas.openxmlformats.org/drawingml/2006/main"/>
      </p:grpSpPr>
      <p:sp>
        <p:nvSpPr>
          <p:cNvPr id="71" name="!!detail_tx_AM">
            <ns0:hlinkClick xmlns:ns0="http://schemas.openxmlformats.org/drawingml/2006/main" xmlns:ns1="http://schemas.openxmlformats.org/officeDocument/2006/relationships" ns1:id="rIdWeeklyAMReview" action="ppaction://hlinksldjump"/>
            <a:extLst xmlns:a="http://schemas.openxmlformats.org/drawingml/2006/main">
              <a:ext uri="{FF2B5EF4-FFF2-40B4-BE49-F238E27FC236}">
                <a16:creationId xmlns:a16="http://schemas.microsoft.com/office/drawing/2014/main" id="{7D0A69BF-2474-41FF-860A-EBA0F7533C41}"/>
              </a:ext>
            </a:extLst>
          </p:cNvPr>
          <p:cNvSpPr>
            <a:spLocks xmlns:a="http://schemas.openxmlformats.org/drawingml/2006/main" noGrp="1"/>
          </p:cNvSpPr>
          <p:nvPr/>
        </p:nvSpPr>
        <p:spPr>
          <a:xfrm xmlns:a="http://schemas.openxmlformats.org/drawingml/2006/main">
            <a:off x="4352925" y="35147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hlinkClick xmlns:ns1="http://schemas.openxmlformats.org/officeDocument/2006/relationships" ns1:id="rIdWeeklyAMReview" action="ppaction://hlinksldjump"/>
              </a:rPr>
              <a:t>AM schemes</a:t>
            </a:r>
          </a:p>
        </p:txBody>
      </p:sp>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43c9675d9fb14bb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514306" y="452438"/>
            <a:ext cx="1163389" cy="647700"/>
          </a:xfrm>
          <a:prstGeom xmlns:a="http://schemas.openxmlformats.org/drawingml/2006/main" prst="rect">
            <a:avLst/>
          </a:prstGeom>
        </p:spPr>
      </p:pic>
      <p:sp>
        <p:nvSpPr>
          <p:cNvPr id="7" name="!!detail_tx_PM">
            <a:extLst xmlns:a="http://schemas.openxmlformats.org/drawingml/2006/main">
              <a:ext uri="{FF2B5EF4-FFF2-40B4-BE49-F238E27FC236}">
                <a16:creationId xmlns:a16="http://schemas.microsoft.com/office/drawing/2014/main" id="{61E7A5FB-E391-4C24-8DAB-8D18D3792A4C}"/>
              </a:ext>
            </a:extLst>
          </p:cNvPr>
          <p:cNvSpPr>
            <a:spLocks xmlns:a="http://schemas.openxmlformats.org/drawingml/2006/main" noGrp="1"/>
          </p:cNvSpPr>
          <p:nvPr/>
        </p:nvSpPr>
        <p:spPr>
          <a:xfrm xmlns:a="http://schemas.openxmlformats.org/drawingml/2006/main">
            <a:off x="6886575"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PM</a:t>
            </a:r>
          </a:p>
        </p:txBody>
      </p:sp>
      <p:sp>
        <p:nvSpPr>
          <p:cNvPr id="8" name="!!detail_tx_FM">
            <a:extLst xmlns:a="http://schemas.openxmlformats.org/drawingml/2006/main">
              <a:ext uri="{FF2B5EF4-FFF2-40B4-BE49-F238E27FC236}">
                <a16:creationId xmlns:a16="http://schemas.microsoft.com/office/drawing/2014/main" id="{2A5B3CF0-B4FF-4E77-9CE9-83727EE3A364}"/>
              </a:ext>
            </a:extLst>
          </p:cNvPr>
          <p:cNvSpPr>
            <a:spLocks xmlns:a="http://schemas.openxmlformats.org/drawingml/2006/main" noGrp="1"/>
          </p:cNvSpPr>
          <p:nvPr/>
        </p:nvSpPr>
        <p:spPr>
          <a:xfrm xmlns:a="http://schemas.openxmlformats.org/drawingml/2006/main">
            <a:off x="9296400"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FM</a:t>
            </a:r>
          </a:p>
        </p:txBody>
      </p:sp>
      <p:sp>
        <p:nvSpPr>
          <p:cNvPr id="9" name="!!detail_tx_PAM">
            <a:extLst xmlns:a="http://schemas.openxmlformats.org/drawingml/2006/main">
              <a:ext uri="{FF2B5EF4-FFF2-40B4-BE49-F238E27FC236}">
                <a16:creationId xmlns:a16="http://schemas.microsoft.com/office/drawing/2014/main" id="{5CCF5FA2-2D7B-4DEC-B02B-5F0F46372B79}"/>
              </a:ext>
            </a:extLst>
          </p:cNvPr>
          <p:cNvSpPr>
            <a:spLocks xmlns:a="http://schemas.openxmlformats.org/drawingml/2006/main" noGrp="1"/>
          </p:cNvSpPr>
          <p:nvPr/>
        </p:nvSpPr>
        <p:spPr>
          <a:xfrm xmlns:a="http://schemas.openxmlformats.org/drawingml/2006/main">
            <a:off x="5613437" y="597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PAM</a:t>
            </a:r>
          </a:p>
        </p:txBody>
      </p:sp>
      <p:pic>
        <p:nvPicPr>
          <p:cNvPr id="10" name="!!detail_sinusoid_formula" descr="LaTeX formula: sinusoid_formula"/>
          <p:cNvPicPr>
            <a:picLocks xmlns:a="http://schemas.openxmlformats.org/drawingml/2006/main" noChangeAspect="1"/>
          </p:cNvPicPr>
          <p:nvPr/>
        </p:nvPicPr>
        <p:blipFill>
          <a:blip xmlns:r="http://schemas.openxmlformats.org/officeDocument/2006/relationships" xmlns:a="http://schemas.openxmlformats.org/drawingml/2006/main" r:embed="R81eaae8cb5ff4a78">
            <a:extLst>
              <a:ext uri="{96DAC541-7B7A-43D3-8B79-37D633B846F1}">
                <asvg:svgBlip xmlns:asvg="http://schemas.microsoft.com/office/drawing/2016/SVG/main" r:embed="rIdLatex10"/>
              </a:ext>
            </a:extLst>
          </a:blip>
          <a:stretch xmlns:a="http://schemas.openxmlformats.org/drawingml/2006/main"/>
        </p:blipFill>
        <p:spPr>
          <a:xfrm xmlns:a="http://schemas.openxmlformats.org/drawingml/2006/main">
            <a:off x="3257550" y="1992075"/>
            <a:ext cx="4435959" cy="454501"/>
          </a:xfrm>
          <a:prstGeom xmlns:a="http://schemas.openxmlformats.org/drawingml/2006/main" prst="rect">
            <a:avLst/>
          </a:prstGeom>
        </p:spPr>
      </p:pic>
      <p:pic>
        <p:nvPicPr>
          <p:cNvPr id="11" name="!!detail_pulse_formula" descr="LaTeX formula: pulse_formula"/>
          <p:cNvPicPr>
            <a:picLocks xmlns:a="http://schemas.openxmlformats.org/drawingml/2006/main" noChangeAspect="1"/>
          </p:cNvPicPr>
          <p:nvPr/>
        </p:nvPicPr>
        <p:blipFill>
          <a:blip xmlns:r="http://schemas.openxmlformats.org/officeDocument/2006/relationships" xmlns:a="http://schemas.openxmlformats.org/drawingml/2006/main" r:embed="Rd1e86a2e8e854418">
            <a:extLst>
              <a:ext uri="{96DAC541-7B7A-43D3-8B79-37D633B846F1}">
                <asvg:svgBlip xmlns:asvg="http://schemas.microsoft.com/office/drawing/2016/SVG/main" r:embed="rIdLatex11"/>
              </a:ext>
            </a:extLst>
          </a:blip>
          <a:stretch xmlns:a="http://schemas.openxmlformats.org/drawingml/2006/main"/>
        </p:blipFill>
        <p:spPr>
          <a:xfrm xmlns:a="http://schemas.openxmlformats.org/drawingml/2006/main">
            <a:off x="3257550" y="4393878"/>
            <a:ext cx="5734050" cy="895358"/>
          </a:xfrm>
          <a:prstGeom xmlns:a="http://schemas.openxmlformats.org/drawingml/2006/main" prst="rect">
            <a:avLst/>
          </a:prstGeom>
        </p:spPr>
      </p:pic>
      <p:sp>
        <p:nvSpPr>
          <p:cNvPr id="22" name="!!detail_choice_spine">
            <a:extLst xmlns:a="http://schemas.openxmlformats.org/drawingml/2006/main">
              <a:ext uri="{FF2B5EF4-FFF2-40B4-BE49-F238E27FC236}">
                <a16:creationId xmlns:a16="http://schemas.microsoft.com/office/drawing/2014/main" id="{7F92CC80-F529-43B1-A520-E79066FFFF05}"/>
              </a:ext>
            </a:extLst>
          </p:cNvPr>
          <p:cNvSpPr>
            <a:spLocks xmlns:a="http://schemas.openxmlformats.org/drawingml/2006/main" noGrp="1"/>
          </p:cNvSpPr>
          <p:nvPr/>
        </p:nvSpPr>
        <p:spPr>
          <a:xfrm xmlns:a="http://schemas.openxmlformats.org/drawingml/2006/main">
            <a:off x="2390775" y="1352550"/>
            <a:ext cx="13335" cy="34671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3" name="!!detail_sinusoid_choice_shaft">
            <a:extLst xmlns:a="http://schemas.openxmlformats.org/drawingml/2006/main">
              <a:ext uri="{FF2B5EF4-FFF2-40B4-BE49-F238E27FC236}">
                <a16:creationId xmlns:a16="http://schemas.microsoft.com/office/drawing/2014/main" id="{1A5AFF7A-4617-401A-A295-23B13CB9169F}"/>
              </a:ext>
            </a:extLst>
          </p:cNvPr>
          <p:cNvSpPr>
            <a:spLocks xmlns:a="http://schemas.openxmlformats.org/drawingml/2006/main" noGrp="1"/>
          </p:cNvSpPr>
          <p:nvPr/>
        </p:nvSpPr>
        <p:spPr>
          <a:xfrm xmlns:a="http://schemas.openxmlformats.org/drawingml/2006/main">
            <a:off x="2390775" y="2238375"/>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4" name="!!detail_sinusoid_choice_head">
            <a:extLst xmlns:a="http://schemas.openxmlformats.org/drawingml/2006/main">
              <a:ext uri="{FF2B5EF4-FFF2-40B4-BE49-F238E27FC236}">
                <a16:creationId xmlns:a16="http://schemas.microsoft.com/office/drawing/2014/main" id="{2DAD7307-0893-4989-9F3C-A6DCE0B4F43D}"/>
              </a:ext>
            </a:extLst>
          </p:cNvPr>
          <p:cNvSpPr>
            <a:spLocks xmlns:a="http://schemas.openxmlformats.org/drawingml/2006/main" noGrp="1"/>
          </p:cNvSpPr>
          <p:nvPr/>
        </p:nvSpPr>
        <p:spPr>
          <a:xfrm xmlns:a="http://schemas.openxmlformats.org/drawingml/2006/main" rot="5400000">
            <a:off x="3009900" y="2200275"/>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5" name="!!detail_pulse_choice_shaft">
            <a:extLst xmlns:a="http://schemas.openxmlformats.org/drawingml/2006/main">
              <a:ext uri="{FF2B5EF4-FFF2-40B4-BE49-F238E27FC236}">
                <a16:creationId xmlns:a16="http://schemas.microsoft.com/office/drawing/2014/main" id="{CCAE4AED-EBE1-43B7-BBF3-96AE959E3084}"/>
              </a:ext>
            </a:extLst>
          </p:cNvPr>
          <p:cNvSpPr>
            <a:spLocks xmlns:a="http://schemas.openxmlformats.org/drawingml/2006/main" noGrp="1"/>
          </p:cNvSpPr>
          <p:nvPr/>
        </p:nvSpPr>
        <p:spPr>
          <a:xfrm xmlns:a="http://schemas.openxmlformats.org/drawingml/2006/main">
            <a:off x="2390775" y="4819650"/>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6" name="!!detail_pulse_choice_head">
            <a:extLst xmlns:a="http://schemas.openxmlformats.org/drawingml/2006/main">
              <a:ext uri="{FF2B5EF4-FFF2-40B4-BE49-F238E27FC236}">
                <a16:creationId xmlns:a16="http://schemas.microsoft.com/office/drawing/2014/main" id="{E02B1C5F-B445-4D8A-B112-76C0B6980D62}"/>
              </a:ext>
            </a:extLst>
          </p:cNvPr>
          <p:cNvSpPr>
            <a:spLocks xmlns:a="http://schemas.openxmlformats.org/drawingml/2006/main" noGrp="1"/>
          </p:cNvSpPr>
          <p:nvPr/>
        </p:nvSpPr>
        <p:spPr>
          <a:xfrm xmlns:a="http://schemas.openxmlformats.org/drawingml/2006/main" rot="5400000">
            <a:off x="3009900" y="4781550"/>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7" name="!!detail_sinusoid_label">
            <a:extLst xmlns:a="http://schemas.openxmlformats.org/drawingml/2006/main">
              <a:ext uri="{FF2B5EF4-FFF2-40B4-BE49-F238E27FC236}">
                <a16:creationId xmlns:a16="http://schemas.microsoft.com/office/drawing/2014/main" id="{0A2F6D01-EDDC-47E7-9F20-58FE33FCD567}"/>
              </a:ext>
            </a:extLst>
          </p:cNvPr>
          <p:cNvSpPr>
            <a:spLocks xmlns:a="http://schemas.openxmlformats.org/drawingml/2006/main" noGrp="1"/>
          </p:cNvSpPr>
          <p:nvPr/>
        </p:nvSpPr>
        <p:spPr>
          <a:xfrm xmlns:a="http://schemas.openxmlformats.org/drawingml/2006/main">
            <a:off x="3257550" y="15525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Sinusoidal carrier</a:t>
            </a:r>
          </a:p>
        </p:txBody>
      </p:sp>
      <p:sp>
        <p:nvSpPr>
          <p:cNvPr id="31" name="!!detail_amplitude_bracket_l">
            <a:extLst xmlns:a="http://schemas.openxmlformats.org/drawingml/2006/main">
              <a:ext uri="{FF2B5EF4-FFF2-40B4-BE49-F238E27FC236}">
                <a16:creationId xmlns:a16="http://schemas.microsoft.com/office/drawing/2014/main" id="{DC27978C-5957-4E66-93BA-A0933C5BB337}"/>
              </a:ext>
            </a:extLst>
          </p:cNvPr>
          <p:cNvSpPr>
            <a:spLocks xmlns:a="http://schemas.openxmlformats.org/drawingml/2006/main" noGrp="1"/>
          </p:cNvSpPr>
          <p:nvPr/>
        </p:nvSpPr>
        <p:spPr>
          <a:xfrm xmlns:a="http://schemas.openxmlformats.org/drawingml/2006/main">
            <a:off x="482510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detail_amplitude_bracket_b">
            <a:extLst xmlns:a="http://schemas.openxmlformats.org/drawingml/2006/main">
              <a:ext uri="{FF2B5EF4-FFF2-40B4-BE49-F238E27FC236}">
                <a16:creationId xmlns:a16="http://schemas.microsoft.com/office/drawing/2014/main" id="{2C73468E-34D8-43FE-A03B-A705BC8D31AA}"/>
              </a:ext>
            </a:extLst>
          </p:cNvPr>
          <p:cNvSpPr>
            <a:spLocks xmlns:a="http://schemas.openxmlformats.org/drawingml/2006/main" noGrp="1"/>
          </p:cNvSpPr>
          <p:nvPr/>
        </p:nvSpPr>
        <p:spPr>
          <a:xfrm xmlns:a="http://schemas.openxmlformats.org/drawingml/2006/main">
            <a:off x="4825102" y="2619375"/>
            <a:ext cx="1010915"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3" name="!!detail_amplitude_bracket_r">
            <a:extLst xmlns:a="http://schemas.openxmlformats.org/drawingml/2006/main">
              <a:ext uri="{FF2B5EF4-FFF2-40B4-BE49-F238E27FC236}">
                <a16:creationId xmlns:a16="http://schemas.microsoft.com/office/drawing/2014/main" id="{4D9E8214-856D-42A0-8BC0-F2FBC944886B}"/>
              </a:ext>
            </a:extLst>
          </p:cNvPr>
          <p:cNvSpPr>
            <a:spLocks xmlns:a="http://schemas.openxmlformats.org/drawingml/2006/main" noGrp="1"/>
          </p:cNvSpPr>
          <p:nvPr/>
        </p:nvSpPr>
        <p:spPr>
          <a:xfrm xmlns:a="http://schemas.openxmlformats.org/drawingml/2006/main">
            <a:off x="5836017"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4" name="!!detail_amplitude_branch_shaft">
            <a:extLst xmlns:a="http://schemas.openxmlformats.org/drawingml/2006/main">
              <a:ext uri="{FF2B5EF4-FFF2-40B4-BE49-F238E27FC236}">
                <a16:creationId xmlns:a16="http://schemas.microsoft.com/office/drawing/2014/main" id="{39BC7B6E-5362-4820-A697-73E5A4DE12F1}"/>
              </a:ext>
            </a:extLst>
          </p:cNvPr>
          <p:cNvSpPr>
            <a:spLocks xmlns:a="http://schemas.openxmlformats.org/drawingml/2006/main" noGrp="1"/>
          </p:cNvSpPr>
          <p:nvPr/>
        </p:nvSpPr>
        <p:spPr>
          <a:xfrm xmlns:a="http://schemas.openxmlformats.org/drawingml/2006/main">
            <a:off x="5330560" y="2619375"/>
            <a:ext cx="13335" cy="3619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5" name="!!detail_amplitude_branch_head">
            <a:extLst xmlns:a="http://schemas.openxmlformats.org/drawingml/2006/main">
              <a:ext uri="{FF2B5EF4-FFF2-40B4-BE49-F238E27FC236}">
                <a16:creationId xmlns:a16="http://schemas.microsoft.com/office/drawing/2014/main" id="{5C8FCF61-D7E7-4225-BB71-7F98DFDC6C78}"/>
              </a:ext>
            </a:extLst>
          </p:cNvPr>
          <p:cNvSpPr>
            <a:spLocks xmlns:a="http://schemas.openxmlformats.org/drawingml/2006/main" noGrp="1"/>
          </p:cNvSpPr>
          <p:nvPr/>
        </p:nvSpPr>
        <p:spPr>
          <a:xfrm xmlns:a="http://schemas.openxmlformats.org/drawingml/2006/main" rot="10800000">
            <a:off x="5297222"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36" name="!!detail_phase_bracket_l">
            <a:extLst xmlns:a="http://schemas.openxmlformats.org/drawingml/2006/main">
              <a:ext uri="{FF2B5EF4-FFF2-40B4-BE49-F238E27FC236}">
                <a16:creationId xmlns:a16="http://schemas.microsoft.com/office/drawing/2014/main" id="{697B075C-3AEE-42CA-89CD-2F090725308D}"/>
              </a:ext>
            </a:extLst>
          </p:cNvPr>
          <p:cNvSpPr>
            <a:spLocks xmlns:a="http://schemas.openxmlformats.org/drawingml/2006/main" noGrp="1"/>
          </p:cNvSpPr>
          <p:nvPr/>
        </p:nvSpPr>
        <p:spPr>
          <a:xfrm xmlns:a="http://schemas.openxmlformats.org/drawingml/2006/main">
            <a:off x="671523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7" name="!!detail_phase_bracket_b">
            <a:extLst xmlns:a="http://schemas.openxmlformats.org/drawingml/2006/main">
              <a:ext uri="{FF2B5EF4-FFF2-40B4-BE49-F238E27FC236}">
                <a16:creationId xmlns:a16="http://schemas.microsoft.com/office/drawing/2014/main" id="{7FD58E20-7B17-437F-B628-17296FB20B27}"/>
              </a:ext>
            </a:extLst>
          </p:cNvPr>
          <p:cNvSpPr>
            <a:spLocks xmlns:a="http://schemas.openxmlformats.org/drawingml/2006/main" noGrp="1"/>
          </p:cNvSpPr>
          <p:nvPr/>
        </p:nvSpPr>
        <p:spPr>
          <a:xfrm xmlns:a="http://schemas.openxmlformats.org/drawingml/2006/main">
            <a:off x="6715232" y="2619375"/>
            <a:ext cx="910106"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8" name="!!detail_phase_bracket_r">
            <a:extLst xmlns:a="http://schemas.openxmlformats.org/drawingml/2006/main">
              <a:ext uri="{FF2B5EF4-FFF2-40B4-BE49-F238E27FC236}">
                <a16:creationId xmlns:a16="http://schemas.microsoft.com/office/drawing/2014/main" id="{C075D25A-F507-44DA-B4FF-6AC91DAE8B79}"/>
              </a:ext>
            </a:extLst>
          </p:cNvPr>
          <p:cNvSpPr>
            <a:spLocks xmlns:a="http://schemas.openxmlformats.org/drawingml/2006/main" noGrp="1"/>
          </p:cNvSpPr>
          <p:nvPr/>
        </p:nvSpPr>
        <p:spPr>
          <a:xfrm xmlns:a="http://schemas.openxmlformats.org/drawingml/2006/main">
            <a:off x="7625338"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9" name="!!detail_phase_stem">
            <a:extLst xmlns:a="http://schemas.openxmlformats.org/drawingml/2006/main">
              <a:ext uri="{FF2B5EF4-FFF2-40B4-BE49-F238E27FC236}">
                <a16:creationId xmlns:a16="http://schemas.microsoft.com/office/drawing/2014/main" id="{2BE84FCB-6862-49FF-AAE3-C39F22226AF9}"/>
              </a:ext>
            </a:extLst>
          </p:cNvPr>
          <p:cNvSpPr>
            <a:spLocks xmlns:a="http://schemas.openxmlformats.org/drawingml/2006/main" noGrp="1"/>
          </p:cNvSpPr>
          <p:nvPr/>
        </p:nvSpPr>
        <p:spPr>
          <a:xfrm xmlns:a="http://schemas.openxmlformats.org/drawingml/2006/main">
            <a:off x="7170285" y="2619375"/>
            <a:ext cx="13335" cy="2095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0" name="!!detail_phase_fork">
            <a:extLst xmlns:a="http://schemas.openxmlformats.org/drawingml/2006/main">
              <a:ext uri="{FF2B5EF4-FFF2-40B4-BE49-F238E27FC236}">
                <a16:creationId xmlns:a16="http://schemas.microsoft.com/office/drawing/2014/main" id="{E969F3D8-1646-4397-BD84-C8D183A32675}"/>
              </a:ext>
            </a:extLst>
          </p:cNvPr>
          <p:cNvSpPr>
            <a:spLocks xmlns:a="http://schemas.openxmlformats.org/drawingml/2006/main" noGrp="1"/>
          </p:cNvSpPr>
          <p:nvPr/>
        </p:nvSpPr>
        <p:spPr>
          <a:xfrm xmlns:a="http://schemas.openxmlformats.org/drawingml/2006/main">
            <a:off x="7170285" y="2828925"/>
            <a:ext cx="259284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1" name="!!detail_pm_branch_shaft">
            <a:extLst xmlns:a="http://schemas.openxmlformats.org/drawingml/2006/main">
              <a:ext uri="{FF2B5EF4-FFF2-40B4-BE49-F238E27FC236}">
                <a16:creationId xmlns:a16="http://schemas.microsoft.com/office/drawing/2014/main" id="{DA9BBF5A-9A6E-46D5-BF43-C66CF5AC05E3}"/>
              </a:ext>
            </a:extLst>
          </p:cNvPr>
          <p:cNvSpPr>
            <a:spLocks xmlns:a="http://schemas.openxmlformats.org/drawingml/2006/main" noGrp="1"/>
          </p:cNvSpPr>
          <p:nvPr/>
        </p:nvSpPr>
        <p:spPr>
          <a:xfrm xmlns:a="http://schemas.openxmlformats.org/drawingml/2006/main">
            <a:off x="7353300"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2" name="!!detail_pm_branch_head">
            <a:extLst xmlns:a="http://schemas.openxmlformats.org/drawingml/2006/main">
              <a:ext uri="{FF2B5EF4-FFF2-40B4-BE49-F238E27FC236}">
                <a16:creationId xmlns:a16="http://schemas.microsoft.com/office/drawing/2014/main" id="{D16E8E93-1F43-4C1B-A92C-CF604DC49268}"/>
              </a:ext>
            </a:extLst>
          </p:cNvPr>
          <p:cNvSpPr>
            <a:spLocks xmlns:a="http://schemas.openxmlformats.org/drawingml/2006/main" noGrp="1"/>
          </p:cNvSpPr>
          <p:nvPr/>
        </p:nvSpPr>
        <p:spPr>
          <a:xfrm xmlns:a="http://schemas.openxmlformats.org/drawingml/2006/main" rot="10800000">
            <a:off x="7319963"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3" name="!!detail_fm_branch_shaft">
            <a:extLst xmlns:a="http://schemas.openxmlformats.org/drawingml/2006/main">
              <a:ext uri="{FF2B5EF4-FFF2-40B4-BE49-F238E27FC236}">
                <a16:creationId xmlns:a16="http://schemas.microsoft.com/office/drawing/2014/main" id="{7E6992DC-24C0-4B2D-A29A-E18AA01E9A95}"/>
              </a:ext>
            </a:extLst>
          </p:cNvPr>
          <p:cNvSpPr>
            <a:spLocks xmlns:a="http://schemas.openxmlformats.org/drawingml/2006/main" noGrp="1"/>
          </p:cNvSpPr>
          <p:nvPr/>
        </p:nvSpPr>
        <p:spPr>
          <a:xfrm xmlns:a="http://schemas.openxmlformats.org/drawingml/2006/main">
            <a:off x="9763125"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4" name="!!detail_fm_branch_head">
            <a:extLst xmlns:a="http://schemas.openxmlformats.org/drawingml/2006/main">
              <a:ext uri="{FF2B5EF4-FFF2-40B4-BE49-F238E27FC236}">
                <a16:creationId xmlns:a16="http://schemas.microsoft.com/office/drawing/2014/main" id="{2A42B708-6D65-4625-8E55-D4AE49AEE1DF}"/>
              </a:ext>
            </a:extLst>
          </p:cNvPr>
          <p:cNvSpPr>
            <a:spLocks xmlns:a="http://schemas.openxmlformats.org/drawingml/2006/main" noGrp="1"/>
          </p:cNvSpPr>
          <p:nvPr/>
        </p:nvSpPr>
        <p:spPr>
          <a:xfrm xmlns:a="http://schemas.openxmlformats.org/drawingml/2006/main" rot="10800000">
            <a:off x="9729788"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5" name="!!detail_amplitude_operation">
            <a:extLst xmlns:a="http://schemas.openxmlformats.org/drawingml/2006/main">
              <a:ext uri="{FF2B5EF4-FFF2-40B4-BE49-F238E27FC236}">
                <a16:creationId xmlns:a16="http://schemas.microsoft.com/office/drawing/2014/main" id="{018F10CA-D063-4AD8-B169-06EC470B17C2}"/>
              </a:ext>
            </a:extLst>
          </p:cNvPr>
          <p:cNvSpPr>
            <a:spLocks xmlns:a="http://schemas.openxmlformats.org/drawingml/2006/main" noGrp="1"/>
          </p:cNvSpPr>
          <p:nvPr/>
        </p:nvSpPr>
        <p:spPr>
          <a:xfrm xmlns:a="http://schemas.openxmlformats.org/drawingml/2006/main">
            <a:off x="3981450" y="307657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amplitude</a:t>
            </a:r>
          </a:p>
        </p:txBody>
      </p:sp>
      <p:sp>
        <p:nvSpPr>
          <p:cNvPr id="46" name="!!detail_phase_operation">
            <a:extLst xmlns:a="http://schemas.openxmlformats.org/drawingml/2006/main">
              <a:ext uri="{FF2B5EF4-FFF2-40B4-BE49-F238E27FC236}">
                <a16:creationId xmlns:a16="http://schemas.microsoft.com/office/drawing/2014/main" id="{98278DB6-EAAE-4C18-AEB0-2D61526D2B78}"/>
              </a:ext>
            </a:extLst>
          </p:cNvPr>
          <p:cNvSpPr>
            <a:spLocks xmlns:a="http://schemas.openxmlformats.org/drawingml/2006/main" noGrp="1"/>
          </p:cNvSpPr>
          <p:nvPr/>
        </p:nvSpPr>
        <p:spPr>
          <a:xfrm xmlns:a="http://schemas.openxmlformats.org/drawingml/2006/main">
            <a:off x="6419850" y="3076575"/>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phase</a:t>
            </a:r>
          </a:p>
        </p:txBody>
      </p:sp>
      <p:sp>
        <p:nvSpPr>
          <p:cNvPr id="47" name="!!detail_frequency_operation">
            <a:extLst xmlns:a="http://schemas.openxmlformats.org/drawingml/2006/main">
              <a:ext uri="{FF2B5EF4-FFF2-40B4-BE49-F238E27FC236}">
                <a16:creationId xmlns:a16="http://schemas.microsoft.com/office/drawing/2014/main" id="{334E0337-EB6F-4A08-950F-4454F4489244}"/>
              </a:ext>
            </a:extLst>
          </p:cNvPr>
          <p:cNvSpPr>
            <a:spLocks xmlns:a="http://schemas.openxmlformats.org/drawingml/2006/main" noGrp="1"/>
          </p:cNvSpPr>
          <p:nvPr/>
        </p:nvSpPr>
        <p:spPr>
          <a:xfrm xmlns:a="http://schemas.openxmlformats.org/drawingml/2006/main">
            <a:off x="8524875"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frequency</a:t>
            </a:r>
          </a:p>
        </p:txBody>
      </p:sp>
      <p:sp>
        <p:nvSpPr>
          <p:cNvPr id="48" name="!!detail_pulse_label">
            <a:extLst xmlns:a="http://schemas.openxmlformats.org/drawingml/2006/main">
              <a:ext uri="{FF2B5EF4-FFF2-40B4-BE49-F238E27FC236}">
                <a16:creationId xmlns:a16="http://schemas.microsoft.com/office/drawing/2014/main" id="{3C0AD1B9-73D9-4DAB-B5F5-6AD48C94B925}"/>
              </a:ext>
            </a:extLst>
          </p:cNvPr>
          <p:cNvSpPr>
            <a:spLocks xmlns:a="http://schemas.openxmlformats.org/drawingml/2006/main" noGrp="1"/>
          </p:cNvSpPr>
          <p:nvPr/>
        </p:nvSpPr>
        <p:spPr>
          <a:xfrm xmlns:a="http://schemas.openxmlformats.org/drawingml/2006/main">
            <a:off x="3257550" y="4152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Pulses</a:t>
            </a:r>
          </a:p>
        </p:txBody>
      </p:sp>
      <p:sp>
        <p:nvSpPr>
          <p:cNvPr id="52" name="!!detail_sample_bracket_l">
            <a:extLst xmlns:a="http://schemas.openxmlformats.org/drawingml/2006/main">
              <a:ext uri="{FF2B5EF4-FFF2-40B4-BE49-F238E27FC236}">
                <a16:creationId xmlns:a16="http://schemas.microsoft.com/office/drawing/2014/main" id="{A81E0BB7-EA35-443E-9A9A-DFE0D7156D28}"/>
              </a:ext>
            </a:extLst>
          </p:cNvPr>
          <p:cNvSpPr>
            <a:spLocks xmlns:a="http://schemas.openxmlformats.org/drawingml/2006/main" noGrp="1"/>
          </p:cNvSpPr>
          <p:nvPr/>
        </p:nvSpPr>
        <p:spPr>
          <a:xfrm xmlns:a="http://schemas.openxmlformats.org/drawingml/2006/main">
            <a:off x="5331927"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3" name="!!detail_sample_bracket_b">
            <a:extLst xmlns:a="http://schemas.openxmlformats.org/drawingml/2006/main">
              <a:ext uri="{FF2B5EF4-FFF2-40B4-BE49-F238E27FC236}">
                <a16:creationId xmlns:a16="http://schemas.microsoft.com/office/drawing/2014/main" id="{8C3FDFD7-B55E-4D35-867F-C18CF30CAD25}"/>
              </a:ext>
            </a:extLst>
          </p:cNvPr>
          <p:cNvSpPr>
            <a:spLocks xmlns:a="http://schemas.openxmlformats.org/drawingml/2006/main" noGrp="1"/>
          </p:cNvSpPr>
          <p:nvPr/>
        </p:nvSpPr>
        <p:spPr>
          <a:xfrm xmlns:a="http://schemas.openxmlformats.org/drawingml/2006/main">
            <a:off x="5331927" y="5181600"/>
            <a:ext cx="1515522"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4" name="!!detail_sample_bracket_r">
            <a:extLst xmlns:a="http://schemas.openxmlformats.org/drawingml/2006/main">
              <a:ext uri="{FF2B5EF4-FFF2-40B4-BE49-F238E27FC236}">
                <a16:creationId xmlns:a16="http://schemas.microsoft.com/office/drawing/2014/main" id="{D606A1BB-29C9-4E49-9001-00324A0D4427}"/>
              </a:ext>
            </a:extLst>
          </p:cNvPr>
          <p:cNvSpPr>
            <a:spLocks xmlns:a="http://schemas.openxmlformats.org/drawingml/2006/main" noGrp="1"/>
          </p:cNvSpPr>
          <p:nvPr/>
        </p:nvSpPr>
        <p:spPr>
          <a:xfrm xmlns:a="http://schemas.openxmlformats.org/drawingml/2006/main">
            <a:off x="6847448"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5" name="!!detail_pulse_control_shaft">
            <a:extLst xmlns:a="http://schemas.openxmlformats.org/drawingml/2006/main">
              <a:ext uri="{FF2B5EF4-FFF2-40B4-BE49-F238E27FC236}">
                <a16:creationId xmlns:a16="http://schemas.microsoft.com/office/drawing/2014/main" id="{D973FD33-8853-4F09-B677-108AE2E2FF2B}"/>
              </a:ext>
            </a:extLst>
          </p:cNvPr>
          <p:cNvSpPr>
            <a:spLocks xmlns:a="http://schemas.openxmlformats.org/drawingml/2006/main" noGrp="1"/>
          </p:cNvSpPr>
          <p:nvPr/>
        </p:nvSpPr>
        <p:spPr>
          <a:xfrm xmlns:a="http://schemas.openxmlformats.org/drawingml/2006/main">
            <a:off x="6089687" y="5181600"/>
            <a:ext cx="13335" cy="2571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6" name="!!detail_pulse_control_head">
            <a:extLst xmlns:a="http://schemas.openxmlformats.org/drawingml/2006/main">
              <a:ext uri="{FF2B5EF4-FFF2-40B4-BE49-F238E27FC236}">
                <a16:creationId xmlns:a16="http://schemas.microsoft.com/office/drawing/2014/main" id="{5AC0C46B-5CE2-4E57-88F9-A19750E5B211}"/>
              </a:ext>
            </a:extLst>
          </p:cNvPr>
          <p:cNvSpPr>
            <a:spLocks xmlns:a="http://schemas.openxmlformats.org/drawingml/2006/main" noGrp="1"/>
          </p:cNvSpPr>
          <p:nvPr/>
        </p:nvSpPr>
        <p:spPr>
          <a:xfrm xmlns:a="http://schemas.openxmlformats.org/drawingml/2006/main" rot="10800000">
            <a:off x="6056350" y="541972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57" name="!!detail_pulse_operation">
            <a:extLst xmlns:a="http://schemas.openxmlformats.org/drawingml/2006/main">
              <a:ext uri="{FF2B5EF4-FFF2-40B4-BE49-F238E27FC236}">
                <a16:creationId xmlns:a16="http://schemas.microsoft.com/office/drawing/2014/main" id="{CF939668-3D26-47C9-BBF1-0E1ABE593230}"/>
              </a:ext>
            </a:extLst>
          </p:cNvPr>
          <p:cNvSpPr>
            <a:spLocks xmlns:a="http://schemas.openxmlformats.org/drawingml/2006/main" noGrp="1"/>
          </p:cNvSpPr>
          <p:nvPr/>
        </p:nvSpPr>
        <p:spPr>
          <a:xfrm xmlns:a="http://schemas.openxmlformats.org/drawingml/2006/main">
            <a:off x="4756187" y="5543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pulse height</a:t>
            </a:r>
          </a:p>
        </p:txBody>
      </p:sp>
      <p:pic>
        <p:nvPicPr>
          <p:cNvPr id="58"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6c33fe8690204575">
            <a:alphaModFix amt="35000"/>
            <a:extLst>
              <a:ext uri="{96DAC541-7B7A-43D3-8B79-37D633B846F1}">
                <asvg:svgBlip xmlns:asvg="http://schemas.microsoft.com/office/drawing/2016/SVG/main" r:embed="rIdLatex58"/>
              </a:ext>
            </a:extLst>
          </a:blip>
          <a:stretch xmlns:a="http://schemas.openxmlformats.org/drawingml/2006/main"/>
        </p:blipFill>
        <p:spPr>
          <a:xfrm xmlns:a="http://schemas.openxmlformats.org/drawingml/2006/main">
            <a:off x="1862138" y="666762"/>
            <a:ext cx="657225" cy="285725"/>
          </a:xfrm>
          <a:prstGeom xmlns:a="http://schemas.openxmlformats.org/drawingml/2006/main" prst="rect">
            <a:avLst/>
          </a:prstGeom>
        </p:spPr>
      </p:pic>
      <p:pic>
        <p:nvPicPr>
          <p:cNvPr id="59"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e6a39991428447d5">
            <a:alphaModFix amt="35000"/>
            <a:extLst>
              <a:ext uri="{96DAC541-7B7A-43D3-8B79-37D633B846F1}">
                <asvg:svgBlip xmlns:asvg="http://schemas.microsoft.com/office/drawing/2016/SVG/main" r:embed="rIdLatex59"/>
              </a:ext>
            </a:extLst>
          </a:blip>
          <a:stretch xmlns:a="http://schemas.openxmlformats.org/drawingml/2006/main"/>
        </p:blipFill>
        <p:spPr>
          <a:xfrm xmlns:a="http://schemas.openxmlformats.org/drawingml/2006/main">
            <a:off x="9672638" y="666762"/>
            <a:ext cx="657225" cy="285725"/>
          </a:xfrm>
          <a:prstGeom xmlns:a="http://schemas.openxmlformats.org/drawingml/2006/main" prst="rect">
            <a:avLst/>
          </a:prstGeom>
        </p:spPr>
      </p:pic>
      <p:sp>
        <p:nvSpPr>
          <p:cNvPr id="60" name="!!tx_shaft">
            <a:extLst xmlns:a="http://schemas.openxmlformats.org/drawingml/2006/main">
              <a:ext uri="{FF2B5EF4-FFF2-40B4-BE49-F238E27FC236}">
                <a16:creationId xmlns:a16="http://schemas.microsoft.com/office/drawing/2014/main" id="{DA5D3AC2-F845-442D-BFBF-2932A196DE8C}"/>
              </a:ext>
            </a:extLst>
          </p:cNvPr>
          <p:cNvSpPr>
            <a:spLocks xmlns:a="http://schemas.openxmlformats.org/drawingml/2006/main" noGrp="1"/>
          </p:cNvSpPr>
          <p:nvPr/>
        </p:nvSpPr>
        <p:spPr>
          <a:xfrm xmlns:a="http://schemas.openxmlformats.org/drawingml/2006/main">
            <a:off x="29051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1" name="!!tx_head">
            <a:extLst xmlns:a="http://schemas.openxmlformats.org/drawingml/2006/main">
              <a:ext uri="{FF2B5EF4-FFF2-40B4-BE49-F238E27FC236}">
                <a16:creationId xmlns:a16="http://schemas.microsoft.com/office/drawing/2014/main" id="{2F0FD6C9-7ADC-4400-9620-B71568B42746}"/>
              </a:ext>
            </a:extLst>
          </p:cNvPr>
          <p:cNvSpPr>
            <a:spLocks xmlns:a="http://schemas.openxmlformats.org/drawingml/2006/main" noGrp="1"/>
          </p:cNvSpPr>
          <p:nvPr/>
        </p:nvSpPr>
        <p:spPr>
          <a:xfrm xmlns:a="http://schemas.openxmlformats.org/drawingml/2006/main" rot="5400000">
            <a:off x="50387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2" name="!!rx_shaft">
            <a:extLst xmlns:a="http://schemas.openxmlformats.org/drawingml/2006/main">
              <a:ext uri="{FF2B5EF4-FFF2-40B4-BE49-F238E27FC236}">
                <a16:creationId xmlns:a16="http://schemas.microsoft.com/office/drawing/2014/main" id="{14E7D56D-AF07-4F65-9FA7-27C71C366D5E}"/>
              </a:ext>
            </a:extLst>
          </p:cNvPr>
          <p:cNvSpPr>
            <a:spLocks xmlns:a="http://schemas.openxmlformats.org/drawingml/2006/main" noGrp="1"/>
          </p:cNvSpPr>
          <p:nvPr/>
        </p:nvSpPr>
        <p:spPr>
          <a:xfrm xmlns:a="http://schemas.openxmlformats.org/drawingml/2006/main">
            <a:off x="70580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3" name="!!rx_head">
            <a:extLst xmlns:a="http://schemas.openxmlformats.org/drawingml/2006/main">
              <a:ext uri="{FF2B5EF4-FFF2-40B4-BE49-F238E27FC236}">
                <a16:creationId xmlns:a16="http://schemas.microsoft.com/office/drawing/2014/main" id="{ED4F3CEF-0986-4097-9C7A-B8ABC14FA105}"/>
              </a:ext>
            </a:extLst>
          </p:cNvPr>
          <p:cNvSpPr>
            <a:spLocks xmlns:a="http://schemas.openxmlformats.org/drawingml/2006/main" noGrp="1"/>
          </p:cNvSpPr>
          <p:nvPr/>
        </p:nvSpPr>
        <p:spPr>
          <a:xfrm xmlns:a="http://schemas.openxmlformats.org/drawingml/2006/main" rot="5400000">
            <a:off x="91916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4" name="!!detail_focus_stem">
            <a:extLst xmlns:a="http://schemas.openxmlformats.org/drawingml/2006/main">
              <a:ext uri="{FF2B5EF4-FFF2-40B4-BE49-F238E27FC236}">
                <a16:creationId xmlns:a16="http://schemas.microsoft.com/office/drawing/2014/main" id="{845FC1F8-8527-49FA-9B69-05011554E2DB}"/>
              </a:ext>
            </a:extLst>
          </p:cNvPr>
          <p:cNvSpPr>
            <a:spLocks xmlns:a="http://schemas.openxmlformats.org/drawingml/2006/main" noGrp="1"/>
          </p:cNvSpPr>
          <p:nvPr/>
        </p:nvSpPr>
        <p:spPr>
          <a:xfrm xmlns:a="http://schemas.openxmlformats.org/drawingml/2006/main">
            <a:off x="6096000" y="1209675"/>
            <a:ext cx="13335" cy="1428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5" name="!!detail_focus_cross">
            <a:extLst xmlns:a="http://schemas.openxmlformats.org/drawingml/2006/main">
              <a:ext uri="{FF2B5EF4-FFF2-40B4-BE49-F238E27FC236}">
                <a16:creationId xmlns:a16="http://schemas.microsoft.com/office/drawing/2014/main" id="{6FA5E81D-8D14-47BD-9849-9877B447DAAB}"/>
              </a:ext>
            </a:extLst>
          </p:cNvPr>
          <p:cNvSpPr>
            <a:spLocks xmlns:a="http://schemas.openxmlformats.org/drawingml/2006/main" noGrp="1"/>
          </p:cNvSpPr>
          <p:nvPr/>
        </p:nvSpPr>
        <p:spPr>
          <a:xfrm xmlns:a="http://schemas.openxmlformats.org/drawingml/2006/main">
            <a:off x="2390775" y="1352550"/>
            <a:ext cx="371856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1560762499"/>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63</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2026-10-05T14:18:19.4660000Z</dcterms:created>
  <dcterms:modified xsi:type="dcterms:W3CDTF">2026-10-05T14:18:19.4660000Z</dcterms:modified>
</coreProperties>
</file>