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svg" ContentType="image/svg+xml"/>
  <Default Extension="gif" ContentType="image/gif"/>
  <Override PartName="/ppt/slideLayouts/t3_reference_methods_slideLayout1.xml" ContentType="application/vnd.openxmlformats-officedocument.presentationml.slideLayout+xml"/>
  <Override PartName="/ppt/slideMasters/t3_reference_methods_slideMaster1.xml" ContentType="application/vnd.openxmlformats-officedocument.presentationml.slideMaster+xml"/>
  <Override PartName="/ppt/slideMasters/theme/t3_reference_methods_theme2.xml" ContentType="application/vnd.openxmlformats-officedocument.theme+xml"/>
</Types>
</file>

<file path=_rels/.rels>&#65279;<?xml version="1.0" encoding="utf-8"?><Relationships xmlns="http://schemas.openxmlformats.org/package/2006/relationships"><Relationship Type="http://schemas.openxmlformats.org/package/2006/relationships/metadata/core-properties" Target="/docProps/core.xml" Id="R07c2cd2e227c4777" /><Relationship Type="http://schemas.openxmlformats.org/officeDocument/2006/relationships/extended-properties" Target="/docProps/app.xml" Id="Rcdcdb0a620f14995" /><Relationship Type="http://schemas.openxmlformats.org/officeDocument/2006/relationships/officeDocument" Target="/ppt/presentation.xml" Id="R6cd0640db5ee4d36" /></Relationships>
</file>

<file path=ppt/presentation.xml><?xml version="1.0" encoding="utf-8"?>
<p:presentation xmlns:p="http://schemas.openxmlformats.org/presentationml/2006/main">
  <p:sldMasterIdLst>
    <p:sldMasterId xmlns:r="http://schemas.openxmlformats.org/officeDocument/2006/relationships" id="2147483648" r:id="R1e09d38d613a4d68"/>
    <p:sldMasterId xmlns:ns0="http://schemas.openxmlformats.org/officeDocument/2006/relationships" id="2147490001" ns0:id="rIdT3Master12"/>
  </p:sldMasterIdLst>
  <p:notesMasterIdLst>
    <p:notesMasterId xmlns:r="http://schemas.openxmlformats.org/officeDocument/2006/relationships" r:id="R57b2893534244949"/>
  </p:notesMasterIdLst>
  <p:sldIdLst>
    <p:sldId xmlns:r="http://schemas.openxmlformats.org/officeDocument/2006/relationships" id="256" r:id="R41536e5446ea46a2"/>
    <p:sldId xmlns:r="http://schemas.openxmlformats.org/officeDocument/2006/relationships" id="257" r:id="R2b16e3558c664033"/>
    <p:sldId xmlns:r="http://schemas.openxmlformats.org/officeDocument/2006/relationships" id="258" r:id="R030d65ff9b344a61"/>
    <p:sldId xmlns:r="http://schemas.openxmlformats.org/officeDocument/2006/relationships" id="259" r:id="R06d043d259134cbb"/>
    <p:sldId xmlns:r="http://schemas.openxmlformats.org/officeDocument/2006/relationships" id="260" r:id="R10c94d0f29c84cb8"/>
    <p:sldId xmlns:r="http://schemas.openxmlformats.org/officeDocument/2006/relationships" id="261" r:id="Rfc68991498c247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5940bf0ff4964961"/><Relationship Type="http://schemas.openxmlformats.org/officeDocument/2006/relationships/slideMaster" Target="/ppt/slideMasters/slideMaster1.xml" Id="R1e09d38d613a4d68"/><Relationship Type="http://schemas.openxmlformats.org/officeDocument/2006/relationships/notesMaster" Target="/ppt/notesMasters/notesMaster1.xml" Id="R57b2893534244949"/><Relationship Type="http://schemas.openxmlformats.org/officeDocument/2006/relationships/presProps" Target="/ppt/presProps.xml" Id="R5929721626154bc1"/><Relationship Type="http://schemas.openxmlformats.org/officeDocument/2006/relationships/tableStyles" Target="/ppt/tableStyles.xml" Id="R37d63b985ca44eea"/><Relationship Type="http://schemas.openxmlformats.org/officeDocument/2006/relationships/slide" Target="/ppt/slides/slide1.xml" Id="R41536e5446ea46a2"/><Relationship Type="http://schemas.openxmlformats.org/officeDocument/2006/relationships/slide" Target="/ppt/slides/slide2.xml" Id="R2b16e3558c664033"/><Relationship Type="http://schemas.openxmlformats.org/officeDocument/2006/relationships/slide" Target="/ppt/slides/slide3.xml" Id="R030d65ff9b344a61"/><Relationship Type="http://schemas.openxmlformats.org/officeDocument/2006/relationships/slide" Target="/ppt/slides/slide4.xml" Id="R06d043d259134cbb"/><Relationship Type="http://schemas.openxmlformats.org/officeDocument/2006/relationships/slide" Target="/ppt/slides/slide5.xml" Id="R10c94d0f29c84cb8"/><Relationship Type="http://schemas.openxmlformats.org/officeDocument/2006/relationships/slide" Target="/ppt/slides/slide6.xml" Id="Rfc68991498c2477f"/><Relationship Id="rIdT3Master12" Type="http://schemas.openxmlformats.org/officeDocument/2006/relationships/slideMaster" Target="slideMasters/t3_reference_methods_slideMaster1.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b95dec5ead4d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5f2d9ecfdd40ad" /><Relationship Type="http://schemas.openxmlformats.org/officeDocument/2006/relationships/notesMaster" Target="/ppt/notesMasters/notesMaster1.xml" Id="Raa8dbe9d2c9a4b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e27027abf94546" /><Relationship Type="http://schemas.openxmlformats.org/officeDocument/2006/relationships/notesMaster" Target="/ppt/notesMasters/notesMaster1.xml" Id="R3da8fac756d241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e92ec367ca46d8" /><Relationship Type="http://schemas.openxmlformats.org/officeDocument/2006/relationships/notesMaster" Target="/ppt/notesMasters/notesMaster1.xml" Id="Rcb94167fb8914b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675642eeed4b46" /><Relationship Type="http://schemas.openxmlformats.org/officeDocument/2006/relationships/notesMaster" Target="/ppt/notesMasters/notesMaster1.xml" Id="R661ea4673abb49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bdf5d028084027" /><Relationship Type="http://schemas.openxmlformats.org/officeDocument/2006/relationships/notesMaster" Target="/ppt/notesMasters/notesMaster1.xml" Id="R250207ad1fc94d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e84c9a31784289" /><Relationship Type="http://schemas.openxmlformats.org/officeDocument/2006/relationships/notesMaster" Target="/ppt/notesMasters/notesMaster1.xml" Id="R12d8798d615c4b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index n locates an individual sample in the sequence x. The five supplied samples run from n=0 to n=4. The extra value x[-1]=0 is given so that a previous sample is available at the left edge. We will use two adjacent input samples to construct one output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 the current sample x[2]=4 and its previous neighbour x[1]=2. An average is halfway between their heights. A click copies these same two heights to output index 2, then brings them together at height 3. The source samples remain visible. After the result holds, the next click records the full arithmetic. The output belongs at index 2, the current index.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numerical example uses current value 4 and previous value 2. Replace the specific current index 2 with the integer index n. Then x[n] is current, x[n-1] is previous, and y[n] is the output at that same current index. Add both inputs and divide the sum by 2. Two-point counts the two input samples used for each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Apply the established rule at n=0,1,2,3,4. At n=0 use the supplied previous value x[-1]=0. The outline moves one input index forward for each new output, so successive pairs overlap by one sample. Each output appears only after the selected pair has settled. Earlier outputs stay visible. Only outputs n=0 through n=4 are requested, and no future input is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page keeps the problem statement and every numerical substitution visible together. Read previous input, current input, their sum divided by 2, and the resulting output in each row. Notice that x[2]=4 is reused in two overlapping pairs. It produces outputs 3 at both n=2 and n=3. The starting value x[-1]=0 is given. The final vector contains only n=0 through n=4.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current index n, add x[n] and its previous input x[n-1], then divide by 2 to obtain y[n]. Advance n by one and use the next overlapping pair. Supply a previous input for the first output; here x[-1]=0. In this example, [0,2,4,2,0] becomes [0,1,3,3,1] over the same five indices.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5817e427bb4e3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290c51efb8547c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3c46e8a68248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52b635afbd4ea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ee9636578084e3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68ada733d4144c1" /></Relationships>
</file>

<file path=ppt/slideLayouts/_rels/t3_reference_methods_slideLayout1.xml.rels><?xml version='1.0' encoding='UTF-8' standalone='yes'?>
<Relationships xmlns="http://schemas.openxmlformats.org/package/2006/relationships"><Relationship Type="http://schemas.openxmlformats.org/officeDocument/2006/relationships/slideMaster" Target="../slideMasters/t3_reference_methods_slideMaster1.xml" Id="Rb871d85dee314de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A9A428-23B0-4583-9167-36FFAA0B99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E4146B5-DB6B-4251-9092-0A4FED5B128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1E6E929-7B9F-4D19-8031-E07989EB853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0EB1DF-1EEE-4AEC-9CBA-F20D93EDBB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EB01A63-351C-4005-9471-3A915DF034D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CBCFF6-3D0F-454E-A02F-6A82F4C9E9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BDC31D-4334-41DB-841F-FEEAA6E9B7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91E2291-7016-4387-949E-6267EE1B663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9BD9EA-BB31-488B-AEA9-4F95CF9C57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A0706CB-30B8-4516-8967-FDD88B8DB6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t3_reference_methods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ecd38806804343" /><Relationship Type="http://schemas.openxmlformats.org/officeDocument/2006/relationships/slideLayout" Target="/ppt/slideLayouts/slideLayout1.xml" Id="R29f4277123a74ca6" /><Relationship Type="http://schemas.openxmlformats.org/officeDocument/2006/relationships/slideLayout" Target="/ppt/slideLayouts/slideLayout2.xml" Id="Rb99f8402583841c7" /><Relationship Type="http://schemas.openxmlformats.org/officeDocument/2006/relationships/slideLayout" Target="/ppt/slideLayouts/slideLayout3.xml" Id="Ra79fbcf3518447ad" /><Relationship Type="http://schemas.openxmlformats.org/officeDocument/2006/relationships/slideLayout" Target="/ppt/slideLayouts/slideLayout4.xml" Id="R557f71c5c76348f1" /><Relationship Type="http://schemas.openxmlformats.org/officeDocument/2006/relationships/slideLayout" Target="/ppt/slideLayouts/slideLayout5.xml" Id="R0216f684072f4338" /><Relationship Type="http://schemas.openxmlformats.org/officeDocument/2006/relationships/slideLayout" Target="/ppt/slideLayouts/slideLayout6.xml" Id="R4f2f697b82654c9f" /></Relationships>
</file>

<file path=ppt/slideMasters/_rels/t3_reference_methods_slideMaster1.xml.rels><?xml version='1.0' encoding='UTF-8' standalone='yes'?>
<Relationships xmlns="http://schemas.openxmlformats.org/package/2006/relationships"><Relationship Type="http://schemas.openxmlformats.org/officeDocument/2006/relationships/theme" Target="theme/t3_reference_methods_theme2.xml" Id="R1607b95a764944df"/><Relationship Type="http://schemas.openxmlformats.org/officeDocument/2006/relationships/slideLayout" Target="../slideLayouts/t3_reference_methods_slideLayout1.xml" Id="R6e2dbe7aaf214e86"/></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f4277123a74ca6"/>
    <p:sldLayoutId xmlns:r="http://schemas.openxmlformats.org/officeDocument/2006/relationships" id="2147483650" r:id="Rb99f8402583841c7"/>
    <p:sldLayoutId xmlns:r="http://schemas.openxmlformats.org/officeDocument/2006/relationships" id="2147483651" r:id="Ra79fbcf3518447ad"/>
    <p:sldLayoutId xmlns:r="http://schemas.openxmlformats.org/officeDocument/2006/relationships" id="2147483652" r:id="R557f71c5c76348f1"/>
    <p:sldLayoutId xmlns:r="http://schemas.openxmlformats.org/officeDocument/2006/relationships" id="2147483653" r:id="R0216f684072f4338"/>
    <p:sldLayoutId xmlns:r="http://schemas.openxmlformats.org/officeDocument/2006/relationships" id="2147483654" r:id="R4f2f697b82654c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3_reference_methods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02" r:id="R6e2dbe7aaf21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3_reference_methods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slideLayouts/t3_reference_methods_slideLayout1.xml" Id="Re2deb22292894cf4"/><Relationship Type="http://schemas.openxmlformats.org/officeDocument/2006/relationships/image" Target="/ppt/media/image.png" Id="R56a937c53fac4137"/><Relationship Type="http://schemas.openxmlformats.org/officeDocument/2006/relationships/image" Target="/ppt/media/image2.png" Id="Rd691c5986a6d40a2"/><Relationship Type="http://schemas.openxmlformats.org/officeDocument/2006/relationships/image" Target="/ppt/media/image3.png" Id="R5758b794fea548ae"/><Relationship Type="http://schemas.openxmlformats.org/officeDocument/2006/relationships/image" Target="/ppt/media/image4.png" Id="Ra6de31cc5b304aea"/><Relationship Type="http://schemas.openxmlformats.org/officeDocument/2006/relationships/notesSlide" Target="/ppt/notesSlides/notesSlide1.xml" Id="R5f875274ab6a4e4d"/><Relationship Id="rIdMathSvg0" Type="http://schemas.openxmlformats.org/officeDocument/2006/relationships/image" Target="../media/t4_bec2f2406bc546d09411c164.svg"/><Relationship Id="rIdMathSvg1" Type="http://schemas.openxmlformats.org/officeDocument/2006/relationships/image" Target="../media/t4_74487c02780fd20403c5b2f5.svg"/><Relationship Id="rIdMathSvg2" Type="http://schemas.openxmlformats.org/officeDocument/2006/relationships/image" Target="../media/t4_caac11e21b7569e2845387ab.svg"/><Relationship Id="rIdMathSvg3" Type="http://schemas.openxmlformats.org/officeDocument/2006/relationships/image" Target="../media/t4_82f2429f49212822d1e7e148.svg"/><Relationship Id="rIdNav0" Type="http://schemas.openxmlformats.org/officeDocument/2006/relationships/slide" Target="slide1.xml"/></Relationships>
</file>

<file path=ppt/slides/_rels/slide2.xml.rels><?xml version='1.0' encoding='UTF-8' standalone='yes'?>
<Relationships xmlns="http://schemas.openxmlformats.org/package/2006/relationships"><Relationship Type="http://schemas.openxmlformats.org/officeDocument/2006/relationships/slideLayout" Target="../slideLayouts/t3_reference_methods_slideLayout1.xml" Id="Rf55eef96e9914fb4"/><Relationship Type="http://schemas.openxmlformats.org/officeDocument/2006/relationships/image" Target="/ppt/media/image5.png" Id="R2c0c216ccf3847bc"/><Relationship Type="http://schemas.openxmlformats.org/officeDocument/2006/relationships/image" Target="/ppt/media/image6.png" Id="R43bcb124fce94bab"/><Relationship Type="http://schemas.openxmlformats.org/officeDocument/2006/relationships/image" Target="/ppt/media/image7.png" Id="R57760c9f93b8455a"/><Relationship Type="http://schemas.openxmlformats.org/officeDocument/2006/relationships/image" Target="/ppt/media/image8.png" Id="R283279ad0e044c52"/><Relationship Type="http://schemas.openxmlformats.org/officeDocument/2006/relationships/notesSlide" Target="/ppt/notesSlides/notesSlide2.xml" Id="Rf6b7e923d6d84b88"/><Relationship Id="rIdMathSvg0" Type="http://schemas.openxmlformats.org/officeDocument/2006/relationships/image" Target="../media/t4_bec2f2406bc546d09411c164.svg"/><Relationship Id="rIdMathSvg1" Type="http://schemas.openxmlformats.org/officeDocument/2006/relationships/image" Target="../media/t4_74487c02780fd20403c5b2f5.svg"/><Relationship Id="rIdMathSvg2" Type="http://schemas.openxmlformats.org/officeDocument/2006/relationships/image" Target="../media/t4_642301502eaff9bdd3175bab.svg"/><Relationship Id="rIdNav0" Type="http://schemas.openxmlformats.org/officeDocument/2006/relationships/slide" Target="slide1.xml"/><Relationship Id="rIdT4ClickFrame1" Type="http://schemas.openxmlformats.org/officeDocument/2006/relationships/image" Target="../media/image5.png"/><Relationship Id="rIdT4ClickFrame2" Type="http://schemas.openxmlformats.org/officeDocument/2006/relationships/image" Target="../media/t4_click_698527a0c8109c395f1e4624d4abf8c35cbc90dc9fe9223bd96245f456f52a21.png"/><Relationship Id="rIdT4ClickFrame3" Type="http://schemas.openxmlformats.org/officeDocument/2006/relationships/image" Target="../media/t4_click_bb1155f1bb3e544ffe7150b5eded7f7d8a54481ad639a5ecc7e4c4ca569c9827.png"/><Relationship Id="rIdT4ClickFrame4" Type="http://schemas.openxmlformats.org/officeDocument/2006/relationships/image" Target="../media/t4_click_1031909b106283bad51346dff6081db34d3d24fc2dcc8977123fd19b5fd2d474.png"/><Relationship Id="rIdT4ClickFrame5" Type="http://schemas.openxmlformats.org/officeDocument/2006/relationships/image" Target="../media/t4_click_01a8d598a3ac8301435464fd75f7a3c7046eb28d21b08cf5ec0b9c191b063161.png"/><Relationship Id="rIdT4ClickFrame6" Type="http://schemas.openxmlformats.org/officeDocument/2006/relationships/image" Target="../media/t4_click_df83713b172f7a4a109e6f26b6069f01a43244588da85214b62f812af88f1d47.png"/><Relationship Id="rIdT4ClickFrame7" Type="http://schemas.openxmlformats.org/officeDocument/2006/relationships/image" Target="../media/t4_click_a61dc6c541bf0babdcb9c503f7de7c71efeb609f0f3c762f88809fdea32af4b5.png"/><Relationship Id="rIdT4ClickFrame8" Type="http://schemas.openxmlformats.org/officeDocument/2006/relationships/image" Target="../media/t4_click_6b457d2fad217ccec7893be879864f6a45df8ef0fe114e581767756f33ab70d4.png"/><Relationship Id="rIdT4ClickFrame9" Type="http://schemas.openxmlformats.org/officeDocument/2006/relationships/image" Target="../media/t4_click_bfd7e1112783161a998667dbb014495b71f14a0e5ee40a192218fe60c9b06df6.png"/><Relationship Id="rIdT4ClickFrame10" Type="http://schemas.openxmlformats.org/officeDocument/2006/relationships/image" Target="../media/t4_click_1535d6e6c0ebfdf7b361089d474a77fc40ad3161fd47357e709ee63664f5f243.png"/><Relationship Id="rIdT4ClickFrame11" Type="http://schemas.openxmlformats.org/officeDocument/2006/relationships/image" Target="../media/t4_click_a50aacb7739d49ecb6b60f6049ad4952ac2ce8d097b54be408380521a3cf5589.png"/><Relationship Id="rIdT4ClickFrame12" Type="http://schemas.openxmlformats.org/officeDocument/2006/relationships/image" Target="../media/t4_click_7e4bf5bd7714e49a109730cdb7de1693343b7f73208e6e0e27f7a3184828350b.png"/><Relationship Id="rIdT4ClickFrame13" Type="http://schemas.openxmlformats.org/officeDocument/2006/relationships/image" Target="../media/t4_click_97306452422388bc59ccfe4f008e139bfff166b0415fe4c190c996e92ac7cbb2.png"/><Relationship Id="rIdT4ClickFrame14" Type="http://schemas.openxmlformats.org/officeDocument/2006/relationships/image" Target="../media/t4_click_8e56f9990103eb8e504cea0bd685c132a287ef0467ebc66e3959663e001f03c1.png"/><Relationship Id="rIdT4ClickFrame15" Type="http://schemas.openxmlformats.org/officeDocument/2006/relationships/image" Target="../media/t4_click_df0ba98b0b881dfa845240a2fe41862b89cef12f24c318d9a1b5632084bf6d5d.png"/><Relationship Id="rIdT4ClickFrame16" Type="http://schemas.openxmlformats.org/officeDocument/2006/relationships/image" Target="../media/t4_click_842039282fa626121df54f0c54e720767d7c685bca7d33329a65b7423a659123.png"/><Relationship Id="rIdT4ClickFrame17" Type="http://schemas.openxmlformats.org/officeDocument/2006/relationships/image" Target="../media/t4_click_65138797673998a5614256c8a1de72f4a5233b735f628a1a24870f821fad4783.png"/><Relationship Id="rIdT4ClickFrame18" Type="http://schemas.openxmlformats.org/officeDocument/2006/relationships/image" Target="../media/t4_click_45803f90fe4063495896972833721109f9fb59d6bcf31c6251db80c6b839ed6b.png"/><Relationship Id="rIdT4ClickFrame19" Type="http://schemas.openxmlformats.org/officeDocument/2006/relationships/image" Target="../media/t4_click_53beb739cee1e6b7d115aa77b8d6799ea5b80303de07b1072f6f07f7d4f437fc.png"/><Relationship Id="rIdT4ClickFrame20" Type="http://schemas.openxmlformats.org/officeDocument/2006/relationships/image" Target="../media/t4_click_98630ad487fa89a4464936ab820e2c5334604a17460c08da372042844cfad9ad.png"/><Relationship Id="rIdT4ClickFrame21" Type="http://schemas.openxmlformats.org/officeDocument/2006/relationships/image" Target="../media/t4_click_c68fad6dbfd2c0588f383e232a19e3d2efa6319696e38d32ba6fb09e4e8eb0dc.png"/><Relationship Id="rIdT4ClickFrame22" Type="http://schemas.openxmlformats.org/officeDocument/2006/relationships/image" Target="../media/t4_click_20d6afaea28566c244ca18e81f6f3aa1bdd4e1a3ecdf44c17850abc6b8e3d914.png"/><Relationship Id="rIdT4ClickFrame23" Type="http://schemas.openxmlformats.org/officeDocument/2006/relationships/image" Target="../media/t4_click_c832a060ad4e94b205252e72b1f93376f82fdbea0da77d05a0359851fdaaad2d.png"/><Relationship Id="rIdT4ClickFrame24" Type="http://schemas.openxmlformats.org/officeDocument/2006/relationships/image" Target="../media/t4_click_4f199865cbd9a7e95bdf65716832d46af01cd9729f40214ce0589127f560eb31.png"/><Relationship Id="rIdT4ClickFrame25" Type="http://schemas.openxmlformats.org/officeDocument/2006/relationships/image" Target="../media/t4_click_77fcdc23c40e5b7f06ec27f48c7af190a6b76ff7831aef1126edeab862cb1d92.png"/><Relationship Id="rIdT4ClickFrame26" Type="http://schemas.openxmlformats.org/officeDocument/2006/relationships/image" Target="../media/t4_click_63140b05fe22f9cfe8306462a239e7658c151a7ced3d8c51e683afe7922cf4a5.png"/><Relationship Id="rIdT4ClickFrame27" Type="http://schemas.openxmlformats.org/officeDocument/2006/relationships/image" Target="../media/t4_click_65bf7f94f3d6848477b450f8095adf3f7a77db5446c6a7ee577c7e67a80488c6.png"/><Relationship Id="rIdT4ClickFrame28" Type="http://schemas.openxmlformats.org/officeDocument/2006/relationships/image" Target="../media/t4_click_6d8e53174b5ca4ed726470fb9e5dea518a5c05943ea1bf8e53e5fde1e7087fe4.png"/><Relationship Id="rIdT4ClickFrame29" Type="http://schemas.openxmlformats.org/officeDocument/2006/relationships/image" Target="../media/t4_click_57e37f739b3c616c9f357f179d1a756cc0c389b245f100265741759216f51a4b.png"/></Relationships>
</file>

<file path=ppt/slides/_rels/slide3.xml.rels><?xml version='1.0' encoding='UTF-8' standalone='yes'?>
<Relationships xmlns="http://schemas.openxmlformats.org/package/2006/relationships"><Relationship Type="http://schemas.openxmlformats.org/officeDocument/2006/relationships/slideLayout" Target="../slideLayouts/t3_reference_methods_slideLayout1.xml" Id="Rad3689e39fbc4800"/><Relationship Type="http://schemas.openxmlformats.org/officeDocument/2006/relationships/image" Target="/ppt/media/image9.png" Id="Rbac4b54c791d49c0"/><Relationship Type="http://schemas.openxmlformats.org/officeDocument/2006/relationships/image" Target="/ppt/media/image10.png" Id="Rf5c2b4f6674a458e"/><Relationship Type="http://schemas.openxmlformats.org/officeDocument/2006/relationships/image" Target="/ppt/media/image11.png" Id="R3411de08a1294935"/><Relationship Type="http://schemas.openxmlformats.org/officeDocument/2006/relationships/image" Target="/ppt/media/image12.png" Id="Rc91d5179e5924660"/><Relationship Type="http://schemas.openxmlformats.org/officeDocument/2006/relationships/image" Target="/ppt/media/image13.png" Id="R11f32d294b5747e7"/><Relationship Type="http://schemas.openxmlformats.org/officeDocument/2006/relationships/image" Target="/ppt/media/image14.png" Id="R196963648698458b"/><Relationship Type="http://schemas.openxmlformats.org/officeDocument/2006/relationships/notesSlide" Target="/ppt/notesSlides/notesSlide3.xml" Id="R5c30ea9278ab4fff"/><Relationship Id="rIdMathSvg0" Type="http://schemas.openxmlformats.org/officeDocument/2006/relationships/image" Target="../media/t4_bec2f2406bc546d09411c164.svg"/><Relationship Id="rIdMathSvg1" Type="http://schemas.openxmlformats.org/officeDocument/2006/relationships/image" Target="../media/t4_74487c02780fd20403c5b2f5.svg"/><Relationship Id="rIdMathSvg2" Type="http://schemas.openxmlformats.org/officeDocument/2006/relationships/image" Target="../media/t4_642301502eaff9bdd3175bab.svg"/><Relationship Id="rIdMathSvg3" Type="http://schemas.openxmlformats.org/officeDocument/2006/relationships/image" Target="../media/t4_bec2f2406bc546d09411c164.svg"/><Relationship Id="rIdMathSvg4" Type="http://schemas.openxmlformats.org/officeDocument/2006/relationships/image" Target="../media/t4_3845b4bc70cd4d0e6fa13233.svg"/><Relationship Id="rIdMathSvg5" Type="http://schemas.openxmlformats.org/officeDocument/2006/relationships/image" Target="../media/t4_d83ebb6e2ce60e397b42f342.svg"/><Relationship Id="rIdNav0" Type="http://schemas.openxmlformats.org/officeDocument/2006/relationships/slide" Target="slide1.xml"/></Relationships>
</file>

<file path=ppt/slides/_rels/slide4.xml.rels><?xml version='1.0' encoding='UTF-8' standalone='yes'?>
<Relationships xmlns="http://schemas.openxmlformats.org/package/2006/relationships"><Relationship Type="http://schemas.openxmlformats.org/officeDocument/2006/relationships/slideLayout" Target="../slideLayouts/t3_reference_methods_slideLayout1.xml" Id="R47e318b793f24255"/><Relationship Type="http://schemas.openxmlformats.org/officeDocument/2006/relationships/image" Target="/ppt/media/image15.png" Id="R3d203056f95b4e87"/><Relationship Type="http://schemas.openxmlformats.org/officeDocument/2006/relationships/image" Target="/ppt/media/image16.png" Id="Rbaef3a29b16c40a7"/><Relationship Type="http://schemas.openxmlformats.org/officeDocument/2006/relationships/image" Target="/ppt/media/image17.png" Id="R9fd7021474ce4465"/><Relationship Type="http://schemas.openxmlformats.org/officeDocument/2006/relationships/image" Target="/ppt/media/image18.png" Id="R3234c3eeca5245cd"/><Relationship Type="http://schemas.openxmlformats.org/officeDocument/2006/relationships/image" Target="/ppt/media/image19.png" Id="R838aa26ccc0c48db"/><Relationship Type="http://schemas.openxmlformats.org/officeDocument/2006/relationships/notesSlide" Target="/ppt/notesSlides/notesSlide4.xml" Id="Rcd6fca7a6ec1412f"/><Relationship Id="rIdMathSvg0" Type="http://schemas.openxmlformats.org/officeDocument/2006/relationships/image" Target="../media/t4_bec2f2406bc546d09411c164.svg"/><Relationship Id="rIdMathSvg1" Type="http://schemas.openxmlformats.org/officeDocument/2006/relationships/image" Target="../media/t4_74487c02780fd20403c5b2f5.svg"/><Relationship Id="rIdMathSvg2" Type="http://schemas.openxmlformats.org/officeDocument/2006/relationships/image" Target="../media/t4_3e171c1f6abe0f4e7a747a5c.svg"/><Relationship Id="rIdMathSvg3" Type="http://schemas.openxmlformats.org/officeDocument/2006/relationships/image" Target="../media/t4_25ce36adfa078c1c893eb444.svg"/><Relationship Id="rIdNav0" Type="http://schemas.openxmlformats.org/officeDocument/2006/relationships/slide" Target="slide1.xml"/><Relationship Id="rIdT4ClickFrame1" Type="http://schemas.openxmlformats.org/officeDocument/2006/relationships/image" Target="../media/image15.png"/><Relationship Id="rIdT4ClickFrame2" Type="http://schemas.openxmlformats.org/officeDocument/2006/relationships/image" Target="../media/image15.png"/><Relationship Id="rIdT4ClickFrame3" Type="http://schemas.openxmlformats.org/officeDocument/2006/relationships/image" Target="../media/image15.png"/><Relationship Id="rIdT4ClickFrame4" Type="http://schemas.openxmlformats.org/officeDocument/2006/relationships/image" Target="../media/image15.png"/><Relationship Id="rIdT4ClickFrame5" Type="http://schemas.openxmlformats.org/officeDocument/2006/relationships/image" Target="../media/image15.png"/><Relationship Id="rIdT4ClickFrame6" Type="http://schemas.openxmlformats.org/officeDocument/2006/relationships/image" Target="../media/t4_click_ded068bf1492fe065d0cd1cb69863aabd7ef0e3be8dd3b697442e263b20e5ef4.png"/><Relationship Id="rIdT4ClickFrame7" Type="http://schemas.openxmlformats.org/officeDocument/2006/relationships/image" Target="../media/t4_click_ded068bf1492fe065d0cd1cb69863aabd7ef0e3be8dd3b697442e263b20e5ef4.png"/><Relationship Id="rIdT4ClickFrame8" Type="http://schemas.openxmlformats.org/officeDocument/2006/relationships/image" Target="../media/t4_click_ded068bf1492fe065d0cd1cb69863aabd7ef0e3be8dd3b697442e263b20e5ef4.png"/><Relationship Id="rIdT4ClickFrame9" Type="http://schemas.openxmlformats.org/officeDocument/2006/relationships/image" Target="../media/t4_click_6a050f6fab4c0db01b011d5df9f5ea93986f2894c1a3ad82df8103e3401ef0d8.png"/><Relationship Id="rIdT4ClickFrame10" Type="http://schemas.openxmlformats.org/officeDocument/2006/relationships/image" Target="../media/t4_click_4db61db257951736110f9968886808d35b8bc7d8c966d68f779bd502b3ef7f3d.png"/><Relationship Id="rIdT4ClickFrame11" Type="http://schemas.openxmlformats.org/officeDocument/2006/relationships/image" Target="../media/t4_click_20897b0f69470f8bee1e72b7c3f2b55c3f596ced7527a4f5f3a3aa6178b8fec7.png"/><Relationship Id="rIdT4ClickFrame12" Type="http://schemas.openxmlformats.org/officeDocument/2006/relationships/image" Target="../media/t4_click_047350856fac762f0a93863f9ea8833366949cf2c6bea9a8f8b954affe750ea7.png"/><Relationship Id="rIdT4ClickFrame13" Type="http://schemas.openxmlformats.org/officeDocument/2006/relationships/image" Target="../media/t4_click_047350856fac762f0a93863f9ea8833366949cf2c6bea9a8f8b954affe750ea7.png"/><Relationship Id="rIdT4ClickFrame14" Type="http://schemas.openxmlformats.org/officeDocument/2006/relationships/image" Target="../media/t4_click_9103d5796b0cf1464cf5195d9abe7936e01df56298da326b754d6f508db51a14.png"/><Relationship Id="rIdT4ClickFrame15" Type="http://schemas.openxmlformats.org/officeDocument/2006/relationships/image" Target="../media/t4_click_9103d5796b0cf1464cf5195d9abe7936e01df56298da326b754d6f508db51a14.png"/><Relationship Id="rIdT4ClickFrame16" Type="http://schemas.openxmlformats.org/officeDocument/2006/relationships/image" Target="../media/t4_click_9103d5796b0cf1464cf5195d9abe7936e01df56298da326b754d6f508db51a14.png"/><Relationship Id="rIdT4ClickFrame17" Type="http://schemas.openxmlformats.org/officeDocument/2006/relationships/image" Target="../media/t4_click_2e7d9e53c365979f0589fa395d56e318557511814b247359409576776d16352e.png"/><Relationship Id="rIdT4ClickFrame18" Type="http://schemas.openxmlformats.org/officeDocument/2006/relationships/image" Target="../media/t4_click_680d42993167c956f80a517fbfcc1db1a18bc4e23fbfeaabc501bf560c0597cf.png"/><Relationship Id="rIdT4ClickFrame19" Type="http://schemas.openxmlformats.org/officeDocument/2006/relationships/image" Target="../media/t4_click_9f33936c7cb96206619c415470ce86af8ff4bd4dce685bfa123a66619d4e1234.png"/><Relationship Id="rIdT4ClickFrame20" Type="http://schemas.openxmlformats.org/officeDocument/2006/relationships/image" Target="../media/t4_click_c88c81e389e2839b312bff791c50f32274923312b79c9365fbb53673c515f0ef.png"/><Relationship Id="rIdT4ClickFrame21" Type="http://schemas.openxmlformats.org/officeDocument/2006/relationships/image" Target="../media/t4_click_c88c81e389e2839b312bff791c50f32274923312b79c9365fbb53673c515f0ef.png"/><Relationship Id="rIdT4ClickFrame22" Type="http://schemas.openxmlformats.org/officeDocument/2006/relationships/image" Target="../media/t4_click_280e3d6e10f6d3f0dd210a8d4f4d4e34401d7a5b00b242f357d87fff64812e51.png"/><Relationship Id="rIdT4ClickFrame23" Type="http://schemas.openxmlformats.org/officeDocument/2006/relationships/image" Target="../media/t4_click_280e3d6e10f6d3f0dd210a8d4f4d4e34401d7a5b00b242f357d87fff64812e51.png"/><Relationship Id="rIdT4ClickFrame24" Type="http://schemas.openxmlformats.org/officeDocument/2006/relationships/image" Target="../media/t4_click_280e3d6e10f6d3f0dd210a8d4f4d4e34401d7a5b00b242f357d87fff64812e51.png"/><Relationship Id="rIdT4ClickFrame25" Type="http://schemas.openxmlformats.org/officeDocument/2006/relationships/image" Target="../media/t4_click_a0d9e733453e2cbd1095905d315bb97c18a334c435cc496e1a65dc1d7f9905ea.png"/><Relationship Id="rIdT4ClickFrame26" Type="http://schemas.openxmlformats.org/officeDocument/2006/relationships/image" Target="../media/t4_click_d1238be5f64e9178d016025527de01c5f201d5f27ae8eddf5fe07e8dc322d120.png"/><Relationship Id="rIdT4ClickFrame27" Type="http://schemas.openxmlformats.org/officeDocument/2006/relationships/image" Target="../media/t4_click_60eb7e2d0e4e420e2b10dbd50f8b4c1c250b4729095a2c82259af5c5c20490b6.png"/><Relationship Id="rIdT4ClickFrame28" Type="http://schemas.openxmlformats.org/officeDocument/2006/relationships/image" Target="../media/t4_click_2e51a71d6575f7db32fafd1d842188d43d2212aa8c5ad82e8ff0163263246457.png"/><Relationship Id="rIdT4ClickFrame29" Type="http://schemas.openxmlformats.org/officeDocument/2006/relationships/image" Target="../media/t4_click_2e51a71d6575f7db32fafd1d842188d43d2212aa8c5ad82e8ff0163263246457.png"/><Relationship Id="rIdT4ClickFrame30" Type="http://schemas.openxmlformats.org/officeDocument/2006/relationships/image" Target="../media/t4_click_cbdaa11472b7fe847744839cbaddd698420035c3f7ae62d8ef2a79ff430e938f.png"/><Relationship Id="rIdT4ClickFrame31" Type="http://schemas.openxmlformats.org/officeDocument/2006/relationships/image" Target="../media/t4_click_cbdaa11472b7fe847744839cbaddd698420035c3f7ae62d8ef2a79ff430e938f.png"/><Relationship Id="rIdT4ClickFrame32" Type="http://schemas.openxmlformats.org/officeDocument/2006/relationships/image" Target="../media/t4_click_cbdaa11472b7fe847744839cbaddd698420035c3f7ae62d8ef2a79ff430e938f.png"/><Relationship Id="rIdT4ClickFrame33" Type="http://schemas.openxmlformats.org/officeDocument/2006/relationships/image" Target="../media/t4_click_bc0084f41d24af5957440e5dd582f27271d950cb9ff7b3d1714c36fa07f6f6c7.png"/><Relationship Id="rIdT4ClickFrame34" Type="http://schemas.openxmlformats.org/officeDocument/2006/relationships/image" Target="../media/t4_click_e10385f034978853e2eb4988bf1bbd4d1a83704e9239d061c708b7ca354be81e.png"/><Relationship Id="rIdT4ClickFrame35" Type="http://schemas.openxmlformats.org/officeDocument/2006/relationships/image" Target="../media/t4_click_f3ac53946b0c7f362266682a23bac43da06140ae6b4a280c3cafbd0226e7f0a2.png"/><Relationship Id="rIdT4ClickFrame36" Type="http://schemas.openxmlformats.org/officeDocument/2006/relationships/image" Target="../media/t4_click_ebf0dce722f3d546a643e339f6e210322ce3f398c565d5b0f00c0b2b87dcca1c.png"/><Relationship Id="rIdT4ClickFrame37" Type="http://schemas.openxmlformats.org/officeDocument/2006/relationships/image" Target="../media/t4_click_ebf0dce722f3d546a643e339f6e210322ce3f398c565d5b0f00c0b2b87dcca1c.png"/><Relationship Id="rIdT4ClickFrame38" Type="http://schemas.openxmlformats.org/officeDocument/2006/relationships/image" Target="../media/t4_click_9a977edcc8f546ca75008d9983ce4281ddbd59a59aec1beac4a0e098455245db.png"/><Relationship Id="rIdT4ClickFrame39" Type="http://schemas.openxmlformats.org/officeDocument/2006/relationships/image" Target="../media/t4_click_9a977edcc8f546ca75008d9983ce4281ddbd59a59aec1beac4a0e098455245db.png"/><Relationship Id="rIdT4ClickFrame40" Type="http://schemas.openxmlformats.org/officeDocument/2006/relationships/image" Target="../media/t4_click_9a977edcc8f546ca75008d9983ce4281ddbd59a59aec1beac4a0e098455245db.png"/><Relationship Id="rIdT4ClickFrame41" Type="http://schemas.openxmlformats.org/officeDocument/2006/relationships/image" Target="../media/t4_click_9a977edcc8f546ca75008d9983ce4281ddbd59a59aec1beac4a0e098455245db.png"/></Relationships>
</file>

<file path=ppt/slides/_rels/slide5.xml.rels><?xml version='1.0' encoding='UTF-8' standalone='yes'?>
<Relationships xmlns="http://schemas.openxmlformats.org/package/2006/relationships"><Relationship Type="http://schemas.openxmlformats.org/officeDocument/2006/relationships/slideLayout" Target="../slideLayouts/t3_reference_methods_slideLayout1.xml" Id="R8060fffb718d475d"/><Relationship Type="http://schemas.openxmlformats.org/officeDocument/2006/relationships/image" Target="/ppt/media/image20.png" Id="Rdf5d6afa3eee4781"/><Relationship Type="http://schemas.openxmlformats.org/officeDocument/2006/relationships/image" Target="/ppt/media/image21.png" Id="Raba2b08344cc4578"/><Relationship Type="http://schemas.openxmlformats.org/officeDocument/2006/relationships/image" Target="/ppt/media/image22.png" Id="R4c4455a2823440d1"/><Relationship Type="http://schemas.openxmlformats.org/officeDocument/2006/relationships/image" Target="/ppt/media/image23.png" Id="R776f6c5515204807"/><Relationship Type="http://schemas.openxmlformats.org/officeDocument/2006/relationships/notesSlide" Target="/ppt/notesSlides/notesSlide5.xml" Id="R9e7d1d4b25794475"/><Relationship Id="rIdMathSvg0" Type="http://schemas.openxmlformats.org/officeDocument/2006/relationships/image" Target="../media/t4_bec2f2406bc546d09411c164.svg"/><Relationship Id="rIdMathSvg1" Type="http://schemas.openxmlformats.org/officeDocument/2006/relationships/image" Target="../media/t4_74487c02780fd20403c5b2f5.svg"/><Relationship Id="rIdMathSvg2" Type="http://schemas.openxmlformats.org/officeDocument/2006/relationships/image" Target="../media/t4_caac11e21b7569e2845387ab.svg"/><Relationship Id="rIdMathSvg3" Type="http://schemas.openxmlformats.org/officeDocument/2006/relationships/image" Target="../media/t4_25ce36adfa078c1c893eb444.svg"/><Relationship Id="rIdNav0" Type="http://schemas.openxmlformats.org/officeDocument/2006/relationships/slide" Target="slide1.xml"/></Relationships>
</file>

<file path=ppt/slides/_rels/slide6.xml.rels><?xml version='1.0' encoding='UTF-8' standalone='yes'?>
<Relationships xmlns="http://schemas.openxmlformats.org/package/2006/relationships"><Relationship Type="http://schemas.openxmlformats.org/officeDocument/2006/relationships/slideLayout" Target="../slideLayouts/t3_reference_methods_slideLayout1.xml" Id="Rce4fdfc074834149"/><Relationship Type="http://schemas.openxmlformats.org/officeDocument/2006/relationships/image" Target="/ppt/media/image24.png" Id="R921fd4b0cc734190"/><Relationship Type="http://schemas.openxmlformats.org/officeDocument/2006/relationships/image" Target="/ppt/media/image25.png" Id="R29fb48f04d264cd4"/><Relationship Type="http://schemas.openxmlformats.org/officeDocument/2006/relationships/image" Target="/ppt/media/image26.png" Id="R5313b219567a4a42"/><Relationship Type="http://schemas.openxmlformats.org/officeDocument/2006/relationships/image" Target="/ppt/media/image27.png" Id="R466daccfd5614eee"/><Relationship Type="http://schemas.openxmlformats.org/officeDocument/2006/relationships/image" Target="/ppt/media/image28.png" Id="R42bb6561f9aa4a4e"/><Relationship Type="http://schemas.openxmlformats.org/officeDocument/2006/relationships/notesSlide" Target="/ppt/notesSlides/notesSlide6.xml" Id="R1338610ff5e24d39"/><Relationship Id="rIdMathSvg0" Type="http://schemas.openxmlformats.org/officeDocument/2006/relationships/image" Target="../media/t4_bec2f2406bc546d09411c164.svg"/><Relationship Id="rIdMathSvg1" Type="http://schemas.openxmlformats.org/officeDocument/2006/relationships/image" Target="../media/t4_74487c02780fd20403c5b2f5.svg"/><Relationship Id="rIdMathSvg2" Type="http://schemas.openxmlformats.org/officeDocument/2006/relationships/image" Target="../media/t4_d83ebb6e2ce60e397b42f342.svg"/><Relationship Id="rIdMathSvg3" Type="http://schemas.openxmlformats.org/officeDocument/2006/relationships/image" Target="../media/t4_8d453e2496ba657a92792e66.svg"/><Relationship Id="rIdMathSvg4" Type="http://schemas.openxmlformats.org/officeDocument/2006/relationships/image" Target="../media/t4_150e3d9c79fd34daeff590cf.svg"/><Relationship Id="rIdNav0" Type="http://schemas.openxmlformats.org/officeDocument/2006/relationships/slide" Target="slide1.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Two-point moving average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The known input</a:t>
            </a:r>
          </a:p>
        </p:txBody>
      </p:sp>
      <p:sp>
        <p:nvSpPr>
          <p:cNvPr id="3" name="input-label">
            <a:extLst xmlns:a="http://schemas.openxmlformats.org/drawingml/2006/main">
              <a:ext uri="{FF2B5EF4-FFF2-40B4-BE49-F238E27FC236}">
                <a16:creationId xmlns:a16="http://schemas.microsoft.com/office/drawing/2014/main" id="{BCBC4D2C-76F9-4E18-9655-96E4341A349D}"/>
              </a:ext>
            </a:extLst>
          </p:cNvPr>
          <p:cNvSpPr>
            <a:spLocks xmlns:a="http://schemas.openxmlformats.org/drawingml/2006/main" noGrp="1"/>
          </p:cNvSpPr>
          <p:nvPr/>
        </p:nvSpPr>
        <p:spPr>
          <a:xfrm xmlns:a="http://schemas.openxmlformats.org/drawingml/2006/main">
            <a:off x="857250" y="10477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i="0">
                <a:solidFill>
                  <a:srgbClr val="202020"/>
                </a:solidFill>
                <a:latin typeface="Times New Roman"/>
                <a:ea typeface="Times New Roman"/>
                <a:cs typeface="Times New Roman"/>
              </a:defRPr>
            </a:defPPr>
          </a:lstStyle>
          <a:p xmlns:a="http://schemas.openxmlformats.org/drawingml/2006/main">
            <a:pPr algn="ct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Input</a:t>
            </a:r>
          </a:p>
        </p:txBody>
      </p:sp>
      <p:sp>
        <p:nvSpPr>
          <p:cNvPr id="4" name="to-average-shaft">
            <a:extLst xmlns:a="http://schemas.openxmlformats.org/drawingml/2006/main">
              <a:ext uri="{FF2B5EF4-FFF2-40B4-BE49-F238E27FC236}">
                <a16:creationId xmlns:a16="http://schemas.microsoft.com/office/drawing/2014/main" id="{29610877-6435-44F3-9A30-E080309E3CA8}"/>
              </a:ext>
            </a:extLst>
          </p:cNvPr>
          <p:cNvSpPr>
            <a:spLocks xmlns:a="http://schemas.openxmlformats.org/drawingml/2006/main" noGrp="1"/>
          </p:cNvSpPr>
          <p:nvPr/>
        </p:nvSpPr>
        <p:spPr>
          <a:xfrm xmlns:a="http://schemas.openxmlformats.org/drawingml/2006/main">
            <a:off x="2762250" y="1552575"/>
            <a:ext cx="13430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to-average-head">
            <a:extLst xmlns:a="http://schemas.openxmlformats.org/drawingml/2006/main">
              <a:ext uri="{FF2B5EF4-FFF2-40B4-BE49-F238E27FC236}">
                <a16:creationId xmlns:a16="http://schemas.microsoft.com/office/drawing/2014/main" id="{D3245E80-5C57-4559-B553-285131D20E8F}"/>
              </a:ext>
            </a:extLst>
          </p:cNvPr>
          <p:cNvSpPr>
            <a:spLocks xmlns:a="http://schemas.openxmlformats.org/drawingml/2006/main" noGrp="1"/>
          </p:cNvSpPr>
          <p:nvPr/>
        </p:nvSpPr>
        <p:spPr>
          <a:xfrm xmlns:a="http://schemas.openxmlformats.org/drawingml/2006/main" rot="5400000">
            <a:off x="4086225" y="15097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average-operation-box">
            <a:extLst xmlns:a="http://schemas.openxmlformats.org/drawingml/2006/main">
              <a:ext uri="{FF2B5EF4-FFF2-40B4-BE49-F238E27FC236}">
                <a16:creationId xmlns:a16="http://schemas.microsoft.com/office/drawing/2014/main" id="{997B74E0-3748-4C7D-82F7-47A7ABB4EDCC}"/>
              </a:ext>
            </a:extLst>
          </p:cNvPr>
          <p:cNvSpPr>
            <a:spLocks xmlns:a="http://schemas.openxmlformats.org/drawingml/2006/main" noGrp="1"/>
          </p:cNvSpPr>
          <p:nvPr/>
        </p:nvSpPr>
        <p:spPr>
          <a:xfrm xmlns:a="http://schemas.openxmlformats.org/drawingml/2006/main">
            <a:off x="4400550" y="1304925"/>
            <a:ext cx="3333750" cy="54292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7" name="average-operation-text">
            <a:extLst xmlns:a="http://schemas.openxmlformats.org/drawingml/2006/main">
              <a:ext uri="{FF2B5EF4-FFF2-40B4-BE49-F238E27FC236}">
                <a16:creationId xmlns:a16="http://schemas.microsoft.com/office/drawing/2014/main" id="{001E7A65-B0C3-4C84-8557-2DF97FA6C0E0}"/>
              </a:ext>
            </a:extLst>
          </p:cNvPr>
          <p:cNvSpPr>
            <a:spLocks xmlns:a="http://schemas.openxmlformats.org/drawingml/2006/main" noGrp="1"/>
          </p:cNvSpPr>
          <p:nvPr/>
        </p:nvSpPr>
        <p:spPr>
          <a:xfrm xmlns:a="http://schemas.openxmlformats.org/drawingml/2006/main">
            <a:off x="4476750" y="1381125"/>
            <a:ext cx="31813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Average a pair</a:t>
            </a:r>
          </a:p>
        </p:txBody>
      </p:sp>
      <p:sp>
        <p:nvSpPr>
          <p:cNvPr id="8" name="to-output-shaft">
            <a:extLst xmlns:a="http://schemas.openxmlformats.org/drawingml/2006/main">
              <a:ext uri="{FF2B5EF4-FFF2-40B4-BE49-F238E27FC236}">
                <a16:creationId xmlns:a16="http://schemas.microsoft.com/office/drawing/2014/main" id="{A3253E02-8FE1-4156-8BE5-3CC78F37DDA5}"/>
              </a:ext>
            </a:extLst>
          </p:cNvPr>
          <p:cNvSpPr>
            <a:spLocks xmlns:a="http://schemas.openxmlformats.org/drawingml/2006/main" noGrp="1"/>
          </p:cNvSpPr>
          <p:nvPr/>
        </p:nvSpPr>
        <p:spPr>
          <a:xfrm xmlns:a="http://schemas.openxmlformats.org/drawingml/2006/main">
            <a:off x="7953375" y="1552575"/>
            <a:ext cx="13430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9" name="to-output-head">
            <a:extLst xmlns:a="http://schemas.openxmlformats.org/drawingml/2006/main">
              <a:ext uri="{FF2B5EF4-FFF2-40B4-BE49-F238E27FC236}">
                <a16:creationId xmlns:a16="http://schemas.microsoft.com/office/drawing/2014/main" id="{03338B94-264A-426F-ABE5-3D2397CE939B}"/>
              </a:ext>
            </a:extLst>
          </p:cNvPr>
          <p:cNvSpPr>
            <a:spLocks xmlns:a="http://schemas.openxmlformats.org/drawingml/2006/main" noGrp="1"/>
          </p:cNvSpPr>
          <p:nvPr/>
        </p:nvSpPr>
        <p:spPr>
          <a:xfrm xmlns:a="http://schemas.openxmlformats.org/drawingml/2006/main" rot="5400000">
            <a:off x="9277350" y="15097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0" name="output-label">
            <a:extLst xmlns:a="http://schemas.openxmlformats.org/drawingml/2006/main">
              <a:ext uri="{FF2B5EF4-FFF2-40B4-BE49-F238E27FC236}">
                <a16:creationId xmlns:a16="http://schemas.microsoft.com/office/drawing/2014/main" id="{22EAB59A-E648-4105-9D17-555CEDBB7D7C}"/>
              </a:ext>
            </a:extLst>
          </p:cNvPr>
          <p:cNvSpPr>
            <a:spLocks xmlns:a="http://schemas.openxmlformats.org/drawingml/2006/main" noGrp="1"/>
          </p:cNvSpPr>
          <p:nvPr/>
        </p:nvSpPr>
        <p:spPr>
          <a:xfrm xmlns:a="http://schemas.openxmlformats.org/drawingml/2006/main">
            <a:off x="9620250" y="10477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i="0">
                <a:solidFill>
                  <a:srgbClr val="202020"/>
                </a:solidFill>
                <a:latin typeface="Times New Roman"/>
                <a:ea typeface="Times New Roman"/>
                <a:cs typeface="Times New Roman"/>
              </a:defRPr>
            </a:defPPr>
          </a:lstStyle>
          <a:p xmlns:a="http://schemas.openxmlformats.org/drawingml/2006/main">
            <a:pPr algn="ct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Output</a:t>
            </a:r>
          </a:p>
        </p:txBody>
      </p:sp>
      <p:sp>
        <p:nvSpPr>
          <p:cNvPr id="11" name="sequence-label">
            <a:extLst xmlns:a="http://schemas.openxmlformats.org/drawingml/2006/main">
              <a:ext uri="{FF2B5EF4-FFF2-40B4-BE49-F238E27FC236}">
                <a16:creationId xmlns:a16="http://schemas.microsoft.com/office/drawing/2014/main" id="{26ED9B86-B76E-4536-94BF-EEF2C9496EB8}"/>
              </a:ext>
            </a:extLst>
          </p:cNvPr>
          <p:cNvSpPr>
            <a:spLocks xmlns:a="http://schemas.openxmlformats.org/drawingml/2006/main" noGrp="1"/>
          </p:cNvSpPr>
          <p:nvPr/>
        </p:nvSpPr>
        <p:spPr>
          <a:xfrm xmlns:a="http://schemas.openxmlformats.org/drawingml/2006/main">
            <a:off x="609600" y="2895600"/>
            <a:ext cx="10896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Input sample values</a:t>
            </a:r>
          </a:p>
        </p:txBody>
      </p:sp>
      <p:sp>
        <p:nvSpPr>
          <p:cNvPr id="12" name="input-axis">
            <a:extLst xmlns:a="http://schemas.openxmlformats.org/drawingml/2006/main">
              <a:ext uri="{FF2B5EF4-FFF2-40B4-BE49-F238E27FC236}">
                <a16:creationId xmlns:a16="http://schemas.microsoft.com/office/drawing/2014/main" id="{7B8145B0-0865-417E-9D17-9E6264DCB345}"/>
              </a:ext>
            </a:extLst>
          </p:cNvPr>
          <p:cNvSpPr>
            <a:spLocks xmlns:a="http://schemas.openxmlformats.org/drawingml/2006/main" noGrp="1"/>
          </p:cNvSpPr>
          <p:nvPr/>
        </p:nvSpPr>
        <p:spPr>
          <a:xfrm xmlns:a="http://schemas.openxmlformats.org/drawingml/2006/main">
            <a:off x="1676400" y="5000625"/>
            <a:ext cx="9144000" cy="13335"/>
          </a:xfrm>
          <a:prstGeom xmlns:a="http://schemas.openxmlformats.org/drawingml/2006/main" prst="rect">
            <a:avLst/>
          </a:prstGeom>
          <a:solidFill xmlns:a="http://schemas.openxmlformats.org/drawingml/2006/main">
            <a:srgbClr val="9B9B9B"/>
          </a:solidFill>
          <a:ln xmlns:a="http://schemas.openxmlformats.org/drawingml/2006/main" w="0">
            <a:noFill/>
          </a:ln>
        </p:spPr>
      </p:sp>
      <p:sp>
        <p:nvSpPr>
          <p:cNvPr id="13" name="dot--1">
            <a:extLst xmlns:a="http://schemas.openxmlformats.org/drawingml/2006/main">
              <a:ext uri="{FF2B5EF4-FFF2-40B4-BE49-F238E27FC236}">
                <a16:creationId xmlns:a16="http://schemas.microsoft.com/office/drawing/2014/main" id="{A582DB6C-BC13-412E-8CAA-A5FF6DF2012F}"/>
              </a:ext>
            </a:extLst>
          </p:cNvPr>
          <p:cNvSpPr>
            <a:spLocks xmlns:a="http://schemas.openxmlformats.org/drawingml/2006/main" noGrp="1"/>
          </p:cNvSpPr>
          <p:nvPr/>
        </p:nvSpPr>
        <p:spPr>
          <a:xfrm xmlns:a="http://schemas.openxmlformats.org/drawingml/2006/main">
            <a:off x="2052638" y="4957763"/>
            <a:ext cx="85725" cy="85725"/>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14" name="value--1">
            <a:extLst xmlns:a="http://schemas.openxmlformats.org/drawingml/2006/main">
              <a:ext uri="{FF2B5EF4-FFF2-40B4-BE49-F238E27FC236}">
                <a16:creationId xmlns:a16="http://schemas.microsoft.com/office/drawing/2014/main" id="{94CF6DCA-8FF3-4438-9867-FAF2979B004F}"/>
              </a:ext>
            </a:extLst>
          </p:cNvPr>
          <p:cNvSpPr>
            <a:spLocks xmlns:a="http://schemas.openxmlformats.org/drawingml/2006/main" noGrp="1"/>
          </p:cNvSpPr>
          <p:nvPr/>
        </p:nvSpPr>
        <p:spPr>
          <a:xfrm xmlns:a="http://schemas.openxmlformats.org/drawingml/2006/main">
            <a:off x="1762125" y="4619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0</a:t>
            </a:r>
          </a:p>
        </p:txBody>
      </p:sp>
      <p:sp>
        <p:nvSpPr>
          <p:cNvPr id="15" name="index--1">
            <a:extLst xmlns:a="http://schemas.openxmlformats.org/drawingml/2006/main">
              <a:ext uri="{FF2B5EF4-FFF2-40B4-BE49-F238E27FC236}">
                <a16:creationId xmlns:a16="http://schemas.microsoft.com/office/drawing/2014/main" id="{0EDAE096-FF9E-4646-A1F4-0157B00525ED}"/>
              </a:ext>
            </a:extLst>
          </p:cNvPr>
          <p:cNvSpPr>
            <a:spLocks xmlns:a="http://schemas.openxmlformats.org/drawingml/2006/main" noGrp="1"/>
          </p:cNvSpPr>
          <p:nvPr/>
        </p:nvSpPr>
        <p:spPr>
          <a:xfrm xmlns:a="http://schemas.openxmlformats.org/drawingml/2006/main">
            <a:off x="1762125" y="51625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i="0">
                <a:solidFill>
                  <a:srgbClr val="202020"/>
                </a:solidFill>
                <a:latin typeface="Times New Roman"/>
                <a:ea typeface="Times New Roman"/>
                <a:cs typeface="Times New Roman"/>
              </a:defRPr>
            </a:defPPr>
          </a:lstStyle>
          <a:p xmlns:a="http://schemas.openxmlformats.org/drawingml/2006/main">
            <a:pPr algn="ctr">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-1</a:t>
            </a:r>
          </a:p>
        </p:txBody>
      </p:sp>
      <p:sp>
        <p:nvSpPr>
          <p:cNvPr id="16" name="dot-0">
            <a:extLst xmlns:a="http://schemas.openxmlformats.org/drawingml/2006/main">
              <a:ext uri="{FF2B5EF4-FFF2-40B4-BE49-F238E27FC236}">
                <a16:creationId xmlns:a16="http://schemas.microsoft.com/office/drawing/2014/main" id="{67C16411-38E5-43C2-BBFD-93F0156FC823}"/>
              </a:ext>
            </a:extLst>
          </p:cNvPr>
          <p:cNvSpPr>
            <a:spLocks xmlns:a="http://schemas.openxmlformats.org/drawingml/2006/main" noGrp="1"/>
          </p:cNvSpPr>
          <p:nvPr/>
        </p:nvSpPr>
        <p:spPr>
          <a:xfrm xmlns:a="http://schemas.openxmlformats.org/drawingml/2006/main">
            <a:off x="3709988" y="4957763"/>
            <a:ext cx="85725" cy="85725"/>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17" name="value-0">
            <a:extLst xmlns:a="http://schemas.openxmlformats.org/drawingml/2006/main">
              <a:ext uri="{FF2B5EF4-FFF2-40B4-BE49-F238E27FC236}">
                <a16:creationId xmlns:a16="http://schemas.microsoft.com/office/drawing/2014/main" id="{9E72421E-9EF1-49E4-A002-505402BA864E}"/>
              </a:ext>
            </a:extLst>
          </p:cNvPr>
          <p:cNvSpPr>
            <a:spLocks xmlns:a="http://schemas.openxmlformats.org/drawingml/2006/main" noGrp="1"/>
          </p:cNvSpPr>
          <p:nvPr/>
        </p:nvSpPr>
        <p:spPr>
          <a:xfrm xmlns:a="http://schemas.openxmlformats.org/drawingml/2006/main">
            <a:off x="3419475" y="4619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0</a:t>
            </a:r>
          </a:p>
        </p:txBody>
      </p:sp>
      <p:sp>
        <p:nvSpPr>
          <p:cNvPr id="18" name="index-0">
            <a:extLst xmlns:a="http://schemas.openxmlformats.org/drawingml/2006/main">
              <a:ext uri="{FF2B5EF4-FFF2-40B4-BE49-F238E27FC236}">
                <a16:creationId xmlns:a16="http://schemas.microsoft.com/office/drawing/2014/main" id="{B51112E6-613C-47AD-8D14-71EE7A70E73B}"/>
              </a:ext>
            </a:extLst>
          </p:cNvPr>
          <p:cNvSpPr>
            <a:spLocks xmlns:a="http://schemas.openxmlformats.org/drawingml/2006/main" noGrp="1"/>
          </p:cNvSpPr>
          <p:nvPr/>
        </p:nvSpPr>
        <p:spPr>
          <a:xfrm xmlns:a="http://schemas.openxmlformats.org/drawingml/2006/main">
            <a:off x="3419475" y="51625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i="0">
                <a:solidFill>
                  <a:srgbClr val="202020"/>
                </a:solidFill>
                <a:latin typeface="Times New Roman"/>
                <a:ea typeface="Times New Roman"/>
                <a:cs typeface="Times New Roman"/>
              </a:defRPr>
            </a:defPPr>
          </a:lstStyle>
          <a:p xmlns:a="http://schemas.openxmlformats.org/drawingml/2006/main">
            <a:pPr algn="ctr">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0</a:t>
            </a:r>
          </a:p>
        </p:txBody>
      </p:sp>
      <p:sp>
        <p:nvSpPr>
          <p:cNvPr id="19" name="stem-1">
            <a:extLst xmlns:a="http://schemas.openxmlformats.org/drawingml/2006/main">
              <a:ext uri="{FF2B5EF4-FFF2-40B4-BE49-F238E27FC236}">
                <a16:creationId xmlns:a16="http://schemas.microsoft.com/office/drawing/2014/main" id="{920A0EF7-0A19-4DFC-9E2C-7B5B3F260F78}"/>
              </a:ext>
            </a:extLst>
          </p:cNvPr>
          <p:cNvSpPr>
            <a:spLocks xmlns:a="http://schemas.openxmlformats.org/drawingml/2006/main" noGrp="1"/>
          </p:cNvSpPr>
          <p:nvPr/>
        </p:nvSpPr>
        <p:spPr>
          <a:xfrm xmlns:a="http://schemas.openxmlformats.org/drawingml/2006/main">
            <a:off x="5398770" y="4257675"/>
            <a:ext cx="22860" cy="7429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0" name="dot-1">
            <a:extLst xmlns:a="http://schemas.openxmlformats.org/drawingml/2006/main">
              <a:ext uri="{FF2B5EF4-FFF2-40B4-BE49-F238E27FC236}">
                <a16:creationId xmlns:a16="http://schemas.microsoft.com/office/drawing/2014/main" id="{EA185311-3B19-4710-BEE4-756FA4AC0F25}"/>
              </a:ext>
            </a:extLst>
          </p:cNvPr>
          <p:cNvSpPr>
            <a:spLocks xmlns:a="http://schemas.openxmlformats.org/drawingml/2006/main" noGrp="1"/>
          </p:cNvSpPr>
          <p:nvPr/>
        </p:nvSpPr>
        <p:spPr>
          <a:xfrm xmlns:a="http://schemas.openxmlformats.org/drawingml/2006/main">
            <a:off x="5367338" y="4214813"/>
            <a:ext cx="85725" cy="85725"/>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21" name="value-1">
            <a:extLst xmlns:a="http://schemas.openxmlformats.org/drawingml/2006/main">
              <a:ext uri="{FF2B5EF4-FFF2-40B4-BE49-F238E27FC236}">
                <a16:creationId xmlns:a16="http://schemas.microsoft.com/office/drawing/2014/main" id="{F9F75DF5-D3DD-4ABA-BD73-60F4CD3E5419}"/>
              </a:ext>
            </a:extLst>
          </p:cNvPr>
          <p:cNvSpPr>
            <a:spLocks xmlns:a="http://schemas.openxmlformats.org/drawingml/2006/main" noGrp="1"/>
          </p:cNvSpPr>
          <p:nvPr/>
        </p:nvSpPr>
        <p:spPr>
          <a:xfrm xmlns:a="http://schemas.openxmlformats.org/drawingml/2006/main">
            <a:off x="5076825" y="38766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2</a:t>
            </a:r>
          </a:p>
        </p:txBody>
      </p:sp>
      <p:sp>
        <p:nvSpPr>
          <p:cNvPr id="22" name="index-1">
            <a:extLst xmlns:a="http://schemas.openxmlformats.org/drawingml/2006/main">
              <a:ext uri="{FF2B5EF4-FFF2-40B4-BE49-F238E27FC236}">
                <a16:creationId xmlns:a16="http://schemas.microsoft.com/office/drawing/2014/main" id="{A5D0FBF5-3EA4-4CC2-801C-C0B39DA357FA}"/>
              </a:ext>
            </a:extLst>
          </p:cNvPr>
          <p:cNvSpPr>
            <a:spLocks xmlns:a="http://schemas.openxmlformats.org/drawingml/2006/main" noGrp="1"/>
          </p:cNvSpPr>
          <p:nvPr/>
        </p:nvSpPr>
        <p:spPr>
          <a:xfrm xmlns:a="http://schemas.openxmlformats.org/drawingml/2006/main">
            <a:off x="5076825" y="51625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i="0">
                <a:solidFill>
                  <a:srgbClr val="202020"/>
                </a:solidFill>
                <a:latin typeface="Times New Roman"/>
                <a:ea typeface="Times New Roman"/>
                <a:cs typeface="Times New Roman"/>
              </a:defRPr>
            </a:defPPr>
          </a:lstStyle>
          <a:p xmlns:a="http://schemas.openxmlformats.org/drawingml/2006/main">
            <a:pPr algn="ctr">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1</a:t>
            </a:r>
          </a:p>
        </p:txBody>
      </p:sp>
      <p:sp>
        <p:nvSpPr>
          <p:cNvPr id="23" name="stem-2">
            <a:extLst xmlns:a="http://schemas.openxmlformats.org/drawingml/2006/main">
              <a:ext uri="{FF2B5EF4-FFF2-40B4-BE49-F238E27FC236}">
                <a16:creationId xmlns:a16="http://schemas.microsoft.com/office/drawing/2014/main" id="{8481943D-9794-4F1B-B1FE-DA5BA65EB2B5}"/>
              </a:ext>
            </a:extLst>
          </p:cNvPr>
          <p:cNvSpPr>
            <a:spLocks xmlns:a="http://schemas.openxmlformats.org/drawingml/2006/main" noGrp="1"/>
          </p:cNvSpPr>
          <p:nvPr/>
        </p:nvSpPr>
        <p:spPr>
          <a:xfrm xmlns:a="http://schemas.openxmlformats.org/drawingml/2006/main">
            <a:off x="7056120" y="3514725"/>
            <a:ext cx="22860" cy="148590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4" name="dot-2">
            <a:extLst xmlns:a="http://schemas.openxmlformats.org/drawingml/2006/main">
              <a:ext uri="{FF2B5EF4-FFF2-40B4-BE49-F238E27FC236}">
                <a16:creationId xmlns:a16="http://schemas.microsoft.com/office/drawing/2014/main" id="{C65C2667-399D-4AAA-B128-43459A3042BD}"/>
              </a:ext>
            </a:extLst>
          </p:cNvPr>
          <p:cNvSpPr>
            <a:spLocks xmlns:a="http://schemas.openxmlformats.org/drawingml/2006/main" noGrp="1"/>
          </p:cNvSpPr>
          <p:nvPr/>
        </p:nvSpPr>
        <p:spPr>
          <a:xfrm xmlns:a="http://schemas.openxmlformats.org/drawingml/2006/main">
            <a:off x="7024688" y="3471863"/>
            <a:ext cx="85725" cy="85725"/>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25" name="value-2">
            <a:extLst xmlns:a="http://schemas.openxmlformats.org/drawingml/2006/main">
              <a:ext uri="{FF2B5EF4-FFF2-40B4-BE49-F238E27FC236}">
                <a16:creationId xmlns:a16="http://schemas.microsoft.com/office/drawing/2014/main" id="{290CE4FA-FB52-451B-AEC6-5E354B01A166}"/>
              </a:ext>
            </a:extLst>
          </p:cNvPr>
          <p:cNvSpPr>
            <a:spLocks xmlns:a="http://schemas.openxmlformats.org/drawingml/2006/main" noGrp="1"/>
          </p:cNvSpPr>
          <p:nvPr/>
        </p:nvSpPr>
        <p:spPr>
          <a:xfrm xmlns:a="http://schemas.openxmlformats.org/drawingml/2006/main">
            <a:off x="6734175" y="31337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4</a:t>
            </a:r>
          </a:p>
        </p:txBody>
      </p:sp>
      <p:sp>
        <p:nvSpPr>
          <p:cNvPr id="26" name="index-2">
            <a:extLst xmlns:a="http://schemas.openxmlformats.org/drawingml/2006/main">
              <a:ext uri="{FF2B5EF4-FFF2-40B4-BE49-F238E27FC236}">
                <a16:creationId xmlns:a16="http://schemas.microsoft.com/office/drawing/2014/main" id="{97C30821-F475-4E9D-BB2B-035ED4ED15F8}"/>
              </a:ext>
            </a:extLst>
          </p:cNvPr>
          <p:cNvSpPr>
            <a:spLocks xmlns:a="http://schemas.openxmlformats.org/drawingml/2006/main" noGrp="1"/>
          </p:cNvSpPr>
          <p:nvPr/>
        </p:nvSpPr>
        <p:spPr>
          <a:xfrm xmlns:a="http://schemas.openxmlformats.org/drawingml/2006/main">
            <a:off x="6734175" y="51625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i="0">
                <a:solidFill>
                  <a:srgbClr val="202020"/>
                </a:solidFill>
                <a:latin typeface="Times New Roman"/>
                <a:ea typeface="Times New Roman"/>
                <a:cs typeface="Times New Roman"/>
              </a:defRPr>
            </a:defPPr>
          </a:lstStyle>
          <a:p xmlns:a="http://schemas.openxmlformats.org/drawingml/2006/main">
            <a:pPr algn="ctr">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2</a:t>
            </a:r>
          </a:p>
        </p:txBody>
      </p:sp>
      <p:sp>
        <p:nvSpPr>
          <p:cNvPr id="27" name="stem-3">
            <a:extLst xmlns:a="http://schemas.openxmlformats.org/drawingml/2006/main">
              <a:ext uri="{FF2B5EF4-FFF2-40B4-BE49-F238E27FC236}">
                <a16:creationId xmlns:a16="http://schemas.microsoft.com/office/drawing/2014/main" id="{DE68CD00-84C3-41A4-852C-793A2F6939D0}"/>
              </a:ext>
            </a:extLst>
          </p:cNvPr>
          <p:cNvSpPr>
            <a:spLocks xmlns:a="http://schemas.openxmlformats.org/drawingml/2006/main" noGrp="1"/>
          </p:cNvSpPr>
          <p:nvPr/>
        </p:nvSpPr>
        <p:spPr>
          <a:xfrm xmlns:a="http://schemas.openxmlformats.org/drawingml/2006/main">
            <a:off x="8713470" y="4257675"/>
            <a:ext cx="22860" cy="7429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8" name="dot-3">
            <a:extLst xmlns:a="http://schemas.openxmlformats.org/drawingml/2006/main">
              <a:ext uri="{FF2B5EF4-FFF2-40B4-BE49-F238E27FC236}">
                <a16:creationId xmlns:a16="http://schemas.microsoft.com/office/drawing/2014/main" id="{7FE073D3-B2FE-4D23-AE1B-7BDD0C63FE19}"/>
              </a:ext>
            </a:extLst>
          </p:cNvPr>
          <p:cNvSpPr>
            <a:spLocks xmlns:a="http://schemas.openxmlformats.org/drawingml/2006/main" noGrp="1"/>
          </p:cNvSpPr>
          <p:nvPr/>
        </p:nvSpPr>
        <p:spPr>
          <a:xfrm xmlns:a="http://schemas.openxmlformats.org/drawingml/2006/main">
            <a:off x="8682038" y="4214813"/>
            <a:ext cx="85725" cy="85725"/>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29" name="value-3">
            <a:extLst xmlns:a="http://schemas.openxmlformats.org/drawingml/2006/main">
              <a:ext uri="{FF2B5EF4-FFF2-40B4-BE49-F238E27FC236}">
                <a16:creationId xmlns:a16="http://schemas.microsoft.com/office/drawing/2014/main" id="{6B57DD43-D22E-4C7A-85D9-BE4963122127}"/>
              </a:ext>
            </a:extLst>
          </p:cNvPr>
          <p:cNvSpPr>
            <a:spLocks xmlns:a="http://schemas.openxmlformats.org/drawingml/2006/main" noGrp="1"/>
          </p:cNvSpPr>
          <p:nvPr/>
        </p:nvSpPr>
        <p:spPr>
          <a:xfrm xmlns:a="http://schemas.openxmlformats.org/drawingml/2006/main">
            <a:off x="8391525" y="38766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2</a:t>
            </a:r>
          </a:p>
        </p:txBody>
      </p:sp>
      <p:sp>
        <p:nvSpPr>
          <p:cNvPr id="30" name="index-3">
            <a:extLst xmlns:a="http://schemas.openxmlformats.org/drawingml/2006/main">
              <a:ext uri="{FF2B5EF4-FFF2-40B4-BE49-F238E27FC236}">
                <a16:creationId xmlns:a16="http://schemas.microsoft.com/office/drawing/2014/main" id="{DE1B797C-C021-4578-8866-655022E56835}"/>
              </a:ext>
            </a:extLst>
          </p:cNvPr>
          <p:cNvSpPr>
            <a:spLocks xmlns:a="http://schemas.openxmlformats.org/drawingml/2006/main" noGrp="1"/>
          </p:cNvSpPr>
          <p:nvPr/>
        </p:nvSpPr>
        <p:spPr>
          <a:xfrm xmlns:a="http://schemas.openxmlformats.org/drawingml/2006/main">
            <a:off x="8391525" y="51625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i="0">
                <a:solidFill>
                  <a:srgbClr val="202020"/>
                </a:solidFill>
                <a:latin typeface="Times New Roman"/>
                <a:ea typeface="Times New Roman"/>
                <a:cs typeface="Times New Roman"/>
              </a:defRPr>
            </a:defPPr>
          </a:lstStyle>
          <a:p xmlns:a="http://schemas.openxmlformats.org/drawingml/2006/main">
            <a:pPr algn="ctr">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3</a:t>
            </a:r>
          </a:p>
        </p:txBody>
      </p:sp>
      <p:sp>
        <p:nvSpPr>
          <p:cNvPr id="31" name="dot-4">
            <a:extLst xmlns:a="http://schemas.openxmlformats.org/drawingml/2006/main">
              <a:ext uri="{FF2B5EF4-FFF2-40B4-BE49-F238E27FC236}">
                <a16:creationId xmlns:a16="http://schemas.microsoft.com/office/drawing/2014/main" id="{570359E1-5531-4C44-8DED-0367193CCA2F}"/>
              </a:ext>
            </a:extLst>
          </p:cNvPr>
          <p:cNvSpPr>
            <a:spLocks xmlns:a="http://schemas.openxmlformats.org/drawingml/2006/main" noGrp="1"/>
          </p:cNvSpPr>
          <p:nvPr/>
        </p:nvSpPr>
        <p:spPr>
          <a:xfrm xmlns:a="http://schemas.openxmlformats.org/drawingml/2006/main">
            <a:off x="10339388" y="4957763"/>
            <a:ext cx="85725" cy="85725"/>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32" name="value-4">
            <a:extLst xmlns:a="http://schemas.openxmlformats.org/drawingml/2006/main">
              <a:ext uri="{FF2B5EF4-FFF2-40B4-BE49-F238E27FC236}">
                <a16:creationId xmlns:a16="http://schemas.microsoft.com/office/drawing/2014/main" id="{ACAC9391-66FC-4818-86F3-E4DC6CC4997F}"/>
              </a:ext>
            </a:extLst>
          </p:cNvPr>
          <p:cNvSpPr>
            <a:spLocks xmlns:a="http://schemas.openxmlformats.org/drawingml/2006/main" noGrp="1"/>
          </p:cNvSpPr>
          <p:nvPr/>
        </p:nvSpPr>
        <p:spPr>
          <a:xfrm xmlns:a="http://schemas.openxmlformats.org/drawingml/2006/main">
            <a:off x="10048875" y="4619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0</a:t>
            </a:r>
          </a:p>
        </p:txBody>
      </p:sp>
      <p:sp>
        <p:nvSpPr>
          <p:cNvPr id="33" name="index-4">
            <a:extLst xmlns:a="http://schemas.openxmlformats.org/drawingml/2006/main">
              <a:ext uri="{FF2B5EF4-FFF2-40B4-BE49-F238E27FC236}">
                <a16:creationId xmlns:a16="http://schemas.microsoft.com/office/drawing/2014/main" id="{372CF071-50D9-4581-B856-675D1F88AE11}"/>
              </a:ext>
            </a:extLst>
          </p:cNvPr>
          <p:cNvSpPr>
            <a:spLocks xmlns:a="http://schemas.openxmlformats.org/drawingml/2006/main" noGrp="1"/>
          </p:cNvSpPr>
          <p:nvPr/>
        </p:nvSpPr>
        <p:spPr>
          <a:xfrm xmlns:a="http://schemas.openxmlformats.org/drawingml/2006/main">
            <a:off x="10048875" y="51625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i="0">
                <a:solidFill>
                  <a:srgbClr val="202020"/>
                </a:solidFill>
                <a:latin typeface="Times New Roman"/>
                <a:ea typeface="Times New Roman"/>
                <a:cs typeface="Times New Roman"/>
              </a:defRPr>
            </a:defPPr>
          </a:lstStyle>
          <a:p xmlns:a="http://schemas.openxmlformats.org/drawingml/2006/main">
            <a:pPr algn="ctr">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4</a:t>
            </a:r>
          </a:p>
        </p:txBody>
      </p:sp>
      <p:sp>
        <p:nvSpPr>
          <p:cNvPr id="34" name="given-history">
            <a:extLst xmlns:a="http://schemas.openxmlformats.org/drawingml/2006/main">
              <a:ext uri="{FF2B5EF4-FFF2-40B4-BE49-F238E27FC236}">
                <a16:creationId xmlns:a16="http://schemas.microsoft.com/office/drawing/2014/main" id="{E1C2EAB9-468B-4EE7-A4B0-263C85CDFE8D}"/>
              </a:ext>
            </a:extLst>
          </p:cNvPr>
          <p:cNvSpPr>
            <a:spLocks xmlns:a="http://schemas.openxmlformats.org/drawingml/2006/main" noGrp="1"/>
          </p:cNvSpPr>
          <p:nvPr/>
        </p:nvSpPr>
        <p:spPr>
          <a:xfrm xmlns:a="http://schemas.openxmlformats.org/drawingml/2006/main">
            <a:off x="1571625" y="5581650"/>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i="0">
                <a:solidFill>
                  <a:srgbClr val="777777"/>
                </a:solidFill>
                <a:latin typeface="Times New Roman"/>
                <a:ea typeface="Times New Roman"/>
                <a:cs typeface="Times New Roman"/>
              </a:defRPr>
            </a:defPPr>
          </a:lstStyle>
          <a:p xmlns:a="http://schemas.openxmlformats.org/drawingml/2006/main">
            <a:pPr algn="ctr">
              <a:defRPr sz="1800" b="0" i="0">
                <a:solidFill>
                  <a:srgbClr val="777777"/>
                </a:solidFill>
                <a:latin typeface="Times New Roman"/>
                <a:ea typeface="Times New Roman"/>
                <a:cs typeface="Times New Roman"/>
              </a:defRPr>
            </a:pPr>
            <a:r>
              <a:rPr sz="1800" b="0" i="0">
                <a:solidFill>
                  <a:srgbClr val="777777"/>
                </a:solidFill>
                <a:latin typeface="Times New Roman"/>
                <a:ea typeface="Times New Roman"/>
                <a:cs typeface="Times New Roman"/>
              </a:rPr>
              <a:t>Given</a:t>
            </a:r>
          </a:p>
        </p:txBody>
      </p:sp>
      <p:sp>
        <p:nvSpPr>
          <p:cNvPr id="35" name="first-takeaway">
            <a:extLst xmlns:a="http://schemas.openxmlformats.org/drawingml/2006/main">
              <a:ext uri="{FF2B5EF4-FFF2-40B4-BE49-F238E27FC236}">
                <a16:creationId xmlns:a16="http://schemas.microsoft.com/office/drawing/2014/main" id="{FD784F38-FFB3-4E1B-B3DF-1AE7975A6878}"/>
              </a:ext>
            </a:extLst>
          </p:cNvPr>
          <p:cNvSpPr>
            <a:spLocks xmlns:a="http://schemas.openxmlformats.org/drawingml/2006/main" noGrp="1"/>
          </p:cNvSpPr>
          <p:nvPr/>
        </p:nvSpPr>
        <p:spPr>
          <a:xfrm xmlns:a="http://schemas.openxmlformats.org/drawingml/2006/main">
            <a:off x="609600" y="6143625"/>
            <a:ext cx="1089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i="0">
                <a:solidFill>
                  <a:srgbClr val="202020"/>
                </a:solidFill>
                <a:latin typeface="Times New Roman"/>
                <a:ea typeface="Times New Roman"/>
                <a:cs typeface="Times New Roman"/>
              </a:defRPr>
            </a:defPPr>
          </a:lstStyle>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Two adjacent input samples produce one output value.</a:t>
            </a:r>
          </a:p>
        </p:txBody>
      </p:sp>
      <p:pic>
        <p:nvPicPr>
          <p:cNvPr id="36" name="input-symbol" descr="x[n]">
            <a:extLst xmlns:a="http://schemas.openxmlformats.org/drawingml/2006/main">
              <a:ext uri="{FF2B5EF4-FFF2-40B4-BE49-F238E27FC236}">
                <a16:creationId xmlns:a16="http://schemas.microsoft.com/office/drawing/2014/main" id="{76AE4BBD-5A8E-4B39-8284-3F2854ED3D87}"/>
              </a:ext>
            </a:extLst>
          </p:cNvPr>
          <p:cNvPicPr>
            <a:picLocks xmlns:a="http://schemas.openxmlformats.org/drawingml/2006/main" noChangeAspect="1"/>
          </p:cNvPicPr>
          <p:nvPr/>
        </p:nvPicPr>
        <p:blipFill>
          <a:blip xmlns:r="http://schemas.openxmlformats.org/officeDocument/2006/relationships" xmlns:a="http://schemas.openxmlformats.org/drawingml/2006/main" r:embed="R56a937c53fac4137">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406843" y="1431994"/>
            <a:ext cx="615315" cy="326886"/>
          </a:xfrm>
          <a:prstGeom xmlns:a="http://schemas.openxmlformats.org/drawingml/2006/main" prst="rect">
            <a:avLst/>
          </a:prstGeom>
        </p:spPr>
      </p:pic>
      <p:pic>
        <p:nvPicPr>
          <p:cNvPr id="37" name="output-symbol" descr="y[n]">
            <a:extLst xmlns:a="http://schemas.openxmlformats.org/drawingml/2006/main">
              <a:ext uri="{FF2B5EF4-FFF2-40B4-BE49-F238E27FC236}">
                <a16:creationId xmlns:a16="http://schemas.microsoft.com/office/drawing/2014/main" id="{0D23D14B-D05E-4555-A5AD-DC828430E0C9}"/>
              </a:ext>
            </a:extLst>
          </p:cNvPr>
          <p:cNvPicPr>
            <a:picLocks xmlns:a="http://schemas.openxmlformats.org/drawingml/2006/main" noChangeAspect="1"/>
          </p:cNvPicPr>
          <p:nvPr/>
        </p:nvPicPr>
        <p:blipFill>
          <a:blip xmlns:r="http://schemas.openxmlformats.org/officeDocument/2006/relationships" xmlns:a="http://schemas.openxmlformats.org/drawingml/2006/main" r:embed="Rd691c5986a6d40a2">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169843" y="1433917"/>
            <a:ext cx="615315" cy="323040"/>
          </a:xfrm>
          <a:prstGeom xmlns:a="http://schemas.openxmlformats.org/drawingml/2006/main" prst="rect">
            <a:avLst/>
          </a:prstGeom>
        </p:spPr>
      </p:pic>
      <p:pic>
        <p:nvPicPr>
          <p:cNvPr id="38" name="given-input" descr="x[0..4]=[0,2,4,2,0],\qquad x[-1]=0">
            <a:extLst xmlns:a="http://schemas.openxmlformats.org/drawingml/2006/main">
              <a:ext uri="{FF2B5EF4-FFF2-40B4-BE49-F238E27FC236}">
                <a16:creationId xmlns:a16="http://schemas.microsoft.com/office/drawing/2014/main" id="{912DB437-03B2-4A3B-975B-45122F329EFC}"/>
              </a:ext>
            </a:extLst>
          </p:cNvPr>
          <p:cNvPicPr>
            <a:picLocks xmlns:a="http://schemas.openxmlformats.org/drawingml/2006/main" noChangeAspect="1"/>
          </p:cNvPicPr>
          <p:nvPr/>
        </p:nvPicPr>
        <p:blipFill>
          <a:blip xmlns:r="http://schemas.openxmlformats.org/officeDocument/2006/relationships" xmlns:a="http://schemas.openxmlformats.org/drawingml/2006/main" r:embed="R5758b794fea548ae">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609600" y="2282160"/>
            <a:ext cx="5226368" cy="293430"/>
          </a:xfrm>
          <a:prstGeom xmlns:a="http://schemas.openxmlformats.org/drawingml/2006/main" prst="rect">
            <a:avLst/>
          </a:prstGeom>
        </p:spPr>
      </p:pic>
      <p:pic>
        <p:nvPicPr>
          <p:cNvPr id="39" name="sample-index" descr="n">
            <a:extLst xmlns:a="http://schemas.openxmlformats.org/drawingml/2006/main">
              <a:ext uri="{FF2B5EF4-FFF2-40B4-BE49-F238E27FC236}">
                <a16:creationId xmlns:a16="http://schemas.microsoft.com/office/drawing/2014/main" id="{64AA335B-E637-4727-ACCD-28EF0896248B}"/>
              </a:ext>
            </a:extLst>
          </p:cNvPr>
          <p:cNvPicPr>
            <a:picLocks xmlns:a="http://schemas.openxmlformats.org/drawingml/2006/main" noChangeAspect="1"/>
          </p:cNvPicPr>
          <p:nvPr/>
        </p:nvPicPr>
        <p:blipFill>
          <a:blip xmlns:r="http://schemas.openxmlformats.org/officeDocument/2006/relationships" xmlns:a="http://schemas.openxmlformats.org/drawingml/2006/main" r:embed="Ra6de31cc5b304aea">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11077575" y="5282226"/>
            <a:ext cx="148590" cy="103549"/>
          </a:xfrm>
          <a:prstGeom xmlns:a="http://schemas.openxmlformats.org/drawingml/2006/main" prst="rect">
            <a:avLst/>
          </a:prstGeom>
        </p:spPr>
      </p:pic>
    </p:spTree>
    <p:extLst>
      <p:ext uri="{BB962C8B-B14F-4D97-AF65-F5344CB8AC3E}">
        <p14:creationId xmlns:p14="http://schemas.microsoft.com/office/powerpoint/2010/main" val="10950033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One pair, one output</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At index 2</a:t>
            </a:r>
          </a:p>
        </p:txBody>
      </p:sp>
      <p:sp>
        <p:nvSpPr>
          <p:cNvPr id="3" name="input-label">
            <a:extLst xmlns:a="http://schemas.openxmlformats.org/drawingml/2006/main">
              <a:ext uri="{FF2B5EF4-FFF2-40B4-BE49-F238E27FC236}">
                <a16:creationId xmlns:a16="http://schemas.microsoft.com/office/drawing/2014/main" id="{B34DF11B-3C56-4131-BE5F-BC7741551582}"/>
              </a:ext>
            </a:extLst>
          </p:cNvPr>
          <p:cNvSpPr>
            <a:spLocks xmlns:a="http://schemas.openxmlformats.org/drawingml/2006/main" noGrp="1"/>
          </p:cNvSpPr>
          <p:nvPr/>
        </p:nvSpPr>
        <p:spPr>
          <a:xfrm xmlns:a="http://schemas.openxmlformats.org/drawingml/2006/main">
            <a:off x="857250" y="10477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i="0">
                <a:solidFill>
                  <a:srgbClr val="202020"/>
                </a:solidFill>
                <a:latin typeface="Times New Roman"/>
                <a:ea typeface="Times New Roman"/>
                <a:cs typeface="Times New Roman"/>
              </a:defRPr>
            </a:defPPr>
          </a:lstStyle>
          <a:p xmlns:a="http://schemas.openxmlformats.org/drawingml/2006/main">
            <a:pPr algn="ct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Input</a:t>
            </a:r>
          </a:p>
        </p:txBody>
      </p:sp>
      <p:sp>
        <p:nvSpPr>
          <p:cNvPr id="4" name="to-average-shaft">
            <a:extLst xmlns:a="http://schemas.openxmlformats.org/drawingml/2006/main">
              <a:ext uri="{FF2B5EF4-FFF2-40B4-BE49-F238E27FC236}">
                <a16:creationId xmlns:a16="http://schemas.microsoft.com/office/drawing/2014/main" id="{AB3FC123-5E25-49D9-9F50-8477F26824ED}"/>
              </a:ext>
            </a:extLst>
          </p:cNvPr>
          <p:cNvSpPr>
            <a:spLocks xmlns:a="http://schemas.openxmlformats.org/drawingml/2006/main" noGrp="1"/>
          </p:cNvSpPr>
          <p:nvPr/>
        </p:nvSpPr>
        <p:spPr>
          <a:xfrm xmlns:a="http://schemas.openxmlformats.org/drawingml/2006/main">
            <a:off x="2762250" y="1552575"/>
            <a:ext cx="13430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to-average-head">
            <a:extLst xmlns:a="http://schemas.openxmlformats.org/drawingml/2006/main">
              <a:ext uri="{FF2B5EF4-FFF2-40B4-BE49-F238E27FC236}">
                <a16:creationId xmlns:a16="http://schemas.microsoft.com/office/drawing/2014/main" id="{6AD260E0-CF41-408E-A19B-1B96B580BBD6}"/>
              </a:ext>
            </a:extLst>
          </p:cNvPr>
          <p:cNvSpPr>
            <a:spLocks xmlns:a="http://schemas.openxmlformats.org/drawingml/2006/main" noGrp="1"/>
          </p:cNvSpPr>
          <p:nvPr/>
        </p:nvSpPr>
        <p:spPr>
          <a:xfrm xmlns:a="http://schemas.openxmlformats.org/drawingml/2006/main" rot="5400000">
            <a:off x="4086225" y="15097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average-operation-box">
            <a:extLst xmlns:a="http://schemas.openxmlformats.org/drawingml/2006/main">
              <a:ext uri="{FF2B5EF4-FFF2-40B4-BE49-F238E27FC236}">
                <a16:creationId xmlns:a16="http://schemas.microsoft.com/office/drawing/2014/main" id="{0837425C-A33F-4930-A020-643CECF28C1E}"/>
              </a:ext>
            </a:extLst>
          </p:cNvPr>
          <p:cNvSpPr>
            <a:spLocks xmlns:a="http://schemas.openxmlformats.org/drawingml/2006/main" noGrp="1"/>
          </p:cNvSpPr>
          <p:nvPr/>
        </p:nvSpPr>
        <p:spPr>
          <a:xfrm xmlns:a="http://schemas.openxmlformats.org/drawingml/2006/main">
            <a:off x="4400550" y="1304925"/>
            <a:ext cx="3333750" cy="54292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7" name="average-operation-text">
            <a:extLst xmlns:a="http://schemas.openxmlformats.org/drawingml/2006/main">
              <a:ext uri="{FF2B5EF4-FFF2-40B4-BE49-F238E27FC236}">
                <a16:creationId xmlns:a16="http://schemas.microsoft.com/office/drawing/2014/main" id="{5FF527C1-3B20-4D82-98D3-25A28AA63B7B}"/>
              </a:ext>
            </a:extLst>
          </p:cNvPr>
          <p:cNvSpPr>
            <a:spLocks xmlns:a="http://schemas.openxmlformats.org/drawingml/2006/main" noGrp="1"/>
          </p:cNvSpPr>
          <p:nvPr/>
        </p:nvSpPr>
        <p:spPr>
          <a:xfrm xmlns:a="http://schemas.openxmlformats.org/drawingml/2006/main">
            <a:off x="4476750" y="1381125"/>
            <a:ext cx="31813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Average a pair</a:t>
            </a:r>
          </a:p>
        </p:txBody>
      </p:sp>
      <p:sp>
        <p:nvSpPr>
          <p:cNvPr id="8" name="to-output-shaft">
            <a:extLst xmlns:a="http://schemas.openxmlformats.org/drawingml/2006/main">
              <a:ext uri="{FF2B5EF4-FFF2-40B4-BE49-F238E27FC236}">
                <a16:creationId xmlns:a16="http://schemas.microsoft.com/office/drawing/2014/main" id="{72E46728-46B1-4793-AFAD-1D29F2149204}"/>
              </a:ext>
            </a:extLst>
          </p:cNvPr>
          <p:cNvSpPr>
            <a:spLocks xmlns:a="http://schemas.openxmlformats.org/drawingml/2006/main" noGrp="1"/>
          </p:cNvSpPr>
          <p:nvPr/>
        </p:nvSpPr>
        <p:spPr>
          <a:xfrm xmlns:a="http://schemas.openxmlformats.org/drawingml/2006/main">
            <a:off x="7953375" y="1552575"/>
            <a:ext cx="13430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9" name="to-output-head">
            <a:extLst xmlns:a="http://schemas.openxmlformats.org/drawingml/2006/main">
              <a:ext uri="{FF2B5EF4-FFF2-40B4-BE49-F238E27FC236}">
                <a16:creationId xmlns:a16="http://schemas.microsoft.com/office/drawing/2014/main" id="{5D7D06A3-F1AC-4FC8-87CA-5AF14D81B096}"/>
              </a:ext>
            </a:extLst>
          </p:cNvPr>
          <p:cNvSpPr>
            <a:spLocks xmlns:a="http://schemas.openxmlformats.org/drawingml/2006/main" noGrp="1"/>
          </p:cNvSpPr>
          <p:nvPr/>
        </p:nvSpPr>
        <p:spPr>
          <a:xfrm xmlns:a="http://schemas.openxmlformats.org/drawingml/2006/main" rot="5400000">
            <a:off x="9277350" y="15097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0" name="output-label">
            <a:extLst xmlns:a="http://schemas.openxmlformats.org/drawingml/2006/main">
              <a:ext uri="{FF2B5EF4-FFF2-40B4-BE49-F238E27FC236}">
                <a16:creationId xmlns:a16="http://schemas.microsoft.com/office/drawing/2014/main" id="{D4629034-E8B5-48D0-8CE2-150F28A130A1}"/>
              </a:ext>
            </a:extLst>
          </p:cNvPr>
          <p:cNvSpPr>
            <a:spLocks xmlns:a="http://schemas.openxmlformats.org/drawingml/2006/main" noGrp="1"/>
          </p:cNvSpPr>
          <p:nvPr/>
        </p:nvSpPr>
        <p:spPr>
          <a:xfrm xmlns:a="http://schemas.openxmlformats.org/drawingml/2006/main">
            <a:off x="9620250" y="10477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i="0">
                <a:solidFill>
                  <a:srgbClr val="202020"/>
                </a:solidFill>
                <a:latin typeface="Times New Roman"/>
                <a:ea typeface="Times New Roman"/>
                <a:cs typeface="Times New Roman"/>
              </a:defRPr>
            </a:defPPr>
          </a:lstStyle>
          <a:p xmlns:a="http://schemas.openxmlformats.org/drawingml/2006/main">
            <a:pPr algn="ct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Output</a:t>
            </a:r>
          </a:p>
        </p:txBody>
      </p:sp>
      <p:sp>
        <p:nvSpPr>
          <p:cNvPr id="11" name="halfway-meaning">
            <a:extLst xmlns:a="http://schemas.openxmlformats.org/drawingml/2006/main">
              <a:ext uri="{FF2B5EF4-FFF2-40B4-BE49-F238E27FC236}">
                <a16:creationId xmlns:a16="http://schemas.microsoft.com/office/drawing/2014/main" id="{9179891C-0BEF-4159-B498-4FB66FD392D4}"/>
              </a:ext>
            </a:extLst>
          </p:cNvPr>
          <p:cNvSpPr>
            <a:spLocks xmlns:a="http://schemas.openxmlformats.org/drawingml/2006/main" noGrp="1"/>
          </p:cNvSpPr>
          <p:nvPr/>
        </p:nvSpPr>
        <p:spPr>
          <a:xfrm xmlns:a="http://schemas.openxmlformats.org/drawingml/2006/main">
            <a:off x="609600" y="215265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Average: halfway between the two sample heights.</a:t>
            </a:r>
          </a:p>
        </p:txBody>
      </p:sp>
      <p:pic>
        <p:nvPicPr>
          <p:cNvPr id="12" name="pair-to-output" descr="Copy the same heights 2 and 4 to output index 2, then meet at average 3.">
            <a:extLst xmlns:a="http://schemas.openxmlformats.org/drawingml/2006/main">
              <a:ext uri="{FF2B5EF4-FFF2-40B4-BE49-F238E27FC236}">
                <a16:creationId xmlns:a16="http://schemas.microsoft.com/office/drawing/2014/main" id="{A3B9DAF3-A70F-4439-8072-A21739A52633}"/>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18" name="pair-to-output--t4-click-frame-001"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19" name="pair-to-output--t4-click-frame-002"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20" name="pair-to-output--t4-click-frame-003"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21" name="pair-to-output--t4-click-frame-004"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22" name="pair-to-output--t4-click-frame-005"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23" name="pair-to-output--t4-click-frame-006"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24" name="pair-to-output--t4-click-frame-007"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25" name="pair-to-output--t4-click-frame-008"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26" name="pair-to-output--t4-click-frame-009"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27" name="pair-to-output--t4-click-frame-010"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28" name="pair-to-output--t4-click-frame-011"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29" name="pair-to-output--t4-click-frame-012"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30" name="pair-to-output--t4-click-frame-013"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31" name="pair-to-output--t4-click-frame-014"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32" name="pair-to-output--t4-click-frame-015"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33" name="pair-to-output--t4-click-frame-016"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34" name="pair-to-output--t4-click-frame-017"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35" name="pair-to-output--t4-click-frame-018"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36" name="pair-to-output--t4-click-frame-019"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37" name="pair-to-output--t4-click-frame-020"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38" name="pair-to-output--t4-click-frame-021"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39" name="pair-to-output--t4-click-frame-022"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40" name="pair-to-output--t4-click-frame-023"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41" name="pair-to-output--t4-click-frame-024"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42" name="pair-to-output--t4-click-frame-025"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43" name="pair-to-output--t4-click-frame-026"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44" name="pair-to-output--t4-click-frame-027"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pic>
        <p:nvPicPr>
          <p:cNvPr id="45" name="pair-to-output--t4-click-frame-028" descr="Copy the same heights 2 and 4 to output index 2, then meet at average 3."/>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943225"/>
            <a:ext cx="10668000" cy="2381250"/>
          </a:xfrm>
          <a:prstGeom xmlns:a="http://schemas.openxmlformats.org/drawingml/2006/main" prst="rect">
            <a:avLst/>
          </a:prstGeom>
        </p:spPr>
      </p:pic>
      <p:sp>
        <p:nvSpPr>
          <p:cNvPr id="13" name="one-pair-answer-emphasis">
            <a:extLst xmlns:a="http://schemas.openxmlformats.org/drawingml/2006/main">
              <a:ext uri="{FF2B5EF4-FFF2-40B4-BE49-F238E27FC236}">
                <a16:creationId xmlns:a16="http://schemas.microsoft.com/office/drawing/2014/main" id="{D4EA632B-CF47-496B-AE81-20E6D9BA1063}"/>
              </a:ext>
            </a:extLst>
          </p:cNvPr>
          <p:cNvSpPr>
            <a:spLocks xmlns:a="http://schemas.openxmlformats.org/drawingml/2006/main" noGrp="1"/>
          </p:cNvSpPr>
          <p:nvPr/>
        </p:nvSpPr>
        <p:spPr>
          <a:xfrm xmlns:a="http://schemas.openxmlformats.org/drawingml/2006/main">
            <a:off x="609600" y="642937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4" name="input-symbol" descr="x[n]">
            <a:extLst xmlns:a="http://schemas.openxmlformats.org/drawingml/2006/main">
              <a:ext uri="{FF2B5EF4-FFF2-40B4-BE49-F238E27FC236}">
                <a16:creationId xmlns:a16="http://schemas.microsoft.com/office/drawing/2014/main" id="{9114287A-C6E3-465D-9233-3F5E7ABBB0E4}"/>
              </a:ext>
            </a:extLst>
          </p:cNvPr>
          <p:cNvPicPr>
            <a:picLocks xmlns:a="http://schemas.openxmlformats.org/drawingml/2006/main" noChangeAspect="1"/>
          </p:cNvPicPr>
          <p:nvPr/>
        </p:nvPicPr>
        <p:blipFill>
          <a:blip xmlns:r="http://schemas.openxmlformats.org/officeDocument/2006/relationships" xmlns:a="http://schemas.openxmlformats.org/drawingml/2006/main" r:embed="R43bcb124fce94bab">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406843" y="1431994"/>
            <a:ext cx="615315" cy="326886"/>
          </a:xfrm>
          <a:prstGeom xmlns:a="http://schemas.openxmlformats.org/drawingml/2006/main" prst="rect">
            <a:avLst/>
          </a:prstGeom>
        </p:spPr>
      </p:pic>
      <p:pic>
        <p:nvPicPr>
          <p:cNvPr id="15" name="output-symbol" descr="y[n]">
            <a:extLst xmlns:a="http://schemas.openxmlformats.org/drawingml/2006/main">
              <a:ext uri="{FF2B5EF4-FFF2-40B4-BE49-F238E27FC236}">
                <a16:creationId xmlns:a16="http://schemas.microsoft.com/office/drawing/2014/main" id="{E572D4A1-3257-4135-A2AA-CBBE644C3CA1}"/>
              </a:ext>
            </a:extLst>
          </p:cNvPr>
          <p:cNvPicPr>
            <a:picLocks xmlns:a="http://schemas.openxmlformats.org/drawingml/2006/main" noChangeAspect="1"/>
          </p:cNvPicPr>
          <p:nvPr/>
        </p:nvPicPr>
        <p:blipFill>
          <a:blip xmlns:r="http://schemas.openxmlformats.org/officeDocument/2006/relationships" xmlns:a="http://schemas.openxmlformats.org/drawingml/2006/main" r:embed="R57760c9f93b8455a">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169843" y="1433917"/>
            <a:ext cx="615315" cy="323040"/>
          </a:xfrm>
          <a:prstGeom xmlns:a="http://schemas.openxmlformats.org/drawingml/2006/main" prst="rect">
            <a:avLst/>
          </a:prstGeom>
        </p:spPr>
      </p:pic>
      <p:pic>
        <p:nvPicPr>
          <p:cNvPr id="16" name="one-pair-answer" descr="y[2]=\frac{4+2}{2}=3">
            <a:extLst xmlns:a="http://schemas.openxmlformats.org/drawingml/2006/main">
              <a:ext uri="{FF2B5EF4-FFF2-40B4-BE49-F238E27FC236}">
                <a16:creationId xmlns:a16="http://schemas.microsoft.com/office/drawing/2014/main" id="{22EB8D37-BB89-4341-AB58-F299C96DEB9C}"/>
              </a:ext>
            </a:extLst>
          </p:cNvPr>
          <p:cNvPicPr>
            <a:picLocks xmlns:a="http://schemas.openxmlformats.org/drawingml/2006/main" noChangeAspect="1"/>
          </p:cNvPicPr>
          <p:nvPr/>
        </p:nvPicPr>
        <p:blipFill>
          <a:blip xmlns:r="http://schemas.openxmlformats.org/officeDocument/2006/relationships" xmlns:a="http://schemas.openxmlformats.org/drawingml/2006/main" r:embed="R283279ad0e044c52">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609600" y="5878711"/>
            <a:ext cx="2433638" cy="425053"/>
          </a:xfrm>
          <a:prstGeom xmlns:a="http://schemas.openxmlformats.org/drawingml/2006/main" prst="rect">
            <a:avLst/>
          </a:prstGeom>
        </p:spPr>
      </p:pic>
    </p:spTree>
    <p:extLst>
      <p:ext uri="{BB962C8B-B14F-4D97-AF65-F5344CB8AC3E}">
        <p14:creationId xmlns:p14="http://schemas.microsoft.com/office/powerpoint/2010/main" val="1192048328"/>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5920">
                            <p:stCondLst>
                              <p:cond delay="0"/>
                            </p:stCondLst>
                            <p:childTnLst>
                              <p:par>
                                <p:cTn id="13" presetID="1" presetClass="entr" presetSubtype="0" fill="hold" nodeType="clickEffect" restart="never">
                                  <p:stCondLst>
                                    <p:cond delay="50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restart="never">
                                  <p:stCondLst>
                                    <p:cond delay="66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restart="never">
                                  <p:stCondLst>
                                    <p:cond delay="82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restart="never">
                                  <p:stCondLst>
                                    <p:cond delay="98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restart="never">
                                  <p:stCondLst>
                                    <p:cond delay="114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restart="never">
                                  <p:stCondLst>
                                    <p:cond delay="130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restart="never">
                                  <p:stCondLst>
                                    <p:cond delay="146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restart="never">
                                  <p:stCondLst>
                                    <p:cond delay="162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nodeType="withEffect" restart="never">
                                  <p:stCondLst>
                                    <p:cond delay="178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restart="never">
                                  <p:stCondLst>
                                    <p:cond delay="194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restart="never">
                                  <p:stCondLst>
                                    <p:cond delay="210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nodeType="withEffect" restart="never">
                                  <p:stCondLst>
                                    <p:cond delay="226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restart="never">
                                  <p:stCondLst>
                                    <p:cond delay="242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restart="never">
                                  <p:stCondLst>
                                    <p:cond delay="258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nodeType="withEffect" restart="never">
                                  <p:stCondLst>
                                    <p:cond delay="274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nodeType="withEffect" restart="never">
                                  <p:stCondLst>
                                    <p:cond delay="290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nodeType="withEffect" restart="never">
                                  <p:stCondLst>
                                    <p:cond delay="306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nodeType="withEffect" restart="never">
                                  <p:stCondLst>
                                    <p:cond delay="322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nodeType="withEffect" restart="never">
                                  <p:stCondLst>
                                    <p:cond delay="3380"/>
                                  </p:stCondLst>
                                  <p:childTnLst>
                                    <p:set>
                                      <p:cBhvr>
                                        <p:cTn id="50" dur="1" fill="hold">
                                          <p:stCondLst>
                                            <p:cond delay="0"/>
                                          </p:stCondLst>
                                        </p:cTn>
                                        <p:tgtEl>
                                          <p:spTgt spid="36"/>
                                        </p:tgtEl>
                                        <p:attrNameLst>
                                          <p:attrName>style.visibility</p:attrName>
                                        </p:attrNameLst>
                                      </p:cBhvr>
                                      <p:to>
                                        <p:strVal val="visible"/>
                                      </p:to>
                                    </p:set>
                                  </p:childTnLst>
                                </p:cTn>
                              </p:par>
                              <p:par>
                                <p:cTn id="51" presetID="1" presetClass="entr" presetSubtype="0" fill="hold" nodeType="withEffect" restart="never">
                                  <p:stCondLst>
                                    <p:cond delay="3540"/>
                                  </p:stCondLst>
                                  <p:childTnLst>
                                    <p:set>
                                      <p:cBhvr>
                                        <p:cTn id="52" dur="1" fill="hold">
                                          <p:stCondLst>
                                            <p:cond delay="0"/>
                                          </p:stCondLst>
                                        </p:cTn>
                                        <p:tgtEl>
                                          <p:spTgt spid="37"/>
                                        </p:tgtEl>
                                        <p:attrNameLst>
                                          <p:attrName>style.visibility</p:attrName>
                                        </p:attrNameLst>
                                      </p:cBhvr>
                                      <p:to>
                                        <p:strVal val="visible"/>
                                      </p:to>
                                    </p:set>
                                  </p:childTnLst>
                                </p:cTn>
                              </p:par>
                              <p:par>
                                <p:cTn id="53" presetID="1" presetClass="entr" presetSubtype="0" fill="hold" nodeType="withEffect" restart="never">
                                  <p:stCondLst>
                                    <p:cond delay="3700"/>
                                  </p:stCondLst>
                                  <p:childTnLst>
                                    <p:set>
                                      <p:cBhvr>
                                        <p:cTn id="54" dur="1" fill="hold">
                                          <p:stCondLst>
                                            <p:cond delay="0"/>
                                          </p:stCondLst>
                                        </p:cTn>
                                        <p:tgtEl>
                                          <p:spTgt spid="38"/>
                                        </p:tgtEl>
                                        <p:attrNameLst>
                                          <p:attrName>style.visibility</p:attrName>
                                        </p:attrNameLst>
                                      </p:cBhvr>
                                      <p:to>
                                        <p:strVal val="visible"/>
                                      </p:to>
                                    </p:set>
                                  </p:childTnLst>
                                </p:cTn>
                              </p:par>
                              <p:par>
                                <p:cTn id="55" presetID="1" presetClass="entr" presetSubtype="0" fill="hold" nodeType="withEffect" restart="never">
                                  <p:stCondLst>
                                    <p:cond delay="3860"/>
                                  </p:stCondLst>
                                  <p:childTnLst>
                                    <p:set>
                                      <p:cBhvr>
                                        <p:cTn id="56" dur="1" fill="hold">
                                          <p:stCondLst>
                                            <p:cond delay="0"/>
                                          </p:stCondLst>
                                        </p:cTn>
                                        <p:tgtEl>
                                          <p:spTgt spid="39"/>
                                        </p:tgtEl>
                                        <p:attrNameLst>
                                          <p:attrName>style.visibility</p:attrName>
                                        </p:attrNameLst>
                                      </p:cBhvr>
                                      <p:to>
                                        <p:strVal val="visible"/>
                                      </p:to>
                                    </p:set>
                                  </p:childTnLst>
                                </p:cTn>
                              </p:par>
                              <p:par>
                                <p:cTn id="57" presetID="1" presetClass="entr" presetSubtype="0" fill="hold" nodeType="withEffect" restart="never">
                                  <p:stCondLst>
                                    <p:cond delay="4020"/>
                                  </p:stCondLst>
                                  <p:childTnLst>
                                    <p:set>
                                      <p:cBhvr>
                                        <p:cTn id="58" dur="1" fill="hold">
                                          <p:stCondLst>
                                            <p:cond delay="0"/>
                                          </p:stCondLst>
                                        </p:cTn>
                                        <p:tgtEl>
                                          <p:spTgt spid="40"/>
                                        </p:tgtEl>
                                        <p:attrNameLst>
                                          <p:attrName>style.visibility</p:attrName>
                                        </p:attrNameLst>
                                      </p:cBhvr>
                                      <p:to>
                                        <p:strVal val="visible"/>
                                      </p:to>
                                    </p:set>
                                  </p:childTnLst>
                                </p:cTn>
                              </p:par>
                              <p:par>
                                <p:cTn id="59" presetID="1" presetClass="entr" presetSubtype="0" fill="hold" nodeType="withEffect" restart="never">
                                  <p:stCondLst>
                                    <p:cond delay="418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nodeType="withEffect" restart="never">
                                  <p:stCondLst>
                                    <p:cond delay="4340"/>
                                  </p:stCondLst>
                                  <p:childTnLst>
                                    <p:set>
                                      <p:cBhvr>
                                        <p:cTn id="62" dur="1" fill="hold">
                                          <p:stCondLst>
                                            <p:cond delay="0"/>
                                          </p:stCondLst>
                                        </p:cTn>
                                        <p:tgtEl>
                                          <p:spTgt spid="42"/>
                                        </p:tgtEl>
                                        <p:attrNameLst>
                                          <p:attrName>style.visibility</p:attrName>
                                        </p:attrNameLst>
                                      </p:cBhvr>
                                      <p:to>
                                        <p:strVal val="visible"/>
                                      </p:to>
                                    </p:set>
                                  </p:childTnLst>
                                </p:cTn>
                              </p:par>
                              <p:par>
                                <p:cTn id="63" presetID="1" presetClass="entr" presetSubtype="0" fill="hold" nodeType="withEffect" restart="never">
                                  <p:stCondLst>
                                    <p:cond delay="4500"/>
                                  </p:stCondLst>
                                  <p:childTnLst>
                                    <p:set>
                                      <p:cBhvr>
                                        <p:cTn id="64" dur="1" fill="hold">
                                          <p:stCondLst>
                                            <p:cond delay="0"/>
                                          </p:stCondLst>
                                        </p:cTn>
                                        <p:tgtEl>
                                          <p:spTgt spid="43"/>
                                        </p:tgtEl>
                                        <p:attrNameLst>
                                          <p:attrName>style.visibility</p:attrName>
                                        </p:attrNameLst>
                                      </p:cBhvr>
                                      <p:to>
                                        <p:strVal val="visible"/>
                                      </p:to>
                                    </p:set>
                                  </p:childTnLst>
                                </p:cTn>
                              </p:par>
                              <p:par>
                                <p:cTn id="65" presetID="1" presetClass="entr" presetSubtype="0" fill="hold" nodeType="withEffect" restart="never">
                                  <p:stCondLst>
                                    <p:cond delay="4660"/>
                                  </p:stCondLst>
                                  <p:childTnLst>
                                    <p:set>
                                      <p:cBhvr>
                                        <p:cTn id="66" dur="1" fill="hold">
                                          <p:stCondLst>
                                            <p:cond delay="0"/>
                                          </p:stCondLst>
                                        </p:cTn>
                                        <p:tgtEl>
                                          <p:spTgt spid="44"/>
                                        </p:tgtEl>
                                        <p:attrNameLst>
                                          <p:attrName>style.visibility</p:attrName>
                                        </p:attrNameLst>
                                      </p:cBhvr>
                                      <p:to>
                                        <p:strVal val="visible"/>
                                      </p:to>
                                    </p:set>
                                  </p:childTnLst>
                                </p:cTn>
                              </p:par>
                              <p:par>
                                <p:cTn id="67" presetID="1" presetClass="entr" presetSubtype="0" fill="hold" nodeType="withEffect" restart="never">
                                  <p:stCondLst>
                                    <p:cond delay="4820"/>
                                  </p:stCondLst>
                                  <p:childTnLst>
                                    <p:set>
                                      <p:cBhvr>
                                        <p:cTn id="68" dur="1" fill="hold">
                                          <p:stCondLst>
                                            <p:cond delay="0"/>
                                          </p:stCondLst>
                                        </p:cTn>
                                        <p:tgtEl>
                                          <p:spTgt spid="45"/>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The averaging rule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Current and previous</a:t>
            </a:r>
          </a:p>
        </p:txBody>
      </p:sp>
      <p:sp>
        <p:nvSpPr>
          <p:cNvPr id="3" name="input-label">
            <a:extLst xmlns:a="http://schemas.openxmlformats.org/drawingml/2006/main">
              <a:ext uri="{FF2B5EF4-FFF2-40B4-BE49-F238E27FC236}">
                <a16:creationId xmlns:a16="http://schemas.microsoft.com/office/drawing/2014/main" id="{F7FDAF43-5AFF-4E44-A3A9-537C552E3F0E}"/>
              </a:ext>
            </a:extLst>
          </p:cNvPr>
          <p:cNvSpPr>
            <a:spLocks xmlns:a="http://schemas.openxmlformats.org/drawingml/2006/main" noGrp="1"/>
          </p:cNvSpPr>
          <p:nvPr/>
        </p:nvSpPr>
        <p:spPr>
          <a:xfrm xmlns:a="http://schemas.openxmlformats.org/drawingml/2006/main">
            <a:off x="857250" y="10477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i="0">
                <a:solidFill>
                  <a:srgbClr val="202020"/>
                </a:solidFill>
                <a:latin typeface="Times New Roman"/>
                <a:ea typeface="Times New Roman"/>
                <a:cs typeface="Times New Roman"/>
              </a:defRPr>
            </a:defPPr>
          </a:lstStyle>
          <a:p xmlns:a="http://schemas.openxmlformats.org/drawingml/2006/main">
            <a:pPr algn="ct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Input</a:t>
            </a:r>
          </a:p>
        </p:txBody>
      </p:sp>
      <p:sp>
        <p:nvSpPr>
          <p:cNvPr id="4" name="to-average-shaft">
            <a:extLst xmlns:a="http://schemas.openxmlformats.org/drawingml/2006/main">
              <a:ext uri="{FF2B5EF4-FFF2-40B4-BE49-F238E27FC236}">
                <a16:creationId xmlns:a16="http://schemas.microsoft.com/office/drawing/2014/main" id="{2469A88C-0CE7-4190-AFAB-D29EE18344A1}"/>
              </a:ext>
            </a:extLst>
          </p:cNvPr>
          <p:cNvSpPr>
            <a:spLocks xmlns:a="http://schemas.openxmlformats.org/drawingml/2006/main" noGrp="1"/>
          </p:cNvSpPr>
          <p:nvPr/>
        </p:nvSpPr>
        <p:spPr>
          <a:xfrm xmlns:a="http://schemas.openxmlformats.org/drawingml/2006/main">
            <a:off x="2762250" y="1552575"/>
            <a:ext cx="13430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to-average-head">
            <a:extLst xmlns:a="http://schemas.openxmlformats.org/drawingml/2006/main">
              <a:ext uri="{FF2B5EF4-FFF2-40B4-BE49-F238E27FC236}">
                <a16:creationId xmlns:a16="http://schemas.microsoft.com/office/drawing/2014/main" id="{9A67124B-F9B3-4417-979A-1BCF15C2F4AE}"/>
              </a:ext>
            </a:extLst>
          </p:cNvPr>
          <p:cNvSpPr>
            <a:spLocks xmlns:a="http://schemas.openxmlformats.org/drawingml/2006/main" noGrp="1"/>
          </p:cNvSpPr>
          <p:nvPr/>
        </p:nvSpPr>
        <p:spPr>
          <a:xfrm xmlns:a="http://schemas.openxmlformats.org/drawingml/2006/main" rot="5400000">
            <a:off x="4086225" y="15097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average-operation-box">
            <a:extLst xmlns:a="http://schemas.openxmlformats.org/drawingml/2006/main">
              <a:ext uri="{FF2B5EF4-FFF2-40B4-BE49-F238E27FC236}">
                <a16:creationId xmlns:a16="http://schemas.microsoft.com/office/drawing/2014/main" id="{471159B9-44B4-46DF-B312-B08495C20B60}"/>
              </a:ext>
            </a:extLst>
          </p:cNvPr>
          <p:cNvSpPr>
            <a:spLocks xmlns:a="http://schemas.openxmlformats.org/drawingml/2006/main" noGrp="1"/>
          </p:cNvSpPr>
          <p:nvPr/>
        </p:nvSpPr>
        <p:spPr>
          <a:xfrm xmlns:a="http://schemas.openxmlformats.org/drawingml/2006/main">
            <a:off x="4400550" y="1304925"/>
            <a:ext cx="3333750" cy="54292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7" name="average-operation-text">
            <a:extLst xmlns:a="http://schemas.openxmlformats.org/drawingml/2006/main">
              <a:ext uri="{FF2B5EF4-FFF2-40B4-BE49-F238E27FC236}">
                <a16:creationId xmlns:a16="http://schemas.microsoft.com/office/drawing/2014/main" id="{1B6FD8BA-CE52-4E47-932A-EC726D45C820}"/>
              </a:ext>
            </a:extLst>
          </p:cNvPr>
          <p:cNvSpPr>
            <a:spLocks xmlns:a="http://schemas.openxmlformats.org/drawingml/2006/main" noGrp="1"/>
          </p:cNvSpPr>
          <p:nvPr/>
        </p:nvSpPr>
        <p:spPr>
          <a:xfrm xmlns:a="http://schemas.openxmlformats.org/drawingml/2006/main">
            <a:off x="4476750" y="1381125"/>
            <a:ext cx="31813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Average a pair</a:t>
            </a:r>
          </a:p>
        </p:txBody>
      </p:sp>
      <p:sp>
        <p:nvSpPr>
          <p:cNvPr id="8" name="to-output-shaft">
            <a:extLst xmlns:a="http://schemas.openxmlformats.org/drawingml/2006/main">
              <a:ext uri="{FF2B5EF4-FFF2-40B4-BE49-F238E27FC236}">
                <a16:creationId xmlns:a16="http://schemas.microsoft.com/office/drawing/2014/main" id="{EFA70232-C439-4207-BF93-51967CCACB1B}"/>
              </a:ext>
            </a:extLst>
          </p:cNvPr>
          <p:cNvSpPr>
            <a:spLocks xmlns:a="http://schemas.openxmlformats.org/drawingml/2006/main" noGrp="1"/>
          </p:cNvSpPr>
          <p:nvPr/>
        </p:nvSpPr>
        <p:spPr>
          <a:xfrm xmlns:a="http://schemas.openxmlformats.org/drawingml/2006/main">
            <a:off x="7953375" y="1552575"/>
            <a:ext cx="13430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9" name="to-output-head">
            <a:extLst xmlns:a="http://schemas.openxmlformats.org/drawingml/2006/main">
              <a:ext uri="{FF2B5EF4-FFF2-40B4-BE49-F238E27FC236}">
                <a16:creationId xmlns:a16="http://schemas.microsoft.com/office/drawing/2014/main" id="{621B4B5D-6017-459D-9AA4-F2BE1D63EDB6}"/>
              </a:ext>
            </a:extLst>
          </p:cNvPr>
          <p:cNvSpPr>
            <a:spLocks xmlns:a="http://schemas.openxmlformats.org/drawingml/2006/main" noGrp="1"/>
          </p:cNvSpPr>
          <p:nvPr/>
        </p:nvSpPr>
        <p:spPr>
          <a:xfrm xmlns:a="http://schemas.openxmlformats.org/drawingml/2006/main" rot="5400000">
            <a:off x="9277350" y="15097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0" name="output-label">
            <a:extLst xmlns:a="http://schemas.openxmlformats.org/drawingml/2006/main">
              <a:ext uri="{FF2B5EF4-FFF2-40B4-BE49-F238E27FC236}">
                <a16:creationId xmlns:a16="http://schemas.microsoft.com/office/drawing/2014/main" id="{213FE3E5-5711-40A8-9932-55D9F34004B3}"/>
              </a:ext>
            </a:extLst>
          </p:cNvPr>
          <p:cNvSpPr>
            <a:spLocks xmlns:a="http://schemas.openxmlformats.org/drawingml/2006/main" noGrp="1"/>
          </p:cNvSpPr>
          <p:nvPr/>
        </p:nvSpPr>
        <p:spPr>
          <a:xfrm xmlns:a="http://schemas.openxmlformats.org/drawingml/2006/main">
            <a:off x="9620250" y="10477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i="0">
                <a:solidFill>
                  <a:srgbClr val="202020"/>
                </a:solidFill>
                <a:latin typeface="Times New Roman"/>
                <a:ea typeface="Times New Roman"/>
                <a:cs typeface="Times New Roman"/>
              </a:defRPr>
            </a:defPPr>
          </a:lstStyle>
          <a:p xmlns:a="http://schemas.openxmlformats.org/drawingml/2006/main">
            <a:pPr algn="ct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Output</a:t>
            </a:r>
          </a:p>
        </p:txBody>
      </p:sp>
      <p:sp>
        <p:nvSpPr>
          <p:cNvPr id="11" name="current-definition">
            <a:extLst xmlns:a="http://schemas.openxmlformats.org/drawingml/2006/main">
              <a:ext uri="{FF2B5EF4-FFF2-40B4-BE49-F238E27FC236}">
                <a16:creationId xmlns:a16="http://schemas.microsoft.com/office/drawing/2014/main" id="{F64D6102-F1F9-4CD6-9C9C-9D90FC27BC4A}"/>
              </a:ext>
            </a:extLst>
          </p:cNvPr>
          <p:cNvSpPr>
            <a:spLocks xmlns:a="http://schemas.openxmlformats.org/drawingml/2006/main" noGrp="1"/>
          </p:cNvSpPr>
          <p:nvPr/>
        </p:nvSpPr>
        <p:spPr>
          <a:xfrm xmlns:a="http://schemas.openxmlformats.org/drawingml/2006/main">
            <a:off x="3028950" y="3133725"/>
            <a:ext cx="838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i="0">
                <a:solidFill>
                  <a:srgbClr val="202020"/>
                </a:solidFill>
                <a:latin typeface="Times New Roman"/>
                <a:ea typeface="Times New Roman"/>
                <a:cs typeface="Times New Roman"/>
              </a:defRPr>
            </a:defPPr>
          </a:lstStyle>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Current input sample at index n</a:t>
            </a:r>
          </a:p>
        </p:txBody>
      </p:sp>
      <p:sp>
        <p:nvSpPr>
          <p:cNvPr id="12" name="previous-definition">
            <a:extLst xmlns:a="http://schemas.openxmlformats.org/drawingml/2006/main">
              <a:ext uri="{FF2B5EF4-FFF2-40B4-BE49-F238E27FC236}">
                <a16:creationId xmlns:a16="http://schemas.microsoft.com/office/drawing/2014/main" id="{FEF06B4D-AB34-4498-9C6D-8567256A2EF6}"/>
              </a:ext>
            </a:extLst>
          </p:cNvPr>
          <p:cNvSpPr>
            <a:spLocks xmlns:a="http://schemas.openxmlformats.org/drawingml/2006/main" noGrp="1"/>
          </p:cNvSpPr>
          <p:nvPr/>
        </p:nvSpPr>
        <p:spPr>
          <a:xfrm xmlns:a="http://schemas.openxmlformats.org/drawingml/2006/main">
            <a:off x="3028950" y="3752850"/>
            <a:ext cx="838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i="0">
                <a:solidFill>
                  <a:srgbClr val="202020"/>
                </a:solidFill>
                <a:latin typeface="Times New Roman"/>
                <a:ea typeface="Times New Roman"/>
                <a:cs typeface="Times New Roman"/>
              </a:defRPr>
            </a:defPPr>
          </a:lstStyle>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Previous input sample, one index earlier</a:t>
            </a:r>
          </a:p>
        </p:txBody>
      </p:sp>
      <p:sp>
        <p:nvSpPr>
          <p:cNvPr id="13" name="rule-takeaway">
            <a:extLst xmlns:a="http://schemas.openxmlformats.org/drawingml/2006/main">
              <a:ext uri="{FF2B5EF4-FFF2-40B4-BE49-F238E27FC236}">
                <a16:creationId xmlns:a16="http://schemas.microsoft.com/office/drawing/2014/main" id="{B7121FC5-16E1-4C1B-882E-79EF2D0EA36F}"/>
              </a:ext>
            </a:extLst>
          </p:cNvPr>
          <p:cNvSpPr>
            <a:spLocks xmlns:a="http://schemas.openxmlformats.org/drawingml/2006/main" noGrp="1"/>
          </p:cNvSpPr>
          <p:nvPr/>
        </p:nvSpPr>
        <p:spPr>
          <a:xfrm xmlns:a="http://schemas.openxmlformats.org/drawingml/2006/main">
            <a:off x="609600" y="594360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i="0">
                <a:solidFill>
                  <a:srgbClr val="202020"/>
                </a:solidFill>
                <a:latin typeface="Times New Roman"/>
                <a:ea typeface="Times New Roman"/>
                <a:cs typeface="Times New Roman"/>
              </a:defRPr>
            </a:defPPr>
          </a:lstStyle>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Two input samples. One output at the current index n.</a:t>
            </a:r>
          </a:p>
        </p:txBody>
      </p:sp>
      <p:sp>
        <p:nvSpPr>
          <p:cNvPr id="14" name="rule-emphasis">
            <a:extLst xmlns:a="http://schemas.openxmlformats.org/drawingml/2006/main">
              <a:ext uri="{FF2B5EF4-FFF2-40B4-BE49-F238E27FC236}">
                <a16:creationId xmlns:a16="http://schemas.microsoft.com/office/drawing/2014/main" id="{34505188-A091-4CBC-8F68-0537E300BBDC}"/>
              </a:ext>
            </a:extLst>
          </p:cNvPr>
          <p:cNvSpPr>
            <a:spLocks xmlns:a="http://schemas.openxmlformats.org/drawingml/2006/main" noGrp="1"/>
          </p:cNvSpPr>
          <p:nvPr/>
        </p:nvSpPr>
        <p:spPr>
          <a:xfrm xmlns:a="http://schemas.openxmlformats.org/drawingml/2006/main">
            <a:off x="609600" y="646747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5" name="input-symbol" descr="x[n]">
            <a:extLst xmlns:a="http://schemas.openxmlformats.org/drawingml/2006/main">
              <a:ext uri="{FF2B5EF4-FFF2-40B4-BE49-F238E27FC236}">
                <a16:creationId xmlns:a16="http://schemas.microsoft.com/office/drawing/2014/main" id="{DB4FBFA8-C1EB-4DA2-ACDE-647DC77FDD1D}"/>
              </a:ext>
            </a:extLst>
          </p:cNvPr>
          <p:cNvPicPr>
            <a:picLocks xmlns:a="http://schemas.openxmlformats.org/drawingml/2006/main" noChangeAspect="1"/>
          </p:cNvPicPr>
          <p:nvPr/>
        </p:nvPicPr>
        <p:blipFill>
          <a:blip xmlns:r="http://schemas.openxmlformats.org/officeDocument/2006/relationships" xmlns:a="http://schemas.openxmlformats.org/drawingml/2006/main" r:embed="Rbac4b54c791d49c0">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406843" y="1431994"/>
            <a:ext cx="615315" cy="326886"/>
          </a:xfrm>
          <a:prstGeom xmlns:a="http://schemas.openxmlformats.org/drawingml/2006/main" prst="rect">
            <a:avLst/>
          </a:prstGeom>
        </p:spPr>
      </p:pic>
      <p:pic>
        <p:nvPicPr>
          <p:cNvPr id="16" name="output-symbol" descr="y[n]">
            <a:extLst xmlns:a="http://schemas.openxmlformats.org/drawingml/2006/main">
              <a:ext uri="{FF2B5EF4-FFF2-40B4-BE49-F238E27FC236}">
                <a16:creationId xmlns:a16="http://schemas.microsoft.com/office/drawing/2014/main" id="{1C768D29-D936-4062-AB98-8168C9CB2120}"/>
              </a:ext>
            </a:extLst>
          </p:cNvPr>
          <p:cNvPicPr>
            <a:picLocks xmlns:a="http://schemas.openxmlformats.org/drawingml/2006/main" noChangeAspect="1"/>
          </p:cNvPicPr>
          <p:nvPr/>
        </p:nvPicPr>
        <p:blipFill>
          <a:blip xmlns:r="http://schemas.openxmlformats.org/officeDocument/2006/relationships" xmlns:a="http://schemas.openxmlformats.org/drawingml/2006/main" r:embed="Rf5c2b4f6674a458e">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169843" y="1433917"/>
            <a:ext cx="615315" cy="323040"/>
          </a:xfrm>
          <a:prstGeom xmlns:a="http://schemas.openxmlformats.org/drawingml/2006/main" prst="rect">
            <a:avLst/>
          </a:prstGeom>
        </p:spPr>
      </p:pic>
      <p:pic>
        <p:nvPicPr>
          <p:cNvPr id="17" name="known-example" descr="y[2]=\frac{4+2}{2}=3">
            <a:extLst xmlns:a="http://schemas.openxmlformats.org/drawingml/2006/main">
              <a:ext uri="{FF2B5EF4-FFF2-40B4-BE49-F238E27FC236}">
                <a16:creationId xmlns:a16="http://schemas.microsoft.com/office/drawing/2014/main" id="{A31549DE-7939-4486-A835-4E724622B0F1}"/>
              </a:ext>
            </a:extLst>
          </p:cNvPr>
          <p:cNvPicPr>
            <a:picLocks xmlns:a="http://schemas.openxmlformats.org/drawingml/2006/main" noChangeAspect="1"/>
          </p:cNvPicPr>
          <p:nvPr/>
        </p:nvPicPr>
        <p:blipFill>
          <a:blip xmlns:r="http://schemas.openxmlformats.org/officeDocument/2006/relationships" xmlns:a="http://schemas.openxmlformats.org/drawingml/2006/main" r:embed="R3411de08a1294935">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609600" y="2290882"/>
            <a:ext cx="2016443" cy="352187"/>
          </a:xfrm>
          <a:prstGeom xmlns:a="http://schemas.openxmlformats.org/drawingml/2006/main" prst="rect">
            <a:avLst/>
          </a:prstGeom>
        </p:spPr>
      </p:pic>
      <p:pic>
        <p:nvPicPr>
          <p:cNvPr id="18" name="current-term" descr="x[n]">
            <a:extLst xmlns:a="http://schemas.openxmlformats.org/drawingml/2006/main">
              <a:ext uri="{FF2B5EF4-FFF2-40B4-BE49-F238E27FC236}">
                <a16:creationId xmlns:a16="http://schemas.microsoft.com/office/drawing/2014/main" id="{71550083-D4A0-499A-B780-776D883967A3}"/>
              </a:ext>
            </a:extLst>
          </p:cNvPr>
          <p:cNvPicPr>
            <a:picLocks xmlns:a="http://schemas.openxmlformats.org/drawingml/2006/main" noChangeAspect="1"/>
          </p:cNvPicPr>
          <p:nvPr/>
        </p:nvPicPr>
        <p:blipFill>
          <a:blip xmlns:r="http://schemas.openxmlformats.org/officeDocument/2006/relationships" xmlns:a="http://schemas.openxmlformats.org/drawingml/2006/main" r:embed="Rc91d5179e5924660">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762000" y="3199016"/>
            <a:ext cx="561023" cy="298043"/>
          </a:xfrm>
          <a:prstGeom xmlns:a="http://schemas.openxmlformats.org/drawingml/2006/main" prst="rect">
            <a:avLst/>
          </a:prstGeom>
        </p:spPr>
      </p:pic>
      <p:pic>
        <p:nvPicPr>
          <p:cNvPr id="19" name="previous-term" descr="x[n-1]">
            <a:extLst xmlns:a="http://schemas.openxmlformats.org/drawingml/2006/main">
              <a:ext uri="{FF2B5EF4-FFF2-40B4-BE49-F238E27FC236}">
                <a16:creationId xmlns:a16="http://schemas.microsoft.com/office/drawing/2014/main" id="{7870715A-1EF2-4EC2-898F-9EF0EACA71C9}"/>
              </a:ext>
            </a:extLst>
          </p:cNvPr>
          <p:cNvPicPr>
            <a:picLocks xmlns:a="http://schemas.openxmlformats.org/drawingml/2006/main" noChangeAspect="1"/>
          </p:cNvPicPr>
          <p:nvPr/>
        </p:nvPicPr>
        <p:blipFill>
          <a:blip xmlns:r="http://schemas.openxmlformats.org/officeDocument/2006/relationships" xmlns:a="http://schemas.openxmlformats.org/drawingml/2006/main" r:embed="R11f32d294b5747e7">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62000" y="3818602"/>
            <a:ext cx="1151573" cy="297120"/>
          </a:xfrm>
          <a:prstGeom xmlns:a="http://schemas.openxmlformats.org/drawingml/2006/main" prst="rect">
            <a:avLst/>
          </a:prstGeom>
        </p:spPr>
      </p:pic>
      <p:pic>
        <p:nvPicPr>
          <p:cNvPr id="20" name="general-rule" descr="y[n]=\frac{x[n]+x[n-1]}{2}">
            <a:extLst xmlns:a="http://schemas.openxmlformats.org/drawingml/2006/main">
              <a:ext uri="{FF2B5EF4-FFF2-40B4-BE49-F238E27FC236}">
                <a16:creationId xmlns:a16="http://schemas.microsoft.com/office/drawing/2014/main" id="{73CE2A6F-66FA-42AE-B27E-3121E8686BAB}"/>
              </a:ext>
            </a:extLst>
          </p:cNvPr>
          <p:cNvPicPr>
            <a:picLocks xmlns:a="http://schemas.openxmlformats.org/drawingml/2006/main" noChangeAspect="1"/>
          </p:cNvPicPr>
          <p:nvPr/>
        </p:nvPicPr>
        <p:blipFill>
          <a:blip xmlns:r="http://schemas.openxmlformats.org/officeDocument/2006/relationships" xmlns:a="http://schemas.openxmlformats.org/drawingml/2006/main" r:embed="R196963648698458b">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4714339"/>
            <a:ext cx="3120390" cy="515422"/>
          </a:xfrm>
          <a:prstGeom xmlns:a="http://schemas.openxmlformats.org/drawingml/2006/main" prst="rect">
            <a:avLst/>
          </a:prstGeom>
        </p:spPr>
      </p:pic>
    </p:spTree>
    <p:extLst>
      <p:ext uri="{BB962C8B-B14F-4D97-AF65-F5344CB8AC3E}">
        <p14:creationId xmlns:p14="http://schemas.microsoft.com/office/powerpoint/2010/main" val="25186536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400"/>
                                        <p:tgtEl>
                                          <p:spTgt spid="13"/>
                                        </p:tgtEl>
                                      </p:cBhvr>
                                    </p:animEffect>
                                  </p:childTnLst>
                                </p:cTn>
                              </p:par>
                              <p:par>
                                <p:cTn id="13" presetID="10"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The moving pair</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One index at a time</a:t>
            </a:r>
          </a:p>
        </p:txBody>
      </p:sp>
      <p:sp>
        <p:nvSpPr>
          <p:cNvPr id="3" name="input-label">
            <a:extLst xmlns:a="http://schemas.openxmlformats.org/drawingml/2006/main">
              <a:ext uri="{FF2B5EF4-FFF2-40B4-BE49-F238E27FC236}">
                <a16:creationId xmlns:a16="http://schemas.microsoft.com/office/drawing/2014/main" id="{EF2B1D26-FDBE-4E0D-89C5-6D6F9BF71A1B}"/>
              </a:ext>
            </a:extLst>
          </p:cNvPr>
          <p:cNvSpPr>
            <a:spLocks xmlns:a="http://schemas.openxmlformats.org/drawingml/2006/main" noGrp="1"/>
          </p:cNvSpPr>
          <p:nvPr/>
        </p:nvSpPr>
        <p:spPr>
          <a:xfrm xmlns:a="http://schemas.openxmlformats.org/drawingml/2006/main">
            <a:off x="857250" y="10477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i="0">
                <a:solidFill>
                  <a:srgbClr val="202020"/>
                </a:solidFill>
                <a:latin typeface="Times New Roman"/>
                <a:ea typeface="Times New Roman"/>
                <a:cs typeface="Times New Roman"/>
              </a:defRPr>
            </a:defPPr>
          </a:lstStyle>
          <a:p xmlns:a="http://schemas.openxmlformats.org/drawingml/2006/main">
            <a:pPr algn="ct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Input</a:t>
            </a:r>
          </a:p>
        </p:txBody>
      </p:sp>
      <p:sp>
        <p:nvSpPr>
          <p:cNvPr id="4" name="to-average-shaft">
            <a:extLst xmlns:a="http://schemas.openxmlformats.org/drawingml/2006/main">
              <a:ext uri="{FF2B5EF4-FFF2-40B4-BE49-F238E27FC236}">
                <a16:creationId xmlns:a16="http://schemas.microsoft.com/office/drawing/2014/main" id="{D305253F-3297-4A78-AA5D-36202057B8C9}"/>
              </a:ext>
            </a:extLst>
          </p:cNvPr>
          <p:cNvSpPr>
            <a:spLocks xmlns:a="http://schemas.openxmlformats.org/drawingml/2006/main" noGrp="1"/>
          </p:cNvSpPr>
          <p:nvPr/>
        </p:nvSpPr>
        <p:spPr>
          <a:xfrm xmlns:a="http://schemas.openxmlformats.org/drawingml/2006/main">
            <a:off x="2762250" y="1552575"/>
            <a:ext cx="13430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to-average-head">
            <a:extLst xmlns:a="http://schemas.openxmlformats.org/drawingml/2006/main">
              <a:ext uri="{FF2B5EF4-FFF2-40B4-BE49-F238E27FC236}">
                <a16:creationId xmlns:a16="http://schemas.microsoft.com/office/drawing/2014/main" id="{79B8649D-9DE1-4927-8749-54FF4A060817}"/>
              </a:ext>
            </a:extLst>
          </p:cNvPr>
          <p:cNvSpPr>
            <a:spLocks xmlns:a="http://schemas.openxmlformats.org/drawingml/2006/main" noGrp="1"/>
          </p:cNvSpPr>
          <p:nvPr/>
        </p:nvSpPr>
        <p:spPr>
          <a:xfrm xmlns:a="http://schemas.openxmlformats.org/drawingml/2006/main" rot="5400000">
            <a:off x="4086225" y="15097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average-operation-box">
            <a:extLst xmlns:a="http://schemas.openxmlformats.org/drawingml/2006/main">
              <a:ext uri="{FF2B5EF4-FFF2-40B4-BE49-F238E27FC236}">
                <a16:creationId xmlns:a16="http://schemas.microsoft.com/office/drawing/2014/main" id="{CEAC256A-B445-4B37-A9C2-EE10CDD48563}"/>
              </a:ext>
            </a:extLst>
          </p:cNvPr>
          <p:cNvSpPr>
            <a:spLocks xmlns:a="http://schemas.openxmlformats.org/drawingml/2006/main" noGrp="1"/>
          </p:cNvSpPr>
          <p:nvPr/>
        </p:nvSpPr>
        <p:spPr>
          <a:xfrm xmlns:a="http://schemas.openxmlformats.org/drawingml/2006/main">
            <a:off x="4400550" y="1304925"/>
            <a:ext cx="3333750" cy="54292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7" name="average-operation-text">
            <a:extLst xmlns:a="http://schemas.openxmlformats.org/drawingml/2006/main">
              <a:ext uri="{FF2B5EF4-FFF2-40B4-BE49-F238E27FC236}">
                <a16:creationId xmlns:a16="http://schemas.microsoft.com/office/drawing/2014/main" id="{2469FE89-C042-422A-901A-18098C9EFC08}"/>
              </a:ext>
            </a:extLst>
          </p:cNvPr>
          <p:cNvSpPr>
            <a:spLocks xmlns:a="http://schemas.openxmlformats.org/drawingml/2006/main" noGrp="1"/>
          </p:cNvSpPr>
          <p:nvPr/>
        </p:nvSpPr>
        <p:spPr>
          <a:xfrm xmlns:a="http://schemas.openxmlformats.org/drawingml/2006/main">
            <a:off x="4476750" y="1381125"/>
            <a:ext cx="31813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Average a pair</a:t>
            </a:r>
          </a:p>
        </p:txBody>
      </p:sp>
      <p:sp>
        <p:nvSpPr>
          <p:cNvPr id="8" name="to-output-shaft">
            <a:extLst xmlns:a="http://schemas.openxmlformats.org/drawingml/2006/main">
              <a:ext uri="{FF2B5EF4-FFF2-40B4-BE49-F238E27FC236}">
                <a16:creationId xmlns:a16="http://schemas.microsoft.com/office/drawing/2014/main" id="{813CE608-EF8F-4AA0-A7D8-B4FFA226587C}"/>
              </a:ext>
            </a:extLst>
          </p:cNvPr>
          <p:cNvSpPr>
            <a:spLocks xmlns:a="http://schemas.openxmlformats.org/drawingml/2006/main" noGrp="1"/>
          </p:cNvSpPr>
          <p:nvPr/>
        </p:nvSpPr>
        <p:spPr>
          <a:xfrm xmlns:a="http://schemas.openxmlformats.org/drawingml/2006/main">
            <a:off x="7953375" y="1552575"/>
            <a:ext cx="13430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9" name="to-output-head">
            <a:extLst xmlns:a="http://schemas.openxmlformats.org/drawingml/2006/main">
              <a:ext uri="{FF2B5EF4-FFF2-40B4-BE49-F238E27FC236}">
                <a16:creationId xmlns:a16="http://schemas.microsoft.com/office/drawing/2014/main" id="{14CAB3A8-00F0-469E-A2FC-9C9CF4023458}"/>
              </a:ext>
            </a:extLst>
          </p:cNvPr>
          <p:cNvSpPr>
            <a:spLocks xmlns:a="http://schemas.openxmlformats.org/drawingml/2006/main" noGrp="1"/>
          </p:cNvSpPr>
          <p:nvPr/>
        </p:nvSpPr>
        <p:spPr>
          <a:xfrm xmlns:a="http://schemas.openxmlformats.org/drawingml/2006/main" rot="5400000">
            <a:off x="9277350" y="15097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0" name="output-label">
            <a:extLst xmlns:a="http://schemas.openxmlformats.org/drawingml/2006/main">
              <a:ext uri="{FF2B5EF4-FFF2-40B4-BE49-F238E27FC236}">
                <a16:creationId xmlns:a16="http://schemas.microsoft.com/office/drawing/2014/main" id="{64D1E51B-EDDE-4241-B258-2341EA9B7573}"/>
              </a:ext>
            </a:extLst>
          </p:cNvPr>
          <p:cNvSpPr>
            <a:spLocks xmlns:a="http://schemas.openxmlformats.org/drawingml/2006/main" noGrp="1"/>
          </p:cNvSpPr>
          <p:nvPr/>
        </p:nvSpPr>
        <p:spPr>
          <a:xfrm xmlns:a="http://schemas.openxmlformats.org/drawingml/2006/main">
            <a:off x="9620250" y="10477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i="0">
                <a:solidFill>
                  <a:srgbClr val="202020"/>
                </a:solidFill>
                <a:latin typeface="Times New Roman"/>
                <a:ea typeface="Times New Roman"/>
                <a:cs typeface="Times New Roman"/>
              </a:defRPr>
            </a:defPPr>
          </a:lstStyle>
          <a:p xmlns:a="http://schemas.openxmlformats.org/drawingml/2006/main">
            <a:pPr algn="ct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Output</a:t>
            </a:r>
          </a:p>
        </p:txBody>
      </p:sp>
      <p:pic>
        <p:nvPicPr>
          <p:cNvPr id="11" name="moving-window" descr="Move the pair from indices (-1,0) through (3,4), retaining every output.">
            <a:extLst xmlns:a="http://schemas.openxmlformats.org/drawingml/2006/main">
              <a:ext uri="{FF2B5EF4-FFF2-40B4-BE49-F238E27FC236}">
                <a16:creationId xmlns:a16="http://schemas.microsoft.com/office/drawing/2014/main" id="{D1D4C4B1-F19D-4E5E-92A3-944CCB7182EF}"/>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18" name="moving-window--t4-click-frame-001"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19" name="moving-window--t4-click-frame-002"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20" name="moving-window--t4-click-frame-003"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21" name="moving-window--t4-click-frame-004"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22" name="moving-window--t4-click-frame-005"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23" name="moving-window--t4-click-frame-006"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24" name="moving-window--t4-click-frame-007"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25" name="moving-window--t4-click-frame-008"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26" name="moving-window--t4-click-frame-009"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27" name="moving-window--t4-click-frame-010"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28" name="moving-window--t4-click-frame-011"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29" name="moving-window--t4-click-frame-012"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30" name="moving-window--t4-click-frame-013"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31" name="moving-window--t4-click-frame-014"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32" name="moving-window--t4-click-frame-015"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33" name="moving-window--t4-click-frame-016"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34" name="moving-window--t4-click-frame-017"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35" name="moving-window--t4-click-frame-018"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36" name="moving-window--t4-click-frame-019"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37" name="moving-window--t4-click-frame-020"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38" name="moving-window--t4-click-frame-021"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39" name="moving-window--t4-click-frame-022"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40" name="moving-window--t4-click-frame-023"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41" name="moving-window--t4-click-frame-024"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42" name="moving-window--t4-click-frame-025"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43" name="moving-window--t4-click-frame-026"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44" name="moving-window--t4-click-frame-027"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45" name="moving-window--t4-click-frame-028"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46" name="moving-window--t4-click-frame-029"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47" name="moving-window--t4-click-frame-030"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48" name="moving-window--t4-click-frame-031"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49" name="moving-window--t4-click-frame-032"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50" name="moving-window--t4-click-frame-033"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51" name="moving-window--t4-click-frame-034"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52" name="moving-window--t4-click-frame-035"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53" name="moving-window--t4-click-frame-036"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54" name="moving-window--t4-click-frame-037"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55" name="moving-window--t4-click-frame-038"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56" name="moving-window--t4-click-frame-039"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pic>
        <p:nvPicPr>
          <p:cNvPr id="57" name="moving-window--t4-click-frame-040" descr="Move the pair from indices (-1,0) through (3,4), retaining every output."/>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666750" y="3133725"/>
            <a:ext cx="10668000" cy="2381250"/>
          </a:xfrm>
          <a:prstGeom xmlns:a="http://schemas.openxmlformats.org/drawingml/2006/main" prst="rect">
            <a:avLst/>
          </a:prstGeom>
        </p:spPr>
      </p:pic>
      <p:sp>
        <p:nvSpPr>
          <p:cNvPr id="12" name="all-outputs-emphasis">
            <a:extLst xmlns:a="http://schemas.openxmlformats.org/drawingml/2006/main">
              <a:ext uri="{FF2B5EF4-FFF2-40B4-BE49-F238E27FC236}">
                <a16:creationId xmlns:a16="http://schemas.microsoft.com/office/drawing/2014/main" id="{74DF9473-352A-4267-A942-D11F9A74F5B5}"/>
              </a:ext>
            </a:extLst>
          </p:cNvPr>
          <p:cNvSpPr>
            <a:spLocks xmlns:a="http://schemas.openxmlformats.org/drawingml/2006/main" noGrp="1"/>
          </p:cNvSpPr>
          <p:nvPr/>
        </p:nvSpPr>
        <p:spPr>
          <a:xfrm xmlns:a="http://schemas.openxmlformats.org/drawingml/2006/main">
            <a:off x="609600" y="648652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3" name="input-symbol" descr="x[n]">
            <a:extLst xmlns:a="http://schemas.openxmlformats.org/drawingml/2006/main">
              <a:ext uri="{FF2B5EF4-FFF2-40B4-BE49-F238E27FC236}">
                <a16:creationId xmlns:a16="http://schemas.microsoft.com/office/drawing/2014/main" id="{5426A30E-4C44-49F9-825A-48B6E9C41554}"/>
              </a:ext>
            </a:extLst>
          </p:cNvPr>
          <p:cNvPicPr>
            <a:picLocks xmlns:a="http://schemas.openxmlformats.org/drawingml/2006/main" noChangeAspect="1"/>
          </p:cNvPicPr>
          <p:nvPr/>
        </p:nvPicPr>
        <p:blipFill>
          <a:blip xmlns:r="http://schemas.openxmlformats.org/officeDocument/2006/relationships" xmlns:a="http://schemas.openxmlformats.org/drawingml/2006/main" r:embed="Rbaef3a29b16c40a7">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406843" y="1431994"/>
            <a:ext cx="615315" cy="326886"/>
          </a:xfrm>
          <a:prstGeom xmlns:a="http://schemas.openxmlformats.org/drawingml/2006/main" prst="rect">
            <a:avLst/>
          </a:prstGeom>
        </p:spPr>
      </p:pic>
      <p:pic>
        <p:nvPicPr>
          <p:cNvPr id="14" name="output-symbol" descr="y[n]">
            <a:extLst xmlns:a="http://schemas.openxmlformats.org/drawingml/2006/main">
              <a:ext uri="{FF2B5EF4-FFF2-40B4-BE49-F238E27FC236}">
                <a16:creationId xmlns:a16="http://schemas.microsoft.com/office/drawing/2014/main" id="{0ED7028D-0A69-4F67-AAE6-0CBAD17F332B}"/>
              </a:ext>
            </a:extLst>
          </p:cNvPr>
          <p:cNvPicPr>
            <a:picLocks xmlns:a="http://schemas.openxmlformats.org/drawingml/2006/main" noChangeAspect="1"/>
          </p:cNvPicPr>
          <p:nvPr/>
        </p:nvPicPr>
        <p:blipFill>
          <a:blip xmlns:r="http://schemas.openxmlformats.org/officeDocument/2006/relationships" xmlns:a="http://schemas.openxmlformats.org/drawingml/2006/main" r:embed="R9fd7021474ce4465">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169843" y="1433917"/>
            <a:ext cx="615315" cy="323040"/>
          </a:xfrm>
          <a:prstGeom xmlns:a="http://schemas.openxmlformats.org/drawingml/2006/main" prst="rect">
            <a:avLst/>
          </a:prstGeom>
        </p:spPr>
      </p:pic>
      <p:pic>
        <p:nvPicPr>
          <p:cNvPr id="15" name="moving-rule" descr="y[n]=\frac{x[n]+x[n-1]}{2},\qquad x[-1]=0">
            <a:extLst xmlns:a="http://schemas.openxmlformats.org/drawingml/2006/main">
              <a:ext uri="{FF2B5EF4-FFF2-40B4-BE49-F238E27FC236}">
                <a16:creationId xmlns:a16="http://schemas.microsoft.com/office/drawing/2014/main" id="{40A560D5-1E82-4C58-A138-EB1C267F7ED2}"/>
              </a:ext>
            </a:extLst>
          </p:cNvPr>
          <p:cNvPicPr>
            <a:picLocks xmlns:a="http://schemas.openxmlformats.org/drawingml/2006/main" noChangeAspect="1"/>
          </p:cNvPicPr>
          <p:nvPr/>
        </p:nvPicPr>
        <p:blipFill>
          <a:blip xmlns:r="http://schemas.openxmlformats.org/officeDocument/2006/relationships" xmlns:a="http://schemas.openxmlformats.org/drawingml/2006/main" r:embed="R3234c3eeca5245cd">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609600" y="2293441"/>
            <a:ext cx="4600575" cy="394692"/>
          </a:xfrm>
          <a:prstGeom xmlns:a="http://schemas.openxmlformats.org/drawingml/2006/main" prst="rect">
            <a:avLst/>
          </a:prstGeom>
        </p:spPr>
      </p:pic>
      <p:pic>
        <p:nvPicPr>
          <p:cNvPr id="16" name="all-outputs" descr="y[0..4]=[0,1,3,3,1]">
            <a:extLst xmlns:a="http://schemas.openxmlformats.org/drawingml/2006/main">
              <a:ext uri="{FF2B5EF4-FFF2-40B4-BE49-F238E27FC236}">
                <a16:creationId xmlns:a16="http://schemas.microsoft.com/office/drawing/2014/main" id="{FB86BC91-DE37-4DF9-9ACD-45C3A1FD1F28}"/>
              </a:ext>
            </a:extLst>
          </p:cNvPr>
          <p:cNvPicPr>
            <a:picLocks xmlns:a="http://schemas.openxmlformats.org/drawingml/2006/main" noChangeAspect="1"/>
          </p:cNvPicPr>
          <p:nvPr/>
        </p:nvPicPr>
        <p:blipFill>
          <a:blip xmlns:r="http://schemas.openxmlformats.org/officeDocument/2006/relationships" xmlns:a="http://schemas.openxmlformats.org/drawingml/2006/main" r:embed="R838aa26ccc0c48db">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982742"/>
            <a:ext cx="3367088" cy="331291"/>
          </a:xfrm>
          <a:prstGeom xmlns:a="http://schemas.openxmlformats.org/drawingml/2006/main" prst="rect">
            <a:avLst/>
          </a:prstGeom>
        </p:spPr>
      </p:pic>
    </p:spTree>
    <p:extLst>
      <p:ext uri="{BB962C8B-B14F-4D97-AF65-F5344CB8AC3E}">
        <p14:creationId xmlns:p14="http://schemas.microsoft.com/office/powerpoint/2010/main" val="1381665588"/>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10960">
                            <p:stCondLst>
                              <p:cond delay="0"/>
                            </p:stCondLst>
                            <p:childTnLst>
                              <p:par>
                                <p:cTn id="13" presetID="1" presetClass="entr" presetSubtype="0" fill="hold" nodeType="clickEffect" restart="never">
                                  <p:stCondLst>
                                    <p:cond delay="50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restart="never">
                                  <p:stCondLst>
                                    <p:cond delay="74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restart="never">
                                  <p:stCondLst>
                                    <p:cond delay="98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restart="never">
                                  <p:stCondLst>
                                    <p:cond delay="122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restart="never">
                                  <p:stCondLst>
                                    <p:cond delay="146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restart="never">
                                  <p:stCondLst>
                                    <p:cond delay="170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restart="never">
                                  <p:stCondLst>
                                    <p:cond delay="194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restart="never">
                                  <p:stCondLst>
                                    <p:cond delay="218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nodeType="withEffect" restart="never">
                                  <p:stCondLst>
                                    <p:cond delay="242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restart="never">
                                  <p:stCondLst>
                                    <p:cond delay="266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restart="never">
                                  <p:stCondLst>
                                    <p:cond delay="290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nodeType="withEffect" restart="never">
                                  <p:stCondLst>
                                    <p:cond delay="314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restart="never">
                                  <p:stCondLst>
                                    <p:cond delay="338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restart="never">
                                  <p:stCondLst>
                                    <p:cond delay="362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nodeType="withEffect" restart="never">
                                  <p:stCondLst>
                                    <p:cond delay="386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nodeType="withEffect" restart="never">
                                  <p:stCondLst>
                                    <p:cond delay="410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nodeType="withEffect" restart="never">
                                  <p:stCondLst>
                                    <p:cond delay="434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nodeType="withEffect" restart="never">
                                  <p:stCondLst>
                                    <p:cond delay="458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nodeType="withEffect" restart="never">
                                  <p:stCondLst>
                                    <p:cond delay="4820"/>
                                  </p:stCondLst>
                                  <p:childTnLst>
                                    <p:set>
                                      <p:cBhvr>
                                        <p:cTn id="50" dur="1" fill="hold">
                                          <p:stCondLst>
                                            <p:cond delay="0"/>
                                          </p:stCondLst>
                                        </p:cTn>
                                        <p:tgtEl>
                                          <p:spTgt spid="36"/>
                                        </p:tgtEl>
                                        <p:attrNameLst>
                                          <p:attrName>style.visibility</p:attrName>
                                        </p:attrNameLst>
                                      </p:cBhvr>
                                      <p:to>
                                        <p:strVal val="visible"/>
                                      </p:to>
                                    </p:set>
                                  </p:childTnLst>
                                </p:cTn>
                              </p:par>
                              <p:par>
                                <p:cTn id="51" presetID="1" presetClass="entr" presetSubtype="0" fill="hold" nodeType="withEffect" restart="never">
                                  <p:stCondLst>
                                    <p:cond delay="5060"/>
                                  </p:stCondLst>
                                  <p:childTnLst>
                                    <p:set>
                                      <p:cBhvr>
                                        <p:cTn id="52" dur="1" fill="hold">
                                          <p:stCondLst>
                                            <p:cond delay="0"/>
                                          </p:stCondLst>
                                        </p:cTn>
                                        <p:tgtEl>
                                          <p:spTgt spid="37"/>
                                        </p:tgtEl>
                                        <p:attrNameLst>
                                          <p:attrName>style.visibility</p:attrName>
                                        </p:attrNameLst>
                                      </p:cBhvr>
                                      <p:to>
                                        <p:strVal val="visible"/>
                                      </p:to>
                                    </p:set>
                                  </p:childTnLst>
                                </p:cTn>
                              </p:par>
                              <p:par>
                                <p:cTn id="53" presetID="1" presetClass="entr" presetSubtype="0" fill="hold" nodeType="withEffect" restart="never">
                                  <p:stCondLst>
                                    <p:cond delay="5300"/>
                                  </p:stCondLst>
                                  <p:childTnLst>
                                    <p:set>
                                      <p:cBhvr>
                                        <p:cTn id="54" dur="1" fill="hold">
                                          <p:stCondLst>
                                            <p:cond delay="0"/>
                                          </p:stCondLst>
                                        </p:cTn>
                                        <p:tgtEl>
                                          <p:spTgt spid="38"/>
                                        </p:tgtEl>
                                        <p:attrNameLst>
                                          <p:attrName>style.visibility</p:attrName>
                                        </p:attrNameLst>
                                      </p:cBhvr>
                                      <p:to>
                                        <p:strVal val="visible"/>
                                      </p:to>
                                    </p:set>
                                  </p:childTnLst>
                                </p:cTn>
                              </p:par>
                              <p:par>
                                <p:cTn id="55" presetID="1" presetClass="entr" presetSubtype="0" fill="hold" nodeType="withEffect" restart="never">
                                  <p:stCondLst>
                                    <p:cond delay="5540"/>
                                  </p:stCondLst>
                                  <p:childTnLst>
                                    <p:set>
                                      <p:cBhvr>
                                        <p:cTn id="56" dur="1" fill="hold">
                                          <p:stCondLst>
                                            <p:cond delay="0"/>
                                          </p:stCondLst>
                                        </p:cTn>
                                        <p:tgtEl>
                                          <p:spTgt spid="39"/>
                                        </p:tgtEl>
                                        <p:attrNameLst>
                                          <p:attrName>style.visibility</p:attrName>
                                        </p:attrNameLst>
                                      </p:cBhvr>
                                      <p:to>
                                        <p:strVal val="visible"/>
                                      </p:to>
                                    </p:set>
                                  </p:childTnLst>
                                </p:cTn>
                              </p:par>
                              <p:par>
                                <p:cTn id="57" presetID="1" presetClass="entr" presetSubtype="0" fill="hold" nodeType="withEffect" restart="never">
                                  <p:stCondLst>
                                    <p:cond delay="5780"/>
                                  </p:stCondLst>
                                  <p:childTnLst>
                                    <p:set>
                                      <p:cBhvr>
                                        <p:cTn id="58" dur="1" fill="hold">
                                          <p:stCondLst>
                                            <p:cond delay="0"/>
                                          </p:stCondLst>
                                        </p:cTn>
                                        <p:tgtEl>
                                          <p:spTgt spid="40"/>
                                        </p:tgtEl>
                                        <p:attrNameLst>
                                          <p:attrName>style.visibility</p:attrName>
                                        </p:attrNameLst>
                                      </p:cBhvr>
                                      <p:to>
                                        <p:strVal val="visible"/>
                                      </p:to>
                                    </p:set>
                                  </p:childTnLst>
                                </p:cTn>
                              </p:par>
                              <p:par>
                                <p:cTn id="59" presetID="1" presetClass="entr" presetSubtype="0" fill="hold" nodeType="withEffect" restart="never">
                                  <p:stCondLst>
                                    <p:cond delay="602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nodeType="withEffect" restart="never">
                                  <p:stCondLst>
                                    <p:cond delay="6260"/>
                                  </p:stCondLst>
                                  <p:childTnLst>
                                    <p:set>
                                      <p:cBhvr>
                                        <p:cTn id="62" dur="1" fill="hold">
                                          <p:stCondLst>
                                            <p:cond delay="0"/>
                                          </p:stCondLst>
                                        </p:cTn>
                                        <p:tgtEl>
                                          <p:spTgt spid="42"/>
                                        </p:tgtEl>
                                        <p:attrNameLst>
                                          <p:attrName>style.visibility</p:attrName>
                                        </p:attrNameLst>
                                      </p:cBhvr>
                                      <p:to>
                                        <p:strVal val="visible"/>
                                      </p:to>
                                    </p:set>
                                  </p:childTnLst>
                                </p:cTn>
                              </p:par>
                              <p:par>
                                <p:cTn id="63" presetID="1" presetClass="entr" presetSubtype="0" fill="hold" nodeType="withEffect" restart="never">
                                  <p:stCondLst>
                                    <p:cond delay="6500"/>
                                  </p:stCondLst>
                                  <p:childTnLst>
                                    <p:set>
                                      <p:cBhvr>
                                        <p:cTn id="64" dur="1" fill="hold">
                                          <p:stCondLst>
                                            <p:cond delay="0"/>
                                          </p:stCondLst>
                                        </p:cTn>
                                        <p:tgtEl>
                                          <p:spTgt spid="43"/>
                                        </p:tgtEl>
                                        <p:attrNameLst>
                                          <p:attrName>style.visibility</p:attrName>
                                        </p:attrNameLst>
                                      </p:cBhvr>
                                      <p:to>
                                        <p:strVal val="visible"/>
                                      </p:to>
                                    </p:set>
                                  </p:childTnLst>
                                </p:cTn>
                              </p:par>
                              <p:par>
                                <p:cTn id="65" presetID="1" presetClass="entr" presetSubtype="0" fill="hold" nodeType="withEffect" restart="never">
                                  <p:stCondLst>
                                    <p:cond delay="6740"/>
                                  </p:stCondLst>
                                  <p:childTnLst>
                                    <p:set>
                                      <p:cBhvr>
                                        <p:cTn id="66" dur="1" fill="hold">
                                          <p:stCondLst>
                                            <p:cond delay="0"/>
                                          </p:stCondLst>
                                        </p:cTn>
                                        <p:tgtEl>
                                          <p:spTgt spid="44"/>
                                        </p:tgtEl>
                                        <p:attrNameLst>
                                          <p:attrName>style.visibility</p:attrName>
                                        </p:attrNameLst>
                                      </p:cBhvr>
                                      <p:to>
                                        <p:strVal val="visible"/>
                                      </p:to>
                                    </p:set>
                                  </p:childTnLst>
                                </p:cTn>
                              </p:par>
                              <p:par>
                                <p:cTn id="67" presetID="1" presetClass="entr" presetSubtype="0" fill="hold" nodeType="withEffect" restart="never">
                                  <p:stCondLst>
                                    <p:cond delay="6980"/>
                                  </p:stCondLst>
                                  <p:childTnLst>
                                    <p:set>
                                      <p:cBhvr>
                                        <p:cTn id="68" dur="1" fill="hold">
                                          <p:stCondLst>
                                            <p:cond delay="0"/>
                                          </p:stCondLst>
                                        </p:cTn>
                                        <p:tgtEl>
                                          <p:spTgt spid="45"/>
                                        </p:tgtEl>
                                        <p:attrNameLst>
                                          <p:attrName>style.visibility</p:attrName>
                                        </p:attrNameLst>
                                      </p:cBhvr>
                                      <p:to>
                                        <p:strVal val="visible"/>
                                      </p:to>
                                    </p:set>
                                  </p:childTnLst>
                                </p:cTn>
                              </p:par>
                              <p:par>
                                <p:cTn id="69" presetID="1" presetClass="entr" presetSubtype="0" fill="hold" nodeType="withEffect" restart="never">
                                  <p:stCondLst>
                                    <p:cond delay="7220"/>
                                  </p:stCondLst>
                                  <p:childTnLst>
                                    <p:set>
                                      <p:cBhvr>
                                        <p:cTn id="70" dur="1" fill="hold">
                                          <p:stCondLst>
                                            <p:cond delay="0"/>
                                          </p:stCondLst>
                                        </p:cTn>
                                        <p:tgtEl>
                                          <p:spTgt spid="46"/>
                                        </p:tgtEl>
                                        <p:attrNameLst>
                                          <p:attrName>style.visibility</p:attrName>
                                        </p:attrNameLst>
                                      </p:cBhvr>
                                      <p:to>
                                        <p:strVal val="visible"/>
                                      </p:to>
                                    </p:set>
                                  </p:childTnLst>
                                </p:cTn>
                              </p:par>
                              <p:par>
                                <p:cTn id="71" presetID="1" presetClass="entr" presetSubtype="0" fill="hold" nodeType="withEffect" restart="never">
                                  <p:stCondLst>
                                    <p:cond delay="7460"/>
                                  </p:stCondLst>
                                  <p:childTnLst>
                                    <p:set>
                                      <p:cBhvr>
                                        <p:cTn id="72" dur="1" fill="hold">
                                          <p:stCondLst>
                                            <p:cond delay="0"/>
                                          </p:stCondLst>
                                        </p:cTn>
                                        <p:tgtEl>
                                          <p:spTgt spid="47"/>
                                        </p:tgtEl>
                                        <p:attrNameLst>
                                          <p:attrName>style.visibility</p:attrName>
                                        </p:attrNameLst>
                                      </p:cBhvr>
                                      <p:to>
                                        <p:strVal val="visible"/>
                                      </p:to>
                                    </p:set>
                                  </p:childTnLst>
                                </p:cTn>
                              </p:par>
                              <p:par>
                                <p:cTn id="73" presetID="1" presetClass="entr" presetSubtype="0" fill="hold" nodeType="withEffect" restart="never">
                                  <p:stCondLst>
                                    <p:cond delay="7700"/>
                                  </p:stCondLst>
                                  <p:childTnLst>
                                    <p:set>
                                      <p:cBhvr>
                                        <p:cTn id="74" dur="1" fill="hold">
                                          <p:stCondLst>
                                            <p:cond delay="0"/>
                                          </p:stCondLst>
                                        </p:cTn>
                                        <p:tgtEl>
                                          <p:spTgt spid="48"/>
                                        </p:tgtEl>
                                        <p:attrNameLst>
                                          <p:attrName>style.visibility</p:attrName>
                                        </p:attrNameLst>
                                      </p:cBhvr>
                                      <p:to>
                                        <p:strVal val="visible"/>
                                      </p:to>
                                    </p:set>
                                  </p:childTnLst>
                                </p:cTn>
                              </p:par>
                              <p:par>
                                <p:cTn id="75" presetID="1" presetClass="entr" presetSubtype="0" fill="hold" nodeType="withEffect" restart="never">
                                  <p:stCondLst>
                                    <p:cond delay="7940"/>
                                  </p:stCondLst>
                                  <p:childTnLst>
                                    <p:set>
                                      <p:cBhvr>
                                        <p:cTn id="76" dur="1" fill="hold">
                                          <p:stCondLst>
                                            <p:cond delay="0"/>
                                          </p:stCondLst>
                                        </p:cTn>
                                        <p:tgtEl>
                                          <p:spTgt spid="49"/>
                                        </p:tgtEl>
                                        <p:attrNameLst>
                                          <p:attrName>style.visibility</p:attrName>
                                        </p:attrNameLst>
                                      </p:cBhvr>
                                      <p:to>
                                        <p:strVal val="visible"/>
                                      </p:to>
                                    </p:set>
                                  </p:childTnLst>
                                </p:cTn>
                              </p:par>
                              <p:par>
                                <p:cTn id="77" presetID="1" presetClass="entr" presetSubtype="0" fill="hold" nodeType="withEffect" restart="never">
                                  <p:stCondLst>
                                    <p:cond delay="8180"/>
                                  </p:stCondLst>
                                  <p:childTnLst>
                                    <p:set>
                                      <p:cBhvr>
                                        <p:cTn id="78" dur="1" fill="hold">
                                          <p:stCondLst>
                                            <p:cond delay="0"/>
                                          </p:stCondLst>
                                        </p:cTn>
                                        <p:tgtEl>
                                          <p:spTgt spid="50"/>
                                        </p:tgtEl>
                                        <p:attrNameLst>
                                          <p:attrName>style.visibility</p:attrName>
                                        </p:attrNameLst>
                                      </p:cBhvr>
                                      <p:to>
                                        <p:strVal val="visible"/>
                                      </p:to>
                                    </p:set>
                                  </p:childTnLst>
                                </p:cTn>
                              </p:par>
                              <p:par>
                                <p:cTn id="79" presetID="1" presetClass="entr" presetSubtype="0" fill="hold" nodeType="withEffect" restart="never">
                                  <p:stCondLst>
                                    <p:cond delay="8420"/>
                                  </p:stCondLst>
                                  <p:childTnLst>
                                    <p:set>
                                      <p:cBhvr>
                                        <p:cTn id="80" dur="1" fill="hold">
                                          <p:stCondLst>
                                            <p:cond delay="0"/>
                                          </p:stCondLst>
                                        </p:cTn>
                                        <p:tgtEl>
                                          <p:spTgt spid="51"/>
                                        </p:tgtEl>
                                        <p:attrNameLst>
                                          <p:attrName>style.visibility</p:attrName>
                                        </p:attrNameLst>
                                      </p:cBhvr>
                                      <p:to>
                                        <p:strVal val="visible"/>
                                      </p:to>
                                    </p:set>
                                  </p:childTnLst>
                                </p:cTn>
                              </p:par>
                              <p:par>
                                <p:cTn id="81" presetID="1" presetClass="entr" presetSubtype="0" fill="hold" nodeType="withEffect" restart="never">
                                  <p:stCondLst>
                                    <p:cond delay="8660"/>
                                  </p:stCondLst>
                                  <p:childTnLst>
                                    <p:set>
                                      <p:cBhvr>
                                        <p:cTn id="82" dur="1" fill="hold">
                                          <p:stCondLst>
                                            <p:cond delay="0"/>
                                          </p:stCondLst>
                                        </p:cTn>
                                        <p:tgtEl>
                                          <p:spTgt spid="52"/>
                                        </p:tgtEl>
                                        <p:attrNameLst>
                                          <p:attrName>style.visibility</p:attrName>
                                        </p:attrNameLst>
                                      </p:cBhvr>
                                      <p:to>
                                        <p:strVal val="visible"/>
                                      </p:to>
                                    </p:set>
                                  </p:childTnLst>
                                </p:cTn>
                              </p:par>
                              <p:par>
                                <p:cTn id="83" presetID="1" presetClass="entr" presetSubtype="0" fill="hold" nodeType="withEffect" restart="never">
                                  <p:stCondLst>
                                    <p:cond delay="8900"/>
                                  </p:stCondLst>
                                  <p:childTnLst>
                                    <p:set>
                                      <p:cBhvr>
                                        <p:cTn id="84" dur="1" fill="hold">
                                          <p:stCondLst>
                                            <p:cond delay="0"/>
                                          </p:stCondLst>
                                        </p:cTn>
                                        <p:tgtEl>
                                          <p:spTgt spid="53"/>
                                        </p:tgtEl>
                                        <p:attrNameLst>
                                          <p:attrName>style.visibility</p:attrName>
                                        </p:attrNameLst>
                                      </p:cBhvr>
                                      <p:to>
                                        <p:strVal val="visible"/>
                                      </p:to>
                                    </p:set>
                                  </p:childTnLst>
                                </p:cTn>
                              </p:par>
                              <p:par>
                                <p:cTn id="85" presetID="1" presetClass="entr" presetSubtype="0" fill="hold" nodeType="withEffect" restart="never">
                                  <p:stCondLst>
                                    <p:cond delay="9140"/>
                                  </p:stCondLst>
                                  <p:childTnLst>
                                    <p:set>
                                      <p:cBhvr>
                                        <p:cTn id="86" dur="1" fill="hold">
                                          <p:stCondLst>
                                            <p:cond delay="0"/>
                                          </p:stCondLst>
                                        </p:cTn>
                                        <p:tgtEl>
                                          <p:spTgt spid="54"/>
                                        </p:tgtEl>
                                        <p:attrNameLst>
                                          <p:attrName>style.visibility</p:attrName>
                                        </p:attrNameLst>
                                      </p:cBhvr>
                                      <p:to>
                                        <p:strVal val="visible"/>
                                      </p:to>
                                    </p:set>
                                  </p:childTnLst>
                                </p:cTn>
                              </p:par>
                              <p:par>
                                <p:cTn id="87" presetID="1" presetClass="entr" presetSubtype="0" fill="hold" nodeType="withEffect" restart="never">
                                  <p:stCondLst>
                                    <p:cond delay="9380"/>
                                  </p:stCondLst>
                                  <p:childTnLst>
                                    <p:set>
                                      <p:cBhvr>
                                        <p:cTn id="88" dur="1" fill="hold">
                                          <p:stCondLst>
                                            <p:cond delay="0"/>
                                          </p:stCondLst>
                                        </p:cTn>
                                        <p:tgtEl>
                                          <p:spTgt spid="55"/>
                                        </p:tgtEl>
                                        <p:attrNameLst>
                                          <p:attrName>style.visibility</p:attrName>
                                        </p:attrNameLst>
                                      </p:cBhvr>
                                      <p:to>
                                        <p:strVal val="visible"/>
                                      </p:to>
                                    </p:set>
                                  </p:childTnLst>
                                </p:cTn>
                              </p:par>
                              <p:par>
                                <p:cTn id="89" presetID="1" presetClass="entr" presetSubtype="0" fill="hold" nodeType="withEffect" restart="never">
                                  <p:stCondLst>
                                    <p:cond delay="9620"/>
                                  </p:stCondLst>
                                  <p:childTnLst>
                                    <p:set>
                                      <p:cBhvr>
                                        <p:cTn id="90" dur="1" fill="hold">
                                          <p:stCondLst>
                                            <p:cond delay="0"/>
                                          </p:stCondLst>
                                        </p:cTn>
                                        <p:tgtEl>
                                          <p:spTgt spid="56"/>
                                        </p:tgtEl>
                                        <p:attrNameLst>
                                          <p:attrName>style.visibility</p:attrName>
                                        </p:attrNameLst>
                                      </p:cBhvr>
                                      <p:to>
                                        <p:strVal val="visible"/>
                                      </p:to>
                                    </p:set>
                                  </p:childTnLst>
                                </p:cTn>
                              </p:par>
                              <p:par>
                                <p:cTn id="91" presetID="1" presetClass="entr" presetSubtype="0" fill="hold" nodeType="withEffect" restart="never">
                                  <p:stCondLst>
                                    <p:cond delay="9860"/>
                                  </p:stCondLst>
                                  <p:childTnLst>
                                    <p:set>
                                      <p:cBhvr>
                                        <p:cTn id="92" dur="1" fill="hold">
                                          <p:stCondLst>
                                            <p:cond delay="0"/>
                                          </p:stCondLst>
                                        </p:cTn>
                                        <p:tgtEl>
                                          <p:spTgt spid="57"/>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Complete worked example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All five outputs</a:t>
            </a:r>
          </a:p>
        </p:txBody>
      </p:sp>
      <p:sp>
        <p:nvSpPr>
          <p:cNvPr id="3" name="input-label">
            <a:extLst xmlns:a="http://schemas.openxmlformats.org/drawingml/2006/main">
              <a:ext uri="{FF2B5EF4-FFF2-40B4-BE49-F238E27FC236}">
                <a16:creationId xmlns:a16="http://schemas.microsoft.com/office/drawing/2014/main" id="{DFBF3636-025B-40DA-BA36-218FB2005278}"/>
              </a:ext>
            </a:extLst>
          </p:cNvPr>
          <p:cNvSpPr>
            <a:spLocks xmlns:a="http://schemas.openxmlformats.org/drawingml/2006/main" noGrp="1"/>
          </p:cNvSpPr>
          <p:nvPr/>
        </p:nvSpPr>
        <p:spPr>
          <a:xfrm xmlns:a="http://schemas.openxmlformats.org/drawingml/2006/main">
            <a:off x="857250" y="10477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i="0">
                <a:solidFill>
                  <a:srgbClr val="202020"/>
                </a:solidFill>
                <a:latin typeface="Times New Roman"/>
                <a:ea typeface="Times New Roman"/>
                <a:cs typeface="Times New Roman"/>
              </a:defRPr>
            </a:defPPr>
          </a:lstStyle>
          <a:p xmlns:a="http://schemas.openxmlformats.org/drawingml/2006/main">
            <a:pPr algn="ct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Input</a:t>
            </a:r>
          </a:p>
        </p:txBody>
      </p:sp>
      <p:sp>
        <p:nvSpPr>
          <p:cNvPr id="4" name="to-average-shaft">
            <a:extLst xmlns:a="http://schemas.openxmlformats.org/drawingml/2006/main">
              <a:ext uri="{FF2B5EF4-FFF2-40B4-BE49-F238E27FC236}">
                <a16:creationId xmlns:a16="http://schemas.microsoft.com/office/drawing/2014/main" id="{4D7D1D16-E27A-445E-B7F1-5F90A0EE86C3}"/>
              </a:ext>
            </a:extLst>
          </p:cNvPr>
          <p:cNvSpPr>
            <a:spLocks xmlns:a="http://schemas.openxmlformats.org/drawingml/2006/main" noGrp="1"/>
          </p:cNvSpPr>
          <p:nvPr/>
        </p:nvSpPr>
        <p:spPr>
          <a:xfrm xmlns:a="http://schemas.openxmlformats.org/drawingml/2006/main">
            <a:off x="2762250" y="1552575"/>
            <a:ext cx="13430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to-average-head">
            <a:extLst xmlns:a="http://schemas.openxmlformats.org/drawingml/2006/main">
              <a:ext uri="{FF2B5EF4-FFF2-40B4-BE49-F238E27FC236}">
                <a16:creationId xmlns:a16="http://schemas.microsoft.com/office/drawing/2014/main" id="{AEF4DBFA-B21F-4062-BFE1-364A97E02228}"/>
              </a:ext>
            </a:extLst>
          </p:cNvPr>
          <p:cNvSpPr>
            <a:spLocks xmlns:a="http://schemas.openxmlformats.org/drawingml/2006/main" noGrp="1"/>
          </p:cNvSpPr>
          <p:nvPr/>
        </p:nvSpPr>
        <p:spPr>
          <a:xfrm xmlns:a="http://schemas.openxmlformats.org/drawingml/2006/main" rot="5400000">
            <a:off x="4086225" y="15097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average-operation-box">
            <a:extLst xmlns:a="http://schemas.openxmlformats.org/drawingml/2006/main">
              <a:ext uri="{FF2B5EF4-FFF2-40B4-BE49-F238E27FC236}">
                <a16:creationId xmlns:a16="http://schemas.microsoft.com/office/drawing/2014/main" id="{71A97DBD-3DA7-4024-B0B8-02C1BC9410EF}"/>
              </a:ext>
            </a:extLst>
          </p:cNvPr>
          <p:cNvSpPr>
            <a:spLocks xmlns:a="http://schemas.openxmlformats.org/drawingml/2006/main" noGrp="1"/>
          </p:cNvSpPr>
          <p:nvPr/>
        </p:nvSpPr>
        <p:spPr>
          <a:xfrm xmlns:a="http://schemas.openxmlformats.org/drawingml/2006/main">
            <a:off x="4400550" y="1304925"/>
            <a:ext cx="3333750" cy="54292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7" name="average-operation-text">
            <a:extLst xmlns:a="http://schemas.openxmlformats.org/drawingml/2006/main">
              <a:ext uri="{FF2B5EF4-FFF2-40B4-BE49-F238E27FC236}">
                <a16:creationId xmlns:a16="http://schemas.microsoft.com/office/drawing/2014/main" id="{A8D800F1-88A7-404E-95EF-C5D6A90B92CD}"/>
              </a:ext>
            </a:extLst>
          </p:cNvPr>
          <p:cNvSpPr>
            <a:spLocks xmlns:a="http://schemas.openxmlformats.org/drawingml/2006/main" noGrp="1"/>
          </p:cNvSpPr>
          <p:nvPr/>
        </p:nvSpPr>
        <p:spPr>
          <a:xfrm xmlns:a="http://schemas.openxmlformats.org/drawingml/2006/main">
            <a:off x="4476750" y="1381125"/>
            <a:ext cx="31813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Average a pair</a:t>
            </a:r>
          </a:p>
        </p:txBody>
      </p:sp>
      <p:sp>
        <p:nvSpPr>
          <p:cNvPr id="8" name="to-output-shaft">
            <a:extLst xmlns:a="http://schemas.openxmlformats.org/drawingml/2006/main">
              <a:ext uri="{FF2B5EF4-FFF2-40B4-BE49-F238E27FC236}">
                <a16:creationId xmlns:a16="http://schemas.microsoft.com/office/drawing/2014/main" id="{82162E2D-F2C2-42C8-90CE-4D987B98F5A2}"/>
              </a:ext>
            </a:extLst>
          </p:cNvPr>
          <p:cNvSpPr>
            <a:spLocks xmlns:a="http://schemas.openxmlformats.org/drawingml/2006/main" noGrp="1"/>
          </p:cNvSpPr>
          <p:nvPr/>
        </p:nvSpPr>
        <p:spPr>
          <a:xfrm xmlns:a="http://schemas.openxmlformats.org/drawingml/2006/main">
            <a:off x="7953375" y="1552575"/>
            <a:ext cx="13430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9" name="to-output-head">
            <a:extLst xmlns:a="http://schemas.openxmlformats.org/drawingml/2006/main">
              <a:ext uri="{FF2B5EF4-FFF2-40B4-BE49-F238E27FC236}">
                <a16:creationId xmlns:a16="http://schemas.microsoft.com/office/drawing/2014/main" id="{E39B342F-FF46-46B4-A0A1-9130B51F48B0}"/>
              </a:ext>
            </a:extLst>
          </p:cNvPr>
          <p:cNvSpPr>
            <a:spLocks xmlns:a="http://schemas.openxmlformats.org/drawingml/2006/main" noGrp="1"/>
          </p:cNvSpPr>
          <p:nvPr/>
        </p:nvSpPr>
        <p:spPr>
          <a:xfrm xmlns:a="http://schemas.openxmlformats.org/drawingml/2006/main" rot="5400000">
            <a:off x="9277350" y="15097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0" name="output-label">
            <a:extLst xmlns:a="http://schemas.openxmlformats.org/drawingml/2006/main">
              <a:ext uri="{FF2B5EF4-FFF2-40B4-BE49-F238E27FC236}">
                <a16:creationId xmlns:a16="http://schemas.microsoft.com/office/drawing/2014/main" id="{0F56A0B1-191B-442C-9FE5-894F9C4CDC89}"/>
              </a:ext>
            </a:extLst>
          </p:cNvPr>
          <p:cNvSpPr>
            <a:spLocks xmlns:a="http://schemas.openxmlformats.org/drawingml/2006/main" noGrp="1"/>
          </p:cNvSpPr>
          <p:nvPr/>
        </p:nvSpPr>
        <p:spPr>
          <a:xfrm xmlns:a="http://schemas.openxmlformats.org/drawingml/2006/main">
            <a:off x="9620250" y="10477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i="0">
                <a:solidFill>
                  <a:srgbClr val="202020"/>
                </a:solidFill>
                <a:latin typeface="Times New Roman"/>
                <a:ea typeface="Times New Roman"/>
                <a:cs typeface="Times New Roman"/>
              </a:defRPr>
            </a:defPPr>
          </a:lstStyle>
          <a:p xmlns:a="http://schemas.openxmlformats.org/drawingml/2006/main">
            <a:pPr algn="ct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Output</a:t>
            </a:r>
          </a:p>
        </p:txBody>
      </p:sp>
      <p:graphicFrame>
        <p:nvGraphicFramePr>
          <p:cNvPr id="11" name="calculation-table">
            <a:extLst xmlns:a="http://schemas.openxmlformats.org/drawingml/2006/main">
              <a:ext uri="{FF2B5EF4-FFF2-40B4-BE49-F238E27FC236}">
                <a16:creationId xmlns:a16="http://schemas.microsoft.com/office/drawing/2014/main" id="{4C83F85D-ABB7-4E15-8F1C-203223AF9077}"/>
              </a:ext>
            </a:extLst>
          </p:cNvPr>
          <p:cNvGraphicFramePr/>
          <p:nvPr/>
        </p:nvGraphicFramePr>
        <p:xfrm>
          <a:off xmlns:a="http://schemas.openxmlformats.org/drawingml/2006/main" x="609600" y="2857500"/>
          <a:ext xmlns:a="http://schemas.openxmlformats.org/drawingml/2006/main" cx="10896600" cy="2857500"/>
        </p:xfrm>
        <a:graphic xmlns:a="http://schemas.openxmlformats.org/drawingml/2006/main">
          <a:graphicData uri="http://schemas.openxmlformats.org/drawingml/2006/table">
            <a:tbl>
              <a:tblPr firstRow="0" bandRow="0"/>
              <a:tblGrid>
                <a:gridCol w="904875"/>
                <a:gridCol w="2143125"/>
                <a:gridCol w="2143125"/>
                <a:gridCol w="3419475"/>
                <a:gridCol w="2286000"/>
              </a:tblGrid>
              <a:tr h="476250">
                <a:tc>
                  <a:txBody>
                    <a:bodyPr/>
                    <a:lstStyle/>
                    <a:p>
                      <a:pPr algn="ctr"/>
                      <a:r>
                        <a:rPr sz="2100" b="1">
                          <a:solidFill>
                            <a:srgbClr val="202020"/>
                          </a:solidFill>
                          <a:latin typeface="Times New Roman"/>
                          <a:ea typeface="Times New Roman"/>
                          <a:cs typeface="Times New Roman"/>
                        </a:rPr>
                        <a:t>n</a:t>
                      </a:r>
                    </a:p>
                  </a:txBody>
                  <a:tcPr marL="91440" marR="91440" marT="45720" marB="45720" anchor="ctr">
                    <a:lnL w="9525">
                      <a:solidFill>
                        <a:srgbClr val="B0B0B0"/>
                      </a:solidFill>
                    </a:lnL>
                    <a:lnR w="9525">
                      <a:solidFill>
                        <a:srgbClr val="B0B0B0"/>
                      </a:solidFill>
                    </a:lnR>
                    <a:lnT w="9525">
                      <a:solidFill>
                        <a:srgbClr val="B0B0B0"/>
                      </a:solidFill>
                    </a:lnT>
                    <a:lnB w="9525">
                      <a:solidFill>
                        <a:srgbClr val="B0B0B0"/>
                      </a:solidFill>
                    </a:lnB>
                    <a:solidFill>
                      <a:srgbClr val="EEEEEE"/>
                    </a:solidFill>
                  </a:tcPr>
                </a:tc>
                <a:tc>
                  <a:txBody>
                    <a:bodyPr/>
                    <a:lstStyle/>
                    <a:p>
                      <a:pPr algn="ctr"/>
                      <a:r>
                        <a:rPr sz="2100" b="1">
                          <a:solidFill>
                            <a:srgbClr val="202020"/>
                          </a:solidFill>
                          <a:latin typeface="Times New Roman"/>
                          <a:ea typeface="Times New Roman"/>
                          <a:cs typeface="Times New Roman"/>
                        </a:rPr>
                        <a:t>Previous</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c>
                  <a:txBody>
                    <a:bodyPr/>
                    <a:lstStyle/>
                    <a:p>
                      <a:pPr algn="ctr"/>
                      <a:r>
                        <a:rPr sz="2100" b="1">
                          <a:solidFill>
                            <a:srgbClr val="202020"/>
                          </a:solidFill>
                          <a:latin typeface="Times New Roman"/>
                          <a:ea typeface="Times New Roman"/>
                          <a:cs typeface="Times New Roman"/>
                        </a:rPr>
                        <a:t>Current</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c>
                  <a:txBody>
                    <a:bodyPr/>
                    <a:lstStyle/>
                    <a:p>
                      <a:pPr algn="ctr"/>
                      <a:r>
                        <a:rPr sz="2100" b="1">
                          <a:solidFill>
                            <a:srgbClr val="202020"/>
                          </a:solidFill>
                          <a:latin typeface="Times New Roman"/>
                          <a:ea typeface="Times New Roman"/>
                          <a:cs typeface="Times New Roman"/>
                        </a:rPr>
                        <a:t>Average</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c>
                  <a:txBody>
                    <a:bodyPr/>
                    <a:lstStyle/>
                    <a:p>
                      <a:pPr algn="ctr"/>
                      <a:r>
                        <a:rPr sz="2100" b="1">
                          <a:solidFill>
                            <a:srgbClr val="202020"/>
                          </a:solidFill>
                          <a:latin typeface="Times New Roman"/>
                          <a:ea typeface="Times New Roman"/>
                          <a:cs typeface="Times New Roman"/>
                        </a:rPr>
                        <a:t>Output</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r>
              <a:tr h="476250">
                <a:tc>
                  <a:txBody>
                    <a:bodyPr/>
                    <a:lstStyle/>
                    <a:p>
                      <a:pPr algn="ctr"/>
                      <a:r>
                        <a:rPr sz="2100" b="1">
                          <a:solidFill>
                            <a:srgbClr val="202020"/>
                          </a:solidFill>
                          <a:latin typeface="Times New Roman"/>
                          <a:ea typeface="Times New Roman"/>
                          <a:cs typeface="Times New Roman"/>
                        </a:rPr>
                        <a:t>0</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0</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0</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(0 + 0) / 2</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0</a:t>
                      </a:r>
                    </a:p>
                  </a:txBody>
                  <a:tcPr marL="91440" marR="91440" marT="45720" marB="45720" anchor="ctr">
                    <a:lnR w="9525">
                      <a:solidFill>
                        <a:srgbClr val="B0B0B0"/>
                      </a:solidFill>
                    </a:lnR>
                    <a:lnB w="9525">
                      <a:solidFill>
                        <a:srgbClr val="B0B0B0"/>
                      </a:solidFill>
                    </a:lnB>
                    <a:solidFill>
                      <a:srgbClr val="FFFFFF"/>
                    </a:solidFill>
                  </a:tcPr>
                </a:tc>
              </a:tr>
              <a:tr h="476250">
                <a:tc>
                  <a:txBody>
                    <a:bodyPr/>
                    <a:lstStyle/>
                    <a:p>
                      <a:pPr algn="ctr"/>
                      <a:r>
                        <a:rPr sz="2100" b="1">
                          <a:solidFill>
                            <a:srgbClr val="202020"/>
                          </a:solidFill>
                          <a:latin typeface="Times New Roman"/>
                          <a:ea typeface="Times New Roman"/>
                          <a:cs typeface="Times New Roman"/>
                        </a:rPr>
                        <a:t>1</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0</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2</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(2 + 0) / 2</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1</a:t>
                      </a:r>
                    </a:p>
                  </a:txBody>
                  <a:tcPr marL="91440" marR="91440" marT="45720" marB="45720" anchor="ctr">
                    <a:lnR w="9525">
                      <a:solidFill>
                        <a:srgbClr val="B0B0B0"/>
                      </a:solidFill>
                    </a:lnR>
                    <a:lnB w="9525">
                      <a:solidFill>
                        <a:srgbClr val="B0B0B0"/>
                      </a:solidFill>
                    </a:lnB>
                    <a:solidFill>
                      <a:srgbClr val="FFFFFF"/>
                    </a:solidFill>
                  </a:tcPr>
                </a:tc>
              </a:tr>
              <a:tr h="476250">
                <a:tc>
                  <a:txBody>
                    <a:bodyPr/>
                    <a:lstStyle/>
                    <a:p>
                      <a:pPr algn="ctr"/>
                      <a:r>
                        <a:rPr sz="2100" b="1">
                          <a:solidFill>
                            <a:srgbClr val="202020"/>
                          </a:solidFill>
                          <a:latin typeface="Times New Roman"/>
                          <a:ea typeface="Times New Roman"/>
                          <a:cs typeface="Times New Roman"/>
                        </a:rPr>
                        <a:t>2</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2</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4</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(4 + 2) / 2</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3</a:t>
                      </a:r>
                    </a:p>
                  </a:txBody>
                  <a:tcPr marL="91440" marR="91440" marT="45720" marB="45720" anchor="ctr">
                    <a:lnR w="9525">
                      <a:solidFill>
                        <a:srgbClr val="B0B0B0"/>
                      </a:solidFill>
                    </a:lnR>
                    <a:lnB w="9525">
                      <a:solidFill>
                        <a:srgbClr val="B0B0B0"/>
                      </a:solidFill>
                    </a:lnB>
                    <a:solidFill>
                      <a:srgbClr val="FFFFFF"/>
                    </a:solidFill>
                  </a:tcPr>
                </a:tc>
              </a:tr>
              <a:tr h="476250">
                <a:tc>
                  <a:txBody>
                    <a:bodyPr/>
                    <a:lstStyle/>
                    <a:p>
                      <a:pPr algn="ctr"/>
                      <a:r>
                        <a:rPr sz="2100" b="1">
                          <a:solidFill>
                            <a:srgbClr val="202020"/>
                          </a:solidFill>
                          <a:latin typeface="Times New Roman"/>
                          <a:ea typeface="Times New Roman"/>
                          <a:cs typeface="Times New Roman"/>
                        </a:rPr>
                        <a:t>3</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4</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2</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(2 + 4) / 2</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3</a:t>
                      </a:r>
                    </a:p>
                  </a:txBody>
                  <a:tcPr marL="91440" marR="91440" marT="45720" marB="45720" anchor="ctr">
                    <a:lnR w="9525">
                      <a:solidFill>
                        <a:srgbClr val="B0B0B0"/>
                      </a:solidFill>
                    </a:lnR>
                    <a:lnB w="9525">
                      <a:solidFill>
                        <a:srgbClr val="B0B0B0"/>
                      </a:solidFill>
                    </a:lnB>
                    <a:solidFill>
                      <a:srgbClr val="FFFFFF"/>
                    </a:solidFill>
                  </a:tcPr>
                </a:tc>
              </a:tr>
              <a:tr h="476250">
                <a:tc>
                  <a:txBody>
                    <a:bodyPr/>
                    <a:lstStyle/>
                    <a:p>
                      <a:pPr algn="ctr"/>
                      <a:r>
                        <a:rPr sz="2100" b="1">
                          <a:solidFill>
                            <a:srgbClr val="202020"/>
                          </a:solidFill>
                          <a:latin typeface="Times New Roman"/>
                          <a:ea typeface="Times New Roman"/>
                          <a:cs typeface="Times New Roman"/>
                        </a:rPr>
                        <a:t>4</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2</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0</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(0 + 2) / 2</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100" b="0">
                          <a:solidFill>
                            <a:srgbClr val="202020"/>
                          </a:solidFill>
                          <a:latin typeface="Times New Roman"/>
                          <a:ea typeface="Times New Roman"/>
                          <a:cs typeface="Times New Roman"/>
                        </a:rPr>
                        <a:t>1</a:t>
                      </a:r>
                    </a:p>
                  </a:txBody>
                  <a:tcPr marL="91440" marR="91440" marT="45720" marB="45720" anchor="ctr">
                    <a:lnR w="9525">
                      <a:solidFill>
                        <a:srgbClr val="B0B0B0"/>
                      </a:solidFill>
                    </a:lnR>
                    <a:lnB w="9525">
                      <a:solidFill>
                        <a:srgbClr val="B0B0B0"/>
                      </a:solidFill>
                    </a:lnB>
                    <a:solidFill>
                      <a:srgbClr val="FFFFFF"/>
                    </a:solidFill>
                  </a:tcPr>
                </a:tc>
              </a:tr>
            </a:tbl>
          </a:graphicData>
        </a:graphic>
      </p:graphicFrame>
      <p:sp>
        <p:nvSpPr>
          <p:cNvPr id="12" name="worked-answer-emphasis">
            <a:extLst xmlns:a="http://schemas.openxmlformats.org/drawingml/2006/main">
              <a:ext uri="{FF2B5EF4-FFF2-40B4-BE49-F238E27FC236}">
                <a16:creationId xmlns:a16="http://schemas.microsoft.com/office/drawing/2014/main" id="{03C4AABD-561C-46E0-AA7E-E992741DBF21}"/>
              </a:ext>
            </a:extLst>
          </p:cNvPr>
          <p:cNvSpPr>
            <a:spLocks xmlns:a="http://schemas.openxmlformats.org/drawingml/2006/main" noGrp="1"/>
          </p:cNvSpPr>
          <p:nvPr/>
        </p:nvSpPr>
        <p:spPr>
          <a:xfrm xmlns:a="http://schemas.openxmlformats.org/drawingml/2006/main">
            <a:off x="609600" y="65722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3" name="input-symbol" descr="x[n]">
            <a:extLst xmlns:a="http://schemas.openxmlformats.org/drawingml/2006/main">
              <a:ext uri="{FF2B5EF4-FFF2-40B4-BE49-F238E27FC236}">
                <a16:creationId xmlns:a16="http://schemas.microsoft.com/office/drawing/2014/main" id="{78A1F497-0FB8-4BF0-9D5E-EB7893F13F5F}"/>
              </a:ext>
            </a:extLst>
          </p:cNvPr>
          <p:cNvPicPr>
            <a:picLocks xmlns:a="http://schemas.openxmlformats.org/drawingml/2006/main" noChangeAspect="1"/>
          </p:cNvPicPr>
          <p:nvPr/>
        </p:nvPicPr>
        <p:blipFill>
          <a:blip xmlns:r="http://schemas.openxmlformats.org/officeDocument/2006/relationships" xmlns:a="http://schemas.openxmlformats.org/drawingml/2006/main" r:embed="Rdf5d6afa3eee4781">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406843" y="1431994"/>
            <a:ext cx="615315" cy="326886"/>
          </a:xfrm>
          <a:prstGeom xmlns:a="http://schemas.openxmlformats.org/drawingml/2006/main" prst="rect">
            <a:avLst/>
          </a:prstGeom>
        </p:spPr>
      </p:pic>
      <p:pic>
        <p:nvPicPr>
          <p:cNvPr id="14" name="output-symbol" descr="y[n]">
            <a:extLst xmlns:a="http://schemas.openxmlformats.org/drawingml/2006/main">
              <a:ext uri="{FF2B5EF4-FFF2-40B4-BE49-F238E27FC236}">
                <a16:creationId xmlns:a16="http://schemas.microsoft.com/office/drawing/2014/main" id="{1085FF11-D1BD-4AD0-A6F2-16ED096D5B64}"/>
              </a:ext>
            </a:extLst>
          </p:cNvPr>
          <p:cNvPicPr>
            <a:picLocks xmlns:a="http://schemas.openxmlformats.org/drawingml/2006/main" noChangeAspect="1"/>
          </p:cNvPicPr>
          <p:nvPr/>
        </p:nvPicPr>
        <p:blipFill>
          <a:blip xmlns:r="http://schemas.openxmlformats.org/officeDocument/2006/relationships" xmlns:a="http://schemas.openxmlformats.org/drawingml/2006/main" r:embed="Raba2b08344cc457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169843" y="1433917"/>
            <a:ext cx="615315" cy="323040"/>
          </a:xfrm>
          <a:prstGeom xmlns:a="http://schemas.openxmlformats.org/drawingml/2006/main" prst="rect">
            <a:avLst/>
          </a:prstGeom>
        </p:spPr>
      </p:pic>
      <p:pic>
        <p:nvPicPr>
          <p:cNvPr id="15" name="worked-givens" descr="x[0..4]=[0,2,4,2,0],\qquad x[-1]=0">
            <a:extLst xmlns:a="http://schemas.openxmlformats.org/drawingml/2006/main">
              <a:ext uri="{FF2B5EF4-FFF2-40B4-BE49-F238E27FC236}">
                <a16:creationId xmlns:a16="http://schemas.microsoft.com/office/drawing/2014/main" id="{25EA3A86-8005-4891-8F05-88DEC52E44A6}"/>
              </a:ext>
            </a:extLst>
          </p:cNvPr>
          <p:cNvPicPr>
            <a:picLocks xmlns:a="http://schemas.openxmlformats.org/drawingml/2006/main" noChangeAspect="1"/>
          </p:cNvPicPr>
          <p:nvPr/>
        </p:nvPicPr>
        <p:blipFill>
          <a:blip xmlns:r="http://schemas.openxmlformats.org/officeDocument/2006/relationships" xmlns:a="http://schemas.openxmlformats.org/drawingml/2006/main" r:embed="R4c4455a2823440d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609600" y="2258288"/>
            <a:ext cx="4889183" cy="274499"/>
          </a:xfrm>
          <a:prstGeom xmlns:a="http://schemas.openxmlformats.org/drawingml/2006/main" prst="rect">
            <a:avLst/>
          </a:prstGeom>
        </p:spPr>
      </p:pic>
      <p:pic>
        <p:nvPicPr>
          <p:cNvPr id="16" name="worked-answer" descr="y[0..4]=[0,1,3,3,1]">
            <a:extLst xmlns:a="http://schemas.openxmlformats.org/drawingml/2006/main">
              <a:ext uri="{FF2B5EF4-FFF2-40B4-BE49-F238E27FC236}">
                <a16:creationId xmlns:a16="http://schemas.microsoft.com/office/drawing/2014/main" id="{4FD7F47A-D1B0-4A59-8E18-3FD6937EEFFC}"/>
              </a:ext>
            </a:extLst>
          </p:cNvPr>
          <p:cNvPicPr>
            <a:picLocks xmlns:a="http://schemas.openxmlformats.org/drawingml/2006/main" noChangeAspect="1"/>
          </p:cNvPicPr>
          <p:nvPr/>
        </p:nvPicPr>
        <p:blipFill>
          <a:blip xmlns:r="http://schemas.openxmlformats.org/officeDocument/2006/relationships" xmlns:a="http://schemas.openxmlformats.org/drawingml/2006/main" r:embed="R776f6c5515204807">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6068467"/>
            <a:ext cx="3367088" cy="331291"/>
          </a:xfrm>
          <a:prstGeom xmlns:a="http://schemas.openxmlformats.org/drawingml/2006/main" prst="rect">
            <a:avLst/>
          </a:prstGeom>
        </p:spPr>
      </p:pic>
    </p:spTree>
    <p:extLst>
      <p:ext uri="{BB962C8B-B14F-4D97-AF65-F5344CB8AC3E}">
        <p14:creationId xmlns:p14="http://schemas.microsoft.com/office/powerpoint/2010/main" val="717277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Two-point moving average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Takeaway</a:t>
            </a:r>
          </a:p>
        </p:txBody>
      </p:sp>
      <p:sp>
        <p:nvSpPr>
          <p:cNvPr id="3" name="input-label">
            <a:extLst xmlns:a="http://schemas.openxmlformats.org/drawingml/2006/main">
              <a:ext uri="{FF2B5EF4-FFF2-40B4-BE49-F238E27FC236}">
                <a16:creationId xmlns:a16="http://schemas.microsoft.com/office/drawing/2014/main" id="{90DCF7E2-1148-468C-AB2B-118834D6973B}"/>
              </a:ext>
            </a:extLst>
          </p:cNvPr>
          <p:cNvSpPr>
            <a:spLocks xmlns:a="http://schemas.openxmlformats.org/drawingml/2006/main" noGrp="1"/>
          </p:cNvSpPr>
          <p:nvPr/>
        </p:nvSpPr>
        <p:spPr>
          <a:xfrm xmlns:a="http://schemas.openxmlformats.org/drawingml/2006/main">
            <a:off x="857250" y="10477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i="0">
                <a:solidFill>
                  <a:srgbClr val="202020"/>
                </a:solidFill>
                <a:latin typeface="Times New Roman"/>
                <a:ea typeface="Times New Roman"/>
                <a:cs typeface="Times New Roman"/>
              </a:defRPr>
            </a:defPPr>
          </a:lstStyle>
          <a:p xmlns:a="http://schemas.openxmlformats.org/drawingml/2006/main">
            <a:pPr algn="ct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Input</a:t>
            </a:r>
          </a:p>
        </p:txBody>
      </p:sp>
      <p:sp>
        <p:nvSpPr>
          <p:cNvPr id="4" name="to-average-shaft">
            <a:extLst xmlns:a="http://schemas.openxmlformats.org/drawingml/2006/main">
              <a:ext uri="{FF2B5EF4-FFF2-40B4-BE49-F238E27FC236}">
                <a16:creationId xmlns:a16="http://schemas.microsoft.com/office/drawing/2014/main" id="{D8DE686A-8172-4ABB-B9EE-C555B311779A}"/>
              </a:ext>
            </a:extLst>
          </p:cNvPr>
          <p:cNvSpPr>
            <a:spLocks xmlns:a="http://schemas.openxmlformats.org/drawingml/2006/main" noGrp="1"/>
          </p:cNvSpPr>
          <p:nvPr/>
        </p:nvSpPr>
        <p:spPr>
          <a:xfrm xmlns:a="http://schemas.openxmlformats.org/drawingml/2006/main">
            <a:off x="2762250" y="1552575"/>
            <a:ext cx="13430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to-average-head">
            <a:extLst xmlns:a="http://schemas.openxmlformats.org/drawingml/2006/main">
              <a:ext uri="{FF2B5EF4-FFF2-40B4-BE49-F238E27FC236}">
                <a16:creationId xmlns:a16="http://schemas.microsoft.com/office/drawing/2014/main" id="{27EBF067-56FE-47C5-84A4-B435496F45EE}"/>
              </a:ext>
            </a:extLst>
          </p:cNvPr>
          <p:cNvSpPr>
            <a:spLocks xmlns:a="http://schemas.openxmlformats.org/drawingml/2006/main" noGrp="1"/>
          </p:cNvSpPr>
          <p:nvPr/>
        </p:nvSpPr>
        <p:spPr>
          <a:xfrm xmlns:a="http://schemas.openxmlformats.org/drawingml/2006/main" rot="5400000">
            <a:off x="4086225" y="15097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average-operation-box">
            <a:extLst xmlns:a="http://schemas.openxmlformats.org/drawingml/2006/main">
              <a:ext uri="{FF2B5EF4-FFF2-40B4-BE49-F238E27FC236}">
                <a16:creationId xmlns:a16="http://schemas.microsoft.com/office/drawing/2014/main" id="{C29BBCA8-A622-4C8D-964D-004758D82671}"/>
              </a:ext>
            </a:extLst>
          </p:cNvPr>
          <p:cNvSpPr>
            <a:spLocks xmlns:a="http://schemas.openxmlformats.org/drawingml/2006/main" noGrp="1"/>
          </p:cNvSpPr>
          <p:nvPr/>
        </p:nvSpPr>
        <p:spPr>
          <a:xfrm xmlns:a="http://schemas.openxmlformats.org/drawingml/2006/main">
            <a:off x="4400550" y="1304925"/>
            <a:ext cx="3333750" cy="54292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7" name="average-operation-text">
            <a:extLst xmlns:a="http://schemas.openxmlformats.org/drawingml/2006/main">
              <a:ext uri="{FF2B5EF4-FFF2-40B4-BE49-F238E27FC236}">
                <a16:creationId xmlns:a16="http://schemas.microsoft.com/office/drawing/2014/main" id="{283A79B7-64ED-40FB-96FF-4CBA501693D6}"/>
              </a:ext>
            </a:extLst>
          </p:cNvPr>
          <p:cNvSpPr>
            <a:spLocks xmlns:a="http://schemas.openxmlformats.org/drawingml/2006/main" noGrp="1"/>
          </p:cNvSpPr>
          <p:nvPr/>
        </p:nvSpPr>
        <p:spPr>
          <a:xfrm xmlns:a="http://schemas.openxmlformats.org/drawingml/2006/main">
            <a:off x="4476750" y="1381125"/>
            <a:ext cx="31813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Average a pair</a:t>
            </a:r>
          </a:p>
        </p:txBody>
      </p:sp>
      <p:sp>
        <p:nvSpPr>
          <p:cNvPr id="8" name="to-output-shaft">
            <a:extLst xmlns:a="http://schemas.openxmlformats.org/drawingml/2006/main">
              <a:ext uri="{FF2B5EF4-FFF2-40B4-BE49-F238E27FC236}">
                <a16:creationId xmlns:a16="http://schemas.microsoft.com/office/drawing/2014/main" id="{D0501C92-B2AD-48FD-9DAE-7B9E77B2EF27}"/>
              </a:ext>
            </a:extLst>
          </p:cNvPr>
          <p:cNvSpPr>
            <a:spLocks xmlns:a="http://schemas.openxmlformats.org/drawingml/2006/main" noGrp="1"/>
          </p:cNvSpPr>
          <p:nvPr/>
        </p:nvSpPr>
        <p:spPr>
          <a:xfrm xmlns:a="http://schemas.openxmlformats.org/drawingml/2006/main">
            <a:off x="7953375" y="1552575"/>
            <a:ext cx="13430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9" name="to-output-head">
            <a:extLst xmlns:a="http://schemas.openxmlformats.org/drawingml/2006/main">
              <a:ext uri="{FF2B5EF4-FFF2-40B4-BE49-F238E27FC236}">
                <a16:creationId xmlns:a16="http://schemas.microsoft.com/office/drawing/2014/main" id="{1CB22014-98A8-48CF-86C2-DA3DC96F7355}"/>
              </a:ext>
            </a:extLst>
          </p:cNvPr>
          <p:cNvSpPr>
            <a:spLocks xmlns:a="http://schemas.openxmlformats.org/drawingml/2006/main" noGrp="1"/>
          </p:cNvSpPr>
          <p:nvPr/>
        </p:nvSpPr>
        <p:spPr>
          <a:xfrm xmlns:a="http://schemas.openxmlformats.org/drawingml/2006/main" rot="5400000">
            <a:off x="9277350" y="15097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0" name="output-label">
            <a:extLst xmlns:a="http://schemas.openxmlformats.org/drawingml/2006/main">
              <a:ext uri="{FF2B5EF4-FFF2-40B4-BE49-F238E27FC236}">
                <a16:creationId xmlns:a16="http://schemas.microsoft.com/office/drawing/2014/main" id="{69971B79-5F10-4958-92EC-001B06E27F4B}"/>
              </a:ext>
            </a:extLst>
          </p:cNvPr>
          <p:cNvSpPr>
            <a:spLocks xmlns:a="http://schemas.openxmlformats.org/drawingml/2006/main" noGrp="1"/>
          </p:cNvSpPr>
          <p:nvPr/>
        </p:nvSpPr>
        <p:spPr>
          <a:xfrm xmlns:a="http://schemas.openxmlformats.org/drawingml/2006/main">
            <a:off x="9620250" y="10477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i="0">
                <a:solidFill>
                  <a:srgbClr val="202020"/>
                </a:solidFill>
                <a:latin typeface="Times New Roman"/>
                <a:ea typeface="Times New Roman"/>
                <a:cs typeface="Times New Roman"/>
              </a:defRPr>
            </a:defPPr>
          </a:lstStyle>
          <a:p xmlns:a="http://schemas.openxmlformats.org/drawingml/2006/main">
            <a:pPr algn="ct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Output</a:t>
            </a:r>
          </a:p>
        </p:txBody>
      </p:sp>
      <p:sp>
        <p:nvSpPr>
          <p:cNvPr id="11" name="takeaway-meaning">
            <a:extLst xmlns:a="http://schemas.openxmlformats.org/drawingml/2006/main">
              <a:ext uri="{FF2B5EF4-FFF2-40B4-BE49-F238E27FC236}">
                <a16:creationId xmlns:a16="http://schemas.microsoft.com/office/drawing/2014/main" id="{5E19D709-5F86-453F-B272-EDA4F0CE5856}"/>
              </a:ext>
            </a:extLst>
          </p:cNvPr>
          <p:cNvSpPr>
            <a:spLocks xmlns:a="http://schemas.openxmlformats.org/drawingml/2006/main" noGrp="1"/>
          </p:cNvSpPr>
          <p:nvPr/>
        </p:nvSpPr>
        <p:spPr>
          <a:xfrm xmlns:a="http://schemas.openxmlformats.org/drawingml/2006/main">
            <a:off x="609600" y="3638550"/>
            <a:ext cx="10896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i="0">
                <a:solidFill>
                  <a:srgbClr val="202020"/>
                </a:solidFill>
                <a:latin typeface="Times New Roman"/>
                <a:ea typeface="Times New Roman"/>
                <a:cs typeface="Times New Roman"/>
              </a:defRPr>
            </a:defPPr>
          </a:lstStyle>
          <a:p xmlns:a="http://schemas.openxmlformats.org/drawingml/2006/main">
            <a:pPr algn="l">
              <a:defRPr sz="2400" b="1" i="0">
                <a:solidFill>
                  <a:srgbClr val="202020"/>
                </a:solidFill>
                <a:latin typeface="Times New Roman"/>
                <a:ea typeface="Times New Roman"/>
                <a:cs typeface="Times New Roman"/>
              </a:defRPr>
            </a:pPr>
            <a:r>
              <a:rPr sz="2400" b="1" i="0">
                <a:solidFill>
                  <a:srgbClr val="202020"/>
                </a:solidFill>
                <a:latin typeface="Times New Roman"/>
                <a:ea typeface="Times New Roman"/>
                <a:cs typeface="Times New Roman"/>
              </a:rPr>
              <a:t>Current + previous, divided by two.</a:t>
            </a:r>
          </a:p>
        </p:txBody>
      </p:sp>
      <p:sp>
        <p:nvSpPr>
          <p:cNvPr id="12" name="takeaway-move">
            <a:extLst xmlns:a="http://schemas.openxmlformats.org/drawingml/2006/main">
              <a:ext uri="{FF2B5EF4-FFF2-40B4-BE49-F238E27FC236}">
                <a16:creationId xmlns:a16="http://schemas.microsoft.com/office/drawing/2014/main" id="{36AAD909-99DC-4398-B5AD-959FE82D597B}"/>
              </a:ext>
            </a:extLst>
          </p:cNvPr>
          <p:cNvSpPr>
            <a:spLocks xmlns:a="http://schemas.openxmlformats.org/drawingml/2006/main" noGrp="1"/>
          </p:cNvSpPr>
          <p:nvPr/>
        </p:nvSpPr>
        <p:spPr>
          <a:xfrm xmlns:a="http://schemas.openxmlformats.org/drawingml/2006/main">
            <a:off x="609600" y="4276725"/>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i="0">
                <a:solidFill>
                  <a:srgbClr val="202020"/>
                </a:solidFill>
                <a:latin typeface="Times New Roman"/>
                <a:ea typeface="Times New Roman"/>
                <a:cs typeface="Times New Roman"/>
              </a:defRPr>
            </a:defPPr>
          </a:lstStyle>
          <a:p xmlns:a="http://schemas.openxmlformats.org/drawingml/2006/main">
            <a:pPr algn="l">
              <a:defRPr sz="2175" b="0" i="0">
                <a:solidFill>
                  <a:srgbClr val="202020"/>
                </a:solidFill>
                <a:latin typeface="Times New Roman"/>
                <a:ea typeface="Times New Roman"/>
                <a:cs typeface="Times New Roman"/>
              </a:defRPr>
            </a:pPr>
            <a:r>
              <a:rPr sz="2175" b="0" i="0">
                <a:solidFill>
                  <a:srgbClr val="202020"/>
                </a:solidFill>
                <a:latin typeface="Times New Roman"/>
                <a:ea typeface="Times New Roman"/>
                <a:cs typeface="Times New Roman"/>
              </a:rPr>
              <a:t>Move forward one index. Use the next overlapping pair.</a:t>
            </a:r>
          </a:p>
        </p:txBody>
      </p:sp>
      <p:sp>
        <p:nvSpPr>
          <p:cNvPr id="13" name="takeaway-example-emphasis">
            <a:extLst xmlns:a="http://schemas.openxmlformats.org/drawingml/2006/main">
              <a:ext uri="{FF2B5EF4-FFF2-40B4-BE49-F238E27FC236}">
                <a16:creationId xmlns:a16="http://schemas.microsoft.com/office/drawing/2014/main" id="{D96CE498-CBF7-4417-975F-8EFD8F1E1308}"/>
              </a:ext>
            </a:extLst>
          </p:cNvPr>
          <p:cNvSpPr>
            <a:spLocks xmlns:a="http://schemas.openxmlformats.org/drawingml/2006/main" noGrp="1"/>
          </p:cNvSpPr>
          <p:nvPr/>
        </p:nvSpPr>
        <p:spPr>
          <a:xfrm xmlns:a="http://schemas.openxmlformats.org/drawingml/2006/main">
            <a:off x="609600" y="651510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4" name="input-symbol" descr="x[n]">
            <a:extLst xmlns:a="http://schemas.openxmlformats.org/drawingml/2006/main">
              <a:ext uri="{FF2B5EF4-FFF2-40B4-BE49-F238E27FC236}">
                <a16:creationId xmlns:a16="http://schemas.microsoft.com/office/drawing/2014/main" id="{78E89BB4-48F4-4FCA-8515-2C8916660EE1}"/>
              </a:ext>
            </a:extLst>
          </p:cNvPr>
          <p:cNvPicPr>
            <a:picLocks xmlns:a="http://schemas.openxmlformats.org/drawingml/2006/main" noChangeAspect="1"/>
          </p:cNvPicPr>
          <p:nvPr/>
        </p:nvPicPr>
        <p:blipFill>
          <a:blip xmlns:r="http://schemas.openxmlformats.org/officeDocument/2006/relationships" xmlns:a="http://schemas.openxmlformats.org/drawingml/2006/main" r:embed="R921fd4b0cc734190">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406843" y="1431994"/>
            <a:ext cx="615315" cy="326886"/>
          </a:xfrm>
          <a:prstGeom xmlns:a="http://schemas.openxmlformats.org/drawingml/2006/main" prst="rect">
            <a:avLst/>
          </a:prstGeom>
        </p:spPr>
      </p:pic>
      <p:pic>
        <p:nvPicPr>
          <p:cNvPr id="15" name="output-symbol" descr="y[n]">
            <a:extLst xmlns:a="http://schemas.openxmlformats.org/drawingml/2006/main">
              <a:ext uri="{FF2B5EF4-FFF2-40B4-BE49-F238E27FC236}">
                <a16:creationId xmlns:a16="http://schemas.microsoft.com/office/drawing/2014/main" id="{C754D9D7-E686-4AD4-B579-7F5F26F19347}"/>
              </a:ext>
            </a:extLst>
          </p:cNvPr>
          <p:cNvPicPr>
            <a:picLocks xmlns:a="http://schemas.openxmlformats.org/drawingml/2006/main" noChangeAspect="1"/>
          </p:cNvPicPr>
          <p:nvPr/>
        </p:nvPicPr>
        <p:blipFill>
          <a:blip xmlns:r="http://schemas.openxmlformats.org/officeDocument/2006/relationships" xmlns:a="http://schemas.openxmlformats.org/drawingml/2006/main" r:embed="R29fb48f04d264cd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169843" y="1433917"/>
            <a:ext cx="615315" cy="323040"/>
          </a:xfrm>
          <a:prstGeom xmlns:a="http://schemas.openxmlformats.org/drawingml/2006/main" prst="rect">
            <a:avLst/>
          </a:prstGeom>
        </p:spPr>
      </p:pic>
      <p:pic>
        <p:nvPicPr>
          <p:cNvPr id="16" name="takeaway-rule" descr="y[n]=\frac{x[n]+x[n-1]}{2}">
            <a:extLst xmlns:a="http://schemas.openxmlformats.org/drawingml/2006/main">
              <a:ext uri="{FF2B5EF4-FFF2-40B4-BE49-F238E27FC236}">
                <a16:creationId xmlns:a16="http://schemas.microsoft.com/office/drawing/2014/main" id="{D28552C2-E681-4DD8-9FCF-87F3AD5B66A9}"/>
              </a:ext>
            </a:extLst>
          </p:cNvPr>
          <p:cNvPicPr>
            <a:picLocks xmlns:a="http://schemas.openxmlformats.org/drawingml/2006/main" noChangeAspect="1"/>
          </p:cNvPicPr>
          <p:nvPr/>
        </p:nvPicPr>
        <p:blipFill>
          <a:blip xmlns:r="http://schemas.openxmlformats.org/officeDocument/2006/relationships" xmlns:a="http://schemas.openxmlformats.org/drawingml/2006/main" r:embed="R5313b219567a4a42">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609600" y="2562761"/>
            <a:ext cx="3280410" cy="541853"/>
          </a:xfrm>
          <a:prstGeom xmlns:a="http://schemas.openxmlformats.org/drawingml/2006/main" prst="rect">
            <a:avLst/>
          </a:prstGeom>
        </p:spPr>
      </p:pic>
      <p:pic>
        <p:nvPicPr>
          <p:cNvPr id="17" name="takeaway-start" descr="\text{First output: use the given }x[-1]=0.">
            <a:extLst xmlns:a="http://schemas.openxmlformats.org/drawingml/2006/main">
              <a:ext uri="{FF2B5EF4-FFF2-40B4-BE49-F238E27FC236}">
                <a16:creationId xmlns:a16="http://schemas.microsoft.com/office/drawing/2014/main" id="{BCB2075B-CDF3-4AC2-BB4B-96914E7EEEB8}"/>
              </a:ext>
            </a:extLst>
          </p:cNvPr>
          <p:cNvPicPr>
            <a:picLocks xmlns:a="http://schemas.openxmlformats.org/drawingml/2006/main" noChangeAspect="1"/>
          </p:cNvPicPr>
          <p:nvPr/>
        </p:nvPicPr>
        <p:blipFill>
          <a:blip xmlns:r="http://schemas.openxmlformats.org/officeDocument/2006/relationships" xmlns:a="http://schemas.openxmlformats.org/drawingml/2006/main" r:embed="R466daccfd5614eee">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015716"/>
            <a:ext cx="4912043" cy="255568"/>
          </a:xfrm>
          <a:prstGeom xmlns:a="http://schemas.openxmlformats.org/drawingml/2006/main" prst="rect">
            <a:avLst/>
          </a:prstGeom>
        </p:spPr>
      </p:pic>
      <p:pic>
        <p:nvPicPr>
          <p:cNvPr id="18" name="takeaway-example" descr="[0,2,4,2,0]\quad\longmapsto\quad[0,1,3,3,1]">
            <a:extLst xmlns:a="http://schemas.openxmlformats.org/drawingml/2006/main">
              <a:ext uri="{FF2B5EF4-FFF2-40B4-BE49-F238E27FC236}">
                <a16:creationId xmlns:a16="http://schemas.microsoft.com/office/drawing/2014/main" id="{0E922A91-0DC2-450F-93CC-A34FB252BEAA}"/>
              </a:ext>
            </a:extLst>
          </p:cNvPr>
          <p:cNvPicPr>
            <a:picLocks xmlns:a="http://schemas.openxmlformats.org/drawingml/2006/main" noChangeAspect="1"/>
          </p:cNvPicPr>
          <p:nvPr/>
        </p:nvPicPr>
        <p:blipFill>
          <a:blip xmlns:r="http://schemas.openxmlformats.org/officeDocument/2006/relationships" xmlns:a="http://schemas.openxmlformats.org/drawingml/2006/main" r:embed="R42bb6561f9aa4a4e">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6011317"/>
            <a:ext cx="5267325" cy="331291"/>
          </a:xfrm>
          <a:prstGeom xmlns:a="http://schemas.openxmlformats.org/drawingml/2006/main" prst="rect">
            <a:avLst/>
          </a:prstGeom>
        </p:spPr>
      </p:pic>
    </p:spTree>
    <p:extLst>
      <p:ext uri="{BB962C8B-B14F-4D97-AF65-F5344CB8AC3E}">
        <p14:creationId xmlns:p14="http://schemas.microsoft.com/office/powerpoint/2010/main" val="17324731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2026-10-15T05:00:30.8090000Z</dcterms:created>
  <dcterms:modified xsi:type="dcterms:W3CDTF">2026-10-15T05:00:30.8090000Z</dcterms:modified>
</coreProperties>
</file>